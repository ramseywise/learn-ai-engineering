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follow one million taxi trips down the stack. We write them to files, load them into two kinds of database, spread the work across machines, and then split and copy the data. Each step ends with a mechanism that explains a symptom you will see at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writer of a file and its reader never meet. So the first question is how much the reader has to guess.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program that wrote a file last March may no longer exist. CSV has no types, so the zip code lost its leading zero and nothing complained. That silent loss is the theme of the whole subject.</a:t>
            </a:r>
          </a:p>
          <a:p/>
          <a:p>
            <a:r>
              <a:t>Source: notes/01-encoding-and-files.md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outlives code. You redeploy in minutes, but a five-year-old partition keeps the shape it was written in.</a:t>
            </a:r>
          </a:p>
          <a:p/>
          <a:p>
            <a:r>
              <a:t>Source: notes/01-encoding-and-files.md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Kleppmann's example record and sizes, and the run confirms 81 and 32 bytes. Failure on a missing default is the feature, because it refuses a change that old data cannot satisfy.</a:t>
            </a:r>
          </a:p>
          <a:p/>
          <a:p>
            <a:r>
              <a:t>Source: notes/01-encoding-and-files.md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trip_id rose monotonically so its statistics narrow the search. Fare is scattered through time, so every row group spans the range and nothing is skipped. Statistics always exist, but they only help in the right order.</a:t>
            </a:r>
          </a:p>
          <a:p/>
          <a:p>
            <a:r>
              <a:t>Source: notes/01-encoding-and-files.md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zone column collapsed by a factor of two hundred, while pickup_at lost its order and grew by 70 percent.</a:t>
            </a:r>
          </a:p>
          <a:p/>
          <a:p>
            <a:r>
              <a:t>Source: notes/01-encoding-and-files.md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They look alike and do different jobs. One is for storing and moving data, the other for computing on it and handing it between libraries. The times come from a single run and are best read as orders of magnitude.</a:t>
            </a:r>
          </a:p>
          <a:p/>
          <a:p>
            <a:r>
              <a:t>Source: notes/01-encoding-and-files.md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January's pipeline keeps working in February and never sees a tip. Table formats handle this properly by keeping schema history in a transaction log.</a:t>
            </a:r>
          </a:p>
          <a:p/>
          <a:p>
            <a:r>
              <a:t>Source: notes/01-encoding-and-files.md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good files. Now load the same trips into a row store and a column store, and measure.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Neither engine is badly built. Each does what its layout makes cheap. This gap is the reason a pipeline exists at all.</a:t>
            </a:r>
          </a:p>
          <a:p/>
          <a:p>
            <a:r>
              <a:t>Source: notes/02-row-and-column-stores.md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Kleppmann's table in short form. The practical point is that an analyst's scan can hold a production database's disks hostage.</a:t>
            </a:r>
          </a:p>
          <a:p/>
          <a:p>
            <a:r>
              <a:t>Source: notes/02-row-and-column-stores.md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Abadi and colleagues showed a row store with narrow tables does not get these. Late materialisation gave about three times, compression about two on average, and invisible joins about 50 percent. Both storage and executor have to change.</a:t>
            </a:r>
          </a:p>
          <a:p/>
          <a:p>
            <a:r>
              <a:t>Source: notes/02-row-and-column-stores.md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623 rows they are level. At one trip in six the index chases 163 thousand rows. The scan barely changes.</a:t>
            </a:r>
          </a:p>
          <a:p/>
          <a:p>
            <a:r>
              <a:t>Source: notes/02-row-and-column-stores.md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also timed single-row commits and found no large gap: both took about a quarter of a millisecond. That is a reason to measure before repeating the rule, not evidence that a warehouse is a transactional store.</a:t>
            </a:r>
          </a:p>
          <a:p/>
          <a:p>
            <a:r>
              <a:t>Source: notes/02-row-and-column-stores.md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Kleppmann's example is the share of sales from items over 100 dollars, and price is not a dimension. Kimball makes the same case for atomic grain.</a:t>
            </a:r>
          </a:p>
          <a:p/>
          <a:p>
            <a:r>
              <a:t>Source: notes/02-row-and-column-stores.md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cluster has a large hidden cost. We build MapReduce to see it, and then ask how often you need one.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Kleppmann opens his batch chapter with sort and uniq for good reason. The same design, spread over many machines, is what we build next.</a:t>
            </a:r>
          </a:p>
          <a:p/>
          <a:p>
            <a:r>
              <a:t>Source: notes/03-distributed-compute.md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paper's terabyte sort took 891 seconds on about 1,800 machines, and took 44 percent longer with backup tasks disabled. A Python string hash differs per process, which would split a key silently.</a:t>
            </a:r>
          </a:p>
          <a:p/>
          <a:p>
            <a:r>
              <a:t>Source: notes/03-distributed-compute.md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 rough count for our trips and a 260-row dimension on ten nodes, 40 megabytes moves in the shuffle and 0.15 in the broadcast. Stale statistics that hide a small table can lose you that.</a:t>
            </a:r>
          </a:p>
          <a:p/>
          <a:p>
            <a:r>
              <a:t>Source: notes/03-distributed-compute.md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shuffled line is the stage boundary. Spark SQL adds a declarative layer on top, and the optimiser pushes the filter into Parquet and aggregates partially before the exchange, as we saw in the plan.</a:t>
            </a:r>
          </a:p>
          <a:p/>
          <a:p>
            <a:r>
              <a:t>Source: notes/03-distributed-compute.md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grouped query over a 640 megabyte file finished in about three seconds. On the same machine a 100 MB limit failed until we set threads to one.</a:t>
            </a:r>
          </a:p>
          <a:p/>
          <a:p>
            <a:r>
              <a:t>Source: notes/03-distributed-compute.md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McSherry, Isard and Murray, HotOS 2015, on the twitter_rv graph, with 2014 versions. Graphs partition badly, so this is a hard case. Scans are friendlier to clusters, but the habit of measuring carries over.</a:t>
            </a:r>
          </a:p>
          <a:p/>
          <a:p>
            <a:r>
              <a:t>Source: notes/03-distributed-compute.md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cluster has to put each row somewhere and keep copies. Those choices become what a reader sees.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easy to confuse and most systems use both, with a node leading some partitions and following others.</a:t>
            </a:r>
          </a:p>
          <a:p/>
          <a:p>
            <a:r>
              <a:t>Source: notes/04-partitioning-and-replication.md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compound key like zone and day finds one partition and then a sorted run. Hot keys still need salting, which cut the busiest partition 16 times here.</a:t>
            </a:r>
          </a:p>
          <a:p/>
          <a:p>
            <a:r>
              <a:t>Source: notes/04-partitioning-and-replication.md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over a million keys. Kleppmann also warns about automating this when failure detection is aggressive, because a slow node declared dead can cascade.</a:t>
            </a:r>
          </a:p>
          <a:p/>
          <a:p>
            <a:r>
              <a:t>Source: notes/04-partitioning-and-replication.md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rows took half as much space again, and the full scan was hundreds of times slower, since every file means opening a footer.</a:t>
            </a:r>
          </a:p>
          <a:p/>
          <a:p>
            <a:r>
              <a:t>Source: notes/04-partitioning-and-replication.md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GitHub, an out-of-date MySQL follower was promoted, reused keys that Redis also held, and disclosed private data to the wrong users. Keep the log position with extracted rows.</a:t>
            </a:r>
          </a:p>
          <a:p/>
          <a:p>
            <a:r>
              <a:t>Source: notes/04-partitioning-and-replication.md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warehouse the third one is the fact row with no dimension yet, because the tables loaded at different times.</a:t>
            </a:r>
          </a:p>
          <a:p/>
          <a:p>
            <a:r>
              <a:t>Source: notes/04-partitioning-and-replication.md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exhaustive check in the chapter. Dynamo designed this for an always-writeable shopping cart. Riak and Cassandra follow that style, while DynamoDB itself uses a leader per partition.</a:t>
            </a:r>
          </a:p>
          <a:p/>
          <a:p>
            <a:r>
              <a:t>Source: notes/04-partitioning-and-replication.md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here, pillar 2 takes data out of sources and shapes it for questions, relying on everything we learned about files and lag.</a:t>
            </a:r>
          </a:p>
          <a:p/>
          <a:p>
            <a:r>
              <a:t>Source: notes/04-partitioning-and-replication.md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Pillar two starts at the source system, where replica lag and log positions become your problem.</a:t>
            </a:r>
          </a:p>
          <a:p/>
          <a:p>
            <a:r>
              <a:t>Source: notes/04-partitioning-and-replication.md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Oval 1"/>
          <p:cNvSpPr/>
          <p:nvPr/>
        </p:nvSpPr>
        <p:spPr>
          <a:xfrm>
            <a:off x="7498079" y="-1097280"/>
            <a:ext cx="5120640" cy="5120640"/>
          </a:xfrm>
          <a:prstGeom prst="ellipse">
            <a:avLst/>
          </a:prstGeom>
          <a:solidFill>
            <a:srgbClr val="DC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778240" y="4023360"/>
            <a:ext cx="4023360" cy="4023360"/>
          </a:xfrm>
          <a:prstGeom prst="ellipse">
            <a:avLst/>
          </a:prstGeom>
          <a:solidFill>
            <a:srgbClr val="F6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852160" cy="6858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64592" cy="6858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4937760" cy="1920239"/>
          </a:xfrm>
          <a:prstGeom prst="rect">
            <a:avLst/>
          </a:prstGeom>
          <a:noFill/>
        </p:spPr>
        <p:txBody>
          <a:bodyPr wrap="square" lIns="0" rIns="0" tIns="0" bIns="0" anchor="t">
            <a:noAutofit/>
          </a:bodyPr>
          <a:lstStyle/>
          <a:p>
            <a:pPr algn="l">
              <a:lnSpc>
                <a:spcPct val="95000"/>
              </a:lnSpc>
            </a:pPr>
            <a:r>
              <a:rPr sz="4000" i="0" b="1">
                <a:solidFill>
                  <a:srgbClr val="FFFFFF"/>
                </a:solidFill>
                <a:latin typeface="Helvetica Neue"/>
              </a:rPr>
              <a:t>Storage and Compute Foundations</a:t>
            </a:r>
          </a:p>
        </p:txBody>
      </p:sp>
      <p:sp>
        <p:nvSpPr>
          <p:cNvPr id="7" name="TextBox 6"/>
          <p:cNvSpPr txBox="1"/>
          <p:nvPr/>
        </p:nvSpPr>
        <p:spPr>
          <a:xfrm>
            <a:off x="548640" y="3063240"/>
            <a:ext cx="4937760" cy="896112"/>
          </a:xfrm>
          <a:prstGeom prst="rect">
            <a:avLst/>
          </a:prstGeom>
          <a:noFill/>
        </p:spPr>
        <p:txBody>
          <a:bodyPr wrap="square" lIns="0" rIns="0" tIns="0" bIns="0" anchor="t">
            <a:noAutofit/>
          </a:bodyPr>
          <a:lstStyle/>
          <a:p>
            <a:pPr algn="l">
              <a:lnSpc>
                <a:spcPct val="110000"/>
              </a:lnSpc>
            </a:pPr>
            <a:r>
              <a:rPr sz="2400" i="0" b="0">
                <a:solidFill>
                  <a:srgbClr val="0EA5C9"/>
                </a:solidFill>
                <a:latin typeface="Helvetica Neue"/>
              </a:rPr>
              <a:t>The physical facts under every pipeline</a:t>
            </a:r>
          </a:p>
        </p:txBody>
      </p:sp>
      <p:sp>
        <p:nvSpPr>
          <p:cNvPr id="8" name="Rectangle 7"/>
          <p:cNvSpPr/>
          <p:nvPr/>
        </p:nvSpPr>
        <p:spPr>
          <a:xfrm>
            <a:off x="548640" y="4187952"/>
            <a:ext cx="4572000" cy="457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507992"/>
            <a:ext cx="4937760" cy="1463040"/>
          </a:xfrm>
          <a:prstGeom prst="rect">
            <a:avLst/>
          </a:prstGeom>
          <a:noFill/>
        </p:spPr>
        <p:txBody>
          <a:bodyPr wrap="square" lIns="0" rIns="0" tIns="0" bIns="0" anchor="t">
            <a:noAutofit/>
          </a:bodyPr>
          <a:lstStyle/>
          <a:p>
            <a:pPr algn="l">
              <a:lnSpc>
                <a:spcPct val="125000"/>
              </a:lnSpc>
            </a:pPr>
            <a:r>
              <a:rPr sz="1500" i="0" b="0">
                <a:solidFill>
                  <a:srgbClr val="94A3B8"/>
                </a:solidFill>
                <a:latin typeface="Helvetica Neue"/>
              </a:rPr>
              <a:t>Files · Layouts · Clusters · Copies</a:t>
            </a:r>
          </a:p>
        </p:txBody>
      </p:sp>
      <p:sp>
        <p:nvSpPr>
          <p:cNvPr id="10" name="Rectangle 9"/>
          <p:cNvSpPr/>
          <p:nvPr/>
        </p:nvSpPr>
        <p:spPr>
          <a:xfrm>
            <a:off x="6492240" y="841247"/>
            <a:ext cx="5196535" cy="114300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92240" y="841247"/>
            <a:ext cx="91440" cy="1143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0" y="969263"/>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1: What a file promises</a:t>
            </a:r>
          </a:p>
        </p:txBody>
      </p:sp>
      <p:sp>
        <p:nvSpPr>
          <p:cNvPr id="13" name="TextBox 12"/>
          <p:cNvSpPr txBox="1"/>
          <p:nvPr/>
        </p:nvSpPr>
        <p:spPr>
          <a:xfrm>
            <a:off x="6766560" y="1282318"/>
            <a:ext cx="4785055" cy="685800"/>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Encoding · Compatibility · Parquet · Arrow</a:t>
            </a:r>
          </a:p>
        </p:txBody>
      </p:sp>
      <p:sp>
        <p:nvSpPr>
          <p:cNvPr id="14" name="Rectangle 13"/>
          <p:cNvSpPr/>
          <p:nvPr/>
        </p:nvSpPr>
        <p:spPr>
          <a:xfrm>
            <a:off x="6492240" y="2185415"/>
            <a:ext cx="5196535" cy="114300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92240" y="2185415"/>
            <a:ext cx="91440" cy="1143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0" y="2313432"/>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2: Two layouts, two workloads</a:t>
            </a:r>
          </a:p>
        </p:txBody>
      </p:sp>
      <p:sp>
        <p:nvSpPr>
          <p:cNvPr id="17" name="TextBox 16"/>
          <p:cNvSpPr txBox="1"/>
          <p:nvPr/>
        </p:nvSpPr>
        <p:spPr>
          <a:xfrm>
            <a:off x="6766560" y="2626487"/>
            <a:ext cx="4785055" cy="685800"/>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OLTP and OLAP · Column layout · Compression · Write path</a:t>
            </a:r>
          </a:p>
        </p:txBody>
      </p:sp>
      <p:sp>
        <p:nvSpPr>
          <p:cNvPr id="18" name="Rectangle 17"/>
          <p:cNvSpPr/>
          <p:nvPr/>
        </p:nvSpPr>
        <p:spPr>
          <a:xfrm>
            <a:off x="6492240" y="3529583"/>
            <a:ext cx="5196535" cy="114300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92240" y="3529583"/>
            <a:ext cx="91440" cy="114300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3657599"/>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3: When one machine isn't enough</a:t>
            </a:r>
          </a:p>
        </p:txBody>
      </p:sp>
      <p:sp>
        <p:nvSpPr>
          <p:cNvPr id="21" name="TextBox 20"/>
          <p:cNvSpPr txBox="1"/>
          <p:nvPr/>
        </p:nvSpPr>
        <p:spPr>
          <a:xfrm>
            <a:off x="6766560" y="3970655"/>
            <a:ext cx="4785055" cy="685800"/>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MapReduce · Joins · Spark · Single-node engines</a:t>
            </a:r>
          </a:p>
        </p:txBody>
      </p:sp>
      <p:sp>
        <p:nvSpPr>
          <p:cNvPr id="22" name="Rectangle 21"/>
          <p:cNvSpPr/>
          <p:nvPr/>
        </p:nvSpPr>
        <p:spPr>
          <a:xfrm>
            <a:off x="6492240" y="4873752"/>
            <a:ext cx="5196535" cy="114300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92240" y="4873752"/>
            <a:ext cx="91440" cy="11430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0" y="5001768"/>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4: Where each row lives</a:t>
            </a:r>
          </a:p>
        </p:txBody>
      </p:sp>
      <p:sp>
        <p:nvSpPr>
          <p:cNvPr id="25" name="TextBox 24"/>
          <p:cNvSpPr txBox="1"/>
          <p:nvPr/>
        </p:nvSpPr>
        <p:spPr>
          <a:xfrm>
            <a:off x="6766560" y="5314823"/>
            <a:ext cx="4785055" cy="685800"/>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Partitioning · Rebalancing · Lake layout · Replication · Quorums</a:t>
            </a:r>
          </a:p>
        </p:txBody>
      </p:sp>
      <p:sp>
        <p:nvSpPr>
          <p:cNvPr id="26" name="TextBox 25"/>
          <p:cNvSpPr txBox="1"/>
          <p:nvPr/>
        </p:nvSpPr>
        <p:spPr>
          <a:xfrm>
            <a:off x="6492240" y="6355080"/>
            <a:ext cx="5196535" cy="274320"/>
          </a:xfrm>
          <a:prstGeom prst="rect">
            <a:avLst/>
          </a:prstGeom>
          <a:noFill/>
        </p:spPr>
        <p:txBody>
          <a:bodyPr wrap="square" lIns="0" rIns="0" tIns="0" bIns="0" anchor="t">
            <a:noAutofit/>
          </a:bodyPr>
          <a:lstStyle/>
          <a:p>
            <a:pPr algn="r">
              <a:lnSpc>
                <a:spcPct val="110000"/>
              </a:lnSpc>
            </a:pPr>
            <a:r>
              <a:rPr sz="1100" i="1" b="0">
                <a:solidFill>
                  <a:srgbClr val="94A3B8"/>
                </a:solidFill>
                <a:latin typeface="Helvetica Neue"/>
              </a:rPr>
              <a:t>Notes: data-engineering/01-storage-and-compute-foundations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D4621A"/>
                </a:solidFill>
                <a:latin typeface="Helvetica Neue"/>
              </a:rPr>
              <a:t>PART 1</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What a file promises</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Encoding · Compatibility · Parquet · Arrow</a:t>
            </a:r>
          </a:p>
        </p:txBody>
      </p:sp>
      <p:cxnSp>
        <p:nvCxnSpPr>
          <p:cNvPr id="6" name="Connector 5"/>
          <p:cNvCxnSpPr/>
          <p:nvPr/>
        </p:nvCxnSpPr>
        <p:spPr>
          <a:xfrm>
            <a:off x="6446520" y="1680210"/>
            <a:ext cx="0" cy="349758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680210"/>
            <a:ext cx="4693615" cy="3680459"/>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The writer of a file and its reader never meet</a:t>
            </a:r>
          </a:p>
          <a:p>
            <a:pPr algn="l">
              <a:lnSpc>
                <a:spcPct val="100000"/>
              </a:lnSpc>
              <a:spcBef>
                <a:spcPts val="1189"/>
              </a:spcBef>
            </a:pPr>
            <a:r>
              <a:rPr sz="1700" i="0" b="0">
                <a:solidFill>
                  <a:srgbClr val="CBD5E1"/>
                </a:solidFill>
                <a:latin typeface="Helvetica Neue"/>
              </a:rPr>
              <a:t>Compatibility runs in two directions</a:t>
            </a:r>
          </a:p>
          <a:p>
            <a:pPr algn="l">
              <a:lnSpc>
                <a:spcPct val="100000"/>
              </a:lnSpc>
              <a:spcBef>
                <a:spcPts val="1189"/>
              </a:spcBef>
            </a:pPr>
            <a:r>
              <a:rPr sz="1700" i="0" b="0">
                <a:solidFill>
                  <a:srgbClr val="CBD5E1"/>
                </a:solidFill>
                <a:latin typeface="Helvetica Neue"/>
              </a:rPr>
              <a:t>Avro resolves two schemas by field name</a:t>
            </a:r>
          </a:p>
          <a:p>
            <a:pPr algn="l">
              <a:lnSpc>
                <a:spcPct val="100000"/>
              </a:lnSpc>
              <a:spcBef>
                <a:spcPts val="1189"/>
              </a:spcBef>
            </a:pPr>
            <a:r>
              <a:rPr sz="1700" i="0" b="0">
                <a:solidFill>
                  <a:srgbClr val="CBD5E1"/>
                </a:solidFill>
                <a:latin typeface="Helvetica Neue"/>
              </a:rPr>
              <a:t>A Parquet reader starts at the end of the file</a:t>
            </a:r>
          </a:p>
          <a:p>
            <a:pPr algn="l">
              <a:lnSpc>
                <a:spcPct val="100000"/>
              </a:lnSpc>
              <a:spcBef>
                <a:spcPts val="1189"/>
              </a:spcBef>
            </a:pPr>
            <a:r>
              <a:rPr sz="1700" i="0" b="0">
                <a:solidFill>
                  <a:srgbClr val="CBD5E1"/>
                </a:solidFill>
                <a:latin typeface="Helvetica Neue"/>
              </a:rPr>
              <a:t>Sorting saves bytes in one column and costs them in another</a:t>
            </a:r>
          </a:p>
          <a:p>
            <a:pPr algn="l">
              <a:lnSpc>
                <a:spcPct val="100000"/>
              </a:lnSpc>
              <a:spcBef>
                <a:spcPts val="1189"/>
              </a:spcBef>
            </a:pPr>
            <a:r>
              <a:rPr sz="1700" i="0" b="0">
                <a:solidFill>
                  <a:srgbClr val="CBD5E1"/>
                </a:solidFill>
                <a:latin typeface="Helvetica Neue"/>
              </a:rPr>
              <a:t>Parquet and Arrow optimise opposite costs</a:t>
            </a:r>
          </a:p>
          <a:p>
            <a:pPr algn="l">
              <a:lnSpc>
                <a:spcPct val="100000"/>
              </a:lnSpc>
              <a:spcBef>
                <a:spcPts val="1189"/>
              </a:spcBef>
            </a:pPr>
            <a:r>
              <a:rPr sz="1700" i="0" b="0">
                <a:solidFill>
                  <a:srgbClr val="CBD5E1"/>
                </a:solidFill>
                <a:latin typeface="Helvetica Neue"/>
              </a:rPr>
              <a:t>Drift can vanish inside one line of SQL</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400" i="0" b="1">
                <a:solidFill>
                  <a:srgbClr val="FFFFFF"/>
                </a:solidFill>
                <a:latin typeface="Helvetica Neue"/>
              </a:rPr>
              <a:t>The writer of a file and its reader never meet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What a file promises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notes/01-encoding-and-files.md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 file format decides how much its reader must guess, and CSV makes it guess everything.</a:t>
            </a:r>
          </a:p>
        </p:txBody>
      </p:sp>
      <p:sp>
        <p:nvSpPr>
          <p:cNvPr id="13" name="Rectangle 12"/>
          <p:cNvSpPr/>
          <p:nvPr/>
        </p:nvSpPr>
        <p:spPr>
          <a:xfrm>
            <a:off x="777240" y="2299716"/>
            <a:ext cx="109728" cy="235915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2299716"/>
            <a:ext cx="10088575" cy="1993392"/>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Bytes on disk are all they share. A CSV leaves everything to inference: 02134 comes back as 2134, with no error.</a:t>
            </a:r>
          </a:p>
        </p:txBody>
      </p:sp>
      <p:sp>
        <p:nvSpPr>
          <p:cNvPr id="15" name="TextBox 14"/>
          <p:cNvSpPr txBox="1"/>
          <p:nvPr/>
        </p:nvSpPr>
        <p:spPr>
          <a:xfrm>
            <a:off x="1234440" y="4247388"/>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Measured with pyarrow's CSV reader in chapter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Compatibility runs in two directions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What a file promises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notes/01-encoding-and-files.md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Backward means new code reads old data and forward means old code reads new data, and a warehouse needs both.</a:t>
            </a:r>
          </a:p>
        </p:txBody>
      </p:sp>
      <p:sp>
        <p:nvSpPr>
          <p:cNvPr id="12" name="Rectangle 11"/>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Backward</a:t>
            </a:r>
          </a:p>
        </p:txBody>
      </p:sp>
      <p:sp>
        <p:nvSpPr>
          <p:cNvPr id="15" name="Rectangle 14"/>
          <p:cNvSpPr/>
          <p:nvPr/>
        </p:nvSpPr>
        <p:spPr>
          <a:xfrm>
            <a:off x="731520" y="2313178"/>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Every warehouse holds years of old files</a:t>
            </a:r>
          </a:p>
        </p:txBody>
      </p:sp>
      <p:sp>
        <p:nvSpPr>
          <p:cNvPr id="17" name="Rectangle 16"/>
          <p:cNvSpPr/>
          <p:nvPr/>
        </p:nvSpPr>
        <p:spPr>
          <a:xfrm>
            <a:off x="731520" y="2727706"/>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2645664"/>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The author of the new code knows the old format</a:t>
            </a:r>
          </a:p>
        </p:txBody>
      </p:sp>
      <p:sp>
        <p:nvSpPr>
          <p:cNvPr id="19" name="Rectangle 18"/>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new code, old data</a:t>
            </a:r>
          </a:p>
        </p:txBody>
      </p:sp>
      <p:sp>
        <p:nvSpPr>
          <p:cNvPr id="21" name="Rectangle 20"/>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Forward</a:t>
            </a:r>
          </a:p>
        </p:txBody>
      </p:sp>
      <p:sp>
        <p:nvSpPr>
          <p:cNvPr id="24" name="Rectangle 23"/>
          <p:cNvSpPr/>
          <p:nvPr/>
        </p:nvSpPr>
        <p:spPr>
          <a:xfrm>
            <a:off x="6507327" y="231317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27367" y="2231136"/>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During any rollout some consumers lag the producer</a:t>
            </a:r>
          </a:p>
        </p:txBody>
      </p:sp>
      <p:sp>
        <p:nvSpPr>
          <p:cNvPr id="26" name="Rectangle 25"/>
          <p:cNvSpPr/>
          <p:nvPr/>
        </p:nvSpPr>
        <p:spPr>
          <a:xfrm>
            <a:off x="6507327" y="3012694"/>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7367" y="2930652"/>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Old code must ignore what it has never seen</a:t>
            </a:r>
          </a:p>
        </p:txBody>
      </p:sp>
      <p:sp>
        <p:nvSpPr>
          <p:cNvPr id="28" name="Rectangle 27"/>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old code, new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Avro resolves two schemas by field name</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What a file promises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notes/01-encoding-and-files.md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5</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Avro stores no field names and resolves writer and reader schemas by name, so only fields with defaults can change.</a:t>
            </a:r>
          </a:p>
        </p:txBody>
      </p:sp>
      <p:sp>
        <p:nvSpPr>
          <p:cNvPr id="12" name="Rounded Rectangle 11"/>
          <p:cNvSpPr/>
          <p:nvPr/>
        </p:nvSpPr>
        <p:spPr>
          <a:xfrm>
            <a:off x="502920" y="1472184"/>
            <a:ext cx="6711513" cy="263652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4" name="TextBox 13"/>
          <p:cNvSpPr txBox="1"/>
          <p:nvPr/>
        </p:nvSpPr>
        <p:spPr>
          <a:xfrm>
            <a:off x="731520" y="1883664"/>
            <a:ext cx="6254313" cy="199643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person = {"userName": "Martin",</a:t>
            </a:r>
          </a:p>
          <a:p>
            <a:pPr algn="l">
              <a:lnSpc>
                <a:spcPct val="100000"/>
              </a:lnSpc>
            </a:pPr>
            <a:r>
              <a:rPr sz="1600" i="0" b="0">
                <a:solidFill>
                  <a:srgbClr val="E2E8F0"/>
                </a:solidFill>
                <a:latin typeface="Menlo"/>
              </a:rPr>
              <a:t>          "favoriteNumber": 1337,</a:t>
            </a:r>
          </a:p>
          <a:p>
            <a:pPr algn="l">
              <a:lnSpc>
                <a:spcPct val="100000"/>
              </a:lnSpc>
            </a:pPr>
            <a:r>
              <a:rPr sz="1600" i="0" b="0">
                <a:solidFill>
                  <a:srgbClr val="E2E8F0"/>
                </a:solidFill>
                <a:latin typeface="Menlo"/>
              </a:rPr>
              <a:t>          "interests": ["daydreaming", "hacking"]}</a:t>
            </a:r>
          </a:p>
          <a:p>
            <a:pPr algn="l">
              <a:lnSpc>
                <a:spcPct val="100000"/>
              </a:lnSpc>
            </a:pPr>
            <a:r>
              <a:rPr sz="1600" i="0" b="0">
                <a:solidFill>
                  <a:srgbClr val="E2E8F0"/>
                </a:solidFill>
                <a:latin typeface="Menlo"/>
              </a:rPr>
              <a:t># JSON 81 bytes, Avro 32 bytes</a:t>
            </a:r>
          </a:p>
          <a:p>
            <a:pPr algn="l">
              <a:lnSpc>
                <a:spcPct val="100000"/>
              </a:lnSpc>
            </a:pPr>
            <a:r>
              <a:rPr sz="1600" i="0" b="0">
                <a:solidFill>
                  <a:srgbClr val="E2E8F0"/>
                </a:solidFill>
                <a:latin typeface="Menlo"/>
              </a:rPr>
              <a:t>reader(buf, writer_schema, reader_schema)</a:t>
            </a:r>
          </a:p>
          <a:p>
            <a:pPr algn="l">
              <a:lnSpc>
                <a:spcPct val="100000"/>
              </a:lnSpc>
            </a:pPr>
            <a:r>
              <a:rPr sz="1600" i="0" b="0">
                <a:solidFill>
                  <a:srgbClr val="E2E8F0"/>
                </a:solidFill>
                <a:latin typeface="Menlo"/>
              </a:rPr>
              <a:t># adds city with default "unknown": works</a:t>
            </a:r>
          </a:p>
          <a:p>
            <a:pPr algn="l">
              <a:lnSpc>
                <a:spcPct val="100000"/>
              </a:lnSpc>
            </a:pPr>
            <a:r>
              <a:rPr sz="1600" i="0" b="0">
                <a:solidFill>
                  <a:srgbClr val="E2E8F0"/>
                </a:solidFill>
                <a:latin typeface="Menlo"/>
              </a:rPr>
              <a:t># adds city with no default:</a:t>
            </a:r>
          </a:p>
          <a:p>
            <a:pPr algn="l">
              <a:lnSpc>
                <a:spcPct val="100000"/>
              </a:lnSpc>
            </a:pPr>
            <a:r>
              <a:rPr sz="1600" i="0" b="0">
                <a:solidFill>
                  <a:srgbClr val="E2E8F0"/>
                </a:solidFill>
                <a:latin typeface="Menlo"/>
              </a:rPr>
              <a:t># SchemaResolutionError</a:t>
            </a:r>
          </a:p>
        </p:txBody>
      </p:sp>
      <p:sp>
        <p:nvSpPr>
          <p:cNvPr id="15" name="Rectangle 14"/>
          <p:cNvSpPr/>
          <p:nvPr/>
        </p:nvSpPr>
        <p:spPr>
          <a:xfrm>
            <a:off x="7580193" y="160477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No names in the bytes:</a:t>
            </a:r>
            <a:r>
              <a:rPr sz="1800" i="0" b="0">
                <a:solidFill>
                  <a:srgbClr val="1E293B"/>
                </a:solidFill>
                <a:latin typeface="Helvetica Neue"/>
              </a:rPr>
              <a:t> the schema carries them.</a:t>
            </a:r>
          </a:p>
        </p:txBody>
      </p:sp>
      <p:sp>
        <p:nvSpPr>
          <p:cNvPr id="17" name="Rectangle 16"/>
          <p:cNvSpPr/>
          <p:nvPr/>
        </p:nvSpPr>
        <p:spPr>
          <a:xfrm>
            <a:off x="7580193" y="234543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Add or drop fields</a:t>
            </a:r>
            <a:r>
              <a:rPr sz="1800" i="0" b="0">
                <a:solidFill>
                  <a:srgbClr val="1E293B"/>
                </a:solidFill>
                <a:latin typeface="Helvetica Neue"/>
              </a:rPr>
              <a:t> only with a default.</a:t>
            </a:r>
          </a:p>
        </p:txBody>
      </p:sp>
      <p:sp>
        <p:nvSpPr>
          <p:cNvPr id="19" name="Rectangle 18"/>
          <p:cNvSpPr/>
          <p:nvPr/>
        </p:nvSpPr>
        <p:spPr>
          <a:xfrm>
            <a:off x="7580193" y="3086100"/>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2999232"/>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Find the schema</a:t>
            </a:r>
            <a:r>
              <a:rPr sz="1800" i="0" b="0">
                <a:solidFill>
                  <a:srgbClr val="1E293B"/>
                </a:solidFill>
                <a:latin typeface="Helvetica Neue"/>
              </a:rPr>
              <a:t> in the file header or a registry.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 Parquet reader starts at the end of the file</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What a file promises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notes/01-encoding-and-files.md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6</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Parquet's footer lets a reader skip columns and row groups, but min and max only help when the data's order matches the filter.</a:t>
            </a:r>
          </a:p>
        </p:txBody>
      </p:sp>
      <p:sp>
        <p:nvSpPr>
          <p:cNvPr id="12" name="Rounded Rectangle 11"/>
          <p:cNvSpPr/>
          <p:nvPr/>
        </p:nvSpPr>
        <p:spPr>
          <a:xfrm>
            <a:off x="502920" y="1563624"/>
            <a:ext cx="1834835" cy="1266444"/>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563624"/>
            <a:ext cx="1560515" cy="126644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Read the footer</a:t>
            </a:r>
          </a:p>
        </p:txBody>
      </p:sp>
      <p:cxnSp>
        <p:nvCxnSpPr>
          <p:cNvPr id="14" name="Connector 13"/>
          <p:cNvCxnSpPr/>
          <p:nvPr/>
        </p:nvCxnSpPr>
        <p:spPr>
          <a:xfrm>
            <a:off x="2392619" y="219684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840675" y="1563624"/>
            <a:ext cx="1834835" cy="1266444"/>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77835" y="1563624"/>
            <a:ext cx="1560515" cy="126644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Pick columns</a:t>
            </a:r>
          </a:p>
        </p:txBody>
      </p:sp>
      <p:cxnSp>
        <p:nvCxnSpPr>
          <p:cNvPr id="17" name="Connector 16"/>
          <p:cNvCxnSpPr/>
          <p:nvPr/>
        </p:nvCxnSpPr>
        <p:spPr>
          <a:xfrm>
            <a:off x="4730374" y="219684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178430" y="1563624"/>
            <a:ext cx="1834835" cy="1266444"/>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15590" y="1563624"/>
            <a:ext cx="1560515" cy="126644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Skip row groups by min and max</a:t>
            </a:r>
          </a:p>
        </p:txBody>
      </p:sp>
      <p:cxnSp>
        <p:nvCxnSpPr>
          <p:cNvPr id="20" name="Connector 19"/>
          <p:cNvCxnSpPr/>
          <p:nvPr/>
        </p:nvCxnSpPr>
        <p:spPr>
          <a:xfrm>
            <a:off x="7068129" y="219684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516185" y="1563624"/>
            <a:ext cx="1834835" cy="1266444"/>
          </a:xfrm>
          <a:prstGeom prst="roundRect">
            <a:avLst>
              <a:gd name="adj" fmla="val 12000"/>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53345" y="1563624"/>
            <a:ext cx="1560515" cy="126644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Fetch byte ranges</a:t>
            </a:r>
          </a:p>
        </p:txBody>
      </p:sp>
      <p:cxnSp>
        <p:nvCxnSpPr>
          <p:cNvPr id="23" name="Connector 22"/>
          <p:cNvCxnSpPr/>
          <p:nvPr/>
        </p:nvCxnSpPr>
        <p:spPr>
          <a:xfrm>
            <a:off x="9405884" y="219684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853940" y="1563624"/>
            <a:ext cx="1834835" cy="1266444"/>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91100" y="1563624"/>
            <a:ext cx="1560515" cy="126644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Decode pages</a:t>
            </a:r>
          </a:p>
        </p:txBody>
      </p:sp>
      <p:sp>
        <p:nvSpPr>
          <p:cNvPr id="26" name="Rectangle 25"/>
          <p:cNvSpPr/>
          <p:nvPr/>
        </p:nvSpPr>
        <p:spPr>
          <a:xfrm>
            <a:off x="502920" y="3241802"/>
            <a:ext cx="101346" cy="10134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3150108"/>
            <a:ext cx="10865815" cy="409956"/>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Column pruning:</a:t>
            </a:r>
            <a:r>
              <a:rPr sz="1900" i="0" b="0">
                <a:solidFill>
                  <a:srgbClr val="1E293B"/>
                </a:solidFill>
                <a:latin typeface="Helvetica Neue"/>
              </a:rPr>
              <a:t> 7 columns took 7.3 ms to read, one column took 1.3 ms.</a:t>
            </a:r>
          </a:p>
        </p:txBody>
      </p:sp>
      <p:sp>
        <p:nvSpPr>
          <p:cNvPr id="28" name="Rectangle 27"/>
          <p:cNvSpPr/>
          <p:nvPr/>
        </p:nvSpPr>
        <p:spPr>
          <a:xfrm>
            <a:off x="502920" y="3705098"/>
            <a:ext cx="101346" cy="10134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3613404"/>
            <a:ext cx="10865815" cy="728472"/>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Pushdown:</a:t>
            </a:r>
            <a:r>
              <a:rPr sz="1900" i="0" b="0">
                <a:solidFill>
                  <a:srgbClr val="1E293B"/>
                </a:solidFill>
                <a:latin typeface="Helvetica Neue"/>
              </a:rPr>
              <a:t> a tight </a:t>
            </a:r>
            <a:r>
              <a:rPr sz="1710" i="0" b="0">
                <a:solidFill>
                  <a:srgbClr val="0F7490"/>
                </a:solidFill>
                <a:latin typeface="Menlo"/>
              </a:rPr>
              <a:t>trip_id</a:t>
            </a:r>
            <a:r>
              <a:rPr sz="1900" i="0" b="0">
                <a:solidFill>
                  <a:srgbClr val="1E293B"/>
                </a:solidFill>
                <a:latin typeface="Helvetica Neue"/>
              </a:rPr>
              <a:t> range touched 1 of 20 row groups, a </a:t>
            </a:r>
            <a:r>
              <a:rPr sz="1710" i="0" b="0">
                <a:solidFill>
                  <a:srgbClr val="0F7490"/>
                </a:solidFill>
                <a:latin typeface="Menlo"/>
              </a:rPr>
              <a:t>fare_usd</a:t>
            </a:r>
            <a:r>
              <a:rPr sz="1900" i="0" b="0">
                <a:solidFill>
                  <a:srgbClr val="1E293B"/>
                </a:solidFill>
                <a:latin typeface="Helvetica Neue"/>
              </a:rPr>
              <a:t> range touched all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600" i="0" b="1">
                <a:solidFill>
                  <a:srgbClr val="FFFFFF"/>
                </a:solidFill>
                <a:latin typeface="Helvetica Neue"/>
              </a:rPr>
              <a:t>Sorting saves bytes in one column and costs them in another</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What a file promises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notes/01-encoding-and-files.md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7</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Only one sort order can be physical, so choose it from your common filters and compare the whole file, not one column.</a:t>
            </a:r>
          </a:p>
        </p:txBody>
      </p:sp>
      <p:graphicFrame>
        <p:nvGraphicFramePr>
          <p:cNvPr id="12" name="Table 11"/>
          <p:cNvGraphicFramePr>
            <a:graphicFrameLocks noGrp="1"/>
          </p:cNvGraphicFramePr>
          <p:nvPr/>
        </p:nvGraphicFramePr>
        <p:xfrm>
          <a:off x="502920" y="1472184"/>
          <a:ext cx="11185853" cy="1216152"/>
        </p:xfrm>
        <a:graphic>
          <a:graphicData uri="http://schemas.openxmlformats.org/drawingml/2006/table">
            <a:tbl>
              <a:tblPr firstRow="1" bandRow="1">
                <a:tableStyleId>{5940675A-B579-460E-94D1-54222C63F5DA}</a:tableStyleId>
              </a:tblPr>
              <a:tblGrid>
                <a:gridCol w="3728618"/>
                <a:gridCol w="2485745"/>
                <a:gridCol w="2485745"/>
                <a:gridCol w="2485745"/>
              </a:tblGrid>
              <a:tr h="405384">
                <a:tc>
                  <a:txBody>
                    <a:bodyPr wrap="square"/>
                    <a:lstStyle/>
                    <a:p>
                      <a:pPr>
                        <a:lnSpc>
                          <a:spcPct val="100000"/>
                        </a:lnSpc>
                      </a:pPr>
                      <a:r>
                        <a:rPr sz="1700" i="0" b="1">
                          <a:solidFill>
                            <a:srgbClr val="FFFFFF"/>
                          </a:solidFill>
                          <a:latin typeface="Helvetica Neue"/>
                        </a:rPr>
                        <a:t>Sort order</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Whole file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pickup_zone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pickup_at</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Arrival order</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7.7 MB</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1,033 KB</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2,111 KB</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Zone, then payment</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9.0 MB</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4.8 KB</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3,575 KB</a:t>
                      </a:r>
                    </a:p>
                  </a:txBody>
                  <a:tcPr marL="109728" marR="109728" marT="54864" marB="54864" anchor="ctr">
                    <a:solidFill>
                      <a:srgbClr val="E8F4F8"/>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Parquet and Arrow optimise opposite costs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What a file promises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notes/01-encoding-and-files.md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8</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Parquet spends CPU to save I/O for storage, and Arrow stays uncompressed so that engines can share memory without copying.</a:t>
            </a:r>
          </a:p>
        </p:txBody>
      </p:sp>
      <p:sp>
        <p:nvSpPr>
          <p:cNvPr id="12" name="Rectangle 11"/>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Parquet, on disk</a:t>
            </a:r>
          </a:p>
        </p:txBody>
      </p:sp>
      <p:sp>
        <p:nvSpPr>
          <p:cNvPr id="15" name="Rectangle 14"/>
          <p:cNvSpPr/>
          <p:nvPr/>
        </p:nvSpPr>
        <p:spPr>
          <a:xfrm>
            <a:off x="731520" y="2313178"/>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231136"/>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I/O is the slow step, so spend CPU to save bytes</a:t>
            </a:r>
          </a:p>
        </p:txBody>
      </p:sp>
      <p:sp>
        <p:nvSpPr>
          <p:cNvPr id="17" name="Rectangle 16"/>
          <p:cNvSpPr/>
          <p:nvPr/>
        </p:nvSpPr>
        <p:spPr>
          <a:xfrm>
            <a:off x="731520" y="3012694"/>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293065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Dictionaries, run lengths, compression</a:t>
            </a:r>
          </a:p>
        </p:txBody>
      </p:sp>
      <p:sp>
        <p:nvSpPr>
          <p:cNvPr id="19" name="Rectangle 18"/>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7.7 MB, about 11 ms to open</a:t>
            </a:r>
          </a:p>
        </p:txBody>
      </p:sp>
      <p:sp>
        <p:nvSpPr>
          <p:cNvPr id="21" name="Rectangle 20"/>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Arrow, in memory</a:t>
            </a:r>
          </a:p>
        </p:txBody>
      </p:sp>
      <p:sp>
        <p:nvSpPr>
          <p:cNvPr id="24" name="Rectangle 23"/>
          <p:cNvSpPr/>
          <p:nvPr/>
        </p:nvSpPr>
        <p:spPr>
          <a:xfrm>
            <a:off x="6507327" y="231317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27367" y="2231136"/>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CPU is the slow step, so keep values at known addresses</a:t>
            </a:r>
          </a:p>
        </p:txBody>
      </p:sp>
      <p:sp>
        <p:nvSpPr>
          <p:cNvPr id="26" name="Rectangle 25"/>
          <p:cNvSpPr/>
          <p:nvPr/>
        </p:nvSpPr>
        <p:spPr>
          <a:xfrm>
            <a:off x="6507327" y="3012694"/>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7367" y="2930652"/>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DuckDB, Polars and NumPy can share one buffer</a:t>
            </a:r>
          </a:p>
        </p:txBody>
      </p:sp>
      <p:sp>
        <p:nvSpPr>
          <p:cNvPr id="28" name="Rectangle 27"/>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44.9 MB, about 1 ms to open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Drift can vanish inside one line of SQL</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What a file promises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notes/01-encoding-and-files.md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9</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Reading many Parquet files without union_by_name silently drops new columns, which is a stage trusting the one before it.</a:t>
            </a:r>
          </a:p>
        </p:txBody>
      </p:sp>
      <p:sp>
        <p:nvSpPr>
          <p:cNvPr id="12" name="Rounded Rectangle 11"/>
          <p:cNvSpPr/>
          <p:nvPr/>
        </p:nvSpPr>
        <p:spPr>
          <a:xfrm>
            <a:off x="502920" y="1472184"/>
            <a:ext cx="6711513" cy="2148839"/>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4" name="TextBox 13"/>
          <p:cNvSpPr txBox="1"/>
          <p:nvPr/>
        </p:nvSpPr>
        <p:spPr>
          <a:xfrm>
            <a:off x="731520" y="1883664"/>
            <a:ext cx="6254313" cy="150875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 jan.parquet: trip_id, fare_usd</a:t>
            </a:r>
          </a:p>
          <a:p>
            <a:pPr algn="l">
              <a:lnSpc>
                <a:spcPct val="100000"/>
              </a:lnSpc>
            </a:pPr>
            <a:r>
              <a:rPr sz="1600" i="0" b="0">
                <a:solidFill>
                  <a:srgbClr val="E2E8F0"/>
                </a:solidFill>
                <a:latin typeface="Menlo"/>
              </a:rPr>
              <a:t># feb.parquet: trip_id, fare_usd, tip_usd</a:t>
            </a:r>
          </a:p>
          <a:p>
            <a:pPr algn="l">
              <a:lnSpc>
                <a:spcPct val="100000"/>
              </a:lnSpc>
            </a:pPr>
            <a:r>
              <a:rPr sz="1600" i="0" b="0">
                <a:solidFill>
                  <a:srgbClr val="E2E8F0"/>
                </a:solidFill>
                <a:latin typeface="Menlo"/>
              </a:rPr>
              <a:t>read_parquet(['jan.parquet','feb.parquet'])</a:t>
            </a:r>
          </a:p>
          <a:p>
            <a:pPr algn="l">
              <a:lnSpc>
                <a:spcPct val="100000"/>
              </a:lnSpc>
            </a:pPr>
            <a:r>
              <a:rPr sz="1600" i="0" b="0">
                <a:solidFill>
                  <a:srgbClr val="E2E8F0"/>
                </a:solidFill>
                <a:latin typeface="Menlo"/>
              </a:rPr>
              <a:t># columns: trip_id, fare_usd  (no tip, no error)</a:t>
            </a:r>
          </a:p>
          <a:p>
            <a:pPr algn="l">
              <a:lnSpc>
                <a:spcPct val="100000"/>
              </a:lnSpc>
            </a:pPr>
            <a:r>
              <a:rPr sz="1600" i="0" b="0">
                <a:solidFill>
                  <a:srgbClr val="E2E8F0"/>
                </a:solidFill>
                <a:latin typeface="Menlo"/>
              </a:rPr>
              <a:t>read_parquet([...], union_by_name=true)</a:t>
            </a:r>
          </a:p>
          <a:p>
            <a:pPr algn="l">
              <a:lnSpc>
                <a:spcPct val="100000"/>
              </a:lnSpc>
            </a:pPr>
            <a:r>
              <a:rPr sz="1600" i="0" b="0">
                <a:solidFill>
                  <a:srgbClr val="E2E8F0"/>
                </a:solidFill>
                <a:latin typeface="Menlo"/>
              </a:rPr>
              <a:t># columns: trip_id, fare_usd, tip_usd</a:t>
            </a:r>
          </a:p>
        </p:txBody>
      </p:sp>
      <p:sp>
        <p:nvSpPr>
          <p:cNvPr id="15" name="Rectangle 14"/>
          <p:cNvSpPr/>
          <p:nvPr/>
        </p:nvSpPr>
        <p:spPr>
          <a:xfrm>
            <a:off x="7580193" y="160477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The first file's schema wins</a:t>
            </a:r>
            <a:r>
              <a:rPr sz="1800" i="0" b="0">
                <a:solidFill>
                  <a:srgbClr val="1E293B"/>
                </a:solidFill>
                <a:latin typeface="Helvetica Neue"/>
              </a:rPr>
              <a:t> by default in DuckDB.</a:t>
            </a:r>
          </a:p>
        </p:txBody>
      </p:sp>
      <p:sp>
        <p:nvSpPr>
          <p:cNvPr id="17" name="Rectangle 16"/>
          <p:cNvSpPr/>
          <p:nvPr/>
        </p:nvSpPr>
        <p:spPr>
          <a:xfrm>
            <a:off x="7580193" y="234543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Fix:</a:t>
            </a:r>
            <a:r>
              <a:rPr sz="1800" i="0" b="0">
                <a:solidFill>
                  <a:srgbClr val="1E293B"/>
                </a:solidFill>
                <a:latin typeface="Helvetica Neue"/>
              </a:rPr>
              <a:t> read by name, or use a table format.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D4621A"/>
                </a:solidFill>
                <a:latin typeface="Helvetica Neue"/>
              </a:rPr>
              <a:t>PART 2</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Two layouts, two workloads</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OLTP and OLAP · Column layout · Compression · Write path</a:t>
            </a:r>
          </a:p>
        </p:txBody>
      </p:sp>
      <p:cxnSp>
        <p:nvCxnSpPr>
          <p:cNvPr id="6" name="Connector 5"/>
          <p:cNvCxnSpPr/>
          <p:nvPr/>
        </p:nvCxnSpPr>
        <p:spPr>
          <a:xfrm>
            <a:off x="6446520" y="1755775"/>
            <a:ext cx="0" cy="334645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755775"/>
            <a:ext cx="4693615" cy="352933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One layout cannot serve both kinds of query</a:t>
            </a:r>
          </a:p>
          <a:p>
            <a:pPr algn="l">
              <a:lnSpc>
                <a:spcPct val="100000"/>
              </a:lnSpc>
              <a:spcBef>
                <a:spcPts val="1189"/>
              </a:spcBef>
            </a:pPr>
            <a:r>
              <a:rPr sz="1700" i="0" b="0">
                <a:solidFill>
                  <a:srgbClr val="CBD5E1"/>
                </a:solidFill>
                <a:latin typeface="Helvetica Neue"/>
              </a:rPr>
              <a:t>Access patterns separate the two worlds</a:t>
            </a:r>
          </a:p>
          <a:p>
            <a:pPr algn="l">
              <a:lnSpc>
                <a:spcPct val="100000"/>
              </a:lnSpc>
              <a:spcBef>
                <a:spcPts val="1189"/>
              </a:spcBef>
            </a:pPr>
            <a:r>
              <a:rPr sz="1700" i="0" b="0">
                <a:solidFill>
                  <a:srgbClr val="CBD5E1"/>
                </a:solidFill>
                <a:latin typeface="Helvetica Neue"/>
              </a:rPr>
              <a:t>Four things make a column store fast</a:t>
            </a:r>
          </a:p>
          <a:p>
            <a:pPr algn="l">
              <a:lnSpc>
                <a:spcPct val="100000"/>
              </a:lnSpc>
              <a:spcBef>
                <a:spcPts val="1189"/>
              </a:spcBef>
            </a:pPr>
            <a:r>
              <a:rPr sz="1700" i="0" b="0">
                <a:solidFill>
                  <a:srgbClr val="CBD5E1"/>
                </a:solidFill>
                <a:latin typeface="Helvetica Neue"/>
              </a:rPr>
              <a:t>Selectivity decides between index and scan</a:t>
            </a:r>
          </a:p>
          <a:p>
            <a:pPr algn="l">
              <a:lnSpc>
                <a:spcPct val="100000"/>
              </a:lnSpc>
              <a:spcBef>
                <a:spcPts val="1189"/>
              </a:spcBef>
            </a:pPr>
            <a:r>
              <a:rPr sz="1700" i="0" b="0">
                <a:solidFill>
                  <a:srgbClr val="CBD5E1"/>
                </a:solidFill>
                <a:latin typeface="Helvetica Neue"/>
              </a:rPr>
              <a:t>Column stores buffer writes and merge them in bulk</a:t>
            </a:r>
          </a:p>
          <a:p>
            <a:pPr algn="l">
              <a:lnSpc>
                <a:spcPct val="100000"/>
              </a:lnSpc>
              <a:spcBef>
                <a:spcPts val="1189"/>
              </a:spcBef>
            </a:pPr>
            <a:r>
              <a:rPr sz="1700" i="0" b="0">
                <a:solidFill>
                  <a:srgbClr val="CBD5E1"/>
                </a:solidFill>
                <a:latin typeface="Helvetica Neue"/>
              </a:rPr>
              <a:t>A rollup answers only the questions it kept</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500" i="0" b="1">
                <a:solidFill>
                  <a:srgbClr val="FFFFFF"/>
                </a:solidFill>
                <a:latin typeface="Helvetica Neue"/>
              </a:rPr>
              <a:t>One layout cannot serve both kinds of query</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Two layouts, two workloads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notes/02-row-and-column-stores.md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11</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OLTP and OLAP pull storage in opposite directions, which is why companies copy data into a separate warehouse.</a:t>
            </a:r>
          </a:p>
        </p:txBody>
      </p:sp>
      <p:sp>
        <p:nvSpPr>
          <p:cNvPr id="13" name="Rectangle 12"/>
          <p:cNvSpPr/>
          <p:nvPr/>
        </p:nvSpPr>
        <p:spPr>
          <a:xfrm>
            <a:off x="777240" y="2299716"/>
            <a:ext cx="109728" cy="235915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2299716"/>
            <a:ext cx="10088575" cy="1993392"/>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On the same million rows, DuckDB won the scan by about 200 times, and SQLite won the key lookup by about 60.</a:t>
            </a:r>
          </a:p>
        </p:txBody>
      </p:sp>
      <p:sp>
        <p:nvSpPr>
          <p:cNvPr id="15" name="TextBox 14"/>
          <p:cNvSpPr txBox="1"/>
          <p:nvPr/>
        </p:nvSpPr>
        <p:spPr>
          <a:xfrm>
            <a:off x="1234440" y="4247388"/>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One laptop run, best of five, in chapter 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Access patterns separate the two worlds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Two layouts, two workloads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notes/02-row-and-column-stores.md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12</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OLTP serves small reads and writes by key for applications, while OLAP scans history for analysis, and each needs its own layout.</a:t>
            </a:r>
          </a:p>
        </p:txBody>
      </p:sp>
      <p:graphicFrame>
        <p:nvGraphicFramePr>
          <p:cNvPr id="12" name="Table 11"/>
          <p:cNvGraphicFramePr>
            <a:graphicFrameLocks noGrp="1"/>
          </p:cNvGraphicFramePr>
          <p:nvPr/>
        </p:nvGraphicFramePr>
        <p:xfrm>
          <a:off x="502920" y="1472184"/>
          <a:ext cx="11185853" cy="2432304"/>
        </p:xfrm>
        <a:graphic>
          <a:graphicData uri="http://schemas.openxmlformats.org/drawingml/2006/table">
            <a:tbl>
              <a:tblPr firstRow="1" bandRow="1">
                <a:tableStyleId>{5940675A-B579-460E-94D1-54222C63F5DA}</a:tableStyleId>
              </a:tblPr>
              <a:tblGrid>
                <a:gridCol w="2796463"/>
                <a:gridCol w="4194695"/>
                <a:gridCol w="4194695"/>
              </a:tblGrid>
              <a:tr h="405384">
                <a:tc>
                  <a:txBody>
                    <a:bodyPr wrap="square"/>
                    <a:lstStyle/>
                    <a:p>
                      <a:pPr>
                        <a:lnSpc>
                          <a:spcPct val="100000"/>
                        </a:lnSpc>
                      </a:pP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OLTP</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OLAP</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Reads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 few rows, by key</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Aggregates over many rows</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Writes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Random, low latency</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Bulk load or stream</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Users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Through an application</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Analysts and models</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Data</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Latest state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History of events</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Size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GB to TB</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TB to PB</a:t>
                      </a:r>
                    </a:p>
                  </a:txBody>
                  <a:tcPr marL="109728" marR="109728" marT="54864" marB="54864"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Four things make a column store fast</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Two layouts, two workloads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notes/02-row-and-column-stores.md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13</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Column stores read only named columns, compress similar values, filter with bitmaps, and process batches in tight loops.</a:t>
            </a:r>
          </a:p>
        </p:txBody>
      </p:sp>
      <p:sp>
        <p:nvSpPr>
          <p:cNvPr id="12" name="Rectangle 11"/>
          <p:cNvSpPr/>
          <p:nvPr/>
        </p:nvSpPr>
        <p:spPr>
          <a:xfrm>
            <a:off x="502920" y="1472184"/>
            <a:ext cx="2590723" cy="2279904"/>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82296" cy="2279904"/>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Read less</a:t>
            </a:r>
          </a:p>
        </p:txBody>
      </p:sp>
      <p:sp>
        <p:nvSpPr>
          <p:cNvPr id="15" name="TextBox 14"/>
          <p:cNvSpPr txBox="1"/>
          <p:nvPr/>
        </p:nvSpPr>
        <p:spPr>
          <a:xfrm>
            <a:off x="777240" y="2087880"/>
            <a:ext cx="2087803" cy="1481327"/>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A query names 4 or 5 of a fact table's 100 columns.</a:t>
            </a:r>
          </a:p>
        </p:txBody>
      </p:sp>
      <p:sp>
        <p:nvSpPr>
          <p:cNvPr id="16" name="Rectangle 15"/>
          <p:cNvSpPr/>
          <p:nvPr/>
        </p:nvSpPr>
        <p:spPr>
          <a:xfrm>
            <a:off x="3367963" y="1472184"/>
            <a:ext cx="2590723" cy="2279904"/>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7963" y="1472184"/>
            <a:ext cx="82296" cy="227990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42283"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Compress runs</a:t>
            </a:r>
          </a:p>
        </p:txBody>
      </p:sp>
      <p:sp>
        <p:nvSpPr>
          <p:cNvPr id="19" name="TextBox 18"/>
          <p:cNvSpPr txBox="1"/>
          <p:nvPr/>
        </p:nvSpPr>
        <p:spPr>
          <a:xfrm>
            <a:off x="3642283" y="2087880"/>
            <a:ext cx="2087803" cy="1481327"/>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Sorted, zone falls from 956,362 runs to 260.</a:t>
            </a:r>
          </a:p>
        </p:txBody>
      </p:sp>
      <p:sp>
        <p:nvSpPr>
          <p:cNvPr id="20" name="Rectangle 19"/>
          <p:cNvSpPr/>
          <p:nvPr/>
        </p:nvSpPr>
        <p:spPr>
          <a:xfrm>
            <a:off x="6233007" y="1472184"/>
            <a:ext cx="2590723" cy="2279904"/>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3007" y="1472184"/>
            <a:ext cx="82296" cy="2279904"/>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07327"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Bitmaps</a:t>
            </a:r>
          </a:p>
        </p:txBody>
      </p:sp>
      <p:sp>
        <p:nvSpPr>
          <p:cNvPr id="23" name="TextBox 22"/>
          <p:cNvSpPr txBox="1"/>
          <p:nvPr/>
        </p:nvSpPr>
        <p:spPr>
          <a:xfrm>
            <a:off x="6507327" y="2087880"/>
            <a:ext cx="2087803" cy="1481327"/>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IN becomes OR and AND works bit by bit.</a:t>
            </a:r>
          </a:p>
        </p:txBody>
      </p:sp>
      <p:sp>
        <p:nvSpPr>
          <p:cNvPr id="24" name="Rectangle 23"/>
          <p:cNvSpPr/>
          <p:nvPr/>
        </p:nvSpPr>
        <p:spPr>
          <a:xfrm>
            <a:off x="9098051" y="1472184"/>
            <a:ext cx="2590723" cy="2279904"/>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98051" y="1472184"/>
            <a:ext cx="82296" cy="2279904"/>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72371"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Vectors</a:t>
            </a:r>
          </a:p>
        </p:txBody>
      </p:sp>
      <p:sp>
        <p:nvSpPr>
          <p:cNvPr id="27" name="TextBox 26"/>
          <p:cNvSpPr txBox="1"/>
          <p:nvPr/>
        </p:nvSpPr>
        <p:spPr>
          <a:xfrm>
            <a:off x="9372371" y="2087880"/>
            <a:ext cx="2087803" cy="1481327"/>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Loops over 1,024 values fit in cache and use SIMD.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Selectivity decides between index and scan</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Two layouts, two workloads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notes/02-row-and-column-stores.md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14</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An index is a series of random lookups, so it loses to a compressed scan as selectivity falls, and warehouses mostly skip them.</a:t>
            </a:r>
          </a:p>
        </p:txBody>
      </p:sp>
      <p:sp>
        <p:nvSpPr>
          <p:cNvPr id="12" name="Rounded Rectangle 11"/>
          <p:cNvSpPr/>
          <p:nvPr/>
        </p:nvSpPr>
        <p:spPr>
          <a:xfrm>
            <a:off x="502920" y="1472184"/>
            <a:ext cx="11185855" cy="141732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10728655"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TEXT</a:t>
            </a:r>
          </a:p>
        </p:txBody>
      </p:sp>
      <p:sp>
        <p:nvSpPr>
          <p:cNvPr id="14" name="TextBox 13"/>
          <p:cNvSpPr txBox="1"/>
          <p:nvPr/>
        </p:nvSpPr>
        <p:spPr>
          <a:xfrm>
            <a:off x="731520" y="1883664"/>
            <a:ext cx="10728655" cy="777240"/>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rows matched       SQLite index   DuckDB scan</a:t>
            </a:r>
          </a:p>
          <a:p>
            <a:pPr algn="l">
              <a:lnSpc>
                <a:spcPct val="100000"/>
              </a:lnSpc>
            </a:pPr>
            <a:r>
              <a:rPr sz="1600" i="0" b="0">
                <a:solidFill>
                  <a:srgbClr val="E2E8F0"/>
                </a:solidFill>
                <a:latin typeface="Menlo"/>
              </a:rPr>
              <a:t>rare zone,    623       0.37 ms       0.47 ms</a:t>
            </a:r>
          </a:p>
          <a:p>
            <a:pPr algn="l">
              <a:lnSpc>
                <a:spcPct val="100000"/>
              </a:lnSpc>
            </a:pPr>
            <a:r>
              <a:rPr sz="1600" i="0" b="0">
                <a:solidFill>
                  <a:srgbClr val="E2E8F0"/>
                </a:solidFill>
                <a:latin typeface="Menlo"/>
              </a:rPr>
              <a:t>busy zone, 163162      24.83 ms       0.59 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Column stores buffer writes and merge them in bulk</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Two layouts, two workloads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notes/02-row-and-column-stores.md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15</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A sorted compressed column cannot accept an insert, so recent writes sit in a buffer and merge in bulk, which suits batch loads.</a:t>
            </a:r>
          </a:p>
        </p:txBody>
      </p:sp>
      <p:sp>
        <p:nvSpPr>
          <p:cNvPr id="12" name="Rounded Rectangle 11"/>
          <p:cNvSpPr/>
          <p:nvPr/>
        </p:nvSpPr>
        <p:spPr>
          <a:xfrm>
            <a:off x="586587" y="1563624"/>
            <a:ext cx="2377440" cy="981456"/>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3747" y="1563624"/>
            <a:ext cx="2103120" cy="981456"/>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Write arrives</a:t>
            </a:r>
          </a:p>
        </p:txBody>
      </p:sp>
      <p:cxnSp>
        <p:nvCxnSpPr>
          <p:cNvPr id="14" name="Connector 13"/>
          <p:cNvCxnSpPr/>
          <p:nvPr/>
        </p:nvCxnSpPr>
        <p:spPr>
          <a:xfrm>
            <a:off x="3018891" y="2054352"/>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66947" y="1563624"/>
            <a:ext cx="2377440" cy="981456"/>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4107" y="1563624"/>
            <a:ext cx="2103120" cy="981456"/>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In-memory store</a:t>
            </a:r>
          </a:p>
        </p:txBody>
      </p:sp>
      <p:cxnSp>
        <p:nvCxnSpPr>
          <p:cNvPr id="17" name="Connector 16"/>
          <p:cNvCxnSpPr/>
          <p:nvPr/>
        </p:nvCxnSpPr>
        <p:spPr>
          <a:xfrm>
            <a:off x="5899251" y="2054352"/>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347307" y="1563624"/>
            <a:ext cx="2377440" cy="981456"/>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84467" y="1563624"/>
            <a:ext cx="2103120" cy="981456"/>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Read merges both</a:t>
            </a:r>
          </a:p>
        </p:txBody>
      </p:sp>
      <p:cxnSp>
        <p:nvCxnSpPr>
          <p:cNvPr id="20" name="Connector 19"/>
          <p:cNvCxnSpPr/>
          <p:nvPr/>
        </p:nvCxnSpPr>
        <p:spPr>
          <a:xfrm>
            <a:off x="8779611" y="2054352"/>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227667" y="1563624"/>
            <a:ext cx="2377440" cy="981456"/>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4827" y="1563624"/>
            <a:ext cx="2103120" cy="981456"/>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Bulk merge into sorted columns</a:t>
            </a:r>
          </a:p>
        </p:txBody>
      </p:sp>
      <p:sp>
        <p:nvSpPr>
          <p:cNvPr id="23" name="TextBox 22"/>
          <p:cNvSpPr txBox="1"/>
          <p:nvPr/>
        </p:nvSpPr>
        <p:spPr>
          <a:xfrm>
            <a:off x="502920" y="2865120"/>
            <a:ext cx="11185855" cy="2621279"/>
          </a:xfrm>
          <a:prstGeom prst="rect">
            <a:avLst/>
          </a:prstGeom>
          <a:noFill/>
        </p:spPr>
        <p:txBody>
          <a:bodyPr wrap="square" lIns="0" rIns="0" tIns="0" bIns="0" anchor="t">
            <a:noAutofit/>
          </a:bodyPr>
          <a:lstStyle/>
          <a:p>
            <a:pPr algn="ctr">
              <a:lnSpc>
                <a:spcPct val="110000"/>
              </a:lnSpc>
            </a:pPr>
            <a:r>
              <a:rPr sz="1700" i="0" b="0">
                <a:solidFill>
                  <a:srgbClr val="475569"/>
                </a:solidFill>
                <a:latin typeface="Helvetica Neue"/>
              </a:rPr>
              <a:t>The log-structured approach, as Kleppmann describes it for Vertica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 rollup answers only the questions it kept</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Two layouts, two workloads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notes/02-row-and-column-stores.md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16</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Materialised views and cubes trade flexibility for speed, so keep the atomic table and build rollups from questions actually asked.</a:t>
            </a:r>
          </a:p>
        </p:txBody>
      </p:sp>
      <p:sp>
        <p:nvSpPr>
          <p:cNvPr id="12" name="Rectangle 11"/>
          <p:cNvSpPr/>
          <p:nvPr/>
        </p:nvSpPr>
        <p:spPr>
          <a:xfrm>
            <a:off x="502920" y="1568704"/>
            <a:ext cx="106680" cy="106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472184"/>
            <a:ext cx="10865815" cy="42672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Rollup:</a:t>
            </a:r>
            <a:r>
              <a:rPr sz="2000" i="0" b="0">
                <a:solidFill>
                  <a:srgbClr val="1E293B"/>
                </a:solidFill>
                <a:latin typeface="Helvetica Neue"/>
              </a:rPr>
              <a:t> 8,060 zone-day rows replace a million trips, about 4x faster here.</a:t>
            </a:r>
          </a:p>
        </p:txBody>
      </p:sp>
      <p:sp>
        <p:nvSpPr>
          <p:cNvPr id="14" name="Rectangle 13"/>
          <p:cNvSpPr/>
          <p:nvPr/>
        </p:nvSpPr>
        <p:spPr>
          <a:xfrm>
            <a:off x="502920" y="2056384"/>
            <a:ext cx="106680" cy="106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1959864"/>
            <a:ext cx="10865815"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The cost:</a:t>
            </a:r>
            <a:r>
              <a:rPr sz="2000" i="0" b="0">
                <a:solidFill>
                  <a:srgbClr val="1E293B"/>
                </a:solidFill>
                <a:latin typeface="Helvetica Neue"/>
              </a:rPr>
              <a:t> fare share of trips over 10 miles is unanswerable, since miles is not a column.</a:t>
            </a:r>
          </a:p>
        </p:txBody>
      </p:sp>
      <p:sp>
        <p:nvSpPr>
          <p:cNvPr id="16" name="Rectangle 15"/>
          <p:cNvSpPr/>
          <p:nvPr/>
        </p:nvSpPr>
        <p:spPr>
          <a:xfrm>
            <a:off x="502920" y="2879344"/>
            <a:ext cx="106680" cy="106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782824"/>
            <a:ext cx="10865815" cy="42672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Keep atomic facts</a:t>
            </a:r>
            <a:r>
              <a:rPr sz="2000" i="0" b="0">
                <a:solidFill>
                  <a:srgbClr val="1E293B"/>
                </a:solidFill>
                <a:latin typeface="Helvetica Neue"/>
              </a:rPr>
              <a:t> and treat rollups as an acceleration layer.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F7490"/>
                </a:solidFill>
                <a:latin typeface="Helvetica Neue"/>
              </a:rPr>
              <a:t>PART 3</a:t>
            </a:r>
          </a:p>
        </p:txBody>
      </p:sp>
      <p:sp>
        <p:nvSpPr>
          <p:cNvPr id="4" name="TextBox 3"/>
          <p:cNvSpPr txBox="1"/>
          <p:nvPr/>
        </p:nvSpPr>
        <p:spPr>
          <a:xfrm>
            <a:off x="822960" y="1965960"/>
            <a:ext cx="5486400" cy="26974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When one machine isn't enough</a:t>
            </a:r>
          </a:p>
        </p:txBody>
      </p:sp>
      <p:sp>
        <p:nvSpPr>
          <p:cNvPr id="5" name="TextBox 4"/>
          <p:cNvSpPr txBox="1"/>
          <p:nvPr/>
        </p:nvSpPr>
        <p:spPr>
          <a:xfrm>
            <a:off x="822960" y="47548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MapReduce · Joins · Spark · Single-node engines</a:t>
            </a:r>
          </a:p>
        </p:txBody>
      </p:sp>
      <p:cxnSp>
        <p:nvCxnSpPr>
          <p:cNvPr id="6" name="Connector 5"/>
          <p:cNvCxnSpPr/>
          <p:nvPr/>
        </p:nvCxnSpPr>
        <p:spPr>
          <a:xfrm>
            <a:off x="6446520" y="2014855"/>
            <a:ext cx="0" cy="282829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014855"/>
            <a:ext cx="4693615" cy="301117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A cluster costs far more than the bill</a:t>
            </a:r>
          </a:p>
          <a:p>
            <a:pPr algn="l">
              <a:lnSpc>
                <a:spcPct val="100000"/>
              </a:lnSpc>
              <a:spcBef>
                <a:spcPts val="1189"/>
              </a:spcBef>
            </a:pPr>
            <a:r>
              <a:rPr sz="1700" i="0" b="0">
                <a:solidFill>
                  <a:srgbClr val="CBD5E1"/>
                </a:solidFill>
                <a:latin typeface="Helvetica Neue"/>
              </a:rPr>
              <a:t>MapReduce is a Unix sort across machines</a:t>
            </a:r>
          </a:p>
          <a:p>
            <a:pPr algn="l">
              <a:lnSpc>
                <a:spcPct val="100000"/>
              </a:lnSpc>
              <a:spcBef>
                <a:spcPts val="1189"/>
              </a:spcBef>
            </a:pPr>
            <a:r>
              <a:rPr sz="1700" i="0" b="0">
                <a:solidFill>
                  <a:srgbClr val="CBD5E1"/>
                </a:solidFill>
                <a:latin typeface="Helvetica Neue"/>
              </a:rPr>
              <a:t>Reading a query plan starts with the join</a:t>
            </a:r>
          </a:p>
          <a:p>
            <a:pPr algn="l">
              <a:lnSpc>
                <a:spcPct val="100000"/>
              </a:lnSpc>
              <a:spcBef>
                <a:spcPts val="1189"/>
              </a:spcBef>
            </a:pPr>
            <a:r>
              <a:rPr sz="1700" i="0" b="0">
                <a:solidFill>
                  <a:srgbClr val="CBD5E1"/>
                </a:solidFill>
                <a:latin typeface="Helvetica Neue"/>
              </a:rPr>
              <a:t>Lineage replaced replicated intermediate files</a:t>
            </a:r>
          </a:p>
          <a:p>
            <a:pPr algn="l">
              <a:lnSpc>
                <a:spcPct val="100000"/>
              </a:lnSpc>
              <a:spcBef>
                <a:spcPts val="1189"/>
              </a:spcBef>
            </a:pPr>
            <a:r>
              <a:rPr sz="1700" i="0" b="0">
                <a:solidFill>
                  <a:srgbClr val="CBD5E1"/>
                </a:solidFill>
                <a:latin typeface="Helvetica Neue"/>
              </a:rPr>
              <a:t>The same query on a laptop, with pushdown</a:t>
            </a:r>
          </a:p>
          <a:p>
            <a:pPr algn="l">
              <a:lnSpc>
                <a:spcPct val="100000"/>
              </a:lnSpc>
              <a:spcBef>
                <a:spcPts val="1189"/>
              </a:spcBef>
            </a:pPr>
            <a:r>
              <a:rPr sz="1700" i="0" b="0">
                <a:solidFill>
                  <a:srgbClr val="CBD5E1"/>
                </a:solidFill>
                <a:latin typeface="Helvetica Neue"/>
              </a:rPr>
              <a:t>COST asks when a cluster beats one good thread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 cluster costs far more than the bill</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When one machine isn't enough</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notes/03-distributed-compute.md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18</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Distributed compute adds shuffles, retries and stragglers, so use it when you must and not by default.</a:t>
            </a:r>
          </a:p>
        </p:txBody>
      </p:sp>
      <p:sp>
        <p:nvSpPr>
          <p:cNvPr id="13" name="Rectangle 12"/>
          <p:cNvSpPr/>
          <p:nvPr/>
        </p:nvSpPr>
        <p:spPr>
          <a:xfrm>
            <a:off x="777240" y="1997964"/>
            <a:ext cx="109728" cy="296265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1997964"/>
            <a:ext cx="10088575" cy="2596896"/>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Over a network, each join becomes a shuffle, each failed worker a recovery plan, and the slowest task sets the finish time.</a:t>
            </a:r>
          </a:p>
        </p:txBody>
      </p:sp>
      <p:sp>
        <p:nvSpPr>
          <p:cNvPr id="15" name="TextBox 14"/>
          <p:cNvSpPr txBox="1"/>
          <p:nvPr/>
        </p:nvSpPr>
        <p:spPr>
          <a:xfrm>
            <a:off x="1234440" y="4549140"/>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Chapter 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MapReduce is a Unix sort across machines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When one machine isn't enough</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notes/03-distributed-compute.md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19</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MapReduce partitions keys with a stable hash, sorts and merges them, and commits output atomically so a retry cannot double count.</a:t>
            </a:r>
          </a:p>
        </p:txBody>
      </p:sp>
      <p:sp>
        <p:nvSpPr>
          <p:cNvPr id="12" name="Rounded Rectangle 11"/>
          <p:cNvSpPr/>
          <p:nvPr/>
        </p:nvSpPr>
        <p:spPr>
          <a:xfrm>
            <a:off x="502920" y="1563624"/>
            <a:ext cx="1834835" cy="981456"/>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563624"/>
            <a:ext cx="1560515" cy="981456"/>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Split input</a:t>
            </a:r>
          </a:p>
        </p:txBody>
      </p:sp>
      <p:cxnSp>
        <p:nvCxnSpPr>
          <p:cNvPr id="14" name="Connector 13"/>
          <p:cNvCxnSpPr/>
          <p:nvPr/>
        </p:nvCxnSpPr>
        <p:spPr>
          <a:xfrm>
            <a:off x="2392619" y="2054352"/>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840675" y="1563624"/>
            <a:ext cx="1834835" cy="981456"/>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77835" y="1563624"/>
            <a:ext cx="1560515" cy="981456"/>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Map to key and value</a:t>
            </a:r>
          </a:p>
        </p:txBody>
      </p:sp>
      <p:cxnSp>
        <p:nvCxnSpPr>
          <p:cNvPr id="17" name="Connector 16"/>
          <p:cNvCxnSpPr/>
          <p:nvPr/>
        </p:nvCxnSpPr>
        <p:spPr>
          <a:xfrm>
            <a:off x="4730374" y="2054352"/>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178430" y="1563624"/>
            <a:ext cx="1834835" cy="981456"/>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15590" y="1563624"/>
            <a:ext cx="1560515" cy="981456"/>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Partition by hash</a:t>
            </a:r>
          </a:p>
        </p:txBody>
      </p:sp>
      <p:cxnSp>
        <p:nvCxnSpPr>
          <p:cNvPr id="20" name="Connector 19"/>
          <p:cNvCxnSpPr/>
          <p:nvPr/>
        </p:nvCxnSpPr>
        <p:spPr>
          <a:xfrm>
            <a:off x="7068129" y="2054352"/>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516185" y="1563624"/>
            <a:ext cx="1834835" cy="981456"/>
          </a:xfrm>
          <a:prstGeom prst="roundRect">
            <a:avLst>
              <a:gd name="adj" fmla="val 12000"/>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53345" y="1563624"/>
            <a:ext cx="1560515" cy="981456"/>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Sort and merge</a:t>
            </a:r>
          </a:p>
        </p:txBody>
      </p:sp>
      <p:cxnSp>
        <p:nvCxnSpPr>
          <p:cNvPr id="23" name="Connector 22"/>
          <p:cNvCxnSpPr/>
          <p:nvPr/>
        </p:nvCxnSpPr>
        <p:spPr>
          <a:xfrm>
            <a:off x="9405884" y="2054352"/>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853940" y="1563624"/>
            <a:ext cx="1834835" cy="981456"/>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91100" y="1563624"/>
            <a:ext cx="1560515" cy="981456"/>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Reduce and commit</a:t>
            </a:r>
          </a:p>
        </p:txBody>
      </p:sp>
      <p:sp>
        <p:nvSpPr>
          <p:cNvPr id="26" name="Rectangle 25"/>
          <p:cNvSpPr/>
          <p:nvPr/>
        </p:nvSpPr>
        <p:spPr>
          <a:xfrm>
            <a:off x="502920" y="2956814"/>
            <a:ext cx="101346" cy="10134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2865120"/>
            <a:ext cx="10865815" cy="409956"/>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The shuffle</a:t>
            </a:r>
            <a:r>
              <a:rPr sz="1900" i="0" b="0">
                <a:solidFill>
                  <a:srgbClr val="1E293B"/>
                </a:solidFill>
                <a:latin typeface="Helvetica Neue"/>
              </a:rPr>
              <a:t> moves and sorts data, so it is the expensive stage.</a:t>
            </a:r>
          </a:p>
        </p:txBody>
      </p:sp>
      <p:sp>
        <p:nvSpPr>
          <p:cNvPr id="28" name="Rectangle 27"/>
          <p:cNvSpPr/>
          <p:nvPr/>
        </p:nvSpPr>
        <p:spPr>
          <a:xfrm>
            <a:off x="502920" y="3420110"/>
            <a:ext cx="101346" cy="10134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3328416"/>
            <a:ext cx="10865815" cy="409956"/>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Immutable inputs and atomic output</a:t>
            </a:r>
            <a:r>
              <a:rPr sz="1900" i="0" b="0">
                <a:solidFill>
                  <a:srgbClr val="1E293B"/>
                </a:solidFill>
                <a:latin typeface="Helvetica Neue"/>
              </a:rPr>
              <a:t> make retries safe.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Reading a query plan starts with the join</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When one machine isn't enough</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notes/03-distributed-compute.md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20</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Sort-merge shuffles both sides, broadcast copies the small table, and bucketed joins move nothing but need matching layouts.</a:t>
            </a:r>
          </a:p>
        </p:txBody>
      </p:sp>
      <p:graphicFrame>
        <p:nvGraphicFramePr>
          <p:cNvPr id="12" name="Table 11"/>
          <p:cNvGraphicFramePr>
            <a:graphicFrameLocks noGrp="1"/>
          </p:cNvGraphicFramePr>
          <p:nvPr/>
        </p:nvGraphicFramePr>
        <p:xfrm>
          <a:off x="502920" y="1472184"/>
          <a:ext cx="11185854" cy="1621536"/>
        </p:xfrm>
        <a:graphic>
          <a:graphicData uri="http://schemas.openxmlformats.org/drawingml/2006/table">
            <a:tbl>
              <a:tblPr firstRow="1" bandRow="1">
                <a:tableStyleId>{5940675A-B579-460E-94D1-54222C63F5DA}</a:tableStyleId>
              </a:tblPr>
              <a:tblGrid>
                <a:gridCol w="3355756"/>
                <a:gridCol w="4474342"/>
                <a:gridCol w="3355756"/>
              </a:tblGrid>
              <a:tr h="405384">
                <a:tc>
                  <a:txBody>
                    <a:bodyPr wrap="square"/>
                    <a:lstStyle/>
                    <a:p>
                      <a:pPr>
                        <a:lnSpc>
                          <a:spcPct val="100000"/>
                        </a:lnSpc>
                      </a:pPr>
                      <a:r>
                        <a:rPr sz="1700" i="0" b="1">
                          <a:solidFill>
                            <a:srgbClr val="FFFFFF"/>
                          </a:solidFill>
                          <a:latin typeface="Helvetica Neue"/>
                        </a:rPr>
                        <a:t>Join</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Needs</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Moves</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Sort-merge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Nothing</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Both tables</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Broadcast hash</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A small side that fits in memory</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Small table per worker</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Bucketed</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Both sides partitioned on the key</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Nothing</a:t>
                      </a:r>
                    </a:p>
                  </a:txBody>
                  <a:tcPr marL="109728" marR="109728" marT="54864" marB="54864" anchor="ctr">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Lineage replaced replicated intermediate files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When one machine isn't enough</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notes/03-distributed-compute.md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21</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Spark records how each partition was built and recomputes it after a failure, which needs deterministic operators.</a:t>
            </a:r>
          </a:p>
        </p:txBody>
      </p:sp>
      <p:sp>
        <p:nvSpPr>
          <p:cNvPr id="12" name="Rounded Rectangle 11"/>
          <p:cNvSpPr/>
          <p:nvPr/>
        </p:nvSpPr>
        <p:spPr>
          <a:xfrm>
            <a:off x="502920" y="1472184"/>
            <a:ext cx="6711513" cy="2148839"/>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TEXT</a:t>
            </a:r>
          </a:p>
        </p:txBody>
      </p:sp>
      <p:sp>
        <p:nvSpPr>
          <p:cNvPr id="14" name="TextBox 13"/>
          <p:cNvSpPr txBox="1"/>
          <p:nvPr/>
        </p:nvSpPr>
        <p:spPr>
          <a:xfrm>
            <a:off x="731520" y="1883664"/>
            <a:ext cx="6254313" cy="150875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(4) PythonRDD[5]</a:t>
            </a:r>
          </a:p>
          <a:p>
            <a:pPr algn="l">
              <a:lnSpc>
                <a:spcPct val="100000"/>
              </a:lnSpc>
            </a:pPr>
            <a:r>
              <a:rPr sz="1600" i="0" b="0">
                <a:solidFill>
                  <a:srgbClr val="E2E8F0"/>
                </a:solidFill>
                <a:latin typeface="Menlo"/>
              </a:rPr>
              <a:t> |  MapPartitionsRDD[4]</a:t>
            </a:r>
          </a:p>
          <a:p>
            <a:pPr algn="l">
              <a:lnSpc>
                <a:spcPct val="100000"/>
              </a:lnSpc>
            </a:pPr>
            <a:r>
              <a:rPr sz="1600" i="0" b="0">
                <a:solidFill>
                  <a:srgbClr val="E2E8F0"/>
                </a:solidFill>
                <a:latin typeface="Menlo"/>
              </a:rPr>
              <a:t> |  ShuffledRDD[3] at partitionBy</a:t>
            </a:r>
          </a:p>
          <a:p>
            <a:pPr algn="l">
              <a:lnSpc>
                <a:spcPct val="100000"/>
              </a:lnSpc>
            </a:pPr>
            <a:r>
              <a:rPr sz="1600" i="0" b="0">
                <a:solidFill>
                  <a:srgbClr val="E2E8F0"/>
                </a:solidFill>
                <a:latin typeface="Menlo"/>
              </a:rPr>
              <a:t> +-(8) PairwiseRDD[2] at reduceByKey</a:t>
            </a:r>
          </a:p>
          <a:p>
            <a:pPr algn="l">
              <a:lnSpc>
                <a:spcPct val="100000"/>
              </a:lnSpc>
            </a:pPr>
            <a:r>
              <a:rPr sz="1600" i="0" b="0">
                <a:solidFill>
                  <a:srgbClr val="E2E8F0"/>
                </a:solidFill>
                <a:latin typeface="Menlo"/>
              </a:rPr>
              <a:t>    |  PythonRDD[1]</a:t>
            </a:r>
          </a:p>
          <a:p>
            <a:pPr algn="l">
              <a:lnSpc>
                <a:spcPct val="100000"/>
              </a:lnSpc>
            </a:pPr>
            <a:r>
              <a:rPr sz="1600" i="0" b="0">
                <a:solidFill>
                  <a:srgbClr val="E2E8F0"/>
                </a:solidFill>
                <a:latin typeface="Menlo"/>
              </a:rPr>
              <a:t>    |  ParallelCollectionRDD[0]</a:t>
            </a:r>
          </a:p>
        </p:txBody>
      </p:sp>
      <p:sp>
        <p:nvSpPr>
          <p:cNvPr id="15" name="Rectangle 14"/>
          <p:cNvSpPr/>
          <p:nvPr/>
        </p:nvSpPr>
        <p:spPr>
          <a:xfrm>
            <a:off x="7580193" y="1604772"/>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Lost partition:</a:t>
            </a:r>
            <a:r>
              <a:rPr sz="1800" i="0" b="0">
                <a:solidFill>
                  <a:srgbClr val="1E293B"/>
                </a:solidFill>
                <a:latin typeface="Helvetica Neue"/>
              </a:rPr>
              <a:t> recompute it from its parents.</a:t>
            </a:r>
          </a:p>
        </p:txBody>
      </p:sp>
      <p:sp>
        <p:nvSpPr>
          <p:cNvPr id="17" name="Rectangle 16"/>
          <p:cNvSpPr/>
          <p:nvPr/>
        </p:nvSpPr>
        <p:spPr>
          <a:xfrm>
            <a:off x="7580193" y="2345436"/>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Needs determinism,</a:t>
            </a:r>
            <a:r>
              <a:rPr sz="1800" i="0" b="0">
                <a:solidFill>
                  <a:srgbClr val="1E293B"/>
                </a:solidFill>
                <a:latin typeface="Helvetica Neue"/>
              </a:rPr>
              <a:t> or downstream re-runs too.</a:t>
            </a:r>
          </a:p>
        </p:txBody>
      </p:sp>
      <p:sp>
        <p:nvSpPr>
          <p:cNvPr id="19" name="Rectangle 18"/>
          <p:cNvSpPr/>
          <p:nvPr/>
        </p:nvSpPr>
        <p:spPr>
          <a:xfrm>
            <a:off x="7580193" y="3086100"/>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2999232"/>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The paper:</a:t>
            </a:r>
            <a:r>
              <a:rPr sz="1800" i="0" b="0">
                <a:solidFill>
                  <a:srgbClr val="1E293B"/>
                </a:solidFill>
                <a:latin typeface="Helvetica Neue"/>
              </a:rPr>
              <a:t> up to 20x faster on iterative work.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same query on a laptop, with pushdown</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When one machine isn't enough</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notes/03-distributed-compute.md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22</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DuckDB and Polars plan queries like a cluster engine and can work beyond memory, so test one machine first.</a:t>
            </a:r>
          </a:p>
        </p:txBody>
      </p:sp>
      <p:sp>
        <p:nvSpPr>
          <p:cNvPr id="12" name="Rounded Rectangle 11"/>
          <p:cNvSpPr/>
          <p:nvPr/>
        </p:nvSpPr>
        <p:spPr>
          <a:xfrm>
            <a:off x="502920" y="1472184"/>
            <a:ext cx="6711513" cy="239268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4" name="TextBox 13"/>
          <p:cNvSpPr txBox="1"/>
          <p:nvPr/>
        </p:nvSpPr>
        <p:spPr>
          <a:xfrm>
            <a:off x="731520" y="1883664"/>
            <a:ext cx="6254313" cy="175259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lazy = (pl.scan_parquet("trips.parquet")</a:t>
            </a:r>
          </a:p>
          <a:p>
            <a:pPr algn="l">
              <a:lnSpc>
                <a:spcPct val="100000"/>
              </a:lnSpc>
            </a:pPr>
            <a:r>
              <a:rPr sz="1600" i="0" b="0">
                <a:solidFill>
                  <a:srgbClr val="E2E8F0"/>
                </a:solidFill>
                <a:latin typeface="Menlo"/>
              </a:rPr>
              <a:t>  .filter(pl.col("payment_type") == "card")</a:t>
            </a:r>
          </a:p>
          <a:p>
            <a:pPr algn="l">
              <a:lnSpc>
                <a:spcPct val="100000"/>
              </a:lnSpc>
            </a:pPr>
            <a:r>
              <a:rPr sz="1600" i="0" b="0">
                <a:solidFill>
                  <a:srgbClr val="E2E8F0"/>
                </a:solidFill>
                <a:latin typeface="Menlo"/>
              </a:rPr>
              <a:t>  .group_by("pickup_zone")</a:t>
            </a:r>
          </a:p>
          <a:p>
            <a:pPr algn="l">
              <a:lnSpc>
                <a:spcPct val="100000"/>
              </a:lnSpc>
            </a:pPr>
            <a:r>
              <a:rPr sz="1600" i="0" b="0">
                <a:solidFill>
                  <a:srgbClr val="E2E8F0"/>
                </a:solidFill>
                <a:latin typeface="Menlo"/>
              </a:rPr>
              <a:t>  .agg(pl.len().alias("trips"))</a:t>
            </a:r>
          </a:p>
          <a:p>
            <a:pPr algn="l">
              <a:lnSpc>
                <a:spcPct val="100000"/>
              </a:lnSpc>
            </a:pPr>
            <a:r>
              <a:rPr sz="1600" i="0" b="0">
                <a:solidFill>
                  <a:srgbClr val="E2E8F0"/>
                </a:solidFill>
                <a:latin typeface="Menlo"/>
              </a:rPr>
              <a:t>  .sort("trips", descending=True).limit(3))</a:t>
            </a:r>
          </a:p>
          <a:p>
            <a:pPr algn="l">
              <a:lnSpc>
                <a:spcPct val="100000"/>
              </a:lnSpc>
            </a:pPr>
            <a:r>
              <a:rPr sz="1600" i="0" b="0">
                <a:solidFill>
                  <a:srgbClr val="E2E8F0"/>
                </a:solidFill>
                <a:latin typeface="Menlo"/>
              </a:rPr>
              <a:t># Parquet SCAN, PROJECT 3/7 COLUMNS</a:t>
            </a:r>
          </a:p>
          <a:p>
            <a:pPr algn="l">
              <a:lnSpc>
                <a:spcPct val="100000"/>
              </a:lnSpc>
            </a:pPr>
            <a:r>
              <a:rPr sz="1600" i="0" b="0">
                <a:solidFill>
                  <a:srgbClr val="E2E8F0"/>
                </a:solidFill>
                <a:latin typeface="Menlo"/>
              </a:rPr>
              <a:t># SELECTION: payment_type == "card"</a:t>
            </a:r>
          </a:p>
        </p:txBody>
      </p:sp>
      <p:sp>
        <p:nvSpPr>
          <p:cNvPr id="15" name="Rectangle 14"/>
          <p:cNvSpPr/>
          <p:nvPr/>
        </p:nvSpPr>
        <p:spPr>
          <a:xfrm>
            <a:off x="7580193" y="1604772"/>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DuckDB, Polars, Spark:</a:t>
            </a:r>
            <a:r>
              <a:rPr sz="1800" i="0" b="0">
                <a:solidFill>
                  <a:srgbClr val="1E293B"/>
                </a:solidFill>
                <a:latin typeface="Helvetica Neue"/>
              </a:rPr>
              <a:t> identical answers.</a:t>
            </a:r>
          </a:p>
        </p:txBody>
      </p:sp>
      <p:sp>
        <p:nvSpPr>
          <p:cNvPr id="17" name="Rectangle 16"/>
          <p:cNvSpPr/>
          <p:nvPr/>
        </p:nvSpPr>
        <p:spPr>
          <a:xfrm>
            <a:off x="7580193" y="2345436"/>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Eager reads</a:t>
            </a:r>
            <a:r>
              <a:rPr sz="1800" i="0" b="0">
                <a:solidFill>
                  <a:srgbClr val="1E293B"/>
                </a:solidFill>
                <a:latin typeface="Helvetica Neue"/>
              </a:rPr>
              <a:t> skip these optimisations.</a:t>
            </a:r>
          </a:p>
        </p:txBody>
      </p:sp>
      <p:sp>
        <p:nvSpPr>
          <p:cNvPr id="19" name="Rectangle 18"/>
          <p:cNvSpPr/>
          <p:nvPr/>
        </p:nvSpPr>
        <p:spPr>
          <a:xfrm>
            <a:off x="7580193" y="3086100"/>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2999232"/>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Spilling:</a:t>
            </a:r>
            <a:r>
              <a:rPr sz="1800" i="0" b="0">
                <a:solidFill>
                  <a:srgbClr val="1E293B"/>
                </a:solidFill>
                <a:latin typeface="Helvetica Neue"/>
              </a:rPr>
              <a:t> 3M groups ran under a 200 MB limit.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COST asks when a cluster beats one good thread</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When one machine isn't enough</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notes/03-distributed-compute.md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23</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Good scaling can hide large overhead, so measure absolute time against a single thread before trusting a scaling curve.</a:t>
            </a:r>
          </a:p>
        </p:txBody>
      </p:sp>
      <p:graphicFrame>
        <p:nvGraphicFramePr>
          <p:cNvPr id="12" name="Table 11"/>
          <p:cNvGraphicFramePr>
            <a:graphicFrameLocks noGrp="1"/>
          </p:cNvGraphicFramePr>
          <p:nvPr/>
        </p:nvGraphicFramePr>
        <p:xfrm>
          <a:off x="502920" y="1472184"/>
          <a:ext cx="11185853" cy="2026920"/>
        </p:xfrm>
        <a:graphic>
          <a:graphicData uri="http://schemas.openxmlformats.org/drawingml/2006/table">
            <a:tbl>
              <a:tblPr firstRow="1" bandRow="1">
                <a:tableStyleId>{5940675A-B579-460E-94D1-54222C63F5DA}</a:tableStyleId>
              </a:tblPr>
              <a:tblGrid>
                <a:gridCol w="4194695"/>
                <a:gridCol w="2796463"/>
                <a:gridCol w="4194695"/>
              </a:tblGrid>
              <a:tr h="405384">
                <a:tc>
                  <a:txBody>
                    <a:bodyPr wrap="square"/>
                    <a:lstStyle/>
                    <a:p>
                      <a:pPr>
                        <a:lnSpc>
                          <a:spcPct val="100000"/>
                        </a:lnSpc>
                      </a:pPr>
                      <a:r>
                        <a:rPr sz="1700" i="0" b="1">
                          <a:solidFill>
                            <a:srgbClr val="FFFFFF"/>
                          </a:solidFill>
                          <a:latin typeface="Helvetica Neue"/>
                        </a:rPr>
                        <a:t>System</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Cores</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20 PageRank iterations</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Spark</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128</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857 s</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GraphX</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128</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419 s</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GraphLab</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128</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249 s</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Single thread, SSD</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1</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300 s</a:t>
                      </a:r>
                    </a:p>
                  </a:txBody>
                  <a:tcPr marL="109728" marR="109728" marT="54864" marB="54864" anchor="ctr">
                    <a:solidFill>
                      <a:srgbClr val="E8F4F8"/>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EA5C9"/>
                </a:solidFill>
                <a:latin typeface="Helvetica Neue"/>
              </a:rPr>
              <a:t>PART 4</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Where each row lives</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Partitioning · Rebalancing · Lake layout · Replication · Quorums</a:t>
            </a:r>
          </a:p>
        </p:txBody>
      </p:sp>
      <p:cxnSp>
        <p:nvCxnSpPr>
          <p:cNvPr id="6" name="Connector 5"/>
          <p:cNvCxnSpPr/>
          <p:nvPr/>
        </p:nvCxnSpPr>
        <p:spPr>
          <a:xfrm>
            <a:off x="6446520" y="1421130"/>
            <a:ext cx="0" cy="401574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421130"/>
            <a:ext cx="4693615" cy="419862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A dashboard can be wrong while nothing is broken</a:t>
            </a:r>
          </a:p>
          <a:p>
            <a:pPr algn="l">
              <a:lnSpc>
                <a:spcPct val="100000"/>
              </a:lnSpc>
              <a:spcBef>
                <a:spcPts val="1189"/>
              </a:spcBef>
            </a:pPr>
            <a:r>
              <a:rPr sz="1700" i="0" b="0">
                <a:solidFill>
                  <a:srgbClr val="CBD5E1"/>
                </a:solidFill>
                <a:latin typeface="Helvetica Neue"/>
              </a:rPr>
              <a:t>A partition key buys either order or spread</a:t>
            </a:r>
          </a:p>
          <a:p>
            <a:pPr algn="l">
              <a:lnSpc>
                <a:spcPct val="100000"/>
              </a:lnSpc>
              <a:spcBef>
                <a:spcPts val="1189"/>
              </a:spcBef>
            </a:pPr>
            <a:r>
              <a:rPr sz="1700" i="0" b="0">
                <a:solidFill>
                  <a:srgbClr val="CBD5E1"/>
                </a:solidFill>
                <a:latin typeface="Helvetica Neue"/>
              </a:rPr>
              <a:t>Adding one node should not move everything</a:t>
            </a:r>
          </a:p>
          <a:p>
            <a:pPr algn="l">
              <a:lnSpc>
                <a:spcPct val="100000"/>
              </a:lnSpc>
              <a:spcBef>
                <a:spcPts val="1189"/>
              </a:spcBef>
            </a:pPr>
            <a:r>
              <a:rPr sz="1700" i="0" b="0">
                <a:solidFill>
                  <a:srgbClr val="CBD5E1"/>
                </a:solidFill>
                <a:latin typeface="Helvetica Neue"/>
              </a:rPr>
              <a:t>The small files problem is a partitioning mistake</a:t>
            </a:r>
          </a:p>
          <a:p>
            <a:pPr algn="l">
              <a:lnSpc>
                <a:spcPct val="100000"/>
              </a:lnSpc>
              <a:spcBef>
                <a:spcPts val="1189"/>
              </a:spcBef>
            </a:pPr>
            <a:r>
              <a:rPr sz="1700" i="0" b="0">
                <a:solidFill>
                  <a:srgbClr val="CBD5E1"/>
                </a:solidFill>
                <a:latin typeface="Helvetica Neue"/>
              </a:rPr>
              <a:t>A failover can lose writes and reuse IDs</a:t>
            </a:r>
          </a:p>
          <a:p>
            <a:pPr algn="l">
              <a:lnSpc>
                <a:spcPct val="100000"/>
              </a:lnSpc>
              <a:spcBef>
                <a:spcPts val="1189"/>
              </a:spcBef>
            </a:pPr>
            <a:r>
              <a:rPr sz="1700" i="0" b="0">
                <a:solidFill>
                  <a:srgbClr val="CBD5E1"/>
                </a:solidFill>
                <a:latin typeface="Helvetica Neue"/>
              </a:rPr>
              <a:t>Replication lag has three named failures</a:t>
            </a:r>
          </a:p>
          <a:p>
            <a:pPr algn="l">
              <a:lnSpc>
                <a:spcPct val="100000"/>
              </a:lnSpc>
              <a:spcBef>
                <a:spcPts val="1189"/>
              </a:spcBef>
            </a:pPr>
            <a:r>
              <a:rPr sz="1700" i="0" b="0">
                <a:solidFill>
                  <a:srgbClr val="CBD5E1"/>
                </a:solidFill>
                <a:latin typeface="Helvetica Neue"/>
              </a:rPr>
              <a:t>Quorums overlap, which is less than consistency</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300" i="0" b="1">
                <a:solidFill>
                  <a:srgbClr val="FFFFFF"/>
                </a:solidFill>
                <a:latin typeface="Helvetica Neue"/>
              </a:rPr>
              <a:t>A dashboard can be wrong while nothing is broken</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Where each row lives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notes/04-partitioning-and-replication.md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25</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Partitioning spreads data for scale and replication copies it for availability, and replication lag shows up as wrong-looking data.</a:t>
            </a:r>
          </a:p>
        </p:txBody>
      </p:sp>
      <p:sp>
        <p:nvSpPr>
          <p:cNvPr id="13" name="Rectangle 12"/>
          <p:cNvSpPr/>
          <p:nvPr/>
        </p:nvSpPr>
        <p:spPr>
          <a:xfrm>
            <a:off x="777240" y="2299716"/>
            <a:ext cx="109728" cy="235915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2299716"/>
            <a:ext cx="10088575" cy="1993392"/>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Partitioning decides which machine holds a row. Replication decides what a reader sees just after a write.</a:t>
            </a:r>
          </a:p>
        </p:txBody>
      </p:sp>
      <p:sp>
        <p:nvSpPr>
          <p:cNvPr id="15" name="TextBox 14"/>
          <p:cNvSpPr txBox="1"/>
          <p:nvPr/>
        </p:nvSpPr>
        <p:spPr>
          <a:xfrm>
            <a:off x="1234440" y="4247388"/>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Chapter 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 partition key buys either order or spread</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Where each row lives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notes/04-partitioning-and-replication.md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26</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Range keeps order at the risk of write hot spots, hash spreads load but fans out, and a compound key gets some of both.</a:t>
            </a:r>
          </a:p>
        </p:txBody>
      </p:sp>
      <p:sp>
        <p:nvSpPr>
          <p:cNvPr id="12" name="Rectangle 11"/>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Range on date</a:t>
            </a:r>
          </a:p>
        </p:txBody>
      </p:sp>
      <p:sp>
        <p:nvSpPr>
          <p:cNvPr id="15" name="Rectangle 14"/>
          <p:cNvSpPr/>
          <p:nvPr/>
        </p:nvSpPr>
        <p:spPr>
          <a:xfrm>
            <a:off x="731520" y="2313178"/>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A week touches 7 of 31 partitions</a:t>
            </a:r>
          </a:p>
        </p:txBody>
      </p:sp>
      <p:sp>
        <p:nvSpPr>
          <p:cNvPr id="17" name="Rectangle 16"/>
          <p:cNvSpPr/>
          <p:nvPr/>
        </p:nvSpPr>
        <p:spPr>
          <a:xfrm>
            <a:off x="731520" y="2727706"/>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Every write today lands on one partition</a:t>
            </a:r>
          </a:p>
        </p:txBody>
      </p:sp>
      <p:sp>
        <p:nvSpPr>
          <p:cNvPr id="19" name="Rectangle 18"/>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order</a:t>
            </a:r>
          </a:p>
        </p:txBody>
      </p:sp>
      <p:sp>
        <p:nvSpPr>
          <p:cNvPr id="21" name="Rectangle 20"/>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Hash</a:t>
            </a:r>
          </a:p>
        </p:txBody>
      </p:sp>
      <p:sp>
        <p:nvSpPr>
          <p:cNvPr id="24" name="Rectangle 23"/>
          <p:cNvSpPr/>
          <p:nvPr/>
        </p:nvSpPr>
        <p:spPr>
          <a:xfrm>
            <a:off x="6507327" y="231317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27367" y="2231136"/>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Busiest partition took 2.2% of today's writes</a:t>
            </a:r>
          </a:p>
        </p:txBody>
      </p:sp>
      <p:sp>
        <p:nvSpPr>
          <p:cNvPr id="26" name="Rectangle 25"/>
          <p:cNvSpPr/>
          <p:nvPr/>
        </p:nvSpPr>
        <p:spPr>
          <a:xfrm>
            <a:off x="6507327" y="3012694"/>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7367" y="293065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A week query must ask all 31</a:t>
            </a:r>
          </a:p>
        </p:txBody>
      </p:sp>
      <p:sp>
        <p:nvSpPr>
          <p:cNvPr id="28" name="Rectangle 27"/>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spread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Adding one node should not move everything</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Where each row lives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notes/04-partitioning-and-replication.md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27</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Hash mod N moves most keys on any resize, so systems keep many fixed partitions and move only whole ones to the new node.</a:t>
            </a:r>
          </a:p>
        </p:txBody>
      </p:sp>
      <p:graphicFrame>
        <p:nvGraphicFramePr>
          <p:cNvPr id="12" name="Table 11"/>
          <p:cNvGraphicFramePr>
            <a:graphicFrameLocks noGrp="1"/>
          </p:cNvGraphicFramePr>
          <p:nvPr/>
        </p:nvGraphicFramePr>
        <p:xfrm>
          <a:off x="502920" y="1472184"/>
          <a:ext cx="11185854" cy="1216152"/>
        </p:xfrm>
        <a:graphic>
          <a:graphicData uri="http://schemas.openxmlformats.org/drawingml/2006/table">
            <a:tbl>
              <a:tblPr firstRow="1" bandRow="1">
                <a:tableStyleId>{5940675A-B579-460E-94D1-54222C63F5DA}</a:tableStyleId>
              </a:tblPr>
              <a:tblGrid>
                <a:gridCol w="6391917"/>
                <a:gridCol w="4793937"/>
              </a:tblGrid>
              <a:tr h="405384">
                <a:tc>
                  <a:txBody>
                    <a:bodyPr wrap="square"/>
                    <a:lstStyle/>
                    <a:p>
                      <a:pPr>
                        <a:lnSpc>
                          <a:spcPct val="100000"/>
                        </a:lnSpc>
                      </a:pPr>
                      <a:r>
                        <a:rPr sz="1700" i="0" b="1">
                          <a:solidFill>
                            <a:srgbClr val="FFFFFF"/>
                          </a:solidFill>
                          <a:latin typeface="Helvetica Neue"/>
                        </a:rPr>
                        <a:t>Placement</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Keys moved, 10 to 11 nodes</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hash mod N</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91.0%</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1,024 fixed partitions</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9.8%</a:t>
                      </a:r>
                    </a:p>
                  </a:txBody>
                  <a:tcPr marL="109728" marR="109728" marT="54864" marB="54864" anchor="ctr">
                    <a:solidFill>
                      <a:srgbClr val="E8F4F8"/>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small files problem is a partitioning mistake</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Where each row lives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notes/04-partitioning-and-replication.md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28</a:t>
            </a:r>
          </a:p>
        </p:txBody>
      </p:sp>
      <p:sp>
        <p:nvSpPr>
          <p:cNvPr id="9" name="Rectangle 8"/>
          <p:cNvSpPr/>
          <p:nvPr/>
        </p:nvSpPr>
        <p:spPr>
          <a:xfrm>
            <a:off x="502920" y="5586983"/>
            <a:ext cx="11185855" cy="630936"/>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586983"/>
            <a:ext cx="73152" cy="630936"/>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586983"/>
            <a:ext cx="10728655" cy="630936"/>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Partition lake folders by a low-cardinality column you backfill by and sort within files, because too-fine partitions create slow small files.</a:t>
            </a:r>
          </a:p>
        </p:txBody>
      </p:sp>
      <p:sp>
        <p:nvSpPr>
          <p:cNvPr id="12" name="Rounded Rectangle 11"/>
          <p:cNvSpPr/>
          <p:nvPr/>
        </p:nvSpPr>
        <p:spPr>
          <a:xfrm>
            <a:off x="502920" y="1472184"/>
            <a:ext cx="6711513" cy="1904999"/>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TEXT</a:t>
            </a:r>
          </a:p>
        </p:txBody>
      </p:sp>
      <p:sp>
        <p:nvSpPr>
          <p:cNvPr id="14" name="TextBox 13"/>
          <p:cNvSpPr txBox="1"/>
          <p:nvPr/>
        </p:nvSpPr>
        <p:spPr>
          <a:xfrm>
            <a:off x="731520" y="1883664"/>
            <a:ext cx="6254313" cy="126491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partition by   files   size      full scan</a:t>
            </a:r>
          </a:p>
          <a:p>
            <a:pPr algn="l">
              <a:lnSpc>
                <a:spcPct val="100000"/>
              </a:lnSpc>
            </a:pPr>
            <a:r>
              <a:rPr sz="1600" i="0" b="0">
                <a:solidFill>
                  <a:srgbClr val="E2E8F0"/>
                </a:solidFill>
                <a:latin typeface="Menlo"/>
              </a:rPr>
              <a:t>day               31   13.6 MB       3 ms</a:t>
            </a:r>
          </a:p>
          <a:p>
            <a:pPr algn="l">
              <a:lnSpc>
                <a:spcPct val="100000"/>
              </a:lnSpc>
            </a:pPr>
            <a:r>
              <a:rPr sz="1600" i="0" b="0">
                <a:solidFill>
                  <a:srgbClr val="E2E8F0"/>
                </a:solidFill>
                <a:latin typeface="Menlo"/>
              </a:rPr>
              <a:t>day and zone   8,060   21.0 MB     706 ms</a:t>
            </a:r>
          </a:p>
          <a:p>
            <a:pPr algn="l">
              <a:lnSpc>
                <a:spcPct val="100000"/>
              </a:lnSpc>
            </a:pPr>
          </a:p>
          <a:p>
            <a:pPr algn="l">
              <a:lnSpc>
                <a:spcPct val="100000"/>
              </a:lnSpc>
            </a:pPr>
            <a:r>
              <a:rPr sz="1600" i="0" b="0">
                <a:solidFill>
                  <a:srgbClr val="E2E8F0"/>
                </a:solidFill>
                <a:latin typeface="Menlo"/>
              </a:rPr>
              <a:t>WHERE day = '2026-01-15'  -&gt;  Scanning Files: 1/31</a:t>
            </a:r>
          </a:p>
        </p:txBody>
      </p:sp>
      <p:sp>
        <p:nvSpPr>
          <p:cNvPr id="15" name="Rectangle 14"/>
          <p:cNvSpPr/>
          <p:nvPr/>
        </p:nvSpPr>
        <p:spPr>
          <a:xfrm>
            <a:off x="7580193" y="1604772"/>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Partition</a:t>
            </a:r>
            <a:r>
              <a:rPr sz="1800" i="0" b="0">
                <a:solidFill>
                  <a:srgbClr val="1E293B"/>
                </a:solidFill>
                <a:latin typeface="Helvetica Neue"/>
              </a:rPr>
              <a:t> by what you delete or backfill by.</a:t>
            </a:r>
          </a:p>
        </p:txBody>
      </p:sp>
      <p:sp>
        <p:nvSpPr>
          <p:cNvPr id="17" name="Rectangle 16"/>
          <p:cNvSpPr/>
          <p:nvPr/>
        </p:nvSpPr>
        <p:spPr>
          <a:xfrm>
            <a:off x="7580193" y="2345436"/>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393191"/>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Sort</a:t>
            </a:r>
            <a:r>
              <a:rPr sz="1800" i="0" b="0">
                <a:solidFill>
                  <a:srgbClr val="1E293B"/>
                </a:solidFill>
                <a:latin typeface="Helvetica Neue"/>
              </a:rPr>
              <a:t> by what you filter 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 failover can lose writes and reuse IDs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Where each row lives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notes/04-partitioning-and-replication.md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29</a:t>
            </a:r>
          </a:p>
        </p:txBody>
      </p:sp>
      <p:sp>
        <p:nvSpPr>
          <p:cNvPr id="9" name="Rectangle 8"/>
          <p:cNvSpPr/>
          <p:nvPr/>
        </p:nvSpPr>
        <p:spPr>
          <a:xfrm>
            <a:off x="502920" y="5586983"/>
            <a:ext cx="11185855" cy="630936"/>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586983"/>
            <a:ext cx="73152" cy="630936"/>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586983"/>
            <a:ext cx="10728655" cy="630936"/>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Asynchronous replication acknowledges writes a failover can lose, and a stale new leader can reuse their keys, so don't trust IDs alone.</a:t>
            </a:r>
          </a:p>
        </p:txBody>
      </p:sp>
      <p:sp>
        <p:nvSpPr>
          <p:cNvPr id="12" name="Rounded Rectangle 11"/>
          <p:cNvSpPr/>
          <p:nvPr/>
        </p:nvSpPr>
        <p:spPr>
          <a:xfrm>
            <a:off x="502920" y="1563624"/>
            <a:ext cx="1834835" cy="1266444"/>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563624"/>
            <a:ext cx="1560515" cy="126644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Leader acknowledges write 4</a:t>
            </a:r>
          </a:p>
        </p:txBody>
      </p:sp>
      <p:cxnSp>
        <p:nvCxnSpPr>
          <p:cNvPr id="14" name="Connector 13"/>
          <p:cNvCxnSpPr/>
          <p:nvPr/>
        </p:nvCxnSpPr>
        <p:spPr>
          <a:xfrm>
            <a:off x="2392619" y="219684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840675" y="1563624"/>
            <a:ext cx="1834835" cy="1266444"/>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77835" y="1563624"/>
            <a:ext cx="1560515" cy="126644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Followers hold 3 and 2</a:t>
            </a:r>
          </a:p>
        </p:txBody>
      </p:sp>
      <p:cxnSp>
        <p:nvCxnSpPr>
          <p:cNvPr id="17" name="Connector 16"/>
          <p:cNvCxnSpPr/>
          <p:nvPr/>
        </p:nvCxnSpPr>
        <p:spPr>
          <a:xfrm>
            <a:off x="4730374" y="219684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178430" y="1563624"/>
            <a:ext cx="1834835" cy="1266444"/>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15590" y="1563624"/>
            <a:ext cx="1560515" cy="126644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Leader fails</a:t>
            </a:r>
          </a:p>
        </p:txBody>
      </p:sp>
      <p:cxnSp>
        <p:nvCxnSpPr>
          <p:cNvPr id="20" name="Connector 19"/>
          <p:cNvCxnSpPr/>
          <p:nvPr/>
        </p:nvCxnSpPr>
        <p:spPr>
          <a:xfrm>
            <a:off x="7068129" y="219684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516185" y="1563624"/>
            <a:ext cx="1834835" cy="1266444"/>
          </a:xfrm>
          <a:prstGeom prst="roundRect">
            <a:avLst>
              <a:gd name="adj" fmla="val 12000"/>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53345" y="1563624"/>
            <a:ext cx="1560515" cy="126644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Follower with 3 promoted</a:t>
            </a:r>
          </a:p>
        </p:txBody>
      </p:sp>
      <p:cxnSp>
        <p:nvCxnSpPr>
          <p:cNvPr id="23" name="Connector 22"/>
          <p:cNvCxnSpPr/>
          <p:nvPr/>
        </p:nvCxnSpPr>
        <p:spPr>
          <a:xfrm>
            <a:off x="9405884" y="219684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853940" y="1563624"/>
            <a:ext cx="1834835" cy="1266444"/>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91100" y="1563624"/>
            <a:ext cx="1560515" cy="126644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New write takes ID 4</a:t>
            </a:r>
          </a:p>
        </p:txBody>
      </p:sp>
      <p:sp>
        <p:nvSpPr>
          <p:cNvPr id="26" name="TextBox 25"/>
          <p:cNvSpPr txBox="1"/>
          <p:nvPr/>
        </p:nvSpPr>
        <p:spPr>
          <a:xfrm>
            <a:off x="502920" y="3150108"/>
            <a:ext cx="11185855" cy="2208275"/>
          </a:xfrm>
          <a:prstGeom prst="rect">
            <a:avLst/>
          </a:prstGeom>
          <a:noFill/>
        </p:spPr>
        <p:txBody>
          <a:bodyPr wrap="square" lIns="0" rIns="0" tIns="0" bIns="0" anchor="t">
            <a:noAutofit/>
          </a:bodyPr>
          <a:lstStyle/>
          <a:p>
            <a:pPr algn="ctr">
              <a:lnSpc>
                <a:spcPct val="110000"/>
              </a:lnSpc>
            </a:pPr>
            <a:r>
              <a:rPr sz="1700" i="0" b="0">
                <a:solidFill>
                  <a:srgbClr val="475569"/>
                </a:solidFill>
                <a:latin typeface="Helvetica Neue"/>
              </a:rPr>
              <a:t>From the Cluster model in chapter 4. Kleppmann recounts a GitHub incident of this type.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Replication lag has three named failures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Where each row lives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notes/04-partitioning-and-replication.md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30</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Read-your-writes, monotonic reads and consistent prefix each fail under replica lag, and they appear as flickering dashboards.</a:t>
            </a:r>
          </a:p>
        </p:txBody>
      </p:sp>
      <p:sp>
        <p:nvSpPr>
          <p:cNvPr id="12" name="Rectangle 11"/>
          <p:cNvSpPr/>
          <p:nvPr/>
        </p:nvSpPr>
        <p:spPr>
          <a:xfrm>
            <a:off x="502920" y="1472184"/>
            <a:ext cx="3545738" cy="241401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82296" cy="241401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Read your writes</a:t>
            </a:r>
          </a:p>
        </p:txBody>
      </p:sp>
      <p:sp>
        <p:nvSpPr>
          <p:cNvPr id="15" name="TextBox 14"/>
          <p:cNvSpPr txBox="1"/>
          <p:nvPr/>
        </p:nvSpPr>
        <p:spPr>
          <a:xfrm>
            <a:off x="777240" y="2087880"/>
            <a:ext cx="3042818" cy="1615439"/>
          </a:xfrm>
          <a:prstGeom prst="rect">
            <a:avLst/>
          </a:prstGeom>
          <a:noFill/>
        </p:spPr>
        <p:txBody>
          <a:bodyPr wrap="square" lIns="0" rIns="0" tIns="0" bIns="0" anchor="t">
            <a:noAutofit/>
          </a:bodyPr>
          <a:lstStyle/>
          <a:p>
            <a:pPr algn="l">
              <a:lnSpc>
                <a:spcPct val="110000"/>
              </a:lnSpc>
            </a:pPr>
            <a:r>
              <a:rPr sz="2000" i="0" b="0">
                <a:solidFill>
                  <a:srgbClr val="475569"/>
                </a:solidFill>
                <a:latin typeface="Helvetica Neue"/>
              </a:rPr>
              <a:t>You save something, then read a replica that lacks it.</a:t>
            </a:r>
          </a:p>
        </p:txBody>
      </p:sp>
      <p:sp>
        <p:nvSpPr>
          <p:cNvPr id="16" name="Rectangle 15"/>
          <p:cNvSpPr/>
          <p:nvPr/>
        </p:nvSpPr>
        <p:spPr>
          <a:xfrm>
            <a:off x="4322978" y="1472184"/>
            <a:ext cx="3545738" cy="241401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2978" y="1472184"/>
            <a:ext cx="82296" cy="2414016"/>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7298"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Monotonic reads</a:t>
            </a:r>
          </a:p>
        </p:txBody>
      </p:sp>
      <p:sp>
        <p:nvSpPr>
          <p:cNvPr id="19" name="TextBox 18"/>
          <p:cNvSpPr txBox="1"/>
          <p:nvPr/>
        </p:nvSpPr>
        <p:spPr>
          <a:xfrm>
            <a:off x="4597298" y="2087880"/>
            <a:ext cx="3042818" cy="1615439"/>
          </a:xfrm>
          <a:prstGeom prst="rect">
            <a:avLst/>
          </a:prstGeom>
          <a:noFill/>
        </p:spPr>
        <p:txBody>
          <a:bodyPr wrap="square" lIns="0" rIns="0" tIns="0" bIns="0" anchor="t">
            <a:noAutofit/>
          </a:bodyPr>
          <a:lstStyle/>
          <a:p>
            <a:pPr algn="l">
              <a:lnSpc>
                <a:spcPct val="110000"/>
              </a:lnSpc>
            </a:pPr>
            <a:r>
              <a:rPr sz="2000" i="0" b="0">
                <a:solidFill>
                  <a:srgbClr val="475569"/>
                </a:solidFill>
                <a:latin typeface="Helvetica Neue"/>
              </a:rPr>
              <a:t>Nine comments, then seven: replicas with different lag. Pin users by hash.</a:t>
            </a:r>
          </a:p>
        </p:txBody>
      </p:sp>
      <p:sp>
        <p:nvSpPr>
          <p:cNvPr id="20" name="Rectangle 19"/>
          <p:cNvSpPr/>
          <p:nvPr/>
        </p:nvSpPr>
        <p:spPr>
          <a:xfrm>
            <a:off x="8143036" y="1472184"/>
            <a:ext cx="3545738" cy="241401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43036" y="1472184"/>
            <a:ext cx="82296" cy="241401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7356"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Consistent prefix</a:t>
            </a:r>
          </a:p>
        </p:txBody>
      </p:sp>
      <p:sp>
        <p:nvSpPr>
          <p:cNvPr id="23" name="TextBox 22"/>
          <p:cNvSpPr txBox="1"/>
          <p:nvPr/>
        </p:nvSpPr>
        <p:spPr>
          <a:xfrm>
            <a:off x="8417356" y="2087880"/>
            <a:ext cx="3042818" cy="1615439"/>
          </a:xfrm>
          <a:prstGeom prst="rect">
            <a:avLst/>
          </a:prstGeom>
          <a:noFill/>
        </p:spPr>
        <p:txBody>
          <a:bodyPr wrap="square" lIns="0" rIns="0" tIns="0" bIns="0" anchor="t">
            <a:noAutofit/>
          </a:bodyPr>
          <a:lstStyle/>
          <a:p>
            <a:pPr algn="l">
              <a:lnSpc>
                <a:spcPct val="110000"/>
              </a:lnSpc>
            </a:pPr>
            <a:r>
              <a:rPr sz="2000" i="0" b="0">
                <a:solidFill>
                  <a:srgbClr val="475569"/>
                </a:solidFill>
                <a:latin typeface="Helvetica Neue"/>
              </a:rPr>
              <a:t>Answers before questions: partitions have no global order.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Quorums overlap, which is less than consistency</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Where each row lives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notes/04-partitioning-and-replication.md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31</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With w + r &gt; n a read overlaps the latest write, but sloppy quorums and last-write-wins mean this is not linearisability.</a:t>
            </a:r>
          </a:p>
        </p:txBody>
      </p:sp>
      <p:graphicFrame>
        <p:nvGraphicFramePr>
          <p:cNvPr id="12" name="Table 11"/>
          <p:cNvGraphicFramePr>
            <a:graphicFrameLocks noGrp="1"/>
          </p:cNvGraphicFramePr>
          <p:nvPr/>
        </p:nvGraphicFramePr>
        <p:xfrm>
          <a:off x="502920" y="1472184"/>
          <a:ext cx="11185851" cy="2026920"/>
        </p:xfrm>
        <a:graphic>
          <a:graphicData uri="http://schemas.openxmlformats.org/drawingml/2006/table">
            <a:tbl>
              <a:tblPr firstRow="1" bandRow="1">
                <a:tableStyleId>{5940675A-B579-460E-94D1-54222C63F5DA}</a:tableStyleId>
              </a:tblPr>
              <a:tblGrid>
                <a:gridCol w="1398231"/>
                <a:gridCol w="1398231"/>
                <a:gridCol w="1398231"/>
                <a:gridCol w="2796463"/>
                <a:gridCol w="4194695"/>
              </a:tblGrid>
              <a:tr h="405384">
                <a:tc>
                  <a:txBody>
                    <a:bodyPr wrap="square"/>
                    <a:lstStyle/>
                    <a:p>
                      <a:pPr>
                        <a:lnSpc>
                          <a:spcPct val="100000"/>
                        </a:lnSpc>
                      </a:pPr>
                      <a:r>
                        <a:rPr sz="1700" i="0" b="1">
                          <a:solidFill>
                            <a:srgbClr val="FFFFFF"/>
                          </a:solidFill>
                          <a:latin typeface="Helvetica Neue"/>
                        </a:rPr>
                        <a:t>n</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w</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r</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Overlap</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Tolerates down (w / r)</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3</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2</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2</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Always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1 / 1</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3</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1</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1</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Can miss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2 / 2</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5</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3</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3</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Always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2 / 2</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5</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2</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2</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Can miss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3 / 3</a:t>
                      </a:r>
                    </a:p>
                  </a:txBody>
                  <a:tcPr marL="109728" marR="109728" marT="54864" marB="54864" anchor="ctr">
                    <a:solidFill>
                      <a:srgbClr val="F8FAFC"/>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What to remember</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Rules of thumb</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notes/04-partitioning-and-replication.md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32</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Most data engineering debates reduce to layout, pruning, shuffles and lag, so learn these mechanisms and measure before you decide.</a:t>
            </a:r>
          </a:p>
        </p:txBody>
      </p:sp>
      <p:sp>
        <p:nvSpPr>
          <p:cNvPr id="12" name="Rectangle 11"/>
          <p:cNvSpPr/>
          <p:nvPr/>
        </p:nvSpPr>
        <p:spPr>
          <a:xfrm>
            <a:off x="502920" y="1472184"/>
            <a:ext cx="3545738" cy="174345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82296" cy="174345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State the schema</a:t>
            </a:r>
          </a:p>
        </p:txBody>
      </p:sp>
      <p:sp>
        <p:nvSpPr>
          <p:cNvPr id="15" name="TextBox 14"/>
          <p:cNvSpPr txBox="1"/>
          <p:nvPr/>
        </p:nvSpPr>
        <p:spPr>
          <a:xfrm>
            <a:off x="777240" y="2087880"/>
            <a:ext cx="3042818" cy="944879"/>
          </a:xfrm>
          <a:prstGeom prst="rect">
            <a:avLst/>
          </a:prstGeom>
          <a:noFill/>
        </p:spPr>
        <p:txBody>
          <a:bodyPr wrap="square" lIns="0" rIns="0" tIns="0" bIns="0" anchor="t">
            <a:noAutofit/>
          </a:bodyPr>
          <a:lstStyle/>
          <a:p>
            <a:pPr algn="l">
              <a:lnSpc>
                <a:spcPct val="110000"/>
              </a:lnSpc>
            </a:pPr>
            <a:r>
              <a:rPr sz="2000" i="0" b="0">
                <a:solidFill>
                  <a:srgbClr val="475569"/>
                </a:solidFill>
                <a:latin typeface="Helvetica Neue"/>
              </a:rPr>
              <a:t>On first read of any CSV, then convert.</a:t>
            </a:r>
          </a:p>
        </p:txBody>
      </p:sp>
      <p:sp>
        <p:nvSpPr>
          <p:cNvPr id="16" name="Rectangle 15"/>
          <p:cNvSpPr/>
          <p:nvPr/>
        </p:nvSpPr>
        <p:spPr>
          <a:xfrm>
            <a:off x="4322978" y="1472184"/>
            <a:ext cx="3545738" cy="174345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2978" y="1472184"/>
            <a:ext cx="82296" cy="1743456"/>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7298"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Sort for your filter</a:t>
            </a:r>
          </a:p>
        </p:txBody>
      </p:sp>
      <p:sp>
        <p:nvSpPr>
          <p:cNvPr id="19" name="TextBox 18"/>
          <p:cNvSpPr txBox="1"/>
          <p:nvPr/>
        </p:nvSpPr>
        <p:spPr>
          <a:xfrm>
            <a:off x="4597298" y="2087880"/>
            <a:ext cx="3042818" cy="944879"/>
          </a:xfrm>
          <a:prstGeom prst="rect">
            <a:avLst/>
          </a:prstGeom>
          <a:noFill/>
        </p:spPr>
        <p:txBody>
          <a:bodyPr wrap="square" lIns="0" rIns="0" tIns="0" bIns="0" anchor="t">
            <a:noAutofit/>
          </a:bodyPr>
          <a:lstStyle/>
          <a:p>
            <a:pPr algn="l">
              <a:lnSpc>
                <a:spcPct val="110000"/>
              </a:lnSpc>
            </a:pPr>
            <a:r>
              <a:rPr sz="2000" i="0" b="0">
                <a:solidFill>
                  <a:srgbClr val="475569"/>
                </a:solidFill>
                <a:latin typeface="Helvetica Neue"/>
              </a:rPr>
              <a:t>Pushdown needs physical order.</a:t>
            </a:r>
          </a:p>
        </p:txBody>
      </p:sp>
      <p:sp>
        <p:nvSpPr>
          <p:cNvPr id="20" name="Rectangle 19"/>
          <p:cNvSpPr/>
          <p:nvPr/>
        </p:nvSpPr>
        <p:spPr>
          <a:xfrm>
            <a:off x="8143036" y="1472184"/>
            <a:ext cx="3545738" cy="174345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43036" y="1472184"/>
            <a:ext cx="82296" cy="174345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7356"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Measure one machine</a:t>
            </a:r>
          </a:p>
        </p:txBody>
      </p:sp>
      <p:sp>
        <p:nvSpPr>
          <p:cNvPr id="23" name="TextBox 22"/>
          <p:cNvSpPr txBox="1"/>
          <p:nvPr/>
        </p:nvSpPr>
        <p:spPr>
          <a:xfrm>
            <a:off x="8417356" y="2087880"/>
            <a:ext cx="3042818" cy="944879"/>
          </a:xfrm>
          <a:prstGeom prst="rect">
            <a:avLst/>
          </a:prstGeom>
          <a:noFill/>
        </p:spPr>
        <p:txBody>
          <a:bodyPr wrap="square" lIns="0" rIns="0" tIns="0" bIns="0" anchor="t">
            <a:noAutofit/>
          </a:bodyPr>
          <a:lstStyle/>
          <a:p>
            <a:pPr algn="l">
              <a:lnSpc>
                <a:spcPct val="110000"/>
              </a:lnSpc>
            </a:pPr>
            <a:r>
              <a:rPr sz="2000" i="0" b="0">
                <a:solidFill>
                  <a:srgbClr val="475569"/>
                </a:solidFill>
                <a:latin typeface="Helvetica Neue"/>
              </a:rPr>
              <a:t>What a query reads after pruning decides.</a:t>
            </a:r>
          </a:p>
        </p:txBody>
      </p:sp>
      <p:sp>
        <p:nvSpPr>
          <p:cNvPr id="24" name="Rectangle 23"/>
          <p:cNvSpPr/>
          <p:nvPr/>
        </p:nvSpPr>
        <p:spPr>
          <a:xfrm>
            <a:off x="502920" y="3489960"/>
            <a:ext cx="3545738" cy="174345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3489960"/>
            <a:ext cx="82296" cy="1743456"/>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3672840"/>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Partition for backfills</a:t>
            </a:r>
          </a:p>
        </p:txBody>
      </p:sp>
      <p:sp>
        <p:nvSpPr>
          <p:cNvPr id="27" name="TextBox 26"/>
          <p:cNvSpPr txBox="1"/>
          <p:nvPr/>
        </p:nvSpPr>
        <p:spPr>
          <a:xfrm>
            <a:off x="777240" y="4105655"/>
            <a:ext cx="3042818" cy="944879"/>
          </a:xfrm>
          <a:prstGeom prst="rect">
            <a:avLst/>
          </a:prstGeom>
          <a:noFill/>
        </p:spPr>
        <p:txBody>
          <a:bodyPr wrap="square" lIns="0" rIns="0" tIns="0" bIns="0" anchor="t">
            <a:noAutofit/>
          </a:bodyPr>
          <a:lstStyle/>
          <a:p>
            <a:pPr algn="l">
              <a:lnSpc>
                <a:spcPct val="110000"/>
              </a:lnSpc>
            </a:pPr>
            <a:r>
              <a:rPr sz="2000" i="0" b="0">
                <a:solidFill>
                  <a:srgbClr val="475569"/>
                </a:solidFill>
                <a:latin typeface="Helvetica Neue"/>
              </a:rPr>
              <a:t>Sort for filters, and avoid small files.</a:t>
            </a:r>
          </a:p>
        </p:txBody>
      </p:sp>
      <p:sp>
        <p:nvSpPr>
          <p:cNvPr id="28" name="Rectangle 27"/>
          <p:cNvSpPr/>
          <p:nvPr/>
        </p:nvSpPr>
        <p:spPr>
          <a:xfrm>
            <a:off x="4322978" y="3489960"/>
            <a:ext cx="3545738" cy="174345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22978" y="3489960"/>
            <a:ext cx="82296" cy="1743456"/>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97298" y="3672840"/>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Assume replicas lag</a:t>
            </a:r>
          </a:p>
        </p:txBody>
      </p:sp>
      <p:sp>
        <p:nvSpPr>
          <p:cNvPr id="31" name="TextBox 30"/>
          <p:cNvSpPr txBox="1"/>
          <p:nvPr/>
        </p:nvSpPr>
        <p:spPr>
          <a:xfrm>
            <a:off x="4597298" y="4105655"/>
            <a:ext cx="3042818" cy="944879"/>
          </a:xfrm>
          <a:prstGeom prst="rect">
            <a:avLst/>
          </a:prstGeom>
          <a:noFill/>
        </p:spPr>
        <p:txBody>
          <a:bodyPr wrap="square" lIns="0" rIns="0" tIns="0" bIns="0" anchor="t">
            <a:noAutofit/>
          </a:bodyPr>
          <a:lstStyle/>
          <a:p>
            <a:pPr algn="l">
              <a:lnSpc>
                <a:spcPct val="110000"/>
              </a:lnSpc>
            </a:pPr>
            <a:r>
              <a:rPr sz="2000" i="0" b="0">
                <a:solidFill>
                  <a:srgbClr val="475569"/>
                </a:solidFill>
                <a:latin typeface="Helvetica Neue"/>
              </a:rPr>
              <a:t>Extract to a watermark, not to now.</a:t>
            </a:r>
          </a:p>
        </p:txBody>
      </p:sp>
      <p:sp>
        <p:nvSpPr>
          <p:cNvPr id="32" name="Rectangle 31"/>
          <p:cNvSpPr/>
          <p:nvPr/>
        </p:nvSpPr>
        <p:spPr>
          <a:xfrm>
            <a:off x="8143036" y="3489960"/>
            <a:ext cx="3545738" cy="174345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43036" y="3489960"/>
            <a:ext cx="82296" cy="1743456"/>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7356" y="3672840"/>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Read the plan</a:t>
            </a:r>
          </a:p>
        </p:txBody>
      </p:sp>
      <p:sp>
        <p:nvSpPr>
          <p:cNvPr id="35" name="TextBox 34"/>
          <p:cNvSpPr txBox="1"/>
          <p:nvPr/>
        </p:nvSpPr>
        <p:spPr>
          <a:xfrm>
            <a:off x="8417356" y="4105655"/>
            <a:ext cx="3042818" cy="944879"/>
          </a:xfrm>
          <a:prstGeom prst="rect">
            <a:avLst/>
          </a:prstGeom>
          <a:noFill/>
        </p:spPr>
        <p:txBody>
          <a:bodyPr wrap="square" lIns="0" rIns="0" tIns="0" bIns="0" anchor="t">
            <a:noAutofit/>
          </a:bodyPr>
          <a:lstStyle/>
          <a:p>
            <a:pPr algn="l">
              <a:lnSpc>
                <a:spcPct val="110000"/>
              </a:lnSpc>
            </a:pPr>
            <a:r>
              <a:rPr sz="2000" i="0" b="0">
                <a:solidFill>
                  <a:srgbClr val="475569"/>
                </a:solidFill>
                <a:latin typeface="Helvetica Neue"/>
              </a:rPr>
              <a:t>Find the shuffle and the pruning first.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Where to go next</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Rules of thumb</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notes/04-partitioning-and-replication.md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33</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Later pillars rely on these mechanisms, starting with how to extract from a lagging source and model what arrives.</a:t>
            </a:r>
          </a:p>
        </p:txBody>
      </p:sp>
      <p:sp>
        <p:nvSpPr>
          <p:cNvPr id="12" name="Rectangle 11"/>
          <p:cNvSpPr/>
          <p:nvPr/>
        </p:nvSpPr>
        <p:spPr>
          <a:xfrm>
            <a:off x="502920" y="156870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472184"/>
            <a:ext cx="5944038"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02 Ingest and modelling:</a:t>
            </a:r>
            <a:r>
              <a:rPr sz="2000" i="0" b="0">
                <a:solidFill>
                  <a:srgbClr val="1E293B"/>
                </a:solidFill>
                <a:latin typeface="Helvetica Neue"/>
              </a:rPr>
              <a:t> take data out of sources and shape it for questions.</a:t>
            </a:r>
          </a:p>
        </p:txBody>
      </p:sp>
      <p:sp>
        <p:nvSpPr>
          <p:cNvPr id="14" name="Rectangle 13"/>
          <p:cNvSpPr/>
          <p:nvPr/>
        </p:nvSpPr>
        <p:spPr>
          <a:xfrm>
            <a:off x="502920" y="239166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295144"/>
            <a:ext cx="5944038"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03 Transform and orchestrate:</a:t>
            </a:r>
            <a:r>
              <a:rPr sz="2000" i="0" b="0">
                <a:solidFill>
                  <a:srgbClr val="1E293B"/>
                </a:solidFill>
                <a:latin typeface="Helvetica Neue"/>
              </a:rPr>
              <a:t> idempotent builds use the partitions chosen here.</a:t>
            </a:r>
          </a:p>
        </p:txBody>
      </p:sp>
      <p:sp>
        <p:nvSpPr>
          <p:cNvPr id="16" name="Rectangle 15"/>
          <p:cNvSpPr/>
          <p:nvPr/>
        </p:nvSpPr>
        <p:spPr>
          <a:xfrm>
            <a:off x="502920" y="321462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118104"/>
            <a:ext cx="5944038"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Run the code:</a:t>
            </a:r>
            <a:r>
              <a:rPr sz="2000" i="0" b="0">
                <a:solidFill>
                  <a:srgbClr val="1E293B"/>
                </a:solidFill>
                <a:latin typeface="Helvetica Neue"/>
              </a:rPr>
              <a:t> one script per chapter in </a:t>
            </a:r>
            <a:r>
              <a:rPr sz="1800" i="0" b="0">
                <a:solidFill>
                  <a:srgbClr val="0F7490"/>
                </a:solidFill>
                <a:latin typeface="Menlo"/>
              </a:rPr>
              <a:t>practice/</a:t>
            </a:r>
            <a:r>
              <a:rPr sz="2000" i="0" b="0">
                <a:solidFill>
                  <a:srgbClr val="1E293B"/>
                </a:solidFill>
                <a:latin typeface="Helvetica Neue"/>
              </a:rPr>
              <a:t>.</a:t>
            </a:r>
          </a:p>
        </p:txBody>
      </p:sp>
      <p:sp>
        <p:nvSpPr>
          <p:cNvPr id="18" name="Rectangle 17"/>
          <p:cNvSpPr/>
          <p:nvPr/>
        </p:nvSpPr>
        <p:spPr>
          <a:xfrm>
            <a:off x="502920" y="403758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941064"/>
            <a:ext cx="5944038"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Read:</a:t>
            </a:r>
            <a:r>
              <a:rPr sz="2000" i="0" b="0">
                <a:solidFill>
                  <a:srgbClr val="1E293B"/>
                </a:solidFill>
                <a:latin typeface="Helvetica Neue"/>
              </a:rPr>
              <a:t> Kleppmann, DDIA, ch. 3 to 6 and 10; Abadi 2008; COST 2015.</a:t>
            </a:r>
          </a:p>
        </p:txBody>
      </p:sp>
      <p:sp>
        <p:nvSpPr>
          <p:cNvPr id="20" name="Rectangle 19"/>
          <p:cNvSpPr/>
          <p:nvPr/>
        </p:nvSpPr>
        <p:spPr>
          <a:xfrm>
            <a:off x="7132758" y="1472184"/>
            <a:ext cx="4556016"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758" y="1472184"/>
            <a:ext cx="4556016"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61358" y="1472184"/>
            <a:ext cx="4098816"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The one idea to keep</a:t>
            </a:r>
          </a:p>
        </p:txBody>
      </p:sp>
      <p:sp>
        <p:nvSpPr>
          <p:cNvPr id="23" name="TextBox 22"/>
          <p:cNvSpPr txBox="1"/>
          <p:nvPr/>
        </p:nvSpPr>
        <p:spPr>
          <a:xfrm>
            <a:off x="7361358" y="2231136"/>
            <a:ext cx="4053096" cy="3072383"/>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Each layer here fails silently, so later stages must not trust it blindly.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