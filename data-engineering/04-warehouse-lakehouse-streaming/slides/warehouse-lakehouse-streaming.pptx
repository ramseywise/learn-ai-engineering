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 we follow a year of taxi trips from the bucket to the bill. A stage silently trusts the one before it, and the store is where that trust gets expensive. We will see a layout that costs fifteen times more, a rewrite that corrupts a dashboard, a crash that counts a fare twice, and a dashboard nobody knew cost thirty-six thousand dollars a month.</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start with one question over one year of trips, and discover that the answer is the same and the cost is not.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real measurement from the course's BigQuery module. Partitioning by pickup date let the engine skip every other day. So what is it about the storage that makes skipping possible?</a:t>
            </a:r>
          </a:p>
          <a:p/>
          <a:p>
            <a:r>
              <a:t>Source: notes/01-warehouse-and-store.md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our synthetic year, half the file is one unused text column. Naming two columns reads 33 MB instead of 103 MB, before any partitioning at all.</a:t>
            </a:r>
          </a:p>
          <a:p/>
          <a:p>
            <a:r>
              <a:t>Source: notes/01-warehouse-and-store.md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an unsorted file each row group spans nearly every zone, so its range rules nothing out. Sort, and each group holds a narrow slice. Partitioning does the same by directory, and that is why the estimator can see it in advance.</a:t>
            </a:r>
          </a:p>
          <a:p/>
          <a:p>
            <a:r>
              <a:t>Source: notes/01-warehouse-and-store.md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Spark's physical plan does this for you. A join on two large tables shuffles both; broadcast a small one to avoid it. And if your data fits on one machine, DuckDB has no shuffle to pay for at all.</a:t>
            </a:r>
          </a:p>
          <a:p/>
          <a:p>
            <a:r>
              <a:t>Source: notes/01-warehouse-and-store.md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nightly job rewrites June and the spot instance dies. Half of June is new, half is gone, and no error appears.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Armbrust and colleagues report that about half of Databricks' support escalations between 2014 and 2016 came from these cloud storage strategies. It is the vendor's own, anecdotal figure, but the mechanism is easy to reproduce.</a:t>
            </a:r>
          </a:p>
          <a:p/>
          <a:p>
            <a:r>
              <a:t>Source: notes/02-table-formats.md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chapter builds this in sixty lines of pyarrow, and it gives you time travel, conflict detection and crash safety almost by accident. Then we find the same thing in Delta's log on disk.</a:t>
            </a:r>
          </a:p>
          <a:p/>
          <a:p>
            <a:r>
              <a:t>Source: notes/02-table-formats.md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real output from deltalake 1.6.6 on a laptop. Copy-on-write means old files stay until cleanup. Forcing retention to zero makes the log list a version whose files are gone.</a:t>
            </a:r>
          </a:p>
          <a:p/>
          <a:p>
            <a:r>
              <a:t>Source: notes/02-table-formats.md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projects copy each other every release. Statements in the 2020 and 2021 papers about Hudi's single writer describe those releases, so do not repeat them as current fact.</a:t>
            </a:r>
          </a:p>
          <a:p/>
          <a:p>
            <a:r>
              <a:t>Source: notes/02-table-formats.md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arithmetic assumes a 1 TB table of 1 GB files with 1% of rows updated uniformly at random. If updates cluster in 2% of files, copy-on-write rewrites just 0.02 TB and the gap nearly vanishes.</a:t>
            </a:r>
          </a:p>
          <a:p/>
          <a:p>
            <a:r>
              <a:t>Source: notes/02-table-formats.md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 transactions on the lake, one claim follows: why keep a warehouse at all? We test what can be tested.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paper's staleness survey, 86 percent of analysts on out-of-date data, was sponsored by an ETL vendor and quoted by a lakehouse vendor. Note that, then look at the mechanism.</a:t>
            </a:r>
          </a:p>
          <a:p/>
          <a:p>
            <a:r>
              <a:t>Source: notes/03-lakehouse-vs-warehouse.md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glob resurrected a million rows, with old file versions still on disk. A warehouse could never make this mistake since it hides its files. That is the data independence the paper admits it gives up.</a:t>
            </a:r>
          </a:p>
          <a:p/>
          <a:p>
            <a:r>
              <a:t>Source: notes/03-lakehouse-vs-warehouse.md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Timings are on one laptop, so read only the ratio. The paper's TPC-DS figure, 3,302 seconds for Delta Engine against 2,996 to 37,283 for four anonymised warehouses, is vendor-run. It shows open formats can be fast enough, not that they are faster for you.</a:t>
            </a:r>
          </a:p>
          <a:p/>
          <a:p>
            <a:r>
              <a:t>Source: notes/03-lakehouse-vs-warehouse.md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convention lakehouse teams use. Keep raw data so you can reprocess, and let each layer depend only on the one before. But a stage silently trusts the one before it unless a test checks, which is the next pillar.</a:t>
            </a:r>
          </a:p>
          <a:p/>
          <a:p>
            <a:r>
              <a:t>Source: notes/03-lakehouse-vs-warehouse.md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paper predicted replacement. What has happened looks more like convergence, since warehouses read open formats and lakehouse engines add BI features.</a:t>
            </a:r>
          </a:p>
          <a:p/>
          <a:p>
            <a:r>
              <a:t>Source: notes/03-lakehouse-vs-warehouse.md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trips arrive one by one. A crash can lose or double a fare, and a tunnel makes an event two minutes late.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First, the log itself. Kafka keeps records and each consumer group keeps a position, so reading removes nothing. Order holds within a partition only. That gives replay, and it gives us this choice.</a:t>
            </a:r>
          </a:p>
          <a:p/>
          <a:p>
            <a:r>
              <a:t>Source: notes/04-kafka-and-stream-semantics.md</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Plain Python simulation, so you can see each failure. The practice consumer uses enable_auto_commit true, which commits on a timer and can give either failure. A DuckDB version commits totals and offset in one transaction.</a:t>
            </a:r>
          </a:p>
          <a:p/>
          <a:p>
            <a:r>
              <a:t>Source: notes/04-kafka-and-stream-semantics.md</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Kleppmann's framing: effectively-once would be the better name. Ask of any such claim, from where to where?</a:t>
            </a:r>
          </a:p>
          <a:p/>
          <a:p>
            <a:r>
              <a:t>Source: notes/04-kafka-and-stream-semantics.md</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Delivery says whether a record arrives. It does not say when. By processing time, the first minute in our simulation shows 53 rides against a true 60.</a:t>
            </a:r>
          </a:p>
          <a:p/>
          <a:p>
            <a:r>
              <a:t>Source: notes/04-kafka-and-stream-semantics.md</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simulation with 2 percent of rides delayed by a tunnel. With retractions at 30 seconds all 600 rides count, at the price of 11 corrections downstream. Akidau's Dataflow paper frames this as choosing among correctness, latency and cost.</a:t>
            </a:r>
          </a:p>
          <a:p/>
          <a:p>
            <a:r>
              <a:t>Source: notes/04-kafka-and-stream-semantics.md</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has a price. Now we find out what the dashboard has been costing.</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ratios come from compressed Parquet, and BigQuery bills logical bytes. So direction and scale carry over, and the exact factor needs a dry run on your table.</a:t>
            </a:r>
          </a:p>
          <a:p/>
          <a:p>
            <a:r>
              <a:t>Source: notes/05-cost.md</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Listing used: logical active storage at us-central1 and Premium Tier internet to North America, read on the first of November 2026. A hundred Enterprise slots for eight hours a day cost the same as 231 TiB on demand.</a:t>
            </a:r>
          </a:p>
          <a:p/>
          <a:p>
            <a:r>
              <a:t>Source: notes/05-cost.md</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two terabyte table scaled by the measured ratio. The first query is stopped before merge with the fix on the screen.</a:t>
            </a:r>
          </a:p>
          <a:p/>
          <a:p>
            <a:r>
              <a:t>Source: notes/05-cost.md</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fewer than one read a day a daily aggregate costs more than the queries it replaces, and at five it wins. Run the arithmetic per table. And on a non-clustered BigQuery table, LIMIT does not reduce the bill.</a:t>
            </a:r>
          </a:p>
          <a:p/>
          <a:p>
            <a:r>
              <a:t>Source: notes/05-cost.md</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Oval 1"/>
          <p:cNvSpPr/>
          <p:nvPr/>
        </p:nvSpPr>
        <p:spPr>
          <a:xfrm>
            <a:off x="7498079" y="-1097280"/>
            <a:ext cx="5120640" cy="5120640"/>
          </a:xfrm>
          <a:prstGeom prst="ellipse">
            <a:avLst/>
          </a:prstGeom>
          <a:solidFill>
            <a:srgbClr val="DC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778240" y="4023360"/>
            <a:ext cx="4023360" cy="4023360"/>
          </a:xfrm>
          <a:prstGeom prst="ellipse">
            <a:avLst/>
          </a:prstGeom>
          <a:solidFill>
            <a:srgbClr val="F6E6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5852160" cy="685800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64592" cy="685800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005840"/>
            <a:ext cx="4937760" cy="1920239"/>
          </a:xfrm>
          <a:prstGeom prst="rect">
            <a:avLst/>
          </a:prstGeom>
          <a:noFill/>
        </p:spPr>
        <p:txBody>
          <a:bodyPr wrap="square" lIns="0" rIns="0" tIns="0" bIns="0" anchor="t">
            <a:noAutofit/>
          </a:bodyPr>
          <a:lstStyle/>
          <a:p>
            <a:pPr algn="l">
              <a:lnSpc>
                <a:spcPct val="95000"/>
              </a:lnSpc>
            </a:pPr>
            <a:r>
              <a:rPr sz="4000" i="0" b="1">
                <a:solidFill>
                  <a:srgbClr val="FFFFFF"/>
                </a:solidFill>
                <a:latin typeface="Helvetica Neue"/>
              </a:rPr>
              <a:t>Warehouse, Lakehouse, Streaming</a:t>
            </a:r>
          </a:p>
        </p:txBody>
      </p:sp>
      <p:sp>
        <p:nvSpPr>
          <p:cNvPr id="7" name="TextBox 6"/>
          <p:cNvSpPr txBox="1"/>
          <p:nvPr/>
        </p:nvSpPr>
        <p:spPr>
          <a:xfrm>
            <a:off x="548640" y="3063240"/>
            <a:ext cx="4937760" cy="896112"/>
          </a:xfrm>
          <a:prstGeom prst="rect">
            <a:avLst/>
          </a:prstGeom>
          <a:noFill/>
        </p:spPr>
        <p:txBody>
          <a:bodyPr wrap="square" lIns="0" rIns="0" tIns="0" bIns="0" anchor="t">
            <a:noAutofit/>
          </a:bodyPr>
          <a:lstStyle/>
          <a:p>
            <a:pPr algn="l">
              <a:lnSpc>
                <a:spcPct val="110000"/>
              </a:lnSpc>
            </a:pPr>
            <a:r>
              <a:rPr sz="2400" i="0" b="0">
                <a:solidFill>
                  <a:srgbClr val="0EA5C9"/>
                </a:solidFill>
                <a:latin typeface="Helvetica Neue"/>
              </a:rPr>
              <a:t>Where data rests, how it moves, what it costs</a:t>
            </a:r>
          </a:p>
        </p:txBody>
      </p:sp>
      <p:sp>
        <p:nvSpPr>
          <p:cNvPr id="8" name="Rectangle 7"/>
          <p:cNvSpPr/>
          <p:nvPr/>
        </p:nvSpPr>
        <p:spPr>
          <a:xfrm>
            <a:off x="548640" y="4187952"/>
            <a:ext cx="4572000" cy="457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4507992"/>
            <a:ext cx="4937760" cy="1463040"/>
          </a:xfrm>
          <a:prstGeom prst="rect">
            <a:avLst/>
          </a:prstGeom>
          <a:noFill/>
        </p:spPr>
        <p:txBody>
          <a:bodyPr wrap="square" lIns="0" rIns="0" tIns="0" bIns="0" anchor="t">
            <a:noAutofit/>
          </a:bodyPr>
          <a:lstStyle/>
          <a:p>
            <a:pPr algn="l">
              <a:lnSpc>
                <a:spcPct val="125000"/>
              </a:lnSpc>
            </a:pPr>
            <a:r>
              <a:rPr sz="1500" i="0" b="0">
                <a:solidFill>
                  <a:srgbClr val="94A3B8"/>
                </a:solidFill>
                <a:latin typeface="Helvetica Neue"/>
              </a:rPr>
              <a:t>Layout decides · A log makes a table · Exactly once from where · The bill</a:t>
            </a:r>
          </a:p>
        </p:txBody>
      </p:sp>
      <p:sp>
        <p:nvSpPr>
          <p:cNvPr id="10" name="Rectangle 9"/>
          <p:cNvSpPr/>
          <p:nvPr/>
        </p:nvSpPr>
        <p:spPr>
          <a:xfrm>
            <a:off x="6492240" y="822960"/>
            <a:ext cx="5196535" cy="881481"/>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92240" y="822960"/>
            <a:ext cx="91440" cy="881481"/>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766560" y="950976"/>
            <a:ext cx="4785055" cy="365760"/>
          </a:xfrm>
          <a:prstGeom prst="rect">
            <a:avLst/>
          </a:prstGeom>
          <a:noFill/>
        </p:spPr>
        <p:txBody>
          <a:bodyPr wrap="square" lIns="0" rIns="0" tIns="0" bIns="0" anchor="t">
            <a:noAutofit/>
          </a:bodyPr>
          <a:lstStyle/>
          <a:p>
            <a:pPr algn="l">
              <a:lnSpc>
                <a:spcPct val="110000"/>
              </a:lnSpc>
            </a:pPr>
            <a:r>
              <a:rPr sz="1700" i="0" b="1">
                <a:solidFill>
                  <a:srgbClr val="1E293B"/>
                </a:solidFill>
                <a:latin typeface="Helvetica Neue"/>
              </a:rPr>
              <a:t>Part 1: Layout decides the bill</a:t>
            </a:r>
          </a:p>
        </p:txBody>
      </p:sp>
      <p:sp>
        <p:nvSpPr>
          <p:cNvPr id="13" name="TextBox 12"/>
          <p:cNvSpPr txBox="1"/>
          <p:nvPr/>
        </p:nvSpPr>
        <p:spPr>
          <a:xfrm>
            <a:off x="6766560" y="1264031"/>
            <a:ext cx="4785055" cy="424281"/>
          </a:xfrm>
          <a:prstGeom prst="rect">
            <a:avLst/>
          </a:prstGeom>
          <a:noFill/>
        </p:spPr>
        <p:txBody>
          <a:bodyPr wrap="square" lIns="0" rIns="0" tIns="0" bIns="0" anchor="t">
            <a:noAutofit/>
          </a:bodyPr>
          <a:lstStyle/>
          <a:p>
            <a:pPr algn="l">
              <a:lnSpc>
                <a:spcPct val="110000"/>
              </a:lnSpc>
            </a:pPr>
            <a:r>
              <a:rPr sz="1300" i="0" b="0">
                <a:solidFill>
                  <a:srgbClr val="475569"/>
                </a:solidFill>
                <a:latin typeface="Helvetica Neue"/>
              </a:rPr>
              <a:t>Columns · Partitions · Clusters · Shuffles</a:t>
            </a:r>
          </a:p>
        </p:txBody>
      </p:sp>
      <p:sp>
        <p:nvSpPr>
          <p:cNvPr id="14" name="Rectangle 13"/>
          <p:cNvSpPr/>
          <p:nvPr/>
        </p:nvSpPr>
        <p:spPr>
          <a:xfrm>
            <a:off x="6492240" y="1905609"/>
            <a:ext cx="5196535" cy="881481"/>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492240" y="1905609"/>
            <a:ext cx="91440" cy="881481"/>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766560" y="2033625"/>
            <a:ext cx="4785055" cy="365760"/>
          </a:xfrm>
          <a:prstGeom prst="rect">
            <a:avLst/>
          </a:prstGeom>
          <a:noFill/>
        </p:spPr>
        <p:txBody>
          <a:bodyPr wrap="square" lIns="0" rIns="0" tIns="0" bIns="0" anchor="t">
            <a:noAutofit/>
          </a:bodyPr>
          <a:lstStyle/>
          <a:p>
            <a:pPr algn="l">
              <a:lnSpc>
                <a:spcPct val="110000"/>
              </a:lnSpc>
            </a:pPr>
            <a:r>
              <a:rPr sz="1700" i="0" b="1">
                <a:solidFill>
                  <a:srgbClr val="1E293B"/>
                </a:solidFill>
                <a:latin typeface="Helvetica Neue"/>
              </a:rPr>
              <a:t>Part 2: A log makes a table</a:t>
            </a:r>
          </a:p>
        </p:txBody>
      </p:sp>
      <p:sp>
        <p:nvSpPr>
          <p:cNvPr id="17" name="TextBox 16"/>
          <p:cNvSpPr txBox="1"/>
          <p:nvPr/>
        </p:nvSpPr>
        <p:spPr>
          <a:xfrm>
            <a:off x="6766560" y="2346680"/>
            <a:ext cx="4785055" cy="424281"/>
          </a:xfrm>
          <a:prstGeom prst="rect">
            <a:avLst/>
          </a:prstGeom>
          <a:noFill/>
        </p:spPr>
        <p:txBody>
          <a:bodyPr wrap="square" lIns="0" rIns="0" tIns="0" bIns="0" anchor="t">
            <a:noAutofit/>
          </a:bodyPr>
          <a:lstStyle/>
          <a:p>
            <a:pPr algn="l">
              <a:lnSpc>
                <a:spcPct val="110000"/>
              </a:lnSpc>
            </a:pPr>
            <a:r>
              <a:rPr sz="1300" i="0" b="0">
                <a:solidFill>
                  <a:srgbClr val="475569"/>
                </a:solidFill>
                <a:latin typeface="Helvetica Neue"/>
              </a:rPr>
              <a:t>The crash · Sixty lines · Delta · Iceberg · Hudi</a:t>
            </a:r>
          </a:p>
        </p:txBody>
      </p:sp>
      <p:sp>
        <p:nvSpPr>
          <p:cNvPr id="18" name="Rectangle 17"/>
          <p:cNvSpPr/>
          <p:nvPr/>
        </p:nvSpPr>
        <p:spPr>
          <a:xfrm>
            <a:off x="6492240" y="2988259"/>
            <a:ext cx="5196535" cy="881481"/>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492240" y="2988259"/>
            <a:ext cx="91440" cy="881481"/>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66560" y="3116275"/>
            <a:ext cx="4785055" cy="365760"/>
          </a:xfrm>
          <a:prstGeom prst="rect">
            <a:avLst/>
          </a:prstGeom>
          <a:noFill/>
        </p:spPr>
        <p:txBody>
          <a:bodyPr wrap="square" lIns="0" rIns="0" tIns="0" bIns="0" anchor="t">
            <a:noAutofit/>
          </a:bodyPr>
          <a:lstStyle/>
          <a:p>
            <a:pPr algn="l">
              <a:lnSpc>
                <a:spcPct val="110000"/>
              </a:lnSpc>
            </a:pPr>
            <a:r>
              <a:rPr sz="1700" i="0" b="1">
                <a:solidFill>
                  <a:srgbClr val="1E293B"/>
                </a:solidFill>
                <a:latin typeface="Helvetica Neue"/>
              </a:rPr>
              <a:t>Part 3: Does the lake replace the warehouse?</a:t>
            </a:r>
          </a:p>
        </p:txBody>
      </p:sp>
      <p:sp>
        <p:nvSpPr>
          <p:cNvPr id="21" name="TextBox 20"/>
          <p:cNvSpPr txBox="1"/>
          <p:nvPr/>
        </p:nvSpPr>
        <p:spPr>
          <a:xfrm>
            <a:off x="6766560" y="3429330"/>
            <a:ext cx="4785055" cy="424281"/>
          </a:xfrm>
          <a:prstGeom prst="rect">
            <a:avLst/>
          </a:prstGeom>
          <a:noFill/>
        </p:spPr>
        <p:txBody>
          <a:bodyPr wrap="square" lIns="0" rIns="0" tIns="0" bIns="0" anchor="t">
            <a:noAutofit/>
          </a:bodyPr>
          <a:lstStyle/>
          <a:p>
            <a:pPr algn="l">
              <a:lnSpc>
                <a:spcPct val="110000"/>
              </a:lnSpc>
            </a:pPr>
            <a:r>
              <a:rPr sz="1300" i="0" b="0">
                <a:solidFill>
                  <a:srgbClr val="475569"/>
                </a:solidFill>
                <a:latin typeface="Helvetica Neue"/>
              </a:rPr>
              <a:t>Two tiers · One copy · The trap · A decision</a:t>
            </a:r>
          </a:p>
        </p:txBody>
      </p:sp>
      <p:sp>
        <p:nvSpPr>
          <p:cNvPr id="22" name="Rectangle 21"/>
          <p:cNvSpPr/>
          <p:nvPr/>
        </p:nvSpPr>
        <p:spPr>
          <a:xfrm>
            <a:off x="6492240" y="4070908"/>
            <a:ext cx="5196535" cy="881481"/>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492240" y="4070908"/>
            <a:ext cx="91440" cy="881481"/>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66560" y="4198924"/>
            <a:ext cx="4785055" cy="365760"/>
          </a:xfrm>
          <a:prstGeom prst="rect">
            <a:avLst/>
          </a:prstGeom>
          <a:noFill/>
        </p:spPr>
        <p:txBody>
          <a:bodyPr wrap="square" lIns="0" rIns="0" tIns="0" bIns="0" anchor="t">
            <a:noAutofit/>
          </a:bodyPr>
          <a:lstStyle/>
          <a:p>
            <a:pPr algn="l">
              <a:lnSpc>
                <a:spcPct val="110000"/>
              </a:lnSpc>
            </a:pPr>
            <a:r>
              <a:rPr sz="1700" i="0" b="1">
                <a:solidFill>
                  <a:srgbClr val="1E293B"/>
                </a:solidFill>
                <a:latin typeface="Helvetica Neue"/>
              </a:rPr>
              <a:t>Part 4: Data that never stops arriving</a:t>
            </a:r>
          </a:p>
        </p:txBody>
      </p:sp>
      <p:sp>
        <p:nvSpPr>
          <p:cNvPr id="25" name="TextBox 24"/>
          <p:cNvSpPr txBox="1"/>
          <p:nvPr/>
        </p:nvSpPr>
        <p:spPr>
          <a:xfrm>
            <a:off x="6766560" y="4511979"/>
            <a:ext cx="4785055" cy="424281"/>
          </a:xfrm>
          <a:prstGeom prst="rect">
            <a:avLst/>
          </a:prstGeom>
          <a:noFill/>
        </p:spPr>
        <p:txBody>
          <a:bodyPr wrap="square" lIns="0" rIns="0" tIns="0" bIns="0" anchor="t">
            <a:noAutofit/>
          </a:bodyPr>
          <a:lstStyle/>
          <a:p>
            <a:pPr algn="l">
              <a:lnSpc>
                <a:spcPct val="110000"/>
              </a:lnSpc>
            </a:pPr>
            <a:r>
              <a:rPr sz="1300" i="0" b="0">
                <a:solidFill>
                  <a:srgbClr val="475569"/>
                </a:solidFill>
                <a:latin typeface="Helvetica Neue"/>
              </a:rPr>
              <a:t>The log · Three guarantees · Exactly once · Watermarks</a:t>
            </a:r>
          </a:p>
        </p:txBody>
      </p:sp>
      <p:sp>
        <p:nvSpPr>
          <p:cNvPr id="26" name="Rectangle 25"/>
          <p:cNvSpPr/>
          <p:nvPr/>
        </p:nvSpPr>
        <p:spPr>
          <a:xfrm>
            <a:off x="6492240" y="5153558"/>
            <a:ext cx="5196535" cy="881481"/>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492240" y="5153558"/>
            <a:ext cx="91440" cy="881481"/>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66560" y="5281574"/>
            <a:ext cx="4785055" cy="365760"/>
          </a:xfrm>
          <a:prstGeom prst="rect">
            <a:avLst/>
          </a:prstGeom>
          <a:noFill/>
        </p:spPr>
        <p:txBody>
          <a:bodyPr wrap="square" lIns="0" rIns="0" tIns="0" bIns="0" anchor="t">
            <a:noAutofit/>
          </a:bodyPr>
          <a:lstStyle/>
          <a:p>
            <a:pPr algn="l">
              <a:lnSpc>
                <a:spcPct val="110000"/>
              </a:lnSpc>
            </a:pPr>
            <a:r>
              <a:rPr sz="1700" i="0" b="1">
                <a:solidFill>
                  <a:srgbClr val="1E293B"/>
                </a:solidFill>
                <a:latin typeface="Helvetica Neue"/>
              </a:rPr>
              <a:t>Part 5: The bill</a:t>
            </a:r>
          </a:p>
        </p:txBody>
      </p:sp>
      <p:sp>
        <p:nvSpPr>
          <p:cNvPr id="29" name="TextBox 28"/>
          <p:cNvSpPr txBox="1"/>
          <p:nvPr/>
        </p:nvSpPr>
        <p:spPr>
          <a:xfrm>
            <a:off x="6766560" y="5594629"/>
            <a:ext cx="4785055" cy="424281"/>
          </a:xfrm>
          <a:prstGeom prst="rect">
            <a:avLst/>
          </a:prstGeom>
          <a:noFill/>
        </p:spPr>
        <p:txBody>
          <a:bodyPr wrap="square" lIns="0" rIns="0" tIns="0" bIns="0" anchor="t">
            <a:noAutofit/>
          </a:bodyPr>
          <a:lstStyle/>
          <a:p>
            <a:pPr algn="l">
              <a:lnSpc>
                <a:spcPct val="110000"/>
              </a:lnSpc>
            </a:pPr>
            <a:r>
              <a:rPr sz="1300" i="0" b="0">
                <a:solidFill>
                  <a:srgbClr val="475569"/>
                </a:solidFill>
                <a:latin typeface="Helvetica Neue"/>
              </a:rPr>
              <a:t>Bytes · Slots · Storage · Egress · Guardrails</a:t>
            </a:r>
          </a:p>
        </p:txBody>
      </p:sp>
      <p:sp>
        <p:nvSpPr>
          <p:cNvPr id="30" name="TextBox 29"/>
          <p:cNvSpPr txBox="1"/>
          <p:nvPr/>
        </p:nvSpPr>
        <p:spPr>
          <a:xfrm>
            <a:off x="6492240" y="6355080"/>
            <a:ext cx="5196535" cy="274320"/>
          </a:xfrm>
          <a:prstGeom prst="rect">
            <a:avLst/>
          </a:prstGeom>
          <a:noFill/>
        </p:spPr>
        <p:txBody>
          <a:bodyPr wrap="square" lIns="0" rIns="0" tIns="0" bIns="0" anchor="t">
            <a:noAutofit/>
          </a:bodyPr>
          <a:lstStyle/>
          <a:p>
            <a:pPr algn="r">
              <a:lnSpc>
                <a:spcPct val="110000"/>
              </a:lnSpc>
            </a:pPr>
            <a:r>
              <a:rPr sz="1100" i="1" b="0">
                <a:solidFill>
                  <a:srgbClr val="94A3B8"/>
                </a:solidFill>
                <a:latin typeface="Helvetica Neue"/>
              </a:rPr>
              <a:t>Notes: data-engineering/04-warehouse-lakehouse-streaming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E3A5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463040"/>
            <a:ext cx="5486400" cy="457200"/>
          </a:xfrm>
          <a:prstGeom prst="rect">
            <a:avLst/>
          </a:prstGeom>
          <a:noFill/>
        </p:spPr>
        <p:txBody>
          <a:bodyPr wrap="square" lIns="0" rIns="0" tIns="0" bIns="0" anchor="t">
            <a:noAutofit/>
          </a:bodyPr>
          <a:lstStyle/>
          <a:p>
            <a:pPr algn="l">
              <a:lnSpc>
                <a:spcPct val="110000"/>
              </a:lnSpc>
            </a:pPr>
            <a:r>
              <a:rPr sz="1800" i="0" b="1">
                <a:solidFill>
                  <a:srgbClr val="D4621A"/>
                </a:solidFill>
                <a:latin typeface="Helvetica Neue"/>
              </a:rPr>
              <a:t>PART 1</a:t>
            </a:r>
          </a:p>
        </p:txBody>
      </p:sp>
      <p:sp>
        <p:nvSpPr>
          <p:cNvPr id="4" name="TextBox 3"/>
          <p:cNvSpPr txBox="1"/>
          <p:nvPr/>
        </p:nvSpPr>
        <p:spPr>
          <a:xfrm>
            <a:off x="822960" y="1965960"/>
            <a:ext cx="5486400" cy="1859280"/>
          </a:xfrm>
          <a:prstGeom prst="rect">
            <a:avLst/>
          </a:prstGeom>
          <a:noFill/>
        </p:spPr>
        <p:txBody>
          <a:bodyPr wrap="square" lIns="0" rIns="0" tIns="0" bIns="0" anchor="t">
            <a:noAutofit/>
          </a:bodyPr>
          <a:lstStyle/>
          <a:p>
            <a:pPr algn="l">
              <a:lnSpc>
                <a:spcPct val="95000"/>
              </a:lnSpc>
            </a:pPr>
            <a:r>
              <a:rPr sz="5000" i="0" b="1">
                <a:solidFill>
                  <a:srgbClr val="FFFFFF"/>
                </a:solidFill>
                <a:latin typeface="Helvetica Neue"/>
              </a:rPr>
              <a:t>Layout decides the bill</a:t>
            </a:r>
          </a:p>
        </p:txBody>
      </p:sp>
      <p:sp>
        <p:nvSpPr>
          <p:cNvPr id="5" name="TextBox 4"/>
          <p:cNvSpPr txBox="1"/>
          <p:nvPr/>
        </p:nvSpPr>
        <p:spPr>
          <a:xfrm>
            <a:off x="822960" y="3916680"/>
            <a:ext cx="5303520" cy="1371600"/>
          </a:xfrm>
          <a:prstGeom prst="rect">
            <a:avLst/>
          </a:prstGeom>
          <a:noFill/>
        </p:spPr>
        <p:txBody>
          <a:bodyPr wrap="square" lIns="0" rIns="0" tIns="0" bIns="0" anchor="t">
            <a:noAutofit/>
          </a:bodyPr>
          <a:lstStyle/>
          <a:p>
            <a:pPr algn="l">
              <a:lnSpc>
                <a:spcPct val="110000"/>
              </a:lnSpc>
            </a:pPr>
            <a:r>
              <a:rPr sz="2000" i="0" b="0">
                <a:solidFill>
                  <a:srgbClr val="0EA5C9"/>
                </a:solidFill>
                <a:latin typeface="Helvetica Neue"/>
              </a:rPr>
              <a:t>Columns · Partitions · Clusters · Shuffles</a:t>
            </a:r>
          </a:p>
        </p:txBody>
      </p:sp>
      <p:cxnSp>
        <p:nvCxnSpPr>
          <p:cNvPr id="6" name="Connector 5"/>
          <p:cNvCxnSpPr/>
          <p:nvPr/>
        </p:nvCxnSpPr>
        <p:spPr>
          <a:xfrm>
            <a:off x="6446520" y="2425065"/>
            <a:ext cx="0" cy="2007870"/>
          </a:xfrm>
          <a:prstGeom prst="line">
            <a:avLst/>
          </a:prstGeom>
          <a:ln w="19050">
            <a:solidFill>
              <a:srgbClr val="3B5A80"/>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766560" y="2425065"/>
            <a:ext cx="4693615" cy="2190750"/>
          </a:xfrm>
          <a:prstGeom prst="rect">
            <a:avLst/>
          </a:prstGeom>
          <a:noFill/>
        </p:spPr>
        <p:txBody>
          <a:bodyPr wrap="square" lIns="0" rIns="0" tIns="0" bIns="0" anchor="t">
            <a:noAutofit/>
          </a:bodyPr>
          <a:lstStyle/>
          <a:p>
            <a:pPr algn="l">
              <a:lnSpc>
                <a:spcPct val="100000"/>
              </a:lnSpc>
            </a:pPr>
            <a:r>
              <a:rPr sz="1700" i="0" b="0">
                <a:solidFill>
                  <a:srgbClr val="CBD5E1"/>
                </a:solidFill>
                <a:latin typeface="Helvetica Neue"/>
              </a:rPr>
              <a:t>The same question reads 1.6 GB or 106 MB</a:t>
            </a:r>
          </a:p>
          <a:p>
            <a:pPr algn="l">
              <a:lnSpc>
                <a:spcPct val="100000"/>
              </a:lnSpc>
              <a:spcBef>
                <a:spcPts val="1189"/>
              </a:spcBef>
            </a:pPr>
            <a:r>
              <a:rPr sz="1700" i="0" b="0">
                <a:solidFill>
                  <a:srgbClr val="CBD5E1"/>
                </a:solidFill>
                <a:latin typeface="Helvetica Neue"/>
              </a:rPr>
              <a:t>OLTP and OLAP want opposite layouts</a:t>
            </a:r>
          </a:p>
          <a:p>
            <a:pPr algn="l">
              <a:lnSpc>
                <a:spcPct val="100000"/>
              </a:lnSpc>
              <a:spcBef>
                <a:spcPts val="1189"/>
              </a:spcBef>
            </a:pPr>
            <a:r>
              <a:rPr sz="1700" i="0" b="0">
                <a:solidFill>
                  <a:srgbClr val="CBD5E1"/>
                </a:solidFill>
                <a:latin typeface="Helvetica Neue"/>
              </a:rPr>
              <a:t>Sorting lets min and max statistics skip row groups</a:t>
            </a:r>
          </a:p>
          <a:p>
            <a:pPr algn="l">
              <a:lnSpc>
                <a:spcPct val="100000"/>
              </a:lnSpc>
              <a:spcBef>
                <a:spcPts val="1189"/>
              </a:spcBef>
            </a:pPr>
            <a:r>
              <a:rPr sz="1700" i="0" b="0">
                <a:solidFill>
                  <a:srgbClr val="CBD5E1"/>
                </a:solidFill>
                <a:latin typeface="Helvetica Neue"/>
              </a:rPr>
              <a:t>A groupBy pays for the shuffle, so aggregate first</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64748B"/>
                </a:solidFill>
                <a:latin typeface="Helvetica Neue"/>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700" i="0" b="1">
                <a:solidFill>
                  <a:srgbClr val="FFFFFF"/>
                </a:solidFill>
                <a:latin typeface="Helvetica Neue"/>
              </a:rPr>
              <a:t>The same question reads 1.6 GB or 106 MB</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D4621A"/>
                </a:solidFill>
                <a:latin typeface="Helvetica Neue"/>
              </a:rPr>
              <a:t>The problem</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1 · Layout decides the bill</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notes/01-warehouse-and-store.md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3</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600" i="0" b="1">
                <a:solidFill>
                  <a:srgbClr val="1E3A5F"/>
                </a:solidFill>
                <a:latin typeface="Helvetica Neue"/>
              </a:rPr>
              <a:t>Scan cost is decided when the table is laid out, long before the query is written.</a:t>
            </a:r>
          </a:p>
        </p:txBody>
      </p:sp>
      <p:sp>
        <p:nvSpPr>
          <p:cNvPr id="13" name="Rectangle 12"/>
          <p:cNvSpPr/>
          <p:nvPr/>
        </p:nvSpPr>
        <p:spPr>
          <a:xfrm>
            <a:off x="777240" y="2299716"/>
            <a:ext cx="109728" cy="235915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234440" y="2299716"/>
            <a:ext cx="10088575" cy="1993392"/>
          </a:xfrm>
          <a:prstGeom prst="rect">
            <a:avLst/>
          </a:prstGeom>
          <a:noFill/>
        </p:spPr>
        <p:txBody>
          <a:bodyPr wrap="square" lIns="0" rIns="0" tIns="0" bIns="0" anchor="t">
            <a:noAutofit/>
          </a:bodyPr>
          <a:lstStyle/>
          <a:p>
            <a:pPr algn="l">
              <a:lnSpc>
                <a:spcPct val="105000"/>
              </a:lnSpc>
            </a:pPr>
            <a:r>
              <a:rPr sz="3600" i="0" b="1">
                <a:solidFill>
                  <a:srgbClr val="1E3A5F"/>
                </a:solidFill>
                <a:latin typeface="Helvetica Neue"/>
              </a:rPr>
              <a:t>Same query, same answer, 15 times fewer bytes. The only difference was how the data was laid out before anyone asked.</a:t>
            </a:r>
          </a:p>
        </p:txBody>
      </p:sp>
      <p:sp>
        <p:nvSpPr>
          <p:cNvPr id="15" name="TextBox 14"/>
          <p:cNvSpPr txBox="1"/>
          <p:nvPr/>
        </p:nvSpPr>
        <p:spPr>
          <a:xfrm>
            <a:off x="1234440" y="4247388"/>
            <a:ext cx="10088575" cy="365760"/>
          </a:xfrm>
          <a:prstGeom prst="rect">
            <a:avLst/>
          </a:prstGeom>
          <a:noFill/>
        </p:spPr>
        <p:txBody>
          <a:bodyPr wrap="square" lIns="0" rIns="0" tIns="0" bIns="0" anchor="t">
            <a:noAutofit/>
          </a:bodyPr>
          <a:lstStyle/>
          <a:p>
            <a:pPr algn="l">
              <a:lnSpc>
                <a:spcPct val="110000"/>
              </a:lnSpc>
            </a:pPr>
            <a:r>
              <a:rPr sz="1700" i="1" b="0">
                <a:solidFill>
                  <a:srgbClr val="475569"/>
                </a:solidFill>
                <a:latin typeface="Helvetica Neue"/>
              </a:rPr>
              <a:t>DataTalks DE zoomcamp, module 03, on the NYC taxi table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OLTP and OLAP want opposite layouts</a:t>
            </a:r>
          </a:p>
        </p:txBody>
      </p:sp>
      <p:sp>
        <p:nvSpPr>
          <p:cNvPr id="5" name="Rectangle 4"/>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1 · Layout decides the bill</a:t>
            </a:r>
          </a:p>
        </p:txBody>
      </p:sp>
      <p:sp>
        <p:nvSpPr>
          <p:cNvPr id="7" name="TextBox 6"/>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notes/01-warehouse-and-store.md</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4</a:t>
            </a:r>
          </a:p>
        </p:txBody>
      </p:sp>
      <p:sp>
        <p:nvSpPr>
          <p:cNvPr id="9" name="Rectangle 8"/>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5715000"/>
            <a:ext cx="73152" cy="5029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600" i="0" b="1">
                <a:solidFill>
                  <a:srgbClr val="1E3A5F"/>
                </a:solidFill>
                <a:latin typeface="Helvetica Neue"/>
              </a:rPr>
              <a:t>A column store reads only the columns you name, so your column list is your first cost control.</a:t>
            </a:r>
          </a:p>
        </p:txBody>
      </p:sp>
      <p:sp>
        <p:nvSpPr>
          <p:cNvPr id="12" name="Rectangle 11"/>
          <p:cNvSpPr/>
          <p:nvPr/>
        </p:nvSpPr>
        <p:spPr>
          <a:xfrm>
            <a:off x="502920" y="1472184"/>
            <a:ext cx="5410047" cy="4014215"/>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472184"/>
            <a:ext cx="5410047" cy="5577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1472184"/>
            <a:ext cx="4952847" cy="557784"/>
          </a:xfrm>
          <a:prstGeom prst="rect">
            <a:avLst/>
          </a:prstGeom>
          <a:noFill/>
        </p:spPr>
        <p:txBody>
          <a:bodyPr wrap="square" lIns="0" rIns="0" tIns="0" bIns="0" anchor="ctr">
            <a:noAutofit/>
          </a:bodyPr>
          <a:lstStyle/>
          <a:p>
            <a:pPr algn="l">
              <a:lnSpc>
                <a:spcPct val="110000"/>
              </a:lnSpc>
            </a:pPr>
            <a:r>
              <a:rPr sz="1800" i="0" b="1">
                <a:solidFill>
                  <a:srgbClr val="475569"/>
                </a:solidFill>
                <a:latin typeface="Helvetica Neue"/>
              </a:rPr>
              <a:t>OLTP, by row</a:t>
            </a:r>
          </a:p>
        </p:txBody>
      </p:sp>
      <p:sp>
        <p:nvSpPr>
          <p:cNvPr id="15" name="Rectangle 14"/>
          <p:cNvSpPr/>
          <p:nvPr/>
        </p:nvSpPr>
        <p:spPr>
          <a:xfrm>
            <a:off x="731520" y="2313178"/>
            <a:ext cx="90678" cy="90678"/>
          </a:xfrm>
          <a:prstGeom prst="rect">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2231136"/>
            <a:ext cx="4587087" cy="376428"/>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Many small reads and writes by key</a:t>
            </a:r>
          </a:p>
        </p:txBody>
      </p:sp>
      <p:sp>
        <p:nvSpPr>
          <p:cNvPr id="17" name="Rectangle 16"/>
          <p:cNvSpPr/>
          <p:nvPr/>
        </p:nvSpPr>
        <p:spPr>
          <a:xfrm>
            <a:off x="731520" y="2727706"/>
            <a:ext cx="90678" cy="90678"/>
          </a:xfrm>
          <a:prstGeom prst="rect">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51560" y="2645664"/>
            <a:ext cx="4587087" cy="376428"/>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Normalised schema</a:t>
            </a:r>
          </a:p>
        </p:txBody>
      </p:sp>
      <p:sp>
        <p:nvSpPr>
          <p:cNvPr id="19" name="Rectangle 18"/>
          <p:cNvSpPr/>
          <p:nvPr/>
        </p:nvSpPr>
        <p:spPr>
          <a:xfrm>
            <a:off x="731520" y="3142234"/>
            <a:ext cx="90678" cy="90678"/>
          </a:xfrm>
          <a:prstGeom prst="rect">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51560" y="3060192"/>
            <a:ext cx="4587087" cy="376428"/>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Cost driver is rows touched</a:t>
            </a:r>
          </a:p>
        </p:txBody>
      </p:sp>
      <p:sp>
        <p:nvSpPr>
          <p:cNvPr id="21" name="Rectangle 20"/>
          <p:cNvSpPr/>
          <p:nvPr/>
        </p:nvSpPr>
        <p:spPr>
          <a:xfrm>
            <a:off x="6278727" y="1472184"/>
            <a:ext cx="5410047" cy="4014215"/>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78727" y="1472184"/>
            <a:ext cx="5410047" cy="557784"/>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07327" y="1472184"/>
            <a:ext cx="4952847" cy="557784"/>
          </a:xfrm>
          <a:prstGeom prst="rect">
            <a:avLst/>
          </a:prstGeom>
          <a:noFill/>
        </p:spPr>
        <p:txBody>
          <a:bodyPr wrap="square" lIns="0" rIns="0" tIns="0" bIns="0" anchor="ctr">
            <a:noAutofit/>
          </a:bodyPr>
          <a:lstStyle/>
          <a:p>
            <a:pPr algn="l">
              <a:lnSpc>
                <a:spcPct val="110000"/>
              </a:lnSpc>
            </a:pPr>
            <a:r>
              <a:rPr sz="1800" i="0" b="1">
                <a:solidFill>
                  <a:srgbClr val="FFFFFF"/>
                </a:solidFill>
                <a:latin typeface="Helvetica Neue"/>
              </a:rPr>
              <a:t>OLAP, by column</a:t>
            </a:r>
          </a:p>
        </p:txBody>
      </p:sp>
      <p:sp>
        <p:nvSpPr>
          <p:cNvPr id="24" name="Rectangle 23"/>
          <p:cNvSpPr/>
          <p:nvPr/>
        </p:nvSpPr>
        <p:spPr>
          <a:xfrm>
            <a:off x="6507327" y="2313178"/>
            <a:ext cx="90678" cy="90678"/>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27367" y="2231136"/>
            <a:ext cx="4587087" cy="376428"/>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Few large scans and aggregates</a:t>
            </a:r>
          </a:p>
        </p:txBody>
      </p:sp>
      <p:sp>
        <p:nvSpPr>
          <p:cNvPr id="26" name="Rectangle 25"/>
          <p:cNvSpPr/>
          <p:nvPr/>
        </p:nvSpPr>
        <p:spPr>
          <a:xfrm>
            <a:off x="6507327" y="2727706"/>
            <a:ext cx="90678" cy="90678"/>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27367" y="2645664"/>
            <a:ext cx="4587087" cy="376428"/>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Star schema, wide fact tables</a:t>
            </a:r>
          </a:p>
        </p:txBody>
      </p:sp>
      <p:sp>
        <p:nvSpPr>
          <p:cNvPr id="28" name="Rectangle 27"/>
          <p:cNvSpPr/>
          <p:nvPr/>
        </p:nvSpPr>
        <p:spPr>
          <a:xfrm>
            <a:off x="6507327" y="3142234"/>
            <a:ext cx="90678" cy="90678"/>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827367" y="3060192"/>
            <a:ext cx="4587087" cy="376428"/>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Cost driver is bytes in named columns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Sorting lets min and max statistics skip row groups</a:t>
            </a:r>
          </a:p>
        </p:txBody>
      </p:sp>
      <p:sp>
        <p:nvSpPr>
          <p:cNvPr id="5" name="Rectangle 4"/>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1 · Layout decides the bill</a:t>
            </a:r>
          </a:p>
        </p:txBody>
      </p:sp>
      <p:sp>
        <p:nvSpPr>
          <p:cNvPr id="7" name="TextBox 6"/>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notes/01-warehouse-and-store.md</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5</a:t>
            </a:r>
          </a:p>
        </p:txBody>
      </p:sp>
      <p:sp>
        <p:nvSpPr>
          <p:cNvPr id="9" name="Rectangle 8"/>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5715000"/>
            <a:ext cx="73152" cy="5029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300" i="0" b="1">
                <a:solidFill>
                  <a:srgbClr val="1E3A5F"/>
                </a:solidFill>
                <a:latin typeface="Helvetica Neue"/>
              </a:rPr>
              <a:t>Clustering works through block statistics, which is why sorted data skips 29 of 30 row groups and unsorted skips none.</a:t>
            </a:r>
          </a:p>
        </p:txBody>
      </p:sp>
      <p:sp>
        <p:nvSpPr>
          <p:cNvPr id="12" name="Rounded Rectangle 11"/>
          <p:cNvSpPr/>
          <p:nvPr/>
        </p:nvSpPr>
        <p:spPr>
          <a:xfrm>
            <a:off x="502920" y="1472184"/>
            <a:ext cx="6711513" cy="2392680"/>
          </a:xfrm>
          <a:prstGeom prst="roundRect">
            <a:avLst>
              <a:gd name="adj" fmla="val 3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1581912"/>
            <a:ext cx="6254313" cy="274320"/>
          </a:xfrm>
          <a:prstGeom prst="rect">
            <a:avLst/>
          </a:prstGeom>
          <a:noFill/>
        </p:spPr>
        <p:txBody>
          <a:bodyPr wrap="square" lIns="0" rIns="0" tIns="0" bIns="0" anchor="t">
            <a:noAutofit/>
          </a:bodyPr>
          <a:lstStyle/>
          <a:p>
            <a:pPr algn="l">
              <a:lnSpc>
                <a:spcPct val="110000"/>
              </a:lnSpc>
            </a:pPr>
            <a:r>
              <a:rPr sz="1000" i="0" b="1">
                <a:solidFill>
                  <a:srgbClr val="94A3B8"/>
                </a:solidFill>
                <a:latin typeface="Helvetica Neue"/>
              </a:rPr>
              <a:t>PYTHON</a:t>
            </a:r>
          </a:p>
        </p:txBody>
      </p:sp>
      <p:sp>
        <p:nvSpPr>
          <p:cNvPr id="14" name="TextBox 13"/>
          <p:cNvSpPr txBox="1"/>
          <p:nvPr/>
        </p:nvSpPr>
        <p:spPr>
          <a:xfrm>
            <a:off x="731520" y="1883664"/>
            <a:ext cx="6254313" cy="1752599"/>
          </a:xfrm>
          <a:prstGeom prst="rect">
            <a:avLst/>
          </a:prstGeom>
          <a:noFill/>
        </p:spPr>
        <p:txBody>
          <a:bodyPr wrap="square" lIns="0" rIns="0" tIns="0" bIns="0" anchor="t">
            <a:noAutofit/>
          </a:bodyPr>
          <a:lstStyle/>
          <a:p>
            <a:pPr algn="l">
              <a:lnSpc>
                <a:spcPct val="100000"/>
              </a:lnSpc>
            </a:pPr>
            <a:r>
              <a:rPr sz="1600" i="0" b="0">
                <a:solidFill>
                  <a:srgbClr val="E2E8F0"/>
                </a:solidFill>
                <a:latin typeface="Menlo"/>
              </a:rPr>
              <a:t>for f in ['unsorted', 'sorted']:</a:t>
            </a:r>
          </a:p>
          <a:p>
            <a:pPr algn="l">
              <a:lnSpc>
                <a:spcPct val="100000"/>
              </a:lnSpc>
            </a:pPr>
            <a:r>
              <a:rPr sz="1600" i="0" b="0">
                <a:solidFill>
                  <a:srgbClr val="E2E8F0"/>
                </a:solidFill>
                <a:latin typeface="Menlo"/>
              </a:rPr>
              <a:t>    path = f'lake/{f}.parquet'</a:t>
            </a:r>
          </a:p>
          <a:p>
            <a:pPr algn="l">
              <a:lnSpc>
                <a:spcPct val="100000"/>
              </a:lnSpc>
            </a:pPr>
            <a:r>
              <a:rPr sz="1600" i="0" b="0">
                <a:solidFill>
                  <a:srgbClr val="E2E8F0"/>
                </a:solidFill>
                <a:latin typeface="Menlo"/>
              </a:rPr>
              <a:t>    s, t = skipped(path, 'pu_zone', 132)</a:t>
            </a:r>
          </a:p>
          <a:p>
            <a:pPr algn="l">
              <a:lnSpc>
                <a:spcPct val="100000"/>
              </a:lnSpc>
            </a:pPr>
            <a:r>
              <a:rPr sz="1600" i="0" b="0">
                <a:solidFill>
                  <a:srgbClr val="E2E8F0"/>
                </a:solidFill>
                <a:latin typeface="Menlo"/>
              </a:rPr>
              <a:t>    print(f, 'can skip', s, 'of', t, 'row groups')</a:t>
            </a:r>
          </a:p>
          <a:p>
            <a:pPr algn="l">
              <a:lnSpc>
                <a:spcPct val="100000"/>
              </a:lnSpc>
            </a:pPr>
          </a:p>
          <a:p>
            <a:pPr algn="l">
              <a:lnSpc>
                <a:spcPct val="100000"/>
              </a:lnSpc>
            </a:pPr>
            <a:r>
              <a:rPr sz="1600" i="0" b="0">
                <a:solidFill>
                  <a:srgbClr val="E2E8F0"/>
                </a:solidFill>
                <a:latin typeface="Menlo"/>
              </a:rPr>
              <a:t># unsorted  can skip  0 of 30 row groups</a:t>
            </a:r>
          </a:p>
          <a:p>
            <a:pPr algn="l">
              <a:lnSpc>
                <a:spcPct val="100000"/>
              </a:lnSpc>
            </a:pPr>
            <a:r>
              <a:rPr sz="1600" i="0" b="0">
                <a:solidFill>
                  <a:srgbClr val="E2E8F0"/>
                </a:solidFill>
                <a:latin typeface="Menlo"/>
              </a:rPr>
              <a:t># sorted    can skip 29 of 30 row groups</a:t>
            </a:r>
          </a:p>
        </p:txBody>
      </p:sp>
      <p:sp>
        <p:nvSpPr>
          <p:cNvPr id="15" name="Rectangle 14"/>
          <p:cNvSpPr/>
          <p:nvPr/>
        </p:nvSpPr>
        <p:spPr>
          <a:xfrm>
            <a:off x="7580193" y="1604772"/>
            <a:ext cx="96012" cy="9601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00233" y="1517904"/>
            <a:ext cx="3788542" cy="694943"/>
          </a:xfrm>
          <a:prstGeom prst="rect">
            <a:avLst/>
          </a:prstGeom>
          <a:noFill/>
        </p:spPr>
        <p:txBody>
          <a:bodyPr wrap="square" lIns="0" rIns="0" tIns="0" bIns="0" anchor="t">
            <a:noAutofit/>
          </a:bodyPr>
          <a:lstStyle/>
          <a:p>
            <a:pPr algn="l">
              <a:lnSpc>
                <a:spcPct val="110000"/>
              </a:lnSpc>
            </a:pPr>
            <a:r>
              <a:rPr sz="1800" i="0" b="1">
                <a:solidFill>
                  <a:srgbClr val="1E293B"/>
                </a:solidFill>
                <a:latin typeface="Helvetica Neue"/>
              </a:rPr>
              <a:t>Partition:</a:t>
            </a:r>
            <a:r>
              <a:rPr sz="1800" i="0" b="0">
                <a:solidFill>
                  <a:srgbClr val="1E293B"/>
                </a:solidFill>
                <a:latin typeface="Helvetica Neue"/>
              </a:rPr>
              <a:t> known before the query runs.</a:t>
            </a:r>
          </a:p>
        </p:txBody>
      </p:sp>
      <p:sp>
        <p:nvSpPr>
          <p:cNvPr id="17" name="Rectangle 16"/>
          <p:cNvSpPr/>
          <p:nvPr/>
        </p:nvSpPr>
        <p:spPr>
          <a:xfrm>
            <a:off x="7580193" y="2345436"/>
            <a:ext cx="96012" cy="9601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00233" y="2258568"/>
            <a:ext cx="3788542" cy="694943"/>
          </a:xfrm>
          <a:prstGeom prst="rect">
            <a:avLst/>
          </a:prstGeom>
          <a:noFill/>
        </p:spPr>
        <p:txBody>
          <a:bodyPr wrap="square" lIns="0" rIns="0" tIns="0" bIns="0" anchor="t">
            <a:noAutofit/>
          </a:bodyPr>
          <a:lstStyle/>
          <a:p>
            <a:pPr algn="l">
              <a:lnSpc>
                <a:spcPct val="110000"/>
              </a:lnSpc>
            </a:pPr>
            <a:r>
              <a:rPr sz="1800" i="0" b="1">
                <a:solidFill>
                  <a:srgbClr val="1E293B"/>
                </a:solidFill>
                <a:latin typeface="Helvetica Neue"/>
              </a:rPr>
              <a:t>Cluster:</a:t>
            </a:r>
            <a:r>
              <a:rPr sz="1800" i="0" b="0">
                <a:solidFill>
                  <a:srgbClr val="1E293B"/>
                </a:solidFill>
                <a:latin typeface="Helvetica Neue"/>
              </a:rPr>
              <a:t> a saving seen only after the run.</a:t>
            </a:r>
          </a:p>
        </p:txBody>
      </p:sp>
      <p:sp>
        <p:nvSpPr>
          <p:cNvPr id="19" name="Rectangle 18"/>
          <p:cNvSpPr/>
          <p:nvPr/>
        </p:nvSpPr>
        <p:spPr>
          <a:xfrm>
            <a:off x="7580193" y="3086100"/>
            <a:ext cx="96012" cy="9601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00233" y="2999232"/>
            <a:ext cx="3788542" cy="694943"/>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Run on 3 million synthetic trips with DuckDB.</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A groupBy pays for the shuffle, so aggregate first</a:t>
            </a:r>
          </a:p>
        </p:txBody>
      </p:sp>
      <p:sp>
        <p:nvSpPr>
          <p:cNvPr id="5" name="Rectangle 4"/>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1 · Layout decides the bill</a:t>
            </a:r>
          </a:p>
        </p:txBody>
      </p:sp>
      <p:sp>
        <p:nvSpPr>
          <p:cNvPr id="7" name="TextBox 6"/>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notes/01-warehouse-and-store.md</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6</a:t>
            </a:r>
          </a:p>
        </p:txBody>
      </p:sp>
      <p:sp>
        <p:nvSpPr>
          <p:cNvPr id="9" name="Rectangle 8"/>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5715000"/>
            <a:ext cx="73152" cy="5029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500" i="0" b="1">
                <a:solidFill>
                  <a:srgbClr val="1E3A5F"/>
                </a:solidFill>
                <a:latin typeface="Helvetica Neue"/>
              </a:rPr>
              <a:t>Partial aggregation shrinks what crosses the network from every row to one result per key per executor.</a:t>
            </a:r>
          </a:p>
        </p:txBody>
      </p:sp>
      <p:sp>
        <p:nvSpPr>
          <p:cNvPr id="12" name="Rounded Rectangle 11"/>
          <p:cNvSpPr/>
          <p:nvPr/>
        </p:nvSpPr>
        <p:spPr>
          <a:xfrm>
            <a:off x="586587" y="1563624"/>
            <a:ext cx="2377440" cy="987552"/>
          </a:xfrm>
          <a:prstGeom prst="roundRect">
            <a:avLst>
              <a:gd name="adj" fmla="val 12000"/>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23747" y="1563624"/>
            <a:ext cx="2103120" cy="987552"/>
          </a:xfrm>
          <a:prstGeom prst="rect">
            <a:avLst/>
          </a:prstGeom>
          <a:noFill/>
        </p:spPr>
        <p:txBody>
          <a:bodyPr wrap="square" lIns="0" rIns="0" tIns="0" bIns="0" anchor="ctr">
            <a:noAutofit/>
          </a:bodyPr>
          <a:lstStyle/>
          <a:p>
            <a:pPr algn="ctr">
              <a:lnSpc>
                <a:spcPct val="110000"/>
              </a:lnSpc>
            </a:pPr>
            <a:r>
              <a:rPr sz="1700" i="0" b="1">
                <a:solidFill>
                  <a:srgbClr val="FFFFFF"/>
                </a:solidFill>
                <a:latin typeface="Helvetica Neue"/>
              </a:rPr>
              <a:t>Partial sum</a:t>
            </a:r>
          </a:p>
          <a:p>
            <a:pPr algn="ctr">
              <a:lnSpc>
                <a:spcPct val="110000"/>
              </a:lnSpc>
            </a:pPr>
            <a:r>
              <a:rPr sz="1300" i="0" b="0">
                <a:solidFill>
                  <a:srgbClr val="E8F4F8"/>
                </a:solidFill>
                <a:latin typeface="Helvetica Neue"/>
              </a:rPr>
              <a:t>per executor</a:t>
            </a:r>
          </a:p>
        </p:txBody>
      </p:sp>
      <p:cxnSp>
        <p:nvCxnSpPr>
          <p:cNvPr id="14" name="Connector 13"/>
          <p:cNvCxnSpPr/>
          <p:nvPr/>
        </p:nvCxnSpPr>
        <p:spPr>
          <a:xfrm>
            <a:off x="3018891" y="2057400"/>
            <a:ext cx="393192" cy="0"/>
          </a:xfrm>
          <a:prstGeom prst="line">
            <a:avLst/>
          </a:prstGeom>
          <a:ln w="25400">
            <a:solidFill>
              <a:srgbClr val="4755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3466947" y="1563624"/>
            <a:ext cx="2377440" cy="987552"/>
          </a:xfrm>
          <a:prstGeom prst="roundRect">
            <a:avLst>
              <a:gd name="adj" fmla="val 12000"/>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04107" y="1563624"/>
            <a:ext cx="2103120" cy="987552"/>
          </a:xfrm>
          <a:prstGeom prst="rect">
            <a:avLst/>
          </a:prstGeom>
          <a:noFill/>
        </p:spPr>
        <p:txBody>
          <a:bodyPr wrap="square" lIns="0" rIns="0" tIns="0" bIns="0" anchor="ctr">
            <a:noAutofit/>
          </a:bodyPr>
          <a:lstStyle/>
          <a:p>
            <a:pPr algn="ctr">
              <a:lnSpc>
                <a:spcPct val="110000"/>
              </a:lnSpc>
            </a:pPr>
            <a:r>
              <a:rPr sz="1700" i="0" b="1">
                <a:solidFill>
                  <a:srgbClr val="FFFFFF"/>
                </a:solidFill>
                <a:latin typeface="Helvetica Neue"/>
              </a:rPr>
              <a:t>Shuffle</a:t>
            </a:r>
          </a:p>
          <a:p>
            <a:pPr algn="ctr">
              <a:lnSpc>
                <a:spcPct val="110000"/>
              </a:lnSpc>
            </a:pPr>
            <a:r>
              <a:rPr sz="1300" i="0" b="0">
                <a:solidFill>
                  <a:srgbClr val="E8F4F8"/>
                </a:solidFill>
                <a:latin typeface="Helvetica Neue"/>
              </a:rPr>
              <a:t>partial results by key</a:t>
            </a:r>
          </a:p>
        </p:txBody>
      </p:sp>
      <p:cxnSp>
        <p:nvCxnSpPr>
          <p:cNvPr id="17" name="Connector 16"/>
          <p:cNvCxnSpPr/>
          <p:nvPr/>
        </p:nvCxnSpPr>
        <p:spPr>
          <a:xfrm>
            <a:off x="5899251" y="2057400"/>
            <a:ext cx="393192" cy="0"/>
          </a:xfrm>
          <a:prstGeom prst="line">
            <a:avLst/>
          </a:prstGeom>
          <a:ln w="25400">
            <a:solidFill>
              <a:srgbClr val="4755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347307" y="1563624"/>
            <a:ext cx="2377440" cy="987552"/>
          </a:xfrm>
          <a:prstGeom prst="roundRect">
            <a:avLst>
              <a:gd name="adj" fmla="val 12000"/>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84467" y="1563624"/>
            <a:ext cx="2103120" cy="987552"/>
          </a:xfrm>
          <a:prstGeom prst="rect">
            <a:avLst/>
          </a:prstGeom>
          <a:noFill/>
        </p:spPr>
        <p:txBody>
          <a:bodyPr wrap="square" lIns="0" rIns="0" tIns="0" bIns="0" anchor="ctr">
            <a:noAutofit/>
          </a:bodyPr>
          <a:lstStyle/>
          <a:p>
            <a:pPr algn="ctr">
              <a:lnSpc>
                <a:spcPct val="110000"/>
              </a:lnSpc>
            </a:pPr>
            <a:r>
              <a:rPr sz="1700" i="0" b="1">
                <a:solidFill>
                  <a:srgbClr val="FFFFFF"/>
                </a:solidFill>
                <a:latin typeface="Helvetica Neue"/>
              </a:rPr>
              <a:t>Final sum</a:t>
            </a:r>
          </a:p>
          <a:p>
            <a:pPr algn="ctr">
              <a:lnSpc>
                <a:spcPct val="110000"/>
              </a:lnSpc>
            </a:pPr>
            <a:r>
              <a:rPr sz="1300" i="0" b="0">
                <a:solidFill>
                  <a:srgbClr val="E8F4F8"/>
                </a:solidFill>
                <a:latin typeface="Helvetica Neue"/>
              </a:rPr>
              <a:t>per key</a:t>
            </a:r>
          </a:p>
        </p:txBody>
      </p:sp>
      <p:cxnSp>
        <p:nvCxnSpPr>
          <p:cNvPr id="20" name="Connector 19"/>
          <p:cNvCxnSpPr/>
          <p:nvPr/>
        </p:nvCxnSpPr>
        <p:spPr>
          <a:xfrm>
            <a:off x="8779611" y="2057400"/>
            <a:ext cx="393192" cy="0"/>
          </a:xfrm>
          <a:prstGeom prst="line">
            <a:avLst/>
          </a:prstGeom>
          <a:ln w="25400">
            <a:solidFill>
              <a:srgbClr val="4755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9227667" y="1563624"/>
            <a:ext cx="2377440" cy="987552"/>
          </a:xfrm>
          <a:prstGeom prst="roundRect">
            <a:avLst>
              <a:gd name="adj" fmla="val 12000"/>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364827" y="1563624"/>
            <a:ext cx="2103120" cy="987552"/>
          </a:xfrm>
          <a:prstGeom prst="rect">
            <a:avLst/>
          </a:prstGeom>
          <a:noFill/>
        </p:spPr>
        <p:txBody>
          <a:bodyPr wrap="square" lIns="0" rIns="0" tIns="0" bIns="0" anchor="ctr">
            <a:noAutofit/>
          </a:bodyPr>
          <a:lstStyle/>
          <a:p>
            <a:pPr algn="ctr">
              <a:lnSpc>
                <a:spcPct val="110000"/>
              </a:lnSpc>
            </a:pPr>
            <a:r>
              <a:rPr sz="1700" i="0" b="1">
                <a:solidFill>
                  <a:srgbClr val="FFFFFF"/>
                </a:solidFill>
                <a:latin typeface="Helvetica Neue"/>
              </a:rPr>
              <a:t>Write</a:t>
            </a:r>
          </a:p>
          <a:p>
            <a:pPr algn="ctr">
              <a:lnSpc>
                <a:spcPct val="110000"/>
              </a:lnSpc>
            </a:pPr>
            <a:r>
              <a:rPr sz="1300" i="0" b="0">
                <a:solidFill>
                  <a:srgbClr val="E8F4F8"/>
                </a:solidFill>
                <a:latin typeface="Helvetica Neue"/>
              </a:rPr>
              <a:t>Parquet out</a:t>
            </a:r>
          </a:p>
        </p:txBody>
      </p:sp>
      <p:sp>
        <p:nvSpPr>
          <p:cNvPr id="23" name="TextBox 22"/>
          <p:cNvSpPr txBox="1"/>
          <p:nvPr/>
        </p:nvSpPr>
        <p:spPr>
          <a:xfrm>
            <a:off x="502920" y="2871216"/>
            <a:ext cx="11185855" cy="2615184"/>
          </a:xfrm>
          <a:prstGeom prst="rect">
            <a:avLst/>
          </a:prstGeom>
          <a:noFill/>
        </p:spPr>
        <p:txBody>
          <a:bodyPr wrap="square" lIns="0" rIns="0" tIns="0" bIns="0" anchor="t">
            <a:noAutofit/>
          </a:bodyPr>
          <a:lstStyle/>
          <a:p>
            <a:pPr algn="ctr">
              <a:lnSpc>
                <a:spcPct val="110000"/>
              </a:lnSpc>
            </a:pPr>
            <a:r>
              <a:rPr sz="1700" i="0" b="0">
                <a:solidFill>
                  <a:srgbClr val="475569"/>
                </a:solidFill>
                <a:latin typeface="Helvetica Neue"/>
              </a:rPr>
              <a:t>Counting rows for 1M trips on 4 executors: 749,066 rows without partial aggregation, 795 partial sums with it.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E3A5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463040"/>
            <a:ext cx="5486400" cy="457200"/>
          </a:xfrm>
          <a:prstGeom prst="rect">
            <a:avLst/>
          </a:prstGeom>
          <a:noFill/>
        </p:spPr>
        <p:txBody>
          <a:bodyPr wrap="square" lIns="0" rIns="0" tIns="0" bIns="0" anchor="t">
            <a:noAutofit/>
          </a:bodyPr>
          <a:lstStyle/>
          <a:p>
            <a:pPr algn="l">
              <a:lnSpc>
                <a:spcPct val="110000"/>
              </a:lnSpc>
            </a:pPr>
            <a:r>
              <a:rPr sz="1800" i="0" b="1">
                <a:solidFill>
                  <a:srgbClr val="D4621A"/>
                </a:solidFill>
                <a:latin typeface="Helvetica Neue"/>
              </a:rPr>
              <a:t>PART 2</a:t>
            </a:r>
          </a:p>
        </p:txBody>
      </p:sp>
      <p:sp>
        <p:nvSpPr>
          <p:cNvPr id="4" name="TextBox 3"/>
          <p:cNvSpPr txBox="1"/>
          <p:nvPr/>
        </p:nvSpPr>
        <p:spPr>
          <a:xfrm>
            <a:off x="822960" y="1965960"/>
            <a:ext cx="5486400" cy="1859280"/>
          </a:xfrm>
          <a:prstGeom prst="rect">
            <a:avLst/>
          </a:prstGeom>
          <a:noFill/>
        </p:spPr>
        <p:txBody>
          <a:bodyPr wrap="square" lIns="0" rIns="0" tIns="0" bIns="0" anchor="t">
            <a:noAutofit/>
          </a:bodyPr>
          <a:lstStyle/>
          <a:p>
            <a:pPr algn="l">
              <a:lnSpc>
                <a:spcPct val="95000"/>
              </a:lnSpc>
            </a:pPr>
            <a:r>
              <a:rPr sz="5000" i="0" b="1">
                <a:solidFill>
                  <a:srgbClr val="FFFFFF"/>
                </a:solidFill>
                <a:latin typeface="Helvetica Neue"/>
              </a:rPr>
              <a:t>A log makes a table</a:t>
            </a:r>
          </a:p>
        </p:txBody>
      </p:sp>
      <p:sp>
        <p:nvSpPr>
          <p:cNvPr id="5" name="TextBox 4"/>
          <p:cNvSpPr txBox="1"/>
          <p:nvPr/>
        </p:nvSpPr>
        <p:spPr>
          <a:xfrm>
            <a:off x="822960" y="3916680"/>
            <a:ext cx="5303520" cy="1371600"/>
          </a:xfrm>
          <a:prstGeom prst="rect">
            <a:avLst/>
          </a:prstGeom>
          <a:noFill/>
        </p:spPr>
        <p:txBody>
          <a:bodyPr wrap="square" lIns="0" rIns="0" tIns="0" bIns="0" anchor="t">
            <a:noAutofit/>
          </a:bodyPr>
          <a:lstStyle/>
          <a:p>
            <a:pPr algn="l">
              <a:lnSpc>
                <a:spcPct val="110000"/>
              </a:lnSpc>
            </a:pPr>
            <a:r>
              <a:rPr sz="2000" i="0" b="0">
                <a:solidFill>
                  <a:srgbClr val="0EA5C9"/>
                </a:solidFill>
                <a:latin typeface="Helvetica Neue"/>
              </a:rPr>
              <a:t>The crash · Sixty lines · Delta · Iceberg · Hudi</a:t>
            </a:r>
          </a:p>
        </p:txBody>
      </p:sp>
      <p:cxnSp>
        <p:nvCxnSpPr>
          <p:cNvPr id="6" name="Connector 5"/>
          <p:cNvCxnSpPr/>
          <p:nvPr/>
        </p:nvCxnSpPr>
        <p:spPr>
          <a:xfrm>
            <a:off x="6446520" y="1831340"/>
            <a:ext cx="0" cy="3195320"/>
          </a:xfrm>
          <a:prstGeom prst="line">
            <a:avLst/>
          </a:prstGeom>
          <a:ln w="19050">
            <a:solidFill>
              <a:srgbClr val="3B5A80"/>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766560" y="1831340"/>
            <a:ext cx="4693615" cy="3378200"/>
          </a:xfrm>
          <a:prstGeom prst="rect">
            <a:avLst/>
          </a:prstGeom>
          <a:noFill/>
        </p:spPr>
        <p:txBody>
          <a:bodyPr wrap="square" lIns="0" rIns="0" tIns="0" bIns="0" anchor="t">
            <a:noAutofit/>
          </a:bodyPr>
          <a:lstStyle/>
          <a:p>
            <a:pPr algn="l">
              <a:lnSpc>
                <a:spcPct val="100000"/>
              </a:lnSpc>
            </a:pPr>
            <a:r>
              <a:rPr sz="1700" i="0" b="0">
                <a:solidFill>
                  <a:srgbClr val="CBD5E1"/>
                </a:solidFill>
                <a:latin typeface="Helvetica Neue"/>
              </a:rPr>
              <a:t>Nothing in a bucket says which files belong together</a:t>
            </a:r>
          </a:p>
          <a:p>
            <a:pPr algn="l">
              <a:lnSpc>
                <a:spcPct val="100000"/>
              </a:lnSpc>
              <a:spcBef>
                <a:spcPts val="1189"/>
              </a:spcBef>
            </a:pPr>
            <a:r>
              <a:rPr sz="1700" i="0" b="0">
                <a:solidFill>
                  <a:srgbClr val="CBD5E1"/>
                </a:solidFill>
                <a:latin typeface="Helvetica Neue"/>
              </a:rPr>
              <a:t>Write files first, then claim the next version</a:t>
            </a:r>
          </a:p>
          <a:p>
            <a:pPr algn="l">
              <a:lnSpc>
                <a:spcPct val="100000"/>
              </a:lnSpc>
              <a:spcBef>
                <a:spcPts val="1189"/>
              </a:spcBef>
            </a:pPr>
            <a:r>
              <a:rPr sz="1700" i="0" b="0">
                <a:solidFill>
                  <a:srgbClr val="CBD5E1"/>
                </a:solidFill>
                <a:latin typeface="Helvetica Neue"/>
              </a:rPr>
              <a:t>Delta's log on disk after a delete and a merge</a:t>
            </a:r>
          </a:p>
          <a:p>
            <a:pPr algn="l">
              <a:lnSpc>
                <a:spcPct val="100000"/>
              </a:lnSpc>
              <a:spcBef>
                <a:spcPts val="1189"/>
              </a:spcBef>
            </a:pPr>
            <a:r>
              <a:rPr sz="1700" i="0" b="0">
                <a:solidFill>
                  <a:srgbClr val="CBD5E1"/>
                </a:solidFill>
                <a:latin typeface="Helvetica Neue"/>
              </a:rPr>
              <a:t>Three formats, one idea, different structures</a:t>
            </a:r>
          </a:p>
          <a:p>
            <a:pPr algn="l">
              <a:lnSpc>
                <a:spcPct val="100000"/>
              </a:lnSpc>
              <a:spcBef>
                <a:spcPts val="1189"/>
              </a:spcBef>
            </a:pPr>
            <a:r>
              <a:rPr sz="1700" i="0" b="0">
                <a:solidFill>
                  <a:srgbClr val="CBD5E1"/>
                </a:solidFill>
                <a:latin typeface="Helvetica Neue"/>
              </a:rPr>
              <a:t>Copy-on-write pays at write, merge-on-read pays at read</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64748B"/>
                </a:solidFill>
                <a:latin typeface="Helvetica Neue"/>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100" i="0" b="1">
                <a:solidFill>
                  <a:srgbClr val="FFFFFF"/>
                </a:solidFill>
                <a:latin typeface="Helvetica Neue"/>
              </a:rPr>
              <a:t>Nothing in a bucket says which files belong together</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D4621A"/>
                </a:solidFill>
                <a:latin typeface="Helvetica Neue"/>
              </a:rPr>
              <a:t>The problem</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2 · A log makes a table</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notes/02-table-formats.md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8</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600" i="0" b="1">
                <a:solidFill>
                  <a:srgbClr val="1E3A5F"/>
                </a:solidFill>
                <a:latin typeface="Helvetica Neue"/>
              </a:rPr>
              <a:t>A directory of files has no commit, so readers see partial writes as truth.</a:t>
            </a:r>
          </a:p>
        </p:txBody>
      </p:sp>
      <p:sp>
        <p:nvSpPr>
          <p:cNvPr id="13" name="Rectangle 12"/>
          <p:cNvSpPr/>
          <p:nvPr/>
        </p:nvSpPr>
        <p:spPr>
          <a:xfrm>
            <a:off x="777240" y="1997964"/>
            <a:ext cx="109728" cy="2962656"/>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234440" y="1997964"/>
            <a:ext cx="10088575" cy="2596896"/>
          </a:xfrm>
          <a:prstGeom prst="rect">
            <a:avLst/>
          </a:prstGeom>
          <a:noFill/>
        </p:spPr>
        <p:txBody>
          <a:bodyPr wrap="square" lIns="0" rIns="0" tIns="0" bIns="0" anchor="t">
            <a:noAutofit/>
          </a:bodyPr>
          <a:lstStyle/>
          <a:p>
            <a:pPr algn="l">
              <a:lnSpc>
                <a:spcPct val="105000"/>
              </a:lnSpc>
            </a:pPr>
            <a:r>
              <a:rPr sz="3600" i="0" b="1">
                <a:solidFill>
                  <a:srgbClr val="1E3A5F"/>
                </a:solidFill>
                <a:latin typeface="Helvetica Neue"/>
              </a:rPr>
              <a:t>A job dies halfway through rewriting June. Dashboards keep reading the directory and report a wrong number with no error.</a:t>
            </a:r>
          </a:p>
        </p:txBody>
      </p:sp>
      <p:sp>
        <p:nvSpPr>
          <p:cNvPr id="15" name="TextBox 14"/>
          <p:cNvSpPr txBox="1"/>
          <p:nvPr/>
        </p:nvSpPr>
        <p:spPr>
          <a:xfrm>
            <a:off x="1234440" y="4549140"/>
            <a:ext cx="10088575" cy="365760"/>
          </a:xfrm>
          <a:prstGeom prst="rect">
            <a:avLst/>
          </a:prstGeom>
          <a:noFill/>
        </p:spPr>
        <p:txBody>
          <a:bodyPr wrap="square" lIns="0" rIns="0" tIns="0" bIns="0" anchor="t">
            <a:noAutofit/>
          </a:bodyPr>
          <a:lstStyle/>
          <a:p>
            <a:pPr algn="l">
              <a:lnSpc>
                <a:spcPct val="110000"/>
              </a:lnSpc>
            </a:pPr>
            <a:r>
              <a:rPr sz="1700" i="1" b="0">
                <a:solidFill>
                  <a:srgbClr val="475569"/>
                </a:solidFill>
                <a:latin typeface="Helvetica Neue"/>
              </a:rPr>
              <a:t>Object stores have no cross-key transactions and no cheap rename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Write files first, then claim the next version</a:t>
            </a:r>
          </a:p>
        </p:txBody>
      </p:sp>
      <p:sp>
        <p:nvSpPr>
          <p:cNvPr id="5" name="Rectangle 4"/>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2 · A log makes a table</a:t>
            </a:r>
          </a:p>
        </p:txBody>
      </p:sp>
      <p:sp>
        <p:nvSpPr>
          <p:cNvPr id="7" name="TextBox 6"/>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notes/02-table-formats.md</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9</a:t>
            </a:r>
          </a:p>
        </p:txBody>
      </p:sp>
      <p:sp>
        <p:nvSpPr>
          <p:cNvPr id="9" name="Rectangle 8"/>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5715000"/>
            <a:ext cx="73152" cy="5029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600" i="0" b="1">
                <a:solidFill>
                  <a:srgbClr val="1E3A5F"/>
                </a:solidFill>
                <a:latin typeface="Helvetica Neue"/>
              </a:rPr>
              <a:t>One atomic create is the whole commit, so anything not named in the log does not exist.</a:t>
            </a:r>
          </a:p>
        </p:txBody>
      </p:sp>
      <p:sp>
        <p:nvSpPr>
          <p:cNvPr id="12" name="Rounded Rectangle 11"/>
          <p:cNvSpPr/>
          <p:nvPr/>
        </p:nvSpPr>
        <p:spPr>
          <a:xfrm>
            <a:off x="586587" y="1563624"/>
            <a:ext cx="2377440" cy="1272540"/>
          </a:xfrm>
          <a:prstGeom prst="roundRect">
            <a:avLst>
              <a:gd name="adj" fmla="val 12000"/>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23747" y="1563624"/>
            <a:ext cx="2103120" cy="1272540"/>
          </a:xfrm>
          <a:prstGeom prst="rect">
            <a:avLst/>
          </a:prstGeom>
          <a:noFill/>
        </p:spPr>
        <p:txBody>
          <a:bodyPr wrap="square" lIns="0" rIns="0" tIns="0" bIns="0" anchor="ctr">
            <a:noAutofit/>
          </a:bodyPr>
          <a:lstStyle/>
          <a:p>
            <a:pPr algn="ctr">
              <a:lnSpc>
                <a:spcPct val="110000"/>
              </a:lnSpc>
            </a:pPr>
            <a:r>
              <a:rPr sz="1700" i="0" b="1">
                <a:solidFill>
                  <a:srgbClr val="FFFFFF"/>
                </a:solidFill>
                <a:latin typeface="Helvetica Neue"/>
              </a:rPr>
              <a:t>Read log</a:t>
            </a:r>
          </a:p>
          <a:p>
            <a:pPr algn="ctr">
              <a:lnSpc>
                <a:spcPct val="110000"/>
              </a:lnSpc>
            </a:pPr>
            <a:r>
              <a:rPr sz="1300" i="0" b="0">
                <a:solidFill>
                  <a:srgbClr val="E8F4F8"/>
                </a:solidFill>
                <a:latin typeface="Helvetica Neue"/>
              </a:rPr>
              <a:t>current version</a:t>
            </a:r>
          </a:p>
        </p:txBody>
      </p:sp>
      <p:cxnSp>
        <p:nvCxnSpPr>
          <p:cNvPr id="14" name="Connector 13"/>
          <p:cNvCxnSpPr/>
          <p:nvPr/>
        </p:nvCxnSpPr>
        <p:spPr>
          <a:xfrm>
            <a:off x="3018891" y="2199894"/>
            <a:ext cx="393192" cy="0"/>
          </a:xfrm>
          <a:prstGeom prst="line">
            <a:avLst/>
          </a:prstGeom>
          <a:ln w="25400">
            <a:solidFill>
              <a:srgbClr val="4755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3466947" y="1563624"/>
            <a:ext cx="2377440" cy="1272540"/>
          </a:xfrm>
          <a:prstGeom prst="roundRect">
            <a:avLst>
              <a:gd name="adj" fmla="val 12000"/>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04107" y="1563624"/>
            <a:ext cx="2103120" cy="1272540"/>
          </a:xfrm>
          <a:prstGeom prst="rect">
            <a:avLst/>
          </a:prstGeom>
          <a:noFill/>
        </p:spPr>
        <p:txBody>
          <a:bodyPr wrap="square" lIns="0" rIns="0" tIns="0" bIns="0" anchor="ctr">
            <a:noAutofit/>
          </a:bodyPr>
          <a:lstStyle/>
          <a:p>
            <a:pPr algn="ctr">
              <a:lnSpc>
                <a:spcPct val="110000"/>
              </a:lnSpc>
            </a:pPr>
            <a:r>
              <a:rPr sz="1700" i="0" b="1">
                <a:solidFill>
                  <a:srgbClr val="FFFFFF"/>
                </a:solidFill>
                <a:latin typeface="Helvetica Neue"/>
              </a:rPr>
              <a:t>Write Parquet</a:t>
            </a:r>
          </a:p>
          <a:p>
            <a:pPr algn="ctr">
              <a:lnSpc>
                <a:spcPct val="110000"/>
              </a:lnSpc>
            </a:pPr>
            <a:r>
              <a:rPr sz="1300" i="0" b="0">
                <a:solidFill>
                  <a:srgbClr val="E8F4F8"/>
                </a:solidFill>
                <a:latin typeface="Helvetica Neue"/>
              </a:rPr>
              <a:t>invisible so far</a:t>
            </a:r>
          </a:p>
        </p:txBody>
      </p:sp>
      <p:cxnSp>
        <p:nvCxnSpPr>
          <p:cNvPr id="17" name="Connector 16"/>
          <p:cNvCxnSpPr/>
          <p:nvPr/>
        </p:nvCxnSpPr>
        <p:spPr>
          <a:xfrm>
            <a:off x="5899251" y="2199894"/>
            <a:ext cx="393192" cy="0"/>
          </a:xfrm>
          <a:prstGeom prst="line">
            <a:avLst/>
          </a:prstGeom>
          <a:ln w="25400">
            <a:solidFill>
              <a:srgbClr val="4755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347307" y="1563624"/>
            <a:ext cx="2377440" cy="1272540"/>
          </a:xfrm>
          <a:prstGeom prst="roundRect">
            <a:avLst>
              <a:gd name="adj" fmla="val 12000"/>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84467" y="1563624"/>
            <a:ext cx="2103120" cy="1272540"/>
          </a:xfrm>
          <a:prstGeom prst="rect">
            <a:avLst/>
          </a:prstGeom>
          <a:noFill/>
        </p:spPr>
        <p:txBody>
          <a:bodyPr wrap="square" lIns="0" rIns="0" tIns="0" bIns="0" anchor="ctr">
            <a:noAutofit/>
          </a:bodyPr>
          <a:lstStyle/>
          <a:p>
            <a:pPr algn="ctr">
              <a:lnSpc>
                <a:spcPct val="110000"/>
              </a:lnSpc>
            </a:pPr>
            <a:r>
              <a:rPr sz="1700" i="0" b="1">
                <a:solidFill>
                  <a:srgbClr val="FFFFFF"/>
                </a:solidFill>
                <a:latin typeface="Helvetica Neue"/>
              </a:rPr>
              <a:t>Create next record</a:t>
            </a:r>
          </a:p>
          <a:p>
            <a:pPr algn="ctr">
              <a:lnSpc>
                <a:spcPct val="110000"/>
              </a:lnSpc>
            </a:pPr>
            <a:r>
              <a:rPr sz="1300" i="0" b="0">
                <a:solidFill>
                  <a:srgbClr val="E8F4F8"/>
                </a:solidFill>
                <a:latin typeface="Helvetica Neue"/>
              </a:rPr>
              <a:t>fails if it exists</a:t>
            </a:r>
          </a:p>
        </p:txBody>
      </p:sp>
      <p:cxnSp>
        <p:nvCxnSpPr>
          <p:cNvPr id="20" name="Connector 19"/>
          <p:cNvCxnSpPr/>
          <p:nvPr/>
        </p:nvCxnSpPr>
        <p:spPr>
          <a:xfrm>
            <a:off x="8779611" y="2199894"/>
            <a:ext cx="393192" cy="0"/>
          </a:xfrm>
          <a:prstGeom prst="line">
            <a:avLst/>
          </a:prstGeom>
          <a:ln w="25400">
            <a:solidFill>
              <a:srgbClr val="4755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9227667" y="1563624"/>
            <a:ext cx="2377440" cy="1272540"/>
          </a:xfrm>
          <a:prstGeom prst="roundRect">
            <a:avLst>
              <a:gd name="adj" fmla="val 12000"/>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364827" y="1563624"/>
            <a:ext cx="2103120" cy="1272540"/>
          </a:xfrm>
          <a:prstGeom prst="rect">
            <a:avLst/>
          </a:prstGeom>
          <a:noFill/>
        </p:spPr>
        <p:txBody>
          <a:bodyPr wrap="square" lIns="0" rIns="0" tIns="0" bIns="0" anchor="ctr">
            <a:noAutofit/>
          </a:bodyPr>
          <a:lstStyle/>
          <a:p>
            <a:pPr algn="ctr">
              <a:lnSpc>
                <a:spcPct val="110000"/>
              </a:lnSpc>
            </a:pPr>
            <a:r>
              <a:rPr sz="1700" i="0" b="1">
                <a:solidFill>
                  <a:srgbClr val="FFFFFF"/>
                </a:solidFill>
                <a:latin typeface="Helvetica Neue"/>
              </a:rPr>
              <a:t>Readers see it</a:t>
            </a:r>
          </a:p>
          <a:p>
            <a:pPr algn="ctr">
              <a:lnSpc>
                <a:spcPct val="110000"/>
              </a:lnSpc>
            </a:pPr>
            <a:r>
              <a:rPr sz="1300" i="0" b="0">
                <a:solidFill>
                  <a:srgbClr val="E8F4F8"/>
                </a:solidFill>
                <a:latin typeface="Helvetica Neue"/>
              </a:rPr>
              <a:t>all or nothing</a:t>
            </a:r>
          </a:p>
        </p:txBody>
      </p:sp>
      <p:sp>
        <p:nvSpPr>
          <p:cNvPr id="23" name="TextBox 22"/>
          <p:cNvSpPr txBox="1"/>
          <p:nvPr/>
        </p:nvSpPr>
        <p:spPr>
          <a:xfrm>
            <a:off x="502920" y="3156204"/>
            <a:ext cx="11185855" cy="2330195"/>
          </a:xfrm>
          <a:prstGeom prst="rect">
            <a:avLst/>
          </a:prstGeom>
          <a:noFill/>
        </p:spPr>
        <p:txBody>
          <a:bodyPr wrap="square" lIns="0" rIns="0" tIns="0" bIns="0" anchor="t">
            <a:noAutofit/>
          </a:bodyPr>
          <a:lstStyle/>
          <a:p>
            <a:pPr algn="ctr">
              <a:lnSpc>
                <a:spcPct val="110000"/>
              </a:lnSpc>
            </a:pPr>
            <a:r>
              <a:rPr sz="1700" i="0" b="0">
                <a:solidFill>
                  <a:srgbClr val="475569"/>
                </a:solidFill>
                <a:latin typeface="Helvetica Neue"/>
              </a:rPr>
              <a:t>A crash before the record leaves an orphan file and no visible change. The race loser re-reads and retries.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Delta's log on disk after a delete and a merge</a:t>
            </a:r>
          </a:p>
        </p:txBody>
      </p:sp>
      <p:sp>
        <p:nvSpPr>
          <p:cNvPr id="5" name="Rectangle 4"/>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2 · A log makes a table</a:t>
            </a:r>
          </a:p>
        </p:txBody>
      </p:sp>
      <p:sp>
        <p:nvSpPr>
          <p:cNvPr id="7" name="TextBox 6"/>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notes/02-table-formats.md</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10</a:t>
            </a:r>
          </a:p>
        </p:txBody>
      </p:sp>
      <p:sp>
        <p:nvSpPr>
          <p:cNvPr id="9" name="Rectangle 8"/>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5715000"/>
            <a:ext cx="73152" cy="5029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600" i="0" b="1">
                <a:solidFill>
                  <a:srgbClr val="1E3A5F"/>
                </a:solidFill>
                <a:latin typeface="Helvetica Neue"/>
              </a:rPr>
              <a:t>Time travel lasts only until vacuum removes the files, so retention is a design decision.</a:t>
            </a:r>
          </a:p>
        </p:txBody>
      </p:sp>
      <p:sp>
        <p:nvSpPr>
          <p:cNvPr id="12" name="Rounded Rectangle 11"/>
          <p:cNvSpPr/>
          <p:nvPr/>
        </p:nvSpPr>
        <p:spPr>
          <a:xfrm>
            <a:off x="502920" y="1472184"/>
            <a:ext cx="6711513" cy="2636520"/>
          </a:xfrm>
          <a:prstGeom prst="roundRect">
            <a:avLst>
              <a:gd name="adj" fmla="val 3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1581912"/>
            <a:ext cx="6254313" cy="274320"/>
          </a:xfrm>
          <a:prstGeom prst="rect">
            <a:avLst/>
          </a:prstGeom>
          <a:noFill/>
        </p:spPr>
        <p:txBody>
          <a:bodyPr wrap="square" lIns="0" rIns="0" tIns="0" bIns="0" anchor="t">
            <a:noAutofit/>
          </a:bodyPr>
          <a:lstStyle/>
          <a:p>
            <a:pPr algn="l">
              <a:lnSpc>
                <a:spcPct val="110000"/>
              </a:lnSpc>
            </a:pPr>
            <a:r>
              <a:rPr sz="1000" i="0" b="1">
                <a:solidFill>
                  <a:srgbClr val="94A3B8"/>
                </a:solidFill>
                <a:latin typeface="Helvetica Neue"/>
              </a:rPr>
              <a:t>TEXT</a:t>
            </a:r>
          </a:p>
        </p:txBody>
      </p:sp>
      <p:sp>
        <p:nvSpPr>
          <p:cNvPr id="14" name="TextBox 13"/>
          <p:cNvSpPr txBox="1"/>
          <p:nvPr/>
        </p:nvSpPr>
        <p:spPr>
          <a:xfrm>
            <a:off x="731520" y="1883664"/>
            <a:ext cx="6254313" cy="1996439"/>
          </a:xfrm>
          <a:prstGeom prst="rect">
            <a:avLst/>
          </a:prstGeom>
          <a:noFill/>
        </p:spPr>
        <p:txBody>
          <a:bodyPr wrap="square" lIns="0" rIns="0" tIns="0" bIns="0" anchor="t">
            <a:noAutofit/>
          </a:bodyPr>
          <a:lstStyle/>
          <a:p>
            <a:pPr algn="l">
              <a:lnSpc>
                <a:spcPct val="100000"/>
              </a:lnSpc>
            </a:pPr>
            <a:r>
              <a:rPr sz="1600" i="0" b="0">
                <a:solidFill>
                  <a:srgbClr val="E2E8F0"/>
                </a:solidFill>
                <a:latin typeface="Menlo"/>
              </a:rPr>
              <a:t>00..00.json  commitInfo, protocol, metaData, add</a:t>
            </a:r>
          </a:p>
          <a:p>
            <a:pPr algn="l">
              <a:lnSpc>
                <a:spcPct val="100000"/>
              </a:lnSpc>
            </a:pPr>
            <a:r>
              <a:rPr sz="1600" i="0" b="0">
                <a:solidFill>
                  <a:srgbClr val="E2E8F0"/>
                </a:solidFill>
                <a:latin typeface="Menlo"/>
              </a:rPr>
              <a:t>00..01.json  commitInfo, add</a:t>
            </a:r>
          </a:p>
          <a:p>
            <a:pPr algn="l">
              <a:lnSpc>
                <a:spcPct val="100000"/>
              </a:lnSpc>
            </a:pPr>
            <a:r>
              <a:rPr sz="1600" i="0" b="0">
                <a:solidFill>
                  <a:srgbClr val="E2E8F0"/>
                </a:solidFill>
                <a:latin typeface="Menlo"/>
              </a:rPr>
              <a:t>00..02.json  commitInfo, add, remove      DELETE</a:t>
            </a:r>
          </a:p>
          <a:p>
            <a:pPr algn="l">
              <a:lnSpc>
                <a:spcPct val="100000"/>
              </a:lnSpc>
            </a:pPr>
            <a:r>
              <a:rPr sz="1600" i="0" b="0">
                <a:solidFill>
                  <a:srgbClr val="E2E8F0"/>
                </a:solidFill>
                <a:latin typeface="Menlo"/>
              </a:rPr>
              <a:t>00..03.json  commitInfo, add, add, remove MERGE</a:t>
            </a:r>
          </a:p>
          <a:p>
            <a:pPr algn="l">
              <a:lnSpc>
                <a:spcPct val="100000"/>
              </a:lnSpc>
            </a:pPr>
          </a:p>
          <a:p>
            <a:pPr algn="l">
              <a:lnSpc>
                <a:spcPct val="100000"/>
              </a:lnSpc>
            </a:pPr>
            <a:r>
              <a:rPr sz="1600" i="0" b="0">
                <a:solidFill>
                  <a:srgbClr val="E2E8F0"/>
                </a:solidFill>
                <a:latin typeface="Menlo"/>
              </a:rPr>
              <a:t>5 Parquet files on disk, 3 live</a:t>
            </a:r>
          </a:p>
          <a:p>
            <a:pPr algn="l">
              <a:lnSpc>
                <a:spcPct val="100000"/>
              </a:lnSpc>
            </a:pPr>
            <a:r>
              <a:rPr sz="1600" i="0" b="0">
                <a:solidFill>
                  <a:srgbClr val="E2E8F0"/>
                </a:solidFill>
                <a:latin typeface="Menlo"/>
              </a:rPr>
              <a:t>vacuum would remove 2</a:t>
            </a:r>
          </a:p>
          <a:p>
            <a:pPr algn="l">
              <a:lnSpc>
                <a:spcPct val="100000"/>
              </a:lnSpc>
            </a:pPr>
            <a:r>
              <a:rPr sz="1600" i="0" b="0">
                <a:solidFill>
                  <a:srgbClr val="E2E8F0"/>
                </a:solidFill>
                <a:latin typeface="Menlo"/>
              </a:rPr>
              <a:t>version 1 after vacuum: FileNotFoundError</a:t>
            </a:r>
          </a:p>
        </p:txBody>
      </p:sp>
      <p:sp>
        <p:nvSpPr>
          <p:cNvPr id="15" name="Rectangle 14"/>
          <p:cNvSpPr/>
          <p:nvPr/>
        </p:nvSpPr>
        <p:spPr>
          <a:xfrm>
            <a:off x="7580193" y="1604772"/>
            <a:ext cx="96012" cy="9601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00233" y="1517904"/>
            <a:ext cx="3788542" cy="694943"/>
          </a:xfrm>
          <a:prstGeom prst="rect">
            <a:avLst/>
          </a:prstGeom>
          <a:noFill/>
        </p:spPr>
        <p:txBody>
          <a:bodyPr wrap="square" lIns="0" rIns="0" tIns="0" bIns="0" anchor="t">
            <a:noAutofit/>
          </a:bodyPr>
          <a:lstStyle/>
          <a:p>
            <a:pPr algn="l">
              <a:lnSpc>
                <a:spcPct val="110000"/>
              </a:lnSpc>
            </a:pPr>
            <a:r>
              <a:rPr sz="1800" i="0" b="1">
                <a:solidFill>
                  <a:srgbClr val="1E293B"/>
                </a:solidFill>
                <a:latin typeface="Helvetica Neue"/>
              </a:rPr>
              <a:t>Add and remove</a:t>
            </a:r>
            <a:r>
              <a:rPr sz="1800" i="0" b="0">
                <a:solidFill>
                  <a:srgbClr val="1E293B"/>
                </a:solidFill>
                <a:latin typeface="Helvetica Neue"/>
              </a:rPr>
              <a:t> swap files in one commit.</a:t>
            </a:r>
          </a:p>
        </p:txBody>
      </p:sp>
      <p:sp>
        <p:nvSpPr>
          <p:cNvPr id="17" name="Rectangle 16"/>
          <p:cNvSpPr/>
          <p:nvPr/>
        </p:nvSpPr>
        <p:spPr>
          <a:xfrm>
            <a:off x="7580193" y="2345436"/>
            <a:ext cx="96012" cy="9601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00233" y="2258568"/>
            <a:ext cx="3788542" cy="694943"/>
          </a:xfrm>
          <a:prstGeom prst="rect">
            <a:avLst/>
          </a:prstGeom>
          <a:noFill/>
        </p:spPr>
        <p:txBody>
          <a:bodyPr wrap="square" lIns="0" rIns="0" tIns="0" bIns="0" anchor="t">
            <a:noAutofit/>
          </a:bodyPr>
          <a:lstStyle/>
          <a:p>
            <a:pPr algn="l">
              <a:lnSpc>
                <a:spcPct val="110000"/>
              </a:lnSpc>
            </a:pPr>
            <a:r>
              <a:rPr sz="1800" i="0" b="1">
                <a:solidFill>
                  <a:srgbClr val="1E293B"/>
                </a:solidFill>
                <a:latin typeface="Helvetica Neue"/>
              </a:rPr>
              <a:t>Stats</a:t>
            </a:r>
            <a:r>
              <a:rPr sz="1800" i="0" b="0">
                <a:solidFill>
                  <a:srgbClr val="1E293B"/>
                </a:solidFill>
                <a:latin typeface="Helvetica Neue"/>
              </a:rPr>
              <a:t> on each add let readers skip files.</a:t>
            </a:r>
          </a:p>
        </p:txBody>
      </p:sp>
      <p:sp>
        <p:nvSpPr>
          <p:cNvPr id="19" name="Rectangle 18"/>
          <p:cNvSpPr/>
          <p:nvPr/>
        </p:nvSpPr>
        <p:spPr>
          <a:xfrm>
            <a:off x="7580193" y="3086100"/>
            <a:ext cx="96012" cy="9601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00233" y="2999232"/>
            <a:ext cx="3788542" cy="694943"/>
          </a:xfrm>
          <a:prstGeom prst="rect">
            <a:avLst/>
          </a:prstGeom>
          <a:noFill/>
        </p:spPr>
        <p:txBody>
          <a:bodyPr wrap="square" lIns="0" rIns="0" tIns="0" bIns="0" anchor="t">
            <a:noAutofit/>
          </a:bodyPr>
          <a:lstStyle/>
          <a:p>
            <a:pPr algn="l">
              <a:lnSpc>
                <a:spcPct val="110000"/>
              </a:lnSpc>
            </a:pPr>
            <a:r>
              <a:rPr sz="1800" i="0" b="1">
                <a:solidFill>
                  <a:srgbClr val="1E293B"/>
                </a:solidFill>
                <a:latin typeface="Helvetica Neue"/>
              </a:rPr>
              <a:t>Vacuum</a:t>
            </a:r>
            <a:r>
              <a:rPr sz="1800" i="0" b="0">
                <a:solidFill>
                  <a:srgbClr val="1E293B"/>
                </a:solidFill>
                <a:latin typeface="Helvetica Neue"/>
              </a:rPr>
              <a:t> sets how far time travel reaches.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Three formats, one idea, different structures</a:t>
            </a:r>
          </a:p>
        </p:txBody>
      </p:sp>
      <p:sp>
        <p:nvSpPr>
          <p:cNvPr id="5" name="Rectangle 4"/>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2 · A log makes a table</a:t>
            </a:r>
          </a:p>
        </p:txBody>
      </p:sp>
      <p:sp>
        <p:nvSpPr>
          <p:cNvPr id="7" name="TextBox 6"/>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notes/02-table-formats.md</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11</a:t>
            </a:r>
          </a:p>
        </p:txBody>
      </p:sp>
      <p:sp>
        <p:nvSpPr>
          <p:cNvPr id="9" name="Rectangle 8"/>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5715000"/>
            <a:ext cx="73152" cy="5029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500" i="0" b="1">
                <a:solidFill>
                  <a:srgbClr val="1E3A5F"/>
                </a:solidFill>
                <a:latin typeface="Helvetica Neue"/>
              </a:rPr>
              <a:t>All three name live files in atomic metadata, so choose by engines and catalog, then check current docs.</a:t>
            </a:r>
          </a:p>
        </p:txBody>
      </p:sp>
      <p:graphicFrame>
        <p:nvGraphicFramePr>
          <p:cNvPr id="12" name="Table 11"/>
          <p:cNvGraphicFramePr>
            <a:graphicFrameLocks noGrp="1"/>
          </p:cNvGraphicFramePr>
          <p:nvPr/>
        </p:nvGraphicFramePr>
        <p:xfrm>
          <a:off x="502920" y="1472184"/>
          <a:ext cx="11185852" cy="2398776"/>
        </p:xfrm>
        <a:graphic>
          <a:graphicData uri="http://schemas.openxmlformats.org/drawingml/2006/table">
            <a:tbl>
              <a:tblPr firstRow="1" bandRow="1">
                <a:tableStyleId>{5940675A-B579-460E-94D1-54222C63F5DA}</a:tableStyleId>
              </a:tblPr>
              <a:tblGrid>
                <a:gridCol w="2033791"/>
                <a:gridCol w="3050687"/>
                <a:gridCol w="3050687"/>
                <a:gridCol w="3050687"/>
              </a:tblGrid>
              <a:tr h="405384">
                <a:tc>
                  <a:txBody>
                    <a:bodyPr wrap="square"/>
                    <a:lstStyle/>
                    <a:p>
                      <a:pPr>
                        <a:lnSpc>
                          <a:spcPct val="100000"/>
                        </a:lnSpc>
                      </a:pPr>
                    </a:p>
                  </a:txBody>
                  <a:tcPr marL="109728" marR="109728" marT="54864" marB="54864" anchor="ctr">
                    <a:solidFill>
                      <a:srgbClr val="1E3A5F"/>
                    </a:solidFill>
                  </a:tcPr>
                </a:tc>
                <a:tc>
                  <a:txBody>
                    <a:bodyPr wrap="square"/>
                    <a:lstStyle/>
                    <a:p>
                      <a:pPr>
                        <a:lnSpc>
                          <a:spcPct val="100000"/>
                        </a:lnSpc>
                      </a:pPr>
                      <a:r>
                        <a:rPr sz="1700" i="0" b="1">
                          <a:solidFill>
                            <a:srgbClr val="FFFFFF"/>
                          </a:solidFill>
                          <a:latin typeface="Helvetica Neue"/>
                        </a:rPr>
                        <a:t>Delta Lake</a:t>
                      </a:r>
                    </a:p>
                  </a:txBody>
                  <a:tcPr marL="109728" marR="109728" marT="54864" marB="54864" anchor="ctr">
                    <a:solidFill>
                      <a:srgbClr val="1E3A5F"/>
                    </a:solidFill>
                  </a:tcPr>
                </a:tc>
                <a:tc>
                  <a:txBody>
                    <a:bodyPr wrap="square"/>
                    <a:lstStyle/>
                    <a:p>
                      <a:pPr>
                        <a:lnSpc>
                          <a:spcPct val="100000"/>
                        </a:lnSpc>
                      </a:pPr>
                      <a:r>
                        <a:rPr sz="1700" i="0" b="1">
                          <a:solidFill>
                            <a:srgbClr val="FFFFFF"/>
                          </a:solidFill>
                          <a:latin typeface="Helvetica Neue"/>
                        </a:rPr>
                        <a:t>Iceberg</a:t>
                      </a:r>
                    </a:p>
                  </a:txBody>
                  <a:tcPr marL="109728" marR="109728" marT="54864" marB="54864" anchor="ctr">
                    <a:solidFill>
                      <a:srgbClr val="1E3A5F"/>
                    </a:solidFill>
                  </a:tcPr>
                </a:tc>
                <a:tc>
                  <a:txBody>
                    <a:bodyPr wrap="square"/>
                    <a:lstStyle/>
                    <a:p>
                      <a:pPr>
                        <a:lnSpc>
                          <a:spcPct val="100000"/>
                        </a:lnSpc>
                      </a:pPr>
                      <a:r>
                        <a:rPr sz="1700" i="0" b="1">
                          <a:solidFill>
                            <a:srgbClr val="FFFFFF"/>
                          </a:solidFill>
                          <a:latin typeface="Helvetica Neue"/>
                        </a:rPr>
                        <a:t>Hudi</a:t>
                      </a:r>
                    </a:p>
                  </a:txBody>
                  <a:tcPr marL="109728" marR="109728" marT="54864" marB="54864" anchor="ctr">
                    <a:solidFill>
                      <a:srgbClr val="1E3A5F"/>
                    </a:solidFill>
                  </a:tcPr>
                </a:tc>
              </a:tr>
              <a:tr h="664464">
                <a:tc>
                  <a:txBody>
                    <a:bodyPr wrap="square"/>
                    <a:lstStyle/>
                    <a:p>
                      <a:pPr>
                        <a:lnSpc>
                          <a:spcPct val="100000"/>
                        </a:lnSpc>
                      </a:pPr>
                      <a:r>
                        <a:rPr sz="1700" i="0" b="1">
                          <a:solidFill>
                            <a:srgbClr val="1E293B"/>
                          </a:solidFill>
                          <a:latin typeface="Helvetica Neue"/>
                        </a:rPr>
                        <a:t>Metadata</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Ordered JSON log, checkpoints</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Tree of manifests</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Timeline on file groups</a:t>
                      </a:r>
                    </a:p>
                  </a:txBody>
                  <a:tcPr marL="109728" marR="109728" marT="54864" marB="54864" anchor="ctr">
                    <a:solidFill>
                      <a:srgbClr val="FFFFFF"/>
                    </a:solidFill>
                  </a:tcPr>
                </a:tc>
              </a:tr>
              <a:tr h="664464">
                <a:tc>
                  <a:txBody>
                    <a:bodyPr wrap="square"/>
                    <a:lstStyle/>
                    <a:p>
                      <a:pPr>
                        <a:lnSpc>
                          <a:spcPct val="100000"/>
                        </a:lnSpc>
                      </a:pPr>
                      <a:r>
                        <a:rPr sz="1700" i="0" b="1">
                          <a:solidFill>
                            <a:srgbClr val="1E293B"/>
                          </a:solidFill>
                          <a:latin typeface="Helvetica Neue"/>
                        </a:rPr>
                        <a:t>Commit by</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Put-if-absent or coordinator</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Catalog pointer swap</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Timeline, concurrency control</a:t>
                      </a:r>
                    </a:p>
                  </a:txBody>
                  <a:tcPr marL="109728" marR="109728" marT="54864" marB="54864" anchor="ctr">
                    <a:solidFill>
                      <a:srgbClr val="F8FAFC"/>
                    </a:solidFill>
                  </a:tcPr>
                </a:tc>
              </a:tr>
              <a:tr h="664464">
                <a:tc>
                  <a:txBody>
                    <a:bodyPr wrap="square"/>
                    <a:lstStyle/>
                    <a:p>
                      <a:pPr>
                        <a:lnSpc>
                          <a:spcPct val="100000"/>
                        </a:lnSpc>
                      </a:pPr>
                      <a:r>
                        <a:rPr sz="1700" i="0" b="1">
                          <a:solidFill>
                            <a:srgbClr val="1E293B"/>
                          </a:solidFill>
                          <a:latin typeface="Helvetica Neue"/>
                        </a:rPr>
                        <a:t>Signature</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Spark integration</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Hidden partitions, evolution</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Upserts, CoW or MoR</a:t>
                      </a:r>
                    </a:p>
                  </a:txBody>
                  <a:tcPr marL="109728" marR="109728" marT="54864" marB="54864" anchor="ctr">
                    <a:solidFill>
                      <a:srgbClr val="FFFFFF"/>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Copy-on-write pays at write, merge-on-read pays at read</a:t>
            </a:r>
          </a:p>
        </p:txBody>
      </p:sp>
      <p:sp>
        <p:nvSpPr>
          <p:cNvPr id="5" name="Rectangle 4"/>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2 · A log makes a table</a:t>
            </a:r>
          </a:p>
        </p:txBody>
      </p:sp>
      <p:sp>
        <p:nvSpPr>
          <p:cNvPr id="7" name="TextBox 6"/>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notes/02-table-formats.md</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12</a:t>
            </a:r>
          </a:p>
        </p:txBody>
      </p:sp>
      <p:sp>
        <p:nvSpPr>
          <p:cNvPr id="9" name="Rectangle 8"/>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5715000"/>
            <a:ext cx="73152" cy="5029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500" i="0" b="1">
                <a:solidFill>
                  <a:srgbClr val="1E3A5F"/>
                </a:solidFill>
                <a:latin typeface="Helvetica Neue"/>
              </a:rPr>
              <a:t>Know your update distribution first, because random updates touch every file and clustered ones hardly any.</a:t>
            </a:r>
          </a:p>
        </p:txBody>
      </p:sp>
      <p:sp>
        <p:nvSpPr>
          <p:cNvPr id="12" name="Rectangle 11"/>
          <p:cNvSpPr/>
          <p:nvPr/>
        </p:nvSpPr>
        <p:spPr>
          <a:xfrm>
            <a:off x="502920" y="1472184"/>
            <a:ext cx="5410047" cy="4014215"/>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472184"/>
            <a:ext cx="5410047" cy="5577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1472184"/>
            <a:ext cx="4952847" cy="557784"/>
          </a:xfrm>
          <a:prstGeom prst="rect">
            <a:avLst/>
          </a:prstGeom>
          <a:noFill/>
        </p:spPr>
        <p:txBody>
          <a:bodyPr wrap="square" lIns="0" rIns="0" tIns="0" bIns="0" anchor="ctr">
            <a:noAutofit/>
          </a:bodyPr>
          <a:lstStyle/>
          <a:p>
            <a:pPr algn="l">
              <a:lnSpc>
                <a:spcPct val="110000"/>
              </a:lnSpc>
            </a:pPr>
            <a:r>
              <a:rPr sz="1800" i="0" b="1">
                <a:solidFill>
                  <a:srgbClr val="475569"/>
                </a:solidFill>
                <a:latin typeface="Helvetica Neue"/>
              </a:rPr>
              <a:t>Copy-on-write</a:t>
            </a:r>
          </a:p>
        </p:txBody>
      </p:sp>
      <p:sp>
        <p:nvSpPr>
          <p:cNvPr id="15" name="Rectangle 14"/>
          <p:cNvSpPr/>
          <p:nvPr/>
        </p:nvSpPr>
        <p:spPr>
          <a:xfrm>
            <a:off x="731520" y="2313178"/>
            <a:ext cx="90678" cy="90678"/>
          </a:xfrm>
          <a:prstGeom prst="rect">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2231136"/>
            <a:ext cx="4587087" cy="376428"/>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Update rewrites the file</a:t>
            </a:r>
          </a:p>
        </p:txBody>
      </p:sp>
      <p:sp>
        <p:nvSpPr>
          <p:cNvPr id="17" name="Rectangle 16"/>
          <p:cNvSpPr/>
          <p:nvPr/>
        </p:nvSpPr>
        <p:spPr>
          <a:xfrm>
            <a:off x="731520" y="2727706"/>
            <a:ext cx="90678" cy="90678"/>
          </a:xfrm>
          <a:prstGeom prst="rect">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51560" y="2645664"/>
            <a:ext cx="4587087" cy="376428"/>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Reads stay simple and fast</a:t>
            </a:r>
          </a:p>
        </p:txBody>
      </p:sp>
      <p:sp>
        <p:nvSpPr>
          <p:cNvPr id="19" name="Rectangle 18"/>
          <p:cNvSpPr/>
          <p:nvPr/>
        </p:nvSpPr>
        <p:spPr>
          <a:xfrm>
            <a:off x="731520" y="3142234"/>
            <a:ext cx="90678" cy="90678"/>
          </a:xfrm>
          <a:prstGeom prst="rect">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51560" y="3060192"/>
            <a:ext cx="4587087" cy="376428"/>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1 TB rewritten per random-update commit</a:t>
            </a:r>
          </a:p>
        </p:txBody>
      </p:sp>
      <p:sp>
        <p:nvSpPr>
          <p:cNvPr id="21" name="Rectangle 20"/>
          <p:cNvSpPr/>
          <p:nvPr/>
        </p:nvSpPr>
        <p:spPr>
          <a:xfrm>
            <a:off x="6278727" y="1472184"/>
            <a:ext cx="5410047" cy="4014215"/>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78727" y="1472184"/>
            <a:ext cx="5410047" cy="557784"/>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07327" y="1472184"/>
            <a:ext cx="4952847" cy="557784"/>
          </a:xfrm>
          <a:prstGeom prst="rect">
            <a:avLst/>
          </a:prstGeom>
          <a:noFill/>
        </p:spPr>
        <p:txBody>
          <a:bodyPr wrap="square" lIns="0" rIns="0" tIns="0" bIns="0" anchor="ctr">
            <a:noAutofit/>
          </a:bodyPr>
          <a:lstStyle/>
          <a:p>
            <a:pPr algn="l">
              <a:lnSpc>
                <a:spcPct val="110000"/>
              </a:lnSpc>
            </a:pPr>
            <a:r>
              <a:rPr sz="1800" i="0" b="1">
                <a:solidFill>
                  <a:srgbClr val="FFFFFF"/>
                </a:solidFill>
                <a:latin typeface="Helvetica Neue"/>
              </a:rPr>
              <a:t>Merge-on-read</a:t>
            </a:r>
          </a:p>
        </p:txBody>
      </p:sp>
      <p:sp>
        <p:nvSpPr>
          <p:cNvPr id="24" name="Rectangle 23"/>
          <p:cNvSpPr/>
          <p:nvPr/>
        </p:nvSpPr>
        <p:spPr>
          <a:xfrm>
            <a:off x="6507327" y="2313178"/>
            <a:ext cx="90678" cy="90678"/>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27367" y="2231136"/>
            <a:ext cx="4587087" cy="376428"/>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Update appends a delta</a:t>
            </a:r>
          </a:p>
        </p:txBody>
      </p:sp>
      <p:sp>
        <p:nvSpPr>
          <p:cNvPr id="26" name="Rectangle 25"/>
          <p:cNvSpPr/>
          <p:nvPr/>
        </p:nvSpPr>
        <p:spPr>
          <a:xfrm>
            <a:off x="6507327" y="2727706"/>
            <a:ext cx="90678" cy="90678"/>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27367" y="2645664"/>
            <a:ext cx="4587087" cy="376428"/>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Readers merge until compaction</a:t>
            </a:r>
          </a:p>
        </p:txBody>
      </p:sp>
      <p:sp>
        <p:nvSpPr>
          <p:cNvPr id="28" name="Rectangle 27"/>
          <p:cNvSpPr/>
          <p:nvPr/>
        </p:nvSpPr>
        <p:spPr>
          <a:xfrm>
            <a:off x="6507327" y="3142234"/>
            <a:ext cx="90678" cy="90678"/>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827367" y="3060192"/>
            <a:ext cx="4587087" cy="376428"/>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0.01 TB written per commit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E3A5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463040"/>
            <a:ext cx="5486400" cy="457200"/>
          </a:xfrm>
          <a:prstGeom prst="rect">
            <a:avLst/>
          </a:prstGeom>
          <a:noFill/>
        </p:spPr>
        <p:txBody>
          <a:bodyPr wrap="square" lIns="0" rIns="0" tIns="0" bIns="0" anchor="t">
            <a:noAutofit/>
          </a:bodyPr>
          <a:lstStyle/>
          <a:p>
            <a:pPr algn="l">
              <a:lnSpc>
                <a:spcPct val="110000"/>
              </a:lnSpc>
            </a:pPr>
            <a:r>
              <a:rPr sz="1800" i="0" b="1">
                <a:solidFill>
                  <a:srgbClr val="0F7490"/>
                </a:solidFill>
                <a:latin typeface="Helvetica Neue"/>
              </a:rPr>
              <a:t>PART 3</a:t>
            </a:r>
          </a:p>
        </p:txBody>
      </p:sp>
      <p:sp>
        <p:nvSpPr>
          <p:cNvPr id="4" name="TextBox 3"/>
          <p:cNvSpPr txBox="1"/>
          <p:nvPr/>
        </p:nvSpPr>
        <p:spPr>
          <a:xfrm>
            <a:off x="822960" y="1965960"/>
            <a:ext cx="5486400" cy="2697480"/>
          </a:xfrm>
          <a:prstGeom prst="rect">
            <a:avLst/>
          </a:prstGeom>
          <a:noFill/>
        </p:spPr>
        <p:txBody>
          <a:bodyPr wrap="square" lIns="0" rIns="0" tIns="0" bIns="0" anchor="t">
            <a:noAutofit/>
          </a:bodyPr>
          <a:lstStyle/>
          <a:p>
            <a:pPr algn="l">
              <a:lnSpc>
                <a:spcPct val="95000"/>
              </a:lnSpc>
            </a:pPr>
            <a:r>
              <a:rPr sz="5000" i="0" b="1">
                <a:solidFill>
                  <a:srgbClr val="FFFFFF"/>
                </a:solidFill>
                <a:latin typeface="Helvetica Neue"/>
              </a:rPr>
              <a:t>Does the lake replace the warehouse?</a:t>
            </a:r>
          </a:p>
        </p:txBody>
      </p:sp>
      <p:sp>
        <p:nvSpPr>
          <p:cNvPr id="5" name="TextBox 4"/>
          <p:cNvSpPr txBox="1"/>
          <p:nvPr/>
        </p:nvSpPr>
        <p:spPr>
          <a:xfrm>
            <a:off x="822960" y="4754880"/>
            <a:ext cx="5303520" cy="1371600"/>
          </a:xfrm>
          <a:prstGeom prst="rect">
            <a:avLst/>
          </a:prstGeom>
          <a:noFill/>
        </p:spPr>
        <p:txBody>
          <a:bodyPr wrap="square" lIns="0" rIns="0" tIns="0" bIns="0" anchor="t">
            <a:noAutofit/>
          </a:bodyPr>
          <a:lstStyle/>
          <a:p>
            <a:pPr algn="l">
              <a:lnSpc>
                <a:spcPct val="110000"/>
              </a:lnSpc>
            </a:pPr>
            <a:r>
              <a:rPr sz="2000" i="0" b="0">
                <a:solidFill>
                  <a:srgbClr val="0EA5C9"/>
                </a:solidFill>
                <a:latin typeface="Helvetica Neue"/>
              </a:rPr>
              <a:t>Two tiers · One copy · The trap · A decision</a:t>
            </a:r>
          </a:p>
        </p:txBody>
      </p:sp>
      <p:cxnSp>
        <p:nvCxnSpPr>
          <p:cNvPr id="6" name="Connector 5"/>
          <p:cNvCxnSpPr/>
          <p:nvPr/>
        </p:nvCxnSpPr>
        <p:spPr>
          <a:xfrm>
            <a:off x="6446520" y="2090420"/>
            <a:ext cx="0" cy="2677160"/>
          </a:xfrm>
          <a:prstGeom prst="line">
            <a:avLst/>
          </a:prstGeom>
          <a:ln w="19050">
            <a:solidFill>
              <a:srgbClr val="3B5A80"/>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766560" y="2090420"/>
            <a:ext cx="4693615" cy="2860040"/>
          </a:xfrm>
          <a:prstGeom prst="rect">
            <a:avLst/>
          </a:prstGeom>
          <a:noFill/>
        </p:spPr>
        <p:txBody>
          <a:bodyPr wrap="square" lIns="0" rIns="0" tIns="0" bIns="0" anchor="t">
            <a:noAutofit/>
          </a:bodyPr>
          <a:lstStyle/>
          <a:p>
            <a:pPr algn="l">
              <a:lnSpc>
                <a:spcPct val="100000"/>
              </a:lnSpc>
            </a:pPr>
            <a:r>
              <a:rPr sz="1700" i="0" b="0">
                <a:solidFill>
                  <a:srgbClr val="CBD5E1"/>
                </a:solidFill>
                <a:latin typeface="Helvetica Neue"/>
              </a:rPr>
              <a:t>Two copies of everything, one always behind</a:t>
            </a:r>
          </a:p>
          <a:p>
            <a:pPr algn="l">
              <a:lnSpc>
                <a:spcPct val="100000"/>
              </a:lnSpc>
              <a:spcBef>
                <a:spcPts val="1189"/>
              </a:spcBef>
            </a:pPr>
            <a:r>
              <a:rPr sz="1700" i="0" b="0">
                <a:solidFill>
                  <a:srgbClr val="CBD5E1"/>
                </a:solidFill>
                <a:latin typeface="Helvetica Neue"/>
              </a:rPr>
              <a:t>One copy gives three engines, and one trap</a:t>
            </a:r>
          </a:p>
          <a:p>
            <a:pPr algn="l">
              <a:lnSpc>
                <a:spcPct val="100000"/>
              </a:lnSpc>
              <a:spcBef>
                <a:spcPts val="1189"/>
              </a:spcBef>
            </a:pPr>
            <a:r>
              <a:rPr sz="1700" i="0" b="0">
                <a:solidFill>
                  <a:srgbClr val="CBD5E1"/>
                </a:solidFill>
                <a:latin typeface="Helvetica Neue"/>
              </a:rPr>
              <a:t>Where the warehouse still wins</a:t>
            </a:r>
          </a:p>
          <a:p>
            <a:pPr algn="l">
              <a:lnSpc>
                <a:spcPct val="100000"/>
              </a:lnSpc>
              <a:spcBef>
                <a:spcPts val="1189"/>
              </a:spcBef>
            </a:pPr>
            <a:r>
              <a:rPr sz="1700" i="0" b="0">
                <a:solidFill>
                  <a:srgbClr val="CBD5E1"/>
                </a:solidFill>
                <a:latin typeface="Helvetica Neue"/>
              </a:rPr>
              <a:t>Medallion layers organise fixes, not detection</a:t>
            </a:r>
          </a:p>
          <a:p>
            <a:pPr algn="l">
              <a:lnSpc>
                <a:spcPct val="100000"/>
              </a:lnSpc>
              <a:spcBef>
                <a:spcPts val="1189"/>
              </a:spcBef>
            </a:pPr>
            <a:r>
              <a:rPr sz="1700" i="0" b="0">
                <a:solidFill>
                  <a:srgbClr val="CBD5E1"/>
                </a:solidFill>
                <a:latin typeface="Helvetica Neue"/>
              </a:rPr>
              <a:t>Choose by workload, not by camp</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64748B"/>
                </a:solidFill>
                <a:latin typeface="Helvetica Neue"/>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500" i="0" b="1">
                <a:solidFill>
                  <a:srgbClr val="FFFFFF"/>
                </a:solidFill>
                <a:latin typeface="Helvetica Neue"/>
              </a:rPr>
              <a:t>Two copies of everything, one always behind</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0EA5C9"/>
                </a:solidFill>
                <a:latin typeface="Helvetica Neue"/>
              </a:rPr>
              <a:t>The problem</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3 · Does the lake replace the warehouse?</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notes/03-lakehouse-vs-warehouse.md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14</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400" i="0" b="1">
                <a:solidFill>
                  <a:srgbClr val="1E3A5F"/>
                </a:solidFill>
                <a:latin typeface="Helvetica Neue"/>
              </a:rPr>
              <a:t>The lakehouse argument is an attack on the two-tier design, whose cost is duplication, staleness and lock-in.</a:t>
            </a:r>
          </a:p>
        </p:txBody>
      </p:sp>
      <p:sp>
        <p:nvSpPr>
          <p:cNvPr id="13" name="Rectangle 12"/>
          <p:cNvSpPr/>
          <p:nvPr/>
        </p:nvSpPr>
        <p:spPr>
          <a:xfrm>
            <a:off x="777240" y="2299716"/>
            <a:ext cx="109728" cy="2359152"/>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234440" y="2299716"/>
            <a:ext cx="10088575" cy="1993392"/>
          </a:xfrm>
          <a:prstGeom prst="rect">
            <a:avLst/>
          </a:prstGeom>
          <a:noFill/>
        </p:spPr>
        <p:txBody>
          <a:bodyPr wrap="square" lIns="0" rIns="0" tIns="0" bIns="0" anchor="t">
            <a:noAutofit/>
          </a:bodyPr>
          <a:lstStyle/>
          <a:p>
            <a:pPr algn="l">
              <a:lnSpc>
                <a:spcPct val="105000"/>
              </a:lnSpc>
            </a:pPr>
            <a:r>
              <a:rPr sz="3600" i="0" b="1">
                <a:solidFill>
                  <a:srgbClr val="1E3A5F"/>
                </a:solidFill>
                <a:latin typeface="Helvetica Neue"/>
              </a:rPr>
              <a:t>The lake holds everything, a warehouse holds a copy for BI, and every ETL step between them is a chance to diverge.</a:t>
            </a:r>
          </a:p>
        </p:txBody>
      </p:sp>
      <p:sp>
        <p:nvSpPr>
          <p:cNvPr id="15" name="TextBox 14"/>
          <p:cNvSpPr txBox="1"/>
          <p:nvPr/>
        </p:nvSpPr>
        <p:spPr>
          <a:xfrm>
            <a:off x="1234440" y="4247388"/>
            <a:ext cx="10088575" cy="365760"/>
          </a:xfrm>
          <a:prstGeom prst="rect">
            <a:avLst/>
          </a:prstGeom>
          <a:noFill/>
        </p:spPr>
        <p:txBody>
          <a:bodyPr wrap="square" lIns="0" rIns="0" tIns="0" bIns="0" anchor="t">
            <a:noAutofit/>
          </a:bodyPr>
          <a:lstStyle/>
          <a:p>
            <a:pPr algn="l">
              <a:lnSpc>
                <a:spcPct val="110000"/>
              </a:lnSpc>
            </a:pPr>
            <a:r>
              <a:rPr sz="1700" i="1" b="0">
                <a:solidFill>
                  <a:srgbClr val="475569"/>
                </a:solidFill>
                <a:latin typeface="Helvetica Neue"/>
              </a:rPr>
              <a:t>Armbrust, Ghodsi, Xin and Zaharia, CIDR 2021</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One copy gives three engines, and one trap</a:t>
            </a:r>
          </a:p>
        </p:txBody>
      </p:sp>
      <p:sp>
        <p:nvSpPr>
          <p:cNvPr id="5" name="Rectangle 4"/>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3 · Does the lake replace the warehouse?</a:t>
            </a:r>
          </a:p>
        </p:txBody>
      </p:sp>
      <p:sp>
        <p:nvSpPr>
          <p:cNvPr id="7" name="TextBox 6"/>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notes/03-lakehouse-vs-warehouse.md</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15</a:t>
            </a:r>
          </a:p>
        </p:txBody>
      </p:sp>
      <p:sp>
        <p:nvSpPr>
          <p:cNvPr id="9" name="Rectangle 8"/>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5715000"/>
            <a:ext cx="73152" cy="50292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600" i="0" b="1">
                <a:solidFill>
                  <a:srgbClr val="1E3A5F"/>
                </a:solidFill>
                <a:latin typeface="Helvetica Neue"/>
              </a:rPr>
              <a:t>Open files let every engine read one copy, and let any reader get it wrong with no error.</a:t>
            </a:r>
          </a:p>
        </p:txBody>
      </p:sp>
      <p:sp>
        <p:nvSpPr>
          <p:cNvPr id="12" name="Rounded Rectangle 11"/>
          <p:cNvSpPr/>
          <p:nvPr/>
        </p:nvSpPr>
        <p:spPr>
          <a:xfrm>
            <a:off x="502920" y="1472184"/>
            <a:ext cx="6711513" cy="2392680"/>
          </a:xfrm>
          <a:prstGeom prst="roundRect">
            <a:avLst>
              <a:gd name="adj" fmla="val 3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1581912"/>
            <a:ext cx="6254313" cy="274320"/>
          </a:xfrm>
          <a:prstGeom prst="rect">
            <a:avLst/>
          </a:prstGeom>
          <a:noFill/>
        </p:spPr>
        <p:txBody>
          <a:bodyPr wrap="square" lIns="0" rIns="0" tIns="0" bIns="0" anchor="t">
            <a:noAutofit/>
          </a:bodyPr>
          <a:lstStyle/>
          <a:p>
            <a:pPr algn="l">
              <a:lnSpc>
                <a:spcPct val="110000"/>
              </a:lnSpc>
            </a:pPr>
            <a:r>
              <a:rPr sz="1000" i="0" b="1">
                <a:solidFill>
                  <a:srgbClr val="94A3B8"/>
                </a:solidFill>
                <a:latin typeface="Helvetica Neue"/>
              </a:rPr>
              <a:t>TEXT</a:t>
            </a:r>
          </a:p>
        </p:txBody>
      </p:sp>
      <p:sp>
        <p:nvSpPr>
          <p:cNvPr id="14" name="TextBox 13"/>
          <p:cNvSpPr txBox="1"/>
          <p:nvPr/>
        </p:nvSpPr>
        <p:spPr>
          <a:xfrm>
            <a:off x="731520" y="1883664"/>
            <a:ext cx="6254313" cy="1752599"/>
          </a:xfrm>
          <a:prstGeom prst="rect">
            <a:avLst/>
          </a:prstGeom>
          <a:noFill/>
        </p:spPr>
        <p:txBody>
          <a:bodyPr wrap="square" lIns="0" rIns="0" tIns="0" bIns="0" anchor="t">
            <a:noAutofit/>
          </a:bodyPr>
          <a:lstStyle/>
          <a:p>
            <a:pPr algn="l">
              <a:lnSpc>
                <a:spcPct val="100000"/>
              </a:lnSpc>
            </a:pPr>
            <a:r>
              <a:rPr sz="1600" i="0" b="0">
                <a:solidFill>
                  <a:srgbClr val="E2E8F0"/>
                </a:solidFill>
                <a:latin typeface="Menlo"/>
              </a:rPr>
              <a:t>delta-rs : 2000000</a:t>
            </a:r>
          </a:p>
          <a:p>
            <a:pPr algn="l">
              <a:lnSpc>
                <a:spcPct val="100000"/>
              </a:lnSpc>
            </a:pPr>
            <a:r>
              <a:rPr sz="1600" i="0" b="0">
                <a:solidFill>
                  <a:srgbClr val="E2E8F0"/>
                </a:solidFill>
                <a:latin typeface="Menlo"/>
              </a:rPr>
              <a:t>pyarrow  : 2000000</a:t>
            </a:r>
          </a:p>
          <a:p>
            <a:pPr algn="l">
              <a:lnSpc>
                <a:spcPct val="100000"/>
              </a:lnSpc>
            </a:pPr>
            <a:r>
              <a:rPr sz="1600" i="0" b="0">
                <a:solidFill>
                  <a:srgbClr val="E2E8F0"/>
                </a:solidFill>
                <a:latin typeface="Menlo"/>
              </a:rPr>
              <a:t>duckdb   : 2000000</a:t>
            </a:r>
          </a:p>
          <a:p>
            <a:pPr algn="l">
              <a:lnSpc>
                <a:spcPct val="100000"/>
              </a:lnSpc>
            </a:pPr>
          </a:p>
          <a:p>
            <a:pPr algn="l">
              <a:lnSpc>
                <a:spcPct val="100000"/>
              </a:lnSpc>
            </a:pPr>
            <a:r>
              <a:rPr sz="1600" i="0" b="0">
                <a:solidFill>
                  <a:srgbClr val="E2E8F0"/>
                </a:solidFill>
                <a:latin typeface="Menlo"/>
              </a:rPr>
              <a:t>after a committed delete of 500,000 rows</a:t>
            </a:r>
          </a:p>
          <a:p>
            <a:pPr algn="l">
              <a:lnSpc>
                <a:spcPct val="100000"/>
              </a:lnSpc>
            </a:pPr>
            <a:r>
              <a:rPr sz="1600" i="0" b="0">
                <a:solidFill>
                  <a:srgbClr val="E2E8F0"/>
                </a:solidFill>
                <a:latin typeface="Menlo"/>
              </a:rPr>
              <a:t>glob over the directory : 2,500,000</a:t>
            </a:r>
          </a:p>
          <a:p>
            <a:pPr algn="l">
              <a:lnSpc>
                <a:spcPct val="100000"/>
              </a:lnSpc>
            </a:pPr>
            <a:r>
              <a:rPr sz="1600" i="0" b="0">
                <a:solidFill>
                  <a:srgbClr val="E2E8F0"/>
                </a:solidFill>
                <a:latin typeface="Menlo"/>
              </a:rPr>
              <a:t>through the log         : 1,500,000</a:t>
            </a:r>
          </a:p>
        </p:txBody>
      </p:sp>
      <p:sp>
        <p:nvSpPr>
          <p:cNvPr id="15" name="Rectangle 14"/>
          <p:cNvSpPr/>
          <p:nvPr/>
        </p:nvSpPr>
        <p:spPr>
          <a:xfrm>
            <a:off x="7580193" y="1604772"/>
            <a:ext cx="96012" cy="96012"/>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00233" y="1517904"/>
            <a:ext cx="3788542" cy="694943"/>
          </a:xfrm>
          <a:prstGeom prst="rect">
            <a:avLst/>
          </a:prstGeom>
          <a:noFill/>
        </p:spPr>
        <p:txBody>
          <a:bodyPr wrap="square" lIns="0" rIns="0" tIns="0" bIns="0" anchor="t">
            <a:noAutofit/>
          </a:bodyPr>
          <a:lstStyle/>
          <a:p>
            <a:pPr algn="l">
              <a:lnSpc>
                <a:spcPct val="110000"/>
              </a:lnSpc>
            </a:pPr>
            <a:r>
              <a:rPr sz="1800" i="0" b="1">
                <a:solidFill>
                  <a:srgbClr val="1E293B"/>
                </a:solidFill>
                <a:latin typeface="Helvetica Neue"/>
              </a:rPr>
              <a:t>The gain:</a:t>
            </a:r>
            <a:r>
              <a:rPr sz="1800" i="0" b="0">
                <a:solidFill>
                  <a:srgbClr val="1E293B"/>
                </a:solidFill>
                <a:latin typeface="Helvetica Neue"/>
              </a:rPr>
              <a:t> no export step, no second copy.</a:t>
            </a:r>
          </a:p>
        </p:txBody>
      </p:sp>
      <p:sp>
        <p:nvSpPr>
          <p:cNvPr id="17" name="Rectangle 16"/>
          <p:cNvSpPr/>
          <p:nvPr/>
        </p:nvSpPr>
        <p:spPr>
          <a:xfrm>
            <a:off x="7580193" y="2345436"/>
            <a:ext cx="96012" cy="96012"/>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00233" y="2258568"/>
            <a:ext cx="3788542" cy="694943"/>
          </a:xfrm>
          <a:prstGeom prst="rect">
            <a:avLst/>
          </a:prstGeom>
          <a:noFill/>
        </p:spPr>
        <p:txBody>
          <a:bodyPr wrap="square" lIns="0" rIns="0" tIns="0" bIns="0" anchor="t">
            <a:noAutofit/>
          </a:bodyPr>
          <a:lstStyle/>
          <a:p>
            <a:pPr algn="l">
              <a:lnSpc>
                <a:spcPct val="110000"/>
              </a:lnSpc>
            </a:pPr>
            <a:r>
              <a:rPr sz="1800" i="0" b="1">
                <a:solidFill>
                  <a:srgbClr val="1E293B"/>
                </a:solidFill>
                <a:latin typeface="Helvetica Neue"/>
              </a:rPr>
              <a:t>The trap:</a:t>
            </a:r>
            <a:r>
              <a:rPr sz="1800" i="0" b="0">
                <a:solidFill>
                  <a:srgbClr val="1E293B"/>
                </a:solidFill>
                <a:latin typeface="Helvetica Neue"/>
              </a:rPr>
              <a:t> a glob ignores the log.</a:t>
            </a:r>
          </a:p>
        </p:txBody>
      </p:sp>
      <p:sp>
        <p:nvSpPr>
          <p:cNvPr id="19" name="Rectangle 18"/>
          <p:cNvSpPr/>
          <p:nvPr/>
        </p:nvSpPr>
        <p:spPr>
          <a:xfrm>
            <a:off x="7580193" y="3086100"/>
            <a:ext cx="96012" cy="96012"/>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00233" y="2999232"/>
            <a:ext cx="3788542" cy="694943"/>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Whoever reads the bucket bypasses engine policy.</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Where the warehouse still wins</a:t>
            </a:r>
          </a:p>
        </p:txBody>
      </p:sp>
      <p:sp>
        <p:nvSpPr>
          <p:cNvPr id="5" name="Rectangle 4"/>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3 · Does the lake replace the warehouse?</a:t>
            </a:r>
          </a:p>
        </p:txBody>
      </p:sp>
      <p:sp>
        <p:nvSpPr>
          <p:cNvPr id="7" name="TextBox 6"/>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notes/03-lakehouse-vs-warehouse.md</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16</a:t>
            </a:r>
          </a:p>
        </p:txBody>
      </p:sp>
      <p:sp>
        <p:nvSpPr>
          <p:cNvPr id="9" name="Rectangle 8"/>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5715000"/>
            <a:ext cx="73152" cy="50292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500" i="0" b="1">
                <a:solidFill>
                  <a:srgbClr val="1E3A5F"/>
                </a:solidFill>
                <a:latin typeface="Helvetica Neue"/>
              </a:rPr>
              <a:t>Log-per-table formats commit tables separately, so anything that must always agree needs a design around it.</a:t>
            </a:r>
          </a:p>
        </p:txBody>
      </p:sp>
      <p:sp>
        <p:nvSpPr>
          <p:cNvPr id="12" name="Rectangle 11"/>
          <p:cNvSpPr/>
          <p:nvPr/>
        </p:nvSpPr>
        <p:spPr>
          <a:xfrm>
            <a:off x="502920" y="1472184"/>
            <a:ext cx="5410047" cy="4014215"/>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472184"/>
            <a:ext cx="5410047" cy="5577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1472184"/>
            <a:ext cx="4952847" cy="557784"/>
          </a:xfrm>
          <a:prstGeom prst="rect">
            <a:avLst/>
          </a:prstGeom>
          <a:noFill/>
        </p:spPr>
        <p:txBody>
          <a:bodyPr wrap="square" lIns="0" rIns="0" tIns="0" bIns="0" anchor="ctr">
            <a:noAutofit/>
          </a:bodyPr>
          <a:lstStyle/>
          <a:p>
            <a:pPr algn="l">
              <a:lnSpc>
                <a:spcPct val="110000"/>
              </a:lnSpc>
            </a:pPr>
            <a:r>
              <a:rPr sz="1800" i="0" b="1">
                <a:solidFill>
                  <a:srgbClr val="475569"/>
                </a:solidFill>
                <a:latin typeface="Helvetica Neue"/>
              </a:rPr>
              <a:t>Warehouse transaction</a:t>
            </a:r>
          </a:p>
        </p:txBody>
      </p:sp>
      <p:sp>
        <p:nvSpPr>
          <p:cNvPr id="15" name="Rectangle 14"/>
          <p:cNvSpPr/>
          <p:nvPr/>
        </p:nvSpPr>
        <p:spPr>
          <a:xfrm>
            <a:off x="731520" y="2313178"/>
            <a:ext cx="90678" cy="90678"/>
          </a:xfrm>
          <a:prstGeom prst="rect">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2231136"/>
            <a:ext cx="4587087" cy="376428"/>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Spans several tables</a:t>
            </a:r>
          </a:p>
        </p:txBody>
      </p:sp>
      <p:sp>
        <p:nvSpPr>
          <p:cNvPr id="17" name="Rectangle 16"/>
          <p:cNvSpPr/>
          <p:nvPr/>
        </p:nvSpPr>
        <p:spPr>
          <a:xfrm>
            <a:off x="731520" y="2727706"/>
            <a:ext cx="90678" cy="90678"/>
          </a:xfrm>
          <a:prstGeom prst="rect">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51560" y="2645664"/>
            <a:ext cx="4587087" cy="661416"/>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After a crash, fact 0 rows, summary 0 rows</a:t>
            </a:r>
          </a:p>
        </p:txBody>
      </p:sp>
      <p:sp>
        <p:nvSpPr>
          <p:cNvPr id="19" name="Rectangle 18"/>
          <p:cNvSpPr/>
          <p:nvPr/>
        </p:nvSpPr>
        <p:spPr>
          <a:xfrm>
            <a:off x="731520" y="3427222"/>
            <a:ext cx="90678" cy="90678"/>
          </a:xfrm>
          <a:prstGeom prst="rect">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51560" y="3345180"/>
            <a:ext cx="4587087" cy="376428"/>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Native format, about 4x faster here</a:t>
            </a:r>
          </a:p>
        </p:txBody>
      </p:sp>
      <p:sp>
        <p:nvSpPr>
          <p:cNvPr id="21" name="Rectangle 20"/>
          <p:cNvSpPr/>
          <p:nvPr/>
        </p:nvSpPr>
        <p:spPr>
          <a:xfrm>
            <a:off x="6278727" y="1472184"/>
            <a:ext cx="5410047" cy="4014215"/>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78727" y="1472184"/>
            <a:ext cx="5410047" cy="557784"/>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07327" y="1472184"/>
            <a:ext cx="4952847" cy="557784"/>
          </a:xfrm>
          <a:prstGeom prst="rect">
            <a:avLst/>
          </a:prstGeom>
          <a:noFill/>
        </p:spPr>
        <p:txBody>
          <a:bodyPr wrap="square" lIns="0" rIns="0" tIns="0" bIns="0" anchor="ctr">
            <a:noAutofit/>
          </a:bodyPr>
          <a:lstStyle/>
          <a:p>
            <a:pPr algn="l">
              <a:lnSpc>
                <a:spcPct val="110000"/>
              </a:lnSpc>
            </a:pPr>
            <a:r>
              <a:rPr sz="1800" i="0" b="1">
                <a:solidFill>
                  <a:srgbClr val="FFFFFF"/>
                </a:solidFill>
                <a:latin typeface="Helvetica Neue"/>
              </a:rPr>
              <a:t>Lakehouse, one log per table</a:t>
            </a:r>
          </a:p>
        </p:txBody>
      </p:sp>
      <p:sp>
        <p:nvSpPr>
          <p:cNvPr id="24" name="Rectangle 23"/>
          <p:cNvSpPr/>
          <p:nvPr/>
        </p:nvSpPr>
        <p:spPr>
          <a:xfrm>
            <a:off x="6507327" y="2313178"/>
            <a:ext cx="90678" cy="90678"/>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27367" y="2231136"/>
            <a:ext cx="4587087" cy="376428"/>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Commits one table at a time</a:t>
            </a:r>
          </a:p>
        </p:txBody>
      </p:sp>
      <p:sp>
        <p:nvSpPr>
          <p:cNvPr id="26" name="Rectangle 25"/>
          <p:cNvSpPr/>
          <p:nvPr/>
        </p:nvSpPr>
        <p:spPr>
          <a:xfrm>
            <a:off x="6507327" y="2727706"/>
            <a:ext cx="90678" cy="90678"/>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27367" y="2645664"/>
            <a:ext cx="4587087" cy="376428"/>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After a crash, fact 1 row, no summary</a:t>
            </a:r>
          </a:p>
        </p:txBody>
      </p:sp>
      <p:sp>
        <p:nvSpPr>
          <p:cNvPr id="28" name="Rectangle 27"/>
          <p:cNvSpPr/>
          <p:nvPr/>
        </p:nvSpPr>
        <p:spPr>
          <a:xfrm>
            <a:off x="6507327" y="3142234"/>
            <a:ext cx="90678" cy="90678"/>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827367" y="3060192"/>
            <a:ext cx="4587087" cy="376428"/>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Rebuild derived tables idempotently</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Medallion layers organise fixes, not detection</a:t>
            </a:r>
          </a:p>
        </p:txBody>
      </p:sp>
      <p:sp>
        <p:nvSpPr>
          <p:cNvPr id="5" name="Rectangle 4"/>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3 · Does the lake replace the warehouse?</a:t>
            </a:r>
          </a:p>
        </p:txBody>
      </p:sp>
      <p:sp>
        <p:nvSpPr>
          <p:cNvPr id="7" name="TextBox 6"/>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notes/03-lakehouse-vs-warehouse.md</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17</a:t>
            </a:r>
          </a:p>
        </p:txBody>
      </p:sp>
      <p:sp>
        <p:nvSpPr>
          <p:cNvPr id="9" name="Rectangle 8"/>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5715000"/>
            <a:ext cx="73152" cy="50292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600" i="0" b="1">
                <a:solidFill>
                  <a:srgbClr val="1E3A5F"/>
                </a:solidFill>
                <a:latin typeface="Helvetica Neue"/>
              </a:rPr>
              <a:t>Layers say where a problem gets fixed, and only a test says that one happened.</a:t>
            </a:r>
          </a:p>
        </p:txBody>
      </p:sp>
      <p:sp>
        <p:nvSpPr>
          <p:cNvPr id="12" name="Rounded Rectangle 11"/>
          <p:cNvSpPr/>
          <p:nvPr/>
        </p:nvSpPr>
        <p:spPr>
          <a:xfrm>
            <a:off x="2026767" y="1563624"/>
            <a:ext cx="2377440" cy="987552"/>
          </a:xfrm>
          <a:prstGeom prst="roundRect">
            <a:avLst>
              <a:gd name="adj" fmla="val 12000"/>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163927" y="1563624"/>
            <a:ext cx="2103120" cy="987552"/>
          </a:xfrm>
          <a:prstGeom prst="rect">
            <a:avLst/>
          </a:prstGeom>
          <a:noFill/>
        </p:spPr>
        <p:txBody>
          <a:bodyPr wrap="square" lIns="0" rIns="0" tIns="0" bIns="0" anchor="ctr">
            <a:noAutofit/>
          </a:bodyPr>
          <a:lstStyle/>
          <a:p>
            <a:pPr algn="ctr">
              <a:lnSpc>
                <a:spcPct val="110000"/>
              </a:lnSpc>
            </a:pPr>
            <a:r>
              <a:rPr sz="1700" i="0" b="1">
                <a:solidFill>
                  <a:srgbClr val="FFFFFF"/>
                </a:solidFill>
                <a:latin typeface="Helvetica Neue"/>
              </a:rPr>
              <a:t>Bronze</a:t>
            </a:r>
          </a:p>
          <a:p>
            <a:pPr algn="ctr">
              <a:lnSpc>
                <a:spcPct val="110000"/>
              </a:lnSpc>
            </a:pPr>
            <a:r>
              <a:rPr sz="1300" i="0" b="0">
                <a:solidFill>
                  <a:srgbClr val="E8F4F8"/>
                </a:solidFill>
                <a:latin typeface="Helvetica Neue"/>
              </a:rPr>
              <a:t>5 rows, raw</a:t>
            </a:r>
          </a:p>
        </p:txBody>
      </p:sp>
      <p:cxnSp>
        <p:nvCxnSpPr>
          <p:cNvPr id="14" name="Connector 13"/>
          <p:cNvCxnSpPr/>
          <p:nvPr/>
        </p:nvCxnSpPr>
        <p:spPr>
          <a:xfrm>
            <a:off x="4459071" y="2057400"/>
            <a:ext cx="393192" cy="0"/>
          </a:xfrm>
          <a:prstGeom prst="line">
            <a:avLst/>
          </a:prstGeom>
          <a:ln w="25400">
            <a:solidFill>
              <a:srgbClr val="4755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907127" y="1563624"/>
            <a:ext cx="2377440" cy="987552"/>
          </a:xfrm>
          <a:prstGeom prst="roundRect">
            <a:avLst>
              <a:gd name="adj" fmla="val 12000"/>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44287" y="1563624"/>
            <a:ext cx="2103120" cy="987552"/>
          </a:xfrm>
          <a:prstGeom prst="rect">
            <a:avLst/>
          </a:prstGeom>
          <a:noFill/>
        </p:spPr>
        <p:txBody>
          <a:bodyPr wrap="square" lIns="0" rIns="0" tIns="0" bIns="0" anchor="ctr">
            <a:noAutofit/>
          </a:bodyPr>
          <a:lstStyle/>
          <a:p>
            <a:pPr algn="ctr">
              <a:lnSpc>
                <a:spcPct val="110000"/>
              </a:lnSpc>
            </a:pPr>
            <a:r>
              <a:rPr sz="1700" i="0" b="1">
                <a:solidFill>
                  <a:srgbClr val="FFFFFF"/>
                </a:solidFill>
                <a:latin typeface="Helvetica Neue"/>
              </a:rPr>
              <a:t>Silver</a:t>
            </a:r>
          </a:p>
          <a:p>
            <a:pPr algn="ctr">
              <a:lnSpc>
                <a:spcPct val="110000"/>
              </a:lnSpc>
            </a:pPr>
            <a:r>
              <a:rPr sz="1300" i="0" b="0">
                <a:solidFill>
                  <a:srgbClr val="E8F4F8"/>
                </a:solidFill>
                <a:latin typeface="Helvetica Neue"/>
              </a:rPr>
              <a:t>2 rows, cleaned</a:t>
            </a:r>
          </a:p>
        </p:txBody>
      </p:sp>
      <p:cxnSp>
        <p:nvCxnSpPr>
          <p:cNvPr id="17" name="Connector 16"/>
          <p:cNvCxnSpPr/>
          <p:nvPr/>
        </p:nvCxnSpPr>
        <p:spPr>
          <a:xfrm>
            <a:off x="7339431" y="2057400"/>
            <a:ext cx="393192" cy="0"/>
          </a:xfrm>
          <a:prstGeom prst="line">
            <a:avLst/>
          </a:prstGeom>
          <a:ln w="25400">
            <a:solidFill>
              <a:srgbClr val="4755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7787487" y="1563624"/>
            <a:ext cx="2377440" cy="987552"/>
          </a:xfrm>
          <a:prstGeom prst="roundRect">
            <a:avLst>
              <a:gd name="adj" fmla="val 12000"/>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924647" y="1563624"/>
            <a:ext cx="2103120" cy="987552"/>
          </a:xfrm>
          <a:prstGeom prst="rect">
            <a:avLst/>
          </a:prstGeom>
          <a:noFill/>
        </p:spPr>
        <p:txBody>
          <a:bodyPr wrap="square" lIns="0" rIns="0" tIns="0" bIns="0" anchor="ctr">
            <a:noAutofit/>
          </a:bodyPr>
          <a:lstStyle/>
          <a:p>
            <a:pPr algn="ctr">
              <a:lnSpc>
                <a:spcPct val="110000"/>
              </a:lnSpc>
            </a:pPr>
            <a:r>
              <a:rPr sz="1700" i="0" b="1">
                <a:solidFill>
                  <a:srgbClr val="FFFFFF"/>
                </a:solidFill>
                <a:latin typeface="Helvetica Neue"/>
              </a:rPr>
              <a:t>Gold</a:t>
            </a:r>
          </a:p>
          <a:p>
            <a:pPr algn="ctr">
              <a:lnSpc>
                <a:spcPct val="110000"/>
              </a:lnSpc>
            </a:pPr>
            <a:r>
              <a:rPr sz="1300" i="0" b="0">
                <a:solidFill>
                  <a:srgbClr val="E8F4F8"/>
                </a:solidFill>
                <a:latin typeface="Helvetica Neue"/>
              </a:rPr>
              <a:t>1 row, one question</a:t>
            </a:r>
          </a:p>
        </p:txBody>
      </p:sp>
      <p:sp>
        <p:nvSpPr>
          <p:cNvPr id="20" name="TextBox 19"/>
          <p:cNvSpPr txBox="1"/>
          <p:nvPr/>
        </p:nvSpPr>
        <p:spPr>
          <a:xfrm>
            <a:off x="502920" y="2871216"/>
            <a:ext cx="11185855" cy="2615184"/>
          </a:xfrm>
          <a:prstGeom prst="rect">
            <a:avLst/>
          </a:prstGeom>
          <a:noFill/>
        </p:spPr>
        <p:txBody>
          <a:bodyPr wrap="square" lIns="0" rIns="0" tIns="0" bIns="0" anchor="t">
            <a:noAutofit/>
          </a:bodyPr>
          <a:lstStyle/>
          <a:p>
            <a:pPr algn="ctr">
              <a:lnSpc>
                <a:spcPct val="110000"/>
              </a:lnSpc>
            </a:pPr>
            <a:r>
              <a:rPr sz="1700" i="0" b="0">
                <a:solidFill>
                  <a:srgbClr val="475569"/>
                </a:solidFill>
                <a:latin typeface="Helvetica Neue"/>
              </a:rPr>
              <a:t>WHERE fare &gt; 0 dropped a negative and a missing fare, and removing duplicates dropped one more. Nobody was told.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Choose by workload, not by camp</a:t>
            </a:r>
          </a:p>
        </p:txBody>
      </p:sp>
      <p:sp>
        <p:nvSpPr>
          <p:cNvPr id="5" name="Rectangle 4"/>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3 · Does the lake replace the warehouse?</a:t>
            </a:r>
          </a:p>
        </p:txBody>
      </p:sp>
      <p:sp>
        <p:nvSpPr>
          <p:cNvPr id="7" name="TextBox 6"/>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notes/03-lakehouse-vs-warehouse.md</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18</a:t>
            </a:r>
          </a:p>
        </p:txBody>
      </p:sp>
      <p:sp>
        <p:nvSpPr>
          <p:cNvPr id="9" name="Rectangle 8"/>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5715000"/>
            <a:ext cx="73152" cy="50292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600" i="0" b="1">
                <a:solidFill>
                  <a:srgbClr val="1E3A5F"/>
                </a:solidFill>
                <a:latin typeface="Helvetica Neue"/>
              </a:rPr>
              <a:t>The real decision is where the system of record lives and who owns the format.</a:t>
            </a:r>
          </a:p>
        </p:txBody>
      </p:sp>
      <p:graphicFrame>
        <p:nvGraphicFramePr>
          <p:cNvPr id="12" name="Table 11"/>
          <p:cNvGraphicFramePr>
            <a:graphicFrameLocks noGrp="1"/>
          </p:cNvGraphicFramePr>
          <p:nvPr/>
        </p:nvGraphicFramePr>
        <p:xfrm>
          <a:off x="502920" y="1472184"/>
          <a:ext cx="11185855" cy="2432304"/>
        </p:xfrm>
        <a:graphic>
          <a:graphicData uri="http://schemas.openxmlformats.org/drawingml/2006/table">
            <a:tbl>
              <a:tblPr firstRow="1" bandRow="1">
                <a:tableStyleId>{5940675A-B579-460E-94D1-54222C63F5DA}</a:tableStyleId>
              </a:tblPr>
              <a:tblGrid>
                <a:gridCol w="4660773"/>
                <a:gridCol w="1864309"/>
                <a:gridCol w="4660773"/>
              </a:tblGrid>
              <a:tr h="405384">
                <a:tc>
                  <a:txBody>
                    <a:bodyPr wrap="square"/>
                    <a:lstStyle/>
                    <a:p>
                      <a:pPr>
                        <a:lnSpc>
                          <a:spcPct val="100000"/>
                        </a:lnSpc>
                      </a:pPr>
                      <a:r>
                        <a:rPr sz="1700" i="0" b="1">
                          <a:solidFill>
                            <a:srgbClr val="FFFFFF"/>
                          </a:solidFill>
                          <a:latin typeface="Helvetica Neue"/>
                        </a:rPr>
                        <a:t>Your situation</a:t>
                      </a:r>
                    </a:p>
                  </a:txBody>
                  <a:tcPr marL="109728" marR="109728" marT="54864" marB="54864" anchor="ctr">
                    <a:solidFill>
                      <a:srgbClr val="1E3A5F"/>
                    </a:solidFill>
                  </a:tcPr>
                </a:tc>
                <a:tc>
                  <a:txBody>
                    <a:bodyPr wrap="square"/>
                    <a:lstStyle/>
                    <a:p>
                      <a:pPr>
                        <a:lnSpc>
                          <a:spcPct val="100000"/>
                        </a:lnSpc>
                      </a:pPr>
                      <a:r>
                        <a:rPr sz="1700" i="0" b="1">
                          <a:solidFill>
                            <a:srgbClr val="FFFFFF"/>
                          </a:solidFill>
                          <a:latin typeface="Helvetica Neue"/>
                        </a:rPr>
                        <a:t>Lean</a:t>
                      </a:r>
                    </a:p>
                  </a:txBody>
                  <a:tcPr marL="109728" marR="109728" marT="54864" marB="54864" anchor="ctr">
                    <a:solidFill>
                      <a:srgbClr val="1E3A5F"/>
                    </a:solidFill>
                  </a:tcPr>
                </a:tc>
                <a:tc>
                  <a:txBody>
                    <a:bodyPr wrap="square"/>
                    <a:lstStyle/>
                    <a:p>
                      <a:pPr>
                        <a:lnSpc>
                          <a:spcPct val="100000"/>
                        </a:lnSpc>
                      </a:pPr>
                      <a:r>
                        <a:rPr sz="1700" i="0" b="1">
                          <a:solidFill>
                            <a:srgbClr val="FFFFFF"/>
                          </a:solidFill>
                          <a:latin typeface="Helvetica Neue"/>
                        </a:rPr>
                        <a:t>Why</a:t>
                      </a:r>
                    </a:p>
                  </a:txBody>
                  <a:tcPr marL="109728" marR="109728" marT="54864" marB="54864" anchor="ctr">
                    <a:solidFill>
                      <a:srgbClr val="1E3A5F"/>
                    </a:solidFill>
                  </a:tcPr>
                </a:tc>
              </a:tr>
              <a:tr h="405384">
                <a:tc>
                  <a:txBody>
                    <a:bodyPr wrap="square"/>
                    <a:lstStyle/>
                    <a:p>
                      <a:pPr>
                        <a:lnSpc>
                          <a:spcPct val="100000"/>
                        </a:lnSpc>
                      </a:pPr>
                      <a:r>
                        <a:rPr sz="1700" i="0" b="1">
                          <a:solidFill>
                            <a:srgbClr val="1E293B"/>
                          </a:solidFill>
                          <a:latin typeface="Helvetica Neue"/>
                        </a:rPr>
                        <a:t>SQL and BI, one team</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Warehouse</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Less to operate</a:t>
                      </a:r>
                    </a:p>
                  </a:txBody>
                  <a:tcPr marL="109728" marR="109728" marT="54864" marB="54864" anchor="ctr">
                    <a:solidFill>
                      <a:srgbClr val="FFFFFF"/>
                    </a:solidFill>
                  </a:tcPr>
                </a:tc>
              </a:tr>
              <a:tr h="405384">
                <a:tc>
                  <a:txBody>
                    <a:bodyPr wrap="square"/>
                    <a:lstStyle/>
                    <a:p>
                      <a:pPr>
                        <a:lnSpc>
                          <a:spcPct val="100000"/>
                        </a:lnSpc>
                      </a:pPr>
                      <a:r>
                        <a:rPr sz="1700" i="0" b="1">
                          <a:solidFill>
                            <a:srgbClr val="1E293B"/>
                          </a:solidFill>
                          <a:latin typeface="Helvetica Neue"/>
                        </a:rPr>
                        <a:t>ML and SQL on the same data</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Lakehouse</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Direct file reads, one copy</a:t>
                      </a:r>
                    </a:p>
                  </a:txBody>
                  <a:tcPr marL="109728" marR="109728" marT="54864" marB="54864" anchor="ctr">
                    <a:solidFill>
                      <a:srgbClr val="F8FAFC"/>
                    </a:solidFill>
                  </a:tcPr>
                </a:tc>
              </a:tr>
              <a:tr h="405384">
                <a:tc>
                  <a:txBody>
                    <a:bodyPr wrap="square"/>
                    <a:lstStyle/>
                    <a:p>
                      <a:pPr>
                        <a:lnSpc>
                          <a:spcPct val="100000"/>
                        </a:lnSpc>
                      </a:pPr>
                      <a:r>
                        <a:rPr sz="1700" i="0" b="1">
                          <a:solidFill>
                            <a:srgbClr val="1E293B"/>
                          </a:solidFill>
                          <a:latin typeface="Helvetica Neue"/>
                        </a:rPr>
                        <a:t>Several engines, avoid lock-in</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Lakehouse</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Open format as the interface</a:t>
                      </a:r>
                    </a:p>
                  </a:txBody>
                  <a:tcPr marL="109728" marR="109728" marT="54864" marB="54864" anchor="ctr">
                    <a:solidFill>
                      <a:srgbClr val="FFFFFF"/>
                    </a:solidFill>
                  </a:tcPr>
                </a:tc>
              </a:tr>
              <a:tr h="405384">
                <a:tc>
                  <a:txBody>
                    <a:bodyPr wrap="square"/>
                    <a:lstStyle/>
                    <a:p>
                      <a:pPr>
                        <a:lnSpc>
                          <a:spcPct val="100000"/>
                        </a:lnSpc>
                      </a:pPr>
                      <a:r>
                        <a:rPr sz="1700" i="0" b="1">
                          <a:solidFill>
                            <a:srgbClr val="1E293B"/>
                          </a:solidFill>
                          <a:latin typeface="Helvetica Neue"/>
                        </a:rPr>
                        <a:t>Tables must always agree</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Warehouse</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Multi-table transactions</a:t>
                      </a:r>
                    </a:p>
                  </a:txBody>
                  <a:tcPr marL="109728" marR="109728" marT="54864" marB="54864" anchor="ctr">
                    <a:solidFill>
                      <a:srgbClr val="F8FAFC"/>
                    </a:solidFill>
                  </a:tcPr>
                </a:tc>
              </a:tr>
              <a:tr h="405384">
                <a:tc>
                  <a:txBody>
                    <a:bodyPr wrap="square"/>
                    <a:lstStyle/>
                    <a:p>
                      <a:pPr>
                        <a:lnSpc>
                          <a:spcPct val="100000"/>
                        </a:lnSpc>
                      </a:pPr>
                      <a:r>
                        <a:rPr sz="1700" i="0" b="1">
                          <a:solidFill>
                            <a:srgbClr val="1E293B"/>
                          </a:solidFill>
                          <a:latin typeface="Helvetica Neue"/>
                        </a:rPr>
                        <a:t>Fits on one machine</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DuckDB</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Neither yet</a:t>
                      </a:r>
                    </a:p>
                  </a:txBody>
                  <a:tcPr marL="109728" marR="109728" marT="54864" marB="54864" anchor="ctr">
                    <a:solidFill>
                      <a:srgbClr val="FFFFFF"/>
                    </a:solidFill>
                  </a:tcPr>
                </a:tc>
              </a:tr>
            </a:tbl>
          </a:graphicData>
        </a:graphic>
      </p:graphicFrame>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E3A5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463040"/>
            <a:ext cx="5486400" cy="457200"/>
          </a:xfrm>
          <a:prstGeom prst="rect">
            <a:avLst/>
          </a:prstGeom>
          <a:noFill/>
        </p:spPr>
        <p:txBody>
          <a:bodyPr wrap="square" lIns="0" rIns="0" tIns="0" bIns="0" anchor="t">
            <a:noAutofit/>
          </a:bodyPr>
          <a:lstStyle/>
          <a:p>
            <a:pPr algn="l">
              <a:lnSpc>
                <a:spcPct val="110000"/>
              </a:lnSpc>
            </a:pPr>
            <a:r>
              <a:rPr sz="1800" i="0" b="1">
                <a:solidFill>
                  <a:srgbClr val="0EA5C9"/>
                </a:solidFill>
                <a:latin typeface="Helvetica Neue"/>
              </a:rPr>
              <a:t>PART 4</a:t>
            </a:r>
          </a:p>
        </p:txBody>
      </p:sp>
      <p:sp>
        <p:nvSpPr>
          <p:cNvPr id="4" name="TextBox 3"/>
          <p:cNvSpPr txBox="1"/>
          <p:nvPr/>
        </p:nvSpPr>
        <p:spPr>
          <a:xfrm>
            <a:off x="822960" y="1965960"/>
            <a:ext cx="5486400" cy="1859280"/>
          </a:xfrm>
          <a:prstGeom prst="rect">
            <a:avLst/>
          </a:prstGeom>
          <a:noFill/>
        </p:spPr>
        <p:txBody>
          <a:bodyPr wrap="square" lIns="0" rIns="0" tIns="0" bIns="0" anchor="t">
            <a:noAutofit/>
          </a:bodyPr>
          <a:lstStyle/>
          <a:p>
            <a:pPr algn="l">
              <a:lnSpc>
                <a:spcPct val="95000"/>
              </a:lnSpc>
            </a:pPr>
            <a:r>
              <a:rPr sz="5000" i="0" b="1">
                <a:solidFill>
                  <a:srgbClr val="FFFFFF"/>
                </a:solidFill>
                <a:latin typeface="Helvetica Neue"/>
              </a:rPr>
              <a:t>Data that never stops arriving</a:t>
            </a:r>
          </a:p>
        </p:txBody>
      </p:sp>
      <p:sp>
        <p:nvSpPr>
          <p:cNvPr id="5" name="TextBox 4"/>
          <p:cNvSpPr txBox="1"/>
          <p:nvPr/>
        </p:nvSpPr>
        <p:spPr>
          <a:xfrm>
            <a:off x="822960" y="3916680"/>
            <a:ext cx="5303520" cy="1371600"/>
          </a:xfrm>
          <a:prstGeom prst="rect">
            <a:avLst/>
          </a:prstGeom>
          <a:noFill/>
        </p:spPr>
        <p:txBody>
          <a:bodyPr wrap="square" lIns="0" rIns="0" tIns="0" bIns="0" anchor="t">
            <a:noAutofit/>
          </a:bodyPr>
          <a:lstStyle/>
          <a:p>
            <a:pPr algn="l">
              <a:lnSpc>
                <a:spcPct val="110000"/>
              </a:lnSpc>
            </a:pPr>
            <a:r>
              <a:rPr sz="2000" i="0" b="0">
                <a:solidFill>
                  <a:srgbClr val="0EA5C9"/>
                </a:solidFill>
                <a:latin typeface="Helvetica Neue"/>
              </a:rPr>
              <a:t>The log · Three guarantees · Exactly once · Watermarks</a:t>
            </a:r>
          </a:p>
        </p:txBody>
      </p:sp>
      <p:cxnSp>
        <p:nvCxnSpPr>
          <p:cNvPr id="6" name="Connector 5"/>
          <p:cNvCxnSpPr/>
          <p:nvPr/>
        </p:nvCxnSpPr>
        <p:spPr>
          <a:xfrm>
            <a:off x="6446520" y="2349500"/>
            <a:ext cx="0" cy="2159000"/>
          </a:xfrm>
          <a:prstGeom prst="line">
            <a:avLst/>
          </a:prstGeom>
          <a:ln w="19050">
            <a:solidFill>
              <a:srgbClr val="3B5A80"/>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766560" y="2349500"/>
            <a:ext cx="4693615" cy="2341880"/>
          </a:xfrm>
          <a:prstGeom prst="rect">
            <a:avLst/>
          </a:prstGeom>
          <a:noFill/>
        </p:spPr>
        <p:txBody>
          <a:bodyPr wrap="square" lIns="0" rIns="0" tIns="0" bIns="0" anchor="t">
            <a:noAutofit/>
          </a:bodyPr>
          <a:lstStyle/>
          <a:p>
            <a:pPr algn="l">
              <a:lnSpc>
                <a:spcPct val="100000"/>
              </a:lnSpc>
            </a:pPr>
            <a:r>
              <a:rPr sz="1700" i="0" b="0">
                <a:solidFill>
                  <a:srgbClr val="CBD5E1"/>
                </a:solidFill>
                <a:latin typeface="Helvetica Neue"/>
              </a:rPr>
              <a:t>One fare, counted zero, one or two times</a:t>
            </a:r>
          </a:p>
          <a:p>
            <a:pPr algn="l">
              <a:lnSpc>
                <a:spcPct val="100000"/>
              </a:lnSpc>
              <a:spcBef>
                <a:spcPts val="1189"/>
              </a:spcBef>
            </a:pPr>
            <a:r>
              <a:rPr sz="1700" i="0" b="0">
                <a:solidFill>
                  <a:srgbClr val="CBD5E1"/>
                </a:solidFill>
                <a:latin typeface="Helvetica Neue"/>
              </a:rPr>
              <a:t>Nine rides at $10, one crash</a:t>
            </a:r>
          </a:p>
          <a:p>
            <a:pPr algn="l">
              <a:lnSpc>
                <a:spcPct val="100000"/>
              </a:lnSpc>
              <a:spcBef>
                <a:spcPts val="1189"/>
              </a:spcBef>
            </a:pPr>
            <a:r>
              <a:rPr sz="1700" i="0" b="0">
                <a:solidFill>
                  <a:srgbClr val="CBD5E1"/>
                </a:solidFill>
                <a:latin typeface="Helvetica Neue"/>
              </a:rPr>
              <a:t>Exactly-once holds inside a boundary</a:t>
            </a:r>
          </a:p>
          <a:p>
            <a:pPr algn="l">
              <a:lnSpc>
                <a:spcPct val="100000"/>
              </a:lnSpc>
              <a:spcBef>
                <a:spcPts val="1189"/>
              </a:spcBef>
            </a:pPr>
            <a:r>
              <a:rPr sz="1700" i="0" b="0">
                <a:solidFill>
                  <a:srgbClr val="CBD5E1"/>
                </a:solidFill>
                <a:latin typeface="Helvetica Neue"/>
              </a:rPr>
              <a:t>A watermark decides when a window closes</a:t>
            </a:r>
          </a:p>
          <a:p>
            <a:pPr algn="l">
              <a:lnSpc>
                <a:spcPct val="100000"/>
              </a:lnSpc>
              <a:spcBef>
                <a:spcPts val="1189"/>
              </a:spcBef>
            </a:pPr>
            <a:r>
              <a:rPr sz="1700" i="0" b="0">
                <a:solidFill>
                  <a:srgbClr val="CBD5E1"/>
                </a:solidFill>
                <a:latin typeface="Helvetica Neue"/>
              </a:rPr>
              <a:t>Allowed lateness trades loss against delay</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64748B"/>
                </a:solidFill>
                <a:latin typeface="Helvetica Neue"/>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700" i="0" b="1">
                <a:solidFill>
                  <a:srgbClr val="FFFFFF"/>
                </a:solidFill>
                <a:latin typeface="Helvetica Neue"/>
              </a:rPr>
              <a:t>One fare, counted zero, one or two times</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0EA5C9"/>
                </a:solidFill>
                <a:latin typeface="Helvetica Neue"/>
              </a:rPr>
              <a:t>The problem</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4 · Data that never stops arriving</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notes/04-kafka-and-stream-semantics.md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20</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600" i="0" b="1">
                <a:solidFill>
                  <a:srgbClr val="1E3A5F"/>
                </a:solidFill>
                <a:latin typeface="Helvetica Neue"/>
              </a:rPr>
              <a:t>Delivery guarantees reduce to one ordering question, and getting it wrong miscounts silently.</a:t>
            </a:r>
          </a:p>
        </p:txBody>
      </p:sp>
      <p:sp>
        <p:nvSpPr>
          <p:cNvPr id="13" name="Rectangle 12"/>
          <p:cNvSpPr/>
          <p:nvPr/>
        </p:nvSpPr>
        <p:spPr>
          <a:xfrm>
            <a:off x="777240" y="1997964"/>
            <a:ext cx="109728" cy="2962656"/>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234440" y="1997964"/>
            <a:ext cx="10088575" cy="2596896"/>
          </a:xfrm>
          <a:prstGeom prst="rect">
            <a:avLst/>
          </a:prstGeom>
          <a:noFill/>
        </p:spPr>
        <p:txBody>
          <a:bodyPr wrap="square" lIns="0" rIns="0" tIns="0" bIns="0" anchor="t">
            <a:noAutofit/>
          </a:bodyPr>
          <a:lstStyle/>
          <a:p>
            <a:pPr algn="l">
              <a:lnSpc>
                <a:spcPct val="105000"/>
              </a:lnSpc>
            </a:pPr>
            <a:r>
              <a:rPr sz="3600" i="0" b="1">
                <a:solidFill>
                  <a:srgbClr val="1E3A5F"/>
                </a:solidFill>
                <a:latin typeface="Helvetica Neue"/>
              </a:rPr>
              <a:t>A consumer crashes between saving its output and saving its position. What you counted depends on a choice made months ago.</a:t>
            </a:r>
          </a:p>
        </p:txBody>
      </p:sp>
      <p:sp>
        <p:nvSpPr>
          <p:cNvPr id="15" name="TextBox 14"/>
          <p:cNvSpPr txBox="1"/>
          <p:nvPr/>
        </p:nvSpPr>
        <p:spPr>
          <a:xfrm>
            <a:off x="1234440" y="4549140"/>
            <a:ext cx="10088575" cy="365760"/>
          </a:xfrm>
          <a:prstGeom prst="rect">
            <a:avLst/>
          </a:prstGeom>
          <a:noFill/>
        </p:spPr>
        <p:txBody>
          <a:bodyPr wrap="square" lIns="0" rIns="0" tIns="0" bIns="0" anchor="t">
            <a:noAutofit/>
          </a:bodyPr>
          <a:lstStyle/>
          <a:p>
            <a:pPr algn="l">
              <a:lnSpc>
                <a:spcPct val="110000"/>
              </a:lnSpc>
            </a:pPr>
            <a:r>
              <a:rPr sz="1700" i="1" b="0">
                <a:solidFill>
                  <a:srgbClr val="475569"/>
                </a:solidFill>
                <a:latin typeface="Helvetica Neue"/>
              </a:rPr>
              <a:t>The Kafka docs warn that exactly-once claims need the fine print read</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Nine rides at $10, one crash</a:t>
            </a:r>
          </a:p>
        </p:txBody>
      </p:sp>
      <p:sp>
        <p:nvSpPr>
          <p:cNvPr id="5" name="Rectangle 4"/>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4 · Data that never stops arriving</a:t>
            </a:r>
          </a:p>
        </p:txBody>
      </p:sp>
      <p:sp>
        <p:nvSpPr>
          <p:cNvPr id="7" name="TextBox 6"/>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notes/04-kafka-and-stream-semantics.md</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21</a:t>
            </a:r>
          </a:p>
        </p:txBody>
      </p:sp>
      <p:sp>
        <p:nvSpPr>
          <p:cNvPr id="9" name="Rectangle 8"/>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5715000"/>
            <a:ext cx="73152" cy="502920"/>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600" i="0" b="1">
                <a:solidFill>
                  <a:srgbClr val="1E3A5F"/>
                </a:solidFill>
                <a:latin typeface="Helvetica Neue"/>
              </a:rPr>
              <a:t>Commit output and offset together or make the sink idempotent, because neither order alone is safe.</a:t>
            </a:r>
          </a:p>
        </p:txBody>
      </p:sp>
      <p:sp>
        <p:nvSpPr>
          <p:cNvPr id="12" name="Rounded Rectangle 11"/>
          <p:cNvSpPr/>
          <p:nvPr/>
        </p:nvSpPr>
        <p:spPr>
          <a:xfrm>
            <a:off x="502920" y="1472184"/>
            <a:ext cx="6711513" cy="1904999"/>
          </a:xfrm>
          <a:prstGeom prst="roundRect">
            <a:avLst>
              <a:gd name="adj" fmla="val 3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1581912"/>
            <a:ext cx="6254313" cy="274320"/>
          </a:xfrm>
          <a:prstGeom prst="rect">
            <a:avLst/>
          </a:prstGeom>
          <a:noFill/>
        </p:spPr>
        <p:txBody>
          <a:bodyPr wrap="square" lIns="0" rIns="0" tIns="0" bIns="0" anchor="t">
            <a:noAutofit/>
          </a:bodyPr>
          <a:lstStyle/>
          <a:p>
            <a:pPr algn="l">
              <a:lnSpc>
                <a:spcPct val="110000"/>
              </a:lnSpc>
            </a:pPr>
            <a:r>
              <a:rPr sz="1000" i="0" b="1">
                <a:solidFill>
                  <a:srgbClr val="94A3B8"/>
                </a:solidFill>
                <a:latin typeface="Helvetica Neue"/>
              </a:rPr>
              <a:t>TEXT</a:t>
            </a:r>
          </a:p>
        </p:txBody>
      </p:sp>
      <p:sp>
        <p:nvSpPr>
          <p:cNvPr id="14" name="TextBox 13"/>
          <p:cNvSpPr txBox="1"/>
          <p:nvPr/>
        </p:nvSpPr>
        <p:spPr>
          <a:xfrm>
            <a:off x="731520" y="1883664"/>
            <a:ext cx="6254313" cy="1264919"/>
          </a:xfrm>
          <a:prstGeom prst="rect">
            <a:avLst/>
          </a:prstGeom>
          <a:noFill/>
        </p:spPr>
        <p:txBody>
          <a:bodyPr wrap="square" lIns="0" rIns="0" tIns="0" bIns="0" anchor="t">
            <a:noAutofit/>
          </a:bodyPr>
          <a:lstStyle/>
          <a:p>
            <a:pPr algn="l">
              <a:lnSpc>
                <a:spcPct val="100000"/>
              </a:lnSpc>
            </a:pPr>
            <a:r>
              <a:rPr sz="1600" i="0" b="0">
                <a:solidFill>
                  <a:srgbClr val="E2E8F0"/>
                </a:solidFill>
                <a:latin typeface="Menlo"/>
              </a:rPr>
              <a:t>at_most   rows= 6  revenue=  60  (truth 90)</a:t>
            </a:r>
          </a:p>
          <a:p>
            <a:pPr algn="l">
              <a:lnSpc>
                <a:spcPct val="100000"/>
              </a:lnSpc>
            </a:pPr>
            <a:r>
              <a:rPr sz="1600" i="0" b="0">
                <a:solidFill>
                  <a:srgbClr val="E2E8F0"/>
                </a:solidFill>
                <a:latin typeface="Menlo"/>
              </a:rPr>
              <a:t>at_least  rows=12  revenue= 120  (truth 90)</a:t>
            </a:r>
          </a:p>
          <a:p>
            <a:pPr algn="l">
              <a:lnSpc>
                <a:spcPct val="100000"/>
              </a:lnSpc>
            </a:pPr>
            <a:r>
              <a:rPr sz="1600" i="0" b="0">
                <a:solidFill>
                  <a:srgbClr val="E2E8F0"/>
                </a:solidFill>
                <a:latin typeface="Menlo"/>
              </a:rPr>
              <a:t>atomic    rows= 9  revenue=  90  (truth 90)</a:t>
            </a:r>
          </a:p>
          <a:p>
            <a:pPr algn="l">
              <a:lnSpc>
                <a:spcPct val="100000"/>
              </a:lnSpc>
            </a:pPr>
            <a:r>
              <a:rPr sz="1600" i="0" b="0">
                <a:solidFill>
                  <a:srgbClr val="E2E8F0"/>
                </a:solidFill>
                <a:latin typeface="Menlo"/>
              </a:rPr>
              <a:t>at_least + keyed upsert</a:t>
            </a:r>
          </a:p>
          <a:p>
            <a:pPr algn="l">
              <a:lnSpc>
                <a:spcPct val="100000"/>
              </a:lnSpc>
            </a:pPr>
            <a:r>
              <a:rPr sz="1600" i="0" b="0">
                <a:solidFill>
                  <a:srgbClr val="E2E8F0"/>
                </a:solidFill>
                <a:latin typeface="Menlo"/>
              </a:rPr>
              <a:t>          rows= 9  revenue=  90</a:t>
            </a:r>
          </a:p>
        </p:txBody>
      </p:sp>
      <p:sp>
        <p:nvSpPr>
          <p:cNvPr id="15" name="Rectangle 14"/>
          <p:cNvSpPr/>
          <p:nvPr/>
        </p:nvSpPr>
        <p:spPr>
          <a:xfrm>
            <a:off x="7580193" y="1604772"/>
            <a:ext cx="96012" cy="96012"/>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00233" y="1517904"/>
            <a:ext cx="3788542" cy="393191"/>
          </a:xfrm>
          <a:prstGeom prst="rect">
            <a:avLst/>
          </a:prstGeom>
          <a:noFill/>
        </p:spPr>
        <p:txBody>
          <a:bodyPr wrap="square" lIns="0" rIns="0" tIns="0" bIns="0" anchor="t">
            <a:noAutofit/>
          </a:bodyPr>
          <a:lstStyle/>
          <a:p>
            <a:pPr algn="l">
              <a:lnSpc>
                <a:spcPct val="110000"/>
              </a:lnSpc>
            </a:pPr>
            <a:r>
              <a:rPr sz="1800" i="0" b="1">
                <a:solidFill>
                  <a:srgbClr val="1E293B"/>
                </a:solidFill>
                <a:latin typeface="Helvetica Neue"/>
              </a:rPr>
              <a:t>Offset first:</a:t>
            </a:r>
            <a:r>
              <a:rPr sz="1800" i="0" b="0">
                <a:solidFill>
                  <a:srgbClr val="1E293B"/>
                </a:solidFill>
                <a:latin typeface="Helvetica Neue"/>
              </a:rPr>
              <a:t> lose on a crash.</a:t>
            </a:r>
          </a:p>
        </p:txBody>
      </p:sp>
      <p:sp>
        <p:nvSpPr>
          <p:cNvPr id="17" name="Rectangle 16"/>
          <p:cNvSpPr/>
          <p:nvPr/>
        </p:nvSpPr>
        <p:spPr>
          <a:xfrm>
            <a:off x="7580193" y="2043684"/>
            <a:ext cx="96012" cy="96012"/>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00233" y="1956816"/>
            <a:ext cx="3788542" cy="694943"/>
          </a:xfrm>
          <a:prstGeom prst="rect">
            <a:avLst/>
          </a:prstGeom>
          <a:noFill/>
        </p:spPr>
        <p:txBody>
          <a:bodyPr wrap="square" lIns="0" rIns="0" tIns="0" bIns="0" anchor="t">
            <a:noAutofit/>
          </a:bodyPr>
          <a:lstStyle/>
          <a:p>
            <a:pPr algn="l">
              <a:lnSpc>
                <a:spcPct val="110000"/>
              </a:lnSpc>
            </a:pPr>
            <a:r>
              <a:rPr sz="1800" i="0" b="1">
                <a:solidFill>
                  <a:srgbClr val="1E293B"/>
                </a:solidFill>
                <a:latin typeface="Helvetica Neue"/>
              </a:rPr>
              <a:t>Output first:</a:t>
            </a:r>
            <a:r>
              <a:rPr sz="1800" i="0" b="0">
                <a:solidFill>
                  <a:srgbClr val="1E293B"/>
                </a:solidFill>
                <a:latin typeface="Helvetica Neue"/>
              </a:rPr>
              <a:t> duplicate on a crash.</a:t>
            </a:r>
          </a:p>
        </p:txBody>
      </p:sp>
      <p:sp>
        <p:nvSpPr>
          <p:cNvPr id="19" name="Rectangle 18"/>
          <p:cNvSpPr/>
          <p:nvPr/>
        </p:nvSpPr>
        <p:spPr>
          <a:xfrm>
            <a:off x="7580193" y="2784348"/>
            <a:ext cx="96012" cy="96012"/>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00233" y="2697479"/>
            <a:ext cx="3788542" cy="694943"/>
          </a:xfrm>
          <a:prstGeom prst="rect">
            <a:avLst/>
          </a:prstGeom>
          <a:noFill/>
        </p:spPr>
        <p:txBody>
          <a:bodyPr wrap="square" lIns="0" rIns="0" tIns="0" bIns="0" anchor="t">
            <a:noAutofit/>
          </a:bodyPr>
          <a:lstStyle/>
          <a:p>
            <a:pPr algn="l">
              <a:lnSpc>
                <a:spcPct val="110000"/>
              </a:lnSpc>
            </a:pPr>
            <a:r>
              <a:rPr sz="1800" i="0" b="1">
                <a:solidFill>
                  <a:srgbClr val="1E293B"/>
                </a:solidFill>
                <a:latin typeface="Helvetica Neue"/>
              </a:rPr>
              <a:t>Keyed upsert:</a:t>
            </a:r>
            <a:r>
              <a:rPr sz="1800" i="0" b="0">
                <a:solidFill>
                  <a:srgbClr val="1E293B"/>
                </a:solidFill>
                <a:latin typeface="Helvetica Neue"/>
              </a:rPr>
              <a:t> the cheap route out.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Exactly-once holds inside a boundary</a:t>
            </a:r>
          </a:p>
        </p:txBody>
      </p:sp>
      <p:sp>
        <p:nvSpPr>
          <p:cNvPr id="5" name="Rectangle 4"/>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4 · Data that never stops arriving</a:t>
            </a:r>
          </a:p>
        </p:txBody>
      </p:sp>
      <p:sp>
        <p:nvSpPr>
          <p:cNvPr id="7" name="TextBox 6"/>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notes/04-kafka-and-stream-semantics.md</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22</a:t>
            </a:r>
          </a:p>
        </p:txBody>
      </p:sp>
      <p:sp>
        <p:nvSpPr>
          <p:cNvPr id="9" name="Rectangle 8"/>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5715000"/>
            <a:ext cx="73152" cy="502920"/>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500" i="0" b="1">
                <a:solidFill>
                  <a:srgbClr val="1E3A5F"/>
                </a:solidFill>
                <a:latin typeface="Helvetica Neue"/>
              </a:rPr>
              <a:t>Exactly-once means the final effect is as if no fault occurred, and it stops at the transaction boundary.</a:t>
            </a:r>
          </a:p>
        </p:txBody>
      </p:sp>
      <p:sp>
        <p:nvSpPr>
          <p:cNvPr id="12" name="Rectangle 11"/>
          <p:cNvSpPr/>
          <p:nvPr/>
        </p:nvSpPr>
        <p:spPr>
          <a:xfrm>
            <a:off x="502920" y="1472184"/>
            <a:ext cx="2590723" cy="2548128"/>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472184"/>
            <a:ext cx="82296" cy="2548128"/>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655064"/>
            <a:ext cx="2133523" cy="627888"/>
          </a:xfrm>
          <a:prstGeom prst="rect">
            <a:avLst/>
          </a:prstGeom>
          <a:noFill/>
        </p:spPr>
        <p:txBody>
          <a:bodyPr wrap="square" lIns="0" rIns="0" tIns="0" bIns="0" anchor="t">
            <a:noAutofit/>
          </a:bodyPr>
          <a:lstStyle/>
          <a:p>
            <a:pPr algn="l">
              <a:lnSpc>
                <a:spcPct val="110000"/>
              </a:lnSpc>
            </a:pPr>
            <a:r>
              <a:rPr sz="1600" i="0" b="1">
                <a:solidFill>
                  <a:srgbClr val="1E293B"/>
                </a:solidFill>
                <a:latin typeface="Helvetica Neue"/>
              </a:rPr>
              <a:t>Idempotent producer</a:t>
            </a:r>
          </a:p>
        </p:txBody>
      </p:sp>
      <p:sp>
        <p:nvSpPr>
          <p:cNvPr id="15" name="TextBox 14"/>
          <p:cNvSpPr txBox="1"/>
          <p:nvPr/>
        </p:nvSpPr>
        <p:spPr>
          <a:xfrm>
            <a:off x="777240" y="2356104"/>
            <a:ext cx="2087803" cy="1481327"/>
          </a:xfrm>
          <a:prstGeom prst="rect">
            <a:avLst/>
          </a:prstGeom>
          <a:noFill/>
        </p:spPr>
        <p:txBody>
          <a:bodyPr wrap="square" lIns="0" rIns="0" tIns="0" bIns="0" anchor="t">
            <a:noAutofit/>
          </a:bodyPr>
          <a:lstStyle/>
          <a:p>
            <a:pPr algn="l">
              <a:lnSpc>
                <a:spcPct val="110000"/>
              </a:lnSpc>
            </a:pPr>
            <a:r>
              <a:rPr sz="1800" i="0" b="0">
                <a:solidFill>
                  <a:srgbClr val="475569"/>
                </a:solidFill>
                <a:latin typeface="Helvetica Neue"/>
              </a:rPr>
              <a:t>A producer ID and sequence number let the broker reject a retry.</a:t>
            </a:r>
          </a:p>
        </p:txBody>
      </p:sp>
      <p:sp>
        <p:nvSpPr>
          <p:cNvPr id="16" name="Rectangle 15"/>
          <p:cNvSpPr/>
          <p:nvPr/>
        </p:nvSpPr>
        <p:spPr>
          <a:xfrm>
            <a:off x="3367963" y="1472184"/>
            <a:ext cx="2590723" cy="2548128"/>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367963" y="1472184"/>
            <a:ext cx="82296" cy="2548128"/>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42283" y="1655064"/>
            <a:ext cx="2133523" cy="359664"/>
          </a:xfrm>
          <a:prstGeom prst="rect">
            <a:avLst/>
          </a:prstGeom>
          <a:noFill/>
        </p:spPr>
        <p:txBody>
          <a:bodyPr wrap="square" lIns="0" rIns="0" tIns="0" bIns="0" anchor="t">
            <a:noAutofit/>
          </a:bodyPr>
          <a:lstStyle/>
          <a:p>
            <a:pPr algn="l">
              <a:lnSpc>
                <a:spcPct val="110000"/>
              </a:lnSpc>
            </a:pPr>
            <a:r>
              <a:rPr sz="1600" i="0" b="1">
                <a:solidFill>
                  <a:srgbClr val="1E293B"/>
                </a:solidFill>
                <a:latin typeface="Helvetica Neue"/>
              </a:rPr>
              <a:t>Transactions</a:t>
            </a:r>
          </a:p>
        </p:txBody>
      </p:sp>
      <p:sp>
        <p:nvSpPr>
          <p:cNvPr id="19" name="TextBox 18"/>
          <p:cNvSpPr txBox="1"/>
          <p:nvPr/>
        </p:nvSpPr>
        <p:spPr>
          <a:xfrm>
            <a:off x="3642283" y="2087880"/>
            <a:ext cx="2087803" cy="1749551"/>
          </a:xfrm>
          <a:prstGeom prst="rect">
            <a:avLst/>
          </a:prstGeom>
          <a:noFill/>
        </p:spPr>
        <p:txBody>
          <a:bodyPr wrap="square" lIns="0" rIns="0" tIns="0" bIns="0" anchor="t">
            <a:noAutofit/>
          </a:bodyPr>
          <a:lstStyle/>
          <a:p>
            <a:pPr algn="l">
              <a:lnSpc>
                <a:spcPct val="110000"/>
              </a:lnSpc>
            </a:pPr>
            <a:r>
              <a:rPr sz="1800" i="0" b="0">
                <a:solidFill>
                  <a:srgbClr val="475569"/>
                </a:solidFill>
                <a:latin typeface="Helvetica Neue"/>
              </a:rPr>
              <a:t>Writes to several partitions and the offsets commit together.</a:t>
            </a:r>
          </a:p>
        </p:txBody>
      </p:sp>
      <p:sp>
        <p:nvSpPr>
          <p:cNvPr id="20" name="Rectangle 19"/>
          <p:cNvSpPr/>
          <p:nvPr/>
        </p:nvSpPr>
        <p:spPr>
          <a:xfrm>
            <a:off x="6233007" y="1472184"/>
            <a:ext cx="2590723" cy="2548128"/>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33007" y="1472184"/>
            <a:ext cx="82296" cy="2548128"/>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07327" y="1655064"/>
            <a:ext cx="2133523" cy="359664"/>
          </a:xfrm>
          <a:prstGeom prst="rect">
            <a:avLst/>
          </a:prstGeom>
          <a:noFill/>
        </p:spPr>
        <p:txBody>
          <a:bodyPr wrap="square" lIns="0" rIns="0" tIns="0" bIns="0" anchor="t">
            <a:noAutofit/>
          </a:bodyPr>
          <a:lstStyle/>
          <a:p>
            <a:pPr algn="l">
              <a:lnSpc>
                <a:spcPct val="110000"/>
              </a:lnSpc>
            </a:pPr>
            <a:r>
              <a:rPr sz="1600" i="0" b="1">
                <a:solidFill>
                  <a:srgbClr val="1E293B"/>
                </a:solidFill>
                <a:latin typeface="Helvetica Neue"/>
              </a:rPr>
              <a:t>read_committed</a:t>
            </a:r>
          </a:p>
        </p:txBody>
      </p:sp>
      <p:sp>
        <p:nvSpPr>
          <p:cNvPr id="23" name="TextBox 22"/>
          <p:cNvSpPr txBox="1"/>
          <p:nvPr/>
        </p:nvSpPr>
        <p:spPr>
          <a:xfrm>
            <a:off x="6507327" y="2087880"/>
            <a:ext cx="2087803" cy="1749551"/>
          </a:xfrm>
          <a:prstGeom prst="rect">
            <a:avLst/>
          </a:prstGeom>
          <a:noFill/>
        </p:spPr>
        <p:txBody>
          <a:bodyPr wrap="square" lIns="0" rIns="0" tIns="0" bIns="0" anchor="t">
            <a:noAutofit/>
          </a:bodyPr>
          <a:lstStyle/>
          <a:p>
            <a:pPr algn="l">
              <a:lnSpc>
                <a:spcPct val="110000"/>
              </a:lnSpc>
            </a:pPr>
            <a:r>
              <a:rPr sz="1800" i="0" b="0">
                <a:solidFill>
                  <a:srgbClr val="475569"/>
                </a:solidFill>
                <a:latin typeface="Helvetica Neue"/>
              </a:rPr>
              <a:t>Consumers see only committed transactional messages.</a:t>
            </a:r>
          </a:p>
        </p:txBody>
      </p:sp>
      <p:sp>
        <p:nvSpPr>
          <p:cNvPr id="24" name="Rectangle 23"/>
          <p:cNvSpPr/>
          <p:nvPr/>
        </p:nvSpPr>
        <p:spPr>
          <a:xfrm>
            <a:off x="9098051" y="1472184"/>
            <a:ext cx="2590723" cy="2548128"/>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098051" y="1472184"/>
            <a:ext cx="82296" cy="2548128"/>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372371" y="1655064"/>
            <a:ext cx="2133523" cy="359664"/>
          </a:xfrm>
          <a:prstGeom prst="rect">
            <a:avLst/>
          </a:prstGeom>
          <a:noFill/>
        </p:spPr>
        <p:txBody>
          <a:bodyPr wrap="square" lIns="0" rIns="0" tIns="0" bIns="0" anchor="t">
            <a:noAutofit/>
          </a:bodyPr>
          <a:lstStyle/>
          <a:p>
            <a:pPr algn="l">
              <a:lnSpc>
                <a:spcPct val="110000"/>
              </a:lnSpc>
            </a:pPr>
            <a:r>
              <a:rPr sz="1600" i="0" b="1">
                <a:solidFill>
                  <a:srgbClr val="1E293B"/>
                </a:solidFill>
                <a:latin typeface="Helvetica Neue"/>
              </a:rPr>
              <a:t>The boundary</a:t>
            </a:r>
          </a:p>
        </p:txBody>
      </p:sp>
      <p:sp>
        <p:nvSpPr>
          <p:cNvPr id="27" name="TextBox 26"/>
          <p:cNvSpPr txBox="1"/>
          <p:nvPr/>
        </p:nvSpPr>
        <p:spPr>
          <a:xfrm>
            <a:off x="9372371" y="2087880"/>
            <a:ext cx="2087803" cy="1749551"/>
          </a:xfrm>
          <a:prstGeom prst="rect">
            <a:avLst/>
          </a:prstGeom>
          <a:noFill/>
        </p:spPr>
        <p:txBody>
          <a:bodyPr wrap="square" lIns="0" rIns="0" tIns="0" bIns="0" anchor="t">
            <a:noAutofit/>
          </a:bodyPr>
          <a:lstStyle/>
          <a:p>
            <a:pPr algn="l">
              <a:lnSpc>
                <a:spcPct val="110000"/>
              </a:lnSpc>
            </a:pPr>
            <a:r>
              <a:rPr sz="1800" i="0" b="0">
                <a:solidFill>
                  <a:srgbClr val="475569"/>
                </a:solidFill>
                <a:latin typeface="Helvetica Neue"/>
              </a:rPr>
              <a:t>A payment API or an outside store can still happen twice.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A watermark decides when a window closes</a:t>
            </a:r>
          </a:p>
        </p:txBody>
      </p:sp>
      <p:sp>
        <p:nvSpPr>
          <p:cNvPr id="5" name="Rectangle 4"/>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4 · Data that never stops arriving</a:t>
            </a:r>
          </a:p>
        </p:txBody>
      </p:sp>
      <p:sp>
        <p:nvSpPr>
          <p:cNvPr id="7" name="TextBox 6"/>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notes/04-kafka-and-stream-semantics.md</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23</a:t>
            </a:r>
          </a:p>
        </p:txBody>
      </p:sp>
      <p:sp>
        <p:nvSpPr>
          <p:cNvPr id="9" name="Rectangle 8"/>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5715000"/>
            <a:ext cx="73152" cy="502920"/>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600" i="0" b="1">
                <a:solidFill>
                  <a:srgbClr val="1E3A5F"/>
                </a:solidFill>
                <a:latin typeface="Helvetica Neue"/>
              </a:rPr>
              <a:t>A watermark is a heuristic claim about completeness, and late data still needs a policy.</a:t>
            </a:r>
          </a:p>
        </p:txBody>
      </p:sp>
      <p:sp>
        <p:nvSpPr>
          <p:cNvPr id="12" name="Rounded Rectangle 11"/>
          <p:cNvSpPr/>
          <p:nvPr/>
        </p:nvSpPr>
        <p:spPr>
          <a:xfrm>
            <a:off x="586587" y="1563624"/>
            <a:ext cx="2377440" cy="1272540"/>
          </a:xfrm>
          <a:prstGeom prst="roundRect">
            <a:avLst>
              <a:gd name="adj" fmla="val 12000"/>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23747" y="1563624"/>
            <a:ext cx="2103120" cy="1272540"/>
          </a:xfrm>
          <a:prstGeom prst="rect">
            <a:avLst/>
          </a:prstGeom>
          <a:noFill/>
        </p:spPr>
        <p:txBody>
          <a:bodyPr wrap="square" lIns="0" rIns="0" tIns="0" bIns="0" anchor="ctr">
            <a:noAutofit/>
          </a:bodyPr>
          <a:lstStyle/>
          <a:p>
            <a:pPr algn="ctr">
              <a:lnSpc>
                <a:spcPct val="110000"/>
              </a:lnSpc>
            </a:pPr>
            <a:r>
              <a:rPr sz="1700" i="0" b="1">
                <a:solidFill>
                  <a:srgbClr val="FFFFFF"/>
                </a:solidFill>
                <a:latin typeface="Helvetica Neue"/>
              </a:rPr>
              <a:t>Highest event time seen</a:t>
            </a:r>
          </a:p>
          <a:p>
            <a:pPr algn="ctr">
              <a:lnSpc>
                <a:spcPct val="110000"/>
              </a:lnSpc>
            </a:pPr>
            <a:r>
              <a:rPr sz="1300" i="0" b="0">
                <a:solidFill>
                  <a:srgbClr val="E8F4F8"/>
                </a:solidFill>
                <a:latin typeface="Helvetica Neue"/>
              </a:rPr>
              <a:t>from the stream</a:t>
            </a:r>
          </a:p>
        </p:txBody>
      </p:sp>
      <p:cxnSp>
        <p:nvCxnSpPr>
          <p:cNvPr id="14" name="Connector 13"/>
          <p:cNvCxnSpPr/>
          <p:nvPr/>
        </p:nvCxnSpPr>
        <p:spPr>
          <a:xfrm>
            <a:off x="3018891" y="2199894"/>
            <a:ext cx="393192" cy="0"/>
          </a:xfrm>
          <a:prstGeom prst="line">
            <a:avLst/>
          </a:prstGeom>
          <a:ln w="25400">
            <a:solidFill>
              <a:srgbClr val="4755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3466947" y="1563624"/>
            <a:ext cx="2377440" cy="1272540"/>
          </a:xfrm>
          <a:prstGeom prst="roundRect">
            <a:avLst>
              <a:gd name="adj" fmla="val 12000"/>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04107" y="1563624"/>
            <a:ext cx="2103120" cy="1272540"/>
          </a:xfrm>
          <a:prstGeom prst="rect">
            <a:avLst/>
          </a:prstGeom>
          <a:noFill/>
        </p:spPr>
        <p:txBody>
          <a:bodyPr wrap="square" lIns="0" rIns="0" tIns="0" bIns="0" anchor="ctr">
            <a:noAutofit/>
          </a:bodyPr>
          <a:lstStyle/>
          <a:p>
            <a:pPr algn="ctr">
              <a:lnSpc>
                <a:spcPct val="110000"/>
              </a:lnSpc>
            </a:pPr>
            <a:r>
              <a:rPr sz="1700" i="0" b="1">
                <a:solidFill>
                  <a:srgbClr val="FFFFFF"/>
                </a:solidFill>
                <a:latin typeface="Helvetica Neue"/>
              </a:rPr>
              <a:t>Subtract lateness</a:t>
            </a:r>
          </a:p>
          <a:p>
            <a:pPr algn="ctr">
              <a:lnSpc>
                <a:spcPct val="110000"/>
              </a:lnSpc>
            </a:pPr>
            <a:r>
              <a:rPr sz="1300" i="0" b="0">
                <a:solidFill>
                  <a:srgbClr val="E8F4F8"/>
                </a:solidFill>
                <a:latin typeface="Helvetica Neue"/>
              </a:rPr>
              <a:t>this is the watermark</a:t>
            </a:r>
          </a:p>
        </p:txBody>
      </p:sp>
      <p:cxnSp>
        <p:nvCxnSpPr>
          <p:cNvPr id="17" name="Connector 16"/>
          <p:cNvCxnSpPr/>
          <p:nvPr/>
        </p:nvCxnSpPr>
        <p:spPr>
          <a:xfrm>
            <a:off x="5899251" y="2199894"/>
            <a:ext cx="393192" cy="0"/>
          </a:xfrm>
          <a:prstGeom prst="line">
            <a:avLst/>
          </a:prstGeom>
          <a:ln w="25400">
            <a:solidFill>
              <a:srgbClr val="4755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347307" y="1563624"/>
            <a:ext cx="2377440" cy="1272540"/>
          </a:xfrm>
          <a:prstGeom prst="roundRect">
            <a:avLst>
              <a:gd name="adj" fmla="val 12000"/>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84467" y="1563624"/>
            <a:ext cx="2103120" cy="1272540"/>
          </a:xfrm>
          <a:prstGeom prst="rect">
            <a:avLst/>
          </a:prstGeom>
          <a:noFill/>
        </p:spPr>
        <p:txBody>
          <a:bodyPr wrap="square" lIns="0" rIns="0" tIns="0" bIns="0" anchor="ctr">
            <a:noAutofit/>
          </a:bodyPr>
          <a:lstStyle/>
          <a:p>
            <a:pPr algn="ctr">
              <a:lnSpc>
                <a:spcPct val="110000"/>
              </a:lnSpc>
            </a:pPr>
            <a:r>
              <a:rPr sz="1700" i="0" b="1">
                <a:solidFill>
                  <a:srgbClr val="FFFFFF"/>
                </a:solidFill>
                <a:latin typeface="Helvetica Neue"/>
              </a:rPr>
              <a:t>Window fires</a:t>
            </a:r>
          </a:p>
          <a:p>
            <a:pPr algn="ctr">
              <a:lnSpc>
                <a:spcPct val="110000"/>
              </a:lnSpc>
            </a:pPr>
            <a:r>
              <a:rPr sz="1300" i="0" b="0">
                <a:solidFill>
                  <a:srgbClr val="E8F4F8"/>
                </a:solidFill>
                <a:latin typeface="Helvetica Neue"/>
              </a:rPr>
              <a:t>watermark past its end</a:t>
            </a:r>
          </a:p>
        </p:txBody>
      </p:sp>
      <p:cxnSp>
        <p:nvCxnSpPr>
          <p:cNvPr id="20" name="Connector 19"/>
          <p:cNvCxnSpPr/>
          <p:nvPr/>
        </p:nvCxnSpPr>
        <p:spPr>
          <a:xfrm>
            <a:off x="8779611" y="2199894"/>
            <a:ext cx="393192" cy="0"/>
          </a:xfrm>
          <a:prstGeom prst="line">
            <a:avLst/>
          </a:prstGeom>
          <a:ln w="25400">
            <a:solidFill>
              <a:srgbClr val="4755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9227667" y="1563624"/>
            <a:ext cx="2377440" cy="1272540"/>
          </a:xfrm>
          <a:prstGeom prst="roundRect">
            <a:avLst>
              <a:gd name="adj" fmla="val 12000"/>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364827" y="1563624"/>
            <a:ext cx="2103120" cy="1272540"/>
          </a:xfrm>
          <a:prstGeom prst="rect">
            <a:avLst/>
          </a:prstGeom>
          <a:noFill/>
        </p:spPr>
        <p:txBody>
          <a:bodyPr wrap="square" lIns="0" rIns="0" tIns="0" bIns="0" anchor="ctr">
            <a:noAutofit/>
          </a:bodyPr>
          <a:lstStyle/>
          <a:p>
            <a:pPr algn="ctr">
              <a:lnSpc>
                <a:spcPct val="110000"/>
              </a:lnSpc>
            </a:pPr>
            <a:r>
              <a:rPr sz="1700" i="0" b="1">
                <a:solidFill>
                  <a:srgbClr val="FFFFFF"/>
                </a:solidFill>
                <a:latin typeface="Helvetica Neue"/>
              </a:rPr>
              <a:t>Late event</a:t>
            </a:r>
          </a:p>
          <a:p>
            <a:pPr algn="ctr">
              <a:lnSpc>
                <a:spcPct val="110000"/>
              </a:lnSpc>
            </a:pPr>
            <a:r>
              <a:rPr sz="1300" i="0" b="0">
                <a:solidFill>
                  <a:srgbClr val="E8F4F8"/>
                </a:solidFill>
                <a:latin typeface="Helvetica Neue"/>
              </a:rPr>
              <a:t>drop, count, or correct</a:t>
            </a:r>
          </a:p>
        </p:txBody>
      </p:sp>
      <p:sp>
        <p:nvSpPr>
          <p:cNvPr id="23" name="TextBox 22"/>
          <p:cNvSpPr txBox="1"/>
          <p:nvPr/>
        </p:nvSpPr>
        <p:spPr>
          <a:xfrm>
            <a:off x="502920" y="3156204"/>
            <a:ext cx="11185855" cy="2330195"/>
          </a:xfrm>
          <a:prstGeom prst="rect">
            <a:avLst/>
          </a:prstGeom>
          <a:noFill/>
        </p:spPr>
        <p:txBody>
          <a:bodyPr wrap="square" lIns="0" rIns="0" tIns="0" bIns="0" anchor="t">
            <a:noAutofit/>
          </a:bodyPr>
          <a:lstStyle/>
          <a:p>
            <a:pPr algn="ctr">
              <a:lnSpc>
                <a:spcPct val="110000"/>
              </a:lnSpc>
            </a:pPr>
            <a:r>
              <a:rPr sz="1700" i="0" b="0">
                <a:solidFill>
                  <a:srgbClr val="475569"/>
                </a:solidFill>
                <a:latin typeface="Helvetica Neue"/>
              </a:rPr>
              <a:t>Window on event time. By arrival time a restart creates a spike that never happened in the world.</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Allowed lateness trades loss against delay</a:t>
            </a:r>
          </a:p>
        </p:txBody>
      </p:sp>
      <p:sp>
        <p:nvSpPr>
          <p:cNvPr id="5" name="Rectangle 4"/>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4 · Data that never stops arriving</a:t>
            </a:r>
          </a:p>
        </p:txBody>
      </p:sp>
      <p:sp>
        <p:nvSpPr>
          <p:cNvPr id="7" name="TextBox 6"/>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notes/04-kafka-and-stream-semantics.md</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24</a:t>
            </a:r>
          </a:p>
        </p:txBody>
      </p:sp>
      <p:sp>
        <p:nvSpPr>
          <p:cNvPr id="9" name="Rectangle 8"/>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5715000"/>
            <a:ext cx="73152" cy="502920"/>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600" i="0" b="1">
                <a:solidFill>
                  <a:srgbClr val="1E3A5F"/>
                </a:solidFill>
                <a:latin typeface="Helvetica Neue"/>
              </a:rPr>
              <a:t>A stream never says a window is complete, so a watermark trades lost events against stale numbers.</a:t>
            </a:r>
          </a:p>
        </p:txBody>
      </p:sp>
      <p:graphicFrame>
        <p:nvGraphicFramePr>
          <p:cNvPr id="12" name="Table 11"/>
          <p:cNvGraphicFramePr>
            <a:graphicFrameLocks noGrp="1"/>
          </p:cNvGraphicFramePr>
          <p:nvPr/>
        </p:nvGraphicFramePr>
        <p:xfrm>
          <a:off x="502920" y="1472184"/>
          <a:ext cx="11185855" cy="2837688"/>
        </p:xfrm>
        <a:graphic>
          <a:graphicData uri="http://schemas.openxmlformats.org/drawingml/2006/table">
            <a:tbl>
              <a:tblPr firstRow="1" bandRow="1">
                <a:tableStyleId>{5940675A-B579-460E-94D1-54222C63F5DA}</a:tableStyleId>
              </a:tblPr>
              <a:tblGrid>
                <a:gridCol w="4474342"/>
                <a:gridCol w="4474342"/>
                <a:gridCol w="2237171"/>
              </a:tblGrid>
              <a:tr h="405384">
                <a:tc>
                  <a:txBody>
                    <a:bodyPr wrap="square"/>
                    <a:lstStyle/>
                    <a:p>
                      <a:pPr>
                        <a:lnSpc>
                          <a:spcPct val="100000"/>
                        </a:lnSpc>
                      </a:pPr>
                      <a:r>
                        <a:rPr sz="1700" i="0" b="1">
                          <a:solidFill>
                            <a:srgbClr val="FFFFFF"/>
                          </a:solidFill>
                          <a:latin typeface="Helvetica Neue"/>
                        </a:rPr>
                        <a:t>Allowed lateness</a:t>
                      </a:r>
                    </a:p>
                  </a:txBody>
                  <a:tcPr marL="109728" marR="109728" marT="54864" marB="54864" anchor="ctr">
                    <a:solidFill>
                      <a:srgbClr val="1E3A5F"/>
                    </a:solidFill>
                  </a:tcPr>
                </a:tc>
                <a:tc>
                  <a:txBody>
                    <a:bodyPr wrap="square"/>
                    <a:lstStyle/>
                    <a:p>
                      <a:pPr>
                        <a:lnSpc>
                          <a:spcPct val="100000"/>
                        </a:lnSpc>
                      </a:pPr>
                      <a:r>
                        <a:rPr sz="1700" i="0" b="1">
                          <a:solidFill>
                            <a:srgbClr val="FFFFFF"/>
                          </a:solidFill>
                          <a:latin typeface="Helvetica Neue"/>
                        </a:rPr>
                        <a:t>Rides dropped of 600</a:t>
                      </a:r>
                    </a:p>
                  </a:txBody>
                  <a:tcPr marL="109728" marR="109728" marT="54864" marB="54864" anchor="ctr">
                    <a:solidFill>
                      <a:srgbClr val="1E3A5F"/>
                    </a:solidFill>
                  </a:tcPr>
                </a:tc>
                <a:tc>
                  <a:txBody>
                    <a:bodyPr wrap="square"/>
                    <a:lstStyle/>
                    <a:p>
                      <a:pPr>
                        <a:lnSpc>
                          <a:spcPct val="100000"/>
                        </a:lnSpc>
                      </a:pPr>
                      <a:r>
                        <a:rPr sz="1700" i="0" b="1">
                          <a:solidFill>
                            <a:srgbClr val="FFFFFF"/>
                          </a:solidFill>
                          <a:latin typeface="Helvetica Neue"/>
                        </a:rPr>
                        <a:t>Lost</a:t>
                      </a:r>
                    </a:p>
                  </a:txBody>
                  <a:tcPr marL="109728" marR="109728" marT="54864" marB="54864" anchor="ctr">
                    <a:solidFill>
                      <a:srgbClr val="1E3A5F"/>
                    </a:solidFill>
                  </a:tcPr>
                </a:tc>
              </a:tr>
              <a:tr h="405384">
                <a:tc>
                  <a:txBody>
                    <a:bodyPr wrap="square"/>
                    <a:lstStyle/>
                    <a:p>
                      <a:pPr>
                        <a:lnSpc>
                          <a:spcPct val="100000"/>
                        </a:lnSpc>
                      </a:pPr>
                      <a:r>
                        <a:rPr sz="1700" i="0" b="1">
                          <a:solidFill>
                            <a:srgbClr val="1E293B"/>
                          </a:solidFill>
                          <a:latin typeface="Helvetica Neue"/>
                        </a:rPr>
                        <a:t>0 s</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46</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7.7%</a:t>
                      </a:r>
                    </a:p>
                  </a:txBody>
                  <a:tcPr marL="109728" marR="109728" marT="54864" marB="54864" anchor="ctr">
                    <a:solidFill>
                      <a:srgbClr val="FFFFFF"/>
                    </a:solidFill>
                  </a:tcPr>
                </a:tc>
              </a:tr>
              <a:tr h="405384">
                <a:tc>
                  <a:txBody>
                    <a:bodyPr wrap="square"/>
                    <a:lstStyle/>
                    <a:p>
                      <a:pPr>
                        <a:lnSpc>
                          <a:spcPct val="100000"/>
                        </a:lnSpc>
                      </a:pPr>
                      <a:r>
                        <a:rPr sz="1700" i="0" b="1">
                          <a:solidFill>
                            <a:srgbClr val="1E293B"/>
                          </a:solidFill>
                          <a:latin typeface="Helvetica Neue"/>
                        </a:rPr>
                        <a:t>5 s</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22</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3.7%</a:t>
                      </a:r>
                    </a:p>
                  </a:txBody>
                  <a:tcPr marL="109728" marR="109728" marT="54864" marB="54864" anchor="ctr">
                    <a:solidFill>
                      <a:srgbClr val="F8FAFC"/>
                    </a:solidFill>
                  </a:tcPr>
                </a:tc>
              </a:tr>
              <a:tr h="405384">
                <a:tc>
                  <a:txBody>
                    <a:bodyPr wrap="square"/>
                    <a:lstStyle/>
                    <a:p>
                      <a:pPr>
                        <a:lnSpc>
                          <a:spcPct val="100000"/>
                        </a:lnSpc>
                      </a:pPr>
                      <a:r>
                        <a:rPr sz="1700" i="0" b="1">
                          <a:solidFill>
                            <a:srgbClr val="1E293B"/>
                          </a:solidFill>
                          <a:latin typeface="Helvetica Neue"/>
                        </a:rPr>
                        <a:t>30 s</a:t>
                      </a:r>
                    </a:p>
                  </a:txBody>
                  <a:tcPr marL="109728" marR="109728" marT="54864" marB="54864" anchor="ctr">
                    <a:solidFill>
                      <a:srgbClr val="E8F4F8"/>
                    </a:solidFill>
                  </a:tcPr>
                </a:tc>
                <a:tc>
                  <a:txBody>
                    <a:bodyPr wrap="square"/>
                    <a:lstStyle/>
                    <a:p>
                      <a:pPr>
                        <a:lnSpc>
                          <a:spcPct val="100000"/>
                        </a:lnSpc>
                      </a:pPr>
                      <a:r>
                        <a:rPr sz="1700" i="0" b="0">
                          <a:solidFill>
                            <a:srgbClr val="475569"/>
                          </a:solidFill>
                          <a:latin typeface="Helvetica Neue"/>
                        </a:rPr>
                        <a:t>11</a:t>
                      </a:r>
                    </a:p>
                  </a:txBody>
                  <a:tcPr marL="109728" marR="109728" marT="54864" marB="54864" anchor="ctr">
                    <a:solidFill>
                      <a:srgbClr val="E8F4F8"/>
                    </a:solidFill>
                  </a:tcPr>
                </a:tc>
                <a:tc>
                  <a:txBody>
                    <a:bodyPr wrap="square"/>
                    <a:lstStyle/>
                    <a:p>
                      <a:pPr>
                        <a:lnSpc>
                          <a:spcPct val="100000"/>
                        </a:lnSpc>
                      </a:pPr>
                      <a:r>
                        <a:rPr sz="1700" i="0" b="0">
                          <a:solidFill>
                            <a:srgbClr val="475569"/>
                          </a:solidFill>
                          <a:latin typeface="Helvetica Neue"/>
                        </a:rPr>
                        <a:t>1.8%</a:t>
                      </a:r>
                    </a:p>
                  </a:txBody>
                  <a:tcPr marL="109728" marR="109728" marT="54864" marB="54864" anchor="ctr">
                    <a:solidFill>
                      <a:srgbClr val="E8F4F8"/>
                    </a:solidFill>
                  </a:tcPr>
                </a:tc>
              </a:tr>
              <a:tr h="405384">
                <a:tc>
                  <a:txBody>
                    <a:bodyPr wrap="square"/>
                    <a:lstStyle/>
                    <a:p>
                      <a:pPr>
                        <a:lnSpc>
                          <a:spcPct val="100000"/>
                        </a:lnSpc>
                      </a:pPr>
                      <a:r>
                        <a:rPr sz="1700" i="0" b="1">
                          <a:solidFill>
                            <a:srgbClr val="1E293B"/>
                          </a:solidFill>
                          <a:latin typeface="Helvetica Neue"/>
                        </a:rPr>
                        <a:t>120 s</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7</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1.2%</a:t>
                      </a:r>
                    </a:p>
                  </a:txBody>
                  <a:tcPr marL="109728" marR="109728" marT="54864" marB="54864" anchor="ctr">
                    <a:solidFill>
                      <a:srgbClr val="F8FAFC"/>
                    </a:solidFill>
                  </a:tcPr>
                </a:tc>
              </a:tr>
              <a:tr h="405384">
                <a:tc>
                  <a:txBody>
                    <a:bodyPr wrap="square"/>
                    <a:lstStyle/>
                    <a:p>
                      <a:pPr>
                        <a:lnSpc>
                          <a:spcPct val="100000"/>
                        </a:lnSpc>
                      </a:pPr>
                      <a:r>
                        <a:rPr sz="1700" i="0" b="1">
                          <a:solidFill>
                            <a:srgbClr val="1E293B"/>
                          </a:solidFill>
                          <a:latin typeface="Helvetica Neue"/>
                        </a:rPr>
                        <a:t>300 s</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1</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0.2%</a:t>
                      </a:r>
                    </a:p>
                  </a:txBody>
                  <a:tcPr marL="109728" marR="109728" marT="54864" marB="54864" anchor="ctr">
                    <a:solidFill>
                      <a:srgbClr val="FFFFFF"/>
                    </a:solidFill>
                  </a:tcPr>
                </a:tc>
              </a:tr>
              <a:tr h="405384">
                <a:tc>
                  <a:txBody>
                    <a:bodyPr wrap="square"/>
                    <a:lstStyle/>
                    <a:p>
                      <a:pPr>
                        <a:lnSpc>
                          <a:spcPct val="100000"/>
                        </a:lnSpc>
                      </a:pPr>
                      <a:r>
                        <a:rPr sz="1700" i="0" b="1">
                          <a:solidFill>
                            <a:srgbClr val="1E293B"/>
                          </a:solidFill>
                          <a:latin typeface="Helvetica Neue"/>
                        </a:rPr>
                        <a:t>600 s</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0</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0.0%</a:t>
                      </a:r>
                    </a:p>
                  </a:txBody>
                  <a:tcPr marL="109728" marR="109728" marT="54864" marB="54864" anchor="ctr">
                    <a:solidFill>
                      <a:srgbClr val="F8FAFC"/>
                    </a:solidFill>
                  </a:tcPr>
                </a:tc>
              </a:tr>
            </a:tbl>
          </a:graphicData>
        </a:graphic>
      </p:graphicFrame>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1E3A5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463040"/>
            <a:ext cx="5486400" cy="457200"/>
          </a:xfrm>
          <a:prstGeom prst="rect">
            <a:avLst/>
          </a:prstGeom>
          <a:noFill/>
        </p:spPr>
        <p:txBody>
          <a:bodyPr wrap="square" lIns="0" rIns="0" tIns="0" bIns="0" anchor="t">
            <a:noAutofit/>
          </a:bodyPr>
          <a:lstStyle/>
          <a:p>
            <a:pPr algn="l">
              <a:lnSpc>
                <a:spcPct val="110000"/>
              </a:lnSpc>
            </a:pPr>
            <a:r>
              <a:rPr sz="1800" i="0" b="1">
                <a:solidFill>
                  <a:srgbClr val="0EA5C9"/>
                </a:solidFill>
                <a:latin typeface="Helvetica Neue"/>
              </a:rPr>
              <a:t>PART 5</a:t>
            </a:r>
          </a:p>
        </p:txBody>
      </p:sp>
      <p:sp>
        <p:nvSpPr>
          <p:cNvPr id="4" name="TextBox 3"/>
          <p:cNvSpPr txBox="1"/>
          <p:nvPr/>
        </p:nvSpPr>
        <p:spPr>
          <a:xfrm>
            <a:off x="822960" y="1965960"/>
            <a:ext cx="5486400" cy="1021080"/>
          </a:xfrm>
          <a:prstGeom prst="rect">
            <a:avLst/>
          </a:prstGeom>
          <a:noFill/>
        </p:spPr>
        <p:txBody>
          <a:bodyPr wrap="square" lIns="0" rIns="0" tIns="0" bIns="0" anchor="t">
            <a:noAutofit/>
          </a:bodyPr>
          <a:lstStyle/>
          <a:p>
            <a:pPr algn="l">
              <a:lnSpc>
                <a:spcPct val="95000"/>
              </a:lnSpc>
            </a:pPr>
            <a:r>
              <a:rPr sz="5000" i="0" b="1">
                <a:solidFill>
                  <a:srgbClr val="FFFFFF"/>
                </a:solidFill>
                <a:latin typeface="Helvetica Neue"/>
              </a:rPr>
              <a:t>The bill</a:t>
            </a:r>
          </a:p>
        </p:txBody>
      </p:sp>
      <p:sp>
        <p:nvSpPr>
          <p:cNvPr id="5" name="TextBox 4"/>
          <p:cNvSpPr txBox="1"/>
          <p:nvPr/>
        </p:nvSpPr>
        <p:spPr>
          <a:xfrm>
            <a:off x="822960" y="3078479"/>
            <a:ext cx="5303520" cy="1371600"/>
          </a:xfrm>
          <a:prstGeom prst="rect">
            <a:avLst/>
          </a:prstGeom>
          <a:noFill/>
        </p:spPr>
        <p:txBody>
          <a:bodyPr wrap="square" lIns="0" rIns="0" tIns="0" bIns="0" anchor="t">
            <a:noAutofit/>
          </a:bodyPr>
          <a:lstStyle/>
          <a:p>
            <a:pPr algn="l">
              <a:lnSpc>
                <a:spcPct val="110000"/>
              </a:lnSpc>
            </a:pPr>
            <a:r>
              <a:rPr sz="2000" i="0" b="0">
                <a:solidFill>
                  <a:srgbClr val="0EA5C9"/>
                </a:solidFill>
                <a:latin typeface="Helvetica Neue"/>
              </a:rPr>
              <a:t>Bytes · Slots · Storage · Egress · Guardrails</a:t>
            </a:r>
          </a:p>
        </p:txBody>
      </p:sp>
      <p:cxnSp>
        <p:nvCxnSpPr>
          <p:cNvPr id="6" name="Connector 5"/>
          <p:cNvCxnSpPr/>
          <p:nvPr/>
        </p:nvCxnSpPr>
        <p:spPr>
          <a:xfrm>
            <a:off x="6446520" y="2554605"/>
            <a:ext cx="0" cy="1748790"/>
          </a:xfrm>
          <a:prstGeom prst="line">
            <a:avLst/>
          </a:prstGeom>
          <a:ln w="19050">
            <a:solidFill>
              <a:srgbClr val="3B5A80"/>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766560" y="2554605"/>
            <a:ext cx="4693615" cy="1931669"/>
          </a:xfrm>
          <a:prstGeom prst="rect">
            <a:avLst/>
          </a:prstGeom>
          <a:noFill/>
        </p:spPr>
        <p:txBody>
          <a:bodyPr wrap="square" lIns="0" rIns="0" tIns="0" bIns="0" anchor="t">
            <a:noAutofit/>
          </a:bodyPr>
          <a:lstStyle/>
          <a:p>
            <a:pPr algn="l">
              <a:lnSpc>
                <a:spcPct val="100000"/>
              </a:lnSpc>
            </a:pPr>
            <a:r>
              <a:rPr sz="1700" i="0" b="0">
                <a:solidFill>
                  <a:srgbClr val="CBD5E1"/>
                </a:solidFill>
                <a:latin typeface="Helvetica Neue"/>
              </a:rPr>
              <a:t>A dashboard nobody chose to pay $36,000 a month for</a:t>
            </a:r>
          </a:p>
          <a:p>
            <a:pPr algn="l">
              <a:lnSpc>
                <a:spcPct val="100000"/>
              </a:lnSpc>
              <a:spcBef>
                <a:spcPts val="1189"/>
              </a:spcBef>
            </a:pPr>
            <a:r>
              <a:rPr sz="1700" i="0" b="0">
                <a:solidFill>
                  <a:srgbClr val="CBD5E1"/>
                </a:solidFill>
                <a:latin typeface="Helvetica Neue"/>
              </a:rPr>
              <a:t>Four meters, and only two usually matter</a:t>
            </a:r>
          </a:p>
          <a:p>
            <a:pPr algn="l">
              <a:lnSpc>
                <a:spcPct val="100000"/>
              </a:lnSpc>
              <a:spcBef>
                <a:spcPts val="1189"/>
              </a:spcBef>
            </a:pPr>
            <a:r>
              <a:rPr sz="1700" i="0" b="0">
                <a:solidFill>
                  <a:srgbClr val="CBD5E1"/>
                </a:solidFill>
                <a:latin typeface="Helvetica Neue"/>
              </a:rPr>
              <a:t>Make cost a test that fails at review</a:t>
            </a:r>
          </a:p>
          <a:p>
            <a:pPr algn="l">
              <a:lnSpc>
                <a:spcPct val="100000"/>
              </a:lnSpc>
              <a:spcBef>
                <a:spcPts val="1189"/>
              </a:spcBef>
            </a:pPr>
            <a:r>
              <a:rPr sz="1700" i="0" b="0">
                <a:solidFill>
                  <a:srgbClr val="CBD5E1"/>
                </a:solidFill>
                <a:latin typeface="Helvetica Neue"/>
              </a:rPr>
              <a:t>Fix the top twenty in this order</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64748B"/>
                </a:solidFill>
                <a:latin typeface="Helvetica Neue"/>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100" i="0" b="1">
                <a:solidFill>
                  <a:srgbClr val="FFFFFF"/>
                </a:solidFill>
                <a:latin typeface="Helvetica Neue"/>
              </a:rPr>
              <a:t>A dashboard nobody chose to pay $36,000 a month for</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0EA5C9"/>
                </a:solidFill>
                <a:latin typeface="Helvetica Neue"/>
              </a:rPr>
              <a:t>The problem</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5 · The bill</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notes/05-cost.md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26</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600" i="0" b="1">
                <a:solidFill>
                  <a:srgbClr val="1E3A5F"/>
                </a:solidFill>
                <a:latin typeface="Helvetica Neue"/>
              </a:rPr>
              <a:t>A small query decision repeated thousands of times is what makes a data bill surprising.</a:t>
            </a:r>
          </a:p>
        </p:txBody>
      </p:sp>
      <p:sp>
        <p:nvSpPr>
          <p:cNvPr id="13" name="Rectangle 12"/>
          <p:cNvSpPr/>
          <p:nvPr/>
        </p:nvSpPr>
        <p:spPr>
          <a:xfrm>
            <a:off x="777240" y="2299716"/>
            <a:ext cx="109728" cy="2359152"/>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234440" y="2299716"/>
            <a:ext cx="10088575" cy="1993392"/>
          </a:xfrm>
          <a:prstGeom prst="rect">
            <a:avLst/>
          </a:prstGeom>
          <a:noFill/>
        </p:spPr>
        <p:txBody>
          <a:bodyPr wrap="square" lIns="0" rIns="0" tIns="0" bIns="0" anchor="t">
            <a:noAutofit/>
          </a:bodyPr>
          <a:lstStyle/>
          <a:p>
            <a:pPr algn="l">
              <a:lnSpc>
                <a:spcPct val="105000"/>
              </a:lnSpc>
            </a:pPr>
            <a:r>
              <a:rPr sz="3600" i="0" b="1">
                <a:solidFill>
                  <a:srgbClr val="1E3A5F"/>
                </a:solidFill>
                <a:latin typeface="Helvetica Neue"/>
              </a:rPr>
              <a:t>SELECT star on a 2 TiB table, 96 times a day, at $6.25 per TiB. A column list and a date filter take it to $571.</a:t>
            </a:r>
          </a:p>
        </p:txBody>
      </p:sp>
      <p:sp>
        <p:nvSpPr>
          <p:cNvPr id="15" name="TextBox 14"/>
          <p:cNvSpPr txBox="1"/>
          <p:nvPr/>
        </p:nvSpPr>
        <p:spPr>
          <a:xfrm>
            <a:off x="1234440" y="4247388"/>
            <a:ext cx="10088575" cy="365760"/>
          </a:xfrm>
          <a:prstGeom prst="rect">
            <a:avLst/>
          </a:prstGeom>
          <a:noFill/>
        </p:spPr>
        <p:txBody>
          <a:bodyPr wrap="square" lIns="0" rIns="0" tIns="0" bIns="0" anchor="t">
            <a:noAutofit/>
          </a:bodyPr>
          <a:lstStyle/>
          <a:p>
            <a:pPr algn="l">
              <a:lnSpc>
                <a:spcPct val="110000"/>
              </a:lnSpc>
            </a:pPr>
            <a:r>
              <a:rPr sz="1700" i="1" b="0">
                <a:solidFill>
                  <a:srgbClr val="475569"/>
                </a:solidFill>
                <a:latin typeface="Helvetica Neue"/>
              </a:rPr>
              <a:t>BigQuery on-demand list price read 2026-11-01; ratios measured on synthetic Parquet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Four meters, and only two usually matter</a:t>
            </a:r>
          </a:p>
        </p:txBody>
      </p:sp>
      <p:sp>
        <p:nvSpPr>
          <p:cNvPr id="5" name="Rectangle 4"/>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5 · The bill</a:t>
            </a:r>
          </a:p>
        </p:txBody>
      </p:sp>
      <p:sp>
        <p:nvSpPr>
          <p:cNvPr id="7" name="TextBox 6"/>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notes/05-cost.md</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27</a:t>
            </a:r>
          </a:p>
        </p:txBody>
      </p:sp>
      <p:sp>
        <p:nvSpPr>
          <p:cNvPr id="9" name="Rectangle 8"/>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5715000"/>
            <a:ext cx="73152" cy="502920"/>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600" i="0" b="1">
                <a:solidFill>
                  <a:srgbClr val="1E3A5F"/>
                </a:solidFill>
                <a:latin typeface="Helvetica Neue"/>
              </a:rPr>
              <a:t>Storage is the small number, so start with what queries read and where data travels.</a:t>
            </a:r>
          </a:p>
        </p:txBody>
      </p:sp>
      <p:sp>
        <p:nvSpPr>
          <p:cNvPr id="12" name="Rectangle 11"/>
          <p:cNvSpPr/>
          <p:nvPr/>
        </p:nvSpPr>
        <p:spPr>
          <a:xfrm>
            <a:off x="502920" y="1472184"/>
            <a:ext cx="2590723" cy="2279904"/>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472184"/>
            <a:ext cx="82296" cy="2279904"/>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655064"/>
            <a:ext cx="2133523" cy="359664"/>
          </a:xfrm>
          <a:prstGeom prst="rect">
            <a:avLst/>
          </a:prstGeom>
          <a:noFill/>
        </p:spPr>
        <p:txBody>
          <a:bodyPr wrap="square" lIns="0" rIns="0" tIns="0" bIns="0" anchor="t">
            <a:noAutofit/>
          </a:bodyPr>
          <a:lstStyle/>
          <a:p>
            <a:pPr algn="l">
              <a:lnSpc>
                <a:spcPct val="110000"/>
              </a:lnSpc>
            </a:pPr>
            <a:r>
              <a:rPr sz="1600" i="0" b="1">
                <a:solidFill>
                  <a:srgbClr val="1E293B"/>
                </a:solidFill>
                <a:latin typeface="Helvetica Neue"/>
              </a:rPr>
              <a:t>Bytes</a:t>
            </a:r>
          </a:p>
        </p:txBody>
      </p:sp>
      <p:sp>
        <p:nvSpPr>
          <p:cNvPr id="15" name="TextBox 14"/>
          <p:cNvSpPr txBox="1"/>
          <p:nvPr/>
        </p:nvSpPr>
        <p:spPr>
          <a:xfrm>
            <a:off x="777240" y="2087880"/>
            <a:ext cx="2087803" cy="1481327"/>
          </a:xfrm>
          <a:prstGeom prst="rect">
            <a:avLst/>
          </a:prstGeom>
          <a:noFill/>
        </p:spPr>
        <p:txBody>
          <a:bodyPr wrap="square" lIns="0" rIns="0" tIns="0" bIns="0" anchor="t">
            <a:noAutofit/>
          </a:bodyPr>
          <a:lstStyle/>
          <a:p>
            <a:pPr algn="l">
              <a:lnSpc>
                <a:spcPct val="110000"/>
              </a:lnSpc>
            </a:pPr>
            <a:r>
              <a:rPr sz="1800" i="0" b="0">
                <a:solidFill>
                  <a:srgbClr val="475569"/>
                </a:solidFill>
                <a:latin typeface="Helvetica Neue"/>
              </a:rPr>
              <a:t>$6.25 per TiB on demand, first TiB free each month.</a:t>
            </a:r>
          </a:p>
        </p:txBody>
      </p:sp>
      <p:sp>
        <p:nvSpPr>
          <p:cNvPr id="16" name="Rectangle 15"/>
          <p:cNvSpPr/>
          <p:nvPr/>
        </p:nvSpPr>
        <p:spPr>
          <a:xfrm>
            <a:off x="3367963" y="1472184"/>
            <a:ext cx="2590723" cy="2279904"/>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367963" y="1472184"/>
            <a:ext cx="82296" cy="2279904"/>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42283" y="1655064"/>
            <a:ext cx="2133523" cy="359664"/>
          </a:xfrm>
          <a:prstGeom prst="rect">
            <a:avLst/>
          </a:prstGeom>
          <a:noFill/>
        </p:spPr>
        <p:txBody>
          <a:bodyPr wrap="square" lIns="0" rIns="0" tIns="0" bIns="0" anchor="t">
            <a:noAutofit/>
          </a:bodyPr>
          <a:lstStyle/>
          <a:p>
            <a:pPr algn="l">
              <a:lnSpc>
                <a:spcPct val="110000"/>
              </a:lnSpc>
            </a:pPr>
            <a:r>
              <a:rPr sz="1600" i="0" b="1">
                <a:solidFill>
                  <a:srgbClr val="1E293B"/>
                </a:solidFill>
                <a:latin typeface="Helvetica Neue"/>
              </a:rPr>
              <a:t>Slots</a:t>
            </a:r>
          </a:p>
        </p:txBody>
      </p:sp>
      <p:sp>
        <p:nvSpPr>
          <p:cNvPr id="19" name="TextBox 18"/>
          <p:cNvSpPr txBox="1"/>
          <p:nvPr/>
        </p:nvSpPr>
        <p:spPr>
          <a:xfrm>
            <a:off x="3642283" y="2087880"/>
            <a:ext cx="2087803" cy="1481327"/>
          </a:xfrm>
          <a:prstGeom prst="rect">
            <a:avLst/>
          </a:prstGeom>
          <a:noFill/>
        </p:spPr>
        <p:txBody>
          <a:bodyPr wrap="square" lIns="0" rIns="0" tIns="0" bIns="0" anchor="t">
            <a:noAutofit/>
          </a:bodyPr>
          <a:lstStyle/>
          <a:p>
            <a:pPr algn="l">
              <a:lnSpc>
                <a:spcPct val="110000"/>
              </a:lnSpc>
            </a:pPr>
            <a:r>
              <a:rPr sz="1800" i="0" b="0">
                <a:solidFill>
                  <a:srgbClr val="475569"/>
                </a:solidFill>
                <a:latin typeface="Helvetica Neue"/>
              </a:rPr>
              <a:t>$0.04 to $0.10 per slot-hour, by edition.</a:t>
            </a:r>
          </a:p>
        </p:txBody>
      </p:sp>
      <p:sp>
        <p:nvSpPr>
          <p:cNvPr id="20" name="Rectangle 19"/>
          <p:cNvSpPr/>
          <p:nvPr/>
        </p:nvSpPr>
        <p:spPr>
          <a:xfrm>
            <a:off x="6233007" y="1472184"/>
            <a:ext cx="2590723" cy="2279904"/>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33007" y="1472184"/>
            <a:ext cx="82296" cy="2279904"/>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07327" y="1655064"/>
            <a:ext cx="2133523" cy="359664"/>
          </a:xfrm>
          <a:prstGeom prst="rect">
            <a:avLst/>
          </a:prstGeom>
          <a:noFill/>
        </p:spPr>
        <p:txBody>
          <a:bodyPr wrap="square" lIns="0" rIns="0" tIns="0" bIns="0" anchor="t">
            <a:noAutofit/>
          </a:bodyPr>
          <a:lstStyle/>
          <a:p>
            <a:pPr algn="l">
              <a:lnSpc>
                <a:spcPct val="110000"/>
              </a:lnSpc>
            </a:pPr>
            <a:r>
              <a:rPr sz="1600" i="0" b="1">
                <a:solidFill>
                  <a:srgbClr val="1E293B"/>
                </a:solidFill>
                <a:latin typeface="Helvetica Neue"/>
              </a:rPr>
              <a:t>Storage</a:t>
            </a:r>
          </a:p>
        </p:txBody>
      </p:sp>
      <p:sp>
        <p:nvSpPr>
          <p:cNvPr id="23" name="TextBox 22"/>
          <p:cNvSpPr txBox="1"/>
          <p:nvPr/>
        </p:nvSpPr>
        <p:spPr>
          <a:xfrm>
            <a:off x="6507327" y="2087880"/>
            <a:ext cx="2087803" cy="1481327"/>
          </a:xfrm>
          <a:prstGeom prst="rect">
            <a:avLst/>
          </a:prstGeom>
          <a:noFill/>
        </p:spPr>
        <p:txBody>
          <a:bodyPr wrap="square" lIns="0" rIns="0" tIns="0" bIns="0" anchor="t">
            <a:noAutofit/>
          </a:bodyPr>
          <a:lstStyle/>
          <a:p>
            <a:pPr algn="l">
              <a:lnSpc>
                <a:spcPct val="110000"/>
              </a:lnSpc>
            </a:pPr>
            <a:r>
              <a:rPr sz="1800" i="0" b="0">
                <a:solidFill>
                  <a:srgbClr val="475569"/>
                </a:solidFill>
                <a:latin typeface="Helvetica Neue"/>
              </a:rPr>
              <a:t>About $47 a month for 2 TiB of active logical data.</a:t>
            </a:r>
          </a:p>
        </p:txBody>
      </p:sp>
      <p:sp>
        <p:nvSpPr>
          <p:cNvPr id="24" name="Rectangle 23"/>
          <p:cNvSpPr/>
          <p:nvPr/>
        </p:nvSpPr>
        <p:spPr>
          <a:xfrm>
            <a:off x="9098051" y="1472184"/>
            <a:ext cx="2590723" cy="2279904"/>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098051" y="1472184"/>
            <a:ext cx="82296" cy="2279904"/>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372371" y="1655064"/>
            <a:ext cx="2133523" cy="359664"/>
          </a:xfrm>
          <a:prstGeom prst="rect">
            <a:avLst/>
          </a:prstGeom>
          <a:noFill/>
        </p:spPr>
        <p:txBody>
          <a:bodyPr wrap="square" lIns="0" rIns="0" tIns="0" bIns="0" anchor="t">
            <a:noAutofit/>
          </a:bodyPr>
          <a:lstStyle/>
          <a:p>
            <a:pPr algn="l">
              <a:lnSpc>
                <a:spcPct val="110000"/>
              </a:lnSpc>
            </a:pPr>
            <a:r>
              <a:rPr sz="1600" i="0" b="1">
                <a:solidFill>
                  <a:srgbClr val="1E293B"/>
                </a:solidFill>
                <a:latin typeface="Helvetica Neue"/>
              </a:rPr>
              <a:t>Egress</a:t>
            </a:r>
          </a:p>
        </p:txBody>
      </p:sp>
      <p:sp>
        <p:nvSpPr>
          <p:cNvPr id="27" name="TextBox 26"/>
          <p:cNvSpPr txBox="1"/>
          <p:nvPr/>
        </p:nvSpPr>
        <p:spPr>
          <a:xfrm>
            <a:off x="9372371" y="2087880"/>
            <a:ext cx="2087803" cy="1481327"/>
          </a:xfrm>
          <a:prstGeom prst="rect">
            <a:avLst/>
          </a:prstGeom>
          <a:noFill/>
        </p:spPr>
        <p:txBody>
          <a:bodyPr wrap="square" lIns="0" rIns="0" tIns="0" bIns="0" anchor="t">
            <a:noAutofit/>
          </a:bodyPr>
          <a:lstStyle/>
          <a:p>
            <a:pPr algn="l">
              <a:lnSpc>
                <a:spcPct val="110000"/>
              </a:lnSpc>
            </a:pPr>
            <a:r>
              <a:rPr sz="1800" i="0" b="0">
                <a:solidFill>
                  <a:srgbClr val="475569"/>
                </a:solidFill>
                <a:latin typeface="Helvetica Neue"/>
              </a:rPr>
              <a:t>15 TiB a month to the internet costs about $1,517.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Make cost a test that fails at review</a:t>
            </a:r>
          </a:p>
        </p:txBody>
      </p:sp>
      <p:sp>
        <p:nvSpPr>
          <p:cNvPr id="5" name="Rectangle 4"/>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5 · The bill</a:t>
            </a:r>
          </a:p>
        </p:txBody>
      </p:sp>
      <p:sp>
        <p:nvSpPr>
          <p:cNvPr id="7" name="TextBox 6"/>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notes/05-cost.md</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28</a:t>
            </a:r>
          </a:p>
        </p:txBody>
      </p:sp>
      <p:sp>
        <p:nvSpPr>
          <p:cNvPr id="9" name="Rectangle 8"/>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5715000"/>
            <a:ext cx="73152" cy="502920"/>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600" i="0" b="1">
                <a:solidFill>
                  <a:srgbClr val="1E3A5F"/>
                </a:solidFill>
                <a:latin typeface="Helvetica Neue"/>
              </a:rPr>
              <a:t>A byte limit in CI finds the expensive query at review, so the invoice stops being the alarm.</a:t>
            </a:r>
          </a:p>
        </p:txBody>
      </p:sp>
      <p:sp>
        <p:nvSpPr>
          <p:cNvPr id="12" name="Rounded Rectangle 11"/>
          <p:cNvSpPr/>
          <p:nvPr/>
        </p:nvSpPr>
        <p:spPr>
          <a:xfrm>
            <a:off x="502920" y="1472184"/>
            <a:ext cx="6711513" cy="3124200"/>
          </a:xfrm>
          <a:prstGeom prst="roundRect">
            <a:avLst>
              <a:gd name="adj" fmla="val 3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1581912"/>
            <a:ext cx="6254313" cy="274320"/>
          </a:xfrm>
          <a:prstGeom prst="rect">
            <a:avLst/>
          </a:prstGeom>
          <a:noFill/>
        </p:spPr>
        <p:txBody>
          <a:bodyPr wrap="square" lIns="0" rIns="0" tIns="0" bIns="0" anchor="t">
            <a:noAutofit/>
          </a:bodyPr>
          <a:lstStyle/>
          <a:p>
            <a:pPr algn="l">
              <a:lnSpc>
                <a:spcPct val="110000"/>
              </a:lnSpc>
            </a:pPr>
            <a:r>
              <a:rPr sz="1000" i="0" b="1">
                <a:solidFill>
                  <a:srgbClr val="94A3B8"/>
                </a:solidFill>
                <a:latin typeface="Helvetica Neue"/>
              </a:rPr>
              <a:t>TEXT</a:t>
            </a:r>
          </a:p>
        </p:txBody>
      </p:sp>
      <p:sp>
        <p:nvSpPr>
          <p:cNvPr id="14" name="TextBox 13"/>
          <p:cNvSpPr txBox="1"/>
          <p:nvPr/>
        </p:nvSpPr>
        <p:spPr>
          <a:xfrm>
            <a:off x="731520" y="1883664"/>
            <a:ext cx="6254313" cy="2484119"/>
          </a:xfrm>
          <a:prstGeom prst="rect">
            <a:avLst/>
          </a:prstGeom>
          <a:noFill/>
        </p:spPr>
        <p:txBody>
          <a:bodyPr wrap="square" lIns="0" rIns="0" tIns="0" bIns="0" anchor="t">
            <a:noAutofit/>
          </a:bodyPr>
          <a:lstStyle/>
          <a:p>
            <a:pPr algn="l">
              <a:lnSpc>
                <a:spcPct val="100000"/>
              </a:lnSpc>
            </a:pPr>
            <a:r>
              <a:rPr sz="1600" i="0" b="0">
                <a:solidFill>
                  <a:srgbClr val="E2E8F0"/>
                </a:solidFill>
                <a:latin typeface="Menlo"/>
              </a:rPr>
              <a:t>def dry_run(columns, month=None, limit_usd=1.00):</a:t>
            </a:r>
          </a:p>
          <a:p>
            <a:pPr algn="l">
              <a:lnSpc>
                <a:spcPct val="100000"/>
              </a:lnSpc>
            </a:pPr>
            <a:r>
              <a:rPr sz="1600" i="0" b="0">
                <a:solidFill>
                  <a:srgbClr val="E2E8F0"/>
                </a:solidFill>
                <a:latin typeface="Menlo"/>
              </a:rPr>
              <a:t>    usd = scanned(columns, month) / all_b * 2 * 6.25</a:t>
            </a:r>
          </a:p>
          <a:p>
            <a:pPr algn="l">
              <a:lnSpc>
                <a:spcPct val="100000"/>
              </a:lnSpc>
            </a:pPr>
            <a:r>
              <a:rPr sz="1600" i="0" b="0">
                <a:solidFill>
                  <a:srgbClr val="E2E8F0"/>
                </a:solidFill>
                <a:latin typeface="Menlo"/>
              </a:rPr>
              <a:t>    return usd, usd &lt;= limit_usd</a:t>
            </a:r>
          </a:p>
          <a:p>
            <a:pPr algn="l">
              <a:lnSpc>
                <a:spcPct val="100000"/>
              </a:lnSpc>
            </a:pPr>
          </a:p>
          <a:p>
            <a:pPr algn="l">
              <a:lnSpc>
                <a:spcPct val="100000"/>
              </a:lnSpc>
            </a:pPr>
            <a:r>
              <a:rPr sz="1600" i="0" b="0">
                <a:solidFill>
                  <a:srgbClr val="E2E8F0"/>
                </a:solidFill>
                <a:latin typeface="Menlo"/>
              </a:rPr>
              <a:t>SELECT *                  $12.50  FAIL budget $1.00</a:t>
            </a:r>
          </a:p>
          <a:p>
            <a:pPr algn="l">
              <a:lnSpc>
                <a:spcPct val="100000"/>
              </a:lnSpc>
            </a:pPr>
            <a:r>
              <a:rPr sz="1600" i="0" b="0">
                <a:solidFill>
                  <a:srgbClr val="E2E8F0"/>
                </a:solidFill>
                <a:latin typeface="Menlo"/>
              </a:rPr>
              <a:t>two columns               $ 2.45  FAIL budget $1.00</a:t>
            </a:r>
          </a:p>
          <a:p>
            <a:pPr algn="l">
              <a:lnSpc>
                <a:spcPct val="100000"/>
              </a:lnSpc>
            </a:pPr>
            <a:r>
              <a:rPr sz="1600" i="0" b="0">
                <a:solidFill>
                  <a:srgbClr val="E2E8F0"/>
                </a:solidFill>
                <a:latin typeface="Menlo"/>
              </a:rPr>
              <a:t>two columns, June         $ 0.20  pass</a:t>
            </a:r>
          </a:p>
        </p:txBody>
      </p:sp>
      <p:sp>
        <p:nvSpPr>
          <p:cNvPr id="15" name="Rectangle 14"/>
          <p:cNvSpPr/>
          <p:nvPr/>
        </p:nvSpPr>
        <p:spPr>
          <a:xfrm>
            <a:off x="7580193" y="1604772"/>
            <a:ext cx="96012" cy="96012"/>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00233" y="1517904"/>
            <a:ext cx="3788542" cy="694943"/>
          </a:xfrm>
          <a:prstGeom prst="rect">
            <a:avLst/>
          </a:prstGeom>
          <a:noFill/>
        </p:spPr>
        <p:txBody>
          <a:bodyPr wrap="square" lIns="0" rIns="0" tIns="0" bIns="0" anchor="t">
            <a:noAutofit/>
          </a:bodyPr>
          <a:lstStyle/>
          <a:p>
            <a:pPr algn="l">
              <a:lnSpc>
                <a:spcPct val="110000"/>
              </a:lnSpc>
            </a:pPr>
            <a:r>
              <a:rPr sz="1800" i="0" b="1">
                <a:solidFill>
                  <a:srgbClr val="1E293B"/>
                </a:solidFill>
                <a:latin typeface="Helvetica Neue"/>
              </a:rPr>
              <a:t>In BigQuery:</a:t>
            </a:r>
            <a:r>
              <a:rPr sz="1800" i="0" b="0">
                <a:solidFill>
                  <a:srgbClr val="1E293B"/>
                </a:solidFill>
                <a:latin typeface="Helvetica Neue"/>
              </a:rPr>
              <a:t> dry run or </a:t>
            </a:r>
            <a:r>
              <a:rPr sz="1620" i="0" b="0">
                <a:solidFill>
                  <a:srgbClr val="0F7490"/>
                </a:solidFill>
                <a:latin typeface="Menlo"/>
              </a:rPr>
              <a:t>maximum_bytes_billed</a:t>
            </a:r>
            <a:r>
              <a:rPr sz="1800" i="0" b="0">
                <a:solidFill>
                  <a:srgbClr val="1E293B"/>
                </a:solidFill>
                <a:latin typeface="Helvetica Neue"/>
              </a:rPr>
              <a:t>.</a:t>
            </a:r>
          </a:p>
        </p:txBody>
      </p:sp>
      <p:sp>
        <p:nvSpPr>
          <p:cNvPr id="17" name="Rectangle 16"/>
          <p:cNvSpPr/>
          <p:nvPr/>
        </p:nvSpPr>
        <p:spPr>
          <a:xfrm>
            <a:off x="7580193" y="2345436"/>
            <a:ext cx="96012" cy="96012"/>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00233" y="2258568"/>
            <a:ext cx="3788542" cy="694943"/>
          </a:xfrm>
          <a:prstGeom prst="rect">
            <a:avLst/>
          </a:prstGeom>
          <a:noFill/>
        </p:spPr>
        <p:txBody>
          <a:bodyPr wrap="square" lIns="0" rIns="0" tIns="0" bIns="0" anchor="t">
            <a:noAutofit/>
          </a:bodyPr>
          <a:lstStyle/>
          <a:p>
            <a:pPr algn="l">
              <a:lnSpc>
                <a:spcPct val="110000"/>
              </a:lnSpc>
            </a:pPr>
            <a:r>
              <a:rPr sz="1800" i="0" b="1">
                <a:solidFill>
                  <a:srgbClr val="1E293B"/>
                </a:solidFill>
                <a:latin typeface="Helvetica Neue"/>
              </a:rPr>
              <a:t>The check</a:t>
            </a:r>
            <a:r>
              <a:rPr sz="1800" i="0" b="0">
                <a:solidFill>
                  <a:srgbClr val="1E293B"/>
                </a:solidFill>
                <a:latin typeface="Helvetica Neue"/>
              </a:rPr>
              <a:t> states an expectation in code.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Fix the top twenty in this order</a:t>
            </a:r>
          </a:p>
        </p:txBody>
      </p:sp>
      <p:sp>
        <p:nvSpPr>
          <p:cNvPr id="5" name="Rectangle 4"/>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5 · The bill</a:t>
            </a:r>
          </a:p>
        </p:txBody>
      </p:sp>
      <p:sp>
        <p:nvSpPr>
          <p:cNvPr id="7" name="TextBox 6"/>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notes/05-cost.md</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29</a:t>
            </a:r>
          </a:p>
        </p:txBody>
      </p:sp>
      <p:sp>
        <p:nvSpPr>
          <p:cNvPr id="9" name="Rectangle 8"/>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5715000"/>
            <a:ext cx="73152" cy="502920"/>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600" i="0" b="1">
                <a:solidFill>
                  <a:srgbClr val="1E3A5F"/>
                </a:solidFill>
                <a:latin typeface="Helvetica Neue"/>
              </a:rPr>
              <a:t>Each fix changes what the next should be, so tune the query before you buy capacity.</a:t>
            </a:r>
          </a:p>
        </p:txBody>
      </p:sp>
      <p:sp>
        <p:nvSpPr>
          <p:cNvPr id="12" name="Rounded Rectangle 11"/>
          <p:cNvSpPr/>
          <p:nvPr/>
        </p:nvSpPr>
        <p:spPr>
          <a:xfrm>
            <a:off x="586587" y="1563624"/>
            <a:ext cx="2377440" cy="987552"/>
          </a:xfrm>
          <a:prstGeom prst="roundRect">
            <a:avLst>
              <a:gd name="adj" fmla="val 12000"/>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23747" y="1563624"/>
            <a:ext cx="2103120" cy="987552"/>
          </a:xfrm>
          <a:prstGeom prst="rect">
            <a:avLst/>
          </a:prstGeom>
          <a:noFill/>
        </p:spPr>
        <p:txBody>
          <a:bodyPr wrap="square" lIns="0" rIns="0" tIns="0" bIns="0" anchor="ctr">
            <a:noAutofit/>
          </a:bodyPr>
          <a:lstStyle/>
          <a:p>
            <a:pPr algn="ctr">
              <a:lnSpc>
                <a:spcPct val="110000"/>
              </a:lnSpc>
            </a:pPr>
            <a:r>
              <a:rPr sz="1700" i="0" b="1">
                <a:solidFill>
                  <a:srgbClr val="FFFFFF"/>
                </a:solidFill>
                <a:latin typeface="Helvetica Neue"/>
              </a:rPr>
              <a:t>Query</a:t>
            </a:r>
          </a:p>
          <a:p>
            <a:pPr algn="ctr">
              <a:lnSpc>
                <a:spcPct val="110000"/>
              </a:lnSpc>
            </a:pPr>
            <a:r>
              <a:rPr sz="1300" i="0" b="0">
                <a:solidFill>
                  <a:srgbClr val="E8F4F8"/>
                </a:solidFill>
                <a:latin typeface="Helvetica Neue"/>
              </a:rPr>
              <a:t>columns and filters</a:t>
            </a:r>
          </a:p>
        </p:txBody>
      </p:sp>
      <p:cxnSp>
        <p:nvCxnSpPr>
          <p:cNvPr id="14" name="Connector 13"/>
          <p:cNvCxnSpPr/>
          <p:nvPr/>
        </p:nvCxnSpPr>
        <p:spPr>
          <a:xfrm>
            <a:off x="3018891" y="2057400"/>
            <a:ext cx="393192" cy="0"/>
          </a:xfrm>
          <a:prstGeom prst="line">
            <a:avLst/>
          </a:prstGeom>
          <a:ln w="25400">
            <a:solidFill>
              <a:srgbClr val="4755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3466947" y="1563624"/>
            <a:ext cx="2377440" cy="987552"/>
          </a:xfrm>
          <a:prstGeom prst="roundRect">
            <a:avLst>
              <a:gd name="adj" fmla="val 12000"/>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04107" y="1563624"/>
            <a:ext cx="2103120" cy="987552"/>
          </a:xfrm>
          <a:prstGeom prst="rect">
            <a:avLst/>
          </a:prstGeom>
          <a:noFill/>
        </p:spPr>
        <p:txBody>
          <a:bodyPr wrap="square" lIns="0" rIns="0" tIns="0" bIns="0" anchor="ctr">
            <a:noAutofit/>
          </a:bodyPr>
          <a:lstStyle/>
          <a:p>
            <a:pPr algn="ctr">
              <a:lnSpc>
                <a:spcPct val="110000"/>
              </a:lnSpc>
            </a:pPr>
            <a:r>
              <a:rPr sz="1700" i="0" b="1">
                <a:solidFill>
                  <a:srgbClr val="FFFFFF"/>
                </a:solidFill>
                <a:latin typeface="Helvetica Neue"/>
              </a:rPr>
              <a:t>Layout</a:t>
            </a:r>
          </a:p>
          <a:p>
            <a:pPr algn="ctr">
              <a:lnSpc>
                <a:spcPct val="110000"/>
              </a:lnSpc>
            </a:pPr>
            <a:r>
              <a:rPr sz="1300" i="0" b="0">
                <a:solidFill>
                  <a:srgbClr val="E8F4F8"/>
                </a:solidFill>
                <a:latin typeface="Helvetica Neue"/>
              </a:rPr>
              <a:t>partition and cluster</a:t>
            </a:r>
          </a:p>
        </p:txBody>
      </p:sp>
      <p:cxnSp>
        <p:nvCxnSpPr>
          <p:cNvPr id="17" name="Connector 16"/>
          <p:cNvCxnSpPr/>
          <p:nvPr/>
        </p:nvCxnSpPr>
        <p:spPr>
          <a:xfrm>
            <a:off x="5899251" y="2057400"/>
            <a:ext cx="393192" cy="0"/>
          </a:xfrm>
          <a:prstGeom prst="line">
            <a:avLst/>
          </a:prstGeom>
          <a:ln w="25400">
            <a:solidFill>
              <a:srgbClr val="4755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347307" y="1563624"/>
            <a:ext cx="2377440" cy="987552"/>
          </a:xfrm>
          <a:prstGeom prst="roundRect">
            <a:avLst>
              <a:gd name="adj" fmla="val 12000"/>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84467" y="1563624"/>
            <a:ext cx="2103120" cy="987552"/>
          </a:xfrm>
          <a:prstGeom prst="rect">
            <a:avLst/>
          </a:prstGeom>
          <a:noFill/>
        </p:spPr>
        <p:txBody>
          <a:bodyPr wrap="square" lIns="0" rIns="0" tIns="0" bIns="0" anchor="ctr">
            <a:noAutofit/>
          </a:bodyPr>
          <a:lstStyle/>
          <a:p>
            <a:pPr algn="ctr">
              <a:lnSpc>
                <a:spcPct val="110000"/>
              </a:lnSpc>
            </a:pPr>
            <a:r>
              <a:rPr sz="1700" i="0" b="1">
                <a:solidFill>
                  <a:srgbClr val="FFFFFF"/>
                </a:solidFill>
                <a:latin typeface="Helvetica Neue"/>
              </a:rPr>
              <a:t>Aggregate</a:t>
            </a:r>
          </a:p>
          <a:p>
            <a:pPr algn="ctr">
              <a:lnSpc>
                <a:spcPct val="110000"/>
              </a:lnSpc>
            </a:pPr>
            <a:r>
              <a:rPr sz="1300" i="0" b="0">
                <a:solidFill>
                  <a:srgbClr val="E8F4F8"/>
                </a:solidFill>
                <a:latin typeface="Helvetica Neue"/>
              </a:rPr>
              <a:t>if read often</a:t>
            </a:r>
          </a:p>
        </p:txBody>
      </p:sp>
      <p:cxnSp>
        <p:nvCxnSpPr>
          <p:cNvPr id="20" name="Connector 19"/>
          <p:cNvCxnSpPr/>
          <p:nvPr/>
        </p:nvCxnSpPr>
        <p:spPr>
          <a:xfrm>
            <a:off x="8779611" y="2057400"/>
            <a:ext cx="393192" cy="0"/>
          </a:xfrm>
          <a:prstGeom prst="line">
            <a:avLst/>
          </a:prstGeom>
          <a:ln w="25400">
            <a:solidFill>
              <a:srgbClr val="4755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9227667" y="1563624"/>
            <a:ext cx="2377440" cy="987552"/>
          </a:xfrm>
          <a:prstGeom prst="roundRect">
            <a:avLst>
              <a:gd name="adj" fmla="val 12000"/>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364827" y="1563624"/>
            <a:ext cx="2103120" cy="987552"/>
          </a:xfrm>
          <a:prstGeom prst="rect">
            <a:avLst/>
          </a:prstGeom>
          <a:noFill/>
        </p:spPr>
        <p:txBody>
          <a:bodyPr wrap="square" lIns="0" rIns="0" tIns="0" bIns="0" anchor="ctr">
            <a:noAutofit/>
          </a:bodyPr>
          <a:lstStyle/>
          <a:p>
            <a:pPr algn="ctr">
              <a:lnSpc>
                <a:spcPct val="110000"/>
              </a:lnSpc>
            </a:pPr>
            <a:r>
              <a:rPr sz="1700" i="0" b="1">
                <a:solidFill>
                  <a:srgbClr val="FFFFFF"/>
                </a:solidFill>
                <a:latin typeface="Helvetica Neue"/>
              </a:rPr>
              <a:t>Pricing model</a:t>
            </a:r>
          </a:p>
          <a:p>
            <a:pPr algn="ctr">
              <a:lnSpc>
                <a:spcPct val="110000"/>
              </a:lnSpc>
            </a:pPr>
            <a:r>
              <a:rPr sz="1300" i="0" b="0">
                <a:solidFill>
                  <a:srgbClr val="E8F4F8"/>
                </a:solidFill>
                <a:latin typeface="Helvetica Neue"/>
              </a:rPr>
              <a:t>after the rest</a:t>
            </a:r>
          </a:p>
        </p:txBody>
      </p:sp>
      <p:sp>
        <p:nvSpPr>
          <p:cNvPr id="23" name="Rectangle 22"/>
          <p:cNvSpPr/>
          <p:nvPr/>
        </p:nvSpPr>
        <p:spPr>
          <a:xfrm>
            <a:off x="502920" y="2962910"/>
            <a:ext cx="101346" cy="101346"/>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2960" y="2871216"/>
            <a:ext cx="10865815" cy="409956"/>
          </a:xfrm>
          <a:prstGeom prst="rect">
            <a:avLst/>
          </a:prstGeom>
          <a:noFill/>
        </p:spPr>
        <p:txBody>
          <a:bodyPr wrap="square" lIns="0" rIns="0" tIns="0" bIns="0" anchor="t">
            <a:noAutofit/>
          </a:bodyPr>
          <a:lstStyle/>
          <a:p>
            <a:pPr algn="l">
              <a:lnSpc>
                <a:spcPct val="110000"/>
              </a:lnSpc>
            </a:pPr>
            <a:r>
              <a:rPr sz="1900" i="0" b="1">
                <a:solidFill>
                  <a:srgbClr val="1E293B"/>
                </a:solidFill>
                <a:latin typeface="Helvetica Neue"/>
              </a:rPr>
              <a:t>Job labels</a:t>
            </a:r>
            <a:r>
              <a:rPr sz="1900" i="0" b="0">
                <a:solidFill>
                  <a:srgbClr val="1E293B"/>
                </a:solidFill>
                <a:latin typeface="Helvetica Neue"/>
              </a:rPr>
              <a:t> tell you who to ask.</a:t>
            </a:r>
          </a:p>
        </p:txBody>
      </p:sp>
      <p:sp>
        <p:nvSpPr>
          <p:cNvPr id="25" name="Rectangle 24"/>
          <p:cNvSpPr/>
          <p:nvPr/>
        </p:nvSpPr>
        <p:spPr>
          <a:xfrm>
            <a:off x="502920" y="3426206"/>
            <a:ext cx="101346" cy="101346"/>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60" y="3334512"/>
            <a:ext cx="10865815" cy="409956"/>
          </a:xfrm>
          <a:prstGeom prst="rect">
            <a:avLst/>
          </a:prstGeom>
          <a:noFill/>
        </p:spPr>
        <p:txBody>
          <a:bodyPr wrap="square" lIns="0" rIns="0" tIns="0" bIns="0" anchor="t">
            <a:noAutofit/>
          </a:bodyPr>
          <a:lstStyle/>
          <a:p>
            <a:pPr algn="l">
              <a:lnSpc>
                <a:spcPct val="110000"/>
              </a:lnSpc>
            </a:pPr>
            <a:r>
              <a:rPr sz="1710" i="0" b="1">
                <a:solidFill>
                  <a:srgbClr val="0F7490"/>
                </a:solidFill>
                <a:latin typeface="Menlo"/>
              </a:rPr>
              <a:t>INFORMATION_SCHEMA.JOBS</a:t>
            </a:r>
            <a:r>
              <a:rPr sz="1900" i="0" b="0">
                <a:solidFill>
                  <a:srgbClr val="1E293B"/>
                </a:solidFill>
                <a:latin typeface="Helvetica Neue"/>
              </a:rPr>
              <a:t> lists the top spenders.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Rules of thumb</a:t>
            </a:r>
          </a:p>
        </p:txBody>
      </p:sp>
      <p:sp>
        <p:nvSpPr>
          <p:cNvPr id="5" name="Rectangle 4"/>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What to carry out</a:t>
            </a:r>
          </a:p>
        </p:txBody>
      </p:sp>
      <p:sp>
        <p:nvSpPr>
          <p:cNvPr id="7" name="TextBox 6"/>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30</a:t>
            </a:r>
          </a:p>
        </p:txBody>
      </p:sp>
      <p:sp>
        <p:nvSpPr>
          <p:cNvPr id="8" name="Rectangle 7"/>
          <p:cNvSpPr/>
          <p:nvPr/>
        </p:nvSpPr>
        <p:spPr>
          <a:xfrm>
            <a:off x="502920" y="1472184"/>
            <a:ext cx="2590723" cy="2581656"/>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472184"/>
            <a:ext cx="82296" cy="2581656"/>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655064"/>
            <a:ext cx="2133523" cy="359664"/>
          </a:xfrm>
          <a:prstGeom prst="rect">
            <a:avLst/>
          </a:prstGeom>
          <a:noFill/>
        </p:spPr>
        <p:txBody>
          <a:bodyPr wrap="square" lIns="0" rIns="0" tIns="0" bIns="0" anchor="t">
            <a:noAutofit/>
          </a:bodyPr>
          <a:lstStyle/>
          <a:p>
            <a:pPr algn="l">
              <a:lnSpc>
                <a:spcPct val="110000"/>
              </a:lnSpc>
            </a:pPr>
            <a:r>
              <a:rPr sz="1600" i="0" b="1">
                <a:solidFill>
                  <a:srgbClr val="1E293B"/>
                </a:solidFill>
                <a:latin typeface="Helvetica Neue"/>
              </a:rPr>
              <a:t>Layout</a:t>
            </a:r>
          </a:p>
        </p:txBody>
      </p:sp>
      <p:sp>
        <p:nvSpPr>
          <p:cNvPr id="11" name="TextBox 10"/>
          <p:cNvSpPr txBox="1"/>
          <p:nvPr/>
        </p:nvSpPr>
        <p:spPr>
          <a:xfrm>
            <a:off x="777240" y="2087880"/>
            <a:ext cx="2087803" cy="1783079"/>
          </a:xfrm>
          <a:prstGeom prst="rect">
            <a:avLst/>
          </a:prstGeom>
          <a:noFill/>
        </p:spPr>
        <p:txBody>
          <a:bodyPr wrap="square" lIns="0" rIns="0" tIns="0" bIns="0" anchor="t">
            <a:noAutofit/>
          </a:bodyPr>
          <a:lstStyle/>
          <a:p>
            <a:pPr algn="l">
              <a:lnSpc>
                <a:spcPct val="110000"/>
              </a:lnSpc>
            </a:pPr>
            <a:r>
              <a:rPr sz="1800" i="0" b="0">
                <a:solidFill>
                  <a:srgbClr val="475569"/>
                </a:solidFill>
                <a:latin typeface="Helvetica Neue"/>
              </a:rPr>
              <a:t>Name columns, filter partitions, cluster the next filter.</a:t>
            </a:r>
          </a:p>
        </p:txBody>
      </p:sp>
      <p:sp>
        <p:nvSpPr>
          <p:cNvPr id="12" name="Rectangle 11"/>
          <p:cNvSpPr/>
          <p:nvPr/>
        </p:nvSpPr>
        <p:spPr>
          <a:xfrm>
            <a:off x="3367963" y="1472184"/>
            <a:ext cx="2590723" cy="2581656"/>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367963" y="1472184"/>
            <a:ext cx="82296" cy="2581656"/>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42283" y="1655064"/>
            <a:ext cx="2133523" cy="359664"/>
          </a:xfrm>
          <a:prstGeom prst="rect">
            <a:avLst/>
          </a:prstGeom>
          <a:noFill/>
        </p:spPr>
        <p:txBody>
          <a:bodyPr wrap="square" lIns="0" rIns="0" tIns="0" bIns="0" anchor="t">
            <a:noAutofit/>
          </a:bodyPr>
          <a:lstStyle/>
          <a:p>
            <a:pPr algn="l">
              <a:lnSpc>
                <a:spcPct val="110000"/>
              </a:lnSpc>
            </a:pPr>
            <a:r>
              <a:rPr sz="1600" i="0" b="1">
                <a:solidFill>
                  <a:srgbClr val="1E293B"/>
                </a:solidFill>
                <a:latin typeface="Helvetica Neue"/>
              </a:rPr>
              <a:t>Tables</a:t>
            </a:r>
          </a:p>
        </p:txBody>
      </p:sp>
      <p:sp>
        <p:nvSpPr>
          <p:cNvPr id="15" name="TextBox 14"/>
          <p:cNvSpPr txBox="1"/>
          <p:nvPr/>
        </p:nvSpPr>
        <p:spPr>
          <a:xfrm>
            <a:off x="3642283" y="2087880"/>
            <a:ext cx="2087803" cy="1783079"/>
          </a:xfrm>
          <a:prstGeom prst="rect">
            <a:avLst/>
          </a:prstGeom>
          <a:noFill/>
        </p:spPr>
        <p:txBody>
          <a:bodyPr wrap="square" lIns="0" rIns="0" tIns="0" bIns="0" anchor="t">
            <a:noAutofit/>
          </a:bodyPr>
          <a:lstStyle/>
          <a:p>
            <a:pPr algn="l">
              <a:lnSpc>
                <a:spcPct val="110000"/>
              </a:lnSpc>
            </a:pPr>
            <a:r>
              <a:rPr sz="1800" i="0" b="0">
                <a:solidFill>
                  <a:srgbClr val="475569"/>
                </a:solidFill>
                <a:latin typeface="Helvetica Neue"/>
              </a:rPr>
              <a:t>A table is a list of files. Read through the log.</a:t>
            </a:r>
          </a:p>
        </p:txBody>
      </p:sp>
      <p:sp>
        <p:nvSpPr>
          <p:cNvPr id="16" name="Rectangle 15"/>
          <p:cNvSpPr/>
          <p:nvPr/>
        </p:nvSpPr>
        <p:spPr>
          <a:xfrm>
            <a:off x="6233007" y="1472184"/>
            <a:ext cx="2590723" cy="2581656"/>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33007" y="1472184"/>
            <a:ext cx="82296" cy="2581656"/>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07327" y="1655064"/>
            <a:ext cx="2133523" cy="359664"/>
          </a:xfrm>
          <a:prstGeom prst="rect">
            <a:avLst/>
          </a:prstGeom>
          <a:noFill/>
        </p:spPr>
        <p:txBody>
          <a:bodyPr wrap="square" lIns="0" rIns="0" tIns="0" bIns="0" anchor="t">
            <a:noAutofit/>
          </a:bodyPr>
          <a:lstStyle/>
          <a:p>
            <a:pPr algn="l">
              <a:lnSpc>
                <a:spcPct val="110000"/>
              </a:lnSpc>
            </a:pPr>
            <a:r>
              <a:rPr sz="1600" i="0" b="1">
                <a:solidFill>
                  <a:srgbClr val="1E293B"/>
                </a:solidFill>
                <a:latin typeface="Helvetica Neue"/>
              </a:rPr>
              <a:t>Streams</a:t>
            </a:r>
          </a:p>
        </p:txBody>
      </p:sp>
      <p:sp>
        <p:nvSpPr>
          <p:cNvPr id="19" name="TextBox 18"/>
          <p:cNvSpPr txBox="1"/>
          <p:nvPr/>
        </p:nvSpPr>
        <p:spPr>
          <a:xfrm>
            <a:off x="6507327" y="2087880"/>
            <a:ext cx="2087803" cy="1783079"/>
          </a:xfrm>
          <a:prstGeom prst="rect">
            <a:avLst/>
          </a:prstGeom>
          <a:noFill/>
        </p:spPr>
        <p:txBody>
          <a:bodyPr wrap="square" lIns="0" rIns="0" tIns="0" bIns="0" anchor="t">
            <a:noAutofit/>
          </a:bodyPr>
          <a:lstStyle/>
          <a:p>
            <a:pPr algn="l">
              <a:lnSpc>
                <a:spcPct val="110000"/>
              </a:lnSpc>
            </a:pPr>
            <a:r>
              <a:rPr sz="1800" i="0" b="0">
                <a:solidFill>
                  <a:srgbClr val="475569"/>
                </a:solidFill>
                <a:latin typeface="Helvetica Neue"/>
              </a:rPr>
              <a:t>Commit output and offset together, and ask from where to where.</a:t>
            </a:r>
          </a:p>
        </p:txBody>
      </p:sp>
      <p:sp>
        <p:nvSpPr>
          <p:cNvPr id="20" name="Rectangle 19"/>
          <p:cNvSpPr/>
          <p:nvPr/>
        </p:nvSpPr>
        <p:spPr>
          <a:xfrm>
            <a:off x="9098051" y="1472184"/>
            <a:ext cx="2590723" cy="2581656"/>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9098051" y="1472184"/>
            <a:ext cx="82296" cy="2581656"/>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372371" y="1655064"/>
            <a:ext cx="2133523" cy="359664"/>
          </a:xfrm>
          <a:prstGeom prst="rect">
            <a:avLst/>
          </a:prstGeom>
          <a:noFill/>
        </p:spPr>
        <p:txBody>
          <a:bodyPr wrap="square" lIns="0" rIns="0" tIns="0" bIns="0" anchor="t">
            <a:noAutofit/>
          </a:bodyPr>
          <a:lstStyle/>
          <a:p>
            <a:pPr algn="l">
              <a:lnSpc>
                <a:spcPct val="110000"/>
              </a:lnSpc>
            </a:pPr>
            <a:r>
              <a:rPr sz="1600" i="0" b="1">
                <a:solidFill>
                  <a:srgbClr val="1E293B"/>
                </a:solidFill>
                <a:latin typeface="Helvetica Neue"/>
              </a:rPr>
              <a:t>Cost</a:t>
            </a:r>
          </a:p>
        </p:txBody>
      </p:sp>
      <p:sp>
        <p:nvSpPr>
          <p:cNvPr id="23" name="TextBox 22"/>
          <p:cNvSpPr txBox="1"/>
          <p:nvPr/>
        </p:nvSpPr>
        <p:spPr>
          <a:xfrm>
            <a:off x="9372371" y="2087880"/>
            <a:ext cx="2087803" cy="1783079"/>
          </a:xfrm>
          <a:prstGeom prst="rect">
            <a:avLst/>
          </a:prstGeom>
          <a:noFill/>
        </p:spPr>
        <p:txBody>
          <a:bodyPr wrap="square" lIns="0" rIns="0" tIns="0" bIns="0" anchor="t">
            <a:noAutofit/>
          </a:bodyPr>
          <a:lstStyle/>
          <a:p>
            <a:pPr algn="l">
              <a:lnSpc>
                <a:spcPct val="110000"/>
              </a:lnSpc>
            </a:pPr>
            <a:r>
              <a:rPr sz="1800" i="0" b="0">
                <a:solidFill>
                  <a:srgbClr val="475569"/>
                </a:solidFill>
                <a:latin typeface="Helvetica Neue"/>
              </a:rPr>
              <a:t>Run the arithmetic first, and put a byte limit in CI.</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Where next</a:t>
            </a:r>
          </a:p>
        </p:txBody>
      </p:sp>
      <p:sp>
        <p:nvSpPr>
          <p:cNvPr id="5" name="Rectangle 4"/>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What to carry out</a:t>
            </a:r>
          </a:p>
        </p:txBody>
      </p:sp>
      <p:sp>
        <p:nvSpPr>
          <p:cNvPr id="7" name="TextBox 6"/>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31</a:t>
            </a:r>
          </a:p>
        </p:txBody>
      </p:sp>
      <p:sp>
        <p:nvSpPr>
          <p:cNvPr id="8" name="Rectangle 7"/>
          <p:cNvSpPr/>
          <p:nvPr/>
        </p:nvSpPr>
        <p:spPr>
          <a:xfrm>
            <a:off x="502920" y="1568704"/>
            <a:ext cx="106680" cy="106680"/>
          </a:xfrm>
          <a:prstGeom prst="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1472184"/>
            <a:ext cx="10865815" cy="762000"/>
          </a:xfrm>
          <a:prstGeom prst="rect">
            <a:avLst/>
          </a:prstGeom>
          <a:noFill/>
        </p:spPr>
        <p:txBody>
          <a:bodyPr wrap="square" lIns="0" rIns="0" tIns="0" bIns="0" anchor="t">
            <a:noAutofit/>
          </a:bodyPr>
          <a:lstStyle/>
          <a:p>
            <a:pPr algn="l">
              <a:lnSpc>
                <a:spcPct val="110000"/>
              </a:lnSpc>
            </a:pPr>
            <a:r>
              <a:rPr sz="2000" i="0" b="1">
                <a:solidFill>
                  <a:srgbClr val="1E293B"/>
                </a:solidFill>
                <a:latin typeface="Helvetica Neue"/>
              </a:rPr>
              <a:t>Next pillar:</a:t>
            </a:r>
            <a:r>
              <a:rPr sz="2000" i="0" b="0">
                <a:solidFill>
                  <a:srgbClr val="1E293B"/>
                </a:solidFill>
                <a:latin typeface="Helvetica Neue"/>
              </a:rPr>
              <a:t> quality and observability. Everything here assumed the data was right.</a:t>
            </a:r>
          </a:p>
        </p:txBody>
      </p:sp>
      <p:sp>
        <p:nvSpPr>
          <p:cNvPr id="10" name="Rectangle 9"/>
          <p:cNvSpPr/>
          <p:nvPr/>
        </p:nvSpPr>
        <p:spPr>
          <a:xfrm>
            <a:off x="502920" y="2391664"/>
            <a:ext cx="106680" cy="106680"/>
          </a:xfrm>
          <a:prstGeom prst="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2295144"/>
            <a:ext cx="10865815" cy="426720"/>
          </a:xfrm>
          <a:prstGeom prst="rect">
            <a:avLst/>
          </a:prstGeom>
          <a:noFill/>
        </p:spPr>
        <p:txBody>
          <a:bodyPr wrap="square" lIns="0" rIns="0" tIns="0" bIns="0" anchor="t">
            <a:noAutofit/>
          </a:bodyPr>
          <a:lstStyle/>
          <a:p>
            <a:pPr algn="l">
              <a:lnSpc>
                <a:spcPct val="110000"/>
              </a:lnSpc>
            </a:pPr>
            <a:r>
              <a:rPr sz="2000" i="0" b="1">
                <a:solidFill>
                  <a:srgbClr val="1E293B"/>
                </a:solidFill>
                <a:latin typeface="Helvetica Neue"/>
              </a:rPr>
              <a:t>Practice:</a:t>
            </a:r>
            <a:r>
              <a:rPr sz="2000" i="0" b="0">
                <a:solidFill>
                  <a:srgbClr val="1E293B"/>
                </a:solidFill>
                <a:latin typeface="Helvetica Neue"/>
              </a:rPr>
              <a:t> the BigQuery, Spark and Kafka modules in </a:t>
            </a:r>
            <a:r>
              <a:rPr sz="1800" i="0" b="0">
                <a:solidFill>
                  <a:srgbClr val="0F7490"/>
                </a:solidFill>
                <a:latin typeface="Menlo"/>
              </a:rPr>
              <a:t>practice/datatalks-de</a:t>
            </a:r>
            <a:r>
              <a:rPr sz="2000" i="0" b="0">
                <a:solidFill>
                  <a:srgbClr val="1E293B"/>
                </a:solidFill>
                <a:latin typeface="Helvetica Neue"/>
              </a:rPr>
              <a:t>.</a:t>
            </a:r>
          </a:p>
        </p:txBody>
      </p:sp>
      <p:sp>
        <p:nvSpPr>
          <p:cNvPr id="12" name="Rectangle 11"/>
          <p:cNvSpPr/>
          <p:nvPr/>
        </p:nvSpPr>
        <p:spPr>
          <a:xfrm>
            <a:off x="502920" y="2879344"/>
            <a:ext cx="106680" cy="106680"/>
          </a:xfrm>
          <a:prstGeom prst="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2782824"/>
            <a:ext cx="10865815" cy="426720"/>
          </a:xfrm>
          <a:prstGeom prst="rect">
            <a:avLst/>
          </a:prstGeom>
          <a:noFill/>
        </p:spPr>
        <p:txBody>
          <a:bodyPr wrap="square" lIns="0" rIns="0" tIns="0" bIns="0" anchor="t">
            <a:noAutofit/>
          </a:bodyPr>
          <a:lstStyle/>
          <a:p>
            <a:pPr algn="l">
              <a:lnSpc>
                <a:spcPct val="110000"/>
              </a:lnSpc>
            </a:pPr>
            <a:r>
              <a:rPr sz="2000" i="0" b="1">
                <a:solidFill>
                  <a:srgbClr val="1E293B"/>
                </a:solidFill>
                <a:latin typeface="Helvetica Neue"/>
              </a:rPr>
              <a:t>Read:</a:t>
            </a:r>
            <a:r>
              <a:rPr sz="2000" i="0" b="0">
                <a:solidFill>
                  <a:srgbClr val="1E293B"/>
                </a:solidFill>
                <a:latin typeface="Helvetica Neue"/>
              </a:rPr>
              <a:t> Delta Lake (PVLDB 2020), Lakehouse (CIDR 2021), Dataflow (PVLDB 2015).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