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the generative AI layer. We take the loop and the tools and we build things that finish real work. Along the way one question keeps coming back: what would prove this answer wrong, and who checks? We start with an agent whose cost is bounded and end with where the agent sits beside a person.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choice every application makes first: how much of the path do you fix in advance? A fixed graph has bounded cost. An open loop can handle work you could not outline, and you pay for that in context, in wandering and in having to judge the output.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that may do anything is hard to reason about. So the first design decision is not which model but who owns the path. We will see a fixed graph first, and then what we get and what we pay by opening it.</a:t>
            </a:r>
          </a:p>
          <a:p/>
          <a:p>
            <a:r>
              <a:t>Source: notes/01-internet-search-agent.md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usual design binds a search tool and lets the model call it mid-turn. This project splits that into nodes on purpose. You give up flexibility and get one trace per step, plus state you can inspect per node.</a:t>
            </a:r>
          </a:p>
          <a:p/>
          <a:p>
            <a:r>
              <a:t>Source: notes/01-internet-search-agent.md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W&amp;B workshop agent is built with no framework at all. Model, tools, append the results, stop on plain text. Then add the two things long runs need: a cap so it ends, and compaction so it fits. The notes run a stubbed version of this with real output.</a:t>
            </a:r>
          </a:p>
          <a:p/>
          <a:p>
            <a:r>
              <a:t>Source: notes/02-deep-research-bot.md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Huang et al.'s survey gives the map: workflow, planning, retrieval and tuning. CodeScientist is the one to remember because its figures survived code review and replication, and they are small.</a:t>
            </a:r>
          </a:p>
          <a:p/>
          <a:p>
            <a:r>
              <a:t>Source: notes/02-deep-research-bot.md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DeepResearch Bench has 100 PhD-level tasks with reference reports. DR Tulu's highest-reward run did worse downstream, which is the warning: a rubric you optimize against stops measuring what it measured. That closes the open loop, and the next constraint is time.</a:t>
            </a:r>
          </a:p>
          <a:p/>
          <a:p>
            <a:r>
              <a:t>Source: notes/02-deep-research-bot.md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agents can take minutes. A voice agent has about two seconds. Time changes the architecture, and screens add a perception problem. This part is about what a hard budget does to the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looks reasonable by itself. The sum is what the caller feels. So what happens when the server gets busy?</a:t>
            </a:r>
          </a:p>
          <a:p/>
          <a:p>
            <a:r>
              <a:t>Source: notes/03-real-time-multimodal-agents.md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figures are arithmetic on typical stage ranges, not a measurement of any system. Note the slow end is over budget even when idle, which means it needs a design change and not a utilization limit.</a:t>
            </a:r>
          </a:p>
          <a:p/>
          <a:p>
            <a:r>
              <a:t>Source: notes/03-real-time-multimodal-agents.md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confident done while the slow agent is still working is the worst failure of this design. The same split appears in computer use: responses got about 15 times faster when a fast model handled the talking.</a:t>
            </a:r>
          </a:p>
          <a:p/>
          <a:p>
            <a:r>
              <a:t>Source: notes/03-real-time-multimodal-agents.md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S3 spends compute and time to buy reliability, the reverse of voice. An agent with no one waiting can take more tries and a voice agent cannot. Report time per task alongside the score. Now let us give an agent a stricter judge.</a:t>
            </a:r>
          </a:p>
          <a:p/>
          <a:p>
            <a:r>
              <a:t>Source: notes/03-real-time-multimodal-agents.md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coding agent's work can be run. That gives us a machine that can say no. This part builds one, and then attacks it with a lab you can run with no key.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research report is judged later and with effort. A patch is judged in seconds. That is a real gift, as long as the agent cannot rewrite the tests or do damage while running them.</a:t>
            </a:r>
          </a:p>
          <a:p/>
          <a:p>
            <a:r>
              <a:t>Source: notes/04-coding-agent.md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SWE-agent ablations are one model and one benchmark, changing one thing at a time. Showing more of a file made it worse. A good interface is a limit on what the model has to deal with.</a:t>
            </a:r>
          </a:p>
          <a:p/>
          <a:p>
            <a:r>
              <a:t>Source: notes/04-coding-agent.md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lab's escape scenario writes a file outside the repo through code it runs. That is an honest limit of the lab. Real containment takes an operating system sandbox.</a:t>
            </a:r>
          </a:p>
          <a:p/>
          <a:p>
            <a:r>
              <a:t>Source: notes/04-coding-agent.md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to copy. Harness behaviour does not depend on the model being clever. Script the attack, then assert what happened. Swapping in Claude is one file, which is marked illustrative because it needs a key.</a:t>
            </a:r>
          </a:p>
          <a:p/>
          <a:p>
            <a:r>
              <a:t>Source: notes/04-coding-agent.md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limit so far assumes a person can review the result. Debugging is the skill that review draws on. So what happens when there is no test at all, only a number?</a:t>
            </a:r>
          </a:p>
          <a:p/>
          <a:p>
            <a:r>
              <a:t>Source: notes/04-coding-agent.md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wrong patch usually breaks a test. A wrong analysis returns a number that looks like a right one. We run this part on real data from the analytics pillar: restaurant tips and the Titanic.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Wrong question, wrong population, weak evidence, and a sentence the numbers do not support. None of those throw an error. Text-to-SQL research measures mostly the first one, and Biswal et al. show many real questions need reasoning past the query: baselines never passed 20% exact match in their set, and hand-written TAG pipelines reached 55%.</a:t>
            </a:r>
          </a:p>
          <a:p/>
          <a:p>
            <a:r>
              <a:t>Source: notes/05-data-analysis-agent.md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the model if it is right shares its errors. So the validator sees metric, grouping, group and value, and recomputes from source data. Then it applies the rules a statistician would apply by reflex.</a:t>
            </a:r>
          </a:p>
          <a:p/>
          <a:p>
            <a:r>
              <a:t>Source: notes/05-data-analysis-agent.md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Titanic gap is a real lead, and the interval says so clearly. For tips by day it is not. The next slide shows what the agent ends up allowed to say.</a:t>
            </a:r>
          </a:p>
          <a:p/>
          <a:p>
            <a:r>
              <a:t>Source: notes/05-data-analysis-agent.md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Near-equal bars tell the truth about the lead. The chart cannot show that Friday rests on 19 bills. In the lab, the agent's first two submissions on this question were refused before it was allowed to answer.</a:t>
            </a:r>
          </a:p>
          <a:p/>
          <a:p>
            <a:r>
              <a:t>Source: notes/05-data-analysis-agent.md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limits out loud when you present such a system. Now one question is left, and it applies to all of them. Where does the agent sit next to the person who has to trust it?</a:t>
            </a:r>
          </a:p>
          <a:p/>
          <a:p>
            <a:r>
              <a:t>Source: notes/05-data-analysis-agent.md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can pass every test and still fail, if the person cannot see or undo what it did. The final part is about position: who is working when, and what that makes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Oshin and Campos give three answers, and they differ in concurrency: who is working when.</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run from easiest to add to hardest. A coding agent on a branch is the version-control level of collaboration. A voice agent's fast and slow pair is a kind of concurrency too.</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Louvan and Magnini warn that the datasets are solved, not language understanding. Separately, Blending showed three small models beating ChatGPT on retention on one platform, so measure the outcome your product is for.</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column is our inference from the study, applied to the labs. Amershi et al.'s guidelines point the same way: support efficient correction and dismissal, and update cautiously.</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Removing the anchor is one of the exercises. No error is raised and only the log shows it.</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Rothman's approach to re-tasking is useful. His evidence is single runs, and the persuasive pitch is a grounding failure, which is the question we started with again: what would prove this answer wrong?</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keep one thing, keep the last card. Tests, recomputation, a reference report and a person are all answers to the same question.</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layer takes each decision we made by hand here and turns it into something you can build on: context, harness, loop and graph engineering.</a:t>
            </a:r>
          </a:p>
          <a:p/>
          <a:p>
            <a:r>
              <a:t>Source: notes/06-application-patterns.md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Agentic Applications</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Models, tools and a loop, doing a real task</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Open the loop · Add a clock · Add a judge · Check the numbers · Meet the user</a:t>
            </a:r>
          </a:p>
        </p:txBody>
      </p:sp>
      <p:sp>
        <p:nvSpPr>
          <p:cNvPr id="10" name="Rectangle 9"/>
          <p:cNvSpPr/>
          <p:nvPr/>
        </p:nvSpPr>
        <p:spPr>
          <a:xfrm>
            <a:off x="6492240" y="822960"/>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881481"/>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1: Open the loop</a:t>
            </a:r>
          </a:p>
        </p:txBody>
      </p:sp>
      <p:sp>
        <p:nvSpPr>
          <p:cNvPr id="13" name="TextBox 12"/>
          <p:cNvSpPr txBox="1"/>
          <p:nvPr/>
        </p:nvSpPr>
        <p:spPr>
          <a:xfrm>
            <a:off x="6766560" y="1264031"/>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Fixed graph · Router node · Open loop · Compaction · Judging a report</a:t>
            </a:r>
          </a:p>
        </p:txBody>
      </p:sp>
      <p:sp>
        <p:nvSpPr>
          <p:cNvPr id="14" name="Rectangle 13"/>
          <p:cNvSpPr/>
          <p:nvPr/>
        </p:nvSpPr>
        <p:spPr>
          <a:xfrm>
            <a:off x="6492240" y="190560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905609"/>
            <a:ext cx="91440" cy="881481"/>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03362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2: Add a clock</a:t>
            </a:r>
          </a:p>
        </p:txBody>
      </p:sp>
      <p:sp>
        <p:nvSpPr>
          <p:cNvPr id="17" name="TextBox 16"/>
          <p:cNvSpPr txBox="1"/>
          <p:nvPr/>
        </p:nvSpPr>
        <p:spPr>
          <a:xfrm>
            <a:off x="6766560" y="234668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The latency budget · Queueing · Fast and slow · Computer use · GUI agents</a:t>
            </a:r>
          </a:p>
        </p:txBody>
      </p:sp>
      <p:sp>
        <p:nvSpPr>
          <p:cNvPr id="18" name="Rectangle 17"/>
          <p:cNvSpPr/>
          <p:nvPr/>
        </p:nvSpPr>
        <p:spPr>
          <a:xfrm>
            <a:off x="6492240" y="2988259"/>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988259"/>
            <a:ext cx="91440" cy="881481"/>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3116275"/>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3: Add a judge</a:t>
            </a:r>
          </a:p>
        </p:txBody>
      </p:sp>
      <p:sp>
        <p:nvSpPr>
          <p:cNvPr id="21" name="TextBox 20"/>
          <p:cNvSpPr txBox="1"/>
          <p:nvPr/>
        </p:nvSpPr>
        <p:spPr>
          <a:xfrm>
            <a:off x="6766560" y="3429330"/>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The loop · Interface design · Sandbox layers · Held-out tests · Supervision</a:t>
            </a:r>
          </a:p>
        </p:txBody>
      </p:sp>
      <p:sp>
        <p:nvSpPr>
          <p:cNvPr id="22" name="Rectangle 21"/>
          <p:cNvSpPr/>
          <p:nvPr/>
        </p:nvSpPr>
        <p:spPr>
          <a:xfrm>
            <a:off x="6492240" y="407090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4070908"/>
            <a:ext cx="91440" cy="881481"/>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419892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4: Check the numbers</a:t>
            </a:r>
          </a:p>
        </p:txBody>
      </p:sp>
      <p:sp>
        <p:nvSpPr>
          <p:cNvPr id="25" name="TextBox 24"/>
          <p:cNvSpPr txBox="1"/>
          <p:nvPr/>
        </p:nvSpPr>
        <p:spPr>
          <a:xfrm>
            <a:off x="6766560" y="451197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Wrong question · Read-only access · Agree the metric · The validator · Charts</a:t>
            </a:r>
          </a:p>
        </p:txBody>
      </p:sp>
      <p:sp>
        <p:nvSpPr>
          <p:cNvPr id="26" name="Rectangle 25"/>
          <p:cNvSpPr/>
          <p:nvPr/>
        </p:nvSpPr>
        <p:spPr>
          <a:xfrm>
            <a:off x="6492240" y="5153558"/>
            <a:ext cx="5196535" cy="88148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5153558"/>
            <a:ext cx="91440" cy="881481"/>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5281574"/>
            <a:ext cx="4785055" cy="365760"/>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Part 5: Meet the user</a:t>
            </a:r>
          </a:p>
        </p:txBody>
      </p:sp>
      <p:sp>
        <p:nvSpPr>
          <p:cNvPr id="29" name="TextBox 28"/>
          <p:cNvSpPr txBox="1"/>
          <p:nvPr/>
        </p:nvSpPr>
        <p:spPr>
          <a:xfrm>
            <a:off x="6766560" y="5594629"/>
            <a:ext cx="4785055" cy="424281"/>
          </a:xfrm>
          <a:prstGeom prst="rect">
            <a:avLst/>
          </a:prstGeom>
          <a:noFill/>
        </p:spPr>
        <p:txBody>
          <a:bodyPr wrap="square" lIns="0" rIns="0" tIns="0" bIns="0" anchor="t">
            <a:noAutofit/>
          </a:bodyPr>
          <a:lstStyle/>
          <a:p>
            <a:pPr algn="l">
              <a:lnSpc>
                <a:spcPct val="110000"/>
              </a:lnSpc>
            </a:pPr>
            <a:r>
              <a:rPr sz="1300" i="0" b="0">
                <a:solidFill>
                  <a:srgbClr val="475569"/>
                </a:solidFill>
                <a:latin typeface="Helvetica Neue"/>
              </a:rPr>
              <a:t>Chatbot, editor, ambient · The router's history · Trust · One engine, new domain</a:t>
            </a:r>
          </a:p>
        </p:txBody>
      </p:sp>
      <p:sp>
        <p:nvSpPr>
          <p:cNvPr id="30" name="TextBox 29"/>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generative-ai/07-agentic-applications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Open the loop</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Fixed graph · Router node · Open loop · Compaction · Judging a report</a:t>
            </a:r>
          </a:p>
        </p:txBody>
      </p:sp>
      <p:cxnSp>
        <p:nvCxnSpPr>
          <p:cNvPr id="6" name="Connector 5"/>
          <p:cNvCxnSpPr/>
          <p:nvPr/>
        </p:nvCxnSpPr>
        <p:spPr>
          <a:xfrm>
            <a:off x="6446520" y="1960880"/>
            <a:ext cx="0" cy="29362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960880"/>
            <a:ext cx="4693615" cy="311912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How much of the path should the model choose?</a:t>
            </a:r>
          </a:p>
          <a:p>
            <a:pPr algn="l">
              <a:lnSpc>
                <a:spcPct val="100000"/>
              </a:lnSpc>
              <a:spcBef>
                <a:spcPts val="1189"/>
              </a:spcBef>
            </a:pPr>
            <a:r>
              <a:rPr sz="1700" i="0" b="0">
                <a:solidFill>
                  <a:srgbClr val="CBD5E1"/>
                </a:solidFill>
                <a:latin typeface="Helvetica Neue"/>
              </a:rPr>
              <a:t>A fixed graph decides first, then works section by section</a:t>
            </a:r>
          </a:p>
          <a:p>
            <a:pPr algn="l">
              <a:lnSpc>
                <a:spcPct val="100000"/>
              </a:lnSpc>
              <a:spcBef>
                <a:spcPts val="1189"/>
              </a:spcBef>
            </a:pPr>
            <a:r>
              <a:rPr sz="1700" i="0" b="0">
                <a:solidFill>
                  <a:srgbClr val="CBD5E1"/>
                </a:solidFill>
                <a:latin typeface="Helvetica Neue"/>
              </a:rPr>
              <a:t>The open loop is one while statement</a:t>
            </a:r>
          </a:p>
          <a:p>
            <a:pPr algn="l">
              <a:lnSpc>
                <a:spcPct val="100000"/>
              </a:lnSpc>
              <a:spcBef>
                <a:spcPts val="1189"/>
              </a:spcBef>
            </a:pPr>
            <a:r>
              <a:rPr sz="1700" i="0" b="0">
                <a:solidFill>
                  <a:srgbClr val="CBD5E1"/>
                </a:solidFill>
                <a:latin typeface="Helvetica Neue"/>
              </a:rPr>
              <a:t>Read each new research agent by asking which part it changed</a:t>
            </a:r>
          </a:p>
          <a:p>
            <a:pPr algn="l">
              <a:lnSpc>
                <a:spcPct val="100000"/>
              </a:lnSpc>
              <a:spcBef>
                <a:spcPts val="1189"/>
              </a:spcBef>
            </a:pPr>
            <a:r>
              <a:rPr sz="1700" i="0" b="0">
                <a:solidFill>
                  <a:srgbClr val="CBD5E1"/>
                </a:solidFill>
                <a:latin typeface="Helvetica Neue"/>
              </a:rPr>
              <a:t>A research report has no test suite, so you need a judge</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How much of the path should the model choose?</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Open the loop</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notes/01-internet-search-agent.md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Autonomy is paid for in calls, latency and failure modes, so grant only as much as the task needs.</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Every step the model chooses is a step you cannot budget, test or replay in advance.</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Autonomy is a cost, so buy only as much as the task needs.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A fixed graph decides first, then works section by section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Open the loop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notes/01-internet-search-agent.md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router node and a fixed plan keep search bounded and debuggable, for one extra classifier call.</a:t>
            </a:r>
          </a:p>
        </p:txBody>
      </p:sp>
      <p:sp>
        <p:nvSpPr>
          <p:cNvPr id="12" name="Rounded Rectangle 11"/>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Router</a:t>
            </a:r>
          </a:p>
          <a:p>
            <a:pPr algn="ctr">
              <a:lnSpc>
                <a:spcPct val="110000"/>
              </a:lnSpc>
            </a:pPr>
            <a:r>
              <a:rPr sz="1300" i="0" b="0">
                <a:solidFill>
                  <a:srgbClr val="E8F4F8"/>
                </a:solidFill>
                <a:latin typeface="Helvetica Neue"/>
              </a:rPr>
              <a:t>one-field decision: search or not</a:t>
            </a:r>
          </a:p>
        </p:txBody>
      </p:sp>
      <p:cxnSp>
        <p:nvCxnSpPr>
          <p:cNvPr id="14" name="Connector 13"/>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Outline</a:t>
            </a:r>
          </a:p>
          <a:p>
            <a:pPr algn="ctr">
              <a:lnSpc>
                <a:spcPct val="110000"/>
              </a:lnSpc>
            </a:pPr>
            <a:r>
              <a:rPr sz="1300" i="0" b="0">
                <a:solidFill>
                  <a:srgbClr val="E8F4F8"/>
                </a:solidFill>
                <a:latin typeface="Helvetica Neue"/>
              </a:rPr>
              <a:t>plan the sections</a:t>
            </a:r>
          </a:p>
        </p:txBody>
      </p:sp>
      <p:cxnSp>
        <p:nvCxnSpPr>
          <p:cNvPr id="17" name="Connector 16"/>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Search and draft</a:t>
            </a:r>
          </a:p>
          <a:p>
            <a:pPr algn="ctr">
              <a:lnSpc>
                <a:spcPct val="110000"/>
              </a:lnSpc>
            </a:pPr>
            <a:r>
              <a:rPr sz="1300" i="0" b="0">
                <a:solidFill>
                  <a:srgbClr val="E8F4F8"/>
                </a:solidFill>
                <a:latin typeface="Helvetica Neue"/>
              </a:rPr>
              <a:t>per section, at most 2 retries</a:t>
            </a:r>
          </a:p>
        </p:txBody>
      </p:sp>
      <p:cxnSp>
        <p:nvCxnSpPr>
          <p:cNvPr id="20" name="Connector 19"/>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Compile</a:t>
            </a:r>
          </a:p>
          <a:p>
            <a:pPr algn="ctr">
              <a:lnSpc>
                <a:spcPct val="110000"/>
              </a:lnSpc>
            </a:pPr>
            <a:r>
              <a:rPr sz="1300" i="0" b="0">
                <a:solidFill>
                  <a:srgbClr val="E8F4F8"/>
                </a:solidFill>
                <a:latin typeface="Helvetica Neue"/>
              </a:rPr>
              <a:t>assemble the report</a:t>
            </a:r>
          </a:p>
        </p:txBody>
      </p:sp>
      <p:sp>
        <p:nvSpPr>
          <p:cNvPr id="23" name="Rectangle 22"/>
          <p:cNvSpPr/>
          <p:nvPr/>
        </p:nvSpPr>
        <p:spPr>
          <a:xfrm>
            <a:off x="502920" y="3180842"/>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08914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A router node</a:t>
            </a:r>
            <a:r>
              <a:rPr sz="1900" i="0" b="0">
                <a:solidFill>
                  <a:srgbClr val="1E293B"/>
                </a:solidFill>
                <a:latin typeface="Helvetica Neue"/>
              </a:rPr>
              <a:t> answers a one-field question, so it can be tested alone.</a:t>
            </a:r>
          </a:p>
        </p:txBody>
      </p:sp>
      <p:sp>
        <p:nvSpPr>
          <p:cNvPr id="25" name="Rectangle 24"/>
          <p:cNvSpPr/>
          <p:nvPr/>
        </p:nvSpPr>
        <p:spPr>
          <a:xfrm>
            <a:off x="502920" y="3644138"/>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552444"/>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A dedicated call writes the query,</a:t>
            </a:r>
            <a:r>
              <a:rPr sz="1900" i="0" b="0">
                <a:solidFill>
                  <a:srgbClr val="1E293B"/>
                </a:solidFill>
                <a:latin typeface="Helvetica Neue"/>
              </a:rPr>
              <a:t> with its own system prompt.</a:t>
            </a:r>
          </a:p>
        </p:txBody>
      </p:sp>
      <p:sp>
        <p:nvSpPr>
          <p:cNvPr id="27" name="Rectangle 26"/>
          <p:cNvSpPr/>
          <p:nvPr/>
        </p:nvSpPr>
        <p:spPr>
          <a:xfrm>
            <a:off x="502920" y="4107433"/>
            <a:ext cx="101346" cy="10134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015740"/>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The cost is bounded:</a:t>
            </a:r>
            <a:r>
              <a:rPr sz="1900" i="0" b="0">
                <a:solidFill>
                  <a:srgbClr val="1E293B"/>
                </a:solidFill>
                <a:latin typeface="Helvetica Neue"/>
              </a:rPr>
              <a:t> one extra classifier call, and failures stay local to a node.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open loop is one while statement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Open the loop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notes/02-deep-research-bot.md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An open research agent is a capped loop with compaction, so the code is small and the risks are in the run.</a:t>
            </a:r>
          </a:p>
        </p:txBody>
      </p:sp>
      <p:sp>
        <p:nvSpPr>
          <p:cNvPr id="12" name="Rounded Rectangle 11"/>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for step in range(MAX_STEPS):</a:t>
            </a:r>
          </a:p>
          <a:p>
            <a:pPr algn="l">
              <a:lnSpc>
                <a:spcPct val="100000"/>
              </a:lnSpc>
            </a:pPr>
            <a:r>
              <a:rPr sz="1600" i="0" b="0">
                <a:solidFill>
                  <a:srgbClr val="E2E8F0"/>
                </a:solidFill>
                <a:latin typeface="Menlo"/>
              </a:rPr>
              <a:t>    reply = model(messages, tools)</a:t>
            </a:r>
          </a:p>
          <a:p>
            <a:pPr algn="l">
              <a:lnSpc>
                <a:spcPct val="100000"/>
              </a:lnSpc>
            </a:pPr>
            <a:r>
              <a:rPr sz="1600" i="0" b="0">
                <a:solidFill>
                  <a:srgbClr val="E2E8F0"/>
                </a:solidFill>
                <a:latin typeface="Menlo"/>
              </a:rPr>
              <a:t>    messages.append(reply)</a:t>
            </a:r>
          </a:p>
          <a:p>
            <a:pPr algn="l">
              <a:lnSpc>
                <a:spcPct val="100000"/>
              </a:lnSpc>
            </a:pPr>
            <a:r>
              <a:rPr sz="1600" i="0" b="0">
                <a:solidFill>
                  <a:srgbClr val="E2E8F0"/>
                </a:solidFill>
                <a:latin typeface="Menlo"/>
              </a:rPr>
              <a:t>    if not reply.tool_calls:</a:t>
            </a:r>
          </a:p>
          <a:p>
            <a:pPr algn="l">
              <a:lnSpc>
                <a:spcPct val="100000"/>
              </a:lnSpc>
            </a:pPr>
            <a:r>
              <a:rPr sz="1600" i="0" b="0">
                <a:solidFill>
                  <a:srgbClr val="E2E8F0"/>
                </a:solidFill>
                <a:latin typeface="Menlo"/>
              </a:rPr>
              <a:t>        return reply.text</a:t>
            </a:r>
          </a:p>
          <a:p>
            <a:pPr algn="l">
              <a:lnSpc>
                <a:spcPct val="100000"/>
              </a:lnSpc>
            </a:pPr>
            <a:r>
              <a:rPr sz="1600" i="0" b="0">
                <a:solidFill>
                  <a:srgbClr val="E2E8F0"/>
                </a:solidFill>
                <a:latin typeface="Menlo"/>
              </a:rPr>
              <a:t>    for call in reply.tool_calls:</a:t>
            </a:r>
          </a:p>
          <a:p>
            <a:pPr algn="l">
              <a:lnSpc>
                <a:spcPct val="100000"/>
              </a:lnSpc>
            </a:pPr>
            <a:r>
              <a:rPr sz="1600" i="0" b="0">
                <a:solidFill>
                  <a:srgbClr val="E2E8F0"/>
                </a:solidFill>
                <a:latin typeface="Menlo"/>
              </a:rPr>
              <a:t>        result = run_tool(call)</a:t>
            </a:r>
          </a:p>
          <a:p>
            <a:pPr algn="l">
              <a:lnSpc>
                <a:spcPct val="100000"/>
              </a:lnSpc>
            </a:pPr>
            <a:r>
              <a:rPr sz="1600" i="0" b="0">
                <a:solidFill>
                  <a:srgbClr val="E2E8F0"/>
                </a:solidFill>
                <a:latin typeface="Menlo"/>
              </a:rPr>
              <a:t>        messages.append(result)</a:t>
            </a:r>
          </a:p>
          <a:p>
            <a:pPr algn="l">
              <a:lnSpc>
                <a:spcPct val="100000"/>
              </a:lnSpc>
            </a:pPr>
            <a:r>
              <a:rPr sz="1600" i="0" b="0">
                <a:solidFill>
                  <a:srgbClr val="E2E8F0"/>
                </a:solidFill>
                <a:latin typeface="Menlo"/>
              </a:rPr>
              <a:t>    compact_if_needed(messages)</a:t>
            </a:r>
          </a:p>
          <a:p>
            <a:pPr algn="l">
              <a:lnSpc>
                <a:spcPct val="100000"/>
              </a:lnSpc>
            </a:pPr>
            <a:r>
              <a:rPr sz="1600" i="0" b="0">
                <a:solidFill>
                  <a:srgbClr val="E2E8F0"/>
                </a:solidFill>
                <a:latin typeface="Menlo"/>
              </a:rPr>
              <a:t>return force_answer(messages)</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It stops</a:t>
            </a:r>
            <a:r>
              <a:rPr sz="1800" i="0" b="0">
                <a:solidFill>
                  <a:srgbClr val="1E293B"/>
                </a:solidFill>
                <a:latin typeface="Helvetica Neue"/>
              </a:rPr>
              <a:t> when the model answers in plain text.</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 step cap</a:t>
            </a:r>
            <a:r>
              <a:rPr sz="1800" i="0" b="0">
                <a:solidFill>
                  <a:srgbClr val="1E293B"/>
                </a:solidFill>
                <a:latin typeface="Helvetica Neue"/>
              </a:rPr>
              <a:t> bounds the run.</a:t>
            </a:r>
          </a:p>
        </p:txBody>
      </p:sp>
      <p:sp>
        <p:nvSpPr>
          <p:cNvPr id="19" name="Rectangle 18"/>
          <p:cNvSpPr/>
          <p:nvPr/>
        </p:nvSpPr>
        <p:spPr>
          <a:xfrm>
            <a:off x="7580193" y="278434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697480"/>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Compaction</a:t>
            </a:r>
            <a:r>
              <a:rPr sz="1800" i="0" b="0">
                <a:solidFill>
                  <a:srgbClr val="1E293B"/>
                </a:solidFill>
                <a:latin typeface="Helvetica Neue"/>
              </a:rPr>
              <a:t> starts at 80% of the context.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Read each new research agent by asking which part it changed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Open the loop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notes/02-deep-research-bot.md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New research agents mostly change one part of the same loop, and CodeScientist shows how far raw output is from verified results.</a:t>
            </a:r>
          </a:p>
        </p:txBody>
      </p:sp>
      <p:graphicFrame>
        <p:nvGraphicFramePr>
          <p:cNvPr id="12" name="Table 11"/>
          <p:cNvGraphicFramePr>
            <a:graphicFrameLocks noGrp="1"/>
          </p:cNvGraphicFramePr>
          <p:nvPr/>
        </p:nvGraphicFramePr>
        <p:xfrm>
          <a:off x="502920" y="1472184"/>
          <a:ext cx="11185854" cy="3727704"/>
        </p:xfrm>
        <a:graphic>
          <a:graphicData uri="http://schemas.openxmlformats.org/drawingml/2006/table">
            <a:tbl>
              <a:tblPr firstRow="1" bandRow="1">
                <a:tableStyleId>{5940675A-B579-460E-94D1-54222C63F5DA}</a:tableStyleId>
              </a:tblPr>
              <a:tblGrid>
                <a:gridCol w="2158673"/>
                <a:gridCol w="2943646"/>
                <a:gridCol w="6083535"/>
              </a:tblGrid>
              <a:tr h="405384">
                <a:tc>
                  <a:txBody>
                    <a:bodyPr wrap="square"/>
                    <a:lstStyle/>
                    <a:p>
                      <a:pPr>
                        <a:lnSpc>
                          <a:spcPct val="100000"/>
                        </a:lnSpc>
                      </a:pPr>
                      <a:r>
                        <a:rPr sz="1700" i="0" b="1">
                          <a:solidFill>
                            <a:srgbClr val="FFFFFF"/>
                          </a:solidFill>
                          <a:latin typeface="Helvetica Neue"/>
                        </a:rPr>
                        <a:t>Part changed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Paper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Reported, in the authors' own setup</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Plan shape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TTD-DR (2025)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Draft first and revise; 69.1% and 74.5% win rates against OpenAI Deep Research</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Retrieval</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Open Deep Search (2025)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DeepSeek-R1 on FRAMES: 30.1% alone, 75.3% with the tool</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Interleaving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WebThinker (NeurIPS 2025)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Think, search and draft mixed, not in fixed phases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Training</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SFR-DeepResearch (2025)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RL on synthetic data; up to 28.7% on Humanity's Last Exam</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Whole span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CodeScientist (Findings of ACL 2025)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19 candidate discoveries; 6 judged sound and incrementally novel</a:t>
                      </a:r>
                    </a:p>
                  </a:txBody>
                  <a:tcPr marL="109728" marR="109728" marT="54864" marB="54864"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research report has no test suite, so you need a judge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Open the loop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notes/02-deep-research-bot.md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Judge a report relative to a reference on weighted criteria, and remember that a judge you train against becomes a target.</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One judge, one read</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Scores vary from run to run</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No reference to compare against</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Easy to prefer length</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Noise that looks like a score</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RACE, relative to a reference</a:t>
            </a:r>
          </a:p>
        </p:txBody>
      </p:sp>
      <p:sp>
        <p:nvSpPr>
          <p:cNvPr id="26" name="Rectangle 25"/>
          <p:cNvSpPr/>
          <p:nvPr/>
        </p:nvSpPr>
        <p:spPr>
          <a:xfrm>
            <a:off x="6507327" y="2313178"/>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Task-specific weighted criteria</a:t>
            </a:r>
          </a:p>
        </p:txBody>
      </p:sp>
      <p:sp>
        <p:nvSpPr>
          <p:cNvPr id="28" name="Rectangle 27"/>
          <p:cNvSpPr/>
          <p:nvPr/>
        </p:nvSpPr>
        <p:spPr>
          <a:xfrm>
            <a:off x="6507327" y="272770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Scored against a reference report</a:t>
            </a:r>
          </a:p>
        </p:txBody>
      </p:sp>
      <p:sp>
        <p:nvSpPr>
          <p:cNvPr id="30" name="Rectangle 29"/>
          <p:cNvSpPr/>
          <p:nvPr/>
        </p:nvSpPr>
        <p:spPr>
          <a:xfrm>
            <a:off x="6507327" y="314223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Sample the judge several times</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Still fallible, so hold the training target apart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Add a clock</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latency budget · Queueing · Fast and slow · Computer use · GUI agents</a:t>
            </a:r>
          </a:p>
        </p:txBody>
      </p:sp>
      <p:cxnSp>
        <p:nvCxnSpPr>
          <p:cNvPr id="6" name="Connector 5"/>
          <p:cNvCxnSpPr/>
          <p:nvPr/>
        </p:nvCxnSpPr>
        <p:spPr>
          <a:xfrm>
            <a:off x="6446520" y="2165985"/>
            <a:ext cx="0" cy="252603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165985"/>
            <a:ext cx="4693615" cy="270891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A voice turn is a serial sum, and people can feel it</a:t>
            </a:r>
          </a:p>
          <a:p>
            <a:pPr algn="l">
              <a:lnSpc>
                <a:spcPct val="100000"/>
              </a:lnSpc>
              <a:spcBef>
                <a:spcPts val="1189"/>
              </a:spcBef>
            </a:pPr>
            <a:r>
              <a:rPr sz="1700" i="0" b="0">
                <a:solidFill>
                  <a:srgbClr val="CBD5E1"/>
                </a:solidFill>
                <a:latin typeface="Helvetica Neue"/>
              </a:rPr>
              <a:t>Load multiplies everything except the silence wait</a:t>
            </a:r>
          </a:p>
          <a:p>
            <a:pPr algn="l">
              <a:lnSpc>
                <a:spcPct val="100000"/>
              </a:lnSpc>
              <a:spcBef>
                <a:spcPts val="1189"/>
              </a:spcBef>
            </a:pPr>
            <a:r>
              <a:rPr sz="1700" i="0" b="0">
                <a:solidFill>
                  <a:srgbClr val="CBD5E1"/>
                </a:solidFill>
                <a:latin typeface="Helvetica Neue"/>
              </a:rPr>
              <a:t>The fast model reads a status and never claims it is done</a:t>
            </a:r>
          </a:p>
          <a:p>
            <a:pPr algn="l">
              <a:lnSpc>
                <a:spcPct val="100000"/>
              </a:lnSpc>
              <a:spcBef>
                <a:spcPts val="1189"/>
              </a:spcBef>
            </a:pPr>
            <a:r>
              <a:rPr sz="1700" i="0" b="0">
                <a:solidFill>
                  <a:srgbClr val="CBD5E1"/>
                </a:solidFill>
                <a:latin typeface="Helvetica Neue"/>
              </a:rPr>
              <a:t>GUI agents moved from finding the button to whole desktops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100" i="0" b="1">
                <a:solidFill>
                  <a:srgbClr val="FFFFFF"/>
                </a:solidFill>
                <a:latin typeface="Helvetica Neue"/>
              </a:rPr>
              <a:t>A voice turn is a serial sum, and people can feel 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Add a clock</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notes/03-real-time-multimodal-agents.md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Voice latency is a serial sum led by the silence wait, so a faster LLM alone will not fix it.</a:t>
            </a:r>
          </a:p>
        </p:txBody>
      </p:sp>
      <p:sp>
        <p:nvSpPr>
          <p:cNvPr id="13" name="Rectangle 12"/>
          <p:cNvSpPr/>
          <p:nvPr/>
        </p:nvSpPr>
        <p:spPr>
          <a:xfrm>
            <a:off x="448056" y="1417320"/>
            <a:ext cx="6261948" cy="310893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ai-agents-in-depth-fig6-7-1248428507406967224.png"/>
          <p:cNvPicPr>
            <a:picLocks noChangeAspect="1"/>
          </p:cNvPicPr>
          <p:nvPr/>
        </p:nvPicPr>
        <p:blipFill>
          <a:blip r:embed="rId2"/>
          <a:stretch>
            <a:fillRect/>
          </a:stretch>
        </p:blipFill>
        <p:spPr>
          <a:xfrm>
            <a:off x="502920" y="1472184"/>
            <a:ext cx="6152220" cy="2999207"/>
          </a:xfrm>
          <a:prstGeom prst="rect">
            <a:avLst/>
          </a:prstGeom>
        </p:spPr>
      </p:pic>
      <p:sp>
        <p:nvSpPr>
          <p:cNvPr id="15" name="TextBox 14"/>
          <p:cNvSpPr txBox="1"/>
          <p:nvPr/>
        </p:nvSpPr>
        <p:spPr>
          <a:xfrm>
            <a:off x="502920" y="4608551"/>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Latency waterfall for a serial response (Li, AI Agents in Depth, 2026, ch. 6)</a:t>
            </a:r>
          </a:p>
        </p:txBody>
      </p:sp>
      <p:sp>
        <p:nvSpPr>
          <p:cNvPr id="16" name="Rectangle 15"/>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VAD</a:t>
            </a:r>
            <a:r>
              <a:rPr sz="1800" i="0" b="0">
                <a:solidFill>
                  <a:srgbClr val="1E293B"/>
                </a:solidFill>
                <a:latin typeface="Helvetica Neue"/>
              </a:rPr>
              <a:t> waits 500 to 800 ms on silence.</a:t>
            </a:r>
          </a:p>
        </p:txBody>
      </p:sp>
      <p:sp>
        <p:nvSpPr>
          <p:cNvPr id="18" name="Rectangle 17"/>
          <p:cNvSpPr/>
          <p:nvPr/>
        </p:nvSpPr>
        <p:spPr>
          <a:xfrm>
            <a:off x="7020900" y="199796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Then</a:t>
            </a:r>
            <a:r>
              <a:rPr sz="1800" i="0" b="0">
                <a:solidFill>
                  <a:srgbClr val="1E293B"/>
                </a:solidFill>
                <a:latin typeface="Helvetica Neue"/>
              </a:rPr>
              <a:t> ASR, first token, first segment and TTS.</a:t>
            </a:r>
          </a:p>
        </p:txBody>
      </p:sp>
      <p:sp>
        <p:nvSpPr>
          <p:cNvPr id="20" name="Rectangle 19"/>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651760"/>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Together:</a:t>
            </a:r>
            <a:r>
              <a:rPr sz="1800" i="0" b="0">
                <a:solidFill>
                  <a:srgbClr val="1E293B"/>
                </a:solidFill>
                <a:latin typeface="Helvetica Neue"/>
              </a:rPr>
              <a:t> about 1 to 2 s when idle.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Load multiplies everything except the silence wait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Add a clock</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notes/03-real-time-multimodal-agents.md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9" name="TextBox 8"/>
          <p:cNvSpPr txBox="1"/>
          <p:nvPr/>
        </p:nvSpPr>
        <p:spPr>
          <a:xfrm>
            <a:off x="502920" y="1426464"/>
            <a:ext cx="11185855" cy="661416"/>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Latency budget from the note's runnable block. Model stages scale by 1/(1 − utilization); VAD does not.</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With queueing a fast voice stack hits two seconds at 70% load, so capacity planning is a latency decision.</a:t>
            </a:r>
          </a:p>
        </p:txBody>
      </p:sp>
      <p:graphicFrame>
        <p:nvGraphicFramePr>
          <p:cNvPr id="13" name="Table 12"/>
          <p:cNvGraphicFramePr>
            <a:graphicFrameLocks noGrp="1"/>
          </p:cNvGraphicFramePr>
          <p:nvPr/>
        </p:nvGraphicFramePr>
        <p:xfrm>
          <a:off x="502920" y="2270760"/>
          <a:ext cx="11185854" cy="2026920"/>
        </p:xfrm>
        <a:graphic>
          <a:graphicData uri="http://schemas.openxmlformats.org/drawingml/2006/table">
            <a:tbl>
              <a:tblPr firstRow="1" bandRow="1">
                <a:tableStyleId>{5940675A-B579-460E-94D1-54222C63F5DA}</a:tableStyleId>
              </a:tblPr>
              <a:tblGrid>
                <a:gridCol w="2237171"/>
                <a:gridCol w="2237171"/>
                <a:gridCol w="3355756"/>
                <a:gridCol w="3355756"/>
              </a:tblGrid>
              <a:tr h="405384">
                <a:tc>
                  <a:txBody>
                    <a:bodyPr wrap="square"/>
                    <a:lstStyle/>
                    <a:p>
                      <a:pPr>
                        <a:lnSpc>
                          <a:spcPct val="100000"/>
                        </a:lnSpc>
                      </a:pPr>
                      <a:r>
                        <a:rPr sz="1700" i="0" b="1">
                          <a:solidFill>
                            <a:srgbClr val="FFFFFF"/>
                          </a:solidFill>
                          <a:latin typeface="Helvetica Neue"/>
                        </a:rPr>
                        <a:t>Load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Factor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Fast end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Slow end</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x1.0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950 ms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2,300 ms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50%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x2.0</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1,400 ms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3,800 ms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70%</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x3.3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2,000 ms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5,800 ms</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80%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x5.0</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2,750 ms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8,300 ms</a:t>
                      </a:r>
                    </a:p>
                  </a:txBody>
                  <a:tcPr marL="109728" marR="109728" marT="54864" marB="54864" anchor="ctr">
                    <a:solidFill>
                      <a:srgbClr val="E8F4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The fast model reads a status and never claims it is done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Add a clock</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notes/03-real-time-multimodal-agents.md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Keep a voice responsive with a fast foreground and a slow worker, and enforce the no-false-done rule in code.</a:t>
            </a:r>
          </a:p>
        </p:txBody>
      </p:sp>
      <p:sp>
        <p:nvSpPr>
          <p:cNvPr id="12" name="Rounded Rectangle 11"/>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fast_reply(user_said, state, status):</a:t>
            </a:r>
          </a:p>
          <a:p>
            <a:pPr algn="l">
              <a:lnSpc>
                <a:spcPct val="100000"/>
              </a:lnSpc>
            </a:pPr>
            <a:r>
              <a:rPr sz="1600" i="0" b="0">
                <a:solidFill>
                  <a:srgbClr val="E2E8F0"/>
                </a:solidFill>
                <a:latin typeface="Menlo"/>
              </a:rPr>
              <a:t>    if "done" in user_said and state != "done":</a:t>
            </a:r>
          </a:p>
          <a:p>
            <a:pPr algn="l">
              <a:lnSpc>
                <a:spcPct val="100000"/>
              </a:lnSpc>
            </a:pPr>
            <a:r>
              <a:rPr sz="1600" i="0" b="0">
                <a:solidFill>
                  <a:srgbClr val="E2E8F0"/>
                </a:solidFill>
                <a:latin typeface="Menlo"/>
              </a:rPr>
              <a:t>        return f"Not yet: {status}."</a:t>
            </a:r>
          </a:p>
          <a:p>
            <a:pPr algn="l">
              <a:lnSpc>
                <a:spcPct val="100000"/>
              </a:lnSpc>
            </a:pPr>
            <a:r>
              <a:rPr sz="1600" i="0" b="0">
                <a:solidFill>
                  <a:srgbClr val="E2E8F0"/>
                </a:solidFill>
                <a:latin typeface="Menlo"/>
              </a:rPr>
              <a:t>    if state == "needs_user":</a:t>
            </a:r>
          </a:p>
          <a:p>
            <a:pPr algn="l">
              <a:lnSpc>
                <a:spcPct val="100000"/>
              </a:lnSpc>
            </a:pPr>
            <a:r>
              <a:rPr sz="1600" i="0" b="0">
                <a:solidFill>
                  <a:srgbClr val="E2E8F0"/>
                </a:solidFill>
                <a:latin typeface="Menlo"/>
              </a:rPr>
              <a:t>        return f"One question: {status}."</a:t>
            </a:r>
          </a:p>
          <a:p>
            <a:pPr algn="l">
              <a:lnSpc>
                <a:spcPct val="100000"/>
              </a:lnSpc>
            </a:pPr>
            <a:r>
              <a:rPr sz="1600" i="0" b="0">
                <a:solidFill>
                  <a:srgbClr val="E2E8F0"/>
                </a:solidFill>
                <a:latin typeface="Menlo"/>
              </a:rPr>
              <a:t>    if state == "done":</a:t>
            </a:r>
          </a:p>
          <a:p>
            <a:pPr algn="l">
              <a:lnSpc>
                <a:spcPct val="100000"/>
              </a:lnSpc>
            </a:pPr>
            <a:r>
              <a:rPr sz="1600" i="0" b="0">
                <a:solidFill>
                  <a:srgbClr val="E2E8F0"/>
                </a:solidFill>
                <a:latin typeface="Menlo"/>
              </a:rPr>
              <a:t>        return f"All set: {status}."</a:t>
            </a:r>
          </a:p>
          <a:p>
            <a:pPr algn="l">
              <a:lnSpc>
                <a:spcPct val="100000"/>
              </a:lnSpc>
            </a:pPr>
            <a:r>
              <a:rPr sz="1600" i="0" b="0">
                <a:solidFill>
                  <a:srgbClr val="E2E8F0"/>
                </a:solidFill>
                <a:latin typeface="Menlo"/>
              </a:rPr>
              <a:t>    return f"Still on it, {status}."</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slow agent</a:t>
            </a:r>
            <a:r>
              <a:rPr sz="1800" i="0" b="0">
                <a:solidFill>
                  <a:srgbClr val="1E293B"/>
                </a:solidFill>
                <a:latin typeface="Helvetica Neue"/>
              </a:rPr>
              <a:t> updates a status line.</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rule lives in code,</a:t>
            </a:r>
            <a:r>
              <a:rPr sz="1800" i="0" b="0">
                <a:solidFill>
                  <a:srgbClr val="1E293B"/>
                </a:solidFill>
                <a:latin typeface="Helvetica Neue"/>
              </a:rPr>
              <a:t> not in a prompt.</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Test the output</a:t>
            </a:r>
            <a:r>
              <a:rPr sz="1800" i="0" b="0">
                <a:solidFill>
                  <a:srgbClr val="1E293B"/>
                </a:solidFill>
                <a:latin typeface="Helvetica Neue"/>
              </a:rPr>
              <a:t> with an assertion over a transcript.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GUI agents moved from finding the button to whole desktops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Add a clock</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notes/03-real-time-multimodal-agents.md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Grounding was the early bottleneck for GUI agents, and later scores come from spending more tries and more time.</a:t>
            </a:r>
          </a:p>
        </p:txBody>
      </p:sp>
      <p:graphicFrame>
        <p:nvGraphicFramePr>
          <p:cNvPr id="12" name="Table 11"/>
          <p:cNvGraphicFramePr>
            <a:graphicFrameLocks noGrp="1"/>
          </p:cNvGraphicFramePr>
          <p:nvPr/>
        </p:nvGraphicFramePr>
        <p:xfrm>
          <a:off x="502920" y="1472184"/>
          <a:ext cx="11185853" cy="3063240"/>
        </p:xfrm>
        <a:graphic>
          <a:graphicData uri="http://schemas.openxmlformats.org/drawingml/2006/table">
            <a:tbl>
              <a:tblPr firstRow="1" bandRow="1">
                <a:tableStyleId>{5940675A-B579-460E-94D1-54222C63F5DA}</a:tableStyleId>
              </a:tblPr>
              <a:tblGrid>
                <a:gridCol w="2551159"/>
                <a:gridCol w="4317347"/>
                <a:gridCol w="4317347"/>
              </a:tblGrid>
              <a:tr h="405384">
                <a:tc>
                  <a:txBody>
                    <a:bodyPr wrap="square"/>
                    <a:lstStyle/>
                    <a:p>
                      <a:pPr>
                        <a:lnSpc>
                          <a:spcPct val="100000"/>
                        </a:lnSpc>
                      </a:pPr>
                      <a:r>
                        <a:rPr sz="1700" i="0" b="1">
                          <a:solidFill>
                            <a:srgbClr val="FFFFFF"/>
                          </a:solidFill>
                          <a:latin typeface="Helvetica Neue"/>
                        </a:rPr>
                        <a:t>Paper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Move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Evidence</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AppAgent (2023)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Taps and swipes, knowledge from exploration</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50 tasks in 10 apps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SeeAct (2024)</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Separate the action from grounding it</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GPT-4V 51.1% on live sites with oracle grounding</a:t>
                      </a:r>
                    </a:p>
                  </a:txBody>
                  <a:tcPr marL="109728" marR="109728" marT="54864" marB="54864" anchor="ctr">
                    <a:solidFill>
                      <a:srgbClr val="E8F4F8"/>
                    </a:solidFill>
                  </a:tcPr>
                </a:tc>
              </a:tr>
              <a:tr h="664464">
                <a:tc>
                  <a:txBody>
                    <a:bodyPr wrap="square"/>
                    <a:lstStyle/>
                    <a:p>
                      <a:pPr>
                        <a:lnSpc>
                          <a:spcPct val="100000"/>
                        </a:lnSpc>
                      </a:pPr>
                      <a:r>
                        <a:rPr sz="1700" i="0" b="1">
                          <a:solidFill>
                            <a:srgbClr val="1E293B"/>
                          </a:solidFill>
                          <a:latin typeface="Helvetica Neue"/>
                        </a:rPr>
                        <a:t>OpenCUA (NeurIPS 2025)</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Open dataset with reasoning traces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3 operating systems, 200+ apps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Agent S3 (2025)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Several rollouts, then select a winner</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72.6% on OSWorld at 100 steps, human 72.36%</a:t>
                      </a:r>
                    </a:p>
                  </a:txBody>
                  <a:tcPr marL="109728" marR="109728" marT="54864" marB="54864" anchor="ctr">
                    <a:solidFill>
                      <a:srgbClr val="F8FAF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Add a judge</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loop · Interface design · Sandbox layers · Held-out tests · Supervision</a:t>
            </a:r>
          </a:p>
        </p:txBody>
      </p:sp>
      <p:cxnSp>
        <p:nvCxnSpPr>
          <p:cNvPr id="6" name="Connector 5"/>
          <p:cNvCxnSpPr/>
          <p:nvPr/>
        </p:nvCxnSpPr>
        <p:spPr>
          <a:xfrm>
            <a:off x="6446520" y="1960880"/>
            <a:ext cx="0" cy="293624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960880"/>
            <a:ext cx="4693615" cy="311912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Tests can say no. Can you trust a yes?</a:t>
            </a:r>
          </a:p>
          <a:p>
            <a:pPr algn="l">
              <a:lnSpc>
                <a:spcPct val="100000"/>
              </a:lnSpc>
              <a:spcBef>
                <a:spcPts val="1189"/>
              </a:spcBef>
            </a:pPr>
            <a:r>
              <a:rPr sz="1700" i="0" b="0">
                <a:solidFill>
                  <a:srgbClr val="CBD5E1"/>
                </a:solidFill>
                <a:latin typeface="Helvetica Neue"/>
              </a:rPr>
              <a:t>The loop is reproduce, localize, patch, verify</a:t>
            </a:r>
          </a:p>
          <a:p>
            <a:pPr algn="l">
              <a:lnSpc>
                <a:spcPct val="100000"/>
              </a:lnSpc>
              <a:spcBef>
                <a:spcPts val="1189"/>
              </a:spcBef>
            </a:pPr>
            <a:r>
              <a:rPr sz="1700" i="0" b="0">
                <a:solidFill>
                  <a:srgbClr val="CBD5E1"/>
                </a:solidFill>
                <a:latin typeface="Helvetica Neue"/>
              </a:rPr>
              <a:t>Say what each sandbox layer stops, and what it does not</a:t>
            </a:r>
          </a:p>
          <a:p>
            <a:pPr algn="l">
              <a:lnSpc>
                <a:spcPct val="100000"/>
              </a:lnSpc>
              <a:spcBef>
                <a:spcPts val="1189"/>
              </a:spcBef>
            </a:pPr>
            <a:r>
              <a:rPr sz="1700" i="0" b="0">
                <a:solidFill>
                  <a:srgbClr val="CBD5E1"/>
                </a:solidFill>
                <a:latin typeface="Helvetica Neue"/>
              </a:rPr>
              <a:t>The lab runs every attack with a stub model and no key</a:t>
            </a:r>
          </a:p>
          <a:p>
            <a:pPr algn="l">
              <a:lnSpc>
                <a:spcPct val="100000"/>
              </a:lnSpc>
              <a:spcBef>
                <a:spcPts val="1189"/>
              </a:spcBef>
            </a:pPr>
            <a:r>
              <a:rPr sz="1700" i="0" b="0">
                <a:solidFill>
                  <a:srgbClr val="CBD5E1"/>
                </a:solidFill>
                <a:latin typeface="Helvetica Neue"/>
              </a:rPr>
              <a:t>Green visible tests are necessary, and not sufficient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Tests can say no. Can you trust a yes?</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Add a judge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notes/04-coding-agent.md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coding agent needs limits on what it can do and a verdict it cannot influence.</a:t>
            </a:r>
          </a:p>
        </p:txBody>
      </p:sp>
      <p:sp>
        <p:nvSpPr>
          <p:cNvPr id="13" name="Rectangle 12"/>
          <p:cNvSpPr/>
          <p:nvPr/>
        </p:nvSpPr>
        <p:spPr>
          <a:xfrm>
            <a:off x="777240" y="1997964"/>
            <a:ext cx="109728" cy="296265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coding agent acts on a real machine and its tests are its judge, so both the machine and the judge need protecting from it.</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lab's overfit run ends with every visible test green and a wrong fix.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loop is reproduce, localize, patch, verify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Add a judge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notes/04-coding-agent.md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Reproducing first gives the agent a verdict, and interface choices move results a lot on the same model.</a:t>
            </a:r>
          </a:p>
        </p:txBody>
      </p:sp>
      <p:sp>
        <p:nvSpPr>
          <p:cNvPr id="12" name="Rounded Rectangle 11"/>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Reproduce</a:t>
            </a:r>
          </a:p>
          <a:p>
            <a:pPr algn="ctr">
              <a:lnSpc>
                <a:spcPct val="110000"/>
              </a:lnSpc>
            </a:pPr>
            <a:r>
              <a:rPr sz="1300" i="0" b="0">
                <a:solidFill>
                  <a:srgbClr val="E8F4F8"/>
                </a:solidFill>
                <a:latin typeface="Helvetica Neue"/>
              </a:rPr>
              <a:t>turn prose into a failing test</a:t>
            </a:r>
          </a:p>
        </p:txBody>
      </p:sp>
      <p:cxnSp>
        <p:nvCxnSpPr>
          <p:cNvPr id="14" name="Connector 13"/>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Localize</a:t>
            </a:r>
          </a:p>
          <a:p>
            <a:pPr algn="ctr">
              <a:lnSpc>
                <a:spcPct val="110000"/>
              </a:lnSpc>
            </a:pPr>
            <a:r>
              <a:rPr sz="1300" i="0" b="0">
                <a:solidFill>
                  <a:srgbClr val="E8F4F8"/>
                </a:solidFill>
                <a:latin typeface="Helvetica Neue"/>
              </a:rPr>
              <a:t>search and read</a:t>
            </a:r>
          </a:p>
        </p:txBody>
      </p:sp>
      <p:cxnSp>
        <p:nvCxnSpPr>
          <p:cNvPr id="17" name="Connector 16"/>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Patch</a:t>
            </a:r>
          </a:p>
          <a:p>
            <a:pPr algn="ctr">
              <a:lnSpc>
                <a:spcPct val="110000"/>
              </a:lnSpc>
            </a:pPr>
            <a:r>
              <a:rPr sz="1300" i="0" b="0">
                <a:solidFill>
                  <a:srgbClr val="E8F4F8"/>
                </a:solidFill>
                <a:latin typeface="Helvetica Neue"/>
              </a:rPr>
              <a:t>a targeted edit</a:t>
            </a:r>
          </a:p>
        </p:txBody>
      </p:sp>
      <p:cxnSp>
        <p:nvCxnSpPr>
          <p:cNvPr id="20" name="Connector 19"/>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Verify</a:t>
            </a:r>
          </a:p>
          <a:p>
            <a:pPr algn="ctr">
              <a:lnSpc>
                <a:spcPct val="110000"/>
              </a:lnSpc>
            </a:pPr>
            <a:r>
              <a:rPr sz="1300" i="0" b="0">
                <a:solidFill>
                  <a:srgbClr val="E8F4F8"/>
                </a:solidFill>
                <a:latin typeface="Helvetica Neue"/>
              </a:rPr>
              <a:t>run the tests</a:t>
            </a:r>
          </a:p>
        </p:txBody>
      </p:sp>
      <p:cxnSp>
        <p:nvCxnSpPr>
          <p:cNvPr id="23" name="Connector 22"/>
          <p:cNvCxnSpPr/>
          <p:nvPr/>
        </p:nvCxnSpPr>
        <p:spPr>
          <a:xfrm>
            <a:off x="10416387" y="2769108"/>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775307" y="3180588"/>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75307" y="2805684"/>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75307" y="3217164"/>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edit and execute until the tests pass or a limit stops it</a:t>
            </a:r>
          </a:p>
        </p:txBody>
      </p:sp>
      <p:sp>
        <p:nvSpPr>
          <p:cNvPr id="27" name="Rectangle 26"/>
          <p:cNvSpPr/>
          <p:nvPr/>
        </p:nvSpPr>
        <p:spPr>
          <a:xfrm>
            <a:off x="502920" y="4003801"/>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912108"/>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SWE-agent's default solved </a:t>
            </a:r>
            <a:r>
              <a:rPr sz="1900" i="0" b="1">
                <a:solidFill>
                  <a:srgbClr val="1E293B"/>
                </a:solidFill>
                <a:latin typeface="Helvetica Neue"/>
              </a:rPr>
              <a:t>18.0%</a:t>
            </a:r>
            <a:r>
              <a:rPr sz="1900" i="0" b="0">
                <a:solidFill>
                  <a:srgbClr val="1E293B"/>
                </a:solidFill>
                <a:latin typeface="Helvetica Neue"/>
              </a:rPr>
              <a:t> of SWE-bench Lite with GPT-4 Turbo.</a:t>
            </a:r>
          </a:p>
        </p:txBody>
      </p:sp>
      <p:sp>
        <p:nvSpPr>
          <p:cNvPr id="29" name="Rectangle 28"/>
          <p:cNvSpPr/>
          <p:nvPr/>
        </p:nvSpPr>
        <p:spPr>
          <a:xfrm>
            <a:off x="502920" y="4467098"/>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375404"/>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With </a:t>
            </a:r>
            <a:r>
              <a:rPr sz="1900" i="0" b="1">
                <a:solidFill>
                  <a:srgbClr val="1E293B"/>
                </a:solidFill>
                <a:latin typeface="Helvetica Neue"/>
              </a:rPr>
              <a:t>no edit tool</a:t>
            </a:r>
            <a:r>
              <a:rPr sz="1900" i="0" b="0">
                <a:solidFill>
                  <a:srgbClr val="1E293B"/>
                </a:solidFill>
                <a:latin typeface="Helvetica Neue"/>
              </a:rPr>
              <a:t>, 10.3%. With the </a:t>
            </a:r>
            <a:r>
              <a:rPr sz="1900" i="0" b="1">
                <a:solidFill>
                  <a:srgbClr val="1E293B"/>
                </a:solidFill>
                <a:latin typeface="Helvetica Neue"/>
              </a:rPr>
              <a:t>full file shown</a:t>
            </a:r>
            <a:r>
              <a:rPr sz="1900" i="0" b="0">
                <a:solidFill>
                  <a:srgbClr val="1E293B"/>
                </a:solidFill>
                <a:latin typeface="Helvetica Neue"/>
              </a:rPr>
              <a:t>, 12.7%.</a:t>
            </a:r>
          </a:p>
        </p:txBody>
      </p:sp>
      <p:sp>
        <p:nvSpPr>
          <p:cNvPr id="31" name="Rectangle 30"/>
          <p:cNvSpPr/>
          <p:nvPr/>
        </p:nvSpPr>
        <p:spPr>
          <a:xfrm>
            <a:off x="502920" y="4930394"/>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838700"/>
            <a:ext cx="10865815" cy="409956"/>
          </a:xfrm>
          <a:prstGeom prst="rect">
            <a:avLst/>
          </a:prstGeom>
          <a:noFill/>
        </p:spPr>
        <p:txBody>
          <a:bodyPr wrap="square" lIns="0" rIns="0" tIns="0" bIns="0" anchor="t">
            <a:noAutofit/>
          </a:bodyPr>
          <a:lstStyle/>
          <a:p>
            <a:pPr algn="l">
              <a:lnSpc>
                <a:spcPct val="110000"/>
              </a:lnSpc>
            </a:pPr>
            <a:r>
              <a:rPr sz="1900" i="0" b="0">
                <a:solidFill>
                  <a:srgbClr val="1E293B"/>
                </a:solidFill>
                <a:latin typeface="Helvetica Neue"/>
              </a:rPr>
              <a:t>The interface changed results by more than most prompt changes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Say what each sandbox layer stops, and what it does not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Add a judge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notes/04-coding-agent.md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file-tool check is a promise about the tool and a process limit a promise about the code, so state what each misses.</a:t>
            </a:r>
          </a:p>
        </p:txBody>
      </p:sp>
      <p:graphicFrame>
        <p:nvGraphicFramePr>
          <p:cNvPr id="12" name="Table 11"/>
          <p:cNvGraphicFramePr>
            <a:graphicFrameLocks noGrp="1"/>
          </p:cNvGraphicFramePr>
          <p:nvPr/>
        </p:nvGraphicFramePr>
        <p:xfrm>
          <a:off x="502920" y="1472184"/>
          <a:ext cx="11185853" cy="2691384"/>
        </p:xfrm>
        <a:graphic>
          <a:graphicData uri="http://schemas.openxmlformats.org/drawingml/2006/table">
            <a:tbl>
              <a:tblPr firstRow="1" bandRow="1">
                <a:tableStyleId>{5940675A-B579-460E-94D1-54222C63F5DA}</a:tableStyleId>
              </a:tblPr>
              <a:tblGrid>
                <a:gridCol w="2551159"/>
                <a:gridCol w="4513590"/>
                <a:gridCol w="4121104"/>
              </a:tblGrid>
              <a:tr h="405384">
                <a:tc>
                  <a:txBody>
                    <a:bodyPr wrap="square"/>
                    <a:lstStyle/>
                    <a:p>
                      <a:pPr>
                        <a:lnSpc>
                          <a:spcPct val="100000"/>
                        </a:lnSpc>
                      </a:pPr>
                      <a:r>
                        <a:rPr sz="1700" i="0" b="1">
                          <a:solidFill>
                            <a:srgbClr val="FFFFFF"/>
                          </a:solidFill>
                          <a:latin typeface="Helvetica Neue"/>
                        </a:rPr>
                        <a:t>Layer</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Stops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Does not stop</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Tool schema</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Arbitrary commands from the model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Code the tests execute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Path confinement</a:t>
                      </a:r>
                    </a:p>
                  </a:txBody>
                  <a:tcPr marL="109728" marR="109728" marT="54864" marB="54864" anchor="ctr">
                    <a:solidFill>
                      <a:srgbClr val="F8FAFC"/>
                    </a:solidFill>
                  </a:tcPr>
                </a:tc>
                <a:tc>
                  <a:txBody>
                    <a:bodyPr wrap="square"/>
                    <a:lstStyle/>
                    <a:p>
                      <a:pPr>
                        <a:lnSpc>
                          <a:spcPct val="100000"/>
                        </a:lnSpc>
                      </a:pPr>
                      <a:r>
                        <a:rPr sz="1530" i="0" b="0">
                          <a:solidFill>
                            <a:srgbClr val="0F7490"/>
                          </a:solidFill>
                          <a:latin typeface="Menlo"/>
                        </a:rPr>
                        <a:t>../</a:t>
                      </a:r>
                      <a:r>
                        <a:rPr sz="1700" i="0" b="0">
                          <a:solidFill>
                            <a:srgbClr val="475569"/>
                          </a:solidFill>
                          <a:latin typeface="Helvetica Neue"/>
                        </a:rPr>
                        <a:t>, absolute paths, symlink escapes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The same, through a subprocess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Write scope</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Editing tests to pass them</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Reading anything in the repo</a:t>
                      </a:r>
                    </a:p>
                  </a:txBody>
                  <a:tcPr marL="109728" marR="109728" marT="54864" marB="54864" anchor="ctr">
                    <a:solidFill>
                      <a:srgbClr val="E8F4F8"/>
                    </a:solidFill>
                  </a:tcPr>
                </a:tc>
              </a:tr>
              <a:tr h="664464">
                <a:tc>
                  <a:txBody>
                    <a:bodyPr wrap="square"/>
                    <a:lstStyle/>
                    <a:p>
                      <a:pPr>
                        <a:lnSpc>
                          <a:spcPct val="100000"/>
                        </a:lnSpc>
                      </a:pPr>
                      <a:r>
                        <a:rPr sz="1700" i="0" b="1">
                          <a:solidFill>
                            <a:srgbClr val="1E293B"/>
                          </a:solidFill>
                          <a:latin typeface="Helvetica Neue"/>
                        </a:rPr>
                        <a:t>Edit guards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Blind, ambiguous, clobbering, broken edits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Wrong logic</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Process limits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Hangs, key leakage, disk filling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Network, writes elsewhere</a:t>
                      </a:r>
                    </a:p>
                  </a:txBody>
                  <a:tcPr marL="109728" marR="109728" marT="54864" marB="54864"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lab runs every attack with a stub model and no key</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Add a judge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notes/04-coding-agent.md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You can test a harness with no model at all, by scripting the bad behaviour and checking that limits hold.</a:t>
            </a:r>
          </a:p>
        </p:txBody>
      </p:sp>
      <p:sp>
        <p:nvSpPr>
          <p:cNvPr id="12" name="Rounded Rectangle 11"/>
          <p:cNvSpPr/>
          <p:nvPr/>
        </p:nvSpPr>
        <p:spPr>
          <a:xfrm>
            <a:off x="502920" y="1472184"/>
            <a:ext cx="6711513" cy="28803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BASH</a:t>
            </a:r>
          </a:p>
        </p:txBody>
      </p:sp>
      <p:sp>
        <p:nvSpPr>
          <p:cNvPr id="14" name="TextBox 13"/>
          <p:cNvSpPr txBox="1"/>
          <p:nvPr/>
        </p:nvSpPr>
        <p:spPr>
          <a:xfrm>
            <a:off x="731520" y="1883664"/>
            <a:ext cx="6254313" cy="224027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cd practice/coding-agent</a:t>
            </a:r>
          </a:p>
          <a:p>
            <a:pPr algn="l">
              <a:lnSpc>
                <a:spcPct val="100000"/>
              </a:lnSpc>
            </a:pPr>
            <a:r>
              <a:rPr sz="1600" i="0" b="0">
                <a:solidFill>
                  <a:srgbClr val="E2E8F0"/>
                </a:solidFill>
                <a:latin typeface="Menlo"/>
              </a:rPr>
              <a:t>uv run python run.py fix overfit guards escape</a:t>
            </a:r>
          </a:p>
          <a:p>
            <a:pPr algn="l">
              <a:lnSpc>
                <a:spcPct val="100000"/>
              </a:lnSpc>
            </a:pPr>
          </a:p>
          <a:p>
            <a:pPr algn="l">
              <a:lnSpc>
                <a:spcPct val="100000"/>
              </a:lnSpc>
            </a:pPr>
            <a:r>
              <a:rPr sz="1600" i="0" b="0">
                <a:solidFill>
                  <a:srgbClr val="E2E8F0"/>
                </a:solidFill>
                <a:latin typeface="Menlo"/>
              </a:rPr>
              <a:t>fix      5 steps, finished, held-out tests pass</a:t>
            </a:r>
          </a:p>
          <a:p>
            <a:pPr algn="l">
              <a:lnSpc>
                <a:spcPct val="100000"/>
              </a:lnSpc>
            </a:pPr>
            <a:r>
              <a:rPr sz="1600" i="0" b="0">
                <a:solidFill>
                  <a:srgbClr val="E2E8F0"/>
                </a:solidFill>
                <a:latin typeface="Menlo"/>
              </a:rPr>
              <a:t>overfit  finished, held-out tests FAIL</a:t>
            </a:r>
          </a:p>
          <a:p>
            <a:pPr algn="l">
              <a:lnSpc>
                <a:spcPct val="100000"/>
              </a:lnSpc>
            </a:pPr>
            <a:r>
              <a:rPr sz="1600" i="0" b="0">
                <a:solidFill>
                  <a:srgbClr val="E2E8F0"/>
                </a:solidFill>
                <a:latin typeface="Menlo"/>
              </a:rPr>
              <a:t>guards   15 steps, 9 calls refused</a:t>
            </a:r>
          </a:p>
          <a:p>
            <a:pPr algn="l">
              <a:lnSpc>
                <a:spcPct val="100000"/>
              </a:lnSpc>
            </a:pPr>
            <a:r>
              <a:rPr sz="1600" i="0" b="0">
                <a:solidFill>
                  <a:srgbClr val="E2E8F0"/>
                </a:solidFill>
                <a:latin typeface="Menlo"/>
              </a:rPr>
              <a:t>timeout  killed after 2 s, then recovered</a:t>
            </a:r>
          </a:p>
          <a:p>
            <a:pPr algn="l">
              <a:lnSpc>
                <a:spcPct val="100000"/>
              </a:lnSpc>
            </a:pPr>
            <a:r>
              <a:rPr sz="1600" i="0" b="0">
                <a:solidFill>
                  <a:srgbClr val="E2E8F0"/>
                </a:solidFill>
                <a:latin typeface="Menlo"/>
              </a:rPr>
              <a:t>loop     refused 3rd repeat, halted on the 4th</a:t>
            </a:r>
          </a:p>
          <a:p>
            <a:pPr algn="l">
              <a:lnSpc>
                <a:spcPct val="100000"/>
              </a:lnSpc>
            </a:pPr>
            <a:r>
              <a:rPr sz="1600" i="0" b="0">
                <a:solidFill>
                  <a:srgbClr val="E2E8F0"/>
                </a:solidFill>
                <a:latin typeface="Menlo"/>
              </a:rPr>
              <a:t>escape   wrote escaped.txt outside the repo</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Offline:</a:t>
            </a:r>
            <a:r>
              <a:rPr sz="1800" i="0" b="0">
                <a:solidFill>
                  <a:srgbClr val="1E293B"/>
                </a:solidFill>
                <a:latin typeface="Helvetica Neue"/>
              </a:rPr>
              <a:t> a scripted model, so results repeat.</a:t>
            </a:r>
          </a:p>
        </p:txBody>
      </p:sp>
      <p:sp>
        <p:nvSpPr>
          <p:cNvPr id="17" name="Rectangle 16"/>
          <p:cNvSpPr/>
          <p:nvPr/>
        </p:nvSpPr>
        <p:spPr>
          <a:xfrm>
            <a:off x="7580193" y="234543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overfit</a:t>
            </a:r>
            <a:r>
              <a:rPr sz="1800" i="0" b="0">
                <a:solidFill>
                  <a:srgbClr val="1E293B"/>
                </a:solidFill>
                <a:latin typeface="Helvetica Neue"/>
              </a:rPr>
              <a:t> passes the visible suite and fails held-out.</a:t>
            </a:r>
          </a:p>
        </p:txBody>
      </p:sp>
      <p:sp>
        <p:nvSpPr>
          <p:cNvPr id="19" name="Rectangle 18"/>
          <p:cNvSpPr/>
          <p:nvPr/>
        </p:nvSpPr>
        <p:spPr>
          <a:xfrm>
            <a:off x="7580193" y="308610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620" i="0" b="1">
                <a:solidFill>
                  <a:srgbClr val="0F7490"/>
                </a:solidFill>
                <a:latin typeface="Menlo"/>
              </a:rPr>
              <a:t>escape</a:t>
            </a:r>
            <a:r>
              <a:rPr sz="1800" i="0" b="0">
                <a:solidFill>
                  <a:srgbClr val="1E293B"/>
                </a:solidFill>
                <a:latin typeface="Helvetica Neue"/>
              </a:rPr>
              <a:t> is a limit we show on purpose.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Green visible tests are necessary, and not sufficient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Add a judge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notes/04-coding-agent.md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Hold tests back from the agent, and keep the debugging skill that human review depends on.</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Tests the agent can see</a:t>
            </a:r>
          </a:p>
        </p:txBody>
      </p:sp>
      <p:sp>
        <p:nvSpPr>
          <p:cNvPr id="15" name="Rectangle 14"/>
          <p:cNvSpPr/>
          <p:nvPr/>
        </p:nvSpPr>
        <p:spPr>
          <a:xfrm>
            <a:off x="731520"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Can be special-cased by accident</a:t>
            </a:r>
          </a:p>
        </p:txBody>
      </p:sp>
      <p:sp>
        <p:nvSpPr>
          <p:cNvPr id="17" name="Rectangle 16"/>
          <p:cNvSpPr/>
          <p:nvPr/>
        </p:nvSpPr>
        <p:spPr>
          <a:xfrm>
            <a:off x="731520"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Finish accepts them</a:t>
            </a:r>
          </a:p>
        </p:txBody>
      </p:sp>
      <p:sp>
        <p:nvSpPr>
          <p:cNvPr id="19" name="Rectangle 18"/>
          <p:cNvSpPr/>
          <p:nvPr/>
        </p:nvSpPr>
        <p:spPr>
          <a:xfrm>
            <a:off x="731520"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SWE-agent failures include overly specific fixes</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 necessary gate</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85953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859536"/>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Tests held out, and a person who can read it</a:t>
            </a:r>
          </a:p>
        </p:txBody>
      </p:sp>
      <p:sp>
        <p:nvSpPr>
          <p:cNvPr id="26" name="Rectangle 25"/>
          <p:cNvSpPr/>
          <p:nvPr/>
        </p:nvSpPr>
        <p:spPr>
          <a:xfrm>
            <a:off x="6507327" y="2614930"/>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53288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SWE-bench scores on tests the agent never saw</a:t>
            </a:r>
          </a:p>
        </p:txBody>
      </p:sp>
      <p:sp>
        <p:nvSpPr>
          <p:cNvPr id="28" name="Rectangle 27"/>
          <p:cNvSpPr/>
          <p:nvPr/>
        </p:nvSpPr>
        <p:spPr>
          <a:xfrm>
            <a:off x="6507327" y="331444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323240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Shen &amp; Tamkin: assisted learners scored 4.15 of 27 points lower</a:t>
            </a:r>
          </a:p>
        </p:txBody>
      </p:sp>
      <p:sp>
        <p:nvSpPr>
          <p:cNvPr id="30" name="Rectangle 29"/>
          <p:cNvSpPr/>
          <p:nvPr/>
        </p:nvSpPr>
        <p:spPr>
          <a:xfrm>
            <a:off x="6507327" y="4013961"/>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931920"/>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gap was largest on debugging, in an exploratory cut</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A small preprint with a chat assistant, so hold it loosely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Check the numbers</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Wrong question · Read-only access · Agree the metric · The validator · Charts</a:t>
            </a:r>
          </a:p>
        </p:txBody>
      </p:sp>
      <p:cxnSp>
        <p:nvCxnSpPr>
          <p:cNvPr id="6" name="Connector 5"/>
          <p:cNvCxnSpPr/>
          <p:nvPr/>
        </p:nvCxnSpPr>
        <p:spPr>
          <a:xfrm>
            <a:off x="6446520" y="2090420"/>
            <a:ext cx="0" cy="267716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090420"/>
            <a:ext cx="4693615" cy="286004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query ran. Is the answer right?</a:t>
            </a:r>
          </a:p>
          <a:p>
            <a:pPr algn="l">
              <a:lnSpc>
                <a:spcPct val="100000"/>
              </a:lnSpc>
              <a:spcBef>
                <a:spcPts val="1189"/>
              </a:spcBef>
            </a:pPr>
            <a:r>
              <a:rPr sz="1700" i="0" b="0">
                <a:solidFill>
                  <a:srgbClr val="CBD5E1"/>
                </a:solidFill>
                <a:latin typeface="Helvetica Neue"/>
              </a:rPr>
              <a:t>The run profiles, agrees a metric, queries, and then is checked</a:t>
            </a:r>
          </a:p>
          <a:p>
            <a:pPr algn="l">
              <a:lnSpc>
                <a:spcPct val="100000"/>
              </a:lnSpc>
              <a:spcBef>
                <a:spcPts val="1189"/>
              </a:spcBef>
            </a:pPr>
            <a:r>
              <a:rPr sz="1700" i="0" b="0">
                <a:solidFill>
                  <a:srgbClr val="CBD5E1"/>
                </a:solidFill>
                <a:latin typeface="Helvetica Neue"/>
              </a:rPr>
              <a:t>A lead needs a sense of noise, and four lines give you one</a:t>
            </a:r>
          </a:p>
          <a:p>
            <a:pPr algn="l">
              <a:lnSpc>
                <a:spcPct val="100000"/>
              </a:lnSpc>
              <a:spcBef>
                <a:spcPts val="1189"/>
              </a:spcBef>
            </a:pPr>
            <a:r>
              <a:rPr sz="1700" i="0" b="0">
                <a:solidFill>
                  <a:srgbClr val="CBD5E1"/>
                </a:solidFill>
                <a:latin typeface="Helvetica Neue"/>
              </a:rPr>
              <a:t>The chart shows the answer and its weakness at once</a:t>
            </a:r>
          </a:p>
          <a:p>
            <a:pPr algn="l">
              <a:lnSpc>
                <a:spcPct val="100000"/>
              </a:lnSpc>
              <a:spcBef>
                <a:spcPts val="1189"/>
              </a:spcBef>
            </a:pPr>
            <a:r>
              <a:rPr sz="1700" i="0" b="0">
                <a:solidFill>
                  <a:srgbClr val="CBD5E1"/>
                </a:solidFill>
                <a:latin typeface="Helvetica Neue"/>
              </a:rPr>
              <a:t>What this design does not do</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query ran. Is the answer right?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Check the numbers</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notes/05-data-analysis-agent.md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20</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 data agent can run a correct query and still answer the wrong question, so execution is not validation.</a:t>
            </a:r>
          </a:p>
        </p:txBody>
      </p:sp>
      <p:sp>
        <p:nvSpPr>
          <p:cNvPr id="13" name="Rectangle 12"/>
          <p:cNvSpPr/>
          <p:nvPr/>
        </p:nvSpPr>
        <p:spPr>
          <a:xfrm>
            <a:off x="777240" y="1997964"/>
            <a:ext cx="109728" cy="296265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Which day do customers tip the most? On the same 244 rows, Sunday wins in dollars and Friday wins as a share of the bill.</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SQL executes either way, and execution catches none of this.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400" i="0" b="1">
                <a:solidFill>
                  <a:srgbClr val="FFFFFF"/>
                </a:solidFill>
                <a:latin typeface="Helvetica Neue"/>
              </a:rPr>
              <a:t>The run profiles, agrees a metric, queries, and then is checked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Check the numbers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notes/05-data-analysis-agent.md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Put the metric before the query and the recomputation after it, so that a check never shares the agent's reasoning.</a:t>
            </a:r>
          </a:p>
        </p:txBody>
      </p:sp>
      <p:sp>
        <p:nvSpPr>
          <p:cNvPr id="12" name="Rounded Rectangle 11"/>
          <p:cNvSpPr/>
          <p:nvPr/>
        </p:nvSpPr>
        <p:spPr>
          <a:xfrm>
            <a:off x="502920" y="1563624"/>
            <a:ext cx="1834835" cy="1490472"/>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Profile</a:t>
            </a:r>
          </a:p>
          <a:p>
            <a:pPr algn="ctr">
              <a:lnSpc>
                <a:spcPct val="110000"/>
              </a:lnSpc>
            </a:pPr>
            <a:r>
              <a:rPr sz="1300" i="0" b="0">
                <a:solidFill>
                  <a:srgbClr val="E8F4F8"/>
                </a:solidFill>
                <a:latin typeface="Helvetica Neue"/>
              </a:rPr>
              <a:t>rows, nulls, distinct values</a:t>
            </a:r>
          </a:p>
        </p:txBody>
      </p:sp>
      <p:cxnSp>
        <p:nvCxnSpPr>
          <p:cNvPr id="14" name="Connector 13"/>
          <p:cNvCxnSpPr/>
          <p:nvPr/>
        </p:nvCxnSpPr>
        <p:spPr>
          <a:xfrm>
            <a:off x="239261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0675" y="1563624"/>
            <a:ext cx="1834835" cy="1490472"/>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783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Agree metric</a:t>
            </a:r>
          </a:p>
          <a:p>
            <a:pPr algn="ctr">
              <a:lnSpc>
                <a:spcPct val="110000"/>
              </a:lnSpc>
            </a:pPr>
            <a:r>
              <a:rPr sz="1300" i="0" b="0">
                <a:solidFill>
                  <a:srgbClr val="E8F4F8"/>
                </a:solidFill>
                <a:latin typeface="Helvetica Neue"/>
              </a:rPr>
              <a:t>from a named list</a:t>
            </a:r>
          </a:p>
        </p:txBody>
      </p:sp>
      <p:cxnSp>
        <p:nvCxnSpPr>
          <p:cNvPr id="17" name="Connector 16"/>
          <p:cNvCxnSpPr/>
          <p:nvPr/>
        </p:nvCxnSpPr>
        <p:spPr>
          <a:xfrm>
            <a:off x="473037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78430" y="1563624"/>
            <a:ext cx="1834835" cy="1490472"/>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1559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Read-only SQL</a:t>
            </a:r>
          </a:p>
          <a:p>
            <a:pPr algn="ctr">
              <a:lnSpc>
                <a:spcPct val="110000"/>
              </a:lnSpc>
            </a:pPr>
            <a:r>
              <a:rPr sz="1300" i="0" b="0">
                <a:solidFill>
                  <a:srgbClr val="E8F4F8"/>
                </a:solidFill>
                <a:latin typeface="Helvetica Neue"/>
              </a:rPr>
              <a:t>enforced at the connection</a:t>
            </a:r>
          </a:p>
        </p:txBody>
      </p:sp>
      <p:cxnSp>
        <p:nvCxnSpPr>
          <p:cNvPr id="20" name="Connector 19"/>
          <p:cNvCxnSpPr/>
          <p:nvPr/>
        </p:nvCxnSpPr>
        <p:spPr>
          <a:xfrm>
            <a:off x="7068129"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16185" y="1563624"/>
            <a:ext cx="1834835"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53345"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Recompute</a:t>
            </a:r>
          </a:p>
          <a:p>
            <a:pPr algn="ctr">
              <a:lnSpc>
                <a:spcPct val="110000"/>
              </a:lnSpc>
            </a:pPr>
            <a:r>
              <a:rPr sz="1300" i="0" b="0">
                <a:solidFill>
                  <a:srgbClr val="E8F4F8"/>
                </a:solidFill>
                <a:latin typeface="Helvetica Neue"/>
              </a:rPr>
              <a:t>pandas, without its SQL</a:t>
            </a:r>
          </a:p>
        </p:txBody>
      </p:sp>
      <p:cxnSp>
        <p:nvCxnSpPr>
          <p:cNvPr id="23" name="Connector 22"/>
          <p:cNvCxnSpPr/>
          <p:nvPr/>
        </p:nvCxnSpPr>
        <p:spPr>
          <a:xfrm>
            <a:off x="9405884" y="2308860"/>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53940" y="1563624"/>
            <a:ext cx="1834835" cy="1490472"/>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91100" y="1563624"/>
            <a:ext cx="1560515" cy="1490472"/>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Answer</a:t>
            </a:r>
          </a:p>
          <a:p>
            <a:pPr algn="ctr">
              <a:lnSpc>
                <a:spcPct val="110000"/>
              </a:lnSpc>
            </a:pPr>
            <a:r>
              <a:rPr sz="1300" i="0" b="0">
                <a:solidFill>
                  <a:srgbClr val="E8F4F8"/>
                </a:solidFill>
                <a:latin typeface="Helvetica Neue"/>
              </a:rPr>
              <a:t>with n and an interval</a:t>
            </a:r>
          </a:p>
        </p:txBody>
      </p:sp>
      <p:sp>
        <p:nvSpPr>
          <p:cNvPr id="26" name="Rectangle 25"/>
          <p:cNvSpPr/>
          <p:nvPr/>
        </p:nvSpPr>
        <p:spPr>
          <a:xfrm>
            <a:off x="502920" y="3465830"/>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374136"/>
            <a:ext cx="10865815"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Read-only below the text:</a:t>
            </a:r>
            <a:r>
              <a:rPr sz="1900" i="0" b="0">
                <a:solidFill>
                  <a:srgbClr val="1E293B"/>
                </a:solidFill>
                <a:latin typeface="Helvetica Neue"/>
              </a:rPr>
              <a:t> an SQLite authorizer refuses writes, whatever the SQL looks like.</a:t>
            </a:r>
          </a:p>
        </p:txBody>
      </p:sp>
      <p:sp>
        <p:nvSpPr>
          <p:cNvPr id="28" name="Rectangle 27"/>
          <p:cNvSpPr/>
          <p:nvPr/>
        </p:nvSpPr>
        <p:spPr>
          <a:xfrm>
            <a:off x="502920" y="4247642"/>
            <a:ext cx="101346" cy="10134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15594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The validator</a:t>
            </a:r>
            <a:r>
              <a:rPr sz="1900" i="0" b="0">
                <a:solidFill>
                  <a:srgbClr val="1E293B"/>
                </a:solidFill>
                <a:latin typeface="Helvetica Neue"/>
              </a:rPr>
              <a:t> takes a structured claim and recomputes it separately.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A lead needs a sense of noise, and four lines give you one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Check the numbers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notes/05-data-analysis-agent.md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Bootstrap the difference between groups, and refuse the claim of a lead when the interval includes zero.</a:t>
            </a:r>
          </a:p>
        </p:txBody>
      </p:sp>
      <p:sp>
        <p:nvSpPr>
          <p:cNvPr id="12" name="Rounded Rectangle 11"/>
          <p:cNvSpPr/>
          <p:nvPr/>
        </p:nvSpPr>
        <p:spPr>
          <a:xfrm>
            <a:off x="502920" y="1472184"/>
            <a:ext cx="6711513" cy="263652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199643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bootstrap(a, b, n=2000, seed=7):</a:t>
            </a:r>
          </a:p>
          <a:p>
            <a:pPr algn="l">
              <a:lnSpc>
                <a:spcPct val="100000"/>
              </a:lnSpc>
            </a:pPr>
            <a:r>
              <a:rPr sz="1600" i="0" b="0">
                <a:solidFill>
                  <a:srgbClr val="E2E8F0"/>
                </a:solidFill>
                <a:latin typeface="Menlo"/>
              </a:rPr>
              <a:t>    rng = np.random.default_rng(seed)</a:t>
            </a:r>
          </a:p>
          <a:p>
            <a:pPr algn="l">
              <a:lnSpc>
                <a:spcPct val="100000"/>
              </a:lnSpc>
            </a:pPr>
            <a:r>
              <a:rPr sz="1600" i="0" b="0">
                <a:solidFill>
                  <a:srgbClr val="E2E8F0"/>
                </a:solidFill>
                <a:latin typeface="Menlo"/>
              </a:rPr>
              <a:t>    diffs = [</a:t>
            </a:r>
          </a:p>
          <a:p>
            <a:pPr algn="l">
              <a:lnSpc>
                <a:spcPct val="100000"/>
              </a:lnSpc>
            </a:pPr>
            <a:r>
              <a:rPr sz="1600" i="0" b="0">
                <a:solidFill>
                  <a:srgbClr val="E2E8F0"/>
                </a:solidFill>
                <a:latin typeface="Menlo"/>
              </a:rPr>
              <a:t>        rng.choice(a, len(a)).mean()</a:t>
            </a:r>
          </a:p>
          <a:p>
            <a:pPr algn="l">
              <a:lnSpc>
                <a:spcPct val="100000"/>
              </a:lnSpc>
            </a:pPr>
            <a:r>
              <a:rPr sz="1600" i="0" b="0">
                <a:solidFill>
                  <a:srgbClr val="E2E8F0"/>
                </a:solidFill>
                <a:latin typeface="Menlo"/>
              </a:rPr>
              <a:t>        - rng.choice(b, len(b)).mean()</a:t>
            </a:r>
          </a:p>
          <a:p>
            <a:pPr algn="l">
              <a:lnSpc>
                <a:spcPct val="100000"/>
              </a:lnSpc>
            </a:pPr>
            <a:r>
              <a:rPr sz="1600" i="0" b="0">
                <a:solidFill>
                  <a:srgbClr val="E2E8F0"/>
                </a:solidFill>
                <a:latin typeface="Menlo"/>
              </a:rPr>
              <a:t>        for _ in range(n)</a:t>
            </a:r>
          </a:p>
          <a:p>
            <a:pPr algn="l">
              <a:lnSpc>
                <a:spcPct val="100000"/>
              </a:lnSpc>
            </a:pPr>
            <a:r>
              <a:rPr sz="1600" i="0" b="0">
                <a:solidFill>
                  <a:srgbClr val="E2E8F0"/>
                </a:solidFill>
                <a:latin typeface="Menlo"/>
              </a:rPr>
              <a:t>    ]</a:t>
            </a:r>
          </a:p>
          <a:p>
            <a:pPr algn="l">
              <a:lnSpc>
                <a:spcPct val="100000"/>
              </a:lnSpc>
            </a:pPr>
            <a:r>
              <a:rPr sz="1600" i="0" b="0">
                <a:solidFill>
                  <a:srgbClr val="E2E8F0"/>
                </a:solidFill>
                <a:latin typeface="Menlo"/>
              </a:rPr>
              <a:t>    return np.percentile(diffs, [2.5, 97.5])</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No distribution assumption:</a:t>
            </a:r>
            <a:r>
              <a:rPr sz="1800" i="0" b="0">
                <a:solidFill>
                  <a:srgbClr val="1E293B"/>
                </a:solidFill>
                <a:latin typeface="Helvetica Neue"/>
              </a:rPr>
              <a:t> resample each group.</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Interval includes zero:</a:t>
            </a:r>
            <a:r>
              <a:rPr sz="1800" i="0" b="0">
                <a:solidFill>
                  <a:srgbClr val="1E293B"/>
                </a:solidFill>
                <a:latin typeface="Helvetica Neue"/>
              </a:rPr>
              <a:t> the agent may not claim a lead.</a:t>
            </a:r>
          </a:p>
        </p:txBody>
      </p:sp>
      <p:sp>
        <p:nvSpPr>
          <p:cNvPr id="19" name="Rectangle 18"/>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0">
                <a:solidFill>
                  <a:srgbClr val="1E293B"/>
                </a:solidFill>
                <a:latin typeface="Helvetica Neue"/>
              </a:rPr>
              <a:t>Titanic: women 74.2%, men 18.9%, interval </a:t>
            </a:r>
            <a:r>
              <a:rPr sz="1800" i="0" b="1">
                <a:solidFill>
                  <a:srgbClr val="1E293B"/>
                </a:solidFill>
                <a:latin typeface="Helvetica Neue"/>
              </a:rPr>
              <a:t>[.49, .61]</a:t>
            </a:r>
            <a:r>
              <a:rPr sz="1800" i="0" b="0">
                <a:solidFill>
                  <a:srgbClr val="1E293B"/>
                </a:solidFill>
                <a:latin typeface="Helvetica Neue"/>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chart shows the answer and its weakness at once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Check the numbers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notes/05-data-analysis-agent.md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Give the agent one narrow chart tool with enforced defaults, and still state the sample size in words.</a:t>
            </a:r>
          </a:p>
        </p:txBody>
      </p:sp>
      <p:sp>
        <p:nvSpPr>
          <p:cNvPr id="12" name="Rectangle 11"/>
          <p:cNvSpPr/>
          <p:nvPr/>
        </p:nvSpPr>
        <p:spPr>
          <a:xfrm>
            <a:off x="448056" y="1417320"/>
            <a:ext cx="6261948" cy="328196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ta-analysis-agent-tip-share-by-day.png"/>
          <p:cNvPicPr>
            <a:picLocks noChangeAspect="1"/>
          </p:cNvPicPr>
          <p:nvPr/>
        </p:nvPicPr>
        <p:blipFill>
          <a:blip r:embed="rId2"/>
          <a:stretch>
            <a:fillRect/>
          </a:stretch>
        </p:blipFill>
        <p:spPr>
          <a:xfrm>
            <a:off x="502920" y="1472184"/>
            <a:ext cx="6152220" cy="3172238"/>
          </a:xfrm>
          <a:prstGeom prst="rect">
            <a:avLst/>
          </a:prstGeom>
        </p:spPr>
      </p:pic>
      <p:sp>
        <p:nvSpPr>
          <p:cNvPr id="14" name="TextBox 13"/>
          <p:cNvSpPr txBox="1"/>
          <p:nvPr/>
        </p:nvSpPr>
        <p:spPr>
          <a:xfrm>
            <a:off x="502920" y="4781582"/>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Mean tip share by day, generated by the lab from tips.csv</a:t>
            </a:r>
          </a:p>
        </p:txBody>
      </p:sp>
      <p:sp>
        <p:nvSpPr>
          <p:cNvPr id="15" name="Rectangle 14"/>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tool enforces</a:t>
            </a:r>
            <a:r>
              <a:rPr sz="1800" i="0" b="0">
                <a:solidFill>
                  <a:srgbClr val="1E293B"/>
                </a:solidFill>
                <a:latin typeface="Helvetica Neue"/>
              </a:rPr>
              <a:t> a zero baseline and one accent.</a:t>
            </a:r>
          </a:p>
        </p:txBody>
      </p:sp>
      <p:sp>
        <p:nvSpPr>
          <p:cNvPr id="17" name="Rectangle 16"/>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No free plotting code,</a:t>
            </a:r>
            <a:r>
              <a:rPr sz="1800" i="0" b="0">
                <a:solidFill>
                  <a:srgbClr val="1E293B"/>
                </a:solidFill>
                <a:latin typeface="Helvetica Neue"/>
              </a:rPr>
              <a:t> so no second sandbox.</a:t>
            </a:r>
          </a:p>
        </p:txBody>
      </p:sp>
      <p:sp>
        <p:nvSpPr>
          <p:cNvPr id="19" name="Rectangle 18"/>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Friday has 19 bills</a:t>
            </a:r>
            <a:r>
              <a:rPr sz="1800" i="0" b="0">
                <a:solidFill>
                  <a:srgbClr val="1E293B"/>
                </a:solidFill>
                <a:latin typeface="Helvetica Neue"/>
              </a:rPr>
              <a:t> and Saturday 87, so the sentence must carry 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this design does not do</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Check the numbers</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notes/05-data-analysis-agent.md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 validator checks only the claims it has a shape for, so log the search and keep a person on open questions.</a:t>
            </a:r>
          </a:p>
        </p:txBody>
      </p:sp>
      <p:sp>
        <p:nvSpPr>
          <p:cNvPr id="12" name="Rectangle 11"/>
          <p:cNvSpPr/>
          <p:nvPr/>
        </p:nvSpPr>
        <p:spPr>
          <a:xfrm>
            <a:off x="502920" y="1472184"/>
            <a:ext cx="3545738" cy="274929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74929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Open questions</a:t>
            </a:r>
          </a:p>
        </p:txBody>
      </p:sp>
      <p:sp>
        <p:nvSpPr>
          <p:cNvPr id="15" name="TextBox 14"/>
          <p:cNvSpPr txBox="1"/>
          <p:nvPr/>
        </p:nvSpPr>
        <p:spPr>
          <a:xfrm>
            <a:off x="777240" y="2087880"/>
            <a:ext cx="3042818" cy="1950720"/>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It checks one metric, one grouping and one group. A question like why sales dropped has no such shape.</a:t>
            </a:r>
          </a:p>
        </p:txBody>
      </p:sp>
      <p:sp>
        <p:nvSpPr>
          <p:cNvPr id="16" name="Rectangle 15"/>
          <p:cNvSpPr/>
          <p:nvPr/>
        </p:nvSpPr>
        <p:spPr>
          <a:xfrm>
            <a:off x="4322978" y="1472184"/>
            <a:ext cx="3545738" cy="274929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274929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Multiple comparisons</a:t>
            </a:r>
          </a:p>
        </p:txBody>
      </p:sp>
      <p:sp>
        <p:nvSpPr>
          <p:cNvPr id="19" name="TextBox 18"/>
          <p:cNvSpPr txBox="1"/>
          <p:nvPr/>
        </p:nvSpPr>
        <p:spPr>
          <a:xfrm>
            <a:off x="4597298" y="2087880"/>
            <a:ext cx="3042818" cy="1950720"/>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An agent that explores twenty cuts and reports the best has a false-positive problem. Log the queries.</a:t>
            </a:r>
          </a:p>
        </p:txBody>
      </p:sp>
      <p:sp>
        <p:nvSpPr>
          <p:cNvPr id="20" name="Rectangle 19"/>
          <p:cNvSpPr/>
          <p:nvPr/>
        </p:nvSpPr>
        <p:spPr>
          <a:xfrm>
            <a:off x="8143036" y="1472184"/>
            <a:ext cx="3545738" cy="274929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274929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Same blind spots</a:t>
            </a:r>
          </a:p>
        </p:txBody>
      </p:sp>
      <p:sp>
        <p:nvSpPr>
          <p:cNvPr id="23" name="TextBox 22"/>
          <p:cNvSpPr txBox="1"/>
          <p:nvPr/>
        </p:nvSpPr>
        <p:spPr>
          <a:xfrm>
            <a:off x="8417356" y="2087880"/>
            <a:ext cx="3042818" cy="1950720"/>
          </a:xfrm>
          <a:prstGeom prst="rect">
            <a:avLst/>
          </a:prstGeom>
          <a:noFill/>
        </p:spPr>
        <p:txBody>
          <a:bodyPr wrap="square" lIns="0" rIns="0" tIns="0" bIns="0" anchor="t">
            <a:noAutofit/>
          </a:bodyPr>
          <a:lstStyle/>
          <a:p>
            <a:pPr algn="l">
              <a:lnSpc>
                <a:spcPct val="110000"/>
              </a:lnSpc>
            </a:pPr>
            <a:r>
              <a:rPr sz="2000" i="0" b="0">
                <a:solidFill>
                  <a:srgbClr val="475569"/>
                </a:solidFill>
                <a:latin typeface="Helvetica Neue"/>
              </a:rPr>
              <a:t>The validator is code someone wrote. It only checks what it was written to check.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10210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Meet the user</a:t>
            </a:r>
          </a:p>
        </p:txBody>
      </p:sp>
      <p:sp>
        <p:nvSpPr>
          <p:cNvPr id="5" name="TextBox 4"/>
          <p:cNvSpPr txBox="1"/>
          <p:nvPr/>
        </p:nvSpPr>
        <p:spPr>
          <a:xfrm>
            <a:off x="822960" y="3078479"/>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Chatbot, editor, ambient · The router's history · Trust · One engine, new domain</a:t>
            </a:r>
          </a:p>
        </p:txBody>
      </p:sp>
      <p:cxnSp>
        <p:nvCxnSpPr>
          <p:cNvPr id="6" name="Connector 5"/>
          <p:cNvCxnSpPr/>
          <p:nvPr/>
        </p:nvCxnSpPr>
        <p:spPr>
          <a:xfrm>
            <a:off x="6446520" y="1885315"/>
            <a:ext cx="0" cy="308737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1885315"/>
            <a:ext cx="4693615" cy="327025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Where should the agent sit?</a:t>
            </a:r>
          </a:p>
          <a:p>
            <a:pPr algn="l">
              <a:lnSpc>
                <a:spcPct val="100000"/>
              </a:lnSpc>
              <a:spcBef>
                <a:spcPts val="1189"/>
              </a:spcBef>
            </a:pPr>
            <a:r>
              <a:rPr sz="1700" i="0" b="0">
                <a:solidFill>
                  <a:srgbClr val="CBD5E1"/>
                </a:solidFill>
                <a:latin typeface="Helvetica Neue"/>
              </a:rPr>
              <a:t>Three positions, by who works when</a:t>
            </a:r>
          </a:p>
          <a:p>
            <a:pPr algn="l">
              <a:lnSpc>
                <a:spcPct val="100000"/>
              </a:lnSpc>
              <a:spcBef>
                <a:spcPts val="1189"/>
              </a:spcBef>
            </a:pPr>
            <a:r>
              <a:rPr sz="1700" i="0" b="0">
                <a:solidFill>
                  <a:srgbClr val="CBD5E1"/>
                </a:solidFill>
                <a:latin typeface="Helvetica Neue"/>
              </a:rPr>
              <a:t>The router is older than the LLM, and still earns its place</a:t>
            </a:r>
          </a:p>
          <a:p>
            <a:pPr algn="l">
              <a:lnSpc>
                <a:spcPct val="100000"/>
              </a:lnSpc>
              <a:spcBef>
                <a:spcPts val="1189"/>
              </a:spcBef>
            </a:pPr>
            <a:r>
              <a:rPr sz="1700" i="0" b="0">
                <a:solidFill>
                  <a:srgbClr val="CBD5E1"/>
                </a:solidFill>
                <a:latin typeface="Helvetica Neue"/>
              </a:rPr>
              <a:t>A confirmation helps only if the person can disagree with it</a:t>
            </a:r>
          </a:p>
          <a:p>
            <a:pPr algn="l">
              <a:lnSpc>
                <a:spcPct val="100000"/>
              </a:lnSpc>
              <a:spcBef>
                <a:spcPts val="1189"/>
              </a:spcBef>
            </a:pPr>
            <a:r>
              <a:rPr sz="1700" i="0" b="0">
                <a:solidFill>
                  <a:srgbClr val="CBD5E1"/>
                </a:solidFill>
                <a:latin typeface="Helvetica Neue"/>
              </a:rPr>
              <a:t>Reflection needs anchors it cannot edit</a:t>
            </a:r>
          </a:p>
          <a:p>
            <a:pPr algn="l">
              <a:lnSpc>
                <a:spcPct val="100000"/>
              </a:lnSpc>
              <a:spcBef>
                <a:spcPts val="1189"/>
              </a:spcBef>
            </a:pPr>
            <a:r>
              <a:rPr sz="1700" i="0" b="0">
                <a:solidFill>
                  <a:srgbClr val="CBD5E1"/>
                </a:solidFill>
                <a:latin typeface="Helvetica Neue"/>
              </a:rPr>
              <a:t>One engine, a new domain, and a pitch that outran its sources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should the agent sit?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Meet the user</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Where the agent sits decides your hardest engineering problem, so choose the position on purpose.</a:t>
            </a:r>
          </a:p>
        </p:txBody>
      </p:sp>
      <p:sp>
        <p:nvSpPr>
          <p:cNvPr id="13" name="Rectangle 12"/>
          <p:cNvSpPr/>
          <p:nvPr/>
        </p:nvSpPr>
        <p:spPr>
          <a:xfrm>
            <a:off x="777240" y="1997964"/>
            <a:ext cx="109728" cy="296265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An agent that is right every time still fails if it fires while nobody is looking, or edits what someone else is editing.</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interface usually gets picked by accident, because chat boxes are easy.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Three positions, by who works when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Meet the user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The patterns differ in concurrency and get harder in that order, and each has one problem to solve first.</a:t>
            </a:r>
          </a:p>
        </p:txBody>
      </p:sp>
      <p:graphicFrame>
        <p:nvGraphicFramePr>
          <p:cNvPr id="12" name="Table 11"/>
          <p:cNvGraphicFramePr>
            <a:graphicFrameLocks noGrp="1"/>
          </p:cNvGraphicFramePr>
          <p:nvPr/>
        </p:nvGraphicFramePr>
        <p:xfrm>
          <a:off x="502920" y="1472184"/>
          <a:ext cx="11185853" cy="2398776"/>
        </p:xfrm>
        <a:graphic>
          <a:graphicData uri="http://schemas.openxmlformats.org/drawingml/2006/table">
            <a:tbl>
              <a:tblPr firstRow="1" bandRow="1">
                <a:tableStyleId>{5940675A-B579-460E-94D1-54222C63F5DA}</a:tableStyleId>
              </a:tblPr>
              <a:tblGrid>
                <a:gridCol w="2551159"/>
                <a:gridCol w="4317347"/>
                <a:gridCol w="4317347"/>
              </a:tblGrid>
              <a:tr h="405384">
                <a:tc>
                  <a:txBody>
                    <a:bodyPr wrap="square"/>
                    <a:lstStyle/>
                    <a:p>
                      <a:pPr>
                        <a:lnSpc>
                          <a:spcPct val="100000"/>
                        </a:lnSpc>
                      </a:pPr>
                      <a:r>
                        <a:rPr sz="1700" i="0" b="1">
                          <a:solidFill>
                            <a:srgbClr val="FFFFFF"/>
                          </a:solidFill>
                          <a:latin typeface="Helvetica Neue"/>
                        </a:rPr>
                        <a:t>Pattern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Who works when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Hardest part</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Chatbot</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Turn-taking: the user asks and the agent answers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Safe write access to the canvas</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Collaborative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Both at once, on the same artifact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Merging the agent's edits with the user's</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Ambient</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The agent works while the user does something else</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Defining interesting, and keeping reflection from drifting</a:t>
                      </a:r>
                    </a:p>
                  </a:txBody>
                  <a:tcPr marL="109728" marR="109728" marT="54864" marB="54864" anchor="ctr">
                    <a:solidFill>
                      <a:srgbClr val="E8F4F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The router is older than the LLM, and still earns its place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Meet the user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With few known intents, a small router or workflow graph can beat an LLM on cost and testability.</a:t>
            </a:r>
          </a:p>
        </p:txBody>
      </p:sp>
      <p:sp>
        <p:nvSpPr>
          <p:cNvPr id="12" name="Rectangle 11"/>
          <p:cNvSpPr/>
          <p:nvPr/>
        </p:nvSpPr>
        <p:spPr>
          <a:xfrm>
            <a:off x="502920" y="1472184"/>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1601114"/>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601114"/>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5" name="TextBox 14"/>
          <p:cNvSpPr txBox="1"/>
          <p:nvPr/>
        </p:nvSpPr>
        <p:spPr>
          <a:xfrm>
            <a:off x="1325880" y="1472184"/>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2016: Joint models</a:t>
            </a:r>
            <a:r>
              <a:rPr sz="1800" i="0" b="0">
                <a:solidFill>
                  <a:srgbClr val="475569"/>
                </a:solidFill>
                <a:latin typeface="Helvetica Neue"/>
              </a:rPr>
              <a:t> — Liu and Lane learn intent and slots together.</a:t>
            </a:r>
          </a:p>
        </p:txBody>
      </p:sp>
      <p:sp>
        <p:nvSpPr>
          <p:cNvPr id="16" name="Rectangle 15"/>
          <p:cNvSpPr/>
          <p:nvPr/>
        </p:nvSpPr>
        <p:spPr>
          <a:xfrm>
            <a:off x="502920" y="2296972"/>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 y="2425903"/>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42590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9" name="TextBox 18"/>
          <p:cNvSpPr txBox="1"/>
          <p:nvPr/>
        </p:nvSpPr>
        <p:spPr>
          <a:xfrm>
            <a:off x="1325880" y="2296972"/>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2018: Slot gate</a:t>
            </a:r>
            <a:r>
              <a:rPr sz="1800" i="0" b="0">
                <a:solidFill>
                  <a:srgbClr val="475569"/>
                </a:solidFill>
                <a:latin typeface="Helvetica Neue"/>
              </a:rPr>
              <a:t> — Goo et al.: 4.2% and 1.9% relative frame gains on ATIS and Snips.</a:t>
            </a:r>
          </a:p>
        </p:txBody>
      </p:sp>
      <p:sp>
        <p:nvSpPr>
          <p:cNvPr id="20" name="Rectangle 19"/>
          <p:cNvSpPr/>
          <p:nvPr/>
        </p:nvSpPr>
        <p:spPr>
          <a:xfrm>
            <a:off x="502920" y="3121761"/>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 y="3250691"/>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25069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3" name="TextBox 22"/>
          <p:cNvSpPr txBox="1"/>
          <p:nvPr/>
        </p:nvSpPr>
        <p:spPr>
          <a:xfrm>
            <a:off x="1325880" y="3121761"/>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2019: BERT</a:t>
            </a:r>
            <a:r>
              <a:rPr sz="1800" i="0" b="0">
                <a:solidFill>
                  <a:srgbClr val="475569"/>
                </a:solidFill>
                <a:latin typeface="Helvetica Neue"/>
              </a:rPr>
              <a:t> — Chen et al. apply BERT to the joint task.</a:t>
            </a:r>
          </a:p>
        </p:txBody>
      </p:sp>
      <p:sp>
        <p:nvSpPr>
          <p:cNvPr id="24" name="Rectangle 23"/>
          <p:cNvSpPr/>
          <p:nvPr/>
        </p:nvSpPr>
        <p:spPr>
          <a:xfrm>
            <a:off x="502920" y="3946550"/>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4075480"/>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75480"/>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7" name="TextBox 26"/>
          <p:cNvSpPr txBox="1"/>
          <p:nvPr/>
        </p:nvSpPr>
        <p:spPr>
          <a:xfrm>
            <a:off x="1325880" y="3946550"/>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2020: DIET</a:t>
            </a:r>
            <a:r>
              <a:rPr sz="1800" i="0" b="0">
                <a:solidFill>
                  <a:srgbClr val="475569"/>
                </a:solidFill>
                <a:latin typeface="Helvetica Neue"/>
              </a:rPr>
              <a:t> — No clear benefit from large pretrained models; beats fine-tuned BERT, about six times faster to train.</a:t>
            </a:r>
          </a:p>
        </p:txBody>
      </p:sp>
      <p:sp>
        <p:nvSpPr>
          <p:cNvPr id="28" name="Rectangle 27"/>
          <p:cNvSpPr/>
          <p:nvPr/>
        </p:nvSpPr>
        <p:spPr>
          <a:xfrm>
            <a:off x="502920" y="4771339"/>
            <a:ext cx="11185855" cy="71506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67512" y="4900269"/>
            <a:ext cx="457200" cy="457200"/>
          </a:xfrm>
          <a:prstGeom prst="ellipse">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490026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5</a:t>
            </a:r>
          </a:p>
        </p:txBody>
      </p:sp>
      <p:sp>
        <p:nvSpPr>
          <p:cNvPr id="31" name="TextBox 30"/>
          <p:cNvSpPr txBox="1"/>
          <p:nvPr/>
        </p:nvSpPr>
        <p:spPr>
          <a:xfrm>
            <a:off x="1325880" y="4771339"/>
            <a:ext cx="10180015" cy="715060"/>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2025: Workflow graphs</a:t>
            </a:r>
            <a:r>
              <a:rPr sz="1800" i="0" b="0">
                <a:solidFill>
                  <a:srgbClr val="475569"/>
                </a:solidFill>
                <a:latin typeface="Helvetica Neue"/>
              </a:rPr>
              <a:t> — Park et al.: state machine for the plan, LLMs inside each state; 52% better task accuracy than their baseline.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A confirmation helps only if the person can disagree with it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Meet the user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9" name="TextBox 8"/>
          <p:cNvSpPr txBox="1"/>
          <p:nvPr/>
        </p:nvSpPr>
        <p:spPr>
          <a:xfrm>
            <a:off x="502920" y="1426464"/>
            <a:ext cx="11185855" cy="376428"/>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Bansal et al., CHI 2021, more than 1,500 participants, with AI and people about equally accurate.</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Explanations also persuade when the AI is wrong, so show checkable evidence at the point of approval.</a:t>
            </a:r>
          </a:p>
        </p:txBody>
      </p:sp>
      <p:sp>
        <p:nvSpPr>
          <p:cNvPr id="13" name="Rectangle 12"/>
          <p:cNvSpPr/>
          <p:nvPr/>
        </p:nvSpPr>
        <p:spPr>
          <a:xfrm>
            <a:off x="502920"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985772"/>
            <a:ext cx="5410047" cy="5577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985772"/>
            <a:ext cx="4952847" cy="557784"/>
          </a:xfrm>
          <a:prstGeom prst="rect">
            <a:avLst/>
          </a:prstGeom>
          <a:noFill/>
        </p:spPr>
        <p:txBody>
          <a:bodyPr wrap="square" lIns="0" rIns="0" tIns="0" bIns="0" anchor="ctr">
            <a:noAutofit/>
          </a:bodyPr>
          <a:lstStyle/>
          <a:p>
            <a:pPr algn="l">
              <a:lnSpc>
                <a:spcPct val="110000"/>
              </a:lnSpc>
            </a:pPr>
            <a:r>
              <a:rPr sz="1800" i="0" b="1">
                <a:solidFill>
                  <a:srgbClr val="475569"/>
                </a:solidFill>
                <a:latin typeface="Helvetica Neue"/>
              </a:rPr>
              <a:t>Showing an explanation</a:t>
            </a:r>
          </a:p>
        </p:txBody>
      </p:sp>
      <p:sp>
        <p:nvSpPr>
          <p:cNvPr id="16" name="Rectangle 15"/>
          <p:cNvSpPr/>
          <p:nvPr/>
        </p:nvSpPr>
        <p:spPr>
          <a:xfrm>
            <a:off x="731520" y="282676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744724"/>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Raised team accuracy when the AI was right</a:t>
            </a:r>
          </a:p>
        </p:txBody>
      </p:sp>
      <p:sp>
        <p:nvSpPr>
          <p:cNvPr id="18" name="Rectangle 17"/>
          <p:cNvSpPr/>
          <p:nvPr/>
        </p:nvSpPr>
        <p:spPr>
          <a:xfrm>
            <a:off x="731520" y="3526282"/>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44424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Lowered it when the AI was wrong</a:t>
            </a:r>
          </a:p>
        </p:txBody>
      </p:sp>
      <p:sp>
        <p:nvSpPr>
          <p:cNvPr id="20" name="Rectangle 19"/>
          <p:cNvSpPr/>
          <p:nvPr/>
        </p:nvSpPr>
        <p:spPr>
          <a:xfrm>
            <a:off x="731520" y="3940810"/>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858768"/>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None beat simply showing confidence</a:t>
            </a:r>
          </a:p>
        </p:txBody>
      </p:sp>
      <p:sp>
        <p:nvSpPr>
          <p:cNvPr id="22" name="Rectangle 21"/>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Can work as persuasion</a:t>
            </a:r>
          </a:p>
        </p:txBody>
      </p:sp>
      <p:sp>
        <p:nvSpPr>
          <p:cNvPr id="24" name="Rectangle 23"/>
          <p:cNvSpPr/>
          <p:nvPr/>
        </p:nvSpPr>
        <p:spPr>
          <a:xfrm>
            <a:off x="6278727" y="1985772"/>
            <a:ext cx="5410047" cy="350062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8727" y="1985772"/>
            <a:ext cx="5410047"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7327" y="1985772"/>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Showing the evidence</a:t>
            </a:r>
          </a:p>
        </p:txBody>
      </p:sp>
      <p:sp>
        <p:nvSpPr>
          <p:cNvPr id="27" name="Rectangle 26"/>
          <p:cNvSpPr/>
          <p:nvPr/>
        </p:nvSpPr>
        <p:spPr>
          <a:xfrm>
            <a:off x="6507327" y="2826766"/>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274472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diff and the test run</a:t>
            </a:r>
          </a:p>
        </p:txBody>
      </p:sp>
      <p:sp>
        <p:nvSpPr>
          <p:cNvPr id="29" name="Rectangle 28"/>
          <p:cNvSpPr/>
          <p:nvPr/>
        </p:nvSpPr>
        <p:spPr>
          <a:xfrm>
            <a:off x="6507327" y="3241294"/>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27367" y="315925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query, n and the recomputed number</a:t>
            </a:r>
          </a:p>
        </p:txBody>
      </p:sp>
      <p:sp>
        <p:nvSpPr>
          <p:cNvPr id="31" name="Rectangle 30"/>
          <p:cNvSpPr/>
          <p:nvPr/>
        </p:nvSpPr>
        <p:spPr>
          <a:xfrm>
            <a:off x="6507327" y="3655821"/>
            <a:ext cx="90678" cy="9067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27367" y="3573780"/>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agent's edit before it lands</a:t>
            </a:r>
          </a:p>
        </p:txBody>
      </p:sp>
      <p:sp>
        <p:nvSpPr>
          <p:cNvPr id="33" name="Rectangle 32"/>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Something the person can check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Reflection needs anchors it cannot edit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Meet the user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An ambient agent can silence itself unnoticed, so keep events it must surface and log each rule change.</a:t>
            </a:r>
          </a:p>
        </p:txBody>
      </p:sp>
      <p:sp>
        <p:nvSpPr>
          <p:cNvPr id="12" name="Rounded Rectangle 11"/>
          <p:cNvSpPr/>
          <p:nvPr/>
        </p:nvSpPr>
        <p:spPr>
          <a:xfrm>
            <a:off x="502920" y="1472184"/>
            <a:ext cx="6711513" cy="361187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97179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ANCHORS = {"outage"}  # reflection cannot edit</a:t>
            </a:r>
          </a:p>
          <a:p>
            <a:pPr algn="l">
              <a:lnSpc>
                <a:spcPct val="100000"/>
              </a:lnSpc>
            </a:pPr>
            <a:r>
              <a:rPr sz="1600" i="0" b="0">
                <a:solidFill>
                  <a:srgbClr val="E2E8F0"/>
                </a:solidFill>
                <a:latin typeface="Menlo"/>
              </a:rPr>
              <a:t>rules = {"outage", "price_drop"}</a:t>
            </a:r>
          </a:p>
          <a:p>
            <a:pPr algn="l">
              <a:lnSpc>
                <a:spcPct val="100000"/>
              </a:lnSpc>
            </a:pPr>
          </a:p>
          <a:p>
            <a:pPr algn="l">
              <a:lnSpc>
                <a:spcPct val="100000"/>
              </a:lnSpc>
            </a:pPr>
            <a:r>
              <a:rPr sz="1600" i="0" b="0">
                <a:solidFill>
                  <a:srgbClr val="E2E8F0"/>
                </a:solidFill>
                <a:latin typeface="Menlo"/>
              </a:rPr>
              <a:t>def should_alert(kind):</a:t>
            </a:r>
          </a:p>
          <a:p>
            <a:pPr algn="l">
              <a:lnSpc>
                <a:spcPct val="100000"/>
              </a:lnSpc>
            </a:pPr>
            <a:r>
              <a:rPr sz="1600" i="0" b="0">
                <a:solidFill>
                  <a:srgbClr val="E2E8F0"/>
                </a:solidFill>
                <a:latin typeface="Menlo"/>
              </a:rPr>
              <a:t>    return kind in ANCHORS or kind in rules</a:t>
            </a:r>
          </a:p>
          <a:p>
            <a:pPr algn="l">
              <a:lnSpc>
                <a:spcPct val="100000"/>
              </a:lnSpc>
            </a:pPr>
          </a:p>
          <a:p>
            <a:pPr algn="l">
              <a:lnSpc>
                <a:spcPct val="100000"/>
              </a:lnSpc>
            </a:pPr>
            <a:r>
              <a:rPr sz="1600" i="0" b="0">
                <a:solidFill>
                  <a:srgbClr val="E2E8F0"/>
                </a:solidFill>
                <a:latin typeface="Menlo"/>
              </a:rPr>
              <a:t># the user ignores one of each, reflection removes both</a:t>
            </a:r>
          </a:p>
          <a:p>
            <a:pPr algn="l">
              <a:lnSpc>
                <a:spcPct val="100000"/>
              </a:lnSpc>
            </a:pPr>
            <a:r>
              <a:rPr sz="1600" i="0" b="0">
                <a:solidFill>
                  <a:srgbClr val="E2E8F0"/>
                </a:solidFill>
                <a:latin typeface="Menlo"/>
              </a:rPr>
              <a:t># price_drop  sent, then never again</a:t>
            </a:r>
          </a:p>
          <a:p>
            <a:pPr algn="l">
              <a:lnSpc>
                <a:spcPct val="100000"/>
              </a:lnSpc>
            </a:pPr>
            <a:r>
              <a:rPr sz="1600" i="0" b="0">
                <a:solidFill>
                  <a:srgbClr val="E2E8F0"/>
                </a:solidFill>
                <a:latin typeface="Menlo"/>
              </a:rPr>
              <a:t># outage      sent, and sent again</a:t>
            </a:r>
          </a:p>
          <a:p>
            <a:pPr algn="l">
              <a:lnSpc>
                <a:spcPct val="100000"/>
              </a:lnSpc>
            </a:pPr>
            <a:r>
              <a:rPr sz="1600" i="0" b="0">
                <a:solidFill>
                  <a:srgbClr val="E2E8F0"/>
                </a:solidFill>
                <a:latin typeface="Menlo"/>
              </a:rPr>
              <a:t># log: stopped treating price_drop as interesting</a:t>
            </a:r>
          </a:p>
          <a:p>
            <a:pPr algn="l">
              <a:lnSpc>
                <a:spcPct val="100000"/>
              </a:lnSpc>
            </a:pPr>
            <a:r>
              <a:rPr sz="1600" i="0" b="0">
                <a:solidFill>
                  <a:srgbClr val="E2E8F0"/>
                </a:solidFill>
                <a:latin typeface="Menlo"/>
              </a:rPr>
              <a:t># log: stopped treating outage as interesting</a:t>
            </a:r>
          </a:p>
        </p:txBody>
      </p:sp>
      <p:sp>
        <p:nvSpPr>
          <p:cNvPr id="15" name="Rectangle 14"/>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Nobody sees</a:t>
            </a:r>
            <a:r>
              <a:rPr sz="1800" i="0" b="0">
                <a:solidFill>
                  <a:srgbClr val="1E293B"/>
                </a:solidFill>
                <a:latin typeface="Helvetica Neue"/>
              </a:rPr>
              <a:t> the alerts that were not sent.</a:t>
            </a:r>
          </a:p>
        </p:txBody>
      </p:sp>
      <p:sp>
        <p:nvSpPr>
          <p:cNvPr id="17" name="Rectangle 16"/>
          <p:cNvSpPr/>
          <p:nvPr/>
        </p:nvSpPr>
        <p:spPr>
          <a:xfrm>
            <a:off x="7580193" y="234543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Anchors</a:t>
            </a:r>
            <a:r>
              <a:rPr sz="1800" i="0" b="0">
                <a:solidFill>
                  <a:srgbClr val="1E293B"/>
                </a:solidFill>
                <a:latin typeface="Helvetica Neue"/>
              </a:rPr>
              <a:t> keep what must always surface.</a:t>
            </a:r>
          </a:p>
        </p:txBody>
      </p:sp>
      <p:sp>
        <p:nvSpPr>
          <p:cNvPr id="19" name="Rectangle 18"/>
          <p:cNvSpPr/>
          <p:nvPr/>
        </p:nvSpPr>
        <p:spPr>
          <a:xfrm>
            <a:off x="7580193" y="308610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log</a:t>
            </a:r>
            <a:r>
              <a:rPr sz="1800" i="0" b="0">
                <a:solidFill>
                  <a:srgbClr val="1E293B"/>
                </a:solidFill>
                <a:latin typeface="Helvetica Neue"/>
              </a:rPr>
              <a:t> is the only trace of a rule change.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One engine, a new domain, and a pitch that outran its sources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Meet the user</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good engine moves to a new domain with a new corpus, but check grounding claim by claim, since a fluent pitch is no proof.</a:t>
            </a:r>
          </a:p>
        </p:txBody>
      </p:sp>
      <p:sp>
        <p:nvSpPr>
          <p:cNvPr id="12" name="Rectangle 11"/>
          <p:cNvSpPr/>
          <p:nvPr/>
        </p:nvSpPr>
        <p:spPr>
          <a:xfrm>
            <a:off x="918563" y="1417320"/>
            <a:ext cx="5320934" cy="3712463"/>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ontext-engineering-multi-agent-systems-fig9-1.png"/>
          <p:cNvPicPr>
            <a:picLocks noChangeAspect="1"/>
          </p:cNvPicPr>
          <p:nvPr/>
        </p:nvPicPr>
        <p:blipFill>
          <a:blip r:embed="rId2"/>
          <a:stretch>
            <a:fillRect/>
          </a:stretch>
        </p:blipFill>
        <p:spPr>
          <a:xfrm>
            <a:off x="973427" y="1472184"/>
            <a:ext cx="5211206" cy="3602735"/>
          </a:xfrm>
          <a:prstGeom prst="rect">
            <a:avLst/>
          </a:prstGeom>
        </p:spPr>
      </p:pic>
      <p:sp>
        <p:nvSpPr>
          <p:cNvPr id="14" name="TextBox 13"/>
          <p:cNvSpPr txBox="1"/>
          <p:nvPr/>
        </p:nvSpPr>
        <p:spPr>
          <a:xfrm>
            <a:off x="502920" y="5212080"/>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Context Engine end to end (Rothman, Context Engineering for Multi-Agent Systems, 2025, Fig. 9.1)</a:t>
            </a:r>
          </a:p>
        </p:txBody>
      </p:sp>
      <p:sp>
        <p:nvSpPr>
          <p:cNvPr id="15" name="Rectangle 14"/>
          <p:cNvSpPr/>
          <p:nvPr/>
        </p:nvSpPr>
        <p:spPr>
          <a:xfrm>
            <a:off x="7020900" y="155905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New corpus and goals:</a:t>
            </a:r>
            <a:r>
              <a:rPr sz="1800" i="0" b="0">
                <a:solidFill>
                  <a:srgbClr val="1E293B"/>
                </a:solidFill>
                <a:latin typeface="Helvetica Neue"/>
              </a:rPr>
              <a:t> </a:t>
            </a:r>
            <a:r>
              <a:rPr sz="1620" i="0" b="0">
                <a:solidFill>
                  <a:srgbClr val="0F7490"/>
                </a:solidFill>
                <a:latin typeface="Menlo"/>
              </a:rPr>
              <a:t>engine.py</a:t>
            </a:r>
            <a:r>
              <a:rPr sz="1800" i="0" b="0">
                <a:solidFill>
                  <a:srgbClr val="1E293B"/>
                </a:solidFill>
                <a:latin typeface="Helvetica Neue"/>
              </a:rPr>
              <a:t> did not change.</a:t>
            </a:r>
          </a:p>
        </p:txBody>
      </p:sp>
      <p:sp>
        <p:nvSpPr>
          <p:cNvPr id="17" name="Rectangle 16"/>
          <p:cNvSpPr/>
          <p:nvPr/>
        </p:nvSpPr>
        <p:spPr>
          <a:xfrm>
            <a:off x="7020900" y="229971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 69.63 s run</a:t>
            </a:r>
            <a:r>
              <a:rPr sz="1800" i="0" b="0">
                <a:solidFill>
                  <a:srgbClr val="1E293B"/>
                </a:solidFill>
                <a:latin typeface="Helvetica Neue"/>
              </a:rPr>
              <a:t> pushes the interface toward batch.</a:t>
            </a:r>
          </a:p>
        </p:txBody>
      </p:sp>
      <p:sp>
        <p:nvSpPr>
          <p:cNvPr id="19" name="Rectangle 18"/>
          <p:cNvSpPr/>
          <p:nvPr/>
        </p:nvSpPr>
        <p:spPr>
          <a:xfrm>
            <a:off x="7020900" y="3040380"/>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pitch</a:t>
            </a:r>
            <a:r>
              <a:rPr sz="1800" i="0" b="0">
                <a:solidFill>
                  <a:srgbClr val="1E293B"/>
                </a:solidFill>
                <a:latin typeface="Helvetica Neue"/>
              </a:rPr>
              <a:t> made claims that no source stated.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 for agentic applications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Closing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For every agent, decide who owns the path and what limits are enforced, and name the check that could prove it wrong.</a:t>
            </a:r>
          </a:p>
        </p:txBody>
      </p:sp>
      <p:sp>
        <p:nvSpPr>
          <p:cNvPr id="12" name="Rectangle 11"/>
          <p:cNvSpPr/>
          <p:nvPr/>
        </p:nvSpPr>
        <p:spPr>
          <a:xfrm>
            <a:off x="502920"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8272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Autonomy</a:t>
            </a:r>
          </a:p>
        </p:txBody>
      </p:sp>
      <p:sp>
        <p:nvSpPr>
          <p:cNvPr id="15" name="TextBox 14"/>
          <p:cNvSpPr txBox="1"/>
          <p:nvPr/>
        </p:nvSpPr>
        <p:spPr>
          <a:xfrm>
            <a:off x="777240"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Known shape: fixed graph. Open-ended work: a capped loop with compaction.</a:t>
            </a:r>
          </a:p>
        </p:txBody>
      </p:sp>
      <p:sp>
        <p:nvSpPr>
          <p:cNvPr id="16" name="Rectangle 15"/>
          <p:cNvSpPr/>
          <p:nvPr/>
        </p:nvSpPr>
        <p:spPr>
          <a:xfrm>
            <a:off x="4322978"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827276"/>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Time</a:t>
            </a:r>
          </a:p>
        </p:txBody>
      </p:sp>
      <p:sp>
        <p:nvSpPr>
          <p:cNvPr id="19" name="TextBox 18"/>
          <p:cNvSpPr txBox="1"/>
          <p:nvPr/>
        </p:nvSpPr>
        <p:spPr>
          <a:xfrm>
            <a:off x="4597298"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Budget by stage. Load multiplies model stages. Enforce no false done in code.</a:t>
            </a:r>
          </a:p>
        </p:txBody>
      </p:sp>
      <p:sp>
        <p:nvSpPr>
          <p:cNvPr id="20" name="Rectangle 19"/>
          <p:cNvSpPr/>
          <p:nvPr/>
        </p:nvSpPr>
        <p:spPr>
          <a:xfrm>
            <a:off x="8143036" y="1472184"/>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82727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Code</a:t>
            </a:r>
          </a:p>
        </p:txBody>
      </p:sp>
      <p:sp>
        <p:nvSpPr>
          <p:cNvPr id="23" name="TextBox 22"/>
          <p:cNvSpPr txBox="1"/>
          <p:nvPr/>
        </p:nvSpPr>
        <p:spPr>
          <a:xfrm>
            <a:off x="8417356" y="2087880"/>
            <a:ext cx="3042818" cy="1028699"/>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Enforce limits in tools. Say what each layer misses. Hold tests back.</a:t>
            </a:r>
          </a:p>
        </p:txBody>
      </p:sp>
      <p:sp>
        <p:nvSpPr>
          <p:cNvPr id="24" name="Rectangle 23"/>
          <p:cNvSpPr/>
          <p:nvPr/>
        </p:nvSpPr>
        <p:spPr>
          <a:xfrm>
            <a:off x="502920"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573780"/>
            <a:ext cx="82296" cy="182727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Data</a:t>
            </a:r>
          </a:p>
        </p:txBody>
      </p:sp>
      <p:sp>
        <p:nvSpPr>
          <p:cNvPr id="27" name="TextBox 26"/>
          <p:cNvSpPr txBox="1"/>
          <p:nvPr/>
        </p:nvSpPr>
        <p:spPr>
          <a:xfrm>
            <a:off x="777240"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Agree the metric first. Recompute. Read-only at the connection.</a:t>
            </a:r>
          </a:p>
        </p:txBody>
      </p:sp>
      <p:sp>
        <p:nvSpPr>
          <p:cNvPr id="28" name="Rectangle 27"/>
          <p:cNvSpPr/>
          <p:nvPr/>
        </p:nvSpPr>
        <p:spPr>
          <a:xfrm>
            <a:off x="4322978"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573780"/>
            <a:ext cx="82296" cy="182727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People</a:t>
            </a:r>
          </a:p>
        </p:txBody>
      </p:sp>
      <p:sp>
        <p:nvSpPr>
          <p:cNvPr id="31" name="TextBox 30"/>
          <p:cNvSpPr txBox="1"/>
          <p:nvPr/>
        </p:nvSpPr>
        <p:spPr>
          <a:xfrm>
            <a:off x="4597298"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Pick the position on purpose. Show evidence, since explanations also persuade.</a:t>
            </a:r>
          </a:p>
        </p:txBody>
      </p:sp>
      <p:sp>
        <p:nvSpPr>
          <p:cNvPr id="32" name="Rectangle 31"/>
          <p:cNvSpPr/>
          <p:nvPr/>
        </p:nvSpPr>
        <p:spPr>
          <a:xfrm>
            <a:off x="8143036" y="3573780"/>
            <a:ext cx="3545738" cy="1827276"/>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573780"/>
            <a:ext cx="82296" cy="182727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756660"/>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Always</a:t>
            </a:r>
          </a:p>
        </p:txBody>
      </p:sp>
      <p:sp>
        <p:nvSpPr>
          <p:cNvPr id="35" name="TextBox 34"/>
          <p:cNvSpPr txBox="1"/>
          <p:nvPr/>
        </p:nvSpPr>
        <p:spPr>
          <a:xfrm>
            <a:off x="8417356" y="4189475"/>
            <a:ext cx="3042818" cy="1028700"/>
          </a:xfrm>
          <a:prstGeom prst="rect">
            <a:avLst/>
          </a:prstGeom>
          <a:noFill/>
        </p:spPr>
        <p:txBody>
          <a:bodyPr wrap="square" lIns="0" rIns="0" tIns="0" bIns="0" anchor="t">
            <a:noAutofit/>
          </a:bodyPr>
          <a:lstStyle/>
          <a:p>
            <a:pPr algn="l">
              <a:lnSpc>
                <a:spcPct val="110000"/>
              </a:lnSpc>
            </a:pPr>
            <a:r>
              <a:rPr sz="1500" i="0" b="0">
                <a:solidFill>
                  <a:srgbClr val="475569"/>
                </a:solidFill>
                <a:latin typeface="Helvetica Neue"/>
              </a:rPr>
              <a:t>Ask what would prove this answer wrong, and who checks.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Closing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notes/06-application-patterns.md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You have seen what an agent can do, so next learn the engineering layer that makes it reliable.</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Run the labs:</a:t>
            </a:r>
            <a:r>
              <a:rPr sz="2000" i="0" b="0">
                <a:solidFill>
                  <a:srgbClr val="1E293B"/>
                </a:solidFill>
                <a:latin typeface="Helvetica Neue"/>
              </a:rPr>
              <a:t> </a:t>
            </a:r>
            <a:r>
              <a:rPr sz="1800" i="0" b="0">
                <a:solidFill>
                  <a:srgbClr val="0F7490"/>
                </a:solidFill>
                <a:latin typeface="Menlo"/>
              </a:rPr>
              <a:t>practice/coding-agent</a:t>
            </a:r>
            <a:r>
              <a:rPr sz="2000" i="0" b="0">
                <a:solidFill>
                  <a:srgbClr val="1E293B"/>
                </a:solidFill>
                <a:latin typeface="Helvetica Neue"/>
              </a:rPr>
              <a:t> and </a:t>
            </a:r>
            <a:r>
              <a:rPr sz="1800" i="0" b="0">
                <a:solidFill>
                  <a:srgbClr val="0F7490"/>
                </a:solidFill>
                <a:latin typeface="Menlo"/>
              </a:rPr>
              <a:t>practice/data-analysis-agent</a:t>
            </a:r>
            <a:r>
              <a:rPr sz="2000" i="0" b="0">
                <a:solidFill>
                  <a:srgbClr val="1E293B"/>
                </a:solidFill>
                <a:latin typeface="Helvetica Neue"/>
              </a:rPr>
              <a:t>, offline.</a:t>
            </a:r>
          </a:p>
        </p:txBody>
      </p:sp>
      <p:sp>
        <p:nvSpPr>
          <p:cNvPr id="14" name="Rectangle 13"/>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Then with keys:</a:t>
            </a:r>
            <a:r>
              <a:rPr sz="2000" i="0" b="0">
                <a:solidFill>
                  <a:srgbClr val="1E293B"/>
                </a:solidFill>
                <a:latin typeface="Helvetica Neue"/>
              </a:rPr>
              <a:t> </a:t>
            </a:r>
            <a:r>
              <a:rPr sz="1800" i="0" b="0">
                <a:solidFill>
                  <a:srgbClr val="0F7490"/>
                </a:solidFill>
                <a:latin typeface="Menlo"/>
              </a:rPr>
              <a:t>practice/deep-research-bot</a:t>
            </a:r>
            <a:r>
              <a:rPr sz="2000" i="0" b="0">
                <a:solidFill>
                  <a:srgbClr val="1E293B"/>
                </a:solidFill>
                <a:latin typeface="Helvetica Neue"/>
              </a:rPr>
              <a:t> notebooks.</a:t>
            </a:r>
          </a:p>
        </p:txBody>
      </p:sp>
      <p:sp>
        <p:nvSpPr>
          <p:cNvPr id="16" name="Rectangle 15"/>
          <p:cNvSpPr/>
          <p:nvPr/>
        </p:nvSpPr>
        <p:spPr>
          <a:xfrm>
            <a:off x="502920" y="321462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1810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ai-engineering:</a:t>
            </a:r>
            <a:r>
              <a:rPr sz="2000" i="0" b="0">
                <a:solidFill>
                  <a:srgbClr val="1E293B"/>
                </a:solidFill>
                <a:latin typeface="Helvetica Neue"/>
              </a:rPr>
              <a:t> the harness, loop and graph engineering under these applications.</a:t>
            </a:r>
          </a:p>
        </p:txBody>
      </p:sp>
      <p:sp>
        <p:nvSpPr>
          <p:cNvPr id="18" name="Rectangle 17"/>
          <p:cNvSpPr/>
          <p:nvPr/>
        </p:nvSpPr>
        <p:spPr>
          <a:xfrm>
            <a:off x="502920" y="403758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41064"/>
            <a:ext cx="5944038"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Read:</a:t>
            </a:r>
            <a:r>
              <a:rPr sz="2000" i="0" b="0">
                <a:solidFill>
                  <a:srgbClr val="1E293B"/>
                </a:solidFill>
                <a:latin typeface="Helvetica Neue"/>
              </a:rPr>
              <a:t> SWE-agent; Biswal et al.; Bansal et al.</a:t>
            </a:r>
          </a:p>
        </p:txBody>
      </p:sp>
      <p:sp>
        <p:nvSpPr>
          <p:cNvPr id="20" name="Rectangle 19"/>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758" y="1472184"/>
            <a:ext cx="4556016" cy="557784"/>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one idea to keep</a:t>
            </a:r>
          </a:p>
        </p:txBody>
      </p:sp>
      <p:sp>
        <p:nvSpPr>
          <p:cNvPr id="23" name="TextBox 22"/>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An agent is only as trustworthy as the check that could prove it wrong.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