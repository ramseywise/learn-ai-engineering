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we build one thing: a restock agent for a small warehouse. It starts as a single model call that orders 300 units of itemB. Each part of the lecture finds out what is wrong with the version before it, and fixes it. It cannot check itself, it cannot touch anything, it forgets last Monday, a second opinion costs more than expected, it has to run somewhere, and eventually it can spend money.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begin with the smallest useful version and ask what it lacks. The answer gives us the definition of an agent, and also the rule for when not to build one.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system prompt says you are an inventory manager who orders just in time, and gives stock and four weeks of sales for three items. The answer is to order 300 of itemB. The book warns that truly agentic behaviour is still aspirational, because the same input can yield a different plan on another run.</a:t>
            </a:r>
          </a:p>
          <a:p/>
          <a:p>
            <a:r>
              <a:t>Source: notes/01-agent-fundamentals.md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real output of the first code block in note 01, run on the book's data. The last two lines are arithmetic under an independence assumption, which is a simplification. Huyen makes the same compound-error point in AI Engineering, chapter 6.</a:t>
            </a:r>
          </a:p>
          <a:p/>
          <a:p>
            <a:r>
              <a:t>Source: notes/01-agent-fundamentals.md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rest of the lecture is about managing these three things across many steps. Memory manages context over time. Multi-agent splits context across roles. A harness is the code around the model.</a:t>
            </a:r>
          </a:p>
          <a:p/>
          <a:p>
            <a:r>
              <a:t>Source: notes/01-agent-fundamentals.md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Experiment 1-1 in Li's book, which removes one part at a time. The tool-results row had been seen on robots before ReAct: Inner Monologue showed that writing success feedback back into the prompt is what closes the loop.</a:t>
            </a:r>
          </a:p>
          <a:p/>
          <a:p>
            <a:r>
              <a:t>Source: notes/01-agent-fundamentals.md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Albada adds a rung below the LLM: plain code, chosen when inputs are predictable or certification demands deterministic logic. Our restock calculation is plain code. The judgment around suppliers is what might justify a model.</a:t>
            </a:r>
          </a:p>
          <a:p/>
          <a:p>
            <a:r>
              <a:t>Source: notes/01-agent-fundamentals.md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agent needs current stock, not a pasted table. Yet a model only writes text. So how does anything get done?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in this part follows from that sentence. Because your code is the executor, your code can validate, refuse or ask a person. Toolformer called this tool use; OpenAI and Gemini call it function calling. The mechanism is the same.</a:t>
            </a:r>
          </a:p>
          <a:p/>
          <a:p>
            <a:r>
              <a:t>Source: notes/02-tool-use-and-react.md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Client, model, client, client. Only one of the four steps is the model. ReAct is this loop with the reasoning written out between calls, and it is why the loop has a name in the literature.</a:t>
            </a:r>
          </a:p>
          <a:p/>
          <a:p>
            <a:r>
              <a:t>Source: notes/02-tool-use-and-react.md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condensed form of the runnable block in note 01, which uses a scripted model so that it runs offline. Note 02 shows the same loop against the Messages API with a stub client. No framework is needed to understand any of this.</a:t>
            </a:r>
          </a:p>
          <a:p/>
          <a:p>
            <a:r>
              <a:t>Source: notes/01-agent-fundamentals.md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from pattern P13 in Generative AI Design Patterns, chapter 5. Shown reasoning can also be a story told afterwards. The book's own success case applies a laminar-flow formula to give 84 cubic metres per second through a 25 cm pipe, about 1,700 metres per second, which is meaningless. So well-formed steps are not evidence of a correct answer.</a:t>
            </a:r>
          </a:p>
          <a:p/>
          <a:p>
            <a:r>
              <a:t>Source: notes/02-tool-use-and-react.md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book's June 2025 guide is 3 to 10 tools. Past roughly ten, Oshin and Campos preselect the relevant few by retrieval. And if every query should start with a search, build that tool call in code and do not spend a model call deciding it.</a:t>
            </a:r>
          </a:p>
          <a:p/>
          <a:p>
            <a:r>
              <a:t>Source: notes/02-tool-use-and-react.md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Beurer-Kellner et al., 2025. Each pattern trades capability for safety. Our restock agent reading a supplier's email is exposed: that email lands in the context next to our instructions.</a:t>
            </a:r>
          </a:p>
          <a:p/>
          <a:p>
            <a:r>
              <a:t>Source: notes/02-tool-use-and-react.md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supplier told us last week that delivery time had doubled. On Monday the agent starts from nothing and orders on the old figure. Long context is expensive and finite, so what should it keep?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 state lives in a database, and each step compiles it into a prompt. Heartbeats let one user message drive a search, an edit and a reply. Memory theory itself is in context engineering note 06. This note covers what MemGPT and Letta add.</a:t>
            </a:r>
          </a:p>
          <a:p/>
          <a:p>
            <a:r>
              <a:t>Source: notes/03-memory-as-an-operating-system.md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own run of the block in note 03, with a scripted model and substring search, shortened to fit. A vector index would help with the delay query, but the design lesson stands. Agents do not save or search by default, so the system prompt has to say when.</a:t>
            </a:r>
          </a:p>
          <a:p/>
          <a:p>
            <a:r>
              <a:t>Source: notes/03-memory-as-an-operating-system.md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Zhou et al., July 2026, with gpt-5.4-mini building and searching filesystem stores. On PersonaMem, the right fact was still in the store for all 13 misses. A-MEM takes the safe route: it evolves links and index fields and never rewrites content. Video and audio have no verbatim record, so there the writer has to extract something.</a:t>
            </a:r>
          </a:p>
          <a:p/>
          <a:p>
            <a:r>
              <a:t>Source: notes/03-memory-as-an-operating-system.md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levers are from the DeepLearning.AI course's conclusion. AgeMem found that with the same memory tools, prompted small models rarely update what they stored. So test behaviour by replaying conversations, not just by checking that inserts succeed.</a:t>
            </a:r>
          </a:p>
          <a:p/>
          <a:p>
            <a:r>
              <a:t>Source: notes/03-memory-as-an-operating-system.md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reviewer would catch a bad order. So we add one. Now we have a conversation that may not end, and costs that grow faster than agents.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40 to 80 percent is across the systems that paper studied, not a universal rate. Ng's four patterns give the vocabulary: reflection, tool use, planning, multi-agent collaboration. The AutoGen course teaches each with one lesson, and that is the source of the conversation primitives in note 04.</a:t>
            </a:r>
          </a:p>
          <a:p/>
          <a:p>
            <a:r>
              <a:t>Source: notes/04-multi-agent-design-patterns.md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output of our stubbed block in note 04, reflowed to fit. Two models can agree on a wrong answer, which is why the verifier is code. The transition check is the group-chat lesson: a graph forbids what a prompt can only discourage.</a:t>
            </a:r>
          </a:p>
          <a:p/>
          <a:p>
            <a:r>
              <a:t>Source: notes/04-multi-agent-design-patterns.md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counts are from our stub in note 04. Lakshmanan and Hapke report 41 calls for the depth 4, width 3 setup, consistent with one extra call for a summary, though the book does not itemize them. A search is only as good as its scorer. Graph of Thoughts adds merging, and repairing a failed plan node often beats replanning.</a:t>
            </a:r>
          </a:p>
          <a:p/>
          <a:p>
            <a:r>
              <a:t>Source: notes/04-multi-agent-design-patterns.md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Koenigstein's table compares supervisor, hierarchical and swarm. The running rule from the note is to prefer shared state to messages for facts, since one block edit beats N messages.</a:t>
            </a:r>
          </a:p>
          <a:p/>
          <a:p>
            <a:r>
              <a:t>Source: notes/04-multi-agent-design-patterns.md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savings on closed models are a simulated KV-cache cost, not a billed one, and the trick cannot reproduce workflows that mix models. Read the software-company papers such as MetaGPT and ChatDev against this baseline. Each reports beating the other on its own benchmark.</a:t>
            </a:r>
          </a:p>
          <a:p/>
          <a:p>
            <a:r>
              <a:t>Source: notes/04-multi-agent-design-patterns.md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agent works on a laptop. Now the order has to wait for a person, restart cleanly, talk to a supplier's system, and carry a growing policy.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 equals model plus harness. Treat the claim as the course's framing. It does match the pattern in this pillar: the demo is the easy part.</a:t>
            </a:r>
          </a:p>
          <a:p/>
          <a:p>
            <a:r>
              <a:t>Source: notes/06-google-adk-intensive.md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AutoGen's maintainers now point new work to Microsoft Agent Framework. The patterns still apply. Albada's mid-2025 rule is CrewAI or OpenAI Agents SDK for fast prototypes, LangGraph or AutoGen for production control. Many teams build directly on provider APIs.</a:t>
            </a:r>
          </a:p>
          <a:p/>
          <a:p>
            <a:r>
              <a:t>Source: notes/05-framework-survey.md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05 models this rule in plain Python so that it runs without LangGraph, and these outputs are from that run. Koenigstein states the side-effect rule in chapter 2 of the Definitive Guide.</a:t>
            </a:r>
          </a:p>
          <a:p/>
          <a:p>
            <a:r>
              <a:t>Source: notes/05-framework-survey.md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Day 1 whitepaper. Depth is in the harness engineering pillar. Agents reduce capital expenditure, the upfront cost of building something, but operational expenditure remains.</a:t>
            </a:r>
          </a:p>
          <a:p/>
          <a:p>
            <a:r>
              <a:t>Source: notes/06-google-adk-intensive.md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Toy numbers from our block in note 06. Treat them as orders of magnitude. The course's claim that skills replace multi-agent systems holds where agents differ only in instructions. It does not provide parallelism, context isolation, reviewer independence or separate permissions, which note 04 still needs.</a:t>
            </a:r>
          </a:p>
          <a:p/>
          <a:p>
            <a:r>
              <a:t>Source: notes/06-google-adk-intensive.md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lucky run ordered without looking at the stock and will fail the first time the stock matters. Its final words are not evidence of how it got there, which also explains Huyen's reflection error: asked to place 50 people in 30 rooms, an agent placed 40 and reported success.</a:t>
            </a:r>
          </a:p>
          <a:p/>
          <a:p>
            <a:r>
              <a:t>Source: notes/06-google-adk-intensive.md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Sooner or later the agent places a real order. A line in the system prompt saying do not exceed 500 is a request, not a limit. So what actually enforces one?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LangChain's default SQL-agent prompt stops it from running INSERT, UPDATE or DELETE. With a custom prefix and an unrestricted connection the same agent runs them. The limit has to live in the credentials.</a:t>
            </a:r>
          </a:p>
          <a:p/>
          <a:p>
            <a:r>
              <a:t>Source: notes/07-guardrails-and-autonomy.md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Generative AI Design Patterns, chapter 9. The restock email can be a template, the justification assembled from figures, and only the decision needs the model's freedom. Low token probability marks where a model had alternatives, so it routes to review rather than rejecting. The book's Vectara numbers show hallucination falling but not vanishing, even on summarization.</a:t>
            </a:r>
          </a:p>
          <a:p/>
          <a:p>
            <a:r>
              <a:t>Source: notes/07-guardrails-and-autonomy.md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results are from the runnable block in note 07, with the limit inlined. People clicking through a queue are not a control on a typo of 9,000, which is why the hard limit applies even with approval. Keep approval for the irreversible, or approval fatigue sets in.</a:t>
            </a:r>
          </a:p>
          <a:p/>
          <a:p>
            <a:r>
              <a:t>Source: notes/07-guardrails-and-autonomy.md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Guardrails running in parallel via asyncio.gather do not cancel the model call, so you still pay. Keep a dataset of attacks and benign look-alikes, and track misses and false blocks. Raieli and Iuculano judge that no agent is beyond level one, a research assistant, on Gao et al.'s scale, and Mitchell et al. argue fully autonomous agents should not be developed. Design for orchestrated autonomy.</a:t>
            </a:r>
          </a:p>
          <a:p/>
          <a:p>
            <a:r>
              <a:t>Source: notes/07-guardrails-and-autonomy.md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undoes a failure of the restock agent from earlier in the lecture. The full table is in the pillar README.</a:t>
            </a:r>
          </a:p>
          <a:p/>
          <a:p>
            <a:r>
              <a:t>Source: notes/01-agent-fundamentals.md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labs for the two courses are upstream, linked in the README, and they need API keys.</a:t>
            </a:r>
          </a:p>
          <a:p/>
          <a:p>
            <a:r>
              <a:t>Source: notes/07-guardrails-and-autonomy.md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Oval 1"/>
          <p:cNvSpPr/>
          <p:nvPr/>
        </p:nvSpPr>
        <p:spPr>
          <a:xfrm>
            <a:off x="7498079" y="-1097280"/>
            <a:ext cx="5120640" cy="5120640"/>
          </a:xfrm>
          <a:prstGeom prst="ellipse">
            <a:avLst/>
          </a:prstGeom>
          <a:solidFill>
            <a:srgbClr val="DC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778240" y="4023360"/>
            <a:ext cx="4023360" cy="4023360"/>
          </a:xfrm>
          <a:prstGeom prst="ellipse">
            <a:avLst/>
          </a:prstGeom>
          <a:solidFill>
            <a:srgbClr val="F6E6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852160" cy="68580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64592" cy="685800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05840"/>
            <a:ext cx="4937760" cy="1920239"/>
          </a:xfrm>
          <a:prstGeom prst="rect">
            <a:avLst/>
          </a:prstGeom>
          <a:noFill/>
        </p:spPr>
        <p:txBody>
          <a:bodyPr wrap="square" lIns="0" rIns="0" tIns="0" bIns="0" anchor="t">
            <a:noAutofit/>
          </a:bodyPr>
          <a:lstStyle/>
          <a:p>
            <a:pPr algn="l">
              <a:lnSpc>
                <a:spcPct val="95000"/>
              </a:lnSpc>
            </a:pPr>
            <a:r>
              <a:rPr sz="6000" i="0" b="1">
                <a:solidFill>
                  <a:srgbClr val="FFFFFF"/>
                </a:solidFill>
                <a:latin typeface="Helvetica Neue"/>
              </a:rPr>
              <a:t>Agentic Foundations</a:t>
            </a:r>
          </a:p>
        </p:txBody>
      </p:sp>
      <p:sp>
        <p:nvSpPr>
          <p:cNvPr id="7" name="TextBox 6"/>
          <p:cNvSpPr txBox="1"/>
          <p:nvPr/>
        </p:nvSpPr>
        <p:spPr>
          <a:xfrm>
            <a:off x="548640" y="3063240"/>
            <a:ext cx="4937760" cy="896112"/>
          </a:xfrm>
          <a:prstGeom prst="rect">
            <a:avLst/>
          </a:prstGeom>
          <a:noFill/>
        </p:spPr>
        <p:txBody>
          <a:bodyPr wrap="square" lIns="0" rIns="0" tIns="0" bIns="0" anchor="t">
            <a:noAutofit/>
          </a:bodyPr>
          <a:lstStyle/>
          <a:p>
            <a:pPr algn="l">
              <a:lnSpc>
                <a:spcPct val="110000"/>
              </a:lnSpc>
            </a:pPr>
            <a:r>
              <a:rPr sz="2400" i="0" b="0">
                <a:solidFill>
                  <a:srgbClr val="0EA5C9"/>
                </a:solidFill>
                <a:latin typeface="Helvetica Neue"/>
              </a:rPr>
              <a:t>From one model call to an agent you can trust</a:t>
            </a:r>
          </a:p>
        </p:txBody>
      </p:sp>
      <p:sp>
        <p:nvSpPr>
          <p:cNvPr id="8" name="Rectangle 7"/>
          <p:cNvSpPr/>
          <p:nvPr/>
        </p:nvSpPr>
        <p:spPr>
          <a:xfrm>
            <a:off x="548640" y="4187952"/>
            <a:ext cx="4572000" cy="457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4507992"/>
            <a:ext cx="4937760" cy="1463040"/>
          </a:xfrm>
          <a:prstGeom prst="rect">
            <a:avLst/>
          </a:prstGeom>
          <a:noFill/>
        </p:spPr>
        <p:txBody>
          <a:bodyPr wrap="square" lIns="0" rIns="0" tIns="0" bIns="0" anchor="t">
            <a:noAutofit/>
          </a:bodyPr>
          <a:lstStyle/>
          <a:p>
            <a:pPr algn="l">
              <a:lnSpc>
                <a:spcPct val="125000"/>
              </a:lnSpc>
            </a:pPr>
            <a:r>
              <a:rPr sz="1500" i="0" b="0">
                <a:solidFill>
                  <a:srgbClr val="94A3B8"/>
                </a:solidFill>
                <a:latin typeface="Helvetica Neue"/>
              </a:rPr>
              <a:t>It answers · It acts · It remembers · It collaborates · It runs · It is limited</a:t>
            </a:r>
          </a:p>
        </p:txBody>
      </p:sp>
      <p:sp>
        <p:nvSpPr>
          <p:cNvPr id="10" name="Rectangle 9"/>
          <p:cNvSpPr/>
          <p:nvPr/>
        </p:nvSpPr>
        <p:spPr>
          <a:xfrm>
            <a:off x="6492240" y="822960"/>
            <a:ext cx="5196535" cy="70104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92240" y="822960"/>
            <a:ext cx="91440" cy="70104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66560" y="950976"/>
            <a:ext cx="4785055" cy="365760"/>
          </a:xfrm>
          <a:prstGeom prst="rect">
            <a:avLst/>
          </a:prstGeom>
          <a:noFill/>
        </p:spPr>
        <p:txBody>
          <a:bodyPr wrap="square" lIns="0" rIns="0" tIns="0" bIns="0" anchor="t">
            <a:noAutofit/>
          </a:bodyPr>
          <a:lstStyle/>
          <a:p>
            <a:pPr algn="l">
              <a:lnSpc>
                <a:spcPct val="110000"/>
              </a:lnSpc>
            </a:pPr>
            <a:r>
              <a:rPr sz="1400" i="0" b="1">
                <a:solidFill>
                  <a:srgbClr val="1E293B"/>
                </a:solidFill>
                <a:latin typeface="Helvetica Neue"/>
              </a:rPr>
              <a:t>Part 1: A model is not yet an agent</a:t>
            </a:r>
          </a:p>
        </p:txBody>
      </p:sp>
      <p:sp>
        <p:nvSpPr>
          <p:cNvPr id="13" name="TextBox 12"/>
          <p:cNvSpPr txBox="1"/>
          <p:nvPr/>
        </p:nvSpPr>
        <p:spPr>
          <a:xfrm>
            <a:off x="6766560" y="1208786"/>
            <a:ext cx="4785055" cy="243839"/>
          </a:xfrm>
          <a:prstGeom prst="rect">
            <a:avLst/>
          </a:prstGeom>
          <a:noFill/>
        </p:spPr>
        <p:txBody>
          <a:bodyPr wrap="square" lIns="0" rIns="0" tIns="0" bIns="0" anchor="t">
            <a:noAutofit/>
          </a:bodyPr>
          <a:lstStyle/>
          <a:p>
            <a:pPr algn="l">
              <a:lnSpc>
                <a:spcPct val="110000"/>
              </a:lnSpc>
            </a:pPr>
            <a:r>
              <a:rPr sz="1000" i="0" b="0">
                <a:solidFill>
                  <a:srgbClr val="475569"/>
                </a:solidFill>
                <a:latin typeface="Helvetica Neue"/>
              </a:rPr>
              <a:t>The restock example · Model, context, tools · The ablation · When not to build an agent</a:t>
            </a:r>
          </a:p>
        </p:txBody>
      </p:sp>
      <p:sp>
        <p:nvSpPr>
          <p:cNvPr id="14" name="Rectangle 13"/>
          <p:cNvSpPr/>
          <p:nvPr/>
        </p:nvSpPr>
        <p:spPr>
          <a:xfrm>
            <a:off x="6492240" y="1725168"/>
            <a:ext cx="5196535" cy="70104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92240" y="1725168"/>
            <a:ext cx="91440" cy="70104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66560" y="1853184"/>
            <a:ext cx="4785055" cy="365760"/>
          </a:xfrm>
          <a:prstGeom prst="rect">
            <a:avLst/>
          </a:prstGeom>
          <a:noFill/>
        </p:spPr>
        <p:txBody>
          <a:bodyPr wrap="square" lIns="0" rIns="0" tIns="0" bIns="0" anchor="t">
            <a:noAutofit/>
          </a:bodyPr>
          <a:lstStyle/>
          <a:p>
            <a:pPr algn="l">
              <a:lnSpc>
                <a:spcPct val="110000"/>
              </a:lnSpc>
            </a:pPr>
            <a:r>
              <a:rPr sz="1400" i="0" b="1">
                <a:solidFill>
                  <a:srgbClr val="1E293B"/>
                </a:solidFill>
                <a:latin typeface="Helvetica Neue"/>
              </a:rPr>
              <a:t>Part 2: A model cannot touch anything</a:t>
            </a:r>
          </a:p>
        </p:txBody>
      </p:sp>
      <p:sp>
        <p:nvSpPr>
          <p:cNvPr id="17" name="TextBox 16"/>
          <p:cNvSpPr txBox="1"/>
          <p:nvPr/>
        </p:nvSpPr>
        <p:spPr>
          <a:xfrm>
            <a:off x="6766560" y="2110994"/>
            <a:ext cx="4785055" cy="243839"/>
          </a:xfrm>
          <a:prstGeom prst="rect">
            <a:avLst/>
          </a:prstGeom>
          <a:noFill/>
        </p:spPr>
        <p:txBody>
          <a:bodyPr wrap="square" lIns="0" rIns="0" tIns="0" bIns="0" anchor="t">
            <a:noAutofit/>
          </a:bodyPr>
          <a:lstStyle/>
          <a:p>
            <a:pPr algn="l">
              <a:lnSpc>
                <a:spcPct val="110000"/>
              </a:lnSpc>
            </a:pPr>
            <a:r>
              <a:rPr sz="1000" i="0" b="0">
                <a:solidFill>
                  <a:srgbClr val="475569"/>
                </a:solidFill>
                <a:latin typeface="Helvetica Neue"/>
              </a:rPr>
              <a:t>The tool-call mechanism · The raw loop · Limits of reasoning · Reliable tools · Injection</a:t>
            </a:r>
          </a:p>
        </p:txBody>
      </p:sp>
      <p:sp>
        <p:nvSpPr>
          <p:cNvPr id="18" name="Rectangle 17"/>
          <p:cNvSpPr/>
          <p:nvPr/>
        </p:nvSpPr>
        <p:spPr>
          <a:xfrm>
            <a:off x="6492240" y="2627375"/>
            <a:ext cx="5196535" cy="70104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92240" y="2627375"/>
            <a:ext cx="91440" cy="70104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0" y="2755392"/>
            <a:ext cx="4785055" cy="365760"/>
          </a:xfrm>
          <a:prstGeom prst="rect">
            <a:avLst/>
          </a:prstGeom>
          <a:noFill/>
        </p:spPr>
        <p:txBody>
          <a:bodyPr wrap="square" lIns="0" rIns="0" tIns="0" bIns="0" anchor="t">
            <a:noAutofit/>
          </a:bodyPr>
          <a:lstStyle/>
          <a:p>
            <a:pPr algn="l">
              <a:lnSpc>
                <a:spcPct val="110000"/>
              </a:lnSpc>
            </a:pPr>
            <a:r>
              <a:rPr sz="1400" i="0" b="1">
                <a:solidFill>
                  <a:srgbClr val="1E293B"/>
                </a:solidFill>
                <a:latin typeface="Helvetica Neue"/>
              </a:rPr>
              <a:t>Part 3: It forgets last Monday</a:t>
            </a:r>
          </a:p>
        </p:txBody>
      </p:sp>
      <p:sp>
        <p:nvSpPr>
          <p:cNvPr id="21" name="TextBox 20"/>
          <p:cNvSpPr txBox="1"/>
          <p:nvPr/>
        </p:nvSpPr>
        <p:spPr>
          <a:xfrm>
            <a:off x="6766560" y="3013202"/>
            <a:ext cx="4785055" cy="243839"/>
          </a:xfrm>
          <a:prstGeom prst="rect">
            <a:avLst/>
          </a:prstGeom>
          <a:noFill/>
        </p:spPr>
        <p:txBody>
          <a:bodyPr wrap="square" lIns="0" rIns="0" tIns="0" bIns="0" anchor="t">
            <a:noAutofit/>
          </a:bodyPr>
          <a:lstStyle/>
          <a:p>
            <a:pPr algn="l">
              <a:lnSpc>
                <a:spcPct val="110000"/>
              </a:lnSpc>
            </a:pPr>
            <a:r>
              <a:rPr sz="1000" i="0" b="0">
                <a:solidFill>
                  <a:srgbClr val="475569"/>
                </a:solidFill>
                <a:latin typeface="Helvetica Neue"/>
              </a:rPr>
              <a:t>The OS analogy · Self-editing memory · How much to curate</a:t>
            </a:r>
          </a:p>
        </p:txBody>
      </p:sp>
      <p:sp>
        <p:nvSpPr>
          <p:cNvPr id="22" name="Rectangle 21"/>
          <p:cNvSpPr/>
          <p:nvPr/>
        </p:nvSpPr>
        <p:spPr>
          <a:xfrm>
            <a:off x="6492240" y="3529584"/>
            <a:ext cx="5196535" cy="70104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92240" y="3529584"/>
            <a:ext cx="91440" cy="70104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66560" y="3657600"/>
            <a:ext cx="4785055" cy="365760"/>
          </a:xfrm>
          <a:prstGeom prst="rect">
            <a:avLst/>
          </a:prstGeom>
          <a:noFill/>
        </p:spPr>
        <p:txBody>
          <a:bodyPr wrap="square" lIns="0" rIns="0" tIns="0" bIns="0" anchor="t">
            <a:noAutofit/>
          </a:bodyPr>
          <a:lstStyle/>
          <a:p>
            <a:pPr algn="l">
              <a:lnSpc>
                <a:spcPct val="110000"/>
              </a:lnSpc>
            </a:pPr>
            <a:r>
              <a:rPr sz="1400" i="0" b="1">
                <a:solidFill>
                  <a:srgbClr val="1E293B"/>
                </a:solidFill>
                <a:latin typeface="Helvetica Neue"/>
              </a:rPr>
              <a:t>Part 4: A second opinion has a price</a:t>
            </a:r>
          </a:p>
        </p:txBody>
      </p:sp>
      <p:sp>
        <p:nvSpPr>
          <p:cNvPr id="25" name="TextBox 24"/>
          <p:cNvSpPr txBox="1"/>
          <p:nvPr/>
        </p:nvSpPr>
        <p:spPr>
          <a:xfrm>
            <a:off x="6766560" y="3915409"/>
            <a:ext cx="4785055" cy="243839"/>
          </a:xfrm>
          <a:prstGeom prst="rect">
            <a:avLst/>
          </a:prstGeom>
          <a:noFill/>
        </p:spPr>
        <p:txBody>
          <a:bodyPr wrap="square" lIns="0" rIns="0" tIns="0" bIns="0" anchor="t">
            <a:noAutofit/>
          </a:bodyPr>
          <a:lstStyle/>
          <a:p>
            <a:pPr algn="l">
              <a:lnSpc>
                <a:spcPct val="110000"/>
              </a:lnSpc>
            </a:pPr>
            <a:r>
              <a:rPr sz="1000" i="0" b="0">
                <a:solidFill>
                  <a:srgbClr val="475569"/>
                </a:solidFill>
                <a:latin typeface="Helvetica Neue"/>
              </a:rPr>
              <a:t>Three kinds of stop · Planning search · Why multi-agent systems fail · The single-agent baseline</a:t>
            </a:r>
          </a:p>
        </p:txBody>
      </p:sp>
      <p:sp>
        <p:nvSpPr>
          <p:cNvPr id="26" name="Rectangle 25"/>
          <p:cNvSpPr/>
          <p:nvPr/>
        </p:nvSpPr>
        <p:spPr>
          <a:xfrm>
            <a:off x="6492240" y="4431792"/>
            <a:ext cx="5196535" cy="70104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92240" y="4431792"/>
            <a:ext cx="91440" cy="70104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66560" y="4559808"/>
            <a:ext cx="4785055" cy="365760"/>
          </a:xfrm>
          <a:prstGeom prst="rect">
            <a:avLst/>
          </a:prstGeom>
          <a:noFill/>
        </p:spPr>
        <p:txBody>
          <a:bodyPr wrap="square" lIns="0" rIns="0" tIns="0" bIns="0" anchor="t">
            <a:noAutofit/>
          </a:bodyPr>
          <a:lstStyle/>
          <a:p>
            <a:pPr algn="l">
              <a:lnSpc>
                <a:spcPct val="110000"/>
              </a:lnSpc>
            </a:pPr>
            <a:r>
              <a:rPr sz="1400" i="0" b="1">
                <a:solidFill>
                  <a:srgbClr val="1E293B"/>
                </a:solidFill>
                <a:latin typeface="Helvetica Neue"/>
              </a:rPr>
              <a:t>Part 5: It has to run somewhere</a:t>
            </a:r>
          </a:p>
        </p:txBody>
      </p:sp>
      <p:sp>
        <p:nvSpPr>
          <p:cNvPr id="29" name="TextBox 28"/>
          <p:cNvSpPr txBox="1"/>
          <p:nvPr/>
        </p:nvSpPr>
        <p:spPr>
          <a:xfrm>
            <a:off x="6766560" y="4817617"/>
            <a:ext cx="4785055" cy="243839"/>
          </a:xfrm>
          <a:prstGeom prst="rect">
            <a:avLst/>
          </a:prstGeom>
          <a:noFill/>
        </p:spPr>
        <p:txBody>
          <a:bodyPr wrap="square" lIns="0" rIns="0" tIns="0" bIns="0" anchor="t">
            <a:noAutofit/>
          </a:bodyPr>
          <a:lstStyle/>
          <a:p>
            <a:pPr algn="l">
              <a:lnSpc>
                <a:spcPct val="110000"/>
              </a:lnSpc>
            </a:pPr>
            <a:r>
              <a:rPr sz="1000" i="0" b="0">
                <a:solidFill>
                  <a:srgbClr val="475569"/>
                </a:solidFill>
                <a:latin typeface="Helvetica Neue"/>
              </a:rPr>
              <a:t>Pick by control flow · Resume safely · Protocols · The harness · Skills · Evals</a:t>
            </a:r>
          </a:p>
        </p:txBody>
      </p:sp>
      <p:sp>
        <p:nvSpPr>
          <p:cNvPr id="30" name="Rectangle 29"/>
          <p:cNvSpPr/>
          <p:nvPr/>
        </p:nvSpPr>
        <p:spPr>
          <a:xfrm>
            <a:off x="6492240" y="5334000"/>
            <a:ext cx="5196535" cy="70104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492240" y="5334000"/>
            <a:ext cx="91440" cy="70104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66560" y="5462015"/>
            <a:ext cx="4785055" cy="365760"/>
          </a:xfrm>
          <a:prstGeom prst="rect">
            <a:avLst/>
          </a:prstGeom>
          <a:noFill/>
        </p:spPr>
        <p:txBody>
          <a:bodyPr wrap="square" lIns="0" rIns="0" tIns="0" bIns="0" anchor="t">
            <a:noAutofit/>
          </a:bodyPr>
          <a:lstStyle/>
          <a:p>
            <a:pPr algn="l">
              <a:lnSpc>
                <a:spcPct val="110000"/>
              </a:lnSpc>
            </a:pPr>
            <a:r>
              <a:rPr sz="1400" i="0" b="1">
                <a:solidFill>
                  <a:srgbClr val="1E293B"/>
                </a:solidFill>
                <a:latin typeface="Helvetica Neue"/>
              </a:rPr>
              <a:t>Part 6: Now it can spend money</a:t>
            </a:r>
          </a:p>
        </p:txBody>
      </p:sp>
      <p:sp>
        <p:nvSpPr>
          <p:cNvPr id="33" name="TextBox 32"/>
          <p:cNvSpPr txBox="1"/>
          <p:nvPr/>
        </p:nvSpPr>
        <p:spPr>
          <a:xfrm>
            <a:off x="6766560" y="5719825"/>
            <a:ext cx="4785055" cy="243839"/>
          </a:xfrm>
          <a:prstGeom prst="rect">
            <a:avLst/>
          </a:prstGeom>
          <a:noFill/>
        </p:spPr>
        <p:txBody>
          <a:bodyPr wrap="square" lIns="0" rIns="0" tIns="0" bIns="0" anchor="t">
            <a:noAutofit/>
          </a:bodyPr>
          <a:lstStyle/>
          <a:p>
            <a:pPr algn="l">
              <a:lnSpc>
                <a:spcPct val="110000"/>
              </a:lnSpc>
            </a:pPr>
            <a:r>
              <a:rPr sz="1000" i="0" b="0">
                <a:solidFill>
                  <a:srgbClr val="475569"/>
                </a:solidFill>
                <a:latin typeface="Helvetica Neue"/>
              </a:rPr>
              <a:t>Where the controls sit · Lower the risk · Gate the action · How much autonomy</a:t>
            </a:r>
          </a:p>
        </p:txBody>
      </p:sp>
      <p:sp>
        <p:nvSpPr>
          <p:cNvPr id="34" name="TextBox 33"/>
          <p:cNvSpPr txBox="1"/>
          <p:nvPr/>
        </p:nvSpPr>
        <p:spPr>
          <a:xfrm>
            <a:off x="6492240" y="6355080"/>
            <a:ext cx="5196535" cy="274320"/>
          </a:xfrm>
          <a:prstGeom prst="rect">
            <a:avLst/>
          </a:prstGeom>
          <a:noFill/>
        </p:spPr>
        <p:txBody>
          <a:bodyPr wrap="square" lIns="0" rIns="0" tIns="0" bIns="0" anchor="t">
            <a:noAutofit/>
          </a:bodyPr>
          <a:lstStyle/>
          <a:p>
            <a:pPr algn="r">
              <a:lnSpc>
                <a:spcPct val="110000"/>
              </a:lnSpc>
            </a:pPr>
            <a:r>
              <a:rPr sz="1100" i="1" b="0">
                <a:solidFill>
                  <a:srgbClr val="94A3B8"/>
                </a:solidFill>
                <a:latin typeface="Helvetica Neue"/>
              </a:rPr>
              <a:t>Notes: generative-ai/03-agentic-foundations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D4621A"/>
                </a:solidFill>
                <a:latin typeface="Helvetica Neue"/>
              </a:rPr>
              <a:t>PART 1</a:t>
            </a:r>
          </a:p>
        </p:txBody>
      </p:sp>
      <p:sp>
        <p:nvSpPr>
          <p:cNvPr id="4" name="TextBox 3"/>
          <p:cNvSpPr txBox="1"/>
          <p:nvPr/>
        </p:nvSpPr>
        <p:spPr>
          <a:xfrm>
            <a:off x="822960" y="1965960"/>
            <a:ext cx="5486400" cy="18592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A model is not yet an agent</a:t>
            </a:r>
          </a:p>
        </p:txBody>
      </p:sp>
      <p:sp>
        <p:nvSpPr>
          <p:cNvPr id="5" name="TextBox 4"/>
          <p:cNvSpPr txBox="1"/>
          <p:nvPr/>
        </p:nvSpPr>
        <p:spPr>
          <a:xfrm>
            <a:off x="822960" y="3916680"/>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The restock example · Model, context, tools · The ablation · When not to build an agent</a:t>
            </a:r>
          </a:p>
        </p:txBody>
      </p:sp>
      <p:cxnSp>
        <p:nvCxnSpPr>
          <p:cNvPr id="6" name="Connector 5"/>
          <p:cNvCxnSpPr/>
          <p:nvPr/>
        </p:nvCxnSpPr>
        <p:spPr>
          <a:xfrm>
            <a:off x="6446520" y="2090420"/>
            <a:ext cx="0" cy="267716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2090420"/>
            <a:ext cx="4693615" cy="2860040"/>
          </a:xfrm>
          <a:prstGeom prst="rect">
            <a:avLst/>
          </a:prstGeom>
          <a:noFill/>
        </p:spPr>
        <p:txBody>
          <a:bodyPr wrap="square" lIns="0" rIns="0" tIns="0" bIns="0" anchor="t">
            <a:noAutofit/>
          </a:bodyPr>
          <a:lstStyle/>
          <a:p>
            <a:pPr algn="l">
              <a:lnSpc>
                <a:spcPct val="100000"/>
              </a:lnSpc>
            </a:pPr>
            <a:r>
              <a:rPr sz="1700" i="0" b="0">
                <a:solidFill>
                  <a:srgbClr val="CBD5E1"/>
                </a:solidFill>
                <a:latin typeface="Helvetica Neue"/>
              </a:rPr>
              <a:t>The model ordered 300 units. Was that right?</a:t>
            </a:r>
          </a:p>
          <a:p>
            <a:pPr algn="l">
              <a:lnSpc>
                <a:spcPct val="100000"/>
              </a:lnSpc>
              <a:spcBef>
                <a:spcPts val="1189"/>
              </a:spcBef>
            </a:pPr>
            <a:r>
              <a:rPr sz="1700" i="0" b="0">
                <a:solidFill>
                  <a:srgbClr val="CBD5E1"/>
                </a:solidFill>
                <a:latin typeface="Helvetica Neue"/>
              </a:rPr>
              <a:t>Check the order with arithmetic the model cannot argue with</a:t>
            </a:r>
          </a:p>
          <a:p>
            <a:pPr algn="l">
              <a:lnSpc>
                <a:spcPct val="100000"/>
              </a:lnSpc>
              <a:spcBef>
                <a:spcPts val="1189"/>
              </a:spcBef>
            </a:pPr>
            <a:r>
              <a:rPr sz="1700" i="0" b="0">
                <a:solidFill>
                  <a:srgbClr val="CBD5E1"/>
                </a:solidFill>
                <a:latin typeface="Helvetica Neue"/>
              </a:rPr>
              <a:t>Agent = Model + Context + Tools, run in a loop</a:t>
            </a:r>
          </a:p>
          <a:p>
            <a:pPr algn="l">
              <a:lnSpc>
                <a:spcPct val="100000"/>
              </a:lnSpc>
              <a:spcBef>
                <a:spcPts val="1189"/>
              </a:spcBef>
            </a:pPr>
            <a:r>
              <a:rPr sz="1700" i="0" b="0">
                <a:solidFill>
                  <a:srgbClr val="CBD5E1"/>
                </a:solidFill>
                <a:latin typeface="Helvetica Neue"/>
              </a:rPr>
              <a:t>Remove a part and watch what breaks</a:t>
            </a:r>
          </a:p>
          <a:p>
            <a:pPr algn="l">
              <a:lnSpc>
                <a:spcPct val="100000"/>
              </a:lnSpc>
              <a:spcBef>
                <a:spcPts val="1189"/>
              </a:spcBef>
            </a:pPr>
            <a:r>
              <a:rPr sz="1700" i="0" b="0">
                <a:solidFill>
                  <a:srgbClr val="CBD5E1"/>
                </a:solidFill>
                <a:latin typeface="Helvetica Neue"/>
              </a:rPr>
              <a:t>Climb the ladder only as far as you need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500" i="0" b="1">
                <a:solidFill>
                  <a:srgbClr val="FFFFFF"/>
                </a:solidFill>
                <a:latin typeface="Helvetica Neue"/>
              </a:rPr>
              <a:t>The model ordered 300 units. Was that right?</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The problem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A model is not yet an agent</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notes/01-agent-fundamentals.md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200" i="0" b="1">
                <a:solidFill>
                  <a:srgbClr val="1E3A5F"/>
                </a:solidFill>
                <a:latin typeface="Helvetica Neue"/>
              </a:rPr>
              <a:t>A plausible explanation is not a check, so anything that can be computed should be computed and compared with the model's answer.</a:t>
            </a:r>
          </a:p>
        </p:txBody>
      </p:sp>
      <p:sp>
        <p:nvSpPr>
          <p:cNvPr id="13" name="Rectangle 12"/>
          <p:cNvSpPr/>
          <p:nvPr/>
        </p:nvSpPr>
        <p:spPr>
          <a:xfrm>
            <a:off x="777240" y="1997964"/>
            <a:ext cx="109728" cy="296265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1997964"/>
            <a:ext cx="10088575" cy="2596896"/>
          </a:xfrm>
          <a:prstGeom prst="rect">
            <a:avLst/>
          </a:prstGeom>
          <a:noFill/>
        </p:spPr>
        <p:txBody>
          <a:bodyPr wrap="square" lIns="0" rIns="0" tIns="0" bIns="0" anchor="t">
            <a:noAutofit/>
          </a:bodyPr>
          <a:lstStyle/>
          <a:p>
            <a:pPr algn="l">
              <a:lnSpc>
                <a:spcPct val="105000"/>
              </a:lnSpc>
            </a:pPr>
            <a:r>
              <a:rPr sz="3600" i="0" b="1">
                <a:solidFill>
                  <a:srgbClr val="1E3A5F"/>
                </a:solidFill>
                <a:latin typeface="Helvetica Neue"/>
              </a:rPr>
              <a:t>Asked to order just in time, a model orders 300 of itemB and explains why. The explanation sounds fine. Nothing in the system can tell you whether it is.</a:t>
            </a:r>
          </a:p>
        </p:txBody>
      </p:sp>
      <p:sp>
        <p:nvSpPr>
          <p:cNvPr id="15" name="TextBox 14"/>
          <p:cNvSpPr txBox="1"/>
          <p:nvPr/>
        </p:nvSpPr>
        <p:spPr>
          <a:xfrm>
            <a:off x="1234440" y="4549140"/>
            <a:ext cx="10088575" cy="365760"/>
          </a:xfrm>
          <a:prstGeom prst="rect">
            <a:avLst/>
          </a:prstGeom>
          <a:noFill/>
        </p:spPr>
        <p:txBody>
          <a:bodyPr wrap="square" lIns="0" rIns="0" tIns="0" bIns="0" anchor="t">
            <a:noAutofit/>
          </a:bodyPr>
          <a:lstStyle/>
          <a:p>
            <a:pPr algn="l">
              <a:lnSpc>
                <a:spcPct val="110000"/>
              </a:lnSpc>
            </a:pPr>
            <a:r>
              <a:rPr sz="1700" i="1" b="0">
                <a:solidFill>
                  <a:srgbClr val="475569"/>
                </a:solidFill>
                <a:latin typeface="Helvetica Neue"/>
              </a:rPr>
              <a:t>The inventory example from Lakshmanan &amp; Hapke, Generative AI Design Patterns, ch. 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600" i="0" b="1">
                <a:solidFill>
                  <a:srgbClr val="FFFFFF"/>
                </a:solidFill>
                <a:latin typeface="Helvetica Neue"/>
              </a:rPr>
              <a:t>Check the order with arithmetic the model cannot argue with</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A model is not yet an agent</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notes/01-agent-fundamentals.md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4</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200" i="0" b="1">
                <a:solidFill>
                  <a:srgbClr val="1E3A5F"/>
                </a:solidFill>
                <a:latin typeface="Helvetica Neue"/>
              </a:rPr>
              <a:t>Code confirmed the item and found a stockout the model never mentioned, and per-step errors compound quickly over a long run.</a:t>
            </a:r>
          </a:p>
        </p:txBody>
      </p:sp>
      <p:sp>
        <p:nvSpPr>
          <p:cNvPr id="12" name="Rounded Rectangle 11"/>
          <p:cNvSpPr/>
          <p:nvPr/>
        </p:nvSpPr>
        <p:spPr>
          <a:xfrm>
            <a:off x="502920" y="1472184"/>
            <a:ext cx="6711513" cy="336804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TEXT</a:t>
            </a:r>
          </a:p>
        </p:txBody>
      </p:sp>
      <p:sp>
        <p:nvSpPr>
          <p:cNvPr id="14" name="TextBox 13"/>
          <p:cNvSpPr txBox="1"/>
          <p:nvPr/>
        </p:nvSpPr>
        <p:spPr>
          <a:xfrm>
            <a:off x="731520" y="1883664"/>
            <a:ext cx="6254313" cy="272795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 weeks of cover = on hand / peak weekly sales</a:t>
            </a:r>
          </a:p>
          <a:p>
            <a:pPr algn="l">
              <a:lnSpc>
                <a:spcPct val="100000"/>
              </a:lnSpc>
            </a:pPr>
            <a:r>
              <a:rPr sz="1600" i="0" b="0">
                <a:solidFill>
                  <a:srgbClr val="E2E8F0"/>
                </a:solidFill>
                <a:latin typeface="Menlo"/>
              </a:rPr>
              <a:t>itemA: 3.0 cover, 2 to deliver -&gt; ok</a:t>
            </a:r>
          </a:p>
          <a:p>
            <a:pPr algn="l">
              <a:lnSpc>
                <a:spcPct val="100000"/>
              </a:lnSpc>
            </a:pPr>
            <a:r>
              <a:rPr sz="1600" i="0" b="0">
                <a:solidFill>
                  <a:srgbClr val="E2E8F0"/>
                </a:solidFill>
                <a:latin typeface="Menlo"/>
              </a:rPr>
              <a:t>itemB: 1.1 cover, 2 to deliver -&gt; ORDER NOW</a:t>
            </a:r>
          </a:p>
          <a:p>
            <a:pPr algn="l">
              <a:lnSpc>
                <a:spcPct val="100000"/>
              </a:lnSpc>
            </a:pPr>
            <a:r>
              <a:rPr sz="1600" i="0" b="0">
                <a:solidFill>
                  <a:srgbClr val="E2E8F0"/>
                </a:solidFill>
                <a:latin typeface="Menlo"/>
              </a:rPr>
              <a:t>itemC: 2.2 cover, 1 to deliver -&gt; ok</a:t>
            </a:r>
          </a:p>
          <a:p>
            <a:pPr algn="l">
              <a:lnSpc>
                <a:spcPct val="100000"/>
              </a:lnSpc>
            </a:pPr>
          </a:p>
          <a:p>
            <a:pPr algn="l">
              <a:lnSpc>
                <a:spcPct val="100000"/>
              </a:lnSpc>
            </a:pPr>
            <a:r>
              <a:rPr sz="1600" i="0" b="0">
                <a:solidFill>
                  <a:srgbClr val="E2E8F0"/>
                </a:solidFill>
                <a:latin typeface="Menlo"/>
              </a:rPr>
              <a:t>proposed 300 of itemB:</a:t>
            </a:r>
          </a:p>
          <a:p>
            <a:pPr algn="l">
              <a:lnSpc>
                <a:spcPct val="100000"/>
              </a:lnSpc>
            </a:pPr>
            <a:r>
              <a:rPr sz="1600" i="0" b="0">
                <a:solidFill>
                  <a:srgbClr val="E2E8F0"/>
                </a:solidFill>
                <a:latin typeface="Menlo"/>
              </a:rPr>
              <a:t>  on arrival, stock is -80 at peak sales</a:t>
            </a:r>
          </a:p>
          <a:p>
            <a:pPr algn="l">
              <a:lnSpc>
                <a:spcPct val="100000"/>
              </a:lnSpc>
            </a:pPr>
            <a:r>
              <a:rPr sz="1600" i="0" b="0">
                <a:solidFill>
                  <a:srgbClr val="E2E8F0"/>
                </a:solidFill>
                <a:latin typeface="Menlo"/>
              </a:rPr>
              <a:t>  after delivery: 300 units, 3.3 weeks of cover</a:t>
            </a:r>
          </a:p>
          <a:p>
            <a:pPr algn="l">
              <a:lnSpc>
                <a:spcPct val="100000"/>
              </a:lnSpc>
            </a:pPr>
          </a:p>
          <a:p>
            <a:pPr algn="l">
              <a:lnSpc>
                <a:spcPct val="100000"/>
              </a:lnSpc>
            </a:pPr>
            <a:r>
              <a:rPr sz="1600" i="0" b="0">
                <a:solidFill>
                  <a:srgbClr val="E2E8F0"/>
                </a:solidFill>
                <a:latin typeface="Menlo"/>
              </a:rPr>
              <a:t>95% per step over  10 steps -&gt;  59.9% end to end</a:t>
            </a:r>
          </a:p>
          <a:p>
            <a:pPr algn="l">
              <a:lnSpc>
                <a:spcPct val="100000"/>
              </a:lnSpc>
            </a:pPr>
            <a:r>
              <a:rPr sz="1600" i="0" b="0">
                <a:solidFill>
                  <a:srgbClr val="E2E8F0"/>
                </a:solidFill>
                <a:latin typeface="Menlo"/>
              </a:rPr>
              <a:t>95% per step over 100 steps -&gt;   0.6% end to end</a:t>
            </a:r>
          </a:p>
        </p:txBody>
      </p:sp>
      <p:sp>
        <p:nvSpPr>
          <p:cNvPr id="15" name="Rectangle 14"/>
          <p:cNvSpPr/>
          <p:nvPr/>
        </p:nvSpPr>
        <p:spPr>
          <a:xfrm>
            <a:off x="7580193" y="160477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0233" y="1517904"/>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The model picked the right item.</a:t>
            </a:r>
            <a:r>
              <a:rPr sz="1800" i="0" b="0">
                <a:solidFill>
                  <a:srgbClr val="1E293B"/>
                </a:solidFill>
                <a:latin typeface="Helvetica Neue"/>
              </a:rPr>
              <a:t> The check agrees.</a:t>
            </a:r>
          </a:p>
        </p:txBody>
      </p:sp>
      <p:sp>
        <p:nvSpPr>
          <p:cNvPr id="17" name="Rectangle 16"/>
          <p:cNvSpPr/>
          <p:nvPr/>
        </p:nvSpPr>
        <p:spPr>
          <a:xfrm>
            <a:off x="7580193" y="2345436"/>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0233" y="2258568"/>
            <a:ext cx="3788542" cy="996696"/>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It missed a stockout.</a:t>
            </a:r>
            <a:r>
              <a:rPr sz="1800" i="0" b="0">
                <a:solidFill>
                  <a:srgbClr val="1E293B"/>
                </a:solidFill>
                <a:latin typeface="Helvetica Neue"/>
              </a:rPr>
              <a:t> At peak sales, 80 units short before delivery.</a:t>
            </a:r>
          </a:p>
        </p:txBody>
      </p:sp>
      <p:sp>
        <p:nvSpPr>
          <p:cNvPr id="19" name="Rectangle 18"/>
          <p:cNvSpPr/>
          <p:nvPr/>
        </p:nvSpPr>
        <p:spPr>
          <a:xfrm>
            <a:off x="7580193" y="338785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00233" y="3300984"/>
            <a:ext cx="3788542" cy="996696"/>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Long runs compound.</a:t>
            </a:r>
            <a:r>
              <a:rPr sz="1800" i="0" b="0">
                <a:solidFill>
                  <a:srgbClr val="1E293B"/>
                </a:solidFill>
                <a:latin typeface="Helvetica Neue"/>
              </a:rPr>
              <a:t> Assuming independent steps, 95% each is 60% over ten.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Agent = Model + Context + Tools, run in a loop</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A model is not yet an agent</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notes/01-agent-fundamentals.md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5</a:t>
            </a:r>
          </a:p>
        </p:txBody>
      </p:sp>
      <p:sp>
        <p:nvSpPr>
          <p:cNvPr id="9" name="Rectangle 8"/>
          <p:cNvSpPr/>
          <p:nvPr/>
        </p:nvSpPr>
        <p:spPr>
          <a:xfrm>
            <a:off x="502920" y="5586983"/>
            <a:ext cx="11185855" cy="630936"/>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586983"/>
            <a:ext cx="73152" cy="630936"/>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586983"/>
            <a:ext cx="10728655" cy="630936"/>
          </a:xfrm>
          <a:prstGeom prst="rect">
            <a:avLst/>
          </a:prstGeom>
          <a:noFill/>
        </p:spPr>
        <p:txBody>
          <a:bodyPr wrap="square" lIns="0" rIns="0" tIns="0" bIns="0" anchor="ctr">
            <a:noAutofit/>
          </a:bodyPr>
          <a:lstStyle/>
          <a:p>
            <a:pPr algn="l">
              <a:lnSpc>
                <a:spcPct val="110000"/>
              </a:lnSpc>
            </a:pPr>
            <a:r>
              <a:rPr sz="1200" i="0" b="1">
                <a:solidFill>
                  <a:srgbClr val="1E3A5F"/>
                </a:solidFill>
                <a:latin typeface="Helvetica Neue"/>
              </a:rPr>
              <a:t>An agent is a model that chooses actions from its context and uses tools in a loop, and memory or multi-agent designs are ways to manage those parts.</a:t>
            </a:r>
          </a:p>
        </p:txBody>
      </p:sp>
      <p:sp>
        <p:nvSpPr>
          <p:cNvPr id="12" name="Rectangle 11"/>
          <p:cNvSpPr/>
          <p:nvPr/>
        </p:nvSpPr>
        <p:spPr>
          <a:xfrm>
            <a:off x="448056" y="1417320"/>
            <a:ext cx="6261948" cy="318583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li-ai-agents-in-depth-fig1-1-914697608439795640.png"/>
          <p:cNvPicPr>
            <a:picLocks noChangeAspect="1"/>
          </p:cNvPicPr>
          <p:nvPr/>
        </p:nvPicPr>
        <p:blipFill>
          <a:blip r:embed="rId2"/>
          <a:stretch>
            <a:fillRect/>
          </a:stretch>
        </p:blipFill>
        <p:spPr>
          <a:xfrm>
            <a:off x="502920" y="1472184"/>
            <a:ext cx="6152220" cy="3076110"/>
          </a:xfrm>
          <a:prstGeom prst="rect">
            <a:avLst/>
          </a:prstGeom>
        </p:spPr>
      </p:pic>
      <p:sp>
        <p:nvSpPr>
          <p:cNvPr id="14" name="TextBox 13"/>
          <p:cNvSpPr txBox="1"/>
          <p:nvPr/>
        </p:nvSpPr>
        <p:spPr>
          <a:xfrm>
            <a:off x="502920" y="4685454"/>
            <a:ext cx="6152220" cy="365760"/>
          </a:xfrm>
          <a:prstGeom prst="rect">
            <a:avLst/>
          </a:prstGeom>
          <a:noFill/>
        </p:spPr>
        <p:txBody>
          <a:bodyPr wrap="square" lIns="0" rIns="0" tIns="0" bIns="0" anchor="t">
            <a:noAutofit/>
          </a:bodyPr>
          <a:lstStyle/>
          <a:p>
            <a:pPr algn="ctr">
              <a:lnSpc>
                <a:spcPct val="110000"/>
              </a:lnSpc>
            </a:pPr>
            <a:r>
              <a:rPr sz="1200" i="1" b="0">
                <a:solidFill>
                  <a:srgbClr val="94A3B8"/>
                </a:solidFill>
                <a:latin typeface="Helvetica Neue"/>
              </a:rPr>
              <a:t>The agent-environment loop and the model-harness structure (Bojie Li, AI Agents in Depth, 2026, Fig. 1)</a:t>
            </a:r>
          </a:p>
        </p:txBody>
      </p:sp>
      <p:sp>
        <p:nvSpPr>
          <p:cNvPr id="15" name="Rectangle 14"/>
          <p:cNvSpPr/>
          <p:nvPr/>
        </p:nvSpPr>
        <p:spPr>
          <a:xfrm>
            <a:off x="7020900" y="155905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40940" y="1472184"/>
            <a:ext cx="4347834" cy="393191"/>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Model:</a:t>
            </a:r>
            <a:r>
              <a:rPr sz="1800" i="0" b="0">
                <a:solidFill>
                  <a:srgbClr val="1E293B"/>
                </a:solidFill>
                <a:latin typeface="Helvetica Neue"/>
              </a:rPr>
              <a:t> decides what to do next.</a:t>
            </a:r>
          </a:p>
        </p:txBody>
      </p:sp>
      <p:sp>
        <p:nvSpPr>
          <p:cNvPr id="17" name="Rectangle 16"/>
          <p:cNvSpPr/>
          <p:nvPr/>
        </p:nvSpPr>
        <p:spPr>
          <a:xfrm>
            <a:off x="7020900" y="1997964"/>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40940" y="1911095"/>
            <a:ext cx="4347834"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Context:</a:t>
            </a:r>
            <a:r>
              <a:rPr sz="1800" i="0" b="0">
                <a:solidFill>
                  <a:srgbClr val="1E293B"/>
                </a:solidFill>
                <a:latin typeface="Helvetica Neue"/>
              </a:rPr>
              <a:t> everything it can see when it decides.</a:t>
            </a:r>
          </a:p>
        </p:txBody>
      </p:sp>
      <p:sp>
        <p:nvSpPr>
          <p:cNvPr id="19" name="Rectangle 18"/>
          <p:cNvSpPr/>
          <p:nvPr/>
        </p:nvSpPr>
        <p:spPr>
          <a:xfrm>
            <a:off x="7020900" y="2738628"/>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40940" y="2651760"/>
            <a:ext cx="4347834"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Tools:</a:t>
            </a:r>
            <a:r>
              <a:rPr sz="1800" i="0" b="0">
                <a:solidFill>
                  <a:srgbClr val="1E293B"/>
                </a:solidFill>
                <a:latin typeface="Helvetica Neue"/>
              </a:rPr>
              <a:t> the only way it affects anything.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Remove a part and watch what breaks</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A model is not yet an agent</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notes/01-agent-fundamentals.md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6</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An agent can only decide on what is in its context, so every part of the context is load-bearing.</a:t>
            </a:r>
          </a:p>
        </p:txBody>
      </p:sp>
      <p:graphicFrame>
        <p:nvGraphicFramePr>
          <p:cNvPr id="12" name="Table 11"/>
          <p:cNvGraphicFramePr>
            <a:graphicFrameLocks noGrp="1"/>
          </p:cNvGraphicFramePr>
          <p:nvPr/>
        </p:nvGraphicFramePr>
        <p:xfrm>
          <a:off x="502920" y="1472184"/>
          <a:ext cx="11185854" cy="2286000"/>
        </p:xfrm>
        <a:graphic>
          <a:graphicData uri="http://schemas.openxmlformats.org/drawingml/2006/table">
            <a:tbl>
              <a:tblPr firstRow="1" bandRow="1">
                <a:tableStyleId>{5940675A-B579-460E-94D1-54222C63F5DA}</a:tableStyleId>
              </a:tblPr>
              <a:tblGrid>
                <a:gridCol w="3355756"/>
                <a:gridCol w="7830098"/>
              </a:tblGrid>
              <a:tr h="405384">
                <a:tc>
                  <a:txBody>
                    <a:bodyPr wrap="square"/>
                    <a:lstStyle/>
                    <a:p>
                      <a:pPr>
                        <a:lnSpc>
                          <a:spcPct val="100000"/>
                        </a:lnSpc>
                      </a:pPr>
                      <a:r>
                        <a:rPr sz="1700" i="0" b="1">
                          <a:solidFill>
                            <a:srgbClr val="FFFFFF"/>
                          </a:solidFill>
                          <a:latin typeface="Helvetica Neue"/>
                        </a:rPr>
                        <a:t>Removed</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Observed failure</a:t>
                      </a:r>
                    </a:p>
                  </a:txBody>
                  <a:tcPr marL="109728" marR="109728" marT="54864" marB="54864" anchor="ctr">
                    <a:solidFill>
                      <a:srgbClr val="1E3A5F"/>
                    </a:solidFill>
                  </a:tcPr>
                </a:tc>
              </a:tr>
              <a:tr h="405384">
                <a:tc>
                  <a:txBody>
                    <a:bodyPr wrap="square"/>
                    <a:lstStyle/>
                    <a:p>
                      <a:pPr>
                        <a:lnSpc>
                          <a:spcPct val="100000"/>
                        </a:lnSpc>
                      </a:pPr>
                      <a:r>
                        <a:rPr sz="1700" i="0" b="1">
                          <a:solidFill>
                            <a:srgbClr val="1E293B"/>
                          </a:solidFill>
                          <a:latin typeface="Helvetica Neue"/>
                        </a:rPr>
                        <a:t>Tool definitions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Cannot act at all: it does not know any tools exist</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Tool results</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No feedback, so it repeats the same call forever</a:t>
                      </a:r>
                    </a:p>
                  </a:txBody>
                  <a:tcPr marL="109728" marR="109728" marT="54864" marB="54864" anchor="ctr">
                    <a:solidFill>
                      <a:srgbClr val="E8F4F8"/>
                    </a:solidFill>
                  </a:tcPr>
                </a:tc>
              </a:tr>
              <a:tr h="664464">
                <a:tc>
                  <a:txBody>
                    <a:bodyPr wrap="square"/>
                    <a:lstStyle/>
                    <a:p>
                      <a:pPr>
                        <a:lnSpc>
                          <a:spcPct val="100000"/>
                        </a:lnSpc>
                      </a:pPr>
                      <a:r>
                        <a:rPr sz="1700" i="0" b="1">
                          <a:solidFill>
                            <a:srgbClr val="1E293B"/>
                          </a:solidFill>
                          <a:latin typeface="Helvetica Neue"/>
                        </a:rPr>
                        <a:t>Reasoning in assistant messages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Consecutive decisions contradict each other</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Message history</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Loses continuity, restarts and repeats finished steps</a:t>
                      </a:r>
                    </a:p>
                  </a:txBody>
                  <a:tcPr marL="109728" marR="109728" marT="54864" marB="54864" anchor="ctr">
                    <a:solidFill>
                      <a:srgbClr val="F8FAFC"/>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Climb the ladder only as far as you need</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1 · A model is not yet an agent</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notes/01-agent-fundamentals.md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7</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300" i="0" b="1">
                <a:solidFill>
                  <a:srgbClr val="1E3A5F"/>
                </a:solidFill>
                <a:latin typeface="Helvetica Neue"/>
              </a:rPr>
              <a:t>Prefer plain code, then a workflow, and use an autonomous agent only when the path depends on what it finds along the way.</a:t>
            </a:r>
          </a:p>
        </p:txBody>
      </p:sp>
      <p:sp>
        <p:nvSpPr>
          <p:cNvPr id="12" name="Rectangle 11"/>
          <p:cNvSpPr/>
          <p:nvPr/>
        </p:nvSpPr>
        <p:spPr>
          <a:xfrm>
            <a:off x="502920"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472184"/>
            <a:ext cx="5410047" cy="557784"/>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472184"/>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Workflow</a:t>
            </a:r>
          </a:p>
        </p:txBody>
      </p:sp>
      <p:sp>
        <p:nvSpPr>
          <p:cNvPr id="15" name="Rectangle 14"/>
          <p:cNvSpPr/>
          <p:nvPr/>
        </p:nvSpPr>
        <p:spPr>
          <a:xfrm>
            <a:off x="731520" y="2313178"/>
            <a:ext cx="90678" cy="90678"/>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2231136"/>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Steps cannot be skipped or reordered</a:t>
            </a:r>
          </a:p>
        </p:txBody>
      </p:sp>
      <p:sp>
        <p:nvSpPr>
          <p:cNvPr id="17" name="Rectangle 16"/>
          <p:cNvSpPr/>
          <p:nvPr/>
        </p:nvSpPr>
        <p:spPr>
          <a:xfrm>
            <a:off x="731520" y="2727706"/>
            <a:ext cx="90678" cy="90678"/>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2645664"/>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Injection is confined to one node</a:t>
            </a:r>
          </a:p>
        </p:txBody>
      </p:sp>
      <p:sp>
        <p:nvSpPr>
          <p:cNvPr id="19" name="Rectangle 18"/>
          <p:cNvSpPr/>
          <p:nvPr/>
        </p:nvSpPr>
        <p:spPr>
          <a:xfrm>
            <a:off x="731520" y="3142234"/>
            <a:ext cx="90678" cy="90678"/>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3060192"/>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Follows only preset exception branches</a:t>
            </a:r>
          </a:p>
        </p:txBody>
      </p:sp>
      <p:sp>
        <p:nvSpPr>
          <p:cNvPr id="21" name="Rectangle 20"/>
          <p:cNvSpPr/>
          <p:nvPr/>
        </p:nvSpPr>
        <p:spPr>
          <a:xfrm>
            <a:off x="731520" y="3556761"/>
            <a:ext cx="90678" cy="90678"/>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1560" y="3474720"/>
            <a:ext cx="4587087" cy="661416"/>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Fits:</a:t>
            </a:r>
            <a:r>
              <a:rPr sz="1700" i="0" b="0">
                <a:solidFill>
                  <a:srgbClr val="1E293B"/>
                </a:solidFill>
                <a:latin typeface="Helvetica Neue"/>
              </a:rPr>
              <a:t> compliance-critical, decomposable work</a:t>
            </a:r>
          </a:p>
        </p:txBody>
      </p:sp>
      <p:sp>
        <p:nvSpPr>
          <p:cNvPr id="23" name="Rectangle 22"/>
          <p:cNvSpPr/>
          <p:nvPr/>
        </p:nvSpPr>
        <p:spPr>
          <a:xfrm>
            <a:off x="685800"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Fixed path</a:t>
            </a:r>
          </a:p>
        </p:txBody>
      </p:sp>
      <p:sp>
        <p:nvSpPr>
          <p:cNvPr id="25" name="Rectangle 24"/>
          <p:cNvSpPr/>
          <p:nvPr/>
        </p:nvSpPr>
        <p:spPr>
          <a:xfrm>
            <a:off x="6278727"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78727" y="1472184"/>
            <a:ext cx="5410047" cy="557784"/>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07327" y="1472184"/>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Autonomous agent</a:t>
            </a:r>
          </a:p>
        </p:txBody>
      </p:sp>
      <p:sp>
        <p:nvSpPr>
          <p:cNvPr id="28" name="Rectangle 27"/>
          <p:cNvSpPr/>
          <p:nvPr/>
        </p:nvSpPr>
        <p:spPr>
          <a:xfrm>
            <a:off x="6507327" y="2313178"/>
            <a:ext cx="90678" cy="90678"/>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27367" y="2231136"/>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Handles what you did not foresee</a:t>
            </a:r>
          </a:p>
        </p:txBody>
      </p:sp>
      <p:sp>
        <p:nvSpPr>
          <p:cNvPr id="30" name="Rectangle 29"/>
          <p:cNvSpPr/>
          <p:nvPr/>
        </p:nvSpPr>
        <p:spPr>
          <a:xfrm>
            <a:off x="6507327" y="2727706"/>
            <a:ext cx="90678" cy="90678"/>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27367" y="2645664"/>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Costs more, and errors compound</a:t>
            </a:r>
          </a:p>
        </p:txBody>
      </p:sp>
      <p:sp>
        <p:nvSpPr>
          <p:cNvPr id="32" name="Rectangle 31"/>
          <p:cNvSpPr/>
          <p:nvPr/>
        </p:nvSpPr>
        <p:spPr>
          <a:xfrm>
            <a:off x="6507327" y="3142234"/>
            <a:ext cx="90678" cy="90678"/>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27367" y="3060192"/>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Needs explicit stop conditions</a:t>
            </a:r>
          </a:p>
        </p:txBody>
      </p:sp>
      <p:sp>
        <p:nvSpPr>
          <p:cNvPr id="34" name="Rectangle 33"/>
          <p:cNvSpPr/>
          <p:nvPr/>
        </p:nvSpPr>
        <p:spPr>
          <a:xfrm>
            <a:off x="6507327" y="3556761"/>
            <a:ext cx="90678" cy="90678"/>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7367" y="3474720"/>
            <a:ext cx="4587087" cy="661416"/>
          </a:xfrm>
          <a:prstGeom prst="rect">
            <a:avLst/>
          </a:prstGeom>
          <a:noFill/>
        </p:spPr>
        <p:txBody>
          <a:bodyPr wrap="square" lIns="0" rIns="0" tIns="0" bIns="0" anchor="t">
            <a:noAutofit/>
          </a:bodyPr>
          <a:lstStyle/>
          <a:p>
            <a:pPr algn="l">
              <a:lnSpc>
                <a:spcPct val="110000"/>
              </a:lnSpc>
            </a:pPr>
            <a:r>
              <a:rPr sz="1700" i="0" b="1">
                <a:solidFill>
                  <a:srgbClr val="1E293B"/>
                </a:solidFill>
                <a:latin typeface="Helvetica Neue"/>
              </a:rPr>
              <a:t>Fits:</a:t>
            </a:r>
            <a:r>
              <a:rPr sz="1700" i="0" b="0">
                <a:solidFill>
                  <a:srgbClr val="1E293B"/>
                </a:solidFill>
                <a:latin typeface="Helvetica Neue"/>
              </a:rPr>
              <a:t> tasks with unpredictable step counts</a:t>
            </a:r>
          </a:p>
        </p:txBody>
      </p:sp>
      <p:sp>
        <p:nvSpPr>
          <p:cNvPr id="36" name="Rectangle 35"/>
          <p:cNvSpPr/>
          <p:nvPr/>
        </p:nvSpPr>
        <p:spPr>
          <a:xfrm>
            <a:off x="6461607"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53047"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Path chosen at runtime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D4621A"/>
                </a:solidFill>
                <a:latin typeface="Helvetica Neue"/>
              </a:rPr>
              <a:t>PART 2</a:t>
            </a:r>
          </a:p>
        </p:txBody>
      </p:sp>
      <p:sp>
        <p:nvSpPr>
          <p:cNvPr id="4" name="TextBox 3"/>
          <p:cNvSpPr txBox="1"/>
          <p:nvPr/>
        </p:nvSpPr>
        <p:spPr>
          <a:xfrm>
            <a:off x="822960" y="1965960"/>
            <a:ext cx="5486400" cy="18592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A model cannot touch anything</a:t>
            </a:r>
          </a:p>
        </p:txBody>
      </p:sp>
      <p:sp>
        <p:nvSpPr>
          <p:cNvPr id="5" name="TextBox 4"/>
          <p:cNvSpPr txBox="1"/>
          <p:nvPr/>
        </p:nvSpPr>
        <p:spPr>
          <a:xfrm>
            <a:off x="822960" y="3916680"/>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The tool-call mechanism · The raw loop · Limits of reasoning · Reliable tools · Injection</a:t>
            </a:r>
          </a:p>
        </p:txBody>
      </p:sp>
      <p:cxnSp>
        <p:nvCxnSpPr>
          <p:cNvPr id="6" name="Connector 5"/>
          <p:cNvCxnSpPr/>
          <p:nvPr/>
        </p:nvCxnSpPr>
        <p:spPr>
          <a:xfrm>
            <a:off x="6446520" y="2273935"/>
            <a:ext cx="0" cy="231013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2273935"/>
            <a:ext cx="4693615" cy="2493010"/>
          </a:xfrm>
          <a:prstGeom prst="rect">
            <a:avLst/>
          </a:prstGeom>
          <a:noFill/>
        </p:spPr>
        <p:txBody>
          <a:bodyPr wrap="square" lIns="0" rIns="0" tIns="0" bIns="0" anchor="t">
            <a:noAutofit/>
          </a:bodyPr>
          <a:lstStyle/>
          <a:p>
            <a:pPr algn="l">
              <a:lnSpc>
                <a:spcPct val="100000"/>
              </a:lnSpc>
            </a:pPr>
            <a:r>
              <a:rPr sz="1700" i="0" b="0">
                <a:solidFill>
                  <a:srgbClr val="CBD5E1"/>
                </a:solidFill>
                <a:latin typeface="Helvetica Neue"/>
              </a:rPr>
              <a:t>How does a text generator place an order?</a:t>
            </a:r>
          </a:p>
          <a:p>
            <a:pPr algn="l">
              <a:lnSpc>
                <a:spcPct val="100000"/>
              </a:lnSpc>
              <a:spcBef>
                <a:spcPts val="1189"/>
              </a:spcBef>
            </a:pPr>
            <a:r>
              <a:rPr sz="1700" i="0" b="0">
                <a:solidFill>
                  <a:srgbClr val="CBD5E1"/>
                </a:solidFill>
                <a:latin typeface="Helvetica Neue"/>
              </a:rPr>
              <a:t>Four steps under every framework</a:t>
            </a:r>
          </a:p>
          <a:p>
            <a:pPr algn="l">
              <a:lnSpc>
                <a:spcPct val="100000"/>
              </a:lnSpc>
              <a:spcBef>
                <a:spcPts val="1189"/>
              </a:spcBef>
            </a:pPr>
            <a:r>
              <a:rPr sz="1700" i="0" b="0">
                <a:solidFill>
                  <a:srgbClr val="CBD5E1"/>
                </a:solidFill>
                <a:latin typeface="Helvetica Neue"/>
              </a:rPr>
              <a:t>The whole agent in one screen</a:t>
            </a:r>
          </a:p>
          <a:p>
            <a:pPr algn="l">
              <a:lnSpc>
                <a:spcPct val="100000"/>
              </a:lnSpc>
              <a:spcBef>
                <a:spcPts val="1189"/>
              </a:spcBef>
            </a:pPr>
            <a:r>
              <a:rPr sz="1700" i="0" b="0">
                <a:solidFill>
                  <a:srgbClr val="CBD5E1"/>
                </a:solidFill>
                <a:latin typeface="Helvetica Neue"/>
              </a:rPr>
              <a:t>What reasoning steps cannot fix</a:t>
            </a:r>
          </a:p>
          <a:p>
            <a:pPr algn="l">
              <a:lnSpc>
                <a:spcPct val="100000"/>
              </a:lnSpc>
              <a:spcBef>
                <a:spcPts val="1189"/>
              </a:spcBef>
            </a:pPr>
            <a:r>
              <a:rPr sz="1700" i="0" b="0">
                <a:solidFill>
                  <a:srgbClr val="CBD5E1"/>
                </a:solidFill>
                <a:latin typeface="Helvetica Neue"/>
              </a:rPr>
              <a:t>What makes tool calls reliable</a:t>
            </a:r>
          </a:p>
          <a:p>
            <a:pPr algn="l">
              <a:lnSpc>
                <a:spcPct val="100000"/>
              </a:lnSpc>
              <a:spcBef>
                <a:spcPts val="1189"/>
              </a:spcBef>
            </a:pPr>
            <a:r>
              <a:rPr sz="1700" i="0" b="0">
                <a:solidFill>
                  <a:srgbClr val="CBD5E1"/>
                </a:solidFill>
                <a:latin typeface="Helvetica Neue"/>
              </a:rPr>
              <a:t>Tool output is untrusted input</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700" i="0" b="1">
                <a:solidFill>
                  <a:srgbClr val="FFFFFF"/>
                </a:solidFill>
                <a:latin typeface="Helvetica Neue"/>
              </a:rPr>
              <a:t>How does a text generator place an order?</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D4621A"/>
                </a:solidFill>
                <a:latin typeface="Helvetica Neue"/>
              </a:rPr>
              <a:t>The problem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A model cannot touch anything</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notes/02-tool-use-and-react.md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9</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500" i="0" b="1">
                <a:solidFill>
                  <a:srgbClr val="1E3A5F"/>
                </a:solidFill>
                <a:latin typeface="Helvetica Neue"/>
              </a:rPr>
              <a:t>The model only proposes tool calls, and your code runs them, which is what makes the boundary enforceable.</a:t>
            </a:r>
          </a:p>
        </p:txBody>
      </p:sp>
      <p:sp>
        <p:nvSpPr>
          <p:cNvPr id="13" name="Rectangle 12"/>
          <p:cNvSpPr/>
          <p:nvPr/>
        </p:nvSpPr>
        <p:spPr>
          <a:xfrm>
            <a:off x="777240" y="2299716"/>
            <a:ext cx="109728" cy="235915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2299716"/>
            <a:ext cx="10088575" cy="1993392"/>
          </a:xfrm>
          <a:prstGeom prst="rect">
            <a:avLst/>
          </a:prstGeom>
          <a:noFill/>
        </p:spPr>
        <p:txBody>
          <a:bodyPr wrap="square" lIns="0" rIns="0" tIns="0" bIns="0" anchor="t">
            <a:noAutofit/>
          </a:bodyPr>
          <a:lstStyle/>
          <a:p>
            <a:pPr algn="l">
              <a:lnSpc>
                <a:spcPct val="105000"/>
              </a:lnSpc>
            </a:pPr>
            <a:r>
              <a:rPr sz="3600" i="0" b="1">
                <a:solidFill>
                  <a:srgbClr val="1E3A5F"/>
                </a:solidFill>
                <a:latin typeface="Helvetica Neue"/>
              </a:rPr>
              <a:t>It does not. The model proposes a call as text. Your code decides whether and how to run it.</a:t>
            </a:r>
          </a:p>
        </p:txBody>
      </p:sp>
      <p:sp>
        <p:nvSpPr>
          <p:cNvPr id="15" name="TextBox 14"/>
          <p:cNvSpPr txBox="1"/>
          <p:nvPr/>
        </p:nvSpPr>
        <p:spPr>
          <a:xfrm>
            <a:off x="1234440" y="4247388"/>
            <a:ext cx="10088575" cy="365760"/>
          </a:xfrm>
          <a:prstGeom prst="rect">
            <a:avLst/>
          </a:prstGeom>
          <a:noFill/>
        </p:spPr>
        <p:txBody>
          <a:bodyPr wrap="square" lIns="0" rIns="0" tIns="0" bIns="0" anchor="t">
            <a:noAutofit/>
          </a:bodyPr>
          <a:lstStyle/>
          <a:p>
            <a:pPr algn="l">
              <a:lnSpc>
                <a:spcPct val="110000"/>
              </a:lnSpc>
            </a:pPr>
            <a:r>
              <a:rPr sz="1700" i="1" b="0">
                <a:solidFill>
                  <a:srgbClr val="475569"/>
                </a:solidFill>
                <a:latin typeface="Helvetica Neue"/>
              </a:rPr>
              <a:t>The mechanism under every agent framework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Four steps under every framework</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A model cannot touch anything</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notes/02-tool-use-and-react.md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10</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400" i="0" b="1">
                <a:solidFill>
                  <a:srgbClr val="1E3A5F"/>
                </a:solidFill>
                <a:latin typeface="Helvetica Neue"/>
              </a:rPr>
              <a:t>Advertise, decide, execute and observe repeat until the model answers without a call or a step budget ends the run.</a:t>
            </a:r>
          </a:p>
        </p:txBody>
      </p:sp>
      <p:sp>
        <p:nvSpPr>
          <p:cNvPr id="12" name="Rounded Rectangle 11"/>
          <p:cNvSpPr/>
          <p:nvPr/>
        </p:nvSpPr>
        <p:spPr>
          <a:xfrm>
            <a:off x="586587" y="1563624"/>
            <a:ext cx="2377440" cy="1205484"/>
          </a:xfrm>
          <a:prstGeom prst="roundRect">
            <a:avLst>
              <a:gd name="adj" fmla="val 12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3747" y="1563624"/>
            <a:ext cx="2103120"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Advertise</a:t>
            </a:r>
          </a:p>
          <a:p>
            <a:pPr algn="ctr">
              <a:lnSpc>
                <a:spcPct val="110000"/>
              </a:lnSpc>
            </a:pPr>
            <a:r>
              <a:rPr sz="1300" i="0" b="0">
                <a:solidFill>
                  <a:srgbClr val="E8F4F8"/>
                </a:solidFill>
                <a:latin typeface="Helvetica Neue"/>
              </a:rPr>
              <a:t>client: name, description, schema</a:t>
            </a:r>
          </a:p>
        </p:txBody>
      </p:sp>
      <p:cxnSp>
        <p:nvCxnSpPr>
          <p:cNvPr id="14" name="Connector 13"/>
          <p:cNvCxnSpPr/>
          <p:nvPr/>
        </p:nvCxnSpPr>
        <p:spPr>
          <a:xfrm>
            <a:off x="3018891" y="216636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466947" y="1563624"/>
            <a:ext cx="2377440" cy="1205484"/>
          </a:xfrm>
          <a:prstGeom prst="roundRect">
            <a:avLst>
              <a:gd name="adj" fmla="val 12000"/>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4107" y="1563624"/>
            <a:ext cx="2103120"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Decide</a:t>
            </a:r>
          </a:p>
          <a:p>
            <a:pPr algn="ctr">
              <a:lnSpc>
                <a:spcPct val="110000"/>
              </a:lnSpc>
            </a:pPr>
            <a:r>
              <a:rPr sz="1300" i="0" b="0">
                <a:solidFill>
                  <a:srgbClr val="E8F4F8"/>
                </a:solidFill>
                <a:latin typeface="Helvetica Neue"/>
              </a:rPr>
              <a:t>model: text or a tool call</a:t>
            </a:r>
          </a:p>
        </p:txBody>
      </p:sp>
      <p:cxnSp>
        <p:nvCxnSpPr>
          <p:cNvPr id="17" name="Connector 16"/>
          <p:cNvCxnSpPr/>
          <p:nvPr/>
        </p:nvCxnSpPr>
        <p:spPr>
          <a:xfrm>
            <a:off x="5899251" y="216636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347307" y="1563624"/>
            <a:ext cx="2377440" cy="1205484"/>
          </a:xfrm>
          <a:prstGeom prst="roundRect">
            <a:avLst>
              <a:gd name="adj" fmla="val 12000"/>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84467" y="1563624"/>
            <a:ext cx="2103120"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Execute</a:t>
            </a:r>
          </a:p>
          <a:p>
            <a:pPr algn="ctr">
              <a:lnSpc>
                <a:spcPct val="110000"/>
              </a:lnSpc>
            </a:pPr>
            <a:r>
              <a:rPr sz="1300" i="0" b="0">
                <a:solidFill>
                  <a:srgbClr val="E8F4F8"/>
                </a:solidFill>
                <a:latin typeface="Helvetica Neue"/>
              </a:rPr>
              <a:t>client: your code runs it</a:t>
            </a:r>
          </a:p>
        </p:txBody>
      </p:sp>
      <p:cxnSp>
        <p:nvCxnSpPr>
          <p:cNvPr id="20" name="Connector 19"/>
          <p:cNvCxnSpPr/>
          <p:nvPr/>
        </p:nvCxnSpPr>
        <p:spPr>
          <a:xfrm>
            <a:off x="8779611" y="216636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227667" y="1563624"/>
            <a:ext cx="2377440" cy="1205484"/>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4827" y="1563624"/>
            <a:ext cx="2103120"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Observe</a:t>
            </a:r>
          </a:p>
          <a:p>
            <a:pPr algn="ctr">
              <a:lnSpc>
                <a:spcPct val="110000"/>
              </a:lnSpc>
            </a:pPr>
            <a:r>
              <a:rPr sz="1300" i="0" b="0">
                <a:solidFill>
                  <a:srgbClr val="E8F4F8"/>
                </a:solidFill>
                <a:latin typeface="Helvetica Neue"/>
              </a:rPr>
              <a:t>client: result goes back to the model</a:t>
            </a:r>
          </a:p>
        </p:txBody>
      </p:sp>
      <p:cxnSp>
        <p:nvCxnSpPr>
          <p:cNvPr id="23" name="Connector 22"/>
          <p:cNvCxnSpPr/>
          <p:nvPr/>
        </p:nvCxnSpPr>
        <p:spPr>
          <a:xfrm>
            <a:off x="10416387" y="2769108"/>
            <a:ext cx="0" cy="411480"/>
          </a:xfrm>
          <a:prstGeom prst="line">
            <a:avLst/>
          </a:prstGeom>
          <a:ln w="22225">
            <a:solidFill>
              <a:srgbClr val="16653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1775307" y="3180588"/>
            <a:ext cx="8641080" cy="0"/>
          </a:xfrm>
          <a:prstGeom prst="line">
            <a:avLst/>
          </a:prstGeom>
          <a:ln w="22225">
            <a:solidFill>
              <a:srgbClr val="166534"/>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775307" y="2805684"/>
            <a:ext cx="0" cy="374904"/>
          </a:xfrm>
          <a:prstGeom prst="line">
            <a:avLst/>
          </a:prstGeom>
          <a:ln w="22225">
            <a:solidFill>
              <a:srgbClr val="16653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1775307" y="3217164"/>
            <a:ext cx="8641080" cy="320040"/>
          </a:xfrm>
          <a:prstGeom prst="rect">
            <a:avLst/>
          </a:prstGeom>
          <a:noFill/>
        </p:spPr>
        <p:txBody>
          <a:bodyPr wrap="square" lIns="0" rIns="0" tIns="0" bIns="0" anchor="t">
            <a:noAutofit/>
          </a:bodyPr>
          <a:lstStyle/>
          <a:p>
            <a:pPr algn="ctr">
              <a:lnSpc>
                <a:spcPct val="110000"/>
              </a:lnSpc>
            </a:pPr>
            <a:r>
              <a:rPr sz="1300" i="1" b="0">
                <a:solidFill>
                  <a:srgbClr val="166534"/>
                </a:solidFill>
                <a:latin typeface="Helvetica Neue"/>
              </a:rPr>
              <a:t>Repeat from Decide until the model answers without a call, or a budget runs out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The whole agent in one screen</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A model cannot touch anything</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notes/01-agent-fundamentals.md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11</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200" i="0" b="1">
                <a:solidFill>
                  <a:srgbClr val="1E3A5F"/>
                </a:solidFill>
                <a:latin typeface="Helvetica Neue"/>
              </a:rPr>
              <a:t>A minimal agent is a capped loop that runs tool calls and feeds back the results, ending in a wrap-up rather than a silent cutoff.</a:t>
            </a:r>
          </a:p>
        </p:txBody>
      </p:sp>
      <p:sp>
        <p:nvSpPr>
          <p:cNvPr id="12" name="Rounded Rectangle 11"/>
          <p:cNvSpPr/>
          <p:nvPr/>
        </p:nvSpPr>
        <p:spPr>
          <a:xfrm>
            <a:off x="502920" y="1472184"/>
            <a:ext cx="6711513" cy="31242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PYTHON</a:t>
            </a:r>
          </a:p>
        </p:txBody>
      </p:sp>
      <p:sp>
        <p:nvSpPr>
          <p:cNvPr id="14" name="TextBox 13"/>
          <p:cNvSpPr txBox="1"/>
          <p:nvPr/>
        </p:nvSpPr>
        <p:spPr>
          <a:xfrm>
            <a:off x="731520" y="1883664"/>
            <a:ext cx="6254313" cy="248411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for step in range(max_steps):</a:t>
            </a:r>
          </a:p>
          <a:p>
            <a:pPr algn="l">
              <a:lnSpc>
                <a:spcPct val="100000"/>
              </a:lnSpc>
            </a:pPr>
            <a:r>
              <a:rPr sz="1600" i="0" b="0">
                <a:solidFill>
                  <a:srgbClr val="E2E8F0"/>
                </a:solidFill>
                <a:latin typeface="Menlo"/>
              </a:rPr>
              <a:t>    reply = model(messages, tools=TOOLS)</a:t>
            </a:r>
          </a:p>
          <a:p>
            <a:pPr algn="l">
              <a:lnSpc>
                <a:spcPct val="100000"/>
              </a:lnSpc>
            </a:pPr>
            <a:r>
              <a:rPr sz="1600" i="0" b="0">
                <a:solidFill>
                  <a:srgbClr val="E2E8F0"/>
                </a:solidFill>
                <a:latin typeface="Menlo"/>
              </a:rPr>
              <a:t>    messages.append(reply)</a:t>
            </a:r>
          </a:p>
          <a:p>
            <a:pPr algn="l">
              <a:lnSpc>
                <a:spcPct val="100000"/>
              </a:lnSpc>
            </a:pPr>
            <a:r>
              <a:rPr sz="1600" i="0" b="0">
                <a:solidFill>
                  <a:srgbClr val="E2E8F0"/>
                </a:solidFill>
                <a:latin typeface="Menlo"/>
              </a:rPr>
              <a:t>    if not reply.tool_calls:</a:t>
            </a:r>
          </a:p>
          <a:p>
            <a:pPr algn="l">
              <a:lnSpc>
                <a:spcPct val="100000"/>
              </a:lnSpc>
            </a:pPr>
            <a:r>
              <a:rPr sz="1600" i="0" b="0">
                <a:solidFill>
                  <a:srgbClr val="E2E8F0"/>
                </a:solidFill>
                <a:latin typeface="Menlo"/>
              </a:rPr>
              <a:t>        return reply.text</a:t>
            </a:r>
          </a:p>
          <a:p>
            <a:pPr algn="l">
              <a:lnSpc>
                <a:spcPct val="100000"/>
              </a:lnSpc>
            </a:pPr>
            <a:r>
              <a:rPr sz="1600" i="0" b="0">
                <a:solidFill>
                  <a:srgbClr val="E2E8F0"/>
                </a:solidFill>
                <a:latin typeface="Menlo"/>
              </a:rPr>
              <a:t>    for call in reply.tool_calls:</a:t>
            </a:r>
          </a:p>
          <a:p>
            <a:pPr algn="l">
              <a:lnSpc>
                <a:spcPct val="100000"/>
              </a:lnSpc>
            </a:pPr>
            <a:r>
              <a:rPr sz="1600" i="0" b="0">
                <a:solidFill>
                  <a:srgbClr val="E2E8F0"/>
                </a:solidFill>
                <a:latin typeface="Menlo"/>
              </a:rPr>
              <a:t>        result = TOOLS[call.name](**call.args)</a:t>
            </a:r>
          </a:p>
          <a:p>
            <a:pPr algn="l">
              <a:lnSpc>
                <a:spcPct val="100000"/>
              </a:lnSpc>
            </a:pPr>
            <a:r>
              <a:rPr sz="1600" i="0" b="0">
                <a:solidFill>
                  <a:srgbClr val="E2E8F0"/>
                </a:solidFill>
                <a:latin typeface="Menlo"/>
              </a:rPr>
              <a:t>        messages.append(tool_result(call, result))</a:t>
            </a:r>
          </a:p>
          <a:p>
            <a:pPr algn="l">
              <a:lnSpc>
                <a:spcPct val="100000"/>
              </a:lnSpc>
            </a:pPr>
            <a:r>
              <a:rPr sz="1600" i="0" b="0">
                <a:solidFill>
                  <a:srgbClr val="E2E8F0"/>
                </a:solidFill>
                <a:latin typeface="Menlo"/>
              </a:rPr>
              <a:t># out of budget: ask for a wrap-up, no tools</a:t>
            </a:r>
          </a:p>
          <a:p>
            <a:pPr algn="l">
              <a:lnSpc>
                <a:spcPct val="100000"/>
              </a:lnSpc>
            </a:pPr>
            <a:r>
              <a:rPr sz="1600" i="0" b="0">
                <a:solidFill>
                  <a:srgbClr val="E2E8F0"/>
                </a:solidFill>
                <a:latin typeface="Menlo"/>
              </a:rPr>
              <a:t>return model(messages, tools=[]).text</a:t>
            </a:r>
          </a:p>
        </p:txBody>
      </p:sp>
      <p:sp>
        <p:nvSpPr>
          <p:cNvPr id="15" name="Rectangle 14"/>
          <p:cNvSpPr/>
          <p:nvPr/>
        </p:nvSpPr>
        <p:spPr>
          <a:xfrm>
            <a:off x="7580193" y="1604772"/>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0233" y="1517904"/>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Results go back in:</a:t>
            </a:r>
            <a:r>
              <a:rPr sz="1800" i="0" b="0">
                <a:solidFill>
                  <a:srgbClr val="1E293B"/>
                </a:solidFill>
                <a:latin typeface="Helvetica Neue"/>
              </a:rPr>
              <a:t> that is the feedback.</a:t>
            </a:r>
          </a:p>
        </p:txBody>
      </p:sp>
      <p:sp>
        <p:nvSpPr>
          <p:cNvPr id="17" name="Rectangle 16"/>
          <p:cNvSpPr/>
          <p:nvPr/>
        </p:nvSpPr>
        <p:spPr>
          <a:xfrm>
            <a:off x="7580193" y="2345436"/>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0233" y="2258568"/>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The cap is not optional:</a:t>
            </a:r>
            <a:r>
              <a:rPr sz="1800" i="0" b="0">
                <a:solidFill>
                  <a:srgbClr val="1E293B"/>
                </a:solidFill>
                <a:latin typeface="Helvetica Neue"/>
              </a:rPr>
              <a:t> agents rarely stop on their own.</a:t>
            </a:r>
          </a:p>
        </p:txBody>
      </p:sp>
      <p:sp>
        <p:nvSpPr>
          <p:cNvPr id="19" name="Rectangle 18"/>
          <p:cNvSpPr/>
          <p:nvPr/>
        </p:nvSpPr>
        <p:spPr>
          <a:xfrm>
            <a:off x="7580193" y="3086100"/>
            <a:ext cx="96012" cy="96012"/>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00233" y="2999232"/>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Make the last step a wrap-up,</a:t>
            </a:r>
            <a:r>
              <a:rPr sz="1800" i="0" b="0">
                <a:solidFill>
                  <a:srgbClr val="1E293B"/>
                </a:solidFill>
                <a:latin typeface="Helvetica Neue"/>
              </a:rPr>
              <a:t> not a silent cutoff.</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What reasoning steps cannot fix</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A model cannot touch anything</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notes/02-tool-use-and-react.md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12</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200" i="0" b="1">
                <a:solidFill>
                  <a:srgbClr val="1E3A5F"/>
                </a:solidFill>
                <a:latin typeface="Helvetica Neue"/>
              </a:rPr>
              <a:t>Reasoning helps a model apply a rule it knows, but missing facts and exact arithmetic need tools, so more thinking will not fix them.</a:t>
            </a:r>
          </a:p>
        </p:txBody>
      </p:sp>
      <p:graphicFrame>
        <p:nvGraphicFramePr>
          <p:cNvPr id="12" name="Table 11"/>
          <p:cNvGraphicFramePr>
            <a:graphicFrameLocks noGrp="1"/>
          </p:cNvGraphicFramePr>
          <p:nvPr/>
        </p:nvGraphicFramePr>
        <p:xfrm>
          <a:off x="502920" y="1472184"/>
          <a:ext cx="11185853" cy="2398776"/>
        </p:xfrm>
        <a:graphic>
          <a:graphicData uri="http://schemas.openxmlformats.org/drawingml/2006/table">
            <a:tbl>
              <a:tblPr firstRow="1" bandRow="1">
                <a:tableStyleId>{5940675A-B579-460E-94D1-54222C63F5DA}</a:tableStyleId>
              </a:tblPr>
              <a:tblGrid>
                <a:gridCol w="3050687"/>
                <a:gridCol w="5084479"/>
                <a:gridCol w="3050687"/>
              </a:tblGrid>
              <a:tr h="405384">
                <a:tc>
                  <a:txBody>
                    <a:bodyPr wrap="square"/>
                    <a:lstStyle/>
                    <a:p>
                      <a:pPr>
                        <a:lnSpc>
                          <a:spcPct val="100000"/>
                        </a:lnSpc>
                      </a:pPr>
                      <a:r>
                        <a:rPr sz="1700" i="0" b="1">
                          <a:solidFill>
                            <a:srgbClr val="FFFFFF"/>
                          </a:solidFill>
                          <a:latin typeface="Helvetica Neue"/>
                        </a:rPr>
                        <a:t>CoT fails on</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Their example</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The fix</a:t>
                      </a:r>
                    </a:p>
                  </a:txBody>
                  <a:tcPr marL="109728" marR="109728" marT="54864" marB="54864" anchor="ctr">
                    <a:solidFill>
                      <a:srgbClr val="1E3A5F"/>
                    </a:solidFill>
                  </a:tcPr>
                </a:tc>
              </a:tr>
              <a:tr h="664464">
                <a:tc>
                  <a:txBody>
                    <a:bodyPr wrap="square"/>
                    <a:lstStyle/>
                    <a:p>
                      <a:pPr>
                        <a:lnSpc>
                          <a:spcPct val="100000"/>
                        </a:lnSpc>
                      </a:pPr>
                      <a:r>
                        <a:rPr sz="1700" i="0" b="1">
                          <a:solidFill>
                            <a:srgbClr val="1E293B"/>
                          </a:solidFill>
                          <a:latin typeface="Helvetica Neue"/>
                        </a:rPr>
                        <a:t>Gaps in knowledge</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300 km west of Hyderabad: confident steps, wrong city</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Supply the fact: a tool</a:t>
                      </a:r>
                    </a:p>
                  </a:txBody>
                  <a:tcPr marL="109728" marR="109728" marT="54864" marB="54864" anchor="ctr">
                    <a:solidFill>
                      <a:srgbClr val="FFFFFF"/>
                    </a:solidFill>
                  </a:tcPr>
                </a:tc>
              </a:tr>
              <a:tr h="664464">
                <a:tc>
                  <a:txBody>
                    <a:bodyPr wrap="square"/>
                    <a:lstStyle/>
                    <a:p>
                      <a:pPr>
                        <a:lnSpc>
                          <a:spcPct val="100000"/>
                        </a:lnSpc>
                      </a:pPr>
                      <a:r>
                        <a:rPr sz="1700" i="0" b="1">
                          <a:solidFill>
                            <a:srgbClr val="1E293B"/>
                          </a:solidFill>
                          <a:latin typeface="Helvetica Neue"/>
                        </a:rPr>
                        <a:t>Exact computation</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84 m² × 10.7639 written as 903.20; true product 904.1676</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A calculator or code tool</a:t>
                      </a:r>
                    </a:p>
                  </a:txBody>
                  <a:tcPr marL="109728" marR="109728" marT="54864" marB="54864" anchor="ctr">
                    <a:solidFill>
                      <a:srgbClr val="F8FAFC"/>
                    </a:solidFill>
                  </a:tcPr>
                </a:tc>
              </a:tr>
              <a:tr h="664464">
                <a:tc>
                  <a:txBody>
                    <a:bodyPr wrap="square"/>
                    <a:lstStyle/>
                    <a:p>
                      <a:pPr>
                        <a:lnSpc>
                          <a:spcPct val="100000"/>
                        </a:lnSpc>
                      </a:pPr>
                      <a:r>
                        <a:rPr sz="1700" i="0" b="1">
                          <a:solidFill>
                            <a:srgbClr val="1E293B"/>
                          </a:solidFill>
                          <a:latin typeface="Helvetica Neue"/>
                        </a:rPr>
                        <a:t>Non-sequential expertise</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Bridge play: experts weigh the whole hand</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Expert examples or a specialist model</a:t>
                      </a:r>
                    </a:p>
                  </a:txBody>
                  <a:tcPr marL="109728" marR="109728" marT="54864" marB="54864" anchor="ctr">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What makes tool calls reliable</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A model cannot touch anything</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notes/02-tool-use-and-react.md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13</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200" i="0" b="1">
                <a:solidFill>
                  <a:srgbClr val="1E3A5F"/>
                </a:solidFill>
                <a:latin typeface="Helvetica Neue"/>
              </a:rPr>
              <a:t>Keep each tool to one job, validate arguments at the boundary, inject known values in code and return errors the model can act on.</a:t>
            </a:r>
          </a:p>
        </p:txBody>
      </p:sp>
      <p:sp>
        <p:nvSpPr>
          <p:cNvPr id="12" name="Rectangle 11"/>
          <p:cNvSpPr/>
          <p:nvPr/>
        </p:nvSpPr>
        <p:spPr>
          <a:xfrm>
            <a:off x="502920" y="1472184"/>
            <a:ext cx="2590723" cy="284988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472184"/>
            <a:ext cx="82296" cy="28498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655064"/>
            <a:ext cx="2133523"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One job per tool</a:t>
            </a:r>
          </a:p>
        </p:txBody>
      </p:sp>
      <p:sp>
        <p:nvSpPr>
          <p:cNvPr id="15" name="TextBox 14"/>
          <p:cNvSpPr txBox="1"/>
          <p:nvPr/>
        </p:nvSpPr>
        <p:spPr>
          <a:xfrm>
            <a:off x="777240" y="2087880"/>
            <a:ext cx="2087803" cy="2051303"/>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The description is the only documentation the model reads.</a:t>
            </a:r>
          </a:p>
        </p:txBody>
      </p:sp>
      <p:sp>
        <p:nvSpPr>
          <p:cNvPr id="16" name="Rectangle 15"/>
          <p:cNvSpPr/>
          <p:nvPr/>
        </p:nvSpPr>
        <p:spPr>
          <a:xfrm>
            <a:off x="3367963" y="1472184"/>
            <a:ext cx="2590723" cy="284988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67963" y="1472184"/>
            <a:ext cx="82296" cy="28498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42283" y="1655064"/>
            <a:ext cx="2133523" cy="627888"/>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Constrain arguments</a:t>
            </a:r>
          </a:p>
        </p:txBody>
      </p:sp>
      <p:sp>
        <p:nvSpPr>
          <p:cNvPr id="19" name="TextBox 18"/>
          <p:cNvSpPr txBox="1"/>
          <p:nvPr/>
        </p:nvSpPr>
        <p:spPr>
          <a:xfrm>
            <a:off x="3642283" y="2356104"/>
            <a:ext cx="2087803" cy="1783079"/>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Enums and a schema reject whole classes of bad calls at the boundary.</a:t>
            </a:r>
          </a:p>
        </p:txBody>
      </p:sp>
      <p:sp>
        <p:nvSpPr>
          <p:cNvPr id="20" name="Rectangle 19"/>
          <p:cNvSpPr/>
          <p:nvPr/>
        </p:nvSpPr>
        <p:spPr>
          <a:xfrm>
            <a:off x="6233007" y="1472184"/>
            <a:ext cx="2590723" cy="284988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3007" y="1472184"/>
            <a:ext cx="82296" cy="28498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07327" y="1655064"/>
            <a:ext cx="2133523" cy="627888"/>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Inject what you know</a:t>
            </a:r>
          </a:p>
        </p:txBody>
      </p:sp>
      <p:sp>
        <p:nvSpPr>
          <p:cNvPr id="23" name="TextBox 22"/>
          <p:cNvSpPr txBox="1"/>
          <p:nvPr/>
        </p:nvSpPr>
        <p:spPr>
          <a:xfrm>
            <a:off x="6507327" y="2356104"/>
            <a:ext cx="2087803" cy="1783079"/>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IDs, dates and user context come from code, never from the model.</a:t>
            </a:r>
          </a:p>
        </p:txBody>
      </p:sp>
      <p:sp>
        <p:nvSpPr>
          <p:cNvPr id="24" name="Rectangle 23"/>
          <p:cNvSpPr/>
          <p:nvPr/>
        </p:nvSpPr>
        <p:spPr>
          <a:xfrm>
            <a:off x="9098051" y="1472184"/>
            <a:ext cx="2590723" cy="2849880"/>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98051" y="1472184"/>
            <a:ext cx="82296" cy="28498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72371" y="1655064"/>
            <a:ext cx="2133523" cy="627888"/>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Return readable errors</a:t>
            </a:r>
          </a:p>
        </p:txBody>
      </p:sp>
      <p:sp>
        <p:nvSpPr>
          <p:cNvPr id="27" name="TextBox 26"/>
          <p:cNvSpPr txBox="1"/>
          <p:nvPr/>
        </p:nvSpPr>
        <p:spPr>
          <a:xfrm>
            <a:off x="9372371" y="2356104"/>
            <a:ext cx="2087803" cy="1783079"/>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A message the model can act on lets it retry. A stack trace does not.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Tool output is untrusted input</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2 · A model cannot touch anything</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notes/02-tool-use-and-react.md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14</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200" i="0" b="1">
                <a:solidFill>
                  <a:srgbClr val="1E3A5F"/>
                </a:solidFill>
                <a:latin typeface="Helvetica Neue"/>
              </a:rPr>
              <a:t>A tool result can carry an attacker's instructions, so choose the weakest design pattern that blocks the attack paths your tools open.</a:t>
            </a:r>
          </a:p>
        </p:txBody>
      </p:sp>
      <p:graphicFrame>
        <p:nvGraphicFramePr>
          <p:cNvPr id="12" name="Table 11"/>
          <p:cNvGraphicFramePr>
            <a:graphicFrameLocks noGrp="1"/>
          </p:cNvGraphicFramePr>
          <p:nvPr/>
        </p:nvGraphicFramePr>
        <p:xfrm>
          <a:off x="502920" y="1472184"/>
          <a:ext cx="11185854" cy="2837688"/>
        </p:xfrm>
        <a:graphic>
          <a:graphicData uri="http://schemas.openxmlformats.org/drawingml/2006/table">
            <a:tbl>
              <a:tblPr firstRow="1" bandRow="1">
                <a:tableStyleId>{5940675A-B579-460E-94D1-54222C63F5DA}</a:tableStyleId>
              </a:tblPr>
              <a:tblGrid>
                <a:gridCol w="3050687"/>
                <a:gridCol w="8135167"/>
              </a:tblGrid>
              <a:tr h="405384">
                <a:tc>
                  <a:txBody>
                    <a:bodyPr wrap="square"/>
                    <a:lstStyle/>
                    <a:p>
                      <a:pPr>
                        <a:lnSpc>
                          <a:spcPct val="100000"/>
                        </a:lnSpc>
                      </a:pPr>
                      <a:r>
                        <a:rPr sz="1700" i="0" b="1">
                          <a:solidFill>
                            <a:srgbClr val="FFFFFF"/>
                          </a:solidFill>
                          <a:latin typeface="Helvetica Neue"/>
                        </a:rPr>
                        <a:t>Pattern</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Idea</a:t>
                      </a:r>
                    </a:p>
                  </a:txBody>
                  <a:tcPr marL="109728" marR="109728" marT="54864" marB="54864" anchor="ctr">
                    <a:solidFill>
                      <a:srgbClr val="1E3A5F"/>
                    </a:solidFill>
                  </a:tcPr>
                </a:tc>
              </a:tr>
              <a:tr h="405384">
                <a:tc>
                  <a:txBody>
                    <a:bodyPr wrap="square"/>
                    <a:lstStyle/>
                    <a:p>
                      <a:pPr>
                        <a:lnSpc>
                          <a:spcPct val="100000"/>
                        </a:lnSpc>
                      </a:pPr>
                      <a:r>
                        <a:rPr sz="1700" i="0" b="1">
                          <a:solidFill>
                            <a:srgbClr val="1E293B"/>
                          </a:solidFill>
                          <a:latin typeface="Helvetica Neue"/>
                        </a:rPr>
                        <a:t>Action-Selector</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The model picks fixed actions; tool output never returns to it</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Plan-Then-Execute</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Fix the plan before reading untrusted data</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Map-Reduce</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Process each untrusted item in an isolated call</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Dual-LLM</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A quarantined model reads the text and returns symbols</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Code-Then-Execute</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A program, not the model, handles the data</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Context-Minimization</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Drop untrusted spans before later steps</a:t>
                      </a:r>
                    </a:p>
                  </a:txBody>
                  <a:tcPr marL="109728" marR="109728" marT="54864" marB="54864" anchor="ctr">
                    <a:solidFill>
                      <a:srgbClr val="F8FAFC"/>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0F7490"/>
                </a:solidFill>
                <a:latin typeface="Helvetica Neue"/>
              </a:rPr>
              <a:t>PART 3</a:t>
            </a:r>
          </a:p>
        </p:txBody>
      </p:sp>
      <p:sp>
        <p:nvSpPr>
          <p:cNvPr id="4" name="TextBox 3"/>
          <p:cNvSpPr txBox="1"/>
          <p:nvPr/>
        </p:nvSpPr>
        <p:spPr>
          <a:xfrm>
            <a:off x="822960" y="1965960"/>
            <a:ext cx="5486400" cy="18592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It forgets last Monday</a:t>
            </a:r>
          </a:p>
        </p:txBody>
      </p:sp>
      <p:sp>
        <p:nvSpPr>
          <p:cNvPr id="5" name="TextBox 4"/>
          <p:cNvSpPr txBox="1"/>
          <p:nvPr/>
        </p:nvSpPr>
        <p:spPr>
          <a:xfrm>
            <a:off x="822960" y="3916680"/>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The OS analogy · Self-editing memory · How much to curate</a:t>
            </a:r>
          </a:p>
        </p:txBody>
      </p:sp>
      <p:cxnSp>
        <p:nvCxnSpPr>
          <p:cNvPr id="6" name="Connector 5"/>
          <p:cNvCxnSpPr/>
          <p:nvPr/>
        </p:nvCxnSpPr>
        <p:spPr>
          <a:xfrm>
            <a:off x="6446520" y="2295525"/>
            <a:ext cx="0" cy="226695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2295525"/>
            <a:ext cx="4693615" cy="2449830"/>
          </a:xfrm>
          <a:prstGeom prst="rect">
            <a:avLst/>
          </a:prstGeom>
          <a:noFill/>
        </p:spPr>
        <p:txBody>
          <a:bodyPr wrap="square" lIns="0" rIns="0" tIns="0" bIns="0" anchor="t">
            <a:noAutofit/>
          </a:bodyPr>
          <a:lstStyle/>
          <a:p>
            <a:pPr algn="l">
              <a:lnSpc>
                <a:spcPct val="100000"/>
              </a:lnSpc>
            </a:pPr>
            <a:r>
              <a:rPr sz="1700" i="0" b="0">
                <a:solidFill>
                  <a:srgbClr val="CBD5E1"/>
                </a:solidFill>
                <a:latin typeface="Helvetica Neue"/>
              </a:rPr>
              <a:t>The supplier changed delivery times. It forgot.</a:t>
            </a:r>
          </a:p>
          <a:p>
            <a:pPr algn="l">
              <a:lnSpc>
                <a:spcPct val="100000"/>
              </a:lnSpc>
              <a:spcBef>
                <a:spcPts val="1189"/>
              </a:spcBef>
            </a:pPr>
            <a:r>
              <a:rPr sz="1700" i="0" b="0">
                <a:solidFill>
                  <a:srgbClr val="CBD5E1"/>
                </a:solidFill>
                <a:latin typeface="Helvetica Neue"/>
              </a:rPr>
              <a:t>A core that fills up, an archive that must be searched</a:t>
            </a:r>
          </a:p>
          <a:p>
            <a:pPr algn="l">
              <a:lnSpc>
                <a:spcPct val="100000"/>
              </a:lnSpc>
              <a:spcBef>
                <a:spcPts val="1189"/>
              </a:spcBef>
            </a:pPr>
            <a:r>
              <a:rPr sz="1700" i="0" b="0">
                <a:solidFill>
                  <a:srgbClr val="CBD5E1"/>
                </a:solidFill>
                <a:latin typeface="Helvetica Neue"/>
              </a:rPr>
              <a:t>Does curating memory pay? Often not</a:t>
            </a:r>
          </a:p>
          <a:p>
            <a:pPr algn="l">
              <a:lnSpc>
                <a:spcPct val="100000"/>
              </a:lnSpc>
              <a:spcBef>
                <a:spcPts val="1189"/>
              </a:spcBef>
            </a:pPr>
            <a:r>
              <a:rPr sz="1700" i="0" b="0">
                <a:solidFill>
                  <a:srgbClr val="CBD5E1"/>
                </a:solidFill>
                <a:latin typeface="Helvetica Neue"/>
              </a:rPr>
              <a:t>Tools let it manage memory, not know when to</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300" i="0" b="1">
                <a:solidFill>
                  <a:srgbClr val="FFFFFF"/>
                </a:solidFill>
                <a:latin typeface="Helvetica Neue"/>
              </a:rPr>
              <a:t>The supplier changed delivery times. It forgot.</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problem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It forgets last Monday</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notes/03-memory-as-an-operating-system.md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16</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200" i="0" b="1">
                <a:solidFill>
                  <a:srgbClr val="1E3A5F"/>
                </a:solidFill>
                <a:latin typeface="Helvetica Neue"/>
              </a:rPr>
              <a:t>MemGPT treats the context window like an OS treats RAM, so the agent pages facts in and out of larger stores with its own tool calls.</a:t>
            </a:r>
          </a:p>
        </p:txBody>
      </p:sp>
      <p:sp>
        <p:nvSpPr>
          <p:cNvPr id="13" name="Rectangle 12"/>
          <p:cNvSpPr/>
          <p:nvPr/>
        </p:nvSpPr>
        <p:spPr>
          <a:xfrm>
            <a:off x="448056" y="1417320"/>
            <a:ext cx="6261948" cy="3570351"/>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packer-wooders-agent-memory-fig5-4347738712642123198.jpg"/>
          <p:cNvPicPr>
            <a:picLocks noChangeAspect="1"/>
          </p:cNvPicPr>
          <p:nvPr/>
        </p:nvPicPr>
        <p:blipFill>
          <a:blip r:embed="rId2"/>
          <a:stretch>
            <a:fillRect/>
          </a:stretch>
        </p:blipFill>
        <p:spPr>
          <a:xfrm>
            <a:off x="502920" y="1472184"/>
            <a:ext cx="6152220" cy="3460623"/>
          </a:xfrm>
          <a:prstGeom prst="rect">
            <a:avLst/>
          </a:prstGeom>
        </p:spPr>
      </p:pic>
      <p:sp>
        <p:nvSpPr>
          <p:cNvPr id="15" name="TextBox 14"/>
          <p:cNvSpPr txBox="1"/>
          <p:nvPr/>
        </p:nvSpPr>
        <p:spPr>
          <a:xfrm>
            <a:off x="502920" y="5069967"/>
            <a:ext cx="6152220" cy="365760"/>
          </a:xfrm>
          <a:prstGeom prst="rect">
            <a:avLst/>
          </a:prstGeom>
          <a:noFill/>
        </p:spPr>
        <p:txBody>
          <a:bodyPr wrap="square" lIns="0" rIns="0" tIns="0" bIns="0" anchor="t">
            <a:noAutofit/>
          </a:bodyPr>
          <a:lstStyle/>
          <a:p>
            <a:pPr algn="ctr">
              <a:lnSpc>
                <a:spcPct val="110000"/>
              </a:lnSpc>
            </a:pPr>
            <a:r>
              <a:rPr sz="1200" i="1" b="0">
                <a:solidFill>
                  <a:srgbClr val="94A3B8"/>
                </a:solidFill>
                <a:latin typeface="Helvetica Neue"/>
              </a:rPr>
              <a:t>Memory tiers in MemGPT (Packer &amp; Wooders, Letta course, L2)</a:t>
            </a:r>
          </a:p>
        </p:txBody>
      </p:sp>
      <p:sp>
        <p:nvSpPr>
          <p:cNvPr id="16" name="Rectangle 15"/>
          <p:cNvSpPr/>
          <p:nvPr/>
        </p:nvSpPr>
        <p:spPr>
          <a:xfrm>
            <a:off x="7020900" y="1559052"/>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40940" y="1472184"/>
            <a:ext cx="4347834"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The context window is RAM:</a:t>
            </a:r>
            <a:r>
              <a:rPr sz="1800" i="0" b="0">
                <a:solidFill>
                  <a:srgbClr val="1E293B"/>
                </a:solidFill>
                <a:latin typeface="Helvetica Neue"/>
              </a:rPr>
              <a:t> small and always visible.</a:t>
            </a:r>
          </a:p>
        </p:txBody>
      </p:sp>
      <p:sp>
        <p:nvSpPr>
          <p:cNvPr id="18" name="Rectangle 17"/>
          <p:cNvSpPr/>
          <p:nvPr/>
        </p:nvSpPr>
        <p:spPr>
          <a:xfrm>
            <a:off x="7020900" y="2299716"/>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40940" y="2212848"/>
            <a:ext cx="4347834"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Databases are disk:</a:t>
            </a:r>
            <a:r>
              <a:rPr sz="1800" i="0" b="0">
                <a:solidFill>
                  <a:srgbClr val="1E293B"/>
                </a:solidFill>
                <a:latin typeface="Helvetica Neue"/>
              </a:rPr>
              <a:t> large, and reached by a tool.</a:t>
            </a:r>
          </a:p>
        </p:txBody>
      </p:sp>
      <p:sp>
        <p:nvSpPr>
          <p:cNvPr id="20" name="Rectangle 19"/>
          <p:cNvSpPr/>
          <p:nvPr/>
        </p:nvSpPr>
        <p:spPr>
          <a:xfrm>
            <a:off x="7020900" y="3040380"/>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40940" y="2953512"/>
            <a:ext cx="4347834" cy="393191"/>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The agent does its own paging.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A core that fills up, an archive that must be searched</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It forgets last Monday</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notes/03-memory-as-an-operating-system.md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17</a:t>
            </a:r>
          </a:p>
        </p:txBody>
      </p:sp>
      <p:sp>
        <p:nvSpPr>
          <p:cNvPr id="9" name="Rectangle 8"/>
          <p:cNvSpPr/>
          <p:nvPr/>
        </p:nvSpPr>
        <p:spPr>
          <a:xfrm>
            <a:off x="502920" y="5586983"/>
            <a:ext cx="11185855" cy="630936"/>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586983"/>
            <a:ext cx="73152" cy="630936"/>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586983"/>
            <a:ext cx="10728655" cy="630936"/>
          </a:xfrm>
          <a:prstGeom prst="rect">
            <a:avLst/>
          </a:prstGeom>
          <a:noFill/>
        </p:spPr>
        <p:txBody>
          <a:bodyPr wrap="square" lIns="0" rIns="0" tIns="0" bIns="0" anchor="ctr">
            <a:noAutofit/>
          </a:bodyPr>
          <a:lstStyle/>
          <a:p>
            <a:pPr algn="l">
              <a:lnSpc>
                <a:spcPct val="110000"/>
              </a:lnSpc>
            </a:pPr>
            <a:r>
              <a:rPr sz="1200" i="0" b="1">
                <a:solidFill>
                  <a:srgbClr val="1E3A5F"/>
                </a:solidFill>
                <a:latin typeface="Helvetica Neue"/>
              </a:rPr>
              <a:t>A small core plus a searchable archive works only if the agent knows the archive exists, is told when to search, and can phrase the search well.</a:t>
            </a:r>
          </a:p>
        </p:txBody>
      </p:sp>
      <p:sp>
        <p:nvSpPr>
          <p:cNvPr id="12" name="Rounded Rectangle 11"/>
          <p:cNvSpPr/>
          <p:nvPr/>
        </p:nvSpPr>
        <p:spPr>
          <a:xfrm>
            <a:off x="502920" y="1472184"/>
            <a:ext cx="6711513" cy="36576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TEXT</a:t>
            </a:r>
          </a:p>
        </p:txBody>
      </p:sp>
      <p:sp>
        <p:nvSpPr>
          <p:cNvPr id="14" name="TextBox 13"/>
          <p:cNvSpPr txBox="1"/>
          <p:nvPr/>
        </p:nvSpPr>
        <p:spPr>
          <a:xfrm>
            <a:off x="731520" y="1883664"/>
            <a:ext cx="6254313" cy="3017520"/>
          </a:xfrm>
          <a:prstGeom prst="rect">
            <a:avLst/>
          </a:prstGeom>
          <a:noFill/>
        </p:spPr>
        <p:txBody>
          <a:bodyPr wrap="square" lIns="0" rIns="0" tIns="0" bIns="0" anchor="t">
            <a:noAutofit/>
          </a:bodyPr>
          <a:lstStyle/>
          <a:p>
            <a:pPr algn="l">
              <a:lnSpc>
                <a:spcPct val="100000"/>
              </a:lnSpc>
            </a:pPr>
            <a:r>
              <a:rPr sz="1500" i="0" b="0">
                <a:solidFill>
                  <a:srgbClr val="E2E8F0"/>
                </a:solidFill>
                <a:latin typeface="Menlo"/>
              </a:rPr>
              <a:t>ok</a:t>
            </a:r>
          </a:p>
          <a:p>
            <a:pPr algn="l">
              <a:lnSpc>
                <a:spcPct val="100000"/>
              </a:lnSpc>
            </a:pPr>
            <a:r>
              <a:rPr sz="1500" i="0" b="0">
                <a:solidFill>
                  <a:srgbClr val="E2E8F0"/>
                </a:solidFill>
                <a:latin typeface="Menlo"/>
              </a:rPr>
              <a:t>Error: core is full (limit 100). Move detail...</a:t>
            </a:r>
          </a:p>
          <a:p>
            <a:pPr algn="l">
              <a:lnSpc>
                <a:spcPct val="100000"/>
              </a:lnSpc>
            </a:pPr>
            <a:r>
              <a:rPr sz="1500" i="0" b="0">
                <a:solidFill>
                  <a:srgbClr val="E2E8F0"/>
                </a:solidFill>
                <a:latin typeface="Menlo"/>
              </a:rPr>
              <a:t>ok, 1 passages in archive</a:t>
            </a:r>
          </a:p>
          <a:p>
            <a:pPr algn="l">
              <a:lnSpc>
                <a:spcPct val="100000"/>
              </a:lnSpc>
            </a:pPr>
            <a:r>
              <a:rPr sz="1500" i="0" b="0">
                <a:solidFill>
                  <a:srgbClr val="E2E8F0"/>
                </a:solidFill>
                <a:latin typeface="Menlo"/>
              </a:rPr>
              <a:t>ok</a:t>
            </a:r>
          </a:p>
          <a:p>
            <a:pPr algn="l">
              <a:lnSpc>
                <a:spcPct val="100000"/>
              </a:lnSpc>
            </a:pPr>
          </a:p>
          <a:p>
            <a:pPr algn="l">
              <a:lnSpc>
                <a:spcPct val="100000"/>
              </a:lnSpc>
            </a:pPr>
            <a:r>
              <a:rPr sz="1500" i="0" b="0">
                <a:solidFill>
                  <a:srgbClr val="E2E8F0"/>
                </a:solidFill>
                <a:latin typeface="Menlo"/>
              </a:rPr>
              <a:t>--- next Monday, new session ---</a:t>
            </a:r>
          </a:p>
          <a:p>
            <a:pPr algn="l">
              <a:lnSpc>
                <a:spcPct val="100000"/>
              </a:lnSpc>
            </a:pPr>
            <a:r>
              <a:rPr sz="1500" i="0" b="0">
                <a:solidFill>
                  <a:srgbClr val="E2E8F0"/>
                </a:solidFill>
                <a:latin typeface="Menlo"/>
              </a:rPr>
              <a:t>&lt;policy&gt;Order just in time. Keep two weeks...&lt;/policy&gt;</a:t>
            </a:r>
          </a:p>
          <a:p>
            <a:pPr algn="l">
              <a:lnSpc>
                <a:spcPct val="100000"/>
              </a:lnSpc>
            </a:pPr>
            <a:r>
              <a:rPr sz="1500" i="0" b="0">
                <a:solidFill>
                  <a:srgbClr val="E2E8F0"/>
                </a:solidFill>
                <a:latin typeface="Menlo"/>
              </a:rPr>
              <a:t>&lt;supplier&gt;Acme delivers itemB. See...&lt;/supplier&gt;</a:t>
            </a:r>
          </a:p>
          <a:p>
            <a:pPr algn="l">
              <a:lnSpc>
                <a:spcPct val="100000"/>
              </a:lnSpc>
            </a:pPr>
            <a:r>
              <a:rPr sz="1500" i="0" b="0">
                <a:solidFill>
                  <a:srgbClr val="E2E8F0"/>
                </a:solidFill>
                <a:latin typeface="Menlo"/>
              </a:rPr>
              <a:t>[1 passages in archive, not shown]</a:t>
            </a:r>
          </a:p>
          <a:p>
            <a:pPr algn="l">
              <a:lnSpc>
                <a:spcPct val="100000"/>
              </a:lnSpc>
            </a:pPr>
          </a:p>
          <a:p>
            <a:pPr algn="l">
              <a:lnSpc>
                <a:spcPct val="100000"/>
              </a:lnSpc>
            </a:pPr>
            <a:r>
              <a:rPr sz="1500" i="0" b="0">
                <a:solidFill>
                  <a:srgbClr val="E2E8F0"/>
                </a:solidFill>
                <a:latin typeface="Menlo"/>
              </a:rPr>
              <a:t>search 'lead time' -&gt; ['3 March: Acme lead time ...']</a:t>
            </a:r>
          </a:p>
          <a:p>
            <a:pPr algn="l">
              <a:lnSpc>
                <a:spcPct val="100000"/>
              </a:lnSpc>
            </a:pPr>
            <a:r>
              <a:rPr sz="1500" i="0" b="0">
                <a:solidFill>
                  <a:srgbClr val="E2E8F0"/>
                </a:solidFill>
                <a:latin typeface="Menlo"/>
              </a:rPr>
              <a:t>search 'delay'     -&gt; no match</a:t>
            </a:r>
          </a:p>
        </p:txBody>
      </p:sp>
      <p:sp>
        <p:nvSpPr>
          <p:cNvPr id="15" name="Rectangle 14"/>
          <p:cNvSpPr/>
          <p:nvPr/>
        </p:nvSpPr>
        <p:spPr>
          <a:xfrm>
            <a:off x="7580193" y="1604772"/>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0233" y="1517904"/>
            <a:ext cx="3788542" cy="996696"/>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A readable error teaches:</a:t>
            </a:r>
            <a:r>
              <a:rPr sz="1800" i="0" b="0">
                <a:solidFill>
                  <a:srgbClr val="1E293B"/>
                </a:solidFill>
                <a:latin typeface="Helvetica Neue"/>
              </a:rPr>
              <a:t> the agent moves detail to the archive.</a:t>
            </a:r>
          </a:p>
        </p:txBody>
      </p:sp>
      <p:sp>
        <p:nvSpPr>
          <p:cNvPr id="17" name="Rectangle 16"/>
          <p:cNvSpPr/>
          <p:nvPr/>
        </p:nvSpPr>
        <p:spPr>
          <a:xfrm>
            <a:off x="7580193" y="2647188"/>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0233" y="2560320"/>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Stats in context</a:t>
            </a:r>
            <a:r>
              <a:rPr sz="1800" i="0" b="0">
                <a:solidFill>
                  <a:srgbClr val="1E293B"/>
                </a:solidFill>
                <a:latin typeface="Helvetica Neue"/>
              </a:rPr>
              <a:t> show what it is not seeing.</a:t>
            </a:r>
          </a:p>
        </p:txBody>
      </p:sp>
      <p:sp>
        <p:nvSpPr>
          <p:cNvPr id="19" name="Rectangle 18"/>
          <p:cNvSpPr/>
          <p:nvPr/>
        </p:nvSpPr>
        <p:spPr>
          <a:xfrm>
            <a:off x="7580193" y="3387852"/>
            <a:ext cx="96012" cy="96012"/>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00233" y="3300984"/>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Search can miss:</a:t>
            </a:r>
            <a:r>
              <a:rPr sz="1800" i="0" b="0">
                <a:solidFill>
                  <a:srgbClr val="1E293B"/>
                </a:solidFill>
                <a:latin typeface="Helvetica Neue"/>
              </a:rPr>
              <a:t> </a:t>
            </a:r>
            <a:r>
              <a:rPr sz="1620" i="0" b="0">
                <a:solidFill>
                  <a:srgbClr val="0F7490"/>
                </a:solidFill>
                <a:latin typeface="Menlo"/>
              </a:rPr>
              <a:t>delay</a:t>
            </a:r>
            <a:r>
              <a:rPr sz="1800" i="0" b="0">
                <a:solidFill>
                  <a:srgbClr val="1E293B"/>
                </a:solidFill>
                <a:latin typeface="Helvetica Neue"/>
              </a:rPr>
              <a:t> finds nothing here.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Does curating memory pay? Often not</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It forgets last Monday</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notes/03-memory-as-an-operating-system.md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18</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200" i="0" b="1">
                <a:solidFill>
                  <a:srgbClr val="1E3A5F"/>
                </a:solidFill>
                <a:latin typeface="Helvetica Neue"/>
              </a:rPr>
              <a:t>Keep the verbatim record and curate only the index on top, because in Zhou et al. summarizing lost facts that a plain store kept.</a:t>
            </a:r>
          </a:p>
        </p:txBody>
      </p:sp>
      <p:sp>
        <p:nvSpPr>
          <p:cNvPr id="12" name="Rectangle 11"/>
          <p:cNvSpPr/>
          <p:nvPr/>
        </p:nvSpPr>
        <p:spPr>
          <a:xfrm>
            <a:off x="502920"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472184"/>
            <a:ext cx="5410047" cy="557784"/>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472184"/>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Keep it verbatim</a:t>
            </a:r>
          </a:p>
        </p:txBody>
      </p:sp>
      <p:sp>
        <p:nvSpPr>
          <p:cNvPr id="15" name="Rectangle 14"/>
          <p:cNvSpPr/>
          <p:nvPr/>
        </p:nvSpPr>
        <p:spPr>
          <a:xfrm>
            <a:off x="731520" y="2313178"/>
            <a:ext cx="90678" cy="90678"/>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2231136"/>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A dump or one file per session matched or beat curation on all four benchmarks</a:t>
            </a:r>
          </a:p>
        </p:txBody>
      </p:sp>
      <p:sp>
        <p:nvSpPr>
          <p:cNvPr id="17" name="Rectangle 16"/>
          <p:cNvSpPr/>
          <p:nvPr/>
        </p:nvSpPr>
        <p:spPr>
          <a:xfrm>
            <a:off x="731520" y="3012694"/>
            <a:ext cx="90678" cy="90678"/>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2930652"/>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The record survives, so later readers can correct errors</a:t>
            </a:r>
          </a:p>
        </p:txBody>
      </p:sp>
      <p:sp>
        <p:nvSpPr>
          <p:cNvPr id="19" name="Rectangle 18"/>
          <p:cNvSpPr/>
          <p:nvPr/>
        </p:nvSpPr>
        <p:spPr>
          <a:xfrm>
            <a:off x="685800"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78.1% on PersonaMem at 32k tokens</a:t>
            </a:r>
          </a:p>
        </p:txBody>
      </p:sp>
      <p:sp>
        <p:nvSpPr>
          <p:cNvPr id="21" name="Rectangle 20"/>
          <p:cNvSpPr/>
          <p:nvPr/>
        </p:nvSpPr>
        <p:spPr>
          <a:xfrm>
            <a:off x="6278727"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78727" y="1472184"/>
            <a:ext cx="5410047" cy="557784"/>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07327" y="1472184"/>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Let the agent curate</a:t>
            </a:r>
          </a:p>
        </p:txBody>
      </p:sp>
      <p:sp>
        <p:nvSpPr>
          <p:cNvPr id="24" name="Rectangle 23"/>
          <p:cNvSpPr/>
          <p:nvPr/>
        </p:nvSpPr>
        <p:spPr>
          <a:xfrm>
            <a:off x="6507327" y="2313178"/>
            <a:ext cx="90678" cy="90678"/>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27367" y="2231136"/>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Left superseded preferences standing as current</a:t>
            </a:r>
          </a:p>
        </p:txBody>
      </p:sp>
      <p:sp>
        <p:nvSpPr>
          <p:cNvPr id="26" name="Rectangle 25"/>
          <p:cNvSpPr/>
          <p:nvPr/>
        </p:nvSpPr>
        <p:spPr>
          <a:xfrm>
            <a:off x="6507327" y="3012694"/>
            <a:ext cx="90678" cy="90678"/>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7367" y="2930652"/>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Condensing dropped REALTALK from 77.6% to 41.2%</a:t>
            </a:r>
          </a:p>
        </p:txBody>
      </p:sp>
      <p:sp>
        <p:nvSpPr>
          <p:cNvPr id="28" name="Rectangle 27"/>
          <p:cNvSpPr/>
          <p:nvPr/>
        </p:nvSpPr>
        <p:spPr>
          <a:xfrm>
            <a:off x="6507327" y="3712210"/>
            <a:ext cx="90678" cy="90678"/>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27367" y="3630168"/>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A fact-preserving reorganization held at 77.6%</a:t>
            </a:r>
          </a:p>
        </p:txBody>
      </p:sp>
      <p:sp>
        <p:nvSpPr>
          <p:cNvPr id="30" name="Rectangle 29"/>
          <p:cNvSpPr/>
          <p:nvPr/>
        </p:nvSpPr>
        <p:spPr>
          <a:xfrm>
            <a:off x="6461607"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53047"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37.5% in the same setup</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Tools let it manage memory, not know when to</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3 · It forgets last Monday</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notes/03-memory-as-an-operating-system.md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19</a:t>
            </a:r>
          </a:p>
        </p:txBody>
      </p:sp>
      <p:sp>
        <p:nvSpPr>
          <p:cNvPr id="9" name="Rectangle 8"/>
          <p:cNvSpPr/>
          <p:nvPr/>
        </p:nvSpPr>
        <p:spPr>
          <a:xfrm>
            <a:off x="502920" y="5586983"/>
            <a:ext cx="11185855" cy="630936"/>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586983"/>
            <a:ext cx="73152" cy="630936"/>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586983"/>
            <a:ext cx="10728655" cy="630936"/>
          </a:xfrm>
          <a:prstGeom prst="rect">
            <a:avLst/>
          </a:prstGeom>
          <a:noFill/>
        </p:spPr>
        <p:txBody>
          <a:bodyPr wrap="square" lIns="0" rIns="0" tIns="0" bIns="0" anchor="ctr">
            <a:noAutofit/>
          </a:bodyPr>
          <a:lstStyle/>
          <a:p>
            <a:pPr algn="l">
              <a:lnSpc>
                <a:spcPct val="110000"/>
              </a:lnSpc>
            </a:pPr>
            <a:r>
              <a:rPr sz="1200" i="0" b="1">
                <a:solidFill>
                  <a:srgbClr val="1E3A5F"/>
                </a:solidFill>
                <a:latin typeface="Helvetica Neue"/>
              </a:rPr>
              <a:t>You control a memory agent through its prompts, tools, management policy and starting content, and any saved memory needs a recorded origin.</a:t>
            </a:r>
          </a:p>
        </p:txBody>
      </p:sp>
      <p:sp>
        <p:nvSpPr>
          <p:cNvPr id="12" name="Rectangle 11"/>
          <p:cNvSpPr/>
          <p:nvPr/>
        </p:nvSpPr>
        <p:spPr>
          <a:xfrm>
            <a:off x="502920" y="1563878"/>
            <a:ext cx="101346" cy="101346"/>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1472184"/>
            <a:ext cx="5944038" cy="409956"/>
          </a:xfrm>
          <a:prstGeom prst="rect">
            <a:avLst/>
          </a:prstGeom>
          <a:noFill/>
        </p:spPr>
        <p:txBody>
          <a:bodyPr wrap="square" lIns="0" rIns="0" tIns="0" bIns="0" anchor="t">
            <a:noAutofit/>
          </a:bodyPr>
          <a:lstStyle/>
          <a:p>
            <a:pPr algn="l">
              <a:lnSpc>
                <a:spcPct val="110000"/>
              </a:lnSpc>
            </a:pPr>
            <a:r>
              <a:rPr sz="1900" i="0" b="1">
                <a:solidFill>
                  <a:srgbClr val="1E293B"/>
                </a:solidFill>
                <a:latin typeface="Helvetica Neue"/>
              </a:rPr>
              <a:t>Prompts:</a:t>
            </a:r>
            <a:r>
              <a:rPr sz="1900" i="0" b="0">
                <a:solidFill>
                  <a:srgbClr val="1E293B"/>
                </a:solidFill>
                <a:latin typeface="Helvetica Neue"/>
              </a:rPr>
              <a:t> say when to save and when to search.</a:t>
            </a:r>
          </a:p>
        </p:txBody>
      </p:sp>
      <p:sp>
        <p:nvSpPr>
          <p:cNvPr id="14" name="Rectangle 13"/>
          <p:cNvSpPr/>
          <p:nvPr/>
        </p:nvSpPr>
        <p:spPr>
          <a:xfrm>
            <a:off x="502920" y="2027174"/>
            <a:ext cx="101346" cy="101346"/>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1935480"/>
            <a:ext cx="5944038" cy="728472"/>
          </a:xfrm>
          <a:prstGeom prst="rect">
            <a:avLst/>
          </a:prstGeom>
          <a:noFill/>
        </p:spPr>
        <p:txBody>
          <a:bodyPr wrap="square" lIns="0" rIns="0" tIns="0" bIns="0" anchor="t">
            <a:noAutofit/>
          </a:bodyPr>
          <a:lstStyle/>
          <a:p>
            <a:pPr algn="l">
              <a:lnSpc>
                <a:spcPct val="110000"/>
              </a:lnSpc>
            </a:pPr>
            <a:r>
              <a:rPr sz="1900" i="0" b="1">
                <a:solidFill>
                  <a:srgbClr val="1E293B"/>
                </a:solidFill>
                <a:latin typeface="Helvetica Neue"/>
              </a:rPr>
              <a:t>Tools:</a:t>
            </a:r>
            <a:r>
              <a:rPr sz="1900" i="0" b="0">
                <a:solidFill>
                  <a:srgbClr val="1E293B"/>
                </a:solidFill>
                <a:latin typeface="Helvetica Neue"/>
              </a:rPr>
              <a:t> which memory tools exist, and what side effects they have.</a:t>
            </a:r>
          </a:p>
        </p:txBody>
      </p:sp>
      <p:sp>
        <p:nvSpPr>
          <p:cNvPr id="16" name="Rectangle 15"/>
          <p:cNvSpPr/>
          <p:nvPr/>
        </p:nvSpPr>
        <p:spPr>
          <a:xfrm>
            <a:off x="502920" y="2808986"/>
            <a:ext cx="101346" cy="101346"/>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2717292"/>
            <a:ext cx="5944038" cy="728472"/>
          </a:xfrm>
          <a:prstGeom prst="rect">
            <a:avLst/>
          </a:prstGeom>
          <a:noFill/>
        </p:spPr>
        <p:txBody>
          <a:bodyPr wrap="square" lIns="0" rIns="0" tIns="0" bIns="0" anchor="t">
            <a:noAutofit/>
          </a:bodyPr>
          <a:lstStyle/>
          <a:p>
            <a:pPr algn="l">
              <a:lnSpc>
                <a:spcPct val="110000"/>
              </a:lnSpc>
            </a:pPr>
            <a:r>
              <a:rPr sz="1900" i="0" b="1">
                <a:solidFill>
                  <a:srgbClr val="1E293B"/>
                </a:solidFill>
                <a:latin typeface="Helvetica Neue"/>
              </a:rPr>
              <a:t>Management:</a:t>
            </a:r>
            <a:r>
              <a:rPr sz="1900" i="0" b="0">
                <a:solidFill>
                  <a:srgbClr val="1E293B"/>
                </a:solidFill>
                <a:latin typeface="Helvetica Neue"/>
              </a:rPr>
              <a:t> block sizes, eviction, what gets summarized.</a:t>
            </a:r>
          </a:p>
        </p:txBody>
      </p:sp>
      <p:sp>
        <p:nvSpPr>
          <p:cNvPr id="18" name="Rectangle 17"/>
          <p:cNvSpPr/>
          <p:nvPr/>
        </p:nvSpPr>
        <p:spPr>
          <a:xfrm>
            <a:off x="502920" y="3590798"/>
            <a:ext cx="101346" cy="101346"/>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499104"/>
            <a:ext cx="5944038" cy="728472"/>
          </a:xfrm>
          <a:prstGeom prst="rect">
            <a:avLst/>
          </a:prstGeom>
          <a:noFill/>
        </p:spPr>
        <p:txBody>
          <a:bodyPr wrap="square" lIns="0" rIns="0" tIns="0" bIns="0" anchor="t">
            <a:noAutofit/>
          </a:bodyPr>
          <a:lstStyle/>
          <a:p>
            <a:pPr algn="l">
              <a:lnSpc>
                <a:spcPct val="110000"/>
              </a:lnSpc>
            </a:pPr>
            <a:r>
              <a:rPr sz="1900" i="0" b="1">
                <a:solidFill>
                  <a:srgbClr val="1E293B"/>
                </a:solidFill>
                <a:latin typeface="Helvetica Neue"/>
              </a:rPr>
              <a:t>Content:</a:t>
            </a:r>
            <a:r>
              <a:rPr sz="1900" i="0" b="0">
                <a:solidFill>
                  <a:srgbClr val="1E293B"/>
                </a:solidFill>
                <a:latin typeface="Helvetica Neue"/>
              </a:rPr>
              <a:t> the starting persona and preloaded documents.</a:t>
            </a:r>
          </a:p>
        </p:txBody>
      </p:sp>
      <p:sp>
        <p:nvSpPr>
          <p:cNvPr id="20" name="Rectangle 19"/>
          <p:cNvSpPr/>
          <p:nvPr/>
        </p:nvSpPr>
        <p:spPr>
          <a:xfrm>
            <a:off x="502920" y="4372610"/>
            <a:ext cx="101346" cy="101346"/>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4280916"/>
            <a:ext cx="5944038" cy="1046988"/>
          </a:xfrm>
          <a:prstGeom prst="rect">
            <a:avLst/>
          </a:prstGeom>
          <a:noFill/>
        </p:spPr>
        <p:txBody>
          <a:bodyPr wrap="square" lIns="0" rIns="0" tIns="0" bIns="0" anchor="t">
            <a:noAutofit/>
          </a:bodyPr>
          <a:lstStyle/>
          <a:p>
            <a:pPr algn="l">
              <a:lnSpc>
                <a:spcPct val="110000"/>
              </a:lnSpc>
            </a:pPr>
            <a:r>
              <a:rPr sz="1900" i="0" b="1">
                <a:solidFill>
                  <a:srgbClr val="1E293B"/>
                </a:solidFill>
                <a:latin typeface="Helvetica Neue"/>
              </a:rPr>
              <a:t>Keep the source of truth in a tool.</a:t>
            </a:r>
            <a:r>
              <a:rPr sz="1900" i="0" b="0">
                <a:solidFill>
                  <a:srgbClr val="1E293B"/>
                </a:solidFill>
                <a:latin typeface="Helvetica Neue"/>
              </a:rPr>
              <a:t> A stored delivery time goes stale. Store why a decision was made.</a:t>
            </a:r>
          </a:p>
        </p:txBody>
      </p:sp>
      <p:sp>
        <p:nvSpPr>
          <p:cNvPr id="22" name="Rectangle 21"/>
          <p:cNvSpPr/>
          <p:nvPr/>
        </p:nvSpPr>
        <p:spPr>
          <a:xfrm>
            <a:off x="7132758" y="1472184"/>
            <a:ext cx="4556016" cy="3886199"/>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132758" y="1472184"/>
            <a:ext cx="4556016" cy="557784"/>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1358" y="1472184"/>
            <a:ext cx="4098816"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Memory is an attack surface</a:t>
            </a:r>
          </a:p>
        </p:txBody>
      </p:sp>
      <p:sp>
        <p:nvSpPr>
          <p:cNvPr id="25" name="TextBox 24"/>
          <p:cNvSpPr txBox="1"/>
          <p:nvPr/>
        </p:nvSpPr>
        <p:spPr>
          <a:xfrm>
            <a:off x="7361358" y="2231136"/>
            <a:ext cx="4053096" cy="2944367"/>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An injected instruction saved today comes back next session looking like context. Record where each memory came from.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0EA5C9"/>
                </a:solidFill>
                <a:latin typeface="Helvetica Neue"/>
              </a:rPr>
              <a:t>PART 4</a:t>
            </a:r>
          </a:p>
        </p:txBody>
      </p:sp>
      <p:sp>
        <p:nvSpPr>
          <p:cNvPr id="4" name="TextBox 3"/>
          <p:cNvSpPr txBox="1"/>
          <p:nvPr/>
        </p:nvSpPr>
        <p:spPr>
          <a:xfrm>
            <a:off x="822960" y="1965960"/>
            <a:ext cx="5486400" cy="26974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A second opinion has a price</a:t>
            </a:r>
          </a:p>
        </p:txBody>
      </p:sp>
      <p:sp>
        <p:nvSpPr>
          <p:cNvPr id="5" name="TextBox 4"/>
          <p:cNvSpPr txBox="1"/>
          <p:nvPr/>
        </p:nvSpPr>
        <p:spPr>
          <a:xfrm>
            <a:off x="822960" y="4754880"/>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Three kinds of stop · Planning search · Why multi-agent systems fail · The single-agent baseline</a:t>
            </a:r>
          </a:p>
        </p:txBody>
      </p:sp>
      <p:cxnSp>
        <p:nvCxnSpPr>
          <p:cNvPr id="6" name="Connector 5"/>
          <p:cNvCxnSpPr/>
          <p:nvPr/>
        </p:nvCxnSpPr>
        <p:spPr>
          <a:xfrm>
            <a:off x="6446520" y="2219960"/>
            <a:ext cx="0" cy="241808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2219960"/>
            <a:ext cx="4693615" cy="2600960"/>
          </a:xfrm>
          <a:prstGeom prst="rect">
            <a:avLst/>
          </a:prstGeom>
          <a:noFill/>
        </p:spPr>
        <p:txBody>
          <a:bodyPr wrap="square" lIns="0" rIns="0" tIns="0" bIns="0" anchor="t">
            <a:noAutofit/>
          </a:bodyPr>
          <a:lstStyle/>
          <a:p>
            <a:pPr algn="l">
              <a:lnSpc>
                <a:spcPct val="100000"/>
              </a:lnSpc>
            </a:pPr>
            <a:r>
              <a:rPr sz="1700" i="0" b="0">
                <a:solidFill>
                  <a:srgbClr val="CBD5E1"/>
                </a:solidFill>
                <a:latin typeface="Helvetica Neue"/>
              </a:rPr>
              <a:t>Should we just add a reviewer agent?</a:t>
            </a:r>
          </a:p>
          <a:p>
            <a:pPr algn="l">
              <a:lnSpc>
                <a:spcPct val="100000"/>
              </a:lnSpc>
              <a:spcBef>
                <a:spcPts val="1189"/>
              </a:spcBef>
            </a:pPr>
            <a:r>
              <a:rPr sz="1700" i="0" b="0">
                <a:solidFill>
                  <a:srgbClr val="CBD5E1"/>
                </a:solidFill>
                <a:latin typeface="Helvetica Neue"/>
              </a:rPr>
              <a:t>A conversation needs three kinds of stop</a:t>
            </a:r>
          </a:p>
          <a:p>
            <a:pPr algn="l">
              <a:lnSpc>
                <a:spcPct val="100000"/>
              </a:lnSpc>
              <a:spcBef>
                <a:spcPts val="1189"/>
              </a:spcBef>
            </a:pPr>
            <a:r>
              <a:rPr sz="1700" i="0" b="0">
                <a:solidFill>
                  <a:srgbClr val="CBD5E1"/>
                </a:solidFill>
                <a:latin typeface="Helvetica Neue"/>
              </a:rPr>
              <a:t>Count the calls before you search over plans</a:t>
            </a:r>
          </a:p>
          <a:p>
            <a:pPr algn="l">
              <a:lnSpc>
                <a:spcPct val="100000"/>
              </a:lnSpc>
              <a:spcBef>
                <a:spcPts val="1189"/>
              </a:spcBef>
            </a:pPr>
            <a:r>
              <a:rPr sz="1700" i="0" b="0">
                <a:solidFill>
                  <a:srgbClr val="CBD5E1"/>
                </a:solidFill>
                <a:latin typeface="Helvetica Neue"/>
              </a:rPr>
              <a:t>Pick the topology by who needs to talk</a:t>
            </a:r>
          </a:p>
          <a:p>
            <a:pPr algn="l">
              <a:lnSpc>
                <a:spcPct val="100000"/>
              </a:lnSpc>
              <a:spcBef>
                <a:spcPts val="1189"/>
              </a:spcBef>
            </a:pPr>
            <a:r>
              <a:rPr sz="1700" i="0" b="0">
                <a:solidFill>
                  <a:srgbClr val="CBD5E1"/>
                </a:solidFill>
                <a:latin typeface="Helvetica Neue"/>
              </a:rPr>
              <a:t>Same model in every role? Try one agent first</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Should we just add a reviewer agent?</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problem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A second opinion has a price</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notes/04-multi-agent-design-patterns.md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21</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300" i="0" b="1">
                <a:solidFill>
                  <a:srgbClr val="1E3A5F"/>
                </a:solidFill>
                <a:latin typeface="Helvetica Neue"/>
              </a:rPr>
              <a:t>A second agent adds a coordination problem as well as a check, so state what it does that one agent cannot before adding it.</a:t>
            </a:r>
          </a:p>
        </p:txBody>
      </p:sp>
      <p:sp>
        <p:nvSpPr>
          <p:cNvPr id="13" name="Rectangle 12"/>
          <p:cNvSpPr/>
          <p:nvPr/>
        </p:nvSpPr>
        <p:spPr>
          <a:xfrm>
            <a:off x="777240" y="2299716"/>
            <a:ext cx="109728" cy="235915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2299716"/>
            <a:ext cx="10088575" cy="1993392"/>
          </a:xfrm>
          <a:prstGeom prst="rect">
            <a:avLst/>
          </a:prstGeom>
          <a:noFill/>
        </p:spPr>
        <p:txBody>
          <a:bodyPr wrap="square" lIns="0" rIns="0" tIns="0" bIns="0" anchor="t">
            <a:noAutofit/>
          </a:bodyPr>
          <a:lstStyle/>
          <a:p>
            <a:pPr algn="l">
              <a:lnSpc>
                <a:spcPct val="105000"/>
              </a:lnSpc>
            </a:pPr>
            <a:r>
              <a:rPr sz="3600" i="0" b="1">
                <a:solidFill>
                  <a:srgbClr val="1E3A5F"/>
                </a:solidFill>
                <a:latin typeface="Helvetica Neue"/>
              </a:rPr>
              <a:t>Cemri et al. found 40–80% of tasks failing in the multi-agent systems they studied. No single cause dominated.</a:t>
            </a:r>
          </a:p>
        </p:txBody>
      </p:sp>
      <p:sp>
        <p:nvSpPr>
          <p:cNvPr id="15" name="TextBox 14"/>
          <p:cNvSpPr txBox="1"/>
          <p:nvPr/>
        </p:nvSpPr>
        <p:spPr>
          <a:xfrm>
            <a:off x="1234440" y="4247388"/>
            <a:ext cx="10088575" cy="365760"/>
          </a:xfrm>
          <a:prstGeom prst="rect">
            <a:avLst/>
          </a:prstGeom>
          <a:noFill/>
        </p:spPr>
        <p:txBody>
          <a:bodyPr wrap="square" lIns="0" rIns="0" tIns="0" bIns="0" anchor="t">
            <a:noAutofit/>
          </a:bodyPr>
          <a:lstStyle/>
          <a:p>
            <a:pPr algn="l">
              <a:lnSpc>
                <a:spcPct val="110000"/>
              </a:lnSpc>
            </a:pPr>
            <a:r>
              <a:rPr sz="1700" i="1" b="0">
                <a:solidFill>
                  <a:srgbClr val="475569"/>
                </a:solidFill>
                <a:latin typeface="Helvetica Neue"/>
              </a:rPr>
              <a:t>Cemri et al., 2025, from expert annotation of about 150 conversation traces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A conversation needs three kinds of stop</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A second opinion has a price</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notes/04-multi-agent-design-patterns.md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22</a:t>
            </a:r>
          </a:p>
        </p:txBody>
      </p:sp>
      <p:sp>
        <p:nvSpPr>
          <p:cNvPr id="9" name="Rectangle 8"/>
          <p:cNvSpPr/>
          <p:nvPr/>
        </p:nvSpPr>
        <p:spPr>
          <a:xfrm>
            <a:off x="502920" y="5586983"/>
            <a:ext cx="11185855" cy="630936"/>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586983"/>
            <a:ext cx="73152" cy="630936"/>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586983"/>
            <a:ext cx="10728655" cy="630936"/>
          </a:xfrm>
          <a:prstGeom prst="rect">
            <a:avLst/>
          </a:prstGeom>
          <a:noFill/>
        </p:spPr>
        <p:txBody>
          <a:bodyPr wrap="square" lIns="0" rIns="0" tIns="0" bIns="0" anchor="ctr">
            <a:noAutofit/>
          </a:bodyPr>
          <a:lstStyle/>
          <a:p>
            <a:pPr algn="l">
              <a:lnSpc>
                <a:spcPct val="110000"/>
              </a:lnSpc>
            </a:pPr>
            <a:r>
              <a:rPr sz="1200" i="0" b="1">
                <a:solidFill>
                  <a:srgbClr val="1E3A5F"/>
                </a:solidFill>
                <a:latin typeface="Helvetica Neue"/>
              </a:rPr>
              <a:t>End a multi-agent conversation with a semantic stop, a turn cap that escalates and an independent verifier, and restrict who may speak after whom.</a:t>
            </a:r>
          </a:p>
        </p:txBody>
      </p:sp>
      <p:sp>
        <p:nvSpPr>
          <p:cNvPr id="12" name="Rounded Rectangle 11"/>
          <p:cNvSpPr/>
          <p:nvPr/>
        </p:nvSpPr>
        <p:spPr>
          <a:xfrm>
            <a:off x="502920" y="1472184"/>
            <a:ext cx="6711513" cy="336804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TEXT</a:t>
            </a:r>
          </a:p>
        </p:txBody>
      </p:sp>
      <p:sp>
        <p:nvSpPr>
          <p:cNvPr id="14" name="TextBox 13"/>
          <p:cNvSpPr txBox="1"/>
          <p:nvPr/>
        </p:nvSpPr>
        <p:spPr>
          <a:xfrm>
            <a:off x="731520" y="1883664"/>
            <a:ext cx="6254313" cy="272795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turn 1: buyer says 150;</a:t>
            </a:r>
          </a:p>
          <a:p>
            <a:pPr algn="l">
              <a:lnSpc>
                <a:spcPct val="100000"/>
              </a:lnSpc>
            </a:pPr>
            <a:r>
              <a:rPr sz="1600" i="0" b="0">
                <a:solidFill>
                  <a:srgbClr val="E2E8F0"/>
                </a:solidFill>
                <a:latin typeface="Menlo"/>
              </a:rPr>
              <a:t>        reviewer: Too low, under three weeks of peak</a:t>
            </a:r>
          </a:p>
          <a:p>
            <a:pPr algn="l">
              <a:lnSpc>
                <a:spcPct val="100000"/>
              </a:lnSpc>
            </a:pPr>
            <a:r>
              <a:rPr sz="1600" i="0" b="0">
                <a:solidFill>
                  <a:srgbClr val="E2E8F0"/>
                </a:solidFill>
                <a:latin typeface="Menlo"/>
              </a:rPr>
              <a:t>turn 2: buyer says 300; reviewer: APPROVE</a:t>
            </a:r>
          </a:p>
          <a:p>
            <a:pPr algn="l">
              <a:lnSpc>
                <a:spcPct val="100000"/>
              </a:lnSpc>
            </a:pPr>
            <a:r>
              <a:rPr sz="1600" i="0" b="0">
                <a:solidFill>
                  <a:srgbClr val="E2E8F0"/>
                </a:solidFill>
                <a:latin typeface="Menlo"/>
              </a:rPr>
              <a:t>cap 3: agreed on 300; verifier says True</a:t>
            </a:r>
          </a:p>
          <a:p>
            <a:pPr algn="l">
              <a:lnSpc>
                <a:spcPct val="100000"/>
              </a:lnSpc>
            </a:pPr>
          </a:p>
          <a:p>
            <a:pPr algn="l">
              <a:lnSpc>
                <a:spcPct val="100000"/>
              </a:lnSpc>
            </a:pPr>
            <a:r>
              <a:rPr sz="1600" i="0" b="0">
                <a:solidFill>
                  <a:srgbClr val="E2E8F0"/>
                </a:solidFill>
                <a:latin typeface="Menlo"/>
              </a:rPr>
              <a:t>turn 1: buyer says 150; reviewer: Too low</a:t>
            </a:r>
          </a:p>
          <a:p>
            <a:pPr algn="l">
              <a:lnSpc>
                <a:spcPct val="100000"/>
              </a:lnSpc>
            </a:pPr>
            <a:r>
              <a:rPr sz="1600" i="0" b="0">
                <a:solidFill>
                  <a:srgbClr val="E2E8F0"/>
                </a:solidFill>
                <a:latin typeface="Menlo"/>
              </a:rPr>
              <a:t>cap 1: no agreement, escalate to a human</a:t>
            </a:r>
          </a:p>
          <a:p>
            <a:pPr algn="l">
              <a:lnSpc>
                <a:spcPct val="100000"/>
              </a:lnSpc>
            </a:pPr>
          </a:p>
          <a:p>
            <a:pPr algn="l">
              <a:lnSpc>
                <a:spcPct val="100000"/>
              </a:lnSpc>
            </a:pPr>
            <a:r>
              <a:rPr sz="1600" i="0" b="0">
                <a:solidFill>
                  <a:srgbClr val="E2E8F0"/>
                </a:solidFill>
                <a:latin typeface="Menlo"/>
              </a:rPr>
              <a:t>legal(planner, buyer, reviewer, executor)  True</a:t>
            </a:r>
          </a:p>
          <a:p>
            <a:pPr algn="l">
              <a:lnSpc>
                <a:spcPct val="100000"/>
              </a:lnSpc>
            </a:pPr>
            <a:r>
              <a:rPr sz="1600" i="0" b="0">
                <a:solidFill>
                  <a:srgbClr val="E2E8F0"/>
                </a:solidFill>
                <a:latin typeface="Menlo"/>
              </a:rPr>
              <a:t>legal(planner, buyer, executor)            False</a:t>
            </a:r>
          </a:p>
        </p:txBody>
      </p:sp>
      <p:sp>
        <p:nvSpPr>
          <p:cNvPr id="15" name="Rectangle 14"/>
          <p:cNvSpPr/>
          <p:nvPr/>
        </p:nvSpPr>
        <p:spPr>
          <a:xfrm>
            <a:off x="7580193" y="1604772"/>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0233" y="1517904"/>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Semantic stop:</a:t>
            </a:r>
            <a:r>
              <a:rPr sz="1800" i="0" b="0">
                <a:solidFill>
                  <a:srgbClr val="1E293B"/>
                </a:solidFill>
                <a:latin typeface="Helvetica Neue"/>
              </a:rPr>
              <a:t> an explicit approval.</a:t>
            </a:r>
          </a:p>
        </p:txBody>
      </p:sp>
      <p:sp>
        <p:nvSpPr>
          <p:cNvPr id="17" name="Rectangle 16"/>
          <p:cNvSpPr/>
          <p:nvPr/>
        </p:nvSpPr>
        <p:spPr>
          <a:xfrm>
            <a:off x="7580193" y="2345436"/>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0233" y="2258568"/>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Turn cap:</a:t>
            </a:r>
            <a:r>
              <a:rPr sz="1800" i="0" b="0">
                <a:solidFill>
                  <a:srgbClr val="1E293B"/>
                </a:solidFill>
                <a:latin typeface="Helvetica Neue"/>
              </a:rPr>
              <a:t> escalate, do not guess.</a:t>
            </a:r>
          </a:p>
        </p:txBody>
      </p:sp>
      <p:sp>
        <p:nvSpPr>
          <p:cNvPr id="19" name="Rectangle 18"/>
          <p:cNvSpPr/>
          <p:nvPr/>
        </p:nvSpPr>
        <p:spPr>
          <a:xfrm>
            <a:off x="7580193" y="3086100"/>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00233" y="2999232"/>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Verifier:</a:t>
            </a:r>
            <a:r>
              <a:rPr sz="1800" i="0" b="0">
                <a:solidFill>
                  <a:srgbClr val="1E293B"/>
                </a:solidFill>
                <a:latin typeface="Helvetica Neue"/>
              </a:rPr>
              <a:t> plain code, independent of both.</a:t>
            </a:r>
          </a:p>
        </p:txBody>
      </p:sp>
      <p:sp>
        <p:nvSpPr>
          <p:cNvPr id="21" name="Rectangle 20"/>
          <p:cNvSpPr/>
          <p:nvPr/>
        </p:nvSpPr>
        <p:spPr>
          <a:xfrm>
            <a:off x="7580193" y="3826763"/>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0233" y="3739896"/>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Transition graph:</a:t>
            </a:r>
            <a:r>
              <a:rPr sz="1800" i="0" b="0">
                <a:solidFill>
                  <a:srgbClr val="1E293B"/>
                </a:solidFill>
                <a:latin typeface="Helvetica Neue"/>
              </a:rPr>
              <a:t> the buyer cannot skip review.</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Count the calls before you search over plans</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A second opinion has a price</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notes/04-multi-agent-design-patterns.md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23</a:t>
            </a:r>
          </a:p>
        </p:txBody>
      </p:sp>
      <p:sp>
        <p:nvSpPr>
          <p:cNvPr id="9" name="Rectangle 8"/>
          <p:cNvSpPr/>
          <p:nvPr/>
        </p:nvSpPr>
        <p:spPr>
          <a:xfrm>
            <a:off x="502920" y="5586983"/>
            <a:ext cx="11185855" cy="630936"/>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586983"/>
            <a:ext cx="73152" cy="630936"/>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586983"/>
            <a:ext cx="10728655" cy="630936"/>
          </a:xfrm>
          <a:prstGeom prst="rect">
            <a:avLst/>
          </a:prstGeom>
          <a:noFill/>
        </p:spPr>
        <p:txBody>
          <a:bodyPr wrap="square" lIns="0" rIns="0" tIns="0" bIns="0" anchor="ctr">
            <a:noAutofit/>
          </a:bodyPr>
          <a:lstStyle/>
          <a:p>
            <a:pPr algn="l">
              <a:lnSpc>
                <a:spcPct val="110000"/>
              </a:lnSpc>
            </a:pPr>
            <a:r>
              <a:rPr sz="1200" i="0" b="1">
                <a:solidFill>
                  <a:srgbClr val="1E3A5F"/>
                </a:solidFill>
                <a:latin typeface="Helvetica Neue"/>
              </a:rPr>
              <a:t>Tree of Thoughts lifted Game of 24 from 4% to 74% with GPT-4, but its calls multiply with depth and width, so try cheaper options first.</a:t>
            </a:r>
          </a:p>
        </p:txBody>
      </p:sp>
      <p:graphicFrame>
        <p:nvGraphicFramePr>
          <p:cNvPr id="12" name="Table 11"/>
          <p:cNvGraphicFramePr>
            <a:graphicFrameLocks noGrp="1"/>
          </p:cNvGraphicFramePr>
          <p:nvPr/>
        </p:nvGraphicFramePr>
        <p:xfrm>
          <a:off x="502920" y="1472184"/>
          <a:ext cx="11185853" cy="2026920"/>
        </p:xfrm>
        <a:graphic>
          <a:graphicData uri="http://schemas.openxmlformats.org/drawingml/2006/table">
            <a:tbl>
              <a:tblPr firstRow="1" bandRow="1">
                <a:tableStyleId>{5940675A-B579-460E-94D1-54222C63F5DA}</a:tableStyleId>
              </a:tblPr>
              <a:tblGrid>
                <a:gridCol w="2485745"/>
                <a:gridCol w="2485745"/>
                <a:gridCol w="2485745"/>
                <a:gridCol w="3728618"/>
              </a:tblGrid>
              <a:tr h="405384">
                <a:tc>
                  <a:txBody>
                    <a:bodyPr wrap="square"/>
                    <a:lstStyle/>
                    <a:p>
                      <a:pPr>
                        <a:lnSpc>
                          <a:spcPct val="100000"/>
                        </a:lnSpc>
                      </a:pPr>
                      <a:r>
                        <a:rPr sz="1700" i="0" b="1">
                          <a:solidFill>
                            <a:srgbClr val="FFFFFF"/>
                          </a:solidFill>
                          <a:latin typeface="Helvetica Neue"/>
                        </a:rPr>
                        <a:t>Depth</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Thoughts</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Width</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LLM calls</a:t>
                      </a:r>
                    </a:p>
                  </a:txBody>
                  <a:tcPr marL="109728" marR="109728" marT="54864" marB="54864" anchor="ctr">
                    <a:solidFill>
                      <a:srgbClr val="1E3A5F"/>
                    </a:solidFill>
                  </a:tcPr>
                </a:tc>
              </a:tr>
              <a:tr h="405384">
                <a:tc>
                  <a:txBody>
                    <a:bodyPr wrap="square"/>
                    <a:lstStyle/>
                    <a:p>
                      <a:pPr>
                        <a:lnSpc>
                          <a:spcPct val="100000"/>
                        </a:lnSpc>
                      </a:pPr>
                      <a:r>
                        <a:rPr sz="1700" i="0" b="1">
                          <a:solidFill>
                            <a:srgbClr val="1E293B"/>
                          </a:solidFill>
                          <a:latin typeface="Helvetica Neue"/>
                        </a:rPr>
                        <a:t>1</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3</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1</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4</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2</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3</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2</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12</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4</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3</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3</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40</a:t>
                      </a:r>
                    </a:p>
                  </a:txBody>
                  <a:tcPr marL="109728" marR="109728" marT="54864" marB="54864" anchor="ctr">
                    <a:solidFill>
                      <a:srgbClr val="E8F4F8"/>
                    </a:solidFill>
                  </a:tcPr>
                </a:tc>
              </a:tr>
              <a:tr h="405384">
                <a:tc>
                  <a:txBody>
                    <a:bodyPr wrap="square"/>
                    <a:lstStyle/>
                    <a:p>
                      <a:pPr>
                        <a:lnSpc>
                          <a:spcPct val="100000"/>
                        </a:lnSpc>
                      </a:pPr>
                      <a:r>
                        <a:rPr sz="1700" i="0" b="1">
                          <a:solidFill>
                            <a:srgbClr val="1E293B"/>
                          </a:solidFill>
                          <a:latin typeface="Helvetica Neue"/>
                        </a:rPr>
                        <a:t>4</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3</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5</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56</a:t>
                      </a:r>
                    </a:p>
                  </a:txBody>
                  <a:tcPr marL="109728" marR="109728" marT="54864" marB="54864" anchor="ctr">
                    <a:solidFill>
                      <a:srgbClr val="F8FAFC"/>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Pick the topology by who needs to talk</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A second opinion has a price</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notes/04-multi-agent-design-patterns.md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24</a:t>
            </a:r>
          </a:p>
        </p:txBody>
      </p:sp>
      <p:sp>
        <p:nvSpPr>
          <p:cNvPr id="9" name="Rectangle 8"/>
          <p:cNvSpPr/>
          <p:nvPr/>
        </p:nvSpPr>
        <p:spPr>
          <a:xfrm>
            <a:off x="502920" y="5586983"/>
            <a:ext cx="11185855" cy="630936"/>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586983"/>
            <a:ext cx="73152" cy="630936"/>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586983"/>
            <a:ext cx="10728655" cy="630936"/>
          </a:xfrm>
          <a:prstGeom prst="rect">
            <a:avLst/>
          </a:prstGeom>
          <a:noFill/>
        </p:spPr>
        <p:txBody>
          <a:bodyPr wrap="square" lIns="0" rIns="0" tIns="0" bIns="0" anchor="ctr">
            <a:noAutofit/>
          </a:bodyPr>
          <a:lstStyle/>
          <a:p>
            <a:pPr algn="l">
              <a:lnSpc>
                <a:spcPct val="110000"/>
              </a:lnSpc>
            </a:pPr>
            <a:r>
              <a:rPr sz="1200" i="0" b="1">
                <a:solidFill>
                  <a:srgbClr val="1E3A5F"/>
                </a:solidFill>
                <a:latin typeface="Helvetica Neue"/>
              </a:rPr>
              <a:t>Fewer speakers and restricted edges make a multi-agent system easier to reason about, and handoffs should pass a filtered summary rather than full history.</a:t>
            </a:r>
          </a:p>
        </p:txBody>
      </p:sp>
      <p:sp>
        <p:nvSpPr>
          <p:cNvPr id="12" name="Rectangle 11"/>
          <p:cNvSpPr/>
          <p:nvPr/>
        </p:nvSpPr>
        <p:spPr>
          <a:xfrm>
            <a:off x="1582981" y="1417320"/>
            <a:ext cx="3992096" cy="3584447"/>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learning-langchain-fig7-3.png"/>
          <p:cNvPicPr>
            <a:picLocks noChangeAspect="1"/>
          </p:cNvPicPr>
          <p:nvPr/>
        </p:nvPicPr>
        <p:blipFill>
          <a:blip r:embed="rId2"/>
          <a:stretch>
            <a:fillRect/>
          </a:stretch>
        </p:blipFill>
        <p:spPr>
          <a:xfrm>
            <a:off x="1637845" y="1472184"/>
            <a:ext cx="3882368" cy="3474719"/>
          </a:xfrm>
          <a:prstGeom prst="rect">
            <a:avLst/>
          </a:prstGeom>
        </p:spPr>
      </p:pic>
      <p:sp>
        <p:nvSpPr>
          <p:cNvPr id="14" name="TextBox 13"/>
          <p:cNvSpPr txBox="1"/>
          <p:nvPr/>
        </p:nvSpPr>
        <p:spPr>
          <a:xfrm>
            <a:off x="502920" y="5084064"/>
            <a:ext cx="6152220" cy="365760"/>
          </a:xfrm>
          <a:prstGeom prst="rect">
            <a:avLst/>
          </a:prstGeom>
          <a:noFill/>
        </p:spPr>
        <p:txBody>
          <a:bodyPr wrap="square" lIns="0" rIns="0" tIns="0" bIns="0" anchor="t">
            <a:noAutofit/>
          </a:bodyPr>
          <a:lstStyle/>
          <a:p>
            <a:pPr algn="ctr">
              <a:lnSpc>
                <a:spcPct val="110000"/>
              </a:lnSpc>
            </a:pPr>
            <a:r>
              <a:rPr sz="1200" i="1" b="0">
                <a:solidFill>
                  <a:srgbClr val="94A3B8"/>
                </a:solidFill>
                <a:latin typeface="Helvetica Neue"/>
              </a:rPr>
              <a:t>Single agent, network, supervisor, agents as tools, hierarchical, custom (Oshin &amp; Campos, Learning LangChain, 2025, Fig. 7-3)</a:t>
            </a:r>
          </a:p>
        </p:txBody>
      </p:sp>
      <p:sp>
        <p:nvSpPr>
          <p:cNvPr id="15" name="Rectangle 14"/>
          <p:cNvSpPr/>
          <p:nvPr/>
        </p:nvSpPr>
        <p:spPr>
          <a:xfrm>
            <a:off x="7020900" y="1559052"/>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40940" y="1472184"/>
            <a:ext cx="4347834"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Supervisor:</a:t>
            </a:r>
            <a:r>
              <a:rPr sz="1800" i="0" b="0">
                <a:solidFill>
                  <a:srgbClr val="1E293B"/>
                </a:solidFill>
                <a:latin typeface="Helvetica Neue"/>
              </a:rPr>
              <a:t> one router, easy to reason about.</a:t>
            </a:r>
          </a:p>
        </p:txBody>
      </p:sp>
      <p:sp>
        <p:nvSpPr>
          <p:cNvPr id="17" name="Rectangle 16"/>
          <p:cNvSpPr/>
          <p:nvPr/>
        </p:nvSpPr>
        <p:spPr>
          <a:xfrm>
            <a:off x="7020900" y="2299716"/>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40940" y="2212848"/>
            <a:ext cx="4347834"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Network:</a:t>
            </a:r>
            <a:r>
              <a:rPr sz="1800" i="0" b="0">
                <a:solidFill>
                  <a:srgbClr val="1E293B"/>
                </a:solidFill>
                <a:latin typeface="Helvetica Neue"/>
              </a:rPr>
              <a:t> free movement, derails easily.</a:t>
            </a:r>
          </a:p>
        </p:txBody>
      </p:sp>
      <p:sp>
        <p:nvSpPr>
          <p:cNvPr id="19" name="Rectangle 18"/>
          <p:cNvSpPr/>
          <p:nvPr/>
        </p:nvSpPr>
        <p:spPr>
          <a:xfrm>
            <a:off x="7020900" y="3040380"/>
            <a:ext cx="96012" cy="96012"/>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40940" y="2953512"/>
            <a:ext cx="4347834"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Filter each handoff.</a:t>
            </a:r>
            <a:r>
              <a:rPr sz="1800" i="0" b="0">
                <a:solidFill>
                  <a:srgbClr val="1E293B"/>
                </a:solidFill>
                <a:latin typeface="Helvetica Neue"/>
              </a:rPr>
              <a:t> Full history grows with every agent.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Same model in every role? Try one agent first</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4 · A second opinion has a price</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notes/04-multi-agent-design-patterns.md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25</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200" i="0" b="1">
                <a:solidFill>
                  <a:srgbClr val="1E3A5F"/>
                </a:solidFill>
                <a:latin typeface="Helvetica Neue"/>
              </a:rPr>
              <a:t>When every role uses one model, a single agent role-playing the steps can keep accuracy at lower cost, so make it the baseline to beat.</a:t>
            </a:r>
          </a:p>
        </p:txBody>
      </p:sp>
      <p:sp>
        <p:nvSpPr>
          <p:cNvPr id="12" name="Rectangle 11"/>
          <p:cNvSpPr/>
          <p:nvPr/>
        </p:nvSpPr>
        <p:spPr>
          <a:xfrm>
            <a:off x="502920"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472184"/>
            <a:ext cx="5410047" cy="557784"/>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472184"/>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One agent, role-playing each step</a:t>
            </a:r>
          </a:p>
        </p:txBody>
      </p:sp>
      <p:sp>
        <p:nvSpPr>
          <p:cNvPr id="15" name="Rectangle 14"/>
          <p:cNvSpPr/>
          <p:nvPr/>
        </p:nvSpPr>
        <p:spPr>
          <a:xfrm>
            <a:off x="731520" y="2313178"/>
            <a:ext cx="90678" cy="90678"/>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2231136"/>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HumanEval 92.1%; MBPP 81.4%</a:t>
            </a:r>
          </a:p>
        </p:txBody>
      </p:sp>
      <p:sp>
        <p:nvSpPr>
          <p:cNvPr id="17" name="Rectangle 16"/>
          <p:cNvSpPr/>
          <p:nvPr/>
        </p:nvSpPr>
        <p:spPr>
          <a:xfrm>
            <a:off x="731520" y="2727706"/>
            <a:ext cx="90678" cy="90678"/>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2645664"/>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HotpotQA 68.4%, a real drop</a:t>
            </a:r>
          </a:p>
        </p:txBody>
      </p:sp>
      <p:sp>
        <p:nvSpPr>
          <p:cNvPr id="19" name="Rectangle 18"/>
          <p:cNvSpPr/>
          <p:nvPr/>
        </p:nvSpPr>
        <p:spPr>
          <a:xfrm>
            <a:off x="731520" y="3142234"/>
            <a:ext cx="90678" cy="90678"/>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3060192"/>
            <a:ext cx="4587087" cy="661416"/>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AFlow on HotpotQA: $0.53 (simulated cache cost)</a:t>
            </a:r>
          </a:p>
        </p:txBody>
      </p:sp>
      <p:sp>
        <p:nvSpPr>
          <p:cNvPr id="21" name="Rectangle 20"/>
          <p:cNvSpPr/>
          <p:nvPr/>
        </p:nvSpPr>
        <p:spPr>
          <a:xfrm>
            <a:off x="685800"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Xu et al., 2026, GPT-4o-mini</a:t>
            </a:r>
          </a:p>
        </p:txBody>
      </p:sp>
      <p:sp>
        <p:nvSpPr>
          <p:cNvPr id="23" name="Rectangle 22"/>
          <p:cNvSpPr/>
          <p:nvPr/>
        </p:nvSpPr>
        <p:spPr>
          <a:xfrm>
            <a:off x="6278727" y="1472184"/>
            <a:ext cx="5410047"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78727" y="1472184"/>
            <a:ext cx="5410047" cy="557784"/>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07327" y="1472184"/>
            <a:ext cx="4952847"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The multi-agent workflow</a:t>
            </a:r>
          </a:p>
        </p:txBody>
      </p:sp>
      <p:sp>
        <p:nvSpPr>
          <p:cNvPr id="26" name="Rectangle 25"/>
          <p:cNvSpPr/>
          <p:nvPr/>
        </p:nvSpPr>
        <p:spPr>
          <a:xfrm>
            <a:off x="6507327" y="2313178"/>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7367" y="2231136"/>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HumanEval 91.6%; MBPP 81.1%</a:t>
            </a:r>
          </a:p>
        </p:txBody>
      </p:sp>
      <p:sp>
        <p:nvSpPr>
          <p:cNvPr id="28" name="Rectangle 27"/>
          <p:cNvSpPr/>
          <p:nvPr/>
        </p:nvSpPr>
        <p:spPr>
          <a:xfrm>
            <a:off x="6507327" y="2727706"/>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27367" y="2645664"/>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HotpotQA 72.1%</a:t>
            </a:r>
          </a:p>
        </p:txBody>
      </p:sp>
      <p:sp>
        <p:nvSpPr>
          <p:cNvPr id="30" name="Rectangle 29"/>
          <p:cNvSpPr/>
          <p:nvPr/>
        </p:nvSpPr>
        <p:spPr>
          <a:xfrm>
            <a:off x="6507327" y="3142234"/>
            <a:ext cx="90678" cy="90678"/>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27367" y="3060192"/>
            <a:ext cx="4587087" cy="376428"/>
          </a:xfrm>
          <a:prstGeom prst="rect">
            <a:avLst/>
          </a:prstGeom>
          <a:noFill/>
        </p:spPr>
        <p:txBody>
          <a:bodyPr wrap="square" lIns="0" rIns="0" tIns="0" bIns="0" anchor="t">
            <a:noAutofit/>
          </a:bodyPr>
          <a:lstStyle/>
          <a:p>
            <a:pPr algn="l">
              <a:lnSpc>
                <a:spcPct val="110000"/>
              </a:lnSpc>
            </a:pPr>
            <a:r>
              <a:rPr sz="1700" i="0" b="0">
                <a:solidFill>
                  <a:srgbClr val="1E293B"/>
                </a:solidFill>
                <a:latin typeface="Helvetica Neue"/>
              </a:rPr>
              <a:t>AFlow on HotpotQA: $1.44</a:t>
            </a:r>
          </a:p>
        </p:txBody>
      </p:sp>
      <p:sp>
        <p:nvSpPr>
          <p:cNvPr id="32" name="Rectangle 31"/>
          <p:cNvSpPr/>
          <p:nvPr/>
        </p:nvSpPr>
        <p:spPr>
          <a:xfrm>
            <a:off x="6461607" y="4956048"/>
            <a:ext cx="5044287" cy="347472"/>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53047" y="4956048"/>
            <a:ext cx="4861407" cy="347472"/>
          </a:xfrm>
          <a:prstGeom prst="rect">
            <a:avLst/>
          </a:prstGeom>
          <a:noFill/>
        </p:spPr>
        <p:txBody>
          <a:bodyPr wrap="square" lIns="0" rIns="0" tIns="0" bIns="0" anchor="ctr">
            <a:noAutofit/>
          </a:bodyPr>
          <a:lstStyle/>
          <a:p>
            <a:pPr algn="ctr">
              <a:lnSpc>
                <a:spcPct val="110000"/>
              </a:lnSpc>
            </a:pPr>
            <a:r>
              <a:rPr sz="1200" i="0" b="0">
                <a:solidFill>
                  <a:srgbClr val="475569"/>
                </a:solidFill>
                <a:latin typeface="Helvetica Neue"/>
              </a:rPr>
              <a:t>Same tasks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0EA5C9"/>
                </a:solidFill>
                <a:latin typeface="Helvetica Neue"/>
              </a:rPr>
              <a:t>PART 5</a:t>
            </a:r>
          </a:p>
        </p:txBody>
      </p:sp>
      <p:sp>
        <p:nvSpPr>
          <p:cNvPr id="4" name="TextBox 3"/>
          <p:cNvSpPr txBox="1"/>
          <p:nvPr/>
        </p:nvSpPr>
        <p:spPr>
          <a:xfrm>
            <a:off x="822960" y="1965960"/>
            <a:ext cx="5486400" cy="18592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It has to run somewhere</a:t>
            </a:r>
          </a:p>
        </p:txBody>
      </p:sp>
      <p:sp>
        <p:nvSpPr>
          <p:cNvPr id="5" name="TextBox 4"/>
          <p:cNvSpPr txBox="1"/>
          <p:nvPr/>
        </p:nvSpPr>
        <p:spPr>
          <a:xfrm>
            <a:off x="822960" y="3916680"/>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Pick by control flow · Resume safely · Protocols · The harness · Skills · Evals</a:t>
            </a:r>
          </a:p>
        </p:txBody>
      </p:sp>
      <p:cxnSp>
        <p:nvCxnSpPr>
          <p:cNvPr id="6" name="Connector 5"/>
          <p:cNvCxnSpPr/>
          <p:nvPr/>
        </p:nvCxnSpPr>
        <p:spPr>
          <a:xfrm>
            <a:off x="6446520" y="2273935"/>
            <a:ext cx="0" cy="231013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2273935"/>
            <a:ext cx="4693615" cy="2493010"/>
          </a:xfrm>
          <a:prstGeom prst="rect">
            <a:avLst/>
          </a:prstGeom>
          <a:noFill/>
        </p:spPr>
        <p:txBody>
          <a:bodyPr wrap="square" lIns="0" rIns="0" tIns="0" bIns="0" anchor="t">
            <a:noAutofit/>
          </a:bodyPr>
          <a:lstStyle/>
          <a:p>
            <a:pPr algn="l">
              <a:lnSpc>
                <a:spcPct val="100000"/>
              </a:lnSpc>
            </a:pPr>
            <a:r>
              <a:rPr sz="1700" i="0" b="0">
                <a:solidFill>
                  <a:srgbClr val="CBD5E1"/>
                </a:solidFill>
                <a:latin typeface="Helvetica Neue"/>
              </a:rPr>
              <a:t>Which framework, and what around it?</a:t>
            </a:r>
          </a:p>
          <a:p>
            <a:pPr algn="l">
              <a:lnSpc>
                <a:spcPct val="100000"/>
              </a:lnSpc>
              <a:spcBef>
                <a:spcPts val="1189"/>
              </a:spcBef>
            </a:pPr>
            <a:r>
              <a:rPr sz="1700" i="0" b="0">
                <a:solidFill>
                  <a:srgbClr val="CBD5E1"/>
                </a:solidFill>
                <a:latin typeface="Helvetica Neue"/>
              </a:rPr>
              <a:t>Pick a framework by what you program</a:t>
            </a:r>
          </a:p>
          <a:p>
            <a:pPr algn="l">
              <a:lnSpc>
                <a:spcPct val="100000"/>
              </a:lnSpc>
              <a:spcBef>
                <a:spcPts val="1189"/>
              </a:spcBef>
            </a:pPr>
            <a:r>
              <a:rPr sz="1700" i="0" b="0">
                <a:solidFill>
                  <a:srgbClr val="CBD5E1"/>
                </a:solidFill>
                <a:latin typeface="Helvetica Neue"/>
              </a:rPr>
              <a:t>One approval, two orders</a:t>
            </a:r>
          </a:p>
          <a:p>
            <a:pPr algn="l">
              <a:lnSpc>
                <a:spcPct val="100000"/>
              </a:lnSpc>
              <a:spcBef>
                <a:spcPts val="1189"/>
              </a:spcBef>
            </a:pPr>
            <a:r>
              <a:rPr sz="1700" i="0" b="0">
                <a:solidFill>
                  <a:srgbClr val="CBD5E1"/>
                </a:solidFill>
                <a:latin typeface="Helvetica Neue"/>
              </a:rPr>
              <a:t>The harness across the lifecycle</a:t>
            </a:r>
          </a:p>
          <a:p>
            <a:pPr algn="l">
              <a:lnSpc>
                <a:spcPct val="100000"/>
              </a:lnSpc>
              <a:spcBef>
                <a:spcPts val="1189"/>
              </a:spcBef>
            </a:pPr>
            <a:r>
              <a:rPr sz="1700" i="0" b="0">
                <a:solidFill>
                  <a:srgbClr val="CBD5E1"/>
                </a:solidFill>
                <a:latin typeface="Helvetica Neue"/>
              </a:rPr>
              <a:t>Load a skill only when the task matches</a:t>
            </a:r>
          </a:p>
          <a:p>
            <a:pPr algn="l">
              <a:lnSpc>
                <a:spcPct val="100000"/>
              </a:lnSpc>
              <a:spcBef>
                <a:spcPts val="1189"/>
              </a:spcBef>
            </a:pPr>
            <a:r>
              <a:rPr sz="1700" i="0" b="0">
                <a:solidFill>
                  <a:srgbClr val="CBD5E1"/>
                </a:solidFill>
                <a:latin typeface="Helvetica Neue"/>
              </a:rPr>
              <a:t>A correct answer can hide a bad process</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Which framework, and what around it?</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problem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5 · It has to run somewhere</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notes/06-google-adk-intensive.md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27</a:t>
            </a:r>
          </a:p>
        </p:txBody>
      </p:sp>
      <p:sp>
        <p:nvSpPr>
          <p:cNvPr id="10" name="Rectangle 9"/>
          <p:cNvSpPr/>
          <p:nvPr/>
        </p:nvSpPr>
        <p:spPr>
          <a:xfrm>
            <a:off x="502920" y="5586983"/>
            <a:ext cx="11185855" cy="630936"/>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586983"/>
            <a:ext cx="73152" cy="630936"/>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586983"/>
            <a:ext cx="10728655" cy="630936"/>
          </a:xfrm>
          <a:prstGeom prst="rect">
            <a:avLst/>
          </a:prstGeom>
          <a:noFill/>
        </p:spPr>
        <p:txBody>
          <a:bodyPr wrap="square" lIns="0" rIns="0" tIns="0" bIns="0" anchor="ctr">
            <a:noAutofit/>
          </a:bodyPr>
          <a:lstStyle/>
          <a:p>
            <a:pPr algn="l">
              <a:lnSpc>
                <a:spcPct val="110000"/>
              </a:lnSpc>
            </a:pPr>
            <a:r>
              <a:rPr sz="1200" i="0" b="1">
                <a:solidFill>
                  <a:srgbClr val="1E3A5F"/>
                </a:solidFill>
                <a:latin typeface="Helvetica Neue"/>
              </a:rPr>
              <a:t>The engineering leverage sits mostly around the model, so choose a framework for its control flow and invest in what surrounds the loop.</a:t>
            </a:r>
          </a:p>
        </p:txBody>
      </p:sp>
      <p:sp>
        <p:nvSpPr>
          <p:cNvPr id="13" name="Rectangle 12"/>
          <p:cNvSpPr/>
          <p:nvPr/>
        </p:nvSpPr>
        <p:spPr>
          <a:xfrm>
            <a:off x="777240" y="2235708"/>
            <a:ext cx="109728" cy="2359152"/>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2235708"/>
            <a:ext cx="10088575" cy="1993392"/>
          </a:xfrm>
          <a:prstGeom prst="rect">
            <a:avLst/>
          </a:prstGeom>
          <a:noFill/>
        </p:spPr>
        <p:txBody>
          <a:bodyPr wrap="square" lIns="0" rIns="0" tIns="0" bIns="0" anchor="t">
            <a:noAutofit/>
          </a:bodyPr>
          <a:lstStyle/>
          <a:p>
            <a:pPr algn="l">
              <a:lnSpc>
                <a:spcPct val="105000"/>
              </a:lnSpc>
            </a:pPr>
            <a:r>
              <a:rPr sz="3600" i="0" b="1">
                <a:solidFill>
                  <a:srgbClr val="1E3A5F"/>
                </a:solidFill>
                <a:latin typeface="Helvetica Neue"/>
              </a:rPr>
              <a:t>Most agent failures are configuration failures, the course argues: tools, prompts and guardrails, not the model.</a:t>
            </a:r>
          </a:p>
        </p:txBody>
      </p:sp>
      <p:sp>
        <p:nvSpPr>
          <p:cNvPr id="15" name="TextBox 14"/>
          <p:cNvSpPr txBox="1"/>
          <p:nvPr/>
        </p:nvSpPr>
        <p:spPr>
          <a:xfrm>
            <a:off x="1234440" y="4183380"/>
            <a:ext cx="10088575" cy="365760"/>
          </a:xfrm>
          <a:prstGeom prst="rect">
            <a:avLst/>
          </a:prstGeom>
          <a:noFill/>
        </p:spPr>
        <p:txBody>
          <a:bodyPr wrap="square" lIns="0" rIns="0" tIns="0" bIns="0" anchor="t">
            <a:noAutofit/>
          </a:bodyPr>
          <a:lstStyle/>
          <a:p>
            <a:pPr algn="l">
              <a:lnSpc>
                <a:spcPct val="110000"/>
              </a:lnSpc>
            </a:pPr>
            <a:r>
              <a:rPr sz="1700" i="1" b="0">
                <a:solidFill>
                  <a:srgbClr val="475569"/>
                </a:solidFill>
                <a:latin typeface="Helvetica Neue"/>
              </a:rPr>
              <a:t>Google × Kaggle, 5-Day AI Agents Intensive, Day 1. A framing, not a measurement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Pick a framework by what you program</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5 · It has to run somewhere</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notes/05-framework-survey.md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28</a:t>
            </a:r>
          </a:p>
        </p:txBody>
      </p:sp>
      <p:sp>
        <p:nvSpPr>
          <p:cNvPr id="9" name="Rectangle 8"/>
          <p:cNvSpPr/>
          <p:nvPr/>
        </p:nvSpPr>
        <p:spPr>
          <a:xfrm>
            <a:off x="502920" y="5586983"/>
            <a:ext cx="11185855" cy="630936"/>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586983"/>
            <a:ext cx="73152" cy="630936"/>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586983"/>
            <a:ext cx="10728655" cy="630936"/>
          </a:xfrm>
          <a:prstGeom prst="rect">
            <a:avLst/>
          </a:prstGeom>
          <a:noFill/>
        </p:spPr>
        <p:txBody>
          <a:bodyPr wrap="square" lIns="0" rIns="0" tIns="0" bIns="0" anchor="ctr">
            <a:noAutofit/>
          </a:bodyPr>
          <a:lstStyle/>
          <a:p>
            <a:pPr algn="l">
              <a:lnSpc>
                <a:spcPct val="110000"/>
              </a:lnSpc>
            </a:pPr>
            <a:r>
              <a:rPr sz="1200" i="0" b="1">
                <a:solidFill>
                  <a:srgbClr val="1E3A5F"/>
                </a:solidFill>
                <a:latin typeface="Helvetica Neue"/>
              </a:rPr>
              <a:t>Frameworks differ in their unit of programming, so write down your control flow first and pick the one that matches, or none if it is a straight line.</a:t>
            </a:r>
          </a:p>
        </p:txBody>
      </p:sp>
      <p:graphicFrame>
        <p:nvGraphicFramePr>
          <p:cNvPr id="12" name="Table 11"/>
          <p:cNvGraphicFramePr>
            <a:graphicFrameLocks noGrp="1"/>
          </p:cNvGraphicFramePr>
          <p:nvPr/>
        </p:nvGraphicFramePr>
        <p:xfrm>
          <a:off x="502920" y="1472184"/>
          <a:ext cx="11185854" cy="3096768"/>
        </p:xfrm>
        <a:graphic>
          <a:graphicData uri="http://schemas.openxmlformats.org/drawingml/2006/table">
            <a:tbl>
              <a:tblPr firstRow="1" bandRow="1">
                <a:tableStyleId>{5940675A-B579-460E-94D1-54222C63F5DA}</a:tableStyleId>
              </a:tblPr>
              <a:tblGrid>
                <a:gridCol w="2796463"/>
                <a:gridCol w="3728618"/>
                <a:gridCol w="4660773"/>
              </a:tblGrid>
              <a:tr h="405384">
                <a:tc>
                  <a:txBody>
                    <a:bodyPr wrap="square"/>
                    <a:lstStyle/>
                    <a:p>
                      <a:pPr>
                        <a:lnSpc>
                          <a:spcPct val="100000"/>
                        </a:lnSpc>
                      </a:pPr>
                      <a:r>
                        <a:rPr sz="1700" i="0" b="1">
                          <a:solidFill>
                            <a:srgbClr val="FFFFFF"/>
                          </a:solidFill>
                          <a:latin typeface="Helvetica Neue"/>
                        </a:rPr>
                        <a:t>Framework</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You program</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Lean toward it for</a:t>
                      </a:r>
                    </a:p>
                  </a:txBody>
                  <a:tcPr marL="109728" marR="109728" marT="54864" marB="54864" anchor="ctr">
                    <a:solidFill>
                      <a:srgbClr val="1E3A5F"/>
                    </a:solidFill>
                  </a:tcPr>
                </a:tc>
              </a:tr>
              <a:tr h="664464">
                <a:tc>
                  <a:txBody>
                    <a:bodyPr wrap="square"/>
                    <a:lstStyle/>
                    <a:p>
                      <a:pPr>
                        <a:lnSpc>
                          <a:spcPct val="100000"/>
                        </a:lnSpc>
                      </a:pPr>
                      <a:r>
                        <a:rPr sz="1700" i="0" b="1">
                          <a:solidFill>
                            <a:srgbClr val="1E293B"/>
                          </a:solidFill>
                          <a:latin typeface="Helvetica Neue"/>
                        </a:rPr>
                        <a:t>LangGraph</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Nodes and edges over typed state</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Explicit control, checkpoints, human approval</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CrewAI</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Roles plus tasks</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A role-based pipeline with little code</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Google ADK</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Agent with sub-agents</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Gemini and Vertex deployment</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AutoGen 0.2</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Conversable agents</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Dialogue prototypes; now succeeded</a:t>
                      </a:r>
                    </a:p>
                  </a:txBody>
                  <a:tcPr marL="109728" marR="109728" marT="54864" marB="54864" anchor="ctr">
                    <a:solidFill>
                      <a:srgbClr val="F8FAFC"/>
                    </a:solidFill>
                  </a:tcPr>
                </a:tc>
              </a:tr>
              <a:tr h="405384">
                <a:tc>
                  <a:txBody>
                    <a:bodyPr wrap="square"/>
                    <a:lstStyle/>
                    <a:p>
                      <a:pPr>
                        <a:lnSpc>
                          <a:spcPct val="100000"/>
                        </a:lnSpc>
                      </a:pPr>
                      <a:r>
                        <a:rPr sz="1700" i="0" b="1">
                          <a:solidFill>
                            <a:srgbClr val="1E293B"/>
                          </a:solidFill>
                          <a:latin typeface="Helvetica Neue"/>
                        </a:rPr>
                        <a:t>Letta</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A persistent agent server</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Long-lived memory</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smolagents</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CodeAgent</a:t>
                      </a:r>
                    </a:p>
                  </a:txBody>
                  <a:tcPr marL="109728" marR="109728" marT="54864" marB="54864" anchor="ctr">
                    <a:solidFill>
                      <a:srgbClr val="F8FAFC"/>
                    </a:solidFill>
                  </a:tcPr>
                </a:tc>
                <a:tc>
                  <a:txBody>
                    <a:bodyPr wrap="square"/>
                    <a:lstStyle/>
                    <a:p>
                      <a:pPr>
                        <a:lnSpc>
                          <a:spcPct val="100000"/>
                        </a:lnSpc>
                      </a:pPr>
                      <a:r>
                        <a:rPr sz="1700" i="0" b="0">
                          <a:solidFill>
                            <a:srgbClr val="475569"/>
                          </a:solidFill>
                          <a:latin typeface="Helvetica Neue"/>
                        </a:rPr>
                        <a:t>Code as action, open models</a:t>
                      </a:r>
                    </a:p>
                  </a:txBody>
                  <a:tcPr marL="109728" marR="109728" marT="54864" marB="54864" anchor="ctr">
                    <a:solidFill>
                      <a:srgbClr val="F8FAFC"/>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One approval, two orders</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5 · It has to run somewhere</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notes/05-framework-survey.md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29</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300" i="0" b="1">
                <a:solidFill>
                  <a:srgbClr val="1E3A5F"/>
                </a:solidFill>
                <a:latin typeface="Helvetica Neue"/>
              </a:rPr>
              <a:t>On resume an interrupted node runs again from its first line, so put the pause and the side effect in separate nodes.</a:t>
            </a:r>
          </a:p>
        </p:txBody>
      </p:sp>
      <p:sp>
        <p:nvSpPr>
          <p:cNvPr id="12" name="Rounded Rectangle 11"/>
          <p:cNvSpPr/>
          <p:nvPr/>
        </p:nvSpPr>
        <p:spPr>
          <a:xfrm>
            <a:off x="502920" y="1472184"/>
            <a:ext cx="6711513" cy="36576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PYTHON</a:t>
            </a:r>
          </a:p>
        </p:txBody>
      </p:sp>
      <p:sp>
        <p:nvSpPr>
          <p:cNvPr id="14" name="TextBox 13"/>
          <p:cNvSpPr txBox="1"/>
          <p:nvPr/>
        </p:nvSpPr>
        <p:spPr>
          <a:xfrm>
            <a:off x="731520" y="1883664"/>
            <a:ext cx="6254313" cy="3017520"/>
          </a:xfrm>
          <a:prstGeom prst="rect">
            <a:avLst/>
          </a:prstGeom>
          <a:noFill/>
        </p:spPr>
        <p:txBody>
          <a:bodyPr wrap="square" lIns="0" rIns="0" tIns="0" bIns="0" anchor="t">
            <a:noAutofit/>
          </a:bodyPr>
          <a:lstStyle/>
          <a:p>
            <a:pPr algn="l">
              <a:lnSpc>
                <a:spcPct val="100000"/>
              </a:lnSpc>
            </a:pPr>
            <a:r>
              <a:rPr sz="1500" i="0" b="0">
                <a:solidFill>
                  <a:srgbClr val="E2E8F0"/>
                </a:solidFill>
                <a:latin typeface="Menlo"/>
              </a:rPr>
              <a:t>def unsafe_node(state):</a:t>
            </a:r>
          </a:p>
          <a:p>
            <a:pPr algn="l">
              <a:lnSpc>
                <a:spcPct val="100000"/>
              </a:lnSpc>
            </a:pPr>
            <a:r>
              <a:rPr sz="1500" i="0" b="0">
                <a:solidFill>
                  <a:srgbClr val="E2E8F0"/>
                </a:solidFill>
                <a:latin typeface="Menlo"/>
              </a:rPr>
              <a:t>    ORDERS.append(state["quantity"])  # side effect</a:t>
            </a:r>
          </a:p>
          <a:p>
            <a:pPr algn="l">
              <a:lnSpc>
                <a:spcPct val="100000"/>
              </a:lnSpc>
            </a:pPr>
            <a:r>
              <a:rPr sz="1500" i="0" b="0">
                <a:solidFill>
                  <a:srgbClr val="E2E8F0"/>
                </a:solidFill>
                <a:latin typeface="Menlo"/>
              </a:rPr>
              <a:t>    answer = interrupt("Send the email?")</a:t>
            </a:r>
          </a:p>
          <a:p>
            <a:pPr algn="l">
              <a:lnSpc>
                <a:spcPct val="100000"/>
              </a:lnSpc>
            </a:pPr>
            <a:r>
              <a:rPr sz="1500" i="0" b="0">
                <a:solidFill>
                  <a:srgbClr val="E2E8F0"/>
                </a:solidFill>
                <a:latin typeface="Menlo"/>
              </a:rPr>
              <a:t>    ...</a:t>
            </a:r>
          </a:p>
          <a:p>
            <a:pPr algn="l">
              <a:lnSpc>
                <a:spcPct val="100000"/>
              </a:lnSpc>
            </a:pPr>
            <a:r>
              <a:rPr sz="1500" i="0" b="0">
                <a:solidFill>
                  <a:srgbClr val="E2E8F0"/>
                </a:solidFill>
                <a:latin typeface="Menlo"/>
              </a:rPr>
              <a:t># resume re-runs the node from its first line</a:t>
            </a:r>
          </a:p>
          <a:p>
            <a:pPr algn="l">
              <a:lnSpc>
                <a:spcPct val="100000"/>
              </a:lnSpc>
            </a:pPr>
          </a:p>
          <a:p>
            <a:pPr algn="l">
              <a:lnSpc>
                <a:spcPct val="100000"/>
              </a:lnSpc>
            </a:pPr>
            <a:r>
              <a:rPr sz="1500" i="0" b="0">
                <a:solidFill>
                  <a:srgbClr val="E2E8F0"/>
                </a:solidFill>
                <a:latin typeface="Menlo"/>
              </a:rPr>
              <a:t># unsafe: orders placed: [300, 300]</a:t>
            </a:r>
          </a:p>
          <a:p>
            <a:pPr algn="l">
              <a:lnSpc>
                <a:spcPct val="100000"/>
              </a:lnSpc>
            </a:pPr>
          </a:p>
          <a:p>
            <a:pPr algn="l">
              <a:lnSpc>
                <a:spcPct val="100000"/>
              </a:lnSpc>
            </a:pPr>
            <a:r>
              <a:rPr sz="1500" i="0" b="0">
                <a:solidFill>
                  <a:srgbClr val="E2E8F0"/>
                </a:solidFill>
                <a:latin typeface="Menlo"/>
              </a:rPr>
              <a:t>def approve_node(state):              # pause only</a:t>
            </a:r>
          </a:p>
          <a:p>
            <a:pPr algn="l">
              <a:lnSpc>
                <a:spcPct val="100000"/>
              </a:lnSpc>
            </a:pPr>
            <a:r>
              <a:rPr sz="1500" i="0" b="0">
                <a:solidFill>
                  <a:srgbClr val="E2E8F0"/>
                </a:solidFill>
                <a:latin typeface="Menlo"/>
              </a:rPr>
              <a:t>    return {"approved": interrupt("Order?") == "yes"}</a:t>
            </a:r>
          </a:p>
          <a:p>
            <a:pPr algn="l">
              <a:lnSpc>
                <a:spcPct val="100000"/>
              </a:lnSpc>
            </a:pPr>
            <a:r>
              <a:rPr sz="1500" i="0" b="0">
                <a:solidFill>
                  <a:srgbClr val="E2E8F0"/>
                </a:solidFill>
                <a:latin typeface="Menlo"/>
              </a:rPr>
              <a:t>def order_node(state):                # act only</a:t>
            </a:r>
          </a:p>
          <a:p>
            <a:pPr algn="l">
              <a:lnSpc>
                <a:spcPct val="100000"/>
              </a:lnSpc>
            </a:pPr>
            <a:r>
              <a:rPr sz="1500" i="0" b="0">
                <a:solidFill>
                  <a:srgbClr val="E2E8F0"/>
                </a:solidFill>
                <a:latin typeface="Menlo"/>
              </a:rPr>
              <a:t>    ...</a:t>
            </a:r>
          </a:p>
          <a:p>
            <a:pPr algn="l">
              <a:lnSpc>
                <a:spcPct val="100000"/>
              </a:lnSpc>
            </a:pPr>
            <a:r>
              <a:rPr sz="1500" i="0" b="0">
                <a:solidFill>
                  <a:srgbClr val="E2E8F0"/>
                </a:solidFill>
                <a:latin typeface="Menlo"/>
              </a:rPr>
              <a:t># safe:   orders placed: [300]</a:t>
            </a:r>
          </a:p>
        </p:txBody>
      </p:sp>
      <p:sp>
        <p:nvSpPr>
          <p:cNvPr id="15" name="Rectangle 14"/>
          <p:cNvSpPr/>
          <p:nvPr/>
        </p:nvSpPr>
        <p:spPr>
          <a:xfrm>
            <a:off x="7580193" y="1604772"/>
            <a:ext cx="96012" cy="96012"/>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0233" y="1517904"/>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Resume re-runs the node.</a:t>
            </a:r>
            <a:r>
              <a:rPr sz="1800" i="0" b="0">
                <a:solidFill>
                  <a:srgbClr val="1E293B"/>
                </a:solidFill>
                <a:latin typeface="Helvetica Neue"/>
              </a:rPr>
              <a:t> It does not continue mid-function.</a:t>
            </a:r>
          </a:p>
        </p:txBody>
      </p:sp>
      <p:sp>
        <p:nvSpPr>
          <p:cNvPr id="17" name="Rectangle 16"/>
          <p:cNvSpPr/>
          <p:nvPr/>
        </p:nvSpPr>
        <p:spPr>
          <a:xfrm>
            <a:off x="7580193" y="2345436"/>
            <a:ext cx="96012" cy="96012"/>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0233" y="2258568"/>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Pause in one node, act in the next.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The harness across the lifecycle</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5 · It has to run somewhere</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notes/06-google-adk-intensive.md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30</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200" i="0" b="1">
                <a:solidFill>
                  <a:srgbClr val="1E3A5F"/>
                </a:solidFill>
                <a:latin typeface="Helvetica Neue"/>
              </a:rPr>
              <a:t>The harness is configured in planning, runs during implementation, feeds errors back during testing and is observed in production.</a:t>
            </a:r>
          </a:p>
        </p:txBody>
      </p:sp>
      <p:sp>
        <p:nvSpPr>
          <p:cNvPr id="12" name="Rounded Rectangle 11"/>
          <p:cNvSpPr/>
          <p:nvPr/>
        </p:nvSpPr>
        <p:spPr>
          <a:xfrm>
            <a:off x="586587" y="1563624"/>
            <a:ext cx="2377440" cy="1205484"/>
          </a:xfrm>
          <a:prstGeom prst="roundRect">
            <a:avLst>
              <a:gd name="adj" fmla="val 12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3747" y="1563624"/>
            <a:ext cx="2103120"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Configure</a:t>
            </a:r>
          </a:p>
          <a:p>
            <a:pPr algn="ctr">
              <a:lnSpc>
                <a:spcPct val="110000"/>
              </a:lnSpc>
            </a:pPr>
            <a:r>
              <a:rPr sz="1300" i="0" b="0">
                <a:solidFill>
                  <a:srgbClr val="E8F4F8"/>
                </a:solidFill>
                <a:latin typeface="Helvetica Neue"/>
              </a:rPr>
              <a:t>planning: AGENTS.md, rules, tools</a:t>
            </a:r>
          </a:p>
        </p:txBody>
      </p:sp>
      <p:cxnSp>
        <p:nvCxnSpPr>
          <p:cNvPr id="14" name="Connector 13"/>
          <p:cNvCxnSpPr/>
          <p:nvPr/>
        </p:nvCxnSpPr>
        <p:spPr>
          <a:xfrm>
            <a:off x="3018891" y="216636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466947" y="1563624"/>
            <a:ext cx="2377440" cy="1205484"/>
          </a:xfrm>
          <a:prstGeom prst="roundRect">
            <a:avLst>
              <a:gd name="adj" fmla="val 12000"/>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4107" y="1563624"/>
            <a:ext cx="2103120"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Run</a:t>
            </a:r>
          </a:p>
          <a:p>
            <a:pPr algn="ctr">
              <a:lnSpc>
                <a:spcPct val="110000"/>
              </a:lnSpc>
            </a:pPr>
            <a:r>
              <a:rPr sz="1300" i="0" b="0">
                <a:solidFill>
                  <a:srgbClr val="E8F4F8"/>
                </a:solidFill>
                <a:latin typeface="Helvetica Neue"/>
              </a:rPr>
              <a:t>implementation: sandboxes, execution</a:t>
            </a:r>
          </a:p>
        </p:txBody>
      </p:sp>
      <p:cxnSp>
        <p:nvCxnSpPr>
          <p:cNvPr id="17" name="Connector 16"/>
          <p:cNvCxnSpPr/>
          <p:nvPr/>
        </p:nvCxnSpPr>
        <p:spPr>
          <a:xfrm>
            <a:off x="5899251" y="216636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347307" y="1563624"/>
            <a:ext cx="2377440" cy="1205484"/>
          </a:xfrm>
          <a:prstGeom prst="roundRect">
            <a:avLst>
              <a:gd name="adj" fmla="val 12000"/>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84467" y="1563624"/>
            <a:ext cx="2103120"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Feed back</a:t>
            </a:r>
          </a:p>
          <a:p>
            <a:pPr algn="ctr">
              <a:lnSpc>
                <a:spcPct val="110000"/>
              </a:lnSpc>
            </a:pPr>
            <a:r>
              <a:rPr sz="1300" i="0" b="0">
                <a:solidFill>
                  <a:srgbClr val="E8F4F8"/>
                </a:solidFill>
                <a:latin typeface="Helvetica Neue"/>
              </a:rPr>
              <a:t>testing: errors go back to the model</a:t>
            </a:r>
          </a:p>
        </p:txBody>
      </p:sp>
      <p:cxnSp>
        <p:nvCxnSpPr>
          <p:cNvPr id="20" name="Connector 19"/>
          <p:cNvCxnSpPr/>
          <p:nvPr/>
        </p:nvCxnSpPr>
        <p:spPr>
          <a:xfrm>
            <a:off x="8779611" y="216636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227667" y="1563624"/>
            <a:ext cx="2377440" cy="1205484"/>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4827" y="1563624"/>
            <a:ext cx="2103120"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Observe</a:t>
            </a:r>
          </a:p>
          <a:p>
            <a:pPr algn="ctr">
              <a:lnSpc>
                <a:spcPct val="110000"/>
              </a:lnSpc>
            </a:pPr>
            <a:r>
              <a:rPr sz="1300" i="0" b="0">
                <a:solidFill>
                  <a:srgbClr val="E8F4F8"/>
                </a:solidFill>
                <a:latin typeface="Helvetica Neue"/>
              </a:rPr>
              <a:t>production: hooks, cost, latency, drift</a:t>
            </a:r>
          </a:p>
        </p:txBody>
      </p:sp>
      <p:cxnSp>
        <p:nvCxnSpPr>
          <p:cNvPr id="23" name="Connector 22"/>
          <p:cNvCxnSpPr/>
          <p:nvPr/>
        </p:nvCxnSpPr>
        <p:spPr>
          <a:xfrm>
            <a:off x="10416387" y="2769108"/>
            <a:ext cx="0" cy="411480"/>
          </a:xfrm>
          <a:prstGeom prst="line">
            <a:avLst/>
          </a:prstGeom>
          <a:ln w="22225">
            <a:solidFill>
              <a:srgbClr val="16653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1775307" y="3180588"/>
            <a:ext cx="8641080" cy="0"/>
          </a:xfrm>
          <a:prstGeom prst="line">
            <a:avLst/>
          </a:prstGeom>
          <a:ln w="22225">
            <a:solidFill>
              <a:srgbClr val="166534"/>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775307" y="2805684"/>
            <a:ext cx="0" cy="374904"/>
          </a:xfrm>
          <a:prstGeom prst="line">
            <a:avLst/>
          </a:prstGeom>
          <a:ln w="22225">
            <a:solidFill>
              <a:srgbClr val="16653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1775307" y="3217164"/>
            <a:ext cx="8641080" cy="320040"/>
          </a:xfrm>
          <a:prstGeom prst="rect">
            <a:avLst/>
          </a:prstGeom>
          <a:noFill/>
        </p:spPr>
        <p:txBody>
          <a:bodyPr wrap="square" lIns="0" rIns="0" tIns="0" bIns="0" anchor="t">
            <a:noAutofit/>
          </a:bodyPr>
          <a:lstStyle/>
          <a:p>
            <a:pPr algn="ctr">
              <a:lnSpc>
                <a:spcPct val="110000"/>
              </a:lnSpc>
            </a:pPr>
            <a:r>
              <a:rPr sz="1300" i="1" b="0">
                <a:solidFill>
                  <a:srgbClr val="166534"/>
                </a:solidFill>
                <a:latin typeface="Helvetica Neue"/>
              </a:rPr>
              <a:t>What production shows feeds the next round of configuration</a:t>
            </a:r>
          </a:p>
        </p:txBody>
      </p:sp>
      <p:sp>
        <p:nvSpPr>
          <p:cNvPr id="27" name="Rectangle 26"/>
          <p:cNvSpPr/>
          <p:nvPr/>
        </p:nvSpPr>
        <p:spPr>
          <a:xfrm>
            <a:off x="502920" y="4003801"/>
            <a:ext cx="101346" cy="101346"/>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3912108"/>
            <a:ext cx="10865815" cy="409956"/>
          </a:xfrm>
          <a:prstGeom prst="rect">
            <a:avLst/>
          </a:prstGeom>
          <a:noFill/>
        </p:spPr>
        <p:txBody>
          <a:bodyPr wrap="square" lIns="0" rIns="0" tIns="0" bIns="0" anchor="t">
            <a:noAutofit/>
          </a:bodyPr>
          <a:lstStyle/>
          <a:p>
            <a:pPr algn="l">
              <a:lnSpc>
                <a:spcPct val="110000"/>
              </a:lnSpc>
            </a:pPr>
            <a:r>
              <a:rPr sz="1900" i="0" b="1">
                <a:solidFill>
                  <a:srgbClr val="1E293B"/>
                </a:solidFill>
                <a:latin typeface="Helvetica Neue"/>
              </a:rPr>
              <a:t>Tests</a:t>
            </a:r>
            <a:r>
              <a:rPr sz="1900" i="0" b="0">
                <a:solidFill>
                  <a:srgbClr val="1E293B"/>
                </a:solidFill>
                <a:latin typeface="Helvetica Neue"/>
              </a:rPr>
              <a:t> check deterministic parts. </a:t>
            </a:r>
            <a:r>
              <a:rPr sz="1900" i="0" b="1">
                <a:solidFill>
                  <a:srgbClr val="1E293B"/>
                </a:solidFill>
                <a:latin typeface="Helvetica Neue"/>
              </a:rPr>
              <a:t>Evals</a:t>
            </a:r>
            <a:r>
              <a:rPr sz="1900" i="0" b="0">
                <a:solidFill>
                  <a:srgbClr val="1E293B"/>
                </a:solidFill>
                <a:latin typeface="Helvetica Neue"/>
              </a:rPr>
              <a:t> check the rest.</a:t>
            </a:r>
          </a:p>
        </p:txBody>
      </p:sp>
      <p:sp>
        <p:nvSpPr>
          <p:cNvPr id="29" name="Rectangle 28"/>
          <p:cNvSpPr/>
          <p:nvPr/>
        </p:nvSpPr>
        <p:spPr>
          <a:xfrm>
            <a:off x="502920" y="4467098"/>
            <a:ext cx="101346" cy="101346"/>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4375404"/>
            <a:ext cx="10865815" cy="728472"/>
          </a:xfrm>
          <a:prstGeom prst="rect">
            <a:avLst/>
          </a:prstGeom>
          <a:noFill/>
        </p:spPr>
        <p:txBody>
          <a:bodyPr wrap="square" lIns="0" rIns="0" tIns="0" bIns="0" anchor="t">
            <a:noAutofit/>
          </a:bodyPr>
          <a:lstStyle/>
          <a:p>
            <a:pPr algn="l">
              <a:lnSpc>
                <a:spcPct val="110000"/>
              </a:lnSpc>
            </a:pPr>
            <a:r>
              <a:rPr sz="1900" i="0" b="1">
                <a:solidFill>
                  <a:srgbClr val="1E293B"/>
                </a:solidFill>
                <a:latin typeface="Helvetica Neue"/>
              </a:rPr>
              <a:t>The 80% problem:</a:t>
            </a:r>
            <a:r>
              <a:rPr sz="1900" i="0" b="0">
                <a:solidFill>
                  <a:srgbClr val="1E293B"/>
                </a:solidFill>
                <a:latin typeface="Helvetica Neue"/>
              </a:rPr>
              <a:t> edge cases and integration take the expertise. The figure is the course's rule of thumb.</a:t>
            </a:r>
          </a:p>
        </p:txBody>
      </p:sp>
      <p:sp>
        <p:nvSpPr>
          <p:cNvPr id="31" name="Rectangle 30"/>
          <p:cNvSpPr/>
          <p:nvPr/>
        </p:nvSpPr>
        <p:spPr>
          <a:xfrm>
            <a:off x="502920" y="5248910"/>
            <a:ext cx="101346" cy="101346"/>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60" y="5157216"/>
            <a:ext cx="10865815" cy="409956"/>
          </a:xfrm>
          <a:prstGeom prst="rect">
            <a:avLst/>
          </a:prstGeom>
          <a:noFill/>
        </p:spPr>
        <p:txBody>
          <a:bodyPr wrap="square" lIns="0" rIns="0" tIns="0" bIns="0" anchor="t">
            <a:noAutofit/>
          </a:bodyPr>
          <a:lstStyle/>
          <a:p>
            <a:pPr algn="l">
              <a:lnSpc>
                <a:spcPct val="110000"/>
              </a:lnSpc>
            </a:pPr>
            <a:r>
              <a:rPr sz="1900" i="0" b="1">
                <a:solidFill>
                  <a:srgbClr val="1E293B"/>
                </a:solidFill>
                <a:latin typeface="Helvetica Neue"/>
              </a:rPr>
              <a:t>Total cost:</a:t>
            </a:r>
            <a:r>
              <a:rPr sz="1900" i="0" b="0">
                <a:solidFill>
                  <a:srgbClr val="1E293B"/>
                </a:solidFill>
                <a:latin typeface="Helvetica Neue"/>
              </a:rPr>
              <a:t> generating is cheap. Running, fixing and maintaining remain.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Load a skill only when the task matches</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5 · It has to run somewhere</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notes/06-google-adk-intensive.md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31</a:t>
            </a:r>
          </a:p>
        </p:txBody>
      </p:sp>
      <p:sp>
        <p:nvSpPr>
          <p:cNvPr id="9" name="Rectangle 8"/>
          <p:cNvSpPr/>
          <p:nvPr/>
        </p:nvSpPr>
        <p:spPr>
          <a:xfrm>
            <a:off x="502920" y="5586983"/>
            <a:ext cx="11185855" cy="630936"/>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586983"/>
            <a:ext cx="73152" cy="630936"/>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586983"/>
            <a:ext cx="10728655" cy="630936"/>
          </a:xfrm>
          <a:prstGeom prst="rect">
            <a:avLst/>
          </a:prstGeom>
          <a:noFill/>
        </p:spPr>
        <p:txBody>
          <a:bodyPr wrap="square" lIns="0" rIns="0" tIns="0" bIns="0" anchor="ctr">
            <a:noAutofit/>
          </a:bodyPr>
          <a:lstStyle/>
          <a:p>
            <a:pPr algn="l">
              <a:lnSpc>
                <a:spcPct val="110000"/>
              </a:lnSpc>
            </a:pPr>
            <a:r>
              <a:rPr sz="1200" i="0" b="1">
                <a:solidFill>
                  <a:srgbClr val="1E3A5F"/>
                </a:solidFill>
                <a:latin typeface="Helvetica Neue"/>
              </a:rPr>
              <a:t>Progressive disclosure keeps a skill's cost to one line of metadata until a task matches, so the description must carry the whole decision to activate.</a:t>
            </a:r>
          </a:p>
        </p:txBody>
      </p:sp>
      <p:sp>
        <p:nvSpPr>
          <p:cNvPr id="12" name="Rounded Rectangle 11"/>
          <p:cNvSpPr/>
          <p:nvPr/>
        </p:nvSpPr>
        <p:spPr>
          <a:xfrm>
            <a:off x="502920" y="1472184"/>
            <a:ext cx="6711513" cy="2148839"/>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TEXT</a:t>
            </a:r>
          </a:p>
        </p:txBody>
      </p:sp>
      <p:sp>
        <p:nvSpPr>
          <p:cNvPr id="14" name="TextBox 13"/>
          <p:cNvSpPr txBox="1"/>
          <p:nvPr/>
        </p:nvSpPr>
        <p:spPr>
          <a:xfrm>
            <a:off x="731520" y="1883664"/>
            <a:ext cx="6254313" cy="150875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level 1:    25 tokens  always loaded</a:t>
            </a:r>
          </a:p>
          <a:p>
            <a:pPr algn="l">
              <a:lnSpc>
                <a:spcPct val="100000"/>
              </a:lnSpc>
            </a:pPr>
            <a:r>
              <a:rPr sz="1600" i="0" b="0">
                <a:solidFill>
                  <a:srgbClr val="E2E8F0"/>
                </a:solidFill>
                <a:latin typeface="Menlo"/>
              </a:rPr>
              <a:t>level 2:    66 tokens  when the task matches</a:t>
            </a:r>
          </a:p>
          <a:p>
            <a:pPr algn="l">
              <a:lnSpc>
                <a:spcPct val="100000"/>
              </a:lnSpc>
            </a:pPr>
            <a:r>
              <a:rPr sz="1600" i="0" b="0">
                <a:solidFill>
                  <a:srgbClr val="E2E8F0"/>
                </a:solidFill>
                <a:latin typeface="Menlo"/>
              </a:rPr>
              <a:t>level 3:  6500 tokens  only if the body says</a:t>
            </a:r>
          </a:p>
          <a:p>
            <a:pPr algn="l">
              <a:lnSpc>
                <a:spcPct val="100000"/>
              </a:lnSpc>
            </a:pPr>
          </a:p>
          <a:p>
            <a:pPr algn="l">
              <a:lnSpc>
                <a:spcPct val="100000"/>
              </a:lnSpc>
            </a:pPr>
            <a:r>
              <a:rPr sz="1600" i="0" b="0">
                <a:solidFill>
                  <a:srgbClr val="E2E8F0"/>
                </a:solidFill>
                <a:latin typeface="Menlo"/>
              </a:rPr>
              <a:t>50 skills, all loaded up front: 329,550 tokens</a:t>
            </a:r>
          </a:p>
          <a:p>
            <a:pPr algn="l">
              <a:lnSpc>
                <a:spcPct val="100000"/>
              </a:lnSpc>
            </a:pPr>
            <a:r>
              <a:rPr sz="1600" i="0" b="0">
                <a:solidFill>
                  <a:srgbClr val="E2E8F0"/>
                </a:solidFill>
                <a:latin typeface="Menlo"/>
              </a:rPr>
              <a:t>50 skills, one activated:         1,316 tokens</a:t>
            </a:r>
          </a:p>
        </p:txBody>
      </p:sp>
      <p:sp>
        <p:nvSpPr>
          <p:cNvPr id="15" name="Rectangle 14"/>
          <p:cNvSpPr/>
          <p:nvPr/>
        </p:nvSpPr>
        <p:spPr>
          <a:xfrm>
            <a:off x="7580193" y="1604772"/>
            <a:ext cx="96012" cy="96012"/>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0233" y="1517904"/>
            <a:ext cx="3788542" cy="996696"/>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Metadata always,</a:t>
            </a:r>
            <a:r>
              <a:rPr sz="1800" i="0" b="0">
                <a:solidFill>
                  <a:srgbClr val="1E293B"/>
                </a:solidFill>
                <a:latin typeface="Helvetica Neue"/>
              </a:rPr>
              <a:t> body on activation, references on demand.</a:t>
            </a:r>
          </a:p>
        </p:txBody>
      </p:sp>
      <p:sp>
        <p:nvSpPr>
          <p:cNvPr id="17" name="Rectangle 16"/>
          <p:cNvSpPr/>
          <p:nvPr/>
        </p:nvSpPr>
        <p:spPr>
          <a:xfrm>
            <a:off x="7580193" y="2647188"/>
            <a:ext cx="96012" cy="96012"/>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0233" y="2560320"/>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The description decides.</a:t>
            </a:r>
            <a:r>
              <a:rPr sz="1800" i="0" b="0">
                <a:solidFill>
                  <a:srgbClr val="1E293B"/>
                </a:solidFill>
                <a:latin typeface="Helvetica Neue"/>
              </a:rPr>
              <a:t> A vague one fails silently.</a:t>
            </a:r>
          </a:p>
        </p:txBody>
      </p:sp>
      <p:sp>
        <p:nvSpPr>
          <p:cNvPr id="19" name="Rectangle 18"/>
          <p:cNvSpPr/>
          <p:nvPr/>
        </p:nvSpPr>
        <p:spPr>
          <a:xfrm>
            <a:off x="7580193" y="3387852"/>
            <a:ext cx="96012" cy="96012"/>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00233" y="3300984"/>
            <a:ext cx="3788542" cy="694943"/>
          </a:xfrm>
          <a:prstGeom prst="rect">
            <a:avLst/>
          </a:prstGeom>
          <a:noFill/>
        </p:spPr>
        <p:txBody>
          <a:bodyPr wrap="square" lIns="0" rIns="0" tIns="0" bIns="0" anchor="t">
            <a:noAutofit/>
          </a:bodyPr>
          <a:lstStyle/>
          <a:p>
            <a:pPr algn="l">
              <a:lnSpc>
                <a:spcPct val="110000"/>
              </a:lnSpc>
            </a:pPr>
            <a:r>
              <a:rPr sz="1800" i="0" b="1">
                <a:solidFill>
                  <a:srgbClr val="1E293B"/>
                </a:solidFill>
                <a:latin typeface="Helvetica Neue"/>
              </a:rPr>
              <a:t>Rough numbers:</a:t>
            </a:r>
            <a:r>
              <a:rPr sz="1800" i="0" b="0">
                <a:solidFill>
                  <a:srgbClr val="1E293B"/>
                </a:solidFill>
                <a:latin typeface="Helvetica Neue"/>
              </a:rPr>
              <a:t> four characters per token, identical sizes.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A correct answer can hide a bad process</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5 · It has to run somewhere</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notes/06-google-adk-intensive.md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32</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200" i="0" b="1">
                <a:solidFill>
                  <a:srgbClr val="1E3A5F"/>
                </a:solidFill>
                <a:latin typeface="Helvetica Neue"/>
              </a:rPr>
              <a:t>Output evaluation passes a run that ordered without checking stock, so also evaluate the trajectory, including the order of the steps.</a:t>
            </a:r>
          </a:p>
        </p:txBody>
      </p:sp>
      <p:graphicFrame>
        <p:nvGraphicFramePr>
          <p:cNvPr id="12" name="Table 11"/>
          <p:cNvGraphicFramePr>
            <a:graphicFrameLocks noGrp="1"/>
          </p:cNvGraphicFramePr>
          <p:nvPr/>
        </p:nvGraphicFramePr>
        <p:xfrm>
          <a:off x="502920" y="1472184"/>
          <a:ext cx="11185854" cy="1621536"/>
        </p:xfrm>
        <a:graphic>
          <a:graphicData uri="http://schemas.openxmlformats.org/drawingml/2006/table">
            <a:tbl>
              <a:tblPr firstRow="1" bandRow="1">
                <a:tableStyleId>{5940675A-B579-460E-94D1-54222C63F5DA}</a:tableStyleId>
              </a:tblPr>
              <a:tblGrid>
                <a:gridCol w="3728618"/>
                <a:gridCol w="3728618"/>
                <a:gridCol w="3728618"/>
              </a:tblGrid>
              <a:tr h="405384">
                <a:tc>
                  <a:txBody>
                    <a:bodyPr wrap="square"/>
                    <a:lstStyle/>
                    <a:p>
                      <a:pPr>
                        <a:lnSpc>
                          <a:spcPct val="100000"/>
                        </a:lnSpc>
                      </a:pPr>
                      <a:r>
                        <a:rPr sz="1700" i="0" b="1">
                          <a:solidFill>
                            <a:srgbClr val="FFFFFF"/>
                          </a:solidFill>
                          <a:latin typeface="Helvetica Neue"/>
                        </a:rPr>
                        <a:t>Run</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Output correct</a:t>
                      </a:r>
                    </a:p>
                  </a:txBody>
                  <a:tcPr marL="109728" marR="109728" marT="54864" marB="54864" anchor="ctr">
                    <a:solidFill>
                      <a:srgbClr val="1E3A5F"/>
                    </a:solidFill>
                  </a:tcPr>
                </a:tc>
                <a:tc>
                  <a:txBody>
                    <a:bodyPr wrap="square"/>
                    <a:lstStyle/>
                    <a:p>
                      <a:pPr>
                        <a:lnSpc>
                          <a:spcPct val="100000"/>
                        </a:lnSpc>
                      </a:pPr>
                      <a:r>
                        <a:rPr sz="1700" i="0" b="1">
                          <a:solidFill>
                            <a:srgbClr val="FFFFFF"/>
                          </a:solidFill>
                          <a:latin typeface="Helvetica Neue"/>
                        </a:rPr>
                        <a:t>Trajectory correct</a:t>
                      </a:r>
                    </a:p>
                  </a:txBody>
                  <a:tcPr marL="109728" marR="109728" marT="54864" marB="54864" anchor="ctr">
                    <a:solidFill>
                      <a:srgbClr val="1E3A5F"/>
                    </a:solidFill>
                  </a:tcPr>
                </a:tc>
              </a:tr>
              <a:tr h="405384">
                <a:tc>
                  <a:txBody>
                    <a:bodyPr wrap="square"/>
                    <a:lstStyle/>
                    <a:p>
                      <a:pPr>
                        <a:lnSpc>
                          <a:spcPct val="100000"/>
                        </a:lnSpc>
                      </a:pPr>
                      <a:r>
                        <a:rPr sz="1700" i="0" b="1">
                          <a:solidFill>
                            <a:srgbClr val="1E293B"/>
                          </a:solidFill>
                          <a:latin typeface="Helvetica Neue"/>
                        </a:rPr>
                        <a:t>careful</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True</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True</a:t>
                      </a:r>
                    </a:p>
                  </a:txBody>
                  <a:tcPr marL="109728" marR="109728" marT="54864" marB="54864" anchor="ctr">
                    <a:solidFill>
                      <a:srgbClr val="FFFFFF"/>
                    </a:solidFill>
                  </a:tcPr>
                </a:tc>
              </a:tr>
              <a:tr h="405384">
                <a:tc>
                  <a:txBody>
                    <a:bodyPr wrap="square"/>
                    <a:lstStyle/>
                    <a:p>
                      <a:pPr>
                        <a:lnSpc>
                          <a:spcPct val="100000"/>
                        </a:lnSpc>
                      </a:pPr>
                      <a:r>
                        <a:rPr sz="1700" i="0" b="1">
                          <a:solidFill>
                            <a:srgbClr val="1E293B"/>
                          </a:solidFill>
                          <a:latin typeface="Helvetica Neue"/>
                        </a:rPr>
                        <a:t>lucky</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True</a:t>
                      </a:r>
                    </a:p>
                  </a:txBody>
                  <a:tcPr marL="109728" marR="109728" marT="54864" marB="54864" anchor="ctr">
                    <a:solidFill>
                      <a:srgbClr val="E8F4F8"/>
                    </a:solidFill>
                  </a:tcPr>
                </a:tc>
                <a:tc>
                  <a:txBody>
                    <a:bodyPr wrap="square"/>
                    <a:lstStyle/>
                    <a:p>
                      <a:pPr>
                        <a:lnSpc>
                          <a:spcPct val="100000"/>
                        </a:lnSpc>
                      </a:pPr>
                      <a:r>
                        <a:rPr sz="1700" i="0" b="0">
                          <a:solidFill>
                            <a:srgbClr val="475569"/>
                          </a:solidFill>
                          <a:latin typeface="Helvetica Neue"/>
                        </a:rPr>
                        <a:t>False</a:t>
                      </a:r>
                    </a:p>
                  </a:txBody>
                  <a:tcPr marL="109728" marR="109728" marT="54864" marB="54864" anchor="ctr">
                    <a:solidFill>
                      <a:srgbClr val="E8F4F8"/>
                    </a:solidFill>
                  </a:tcPr>
                </a:tc>
              </a:tr>
              <a:tr h="405384">
                <a:tc>
                  <a:txBody>
                    <a:bodyPr wrap="square"/>
                    <a:lstStyle/>
                    <a:p>
                      <a:pPr>
                        <a:lnSpc>
                          <a:spcPct val="100000"/>
                        </a:lnSpc>
                      </a:pPr>
                      <a:r>
                        <a:rPr sz="1700" i="0" b="1">
                          <a:solidFill>
                            <a:srgbClr val="1E293B"/>
                          </a:solidFill>
                          <a:latin typeface="Helvetica Neue"/>
                        </a:rPr>
                        <a:t>wrong</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False</a:t>
                      </a:r>
                    </a:p>
                  </a:txBody>
                  <a:tcPr marL="109728" marR="109728" marT="54864" marB="54864" anchor="ctr">
                    <a:solidFill>
                      <a:srgbClr val="FFFFFF"/>
                    </a:solidFill>
                  </a:tcPr>
                </a:tc>
                <a:tc>
                  <a:txBody>
                    <a:bodyPr wrap="square"/>
                    <a:lstStyle/>
                    <a:p>
                      <a:pPr>
                        <a:lnSpc>
                          <a:spcPct val="100000"/>
                        </a:lnSpc>
                      </a:pPr>
                      <a:r>
                        <a:rPr sz="1700" i="0" b="0">
                          <a:solidFill>
                            <a:srgbClr val="475569"/>
                          </a:solidFill>
                          <a:latin typeface="Helvetica Neue"/>
                        </a:rPr>
                        <a:t>True</a:t>
                      </a:r>
                    </a:p>
                  </a:txBody>
                  <a:tcPr marL="109728" marR="109728" marT="54864" marB="54864" anchor="ctr">
                    <a:solidFill>
                      <a:srgbClr val="FFFFFF"/>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5486400" cy="457200"/>
          </a:xfrm>
          <a:prstGeom prst="rect">
            <a:avLst/>
          </a:prstGeom>
          <a:noFill/>
        </p:spPr>
        <p:txBody>
          <a:bodyPr wrap="square" lIns="0" rIns="0" tIns="0" bIns="0" anchor="t">
            <a:noAutofit/>
          </a:bodyPr>
          <a:lstStyle/>
          <a:p>
            <a:pPr algn="l">
              <a:lnSpc>
                <a:spcPct val="110000"/>
              </a:lnSpc>
            </a:pPr>
            <a:r>
              <a:rPr sz="1800" i="0" b="1">
                <a:solidFill>
                  <a:srgbClr val="166534"/>
                </a:solidFill>
                <a:latin typeface="Helvetica Neue"/>
              </a:rPr>
              <a:t>PART 6</a:t>
            </a:r>
          </a:p>
        </p:txBody>
      </p:sp>
      <p:sp>
        <p:nvSpPr>
          <p:cNvPr id="4" name="TextBox 3"/>
          <p:cNvSpPr txBox="1"/>
          <p:nvPr/>
        </p:nvSpPr>
        <p:spPr>
          <a:xfrm>
            <a:off x="822960" y="1965960"/>
            <a:ext cx="5486400" cy="1859280"/>
          </a:xfrm>
          <a:prstGeom prst="rect">
            <a:avLst/>
          </a:prstGeom>
          <a:noFill/>
        </p:spPr>
        <p:txBody>
          <a:bodyPr wrap="square" lIns="0" rIns="0" tIns="0" bIns="0" anchor="t">
            <a:noAutofit/>
          </a:bodyPr>
          <a:lstStyle/>
          <a:p>
            <a:pPr algn="l">
              <a:lnSpc>
                <a:spcPct val="95000"/>
              </a:lnSpc>
            </a:pPr>
            <a:r>
              <a:rPr sz="5000" i="0" b="1">
                <a:solidFill>
                  <a:srgbClr val="FFFFFF"/>
                </a:solidFill>
                <a:latin typeface="Helvetica Neue"/>
              </a:rPr>
              <a:t>Now it can spend money</a:t>
            </a:r>
          </a:p>
        </p:txBody>
      </p:sp>
      <p:sp>
        <p:nvSpPr>
          <p:cNvPr id="5" name="TextBox 4"/>
          <p:cNvSpPr txBox="1"/>
          <p:nvPr/>
        </p:nvSpPr>
        <p:spPr>
          <a:xfrm>
            <a:off x="822960" y="3916680"/>
            <a:ext cx="5303520" cy="1371600"/>
          </a:xfrm>
          <a:prstGeom prst="rect">
            <a:avLst/>
          </a:prstGeom>
          <a:noFill/>
        </p:spPr>
        <p:txBody>
          <a:bodyPr wrap="square" lIns="0" rIns="0" tIns="0" bIns="0" anchor="t">
            <a:noAutofit/>
          </a:bodyPr>
          <a:lstStyle/>
          <a:p>
            <a:pPr algn="l">
              <a:lnSpc>
                <a:spcPct val="110000"/>
              </a:lnSpc>
            </a:pPr>
            <a:r>
              <a:rPr sz="2000" i="0" b="0">
                <a:solidFill>
                  <a:srgbClr val="0EA5C9"/>
                </a:solidFill>
                <a:latin typeface="Helvetica Neue"/>
              </a:rPr>
              <a:t>Where the controls sit · Lower the risk · Gate the action · How much autonomy</a:t>
            </a:r>
          </a:p>
        </p:txBody>
      </p:sp>
      <p:cxnSp>
        <p:nvCxnSpPr>
          <p:cNvPr id="6" name="Connector 5"/>
          <p:cNvCxnSpPr/>
          <p:nvPr/>
        </p:nvCxnSpPr>
        <p:spPr>
          <a:xfrm>
            <a:off x="6446520" y="2554605"/>
            <a:ext cx="0" cy="1748790"/>
          </a:xfrm>
          <a:prstGeom prst="line">
            <a:avLst/>
          </a:prstGeom>
          <a:ln w="19050">
            <a:solidFill>
              <a:srgbClr val="3B5A8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766560" y="2554605"/>
            <a:ext cx="4693615" cy="1931669"/>
          </a:xfrm>
          <a:prstGeom prst="rect">
            <a:avLst/>
          </a:prstGeom>
          <a:noFill/>
        </p:spPr>
        <p:txBody>
          <a:bodyPr wrap="square" lIns="0" rIns="0" tIns="0" bIns="0" anchor="t">
            <a:noAutofit/>
          </a:bodyPr>
          <a:lstStyle/>
          <a:p>
            <a:pPr algn="l">
              <a:lnSpc>
                <a:spcPct val="100000"/>
              </a:lnSpc>
            </a:pPr>
            <a:r>
              <a:rPr sz="1700" i="0" b="0">
                <a:solidFill>
                  <a:srgbClr val="CBD5E1"/>
                </a:solidFill>
                <a:latin typeface="Helvetica Neue"/>
              </a:rPr>
              <a:t>Does telling it the limit enforce the limit?</a:t>
            </a:r>
          </a:p>
          <a:p>
            <a:pPr algn="l">
              <a:lnSpc>
                <a:spcPct val="100000"/>
              </a:lnSpc>
              <a:spcBef>
                <a:spcPts val="1189"/>
              </a:spcBef>
            </a:pPr>
            <a:r>
              <a:rPr sz="1700" i="0" b="0">
                <a:solidFill>
                  <a:srgbClr val="CBD5E1"/>
                </a:solidFill>
                <a:latin typeface="Helvetica Neue"/>
              </a:rPr>
              <a:t>Lower the risk before you filter it</a:t>
            </a:r>
          </a:p>
          <a:p>
            <a:pPr algn="l">
              <a:lnSpc>
                <a:spcPct val="100000"/>
              </a:lnSpc>
              <a:spcBef>
                <a:spcPts val="1189"/>
              </a:spcBef>
            </a:pPr>
            <a:r>
              <a:rPr sz="1700" i="0" b="0">
                <a:solidFill>
                  <a:srgbClr val="CBD5E1"/>
                </a:solidFill>
                <a:latin typeface="Helvetica Neue"/>
              </a:rPr>
              <a:t>The gate is ordinary code</a:t>
            </a:r>
          </a:p>
          <a:p>
            <a:pPr algn="l">
              <a:lnSpc>
                <a:spcPct val="100000"/>
              </a:lnSpc>
              <a:spcBef>
                <a:spcPts val="1189"/>
              </a:spcBef>
            </a:pPr>
            <a:r>
              <a:rPr sz="1700" i="0" b="0">
                <a:solidFill>
                  <a:srgbClr val="CBD5E1"/>
                </a:solidFill>
                <a:latin typeface="Helvetica Neue"/>
              </a:rPr>
              <a:t>Controls sit on three positions</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64748B"/>
                </a:solidFill>
                <a:latin typeface="Helvetica Neue"/>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7894015" cy="868680"/>
          </a:xfrm>
          <a:prstGeom prst="rect">
            <a:avLst/>
          </a:prstGeom>
          <a:noFill/>
        </p:spPr>
        <p:txBody>
          <a:bodyPr wrap="square" lIns="0" rIns="0" tIns="0" bIns="0" anchor="ctr">
            <a:noAutofit/>
          </a:bodyPr>
          <a:lstStyle/>
          <a:p>
            <a:pPr algn="l">
              <a:lnSpc>
                <a:spcPct val="110000"/>
              </a:lnSpc>
            </a:pPr>
            <a:r>
              <a:rPr sz="2500" i="0" b="1">
                <a:solidFill>
                  <a:srgbClr val="FFFFFF"/>
                </a:solidFill>
                <a:latin typeface="Helvetica Neue"/>
              </a:rPr>
              <a:t>Does telling it the limit enforce the limit?</a:t>
            </a:r>
          </a:p>
        </p:txBody>
      </p:sp>
      <p:sp>
        <p:nvSpPr>
          <p:cNvPr id="5" name="TextBox 4"/>
          <p:cNvSpPr txBox="1"/>
          <p:nvPr/>
        </p:nvSpPr>
        <p:spPr>
          <a:xfrm>
            <a:off x="8488375" y="0"/>
            <a:ext cx="3200400" cy="868680"/>
          </a:xfrm>
          <a:prstGeom prst="rect">
            <a:avLst/>
          </a:prstGeom>
          <a:noFill/>
        </p:spPr>
        <p:txBody>
          <a:bodyPr wrap="square" lIns="0" rIns="0" tIns="0" bIns="0" anchor="ctr">
            <a:noAutofit/>
          </a:bodyPr>
          <a:lstStyle/>
          <a:p>
            <a:pPr algn="r">
              <a:lnSpc>
                <a:spcPct val="110000"/>
              </a:lnSpc>
            </a:pPr>
            <a:r>
              <a:rPr sz="1400" i="0" b="0">
                <a:solidFill>
                  <a:srgbClr val="0EA5C9"/>
                </a:solidFill>
                <a:latin typeface="Helvetica Neue"/>
              </a:rPr>
              <a:t>The problem</a:t>
            </a:r>
          </a:p>
        </p:txBody>
      </p:sp>
      <p:sp>
        <p:nvSpPr>
          <p:cNvPr id="6" name="Rectangle 5"/>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6 · Now it can spend money</a:t>
            </a:r>
          </a:p>
        </p:txBody>
      </p:sp>
      <p:sp>
        <p:nvSpPr>
          <p:cNvPr id="8" name="TextBox 7"/>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notes/07-guardrails-and-autonomy.md</a:t>
            </a:r>
          </a:p>
        </p:txBody>
      </p:sp>
      <p:sp>
        <p:nvSpPr>
          <p:cNvPr id="9" name="TextBox 8"/>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34</a:t>
            </a:r>
          </a:p>
        </p:txBody>
      </p:sp>
      <p:sp>
        <p:nvSpPr>
          <p:cNvPr id="10" name="Rectangle 9"/>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5715000"/>
            <a:ext cx="73152" cy="50292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600" i="0" b="1">
                <a:solidFill>
                  <a:srgbClr val="1E3A5F"/>
                </a:solidFill>
                <a:latin typeface="Helvetica Neue"/>
              </a:rPr>
              <a:t>A system prompt asks the model to behave, so enforce every real limit in credentials and code.</a:t>
            </a:r>
          </a:p>
        </p:txBody>
      </p:sp>
      <p:sp>
        <p:nvSpPr>
          <p:cNvPr id="13" name="Rectangle 12"/>
          <p:cNvSpPr/>
          <p:nvPr/>
        </p:nvSpPr>
        <p:spPr>
          <a:xfrm>
            <a:off x="777240" y="1997964"/>
            <a:ext cx="109728" cy="2962656"/>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1997964"/>
            <a:ext cx="10088575" cy="2596896"/>
          </a:xfrm>
          <a:prstGeom prst="rect">
            <a:avLst/>
          </a:prstGeom>
          <a:noFill/>
        </p:spPr>
        <p:txBody>
          <a:bodyPr wrap="square" lIns="0" rIns="0" tIns="0" bIns="0" anchor="t">
            <a:noAutofit/>
          </a:bodyPr>
          <a:lstStyle/>
          <a:p>
            <a:pPr algn="l">
              <a:lnSpc>
                <a:spcPct val="105000"/>
              </a:lnSpc>
            </a:pPr>
            <a:r>
              <a:rPr sz="3600" i="0" b="1">
                <a:solidFill>
                  <a:srgbClr val="1E3A5F"/>
                </a:solidFill>
                <a:latin typeface="Helvetica Neue"/>
              </a:rPr>
              <a:t>A prompt restriction is not a permission. Swap the prompt, and the same SQL agent runs the writes it refused before.</a:t>
            </a:r>
          </a:p>
        </p:txBody>
      </p:sp>
      <p:sp>
        <p:nvSpPr>
          <p:cNvPr id="15" name="TextBox 14"/>
          <p:cNvSpPr txBox="1"/>
          <p:nvPr/>
        </p:nvSpPr>
        <p:spPr>
          <a:xfrm>
            <a:off x="1234440" y="4549140"/>
            <a:ext cx="10088575" cy="365760"/>
          </a:xfrm>
          <a:prstGeom prst="rect">
            <a:avLst/>
          </a:prstGeom>
          <a:noFill/>
        </p:spPr>
        <p:txBody>
          <a:bodyPr wrap="square" lIns="0" rIns="0" tIns="0" bIns="0" anchor="t">
            <a:noAutofit/>
          </a:bodyPr>
          <a:lstStyle/>
          <a:p>
            <a:pPr algn="l">
              <a:lnSpc>
                <a:spcPct val="110000"/>
              </a:lnSpc>
            </a:pPr>
            <a:r>
              <a:rPr sz="1700" i="1" b="0">
                <a:solidFill>
                  <a:srgbClr val="475569"/>
                </a:solidFill>
                <a:latin typeface="Helvetica Neue"/>
              </a:rPr>
              <a:t>Phoenix &amp; Taylor, Prompt Engineering for Generative AI, ch. 6</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Lower the risk before you filter it</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6 · Now it can spend money</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notes/07-guardrails-and-autonomy.md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35</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200" i="0" b="1">
                <a:solidFill>
                  <a:srgbClr val="1E3A5F"/>
                </a:solidFill>
                <a:latin typeface="Helvetica Neue"/>
              </a:rPr>
              <a:t>Ask how much the model needs to write at all, using reviewed templates and assembled facts first, with guardrails as the outer layer.</a:t>
            </a:r>
          </a:p>
        </p:txBody>
      </p:sp>
      <p:sp>
        <p:nvSpPr>
          <p:cNvPr id="12" name="Rectangle 11"/>
          <p:cNvSpPr/>
          <p:nvPr/>
        </p:nvSpPr>
        <p:spPr>
          <a:xfrm>
            <a:off x="502920" y="1472184"/>
            <a:ext cx="11185855" cy="921257"/>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67512" y="1704213"/>
            <a:ext cx="457200" cy="457200"/>
          </a:xfrm>
          <a:prstGeom prst="ellipse">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1704213"/>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1</a:t>
            </a:r>
          </a:p>
        </p:txBody>
      </p:sp>
      <p:sp>
        <p:nvSpPr>
          <p:cNvPr id="15" name="TextBox 14"/>
          <p:cNvSpPr txBox="1"/>
          <p:nvPr/>
        </p:nvSpPr>
        <p:spPr>
          <a:xfrm>
            <a:off x="1325880" y="1472184"/>
            <a:ext cx="10180015" cy="921257"/>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P29 Template Generation</a:t>
            </a:r>
            <a:r>
              <a:rPr sz="1800" i="0" b="0">
                <a:solidFill>
                  <a:srgbClr val="475569"/>
                </a:solidFill>
                <a:latin typeface="Helvetica Neue"/>
              </a:rPr>
              <a:t> — Model writes templates offline; a person reviews; code fills the slots.</a:t>
            </a:r>
          </a:p>
        </p:txBody>
      </p:sp>
      <p:sp>
        <p:nvSpPr>
          <p:cNvPr id="16" name="Rectangle 15"/>
          <p:cNvSpPr/>
          <p:nvPr/>
        </p:nvSpPr>
        <p:spPr>
          <a:xfrm>
            <a:off x="502920" y="2503170"/>
            <a:ext cx="11185855" cy="921257"/>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67512" y="2735199"/>
            <a:ext cx="457200" cy="457200"/>
          </a:xfrm>
          <a:prstGeom prst="ellipse">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 y="2735199"/>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2</a:t>
            </a:r>
          </a:p>
        </p:txBody>
      </p:sp>
      <p:sp>
        <p:nvSpPr>
          <p:cNvPr id="19" name="TextBox 18"/>
          <p:cNvSpPr txBox="1"/>
          <p:nvPr/>
        </p:nvSpPr>
        <p:spPr>
          <a:xfrm>
            <a:off x="1325880" y="2503170"/>
            <a:ext cx="10180015" cy="921257"/>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P30 Assembled Reformat</a:t>
            </a:r>
            <a:r>
              <a:rPr sz="1800" i="0" b="0">
                <a:solidFill>
                  <a:srgbClr val="475569"/>
                </a:solidFill>
                <a:latin typeface="Helvetica Neue"/>
              </a:rPr>
              <a:t> — Model only rephrases facts gathered by low-risk means.</a:t>
            </a:r>
          </a:p>
        </p:txBody>
      </p:sp>
      <p:sp>
        <p:nvSpPr>
          <p:cNvPr id="20" name="Rectangle 19"/>
          <p:cNvSpPr/>
          <p:nvPr/>
        </p:nvSpPr>
        <p:spPr>
          <a:xfrm>
            <a:off x="502920" y="3534156"/>
            <a:ext cx="11185855" cy="921257"/>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67512" y="3766185"/>
            <a:ext cx="457200" cy="457200"/>
          </a:xfrm>
          <a:prstGeom prst="ellipse">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 y="3766185"/>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3</a:t>
            </a:r>
          </a:p>
        </p:txBody>
      </p:sp>
      <p:sp>
        <p:nvSpPr>
          <p:cNvPr id="23" name="TextBox 22"/>
          <p:cNvSpPr txBox="1"/>
          <p:nvPr/>
        </p:nvSpPr>
        <p:spPr>
          <a:xfrm>
            <a:off x="1325880" y="3534156"/>
            <a:ext cx="10180015" cy="921257"/>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P31 Self-Check</a:t>
            </a:r>
            <a:r>
              <a:rPr sz="1800" i="0" b="0">
                <a:solidFill>
                  <a:srgbClr val="475569"/>
                </a:solidFill>
                <a:latin typeface="Helvetica Neue"/>
              </a:rPr>
              <a:t> — Model answers and token probabilities flag low confidence.</a:t>
            </a:r>
          </a:p>
        </p:txBody>
      </p:sp>
      <p:sp>
        <p:nvSpPr>
          <p:cNvPr id="24" name="Rectangle 23"/>
          <p:cNvSpPr/>
          <p:nvPr/>
        </p:nvSpPr>
        <p:spPr>
          <a:xfrm>
            <a:off x="502920" y="4565142"/>
            <a:ext cx="11185855" cy="921257"/>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67512" y="4797171"/>
            <a:ext cx="457200" cy="457200"/>
          </a:xfrm>
          <a:prstGeom prst="ellipse">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 y="4797171"/>
            <a:ext cx="457200" cy="457200"/>
          </a:xfrm>
          <a:prstGeom prst="rect">
            <a:avLst/>
          </a:prstGeom>
          <a:noFill/>
        </p:spPr>
        <p:txBody>
          <a:bodyPr wrap="square" lIns="0" rIns="0" tIns="0" bIns="0" anchor="ctr">
            <a:noAutofit/>
          </a:bodyPr>
          <a:lstStyle/>
          <a:p>
            <a:pPr algn="ctr">
              <a:lnSpc>
                <a:spcPct val="110000"/>
              </a:lnSpc>
            </a:pPr>
            <a:r>
              <a:rPr sz="1600" i="0" b="1">
                <a:solidFill>
                  <a:srgbClr val="FFFFFF"/>
                </a:solidFill>
                <a:latin typeface="Helvetica Neue"/>
              </a:rPr>
              <a:t>4</a:t>
            </a:r>
          </a:p>
        </p:txBody>
      </p:sp>
      <p:sp>
        <p:nvSpPr>
          <p:cNvPr id="27" name="TextBox 26"/>
          <p:cNvSpPr txBox="1"/>
          <p:nvPr/>
        </p:nvSpPr>
        <p:spPr>
          <a:xfrm>
            <a:off x="1325880" y="4565142"/>
            <a:ext cx="10180015" cy="921257"/>
          </a:xfrm>
          <a:prstGeom prst="rect">
            <a:avLst/>
          </a:prstGeom>
          <a:noFill/>
        </p:spPr>
        <p:txBody>
          <a:bodyPr wrap="square" lIns="0" rIns="0" tIns="0" bIns="0" anchor="ctr">
            <a:noAutofit/>
          </a:bodyPr>
          <a:lstStyle/>
          <a:p>
            <a:pPr algn="l">
              <a:lnSpc>
                <a:spcPct val="110000"/>
              </a:lnSpc>
            </a:pPr>
            <a:r>
              <a:rPr sz="1800" i="0" b="1">
                <a:solidFill>
                  <a:srgbClr val="1E293B"/>
                </a:solidFill>
                <a:latin typeface="Helvetica Neue"/>
              </a:rPr>
              <a:t>P32 Guardrails</a:t>
            </a:r>
            <a:r>
              <a:rPr sz="1800" i="0" b="0">
                <a:solidFill>
                  <a:srgbClr val="475569"/>
                </a:solidFill>
                <a:latin typeface="Helvetica Neue"/>
              </a:rPr>
              <a:t> — Code layers around inputs, outputs, retrieval and tool parameters.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The gate is ordinary code</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6 · Now it can spend money</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notes/07-guardrails-and-autonomy.md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36</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200" i="0" b="1">
                <a:solidFill>
                  <a:srgbClr val="1E3A5F"/>
                </a:solidFill>
                <a:latin typeface="Helvetica Neue"/>
              </a:rPr>
              <a:t>Rate each tool by what it can undo, default to deny, ask a person for risky calls and keep hard limits that no approval can override.</a:t>
            </a:r>
          </a:p>
        </p:txBody>
      </p:sp>
      <p:sp>
        <p:nvSpPr>
          <p:cNvPr id="12" name="Rounded Rectangle 11"/>
          <p:cNvSpPr/>
          <p:nvPr/>
        </p:nvSpPr>
        <p:spPr>
          <a:xfrm>
            <a:off x="502920" y="1472184"/>
            <a:ext cx="6711513" cy="31242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581912"/>
            <a:ext cx="6254313" cy="274320"/>
          </a:xfrm>
          <a:prstGeom prst="rect">
            <a:avLst/>
          </a:prstGeom>
          <a:noFill/>
        </p:spPr>
        <p:txBody>
          <a:bodyPr wrap="square" lIns="0" rIns="0" tIns="0" bIns="0" anchor="t">
            <a:noAutofit/>
          </a:bodyPr>
          <a:lstStyle/>
          <a:p>
            <a:pPr algn="l">
              <a:lnSpc>
                <a:spcPct val="110000"/>
              </a:lnSpc>
            </a:pPr>
            <a:r>
              <a:rPr sz="1000" i="0" b="1">
                <a:solidFill>
                  <a:srgbClr val="94A3B8"/>
                </a:solidFill>
                <a:latin typeface="Helvetica Neue"/>
              </a:rPr>
              <a:t>PYTHON</a:t>
            </a:r>
          </a:p>
        </p:txBody>
      </p:sp>
      <p:sp>
        <p:nvSpPr>
          <p:cNvPr id="14" name="TextBox 13"/>
          <p:cNvSpPr txBox="1"/>
          <p:nvPr/>
        </p:nvSpPr>
        <p:spPr>
          <a:xfrm>
            <a:off x="731520" y="1883664"/>
            <a:ext cx="6254313" cy="2484119"/>
          </a:xfrm>
          <a:prstGeom prst="rect">
            <a:avLst/>
          </a:prstGeom>
          <a:noFill/>
        </p:spPr>
        <p:txBody>
          <a:bodyPr wrap="square" lIns="0" rIns="0" tIns="0" bIns="0" anchor="t">
            <a:noAutofit/>
          </a:bodyPr>
          <a:lstStyle/>
          <a:p>
            <a:pPr algn="l">
              <a:lnSpc>
                <a:spcPct val="100000"/>
              </a:lnSpc>
            </a:pPr>
            <a:r>
              <a:rPr sz="1600" i="0" b="0">
                <a:solidFill>
                  <a:srgbClr val="E2E8F0"/>
                </a:solidFill>
                <a:latin typeface="Menlo"/>
              </a:rPr>
              <a:t>def gate(tool, args, approved_by=None):</a:t>
            </a:r>
          </a:p>
          <a:p>
            <a:pPr algn="l">
              <a:lnSpc>
                <a:spcPct val="100000"/>
              </a:lnSpc>
            </a:pPr>
            <a:r>
              <a:rPr sz="1600" i="0" b="0">
                <a:solidFill>
                  <a:srgbClr val="E2E8F0"/>
                </a:solidFill>
                <a:latin typeface="Menlo"/>
              </a:rPr>
              <a:t>    if RISK.get(tool) is None:</a:t>
            </a:r>
          </a:p>
          <a:p>
            <a:pPr algn="l">
              <a:lnSpc>
                <a:spcPct val="100000"/>
              </a:lnSpc>
            </a:pPr>
            <a:r>
              <a:rPr sz="1600" i="0" b="0">
                <a:solidFill>
                  <a:srgbClr val="E2E8F0"/>
                </a:solidFill>
                <a:latin typeface="Menlo"/>
              </a:rPr>
              <a:t>        return "deny: unknown tool"</a:t>
            </a:r>
          </a:p>
          <a:p>
            <a:pPr algn="l">
              <a:lnSpc>
                <a:spcPct val="100000"/>
              </a:lnSpc>
            </a:pPr>
            <a:r>
              <a:rPr sz="1600" i="0" b="0">
                <a:solidFill>
                  <a:srgbClr val="E2E8F0"/>
                </a:solidFill>
                <a:latin typeface="Menlo"/>
              </a:rPr>
              <a:t>    if (tool == "place_order"</a:t>
            </a:r>
          </a:p>
          <a:p>
            <a:pPr algn="l">
              <a:lnSpc>
                <a:spcPct val="100000"/>
              </a:lnSpc>
            </a:pPr>
            <a:r>
              <a:rPr sz="1600" i="0" b="0">
                <a:solidFill>
                  <a:srgbClr val="E2E8F0"/>
                </a:solidFill>
                <a:latin typeface="Menlo"/>
              </a:rPr>
              <a:t>        and args["quantity"] &gt; 500):</a:t>
            </a:r>
          </a:p>
          <a:p>
            <a:pPr algn="l">
              <a:lnSpc>
                <a:spcPct val="100000"/>
              </a:lnSpc>
            </a:pPr>
            <a:r>
              <a:rPr sz="1600" i="0" b="0">
                <a:solidFill>
                  <a:srgbClr val="E2E8F0"/>
                </a:solidFill>
                <a:latin typeface="Menlo"/>
              </a:rPr>
              <a:t>        return "deny: over the hard limit"</a:t>
            </a:r>
          </a:p>
          <a:p>
            <a:pPr algn="l">
              <a:lnSpc>
                <a:spcPct val="100000"/>
              </a:lnSpc>
            </a:pPr>
            <a:r>
              <a:rPr sz="1600" i="0" b="0">
                <a:solidFill>
                  <a:srgbClr val="E2E8F0"/>
                </a:solidFill>
                <a:latin typeface="Menlo"/>
              </a:rPr>
              <a:t>    if RISK[tool] == "high" and approved_by is None:</a:t>
            </a:r>
          </a:p>
          <a:p>
            <a:pPr algn="l">
              <a:lnSpc>
                <a:spcPct val="100000"/>
              </a:lnSpc>
            </a:pPr>
            <a:r>
              <a:rPr sz="1600" i="0" b="0">
                <a:solidFill>
                  <a:srgbClr val="E2E8F0"/>
                </a:solidFill>
                <a:latin typeface="Menlo"/>
              </a:rPr>
              <a:t>        return "ask human"</a:t>
            </a:r>
          </a:p>
          <a:p>
            <a:pPr algn="l">
              <a:lnSpc>
                <a:spcPct val="100000"/>
              </a:lnSpc>
            </a:pPr>
            <a:r>
              <a:rPr sz="1600" i="0" b="0">
                <a:solidFill>
                  <a:srgbClr val="E2E8F0"/>
                </a:solidFill>
                <a:latin typeface="Menlo"/>
              </a:rPr>
              <a:t>    return "allow"</a:t>
            </a:r>
          </a:p>
        </p:txBody>
      </p:sp>
      <p:sp>
        <p:nvSpPr>
          <p:cNvPr id="15" name="Rectangle 14"/>
          <p:cNvSpPr/>
          <p:nvPr/>
        </p:nvSpPr>
        <p:spPr>
          <a:xfrm>
            <a:off x="7580193" y="1604772"/>
            <a:ext cx="96012" cy="96012"/>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0233" y="1517904"/>
            <a:ext cx="3788542" cy="393191"/>
          </a:xfrm>
          <a:prstGeom prst="rect">
            <a:avLst/>
          </a:prstGeom>
          <a:noFill/>
        </p:spPr>
        <p:txBody>
          <a:bodyPr wrap="square" lIns="0" rIns="0" tIns="0" bIns="0" anchor="t">
            <a:noAutofit/>
          </a:bodyPr>
          <a:lstStyle/>
          <a:p>
            <a:pPr algn="l">
              <a:lnSpc>
                <a:spcPct val="110000"/>
              </a:lnSpc>
            </a:pPr>
            <a:r>
              <a:rPr sz="1620" i="0" b="0">
                <a:solidFill>
                  <a:srgbClr val="0F7490"/>
                </a:solidFill>
                <a:latin typeface="Menlo"/>
              </a:rPr>
              <a:t>get_stock</a:t>
            </a:r>
            <a:r>
              <a:rPr sz="1800" i="0" b="0">
                <a:solidFill>
                  <a:srgbClr val="1E293B"/>
                </a:solidFill>
                <a:latin typeface="Helvetica Neue"/>
              </a:rPr>
              <a:t> → allow</a:t>
            </a:r>
          </a:p>
        </p:txBody>
      </p:sp>
      <p:sp>
        <p:nvSpPr>
          <p:cNvPr id="17" name="Rectangle 16"/>
          <p:cNvSpPr/>
          <p:nvPr/>
        </p:nvSpPr>
        <p:spPr>
          <a:xfrm>
            <a:off x="7580193" y="2043684"/>
            <a:ext cx="96012" cy="96012"/>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0233" y="1956816"/>
            <a:ext cx="3788542" cy="393191"/>
          </a:xfrm>
          <a:prstGeom prst="rect">
            <a:avLst/>
          </a:prstGeom>
          <a:noFill/>
        </p:spPr>
        <p:txBody>
          <a:bodyPr wrap="square" lIns="0" rIns="0" tIns="0" bIns="0" anchor="t">
            <a:noAutofit/>
          </a:bodyPr>
          <a:lstStyle/>
          <a:p>
            <a:pPr algn="l">
              <a:lnSpc>
                <a:spcPct val="110000"/>
              </a:lnSpc>
            </a:pPr>
            <a:r>
              <a:rPr sz="1620" i="0" b="0">
                <a:solidFill>
                  <a:srgbClr val="0F7490"/>
                </a:solidFill>
                <a:latin typeface="Menlo"/>
              </a:rPr>
              <a:t>place_order</a:t>
            </a:r>
            <a:r>
              <a:rPr sz="1800" i="0" b="0">
                <a:solidFill>
                  <a:srgbClr val="1E293B"/>
                </a:solidFill>
                <a:latin typeface="Helvetica Neue"/>
              </a:rPr>
              <a:t> 300 → ask human</a:t>
            </a:r>
          </a:p>
        </p:txBody>
      </p:sp>
      <p:sp>
        <p:nvSpPr>
          <p:cNvPr id="19" name="Rectangle 18"/>
          <p:cNvSpPr/>
          <p:nvPr/>
        </p:nvSpPr>
        <p:spPr>
          <a:xfrm>
            <a:off x="7580193" y="2482596"/>
            <a:ext cx="96012" cy="96012"/>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00233" y="2395728"/>
            <a:ext cx="3788542" cy="694943"/>
          </a:xfrm>
          <a:prstGeom prst="rect">
            <a:avLst/>
          </a:prstGeom>
          <a:noFill/>
        </p:spPr>
        <p:txBody>
          <a:bodyPr wrap="square" lIns="0" rIns="0" tIns="0" bIns="0" anchor="t">
            <a:noAutofit/>
          </a:bodyPr>
          <a:lstStyle/>
          <a:p>
            <a:pPr algn="l">
              <a:lnSpc>
                <a:spcPct val="110000"/>
              </a:lnSpc>
            </a:pPr>
            <a:r>
              <a:rPr sz="1620" i="0" b="0">
                <a:solidFill>
                  <a:srgbClr val="0F7490"/>
                </a:solidFill>
                <a:latin typeface="Menlo"/>
              </a:rPr>
              <a:t>place_order</a:t>
            </a:r>
            <a:r>
              <a:rPr sz="1800" i="0" b="0">
                <a:solidFill>
                  <a:srgbClr val="1E293B"/>
                </a:solidFill>
                <a:latin typeface="Helvetica Neue"/>
              </a:rPr>
              <a:t> 300, approved → allow</a:t>
            </a:r>
          </a:p>
        </p:txBody>
      </p:sp>
      <p:sp>
        <p:nvSpPr>
          <p:cNvPr id="21" name="Rectangle 20"/>
          <p:cNvSpPr/>
          <p:nvPr/>
        </p:nvSpPr>
        <p:spPr>
          <a:xfrm>
            <a:off x="7580193" y="3223260"/>
            <a:ext cx="96012" cy="96012"/>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0233" y="3136392"/>
            <a:ext cx="3788542" cy="694943"/>
          </a:xfrm>
          <a:prstGeom prst="rect">
            <a:avLst/>
          </a:prstGeom>
          <a:noFill/>
        </p:spPr>
        <p:txBody>
          <a:bodyPr wrap="square" lIns="0" rIns="0" tIns="0" bIns="0" anchor="t">
            <a:noAutofit/>
          </a:bodyPr>
          <a:lstStyle/>
          <a:p>
            <a:pPr algn="l">
              <a:lnSpc>
                <a:spcPct val="110000"/>
              </a:lnSpc>
            </a:pPr>
            <a:r>
              <a:rPr sz="1620" i="0" b="0">
                <a:solidFill>
                  <a:srgbClr val="0F7490"/>
                </a:solidFill>
                <a:latin typeface="Menlo"/>
              </a:rPr>
              <a:t>place_order</a:t>
            </a:r>
            <a:r>
              <a:rPr sz="1800" i="0" b="0">
                <a:solidFill>
                  <a:srgbClr val="1E293B"/>
                </a:solidFill>
                <a:latin typeface="Helvetica Neue"/>
              </a:rPr>
              <a:t> 9000, approved → deny</a:t>
            </a:r>
          </a:p>
        </p:txBody>
      </p:sp>
      <p:sp>
        <p:nvSpPr>
          <p:cNvPr id="23" name="Rectangle 22"/>
          <p:cNvSpPr/>
          <p:nvPr/>
        </p:nvSpPr>
        <p:spPr>
          <a:xfrm>
            <a:off x="7580193" y="3963924"/>
            <a:ext cx="96012" cy="96012"/>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00233" y="3877056"/>
            <a:ext cx="3788542" cy="393191"/>
          </a:xfrm>
          <a:prstGeom prst="rect">
            <a:avLst/>
          </a:prstGeom>
          <a:noFill/>
        </p:spPr>
        <p:txBody>
          <a:bodyPr wrap="square" lIns="0" rIns="0" tIns="0" bIns="0" anchor="t">
            <a:noAutofit/>
          </a:bodyPr>
          <a:lstStyle/>
          <a:p>
            <a:pPr algn="l">
              <a:lnSpc>
                <a:spcPct val="110000"/>
              </a:lnSpc>
            </a:pPr>
            <a:r>
              <a:rPr sz="1620" i="0" b="0">
                <a:solidFill>
                  <a:srgbClr val="0F7490"/>
                </a:solidFill>
                <a:latin typeface="Menlo"/>
              </a:rPr>
              <a:t>delete_supplier</a:t>
            </a:r>
            <a:r>
              <a:rPr sz="1800" i="0" b="0">
                <a:solidFill>
                  <a:srgbClr val="1E293B"/>
                </a:solidFill>
                <a:latin typeface="Helvetica Neue"/>
              </a:rPr>
              <a:t> → deny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Controls sit on three positions</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Part 6 · Now it can spend money</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notes/07-guardrails-and-autonomy.md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37</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300" i="0" b="1">
                <a:solidFill>
                  <a:srgbClr val="1E3A5F"/>
                </a:solidFill>
                <a:latin typeface="Helvetica Neue"/>
              </a:rPr>
              <a:t>Layer guardrails on inputs including retrieved data, on tool execution and on outputs, because no single check is enough.</a:t>
            </a:r>
          </a:p>
        </p:txBody>
      </p:sp>
      <p:sp>
        <p:nvSpPr>
          <p:cNvPr id="12" name="Rounded Rectangle 11"/>
          <p:cNvSpPr/>
          <p:nvPr/>
        </p:nvSpPr>
        <p:spPr>
          <a:xfrm>
            <a:off x="2026767" y="1563624"/>
            <a:ext cx="2377440" cy="1205484"/>
          </a:xfrm>
          <a:prstGeom prst="roundRect">
            <a:avLst>
              <a:gd name="adj" fmla="val 12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63927" y="1563624"/>
            <a:ext cx="2103120"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Input</a:t>
            </a:r>
          </a:p>
          <a:p>
            <a:pPr algn="ctr">
              <a:lnSpc>
                <a:spcPct val="110000"/>
              </a:lnSpc>
            </a:pPr>
            <a:r>
              <a:rPr sz="1300" i="0" b="0">
                <a:solidFill>
                  <a:srgbClr val="E8F4F8"/>
                </a:solidFill>
                <a:latin typeface="Helvetica Neue"/>
              </a:rPr>
              <a:t>relevance, safety, injection screens</a:t>
            </a:r>
          </a:p>
        </p:txBody>
      </p:sp>
      <p:cxnSp>
        <p:nvCxnSpPr>
          <p:cNvPr id="14" name="Connector 13"/>
          <p:cNvCxnSpPr/>
          <p:nvPr/>
        </p:nvCxnSpPr>
        <p:spPr>
          <a:xfrm>
            <a:off x="4459071" y="216636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07127" y="1563624"/>
            <a:ext cx="2377440" cy="1205484"/>
          </a:xfrm>
          <a:prstGeom prst="roundRect">
            <a:avLst>
              <a:gd name="adj" fmla="val 12000"/>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44287" y="1563624"/>
            <a:ext cx="2103120"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Execution</a:t>
            </a:r>
          </a:p>
          <a:p>
            <a:pPr algn="ctr">
              <a:lnSpc>
                <a:spcPct val="110000"/>
              </a:lnSpc>
            </a:pPr>
            <a:r>
              <a:rPr sz="1300" i="0" b="0">
                <a:solidFill>
                  <a:srgbClr val="E8F4F8"/>
                </a:solidFill>
                <a:latin typeface="Helvetica Neue"/>
              </a:rPr>
              <a:t>risk rating, limits, approval</a:t>
            </a:r>
          </a:p>
        </p:txBody>
      </p:sp>
      <p:cxnSp>
        <p:nvCxnSpPr>
          <p:cNvPr id="17" name="Connector 16"/>
          <p:cNvCxnSpPr/>
          <p:nvPr/>
        </p:nvCxnSpPr>
        <p:spPr>
          <a:xfrm>
            <a:off x="7339431" y="2166366"/>
            <a:ext cx="393192" cy="0"/>
          </a:xfrm>
          <a:prstGeom prst="line">
            <a:avLst/>
          </a:prstGeom>
          <a:ln w="25400">
            <a:solidFill>
              <a:srgbClr val="4755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787487" y="1563624"/>
            <a:ext cx="2377440" cy="1205484"/>
          </a:xfrm>
          <a:prstGeom prst="roundRect">
            <a:avLst>
              <a:gd name="adj" fmla="val 12000"/>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24647" y="1563624"/>
            <a:ext cx="2103120" cy="1205484"/>
          </a:xfrm>
          <a:prstGeom prst="rect">
            <a:avLst/>
          </a:prstGeom>
          <a:noFill/>
        </p:spPr>
        <p:txBody>
          <a:bodyPr wrap="square" lIns="0" rIns="0" tIns="0" bIns="0" anchor="ctr">
            <a:noAutofit/>
          </a:bodyPr>
          <a:lstStyle/>
          <a:p>
            <a:pPr algn="ctr">
              <a:lnSpc>
                <a:spcPct val="110000"/>
              </a:lnSpc>
            </a:pPr>
            <a:r>
              <a:rPr sz="1700" i="0" b="1">
                <a:solidFill>
                  <a:srgbClr val="FFFFFF"/>
                </a:solidFill>
                <a:latin typeface="Helvetica Neue"/>
              </a:rPr>
              <a:t>Output</a:t>
            </a:r>
          </a:p>
          <a:p>
            <a:pPr algn="ctr">
              <a:lnSpc>
                <a:spcPct val="110000"/>
              </a:lnSpc>
            </a:pPr>
            <a:r>
              <a:rPr sz="1300" i="0" b="0">
                <a:solidFill>
                  <a:srgbClr val="E8F4F8"/>
                </a:solidFill>
                <a:latin typeface="Helvetica Neue"/>
              </a:rPr>
              <a:t>PII and content checks</a:t>
            </a:r>
          </a:p>
        </p:txBody>
      </p:sp>
      <p:sp>
        <p:nvSpPr>
          <p:cNvPr id="20" name="TextBox 19"/>
          <p:cNvSpPr txBox="1"/>
          <p:nvPr/>
        </p:nvSpPr>
        <p:spPr>
          <a:xfrm>
            <a:off x="502920" y="3089148"/>
            <a:ext cx="11185855" cy="2397252"/>
          </a:xfrm>
          <a:prstGeom prst="rect">
            <a:avLst/>
          </a:prstGeom>
          <a:noFill/>
        </p:spPr>
        <p:txBody>
          <a:bodyPr wrap="square" lIns="0" rIns="0" tIns="0" bIns="0" anchor="t">
            <a:noAutofit/>
          </a:bodyPr>
          <a:lstStyle/>
          <a:p>
            <a:pPr algn="ctr">
              <a:lnSpc>
                <a:spcPct val="110000"/>
              </a:lnSpc>
            </a:pPr>
            <a:r>
              <a:rPr sz="1700" i="0" b="0">
                <a:solidFill>
                  <a:srgbClr val="475569"/>
                </a:solidFill>
                <a:latin typeface="Helvetica Neue"/>
              </a:rPr>
              <a:t>Retrieved data enters at the same point as user input, so injection is a design problem as well as a filtering one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Rules of thumb</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Wrapping up</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notes/01-agent-fundamentals.md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38</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200" i="0" b="1">
                <a:solidFill>
                  <a:srgbClr val="1E3A5F"/>
                </a:solidFill>
                <a:latin typeface="Helvetica Neue"/>
              </a:rPr>
              <a:t>Compute what you can, bound the loop, distrust tool output, keep the record, start with one agent and enforce limits outside the model.</a:t>
            </a:r>
          </a:p>
        </p:txBody>
      </p:sp>
      <p:sp>
        <p:nvSpPr>
          <p:cNvPr id="12" name="Rectangle 11"/>
          <p:cNvSpPr/>
          <p:nvPr/>
        </p:nvSpPr>
        <p:spPr>
          <a:xfrm>
            <a:off x="502920" y="1472184"/>
            <a:ext cx="3545738" cy="186994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472184"/>
            <a:ext cx="82296" cy="1869948"/>
          </a:xfrm>
          <a:prstGeom prst="rect">
            <a:avLst/>
          </a:prstGeom>
          <a:solidFill>
            <a:srgbClr val="D462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Compute what you can</a:t>
            </a:r>
          </a:p>
        </p:txBody>
      </p:sp>
      <p:sp>
        <p:nvSpPr>
          <p:cNvPr id="15" name="TextBox 14"/>
          <p:cNvSpPr txBox="1"/>
          <p:nvPr/>
        </p:nvSpPr>
        <p:spPr>
          <a:xfrm>
            <a:off x="777240" y="2087880"/>
            <a:ext cx="3042818" cy="1071371"/>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Check the model against arithmetic and plain code.</a:t>
            </a:r>
          </a:p>
        </p:txBody>
      </p:sp>
      <p:sp>
        <p:nvSpPr>
          <p:cNvPr id="16" name="Rectangle 15"/>
          <p:cNvSpPr/>
          <p:nvPr/>
        </p:nvSpPr>
        <p:spPr>
          <a:xfrm>
            <a:off x="4322978" y="1472184"/>
            <a:ext cx="3545738" cy="186994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22978" y="1472184"/>
            <a:ext cx="82296" cy="1869948"/>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97298" y="1655064"/>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Cap every loop</a:t>
            </a:r>
          </a:p>
        </p:txBody>
      </p:sp>
      <p:sp>
        <p:nvSpPr>
          <p:cNvPr id="19" name="TextBox 18"/>
          <p:cNvSpPr txBox="1"/>
          <p:nvPr/>
        </p:nvSpPr>
        <p:spPr>
          <a:xfrm>
            <a:off x="4597298" y="2087880"/>
            <a:ext cx="3042818" cy="1071371"/>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Budget steps, and make the last one a wrap-up.</a:t>
            </a:r>
          </a:p>
        </p:txBody>
      </p:sp>
      <p:sp>
        <p:nvSpPr>
          <p:cNvPr id="20" name="Rectangle 19"/>
          <p:cNvSpPr/>
          <p:nvPr/>
        </p:nvSpPr>
        <p:spPr>
          <a:xfrm>
            <a:off x="8143036" y="1472184"/>
            <a:ext cx="3545738" cy="186994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43036" y="1472184"/>
            <a:ext cx="82296" cy="1869948"/>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7356" y="1655064"/>
            <a:ext cx="3088538" cy="627888"/>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Treat tool output as untrusted</a:t>
            </a:r>
          </a:p>
        </p:txBody>
      </p:sp>
      <p:sp>
        <p:nvSpPr>
          <p:cNvPr id="23" name="TextBox 22"/>
          <p:cNvSpPr txBox="1"/>
          <p:nvPr/>
        </p:nvSpPr>
        <p:spPr>
          <a:xfrm>
            <a:off x="8417356" y="2356104"/>
            <a:ext cx="3042818" cy="803148"/>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Pick an injection pattern before you ship.</a:t>
            </a:r>
          </a:p>
        </p:txBody>
      </p:sp>
      <p:sp>
        <p:nvSpPr>
          <p:cNvPr id="24" name="Rectangle 23"/>
          <p:cNvSpPr/>
          <p:nvPr/>
        </p:nvSpPr>
        <p:spPr>
          <a:xfrm>
            <a:off x="502920" y="3616452"/>
            <a:ext cx="3545738" cy="186994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2920" y="3616452"/>
            <a:ext cx="82296" cy="1869948"/>
          </a:xfrm>
          <a:prstGeom prst="rect">
            <a:avLst/>
          </a:prstGeom>
          <a:solidFill>
            <a:srgbClr val="5B21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3799332"/>
            <a:ext cx="3088538" cy="627888"/>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Small core, verbatim archive</a:t>
            </a:r>
          </a:p>
        </p:txBody>
      </p:sp>
      <p:sp>
        <p:nvSpPr>
          <p:cNvPr id="27" name="TextBox 26"/>
          <p:cNvSpPr txBox="1"/>
          <p:nvPr/>
        </p:nvSpPr>
        <p:spPr>
          <a:xfrm>
            <a:off x="777240" y="4500372"/>
            <a:ext cx="3042818" cy="803147"/>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Curate the index, not the facts.</a:t>
            </a:r>
          </a:p>
        </p:txBody>
      </p:sp>
      <p:sp>
        <p:nvSpPr>
          <p:cNvPr id="28" name="Rectangle 27"/>
          <p:cNvSpPr/>
          <p:nvPr/>
        </p:nvSpPr>
        <p:spPr>
          <a:xfrm>
            <a:off x="4322978" y="3616452"/>
            <a:ext cx="3545738" cy="186994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22978" y="3616452"/>
            <a:ext cx="82296" cy="1869948"/>
          </a:xfrm>
          <a:prstGeom prst="rect">
            <a:avLst/>
          </a:prstGeom>
          <a:solidFill>
            <a:srgbClr val="0EA5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97298" y="3799332"/>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Start with one agent</a:t>
            </a:r>
          </a:p>
        </p:txBody>
      </p:sp>
      <p:sp>
        <p:nvSpPr>
          <p:cNvPr id="31" name="TextBox 30"/>
          <p:cNvSpPr txBox="1"/>
          <p:nvPr/>
        </p:nvSpPr>
        <p:spPr>
          <a:xfrm>
            <a:off x="4597298" y="4232148"/>
            <a:ext cx="3042818" cy="1071372"/>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Split for parallelism, isolation or permissions.</a:t>
            </a:r>
          </a:p>
        </p:txBody>
      </p:sp>
      <p:sp>
        <p:nvSpPr>
          <p:cNvPr id="32" name="Rectangle 31"/>
          <p:cNvSpPr/>
          <p:nvPr/>
        </p:nvSpPr>
        <p:spPr>
          <a:xfrm>
            <a:off x="8143036" y="3616452"/>
            <a:ext cx="3545738" cy="1869948"/>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143036" y="3616452"/>
            <a:ext cx="82296" cy="1869948"/>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7356" y="3799332"/>
            <a:ext cx="3088538" cy="359664"/>
          </a:xfrm>
          <a:prstGeom prst="rect">
            <a:avLst/>
          </a:prstGeom>
          <a:noFill/>
        </p:spPr>
        <p:txBody>
          <a:bodyPr wrap="square" lIns="0" rIns="0" tIns="0" bIns="0" anchor="t">
            <a:noAutofit/>
          </a:bodyPr>
          <a:lstStyle/>
          <a:p>
            <a:pPr algn="l">
              <a:lnSpc>
                <a:spcPct val="110000"/>
              </a:lnSpc>
            </a:pPr>
            <a:r>
              <a:rPr sz="1600" i="0" b="1">
                <a:solidFill>
                  <a:srgbClr val="1E293B"/>
                </a:solidFill>
                <a:latin typeface="Helvetica Neue"/>
              </a:rPr>
              <a:t>Enforce limits in code</a:t>
            </a:r>
          </a:p>
        </p:txBody>
      </p:sp>
      <p:sp>
        <p:nvSpPr>
          <p:cNvPr id="35" name="TextBox 34"/>
          <p:cNvSpPr txBox="1"/>
          <p:nvPr/>
        </p:nvSpPr>
        <p:spPr>
          <a:xfrm>
            <a:off x="8417356" y="4232148"/>
            <a:ext cx="3042818" cy="1071372"/>
          </a:xfrm>
          <a:prstGeom prst="rect">
            <a:avLst/>
          </a:prstGeom>
          <a:noFill/>
        </p:spPr>
        <p:txBody>
          <a:bodyPr wrap="square" lIns="0" rIns="0" tIns="0" bIns="0" anchor="t">
            <a:noAutofit/>
          </a:bodyPr>
          <a:lstStyle/>
          <a:p>
            <a:pPr algn="l">
              <a:lnSpc>
                <a:spcPct val="110000"/>
              </a:lnSpc>
            </a:pPr>
            <a:r>
              <a:rPr sz="1800" i="0" b="0">
                <a:solidFill>
                  <a:srgbClr val="475569"/>
                </a:solidFill>
                <a:latin typeface="Helvetica Neue"/>
              </a:rPr>
              <a:t>A prompt restriction is not a permission.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68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0"/>
            <a:ext cx="11185855" cy="868680"/>
          </a:xfrm>
          <a:prstGeom prst="rect">
            <a:avLst/>
          </a:prstGeom>
          <a:noFill/>
        </p:spPr>
        <p:txBody>
          <a:bodyPr wrap="square" lIns="0" rIns="0" tIns="0" bIns="0" anchor="ctr">
            <a:noAutofit/>
          </a:bodyPr>
          <a:lstStyle/>
          <a:p>
            <a:pPr algn="l">
              <a:lnSpc>
                <a:spcPct val="110000"/>
              </a:lnSpc>
            </a:pPr>
            <a:r>
              <a:rPr sz="2800" i="0" b="1">
                <a:solidFill>
                  <a:srgbClr val="FFFFFF"/>
                </a:solidFill>
                <a:latin typeface="Helvetica Neue"/>
              </a:rPr>
              <a:t>Where to go next</a:t>
            </a:r>
          </a:p>
        </p:txBody>
      </p:sp>
      <p:sp>
        <p:nvSpPr>
          <p:cNvPr id="5" name="Rectangle 4"/>
          <p:cNvSpPr/>
          <p:nvPr/>
        </p:nvSpPr>
        <p:spPr>
          <a:xfrm>
            <a:off x="0" y="868680"/>
            <a:ext cx="12191695" cy="329184"/>
          </a:xfrm>
          <a:prstGeom prst="rect">
            <a:avLst/>
          </a:prstGeom>
          <a:solidFill>
            <a:srgbClr val="E8E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868680"/>
            <a:ext cx="7315200" cy="329184"/>
          </a:xfrm>
          <a:prstGeom prst="rect">
            <a:avLst/>
          </a:prstGeom>
          <a:noFill/>
        </p:spPr>
        <p:txBody>
          <a:bodyPr wrap="square" lIns="0" rIns="0" tIns="0" bIns="0" anchor="ctr">
            <a:noAutofit/>
          </a:bodyPr>
          <a:lstStyle/>
          <a:p>
            <a:pPr algn="l">
              <a:lnSpc>
                <a:spcPct val="110000"/>
              </a:lnSpc>
            </a:pPr>
            <a:r>
              <a:rPr sz="1100" i="0" b="0">
                <a:solidFill>
                  <a:srgbClr val="94A3B8"/>
                </a:solidFill>
                <a:latin typeface="Helvetica Neue"/>
              </a:rPr>
              <a:t>Wrapping up</a:t>
            </a:r>
          </a:p>
        </p:txBody>
      </p:sp>
      <p:sp>
        <p:nvSpPr>
          <p:cNvPr id="7" name="TextBox 6"/>
          <p:cNvSpPr txBox="1"/>
          <p:nvPr/>
        </p:nvSpPr>
        <p:spPr>
          <a:xfrm>
            <a:off x="502920" y="6419088"/>
            <a:ext cx="8229600" cy="274320"/>
          </a:xfrm>
          <a:prstGeom prst="rect">
            <a:avLst/>
          </a:prstGeom>
          <a:noFill/>
        </p:spPr>
        <p:txBody>
          <a:bodyPr wrap="square" lIns="0" rIns="0" tIns="0" bIns="0" anchor="t">
            <a:noAutofit/>
          </a:bodyPr>
          <a:lstStyle/>
          <a:p>
            <a:pPr algn="l">
              <a:lnSpc>
                <a:spcPct val="110000"/>
              </a:lnSpc>
            </a:pPr>
            <a:r>
              <a:rPr sz="1000" i="1" b="0">
                <a:solidFill>
                  <a:srgbClr val="94A3B8"/>
                </a:solidFill>
                <a:latin typeface="Helvetica Neue"/>
              </a:rPr>
              <a:t>Source: notes/07-guardrails-and-autonomy.md</a:t>
            </a:r>
          </a:p>
        </p:txBody>
      </p:sp>
      <p:sp>
        <p:nvSpPr>
          <p:cNvPr id="8" name="TextBox 7"/>
          <p:cNvSpPr txBox="1"/>
          <p:nvPr/>
        </p:nvSpPr>
        <p:spPr>
          <a:xfrm>
            <a:off x="10317175" y="6419088"/>
            <a:ext cx="1371600" cy="274320"/>
          </a:xfrm>
          <a:prstGeom prst="rect">
            <a:avLst/>
          </a:prstGeom>
          <a:noFill/>
        </p:spPr>
        <p:txBody>
          <a:bodyPr wrap="square" lIns="0" rIns="0" tIns="0" bIns="0" anchor="t">
            <a:noAutofit/>
          </a:bodyPr>
          <a:lstStyle/>
          <a:p>
            <a:pPr algn="r">
              <a:lnSpc>
                <a:spcPct val="110000"/>
              </a:lnSpc>
            </a:pPr>
            <a:r>
              <a:rPr sz="1000" i="0" b="0">
                <a:solidFill>
                  <a:srgbClr val="94A3B8"/>
                </a:solidFill>
                <a:latin typeface="Helvetica Neue"/>
              </a:rPr>
              <a:t>39</a:t>
            </a:r>
          </a:p>
        </p:txBody>
      </p:sp>
      <p:sp>
        <p:nvSpPr>
          <p:cNvPr id="9" name="Rectangle 8"/>
          <p:cNvSpPr/>
          <p:nvPr/>
        </p:nvSpPr>
        <p:spPr>
          <a:xfrm>
            <a:off x="502920" y="5715000"/>
            <a:ext cx="11185855" cy="502920"/>
          </a:xfrm>
          <a:prstGeom prst="rect">
            <a:avLst/>
          </a:prstGeom>
          <a:solidFill>
            <a:srgbClr val="E8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5715000"/>
            <a:ext cx="73152" cy="50292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15000"/>
            <a:ext cx="10728655" cy="502920"/>
          </a:xfrm>
          <a:prstGeom prst="rect">
            <a:avLst/>
          </a:prstGeom>
          <a:noFill/>
        </p:spPr>
        <p:txBody>
          <a:bodyPr wrap="square" lIns="0" rIns="0" tIns="0" bIns="0" anchor="ctr">
            <a:noAutofit/>
          </a:bodyPr>
          <a:lstStyle/>
          <a:p>
            <a:pPr algn="l">
              <a:lnSpc>
                <a:spcPct val="110000"/>
              </a:lnSpc>
            </a:pPr>
            <a:r>
              <a:rPr sz="1200" i="0" b="1">
                <a:solidFill>
                  <a:srgbClr val="1E3A5F"/>
                </a:solidFill>
                <a:latin typeface="Helvetica Neue"/>
              </a:rPr>
              <a:t>Next, study LangGraph and ADK in depth, then tracing and scoring, then deployed systems, with the harness discipline in ai-engineering.</a:t>
            </a:r>
          </a:p>
        </p:txBody>
      </p:sp>
      <p:sp>
        <p:nvSpPr>
          <p:cNvPr id="12" name="Rectangle 11"/>
          <p:cNvSpPr/>
          <p:nvPr/>
        </p:nvSpPr>
        <p:spPr>
          <a:xfrm>
            <a:off x="502920" y="1568704"/>
            <a:ext cx="106680" cy="106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1472184"/>
            <a:ext cx="5944038" cy="76200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Frameworks in depth:</a:t>
            </a:r>
            <a:r>
              <a:rPr sz="2000" i="0" b="0">
                <a:solidFill>
                  <a:srgbClr val="1E293B"/>
                </a:solidFill>
                <a:latin typeface="Helvetica Neue"/>
              </a:rPr>
              <a:t> LangGraph and Google ADK, in </a:t>
            </a:r>
            <a:r>
              <a:rPr sz="1800" i="0" b="0">
                <a:solidFill>
                  <a:srgbClr val="0F7490"/>
                </a:solidFill>
                <a:latin typeface="Menlo"/>
              </a:rPr>
              <a:t>04-agentic-frameworks</a:t>
            </a:r>
            <a:r>
              <a:rPr sz="2000" i="0" b="0">
                <a:solidFill>
                  <a:srgbClr val="1E293B"/>
                </a:solidFill>
                <a:latin typeface="Helvetica Neue"/>
              </a:rPr>
              <a:t>.</a:t>
            </a:r>
          </a:p>
        </p:txBody>
      </p:sp>
      <p:sp>
        <p:nvSpPr>
          <p:cNvPr id="14" name="Rectangle 13"/>
          <p:cNvSpPr/>
          <p:nvPr/>
        </p:nvSpPr>
        <p:spPr>
          <a:xfrm>
            <a:off x="502920" y="2391664"/>
            <a:ext cx="106680" cy="106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2295144"/>
            <a:ext cx="5944038" cy="76200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Watching it run:</a:t>
            </a:r>
            <a:r>
              <a:rPr sz="2000" i="0" b="0">
                <a:solidFill>
                  <a:srgbClr val="1E293B"/>
                </a:solidFill>
                <a:latin typeface="Helvetica Neue"/>
              </a:rPr>
              <a:t> tracing and scoring, in </a:t>
            </a:r>
            <a:r>
              <a:rPr sz="1800" i="0" b="0">
                <a:solidFill>
                  <a:srgbClr val="0F7490"/>
                </a:solidFill>
                <a:latin typeface="Menlo"/>
              </a:rPr>
              <a:t>06-observability</a:t>
            </a:r>
            <a:r>
              <a:rPr sz="2000" i="0" b="0">
                <a:solidFill>
                  <a:srgbClr val="1E293B"/>
                </a:solidFill>
                <a:latin typeface="Helvetica Neue"/>
              </a:rPr>
              <a:t>.</a:t>
            </a:r>
          </a:p>
        </p:txBody>
      </p:sp>
      <p:sp>
        <p:nvSpPr>
          <p:cNvPr id="16" name="Rectangle 15"/>
          <p:cNvSpPr/>
          <p:nvPr/>
        </p:nvSpPr>
        <p:spPr>
          <a:xfrm>
            <a:off x="502920" y="3214624"/>
            <a:ext cx="106680" cy="106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118104"/>
            <a:ext cx="5944038" cy="42672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Deployed systems:</a:t>
            </a:r>
            <a:r>
              <a:rPr sz="2000" i="0" b="0">
                <a:solidFill>
                  <a:srgbClr val="1E293B"/>
                </a:solidFill>
                <a:latin typeface="Helvetica Neue"/>
              </a:rPr>
              <a:t> </a:t>
            </a:r>
            <a:r>
              <a:rPr sz="1800" i="0" b="0">
                <a:solidFill>
                  <a:srgbClr val="0F7490"/>
                </a:solidFill>
                <a:latin typeface="Menlo"/>
              </a:rPr>
              <a:t>07-agentic-applications</a:t>
            </a:r>
            <a:r>
              <a:rPr sz="2000" i="0" b="0">
                <a:solidFill>
                  <a:srgbClr val="1E293B"/>
                </a:solidFill>
                <a:latin typeface="Helvetica Neue"/>
              </a:rPr>
              <a:t>.</a:t>
            </a:r>
          </a:p>
        </p:txBody>
      </p:sp>
      <p:sp>
        <p:nvSpPr>
          <p:cNvPr id="18" name="Rectangle 17"/>
          <p:cNvSpPr/>
          <p:nvPr/>
        </p:nvSpPr>
        <p:spPr>
          <a:xfrm>
            <a:off x="502920" y="3702303"/>
            <a:ext cx="106680" cy="106680"/>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605784"/>
            <a:ext cx="5944038" cy="762000"/>
          </a:xfrm>
          <a:prstGeom prst="rect">
            <a:avLst/>
          </a:prstGeom>
          <a:noFill/>
        </p:spPr>
        <p:txBody>
          <a:bodyPr wrap="square" lIns="0" rIns="0" tIns="0" bIns="0" anchor="t">
            <a:noAutofit/>
          </a:bodyPr>
          <a:lstStyle/>
          <a:p>
            <a:pPr algn="l">
              <a:lnSpc>
                <a:spcPct val="110000"/>
              </a:lnSpc>
            </a:pPr>
            <a:r>
              <a:rPr sz="2000" i="0" b="1">
                <a:solidFill>
                  <a:srgbClr val="1E293B"/>
                </a:solidFill>
                <a:latin typeface="Helvetica Neue"/>
              </a:rPr>
              <a:t>The engineering discipline:</a:t>
            </a:r>
            <a:r>
              <a:rPr sz="2000" i="0" b="0">
                <a:solidFill>
                  <a:srgbClr val="1E293B"/>
                </a:solidFill>
                <a:latin typeface="Helvetica Neue"/>
              </a:rPr>
              <a:t> </a:t>
            </a:r>
            <a:r>
              <a:rPr sz="1800" i="0" b="0">
                <a:solidFill>
                  <a:srgbClr val="0F7490"/>
                </a:solidFill>
                <a:latin typeface="Menlo"/>
              </a:rPr>
              <a:t>ai-engineering</a:t>
            </a:r>
            <a:r>
              <a:rPr sz="2000" i="0" b="0">
                <a:solidFill>
                  <a:srgbClr val="1E293B"/>
                </a:solidFill>
                <a:latin typeface="Helvetica Neue"/>
              </a:rPr>
              <a:t>, on harness, loop and graph.</a:t>
            </a:r>
          </a:p>
        </p:txBody>
      </p:sp>
      <p:sp>
        <p:nvSpPr>
          <p:cNvPr id="20" name="Rectangle 19"/>
          <p:cNvSpPr/>
          <p:nvPr/>
        </p:nvSpPr>
        <p:spPr>
          <a:xfrm>
            <a:off x="7132758" y="1472184"/>
            <a:ext cx="4556016" cy="4014215"/>
          </a:xfrm>
          <a:prstGeom prst="rect">
            <a:avLst/>
          </a:prstGeom>
          <a:solidFill>
            <a:srgbClr val="FFFFFF"/>
          </a:solidFill>
          <a:ln w="9525">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32758" y="1472184"/>
            <a:ext cx="4556016" cy="557784"/>
          </a:xfrm>
          <a:prstGeom prst="rect">
            <a:avLst/>
          </a:prstGeom>
          <a:solidFill>
            <a:srgbClr val="0F74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61358" y="1472184"/>
            <a:ext cx="4098816" cy="557784"/>
          </a:xfrm>
          <a:prstGeom prst="rect">
            <a:avLst/>
          </a:prstGeom>
          <a:noFill/>
        </p:spPr>
        <p:txBody>
          <a:bodyPr wrap="square" lIns="0" rIns="0" tIns="0" bIns="0" anchor="ctr">
            <a:noAutofit/>
          </a:bodyPr>
          <a:lstStyle/>
          <a:p>
            <a:pPr algn="l">
              <a:lnSpc>
                <a:spcPct val="110000"/>
              </a:lnSpc>
            </a:pPr>
            <a:r>
              <a:rPr sz="1800" i="0" b="1">
                <a:solidFill>
                  <a:srgbClr val="FFFFFF"/>
                </a:solidFill>
                <a:latin typeface="Helvetica Neue"/>
              </a:rPr>
              <a:t>Try it</a:t>
            </a:r>
          </a:p>
        </p:txBody>
      </p:sp>
      <p:sp>
        <p:nvSpPr>
          <p:cNvPr id="23" name="TextBox 22"/>
          <p:cNvSpPr txBox="1"/>
          <p:nvPr/>
        </p:nvSpPr>
        <p:spPr>
          <a:xfrm>
            <a:off x="7361358" y="2231136"/>
            <a:ext cx="4053096" cy="3072383"/>
          </a:xfrm>
          <a:prstGeom prst="rect">
            <a:avLst/>
          </a:prstGeom>
          <a:noFill/>
        </p:spPr>
        <p:txBody>
          <a:bodyPr wrap="square" lIns="0" rIns="0" tIns="0" bIns="0" anchor="t">
            <a:noAutofit/>
          </a:bodyPr>
          <a:lstStyle/>
          <a:p>
            <a:pPr algn="l">
              <a:lnSpc>
                <a:spcPct val="110000"/>
              </a:lnSpc>
            </a:pPr>
            <a:r>
              <a:rPr sz="1700" i="0" b="0">
                <a:solidFill>
                  <a:srgbClr val="475569"/>
                </a:solidFill>
                <a:latin typeface="Helvetica Neue"/>
              </a:rPr>
              <a:t>Run the code in each note. The runnable blocks work offline with stubs, and the A2A one needs only Pydantic.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