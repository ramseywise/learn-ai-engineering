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Larkspur is a fictional online plant shop with twenty thousand users and a new checkout it wants to judge. We will take its data from a messy extract to a regression that holds up. At each step the question is the same: what are we entitled to claim about the users we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job is to find out what the data are. Most errors that reach a decision start here rather than in the statistics.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those two bad rows left in, the raw mean is 8.10. Neither number describes anyone. By the end of this part we will know which number answers which question.</a:t>
            </a:r>
          </a:p>
          <a:p/>
          <a:p>
            <a:r>
              <a:t>Source: notes/01-descriptive-statistics-and-eda.md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Tukey's point was that inference answers a framed question, and exploration tells you whether you framed the right one. Each exclusion is an analyst's choice, so write it down.</a:t>
            </a:r>
          </a:p>
          <a:p/>
          <a:p>
            <a:r>
              <a:t>Source: notes/01-descriptive-statistics-and-eda.md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summary depends on the question. Finance forecasting a total needs the mean. A product manager describing a typical buyer wants the median. Neither is more true.</a:t>
            </a:r>
          </a:p>
          <a:p/>
          <a:p>
            <a:r>
              <a:t>Source: notes/01-descriptive-statistics-and-eda.md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Downey's class size paradox. Sampling by person weights each class by its size, and exactly the same thing happens to per-session and per-user metrics.</a:t>
            </a:r>
          </a:p>
          <a:p/>
          <a:p>
            <a:r>
              <a:t>Source: notes/01-descriptive-statistics-and-eda.md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want to reason about data we have not seen. There are only a few rules, and each one guards against a mistake intuition makes reliably.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miscalculated. They answered the wrong conditional. Let us see where the 9% comes from.</a:t>
            </a:r>
          </a:p>
          <a:p/>
          <a:p>
            <a:r>
              <a:t>Source: notes/02-probability-foundations.md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arithmetic applies to testing. A p-value is P of data given no effect. Reinhart's hundred drugs example, with ten that work, gives about 8 real and 4.5 false discoveries, so 64% of the significant ones are real.</a:t>
            </a:r>
          </a:p>
          <a:p/>
          <a:p>
            <a:r>
              <a:t>Source: notes/02-probability-foundations.md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habit from the chapter is to compute it, then simulate it. If the two disagree you have learned something.</a:t>
            </a:r>
          </a:p>
          <a:p/>
          <a:p>
            <a:r>
              <a:t>Source: notes/02-probability-foundations.md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Reinhart calls this pseudoreplication. The law of total variance is the other tool here, since it splits variance into within-group and between-group parts, and that is where stratification and CUPED later get their power.</a:t>
            </a:r>
          </a:p>
          <a:p/>
          <a:p>
            <a:r>
              <a:t>Source: notes/02-probability-foundations.md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handful of shapes describe most analytics data. Means of those shapes behave well, until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simulate it with 5,000 counties drawn from one height distribution. All ten tallest and all ten shortest have fewer than 300 people, while the median county has 808.</a:t>
            </a:r>
          </a:p>
          <a:p/>
          <a:p>
            <a:r>
              <a:t>Source: notes/03-distributions-and-sampling.md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Poisson and Exponential are two views of the same process. Every scipy distribution has the same methods. Watch for the off-by-one: sf of 9 gives P of 10 or more.</a:t>
            </a:r>
          </a:p>
          <a:p/>
          <a:p>
            <a:r>
              <a:t>Source: notes/03-distributions-and-sampling.md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rate of the error, one over root n, is why precision is expensive. Halving the error costs four times the data. How many users you need depends on the skew of the metric, which is the next slide.</a:t>
            </a:r>
          </a:p>
          <a:p/>
          <a:p>
            <a:r>
              <a:t>Source: notes/03-distributions-and-sampling.md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samples mostly contain few whales, so they understate both the mean and the spread. The formula cannot warn you, because the standard error comes from the same sample.</a:t>
            </a:r>
          </a:p>
          <a:p/>
          <a:p>
            <a:r>
              <a:t>Source: notes/03-distributions-and-sampling.md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pseudo-observation formula is the Beta-Binomial posterior mean, which we meet in the Bayesian pillar. Efron and Hastie treat this as empirical Bayes.</a:t>
            </a:r>
          </a:p>
          <a:p/>
          <a:p>
            <a:r>
              <a:t>Source: notes/03-distributions-and-sampling.md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number without a range cannot support a decision. Let us build the range.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 at 2.50 looks fine and 3.20 is optimistic but not ruled out. The 95% describes the procedure's hit rate over repeated sampling, and our simulation found 94.8%. For a statement of probability about this one interval you need a credible interval and a prior.</a:t>
            </a:r>
          </a:p>
          <a:p/>
          <a:p>
            <a:r>
              <a:t>Source: notes/04-estimation.md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n of 4,000 the two are indistinguishable. Simulating coverage is the general way to test any interval you do not trust.</a:t>
            </a:r>
          </a:p>
          <a:p/>
          <a:p>
            <a:r>
              <a:t>Source: notes/04-estimation.md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delta method needed a page of algebra. Efron's bootstrap needs three lines and works for medians and percentiles. Use BCa on skewed statistics.</a:t>
            </a:r>
          </a:p>
          <a:p/>
          <a:p>
            <a:r>
              <a:t>Source: notes/04-estimation.md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rounds the multiplier to 16; exact z-values give 15.7, or about 402,000 and 119,000. The next pillar turns this into a real plan.</a:t>
            </a:r>
          </a:p>
          <a:p/>
          <a:p>
            <a:r>
              <a:t>Source: notes/04-estimation.md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ask whether a pattern could plausibly be noise. Hypothesis tests answer that one narrow question very well.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hypothesis test is a narrow tool: could this be noise? We start by seeing how it works without any formula.</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test in this chapter differs only in its statistic and its null distribution. Once you see this, a table of tests stops looking like a list to memorise.</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uses 400 skewed order values in each arm. Under a true null, p-values are uniform, and that uniformity is what alpha of 0.05 means.</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American Statistical Association's 2016 statement says these same things formally. Reinhart's book walks through them with examples.</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whale moved Welch's p from 0.165 to 0.506 and Mann-Whitney's only from 0.125 to 0.163. But a change that only moves whales is still real revenue.</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Reinhart calls the second effect truth inflation. It is why a replication often shows a smaller effect than the launch analysis, without anything having gone wrong except selection.</a:t>
            </a:r>
          </a:p>
          <a:p/>
          <a:p>
            <a:r>
              <a:t>Source: notes/05-hypothesis-testing.md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compared groups. Regression does that and lets you hold other things fixed.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in means of 1.350 and t of 3.942 match OLS exactly. The covariate removed 30% of the variance, which equals its R squared. Randomisation already made the estimate unbiased, so what it buys is precision. Only use variables measured before assignment.</a:t>
            </a:r>
          </a:p>
          <a:p/>
          <a:p>
            <a:r>
              <a:t>Source: notes/06-regression-and-glms.md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Overdispersion example: dispersion 8.3, Poisson SE 0.0155 against robust 0.0509. A test using the first would have called the effect highly significant.</a:t>
            </a:r>
          </a:p>
          <a:p/>
          <a:p>
            <a:r>
              <a:t>Source: notes/06-regression-and-glms.md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on user brought that 27.8% down to 3.5%. Collinearity damages explanation rather than prediction.</a:t>
            </a:r>
          </a:p>
          <a:p/>
          <a:p>
            <a:r>
              <a:t>Source: notes/06-regression-and-glms.md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coefficient of 28 with a standard error of 171,000 is separation, not a strong effect. Gelman and colleagues showed a Cauchy prior with scale 2.5 on standardised inputs gives stable fits. That leads into the Bayesian pillar.</a:t>
            </a:r>
          </a:p>
          <a:p/>
          <a:p>
            <a:r>
              <a:t>Source: notes/06-regression-and-glms.md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keep one sentence: always ask what the independent unit is, because that single question fixes more real analyses than any fancy method.</a:t>
            </a:r>
          </a:p>
          <a:p/>
          <a:p>
            <a:r>
              <a:t>Source: notes/06-regression-and-glms.md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now say what is true of the users we saw and what is likely of those we did not. What we still cannot say is what caused what. For that, we randomise.</a:t>
            </a:r>
          </a:p>
          <a:p/>
          <a:p>
            <a:r>
              <a:t>Source: notes/01-descriptive-statistics-and-eda.md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572767"/>
          </a:xfrm>
          <a:prstGeom prst="rect">
            <a:avLst/>
          </a:prstGeom>
          <a:noFill/>
        </p:spPr>
        <p:txBody>
          <a:bodyPr wrap="square" lIns="0" rIns="0" tIns="0" bIns="0" anchor="t">
            <a:noAutofit/>
          </a:bodyPr>
          <a:lstStyle/>
          <a:p>
            <a:pPr algn="l">
              <a:lnSpc>
                <a:spcPct val="95000"/>
              </a:lnSpc>
            </a:pPr>
            <a:r>
              <a:rPr sz="4800" i="0" b="1">
                <a:solidFill>
                  <a:srgbClr val="FFFFFF"/>
                </a:solidFill>
                <a:latin typeface="Helvetica Neue"/>
              </a:rPr>
              <a:t>Probability and Statistics</a:t>
            </a:r>
          </a:p>
        </p:txBody>
      </p:sp>
      <p:sp>
        <p:nvSpPr>
          <p:cNvPr id="7" name="TextBox 6"/>
          <p:cNvSpPr txBox="1"/>
          <p:nvPr/>
        </p:nvSpPr>
        <p:spPr>
          <a:xfrm>
            <a:off x="548640" y="2715768"/>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Saying true things about data you have not seen</a:t>
            </a:r>
          </a:p>
        </p:txBody>
      </p:sp>
      <p:sp>
        <p:nvSpPr>
          <p:cNvPr id="8" name="Rectangle 7"/>
          <p:cNvSpPr/>
          <p:nvPr/>
        </p:nvSpPr>
        <p:spPr>
          <a:xfrm>
            <a:off x="548640" y="3840480"/>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160520"/>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Look · Reason · Sample · Estimate · Test · Model</a:t>
            </a:r>
          </a:p>
        </p:txBody>
      </p:sp>
      <p:sp>
        <p:nvSpPr>
          <p:cNvPr id="10" name="Rectangle 9"/>
          <p:cNvSpPr/>
          <p:nvPr/>
        </p:nvSpPr>
        <p:spPr>
          <a:xfrm>
            <a:off x="6492240" y="82296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70104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1: Look before you summarise</a:t>
            </a:r>
          </a:p>
        </p:txBody>
      </p:sp>
      <p:sp>
        <p:nvSpPr>
          <p:cNvPr id="13" name="TextBox 12"/>
          <p:cNvSpPr txBox="1"/>
          <p:nvPr/>
        </p:nvSpPr>
        <p:spPr>
          <a:xfrm>
            <a:off x="6766560" y="1208786"/>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Types and units · Impossible values · Shape picks the summary · Whose average</a:t>
            </a:r>
          </a:p>
        </p:txBody>
      </p:sp>
      <p:sp>
        <p:nvSpPr>
          <p:cNvPr id="14" name="Rectangle 13"/>
          <p:cNvSpPr/>
          <p:nvPr/>
        </p:nvSpPr>
        <p:spPr>
          <a:xfrm>
            <a:off x="6492240" y="1725168"/>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725168"/>
            <a:ext cx="91440" cy="7010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853184"/>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2: The rules of reasoning</a:t>
            </a:r>
          </a:p>
        </p:txBody>
      </p:sp>
      <p:sp>
        <p:nvSpPr>
          <p:cNvPr id="17" name="TextBox 16"/>
          <p:cNvSpPr txBox="1"/>
          <p:nvPr/>
        </p:nvSpPr>
        <p:spPr>
          <a:xfrm>
            <a:off x="6766560" y="2110994"/>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Conditionals · Bayes and base rates · Independence · Expectation and variance</a:t>
            </a:r>
          </a:p>
        </p:txBody>
      </p:sp>
      <p:sp>
        <p:nvSpPr>
          <p:cNvPr id="18" name="Rectangle 17"/>
          <p:cNvSpPr/>
          <p:nvPr/>
        </p:nvSpPr>
        <p:spPr>
          <a:xfrm>
            <a:off x="6492240" y="2627375"/>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627375"/>
            <a:ext cx="91440" cy="70104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755392"/>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3: Shapes and samples</a:t>
            </a:r>
          </a:p>
        </p:txBody>
      </p:sp>
      <p:sp>
        <p:nvSpPr>
          <p:cNvPr id="21" name="TextBox 20"/>
          <p:cNvSpPr txBox="1"/>
          <p:nvPr/>
        </p:nvSpPr>
        <p:spPr>
          <a:xfrm>
            <a:off x="6766560" y="3013202"/>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Six distributions · Law of large numbers · CLT coverage · The small-N trap</a:t>
            </a:r>
          </a:p>
        </p:txBody>
      </p:sp>
      <p:sp>
        <p:nvSpPr>
          <p:cNvPr id="22" name="Rectangle 21"/>
          <p:cNvSpPr/>
          <p:nvPr/>
        </p:nvSpPr>
        <p:spPr>
          <a:xfrm>
            <a:off x="6492240" y="3529584"/>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3529584"/>
            <a:ext cx="91440" cy="70104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3657600"/>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4: From a sample to a number</a:t>
            </a:r>
          </a:p>
        </p:txBody>
      </p:sp>
      <p:sp>
        <p:nvSpPr>
          <p:cNvPr id="25" name="TextBox 24"/>
          <p:cNvSpPr txBox="1"/>
          <p:nvPr/>
        </p:nvSpPr>
        <p:spPr>
          <a:xfrm>
            <a:off x="6766560" y="3915409"/>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Bias and variance · Maximum likelihood · Intervals · Bootstrap · Sample size</a:t>
            </a:r>
          </a:p>
        </p:txBody>
      </p:sp>
      <p:sp>
        <p:nvSpPr>
          <p:cNvPr id="26" name="Rectangle 25"/>
          <p:cNvSpPr/>
          <p:nvPr/>
        </p:nvSpPr>
        <p:spPr>
          <a:xfrm>
            <a:off x="6492240" y="4431792"/>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4431792"/>
            <a:ext cx="91440" cy="70104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4559808"/>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5: From a number to a decision</a:t>
            </a:r>
          </a:p>
        </p:txBody>
      </p:sp>
      <p:sp>
        <p:nvSpPr>
          <p:cNvPr id="29" name="TextBox 28"/>
          <p:cNvSpPr txBox="1"/>
          <p:nvPr/>
        </p:nvSpPr>
        <p:spPr>
          <a:xfrm>
            <a:off x="6766560" y="4817617"/>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The recipe · Choosing a test · What p is not · Multiple comparisons · Winner's curse</a:t>
            </a:r>
          </a:p>
        </p:txBody>
      </p:sp>
      <p:sp>
        <p:nvSpPr>
          <p:cNvPr id="30" name="Rectangle 29"/>
          <p:cNvSpPr/>
          <p:nvPr/>
        </p:nvSpPr>
        <p:spPr>
          <a:xfrm>
            <a:off x="6492240" y="533400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5334000"/>
            <a:ext cx="91440" cy="701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5462015"/>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6: Models that hold other things fixed</a:t>
            </a:r>
          </a:p>
        </p:txBody>
      </p:sp>
      <p:sp>
        <p:nvSpPr>
          <p:cNvPr id="33" name="TextBox 32"/>
          <p:cNvSpPr txBox="1"/>
          <p:nvPr/>
        </p:nvSpPr>
        <p:spPr>
          <a:xfrm>
            <a:off x="6766560" y="5719825"/>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The t-test as OLS · Covariates · Diagnostics · Clustering · Logistic · Poisson</a:t>
            </a:r>
          </a:p>
        </p:txBody>
      </p:sp>
      <p:sp>
        <p:nvSpPr>
          <p:cNvPr id="34" name="TextBox 33"/>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data-analytics/02-probability-and-statistics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Look before you summarise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Types and units · Impossible values · Shape picks the summary · Whose average</a:t>
            </a:r>
          </a:p>
        </p:txBody>
      </p:sp>
      <p:cxnSp>
        <p:nvCxnSpPr>
          <p:cNvPr id="6" name="Connector 5"/>
          <p:cNvCxnSpPr/>
          <p:nvPr/>
        </p:nvCxnSpPr>
        <p:spPr>
          <a:xfrm>
            <a:off x="6446520" y="2425065"/>
            <a:ext cx="0" cy="20078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425065"/>
            <a:ext cx="4693615" cy="21907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Finance asks for the average customer</a:t>
            </a:r>
          </a:p>
          <a:p>
            <a:pPr algn="l">
              <a:lnSpc>
                <a:spcPct val="100000"/>
              </a:lnSpc>
              <a:spcBef>
                <a:spcPts val="1189"/>
              </a:spcBef>
            </a:pPr>
            <a:r>
              <a:rPr sz="1700" i="0" b="0">
                <a:solidFill>
                  <a:srgbClr val="CBD5E1"/>
                </a:solidFill>
                <a:latin typeface="Helvetica Neue"/>
              </a:rPr>
              <a:t>EDA is a loop that ends in a written finding</a:t>
            </a:r>
          </a:p>
          <a:p>
            <a:pPr algn="l">
              <a:lnSpc>
                <a:spcPct val="100000"/>
              </a:lnSpc>
              <a:spcBef>
                <a:spcPts val="1189"/>
              </a:spcBef>
            </a:pPr>
            <a:r>
              <a:rPr sz="1700" i="0" b="0">
                <a:solidFill>
                  <a:srgbClr val="CBD5E1"/>
                </a:solidFill>
                <a:latin typeface="Helvetica Neue"/>
              </a:rPr>
              <a:t>Two rows in twenty thousand ran the summary</a:t>
            </a:r>
          </a:p>
          <a:p>
            <a:pPr algn="l">
              <a:lnSpc>
                <a:spcPct val="100000"/>
              </a:lnSpc>
              <a:spcBef>
                <a:spcPts val="1189"/>
              </a:spcBef>
            </a:pPr>
            <a:r>
              <a:rPr sz="1700" i="0" b="0">
                <a:solidFill>
                  <a:srgbClr val="CBD5E1"/>
                </a:solidFill>
                <a:latin typeface="Helvetica Neue"/>
              </a:rPr>
              <a:t>Traps a table will not warn you about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Finance asks for the average customer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Look before you summarise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notes/01-descriptive-statistics-and-eda.md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Before quoting any summary, establish what one row is and what shape the column has.</a:t>
            </a:r>
          </a:p>
        </p:txBody>
      </p:sp>
      <p:sp>
        <p:nvSpPr>
          <p:cNvPr id="13" name="Rectangle 12"/>
          <p:cNvSpPr/>
          <p:nvPr/>
        </p:nvSpPr>
        <p:spPr>
          <a:xfrm>
            <a:off x="777240" y="199796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Mean spend is 3.30. The median is zero, 95% of users spent nothing, and that was after two rows at 48,000 were removed.</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Larkspur synthetic extract, 20,000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EDA is a loop that ends in a written finding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Look before you summarise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notes/01-descriptive-statistics-and-eda.md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An EDA is finished when someone else can act on the written findings, including every row you removed.</a:t>
            </a:r>
          </a:p>
        </p:txBody>
      </p:sp>
      <p:sp>
        <p:nvSpPr>
          <p:cNvPr id="12" name="Rounded Rectangle 11"/>
          <p:cNvSpPr/>
          <p:nvPr/>
        </p:nvSpPr>
        <p:spPr>
          <a:xfrm>
            <a:off x="502920" y="1563624"/>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Type-check</a:t>
            </a:r>
          </a:p>
          <a:p>
            <a:pPr algn="ctr">
              <a:lnSpc>
                <a:spcPct val="110000"/>
              </a:lnSpc>
            </a:pPr>
            <a:r>
              <a:rPr sz="1300" i="0" b="0">
                <a:solidFill>
                  <a:srgbClr val="E8F4F8"/>
                </a:solidFill>
                <a:latin typeface="Helvetica Neue"/>
              </a:rPr>
              <a:t>what is one row?</a:t>
            </a:r>
          </a:p>
        </p:txBody>
      </p:sp>
      <p:cxnSp>
        <p:nvCxnSpPr>
          <p:cNvPr id="14" name="Connector 13"/>
          <p:cNvCxnSpPr/>
          <p:nvPr/>
        </p:nvCxnSpPr>
        <p:spPr>
          <a:xfrm>
            <a:off x="239261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Impossible values</a:t>
            </a:r>
          </a:p>
          <a:p>
            <a:pPr algn="ctr">
              <a:lnSpc>
                <a:spcPct val="110000"/>
              </a:lnSpc>
            </a:pPr>
            <a:r>
              <a:rPr sz="1300" i="0" b="0">
                <a:solidFill>
                  <a:srgbClr val="E8F4F8"/>
                </a:solidFill>
                <a:latin typeface="Helvetica Neue"/>
              </a:rPr>
              <a:t>missing, negative, duplicate</a:t>
            </a:r>
          </a:p>
        </p:txBody>
      </p:sp>
      <p:cxnSp>
        <p:nvCxnSpPr>
          <p:cNvPr id="17" name="Connector 16"/>
          <p:cNvCxnSpPr/>
          <p:nvPr/>
        </p:nvCxnSpPr>
        <p:spPr>
          <a:xfrm>
            <a:off x="473037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149047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Shape</a:t>
            </a:r>
          </a:p>
          <a:p>
            <a:pPr algn="ctr">
              <a:lnSpc>
                <a:spcPct val="110000"/>
              </a:lnSpc>
            </a:pPr>
            <a:r>
              <a:rPr sz="1300" i="0" b="0">
                <a:solidFill>
                  <a:srgbClr val="E8F4F8"/>
                </a:solidFill>
                <a:latin typeface="Helvetica Neue"/>
              </a:rPr>
              <a:t>one column at a time</a:t>
            </a:r>
          </a:p>
        </p:txBody>
      </p:sp>
      <p:cxnSp>
        <p:nvCxnSpPr>
          <p:cNvPr id="20" name="Connector 19"/>
          <p:cNvCxnSpPr/>
          <p:nvPr/>
        </p:nvCxnSpPr>
        <p:spPr>
          <a:xfrm>
            <a:off x="706812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1490472"/>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Summaries</a:t>
            </a:r>
          </a:p>
          <a:p>
            <a:pPr algn="ctr">
              <a:lnSpc>
                <a:spcPct val="110000"/>
              </a:lnSpc>
            </a:pPr>
            <a:r>
              <a:rPr sz="1300" i="0" b="0">
                <a:solidFill>
                  <a:srgbClr val="E8F4F8"/>
                </a:solidFill>
                <a:latin typeface="Helvetica Neue"/>
              </a:rPr>
              <a:t>what the shape allows</a:t>
            </a:r>
          </a:p>
        </p:txBody>
      </p:sp>
      <p:cxnSp>
        <p:nvCxnSpPr>
          <p:cNvPr id="23" name="Connector 22"/>
          <p:cNvCxnSpPr/>
          <p:nvPr/>
        </p:nvCxnSpPr>
        <p:spPr>
          <a:xfrm>
            <a:off x="940588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Write it down</a:t>
            </a:r>
          </a:p>
          <a:p>
            <a:pPr algn="ctr">
              <a:lnSpc>
                <a:spcPct val="110000"/>
              </a:lnSpc>
            </a:pPr>
            <a:r>
              <a:rPr sz="1300" i="0" b="0">
                <a:solidFill>
                  <a:srgbClr val="E8F4F8"/>
                </a:solidFill>
                <a:latin typeface="Helvetica Neue"/>
              </a:rPr>
              <a:t>findings and questions</a:t>
            </a:r>
          </a:p>
        </p:txBody>
      </p:sp>
      <p:sp>
        <p:nvSpPr>
          <p:cNvPr id="26" name="Rectangle 25"/>
          <p:cNvSpPr/>
          <p:nvPr/>
        </p:nvSpPr>
        <p:spPr>
          <a:xfrm>
            <a:off x="502920" y="346583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37413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Count every exclusion:</a:t>
            </a:r>
            <a:r>
              <a:rPr sz="1900" i="0" b="0">
                <a:solidFill>
                  <a:srgbClr val="1E293B"/>
                </a:solidFill>
                <a:latin typeface="Helvetica Neue"/>
              </a:rPr>
              <a:t> 6 refunds and 2 test rows, with a named owner to confirm.</a:t>
            </a:r>
          </a:p>
        </p:txBody>
      </p:sp>
      <p:sp>
        <p:nvSpPr>
          <p:cNvPr id="28" name="Rectangle 27"/>
          <p:cNvSpPr/>
          <p:nvPr/>
        </p:nvSpPr>
        <p:spPr>
          <a:xfrm>
            <a:off x="502920" y="3929126"/>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837432"/>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Missing is data:</a:t>
            </a:r>
            <a:r>
              <a:rPr sz="1900" i="0" b="0">
                <a:solidFill>
                  <a:srgbClr val="1E293B"/>
                </a:solidFill>
                <a:latin typeface="Helvetica Neue"/>
              </a:rPr>
              <a:t> compare missing and non-missing groups before dropping.</a:t>
            </a:r>
          </a:p>
        </p:txBody>
      </p:sp>
      <p:sp>
        <p:nvSpPr>
          <p:cNvPr id="30" name="Rectangle 29"/>
          <p:cNvSpPr/>
          <p:nvPr/>
        </p:nvSpPr>
        <p:spPr>
          <a:xfrm>
            <a:off x="502920" y="4392422"/>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30072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A new question sends you back to the start.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Two rows in twenty thousand ran the summary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Look before you summarise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notes/01-descriptive-statistics-and-eda.md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When mean and median disagree by a lot, the tail is running the summary, so look at the tail.</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 OUTPUT</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buyers, cleaned</a:t>
            </a:r>
          </a:p>
          <a:p>
            <a:pPr algn="l">
              <a:lnSpc>
                <a:spcPct val="100000"/>
              </a:lnSpc>
            </a:pPr>
            <a:r>
              <a:rPr sz="1600" i="0" b="0">
                <a:solidFill>
                  <a:srgbClr val="E2E8F0"/>
                </a:solidFill>
                <a:latin typeface="Menlo"/>
              </a:rPr>
              <a:t>  mean 65.86   median 37.38</a:t>
            </a:r>
          </a:p>
          <a:p>
            <a:pPr algn="l">
              <a:lnSpc>
                <a:spcPct val="100000"/>
              </a:lnSpc>
            </a:pPr>
            <a:r>
              <a:rPr sz="1600" i="0" b="0">
                <a:solidFill>
                  <a:srgbClr val="E2E8F0"/>
                </a:solidFill>
                <a:latin typeface="Menlo"/>
              </a:rPr>
              <a:t>  std  93.65   IQR     60.75</a:t>
            </a:r>
          </a:p>
          <a:p>
            <a:pPr algn="l">
              <a:lnSpc>
                <a:spcPct val="100000"/>
              </a:lnSpc>
            </a:pPr>
          </a:p>
          <a:p>
            <a:pPr algn="l">
              <a:lnSpc>
                <a:spcPct val="100000"/>
              </a:lnSpc>
            </a:pPr>
            <a:r>
              <a:rPr sz="1600" i="0" b="0">
                <a:solidFill>
                  <a:srgbClr val="E2E8F0"/>
                </a:solidFill>
                <a:latin typeface="Menlo"/>
              </a:rPr>
              <a:t>with the two 48,000 rows left in</a:t>
            </a:r>
          </a:p>
          <a:p>
            <a:pPr algn="l">
              <a:lnSpc>
                <a:spcPct val="100000"/>
              </a:lnSpc>
            </a:pPr>
            <a:r>
              <a:rPr sz="1600" i="0" b="0">
                <a:solidFill>
                  <a:srgbClr val="E2E8F0"/>
                </a:solidFill>
                <a:latin typeface="Menlo"/>
              </a:rPr>
              <a:t>  mean 161.25  median 37.45</a:t>
            </a:r>
          </a:p>
          <a:p>
            <a:pPr algn="l">
              <a:lnSpc>
                <a:spcPct val="100000"/>
              </a:lnSpc>
            </a:pPr>
            <a:r>
              <a:rPr sz="1600" i="0" b="0">
                <a:solidFill>
                  <a:srgbClr val="E2E8F0"/>
                </a:solidFill>
                <a:latin typeface="Menlo"/>
              </a:rPr>
              <a:t>  std  2139.32</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Mean and SD</a:t>
            </a:r>
            <a:r>
              <a:rPr sz="1800" i="0" b="0">
                <a:solidFill>
                  <a:srgbClr val="1E293B"/>
                </a:solidFill>
                <a:latin typeface="Helvetica Neue"/>
              </a:rPr>
              <a:t> chase the tail.</a:t>
            </a:r>
          </a:p>
        </p:txBody>
      </p:sp>
      <p:sp>
        <p:nvSpPr>
          <p:cNvPr id="17" name="Rectangle 16"/>
          <p:cNvSpPr/>
          <p:nvPr/>
        </p:nvSpPr>
        <p:spPr>
          <a:xfrm>
            <a:off x="7580193" y="204368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Median, IQR, MAD</a:t>
            </a:r>
            <a:r>
              <a:rPr sz="1800" i="0" b="0">
                <a:solidFill>
                  <a:srgbClr val="1E293B"/>
                </a:solidFill>
                <a:latin typeface="Helvetica Neue"/>
              </a:rPr>
              <a:t> ignore it.</a:t>
            </a:r>
          </a:p>
        </p:txBody>
      </p:sp>
      <p:sp>
        <p:nvSpPr>
          <p:cNvPr id="19" name="Rectangle 18"/>
          <p:cNvSpPr/>
          <p:nvPr/>
        </p:nvSpPr>
        <p:spPr>
          <a:xfrm>
            <a:off x="7580193" y="24825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39572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big gap between them is your outlier alarm.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Traps a table will not warn you about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Look before you summarise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notes/01-descriptive-statistics-and-eda.md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Report N with every rate, compute both correlations, and always state the denominator of a mean.</a:t>
            </a:r>
          </a:p>
        </p:txBody>
      </p:sp>
      <p:graphicFrame>
        <p:nvGraphicFramePr>
          <p:cNvPr id="12" name="Table 11"/>
          <p:cNvGraphicFramePr>
            <a:graphicFrameLocks noGrp="1"/>
          </p:cNvGraphicFramePr>
          <p:nvPr/>
        </p:nvGraphicFramePr>
        <p:xfrm>
          <a:off x="502920" y="1472184"/>
          <a:ext cx="11185854" cy="2398776"/>
        </p:xfrm>
        <a:graphic>
          <a:graphicData uri="http://schemas.openxmlformats.org/drawingml/2006/table">
            <a:tbl>
              <a:tblPr firstRow="1" bandRow="1">
                <a:tableStyleId>{5940675A-B579-460E-94D1-54222C63F5DA}</a:tableStyleId>
              </a:tblPr>
              <a:tblGrid>
                <a:gridCol w="2943646"/>
                <a:gridCol w="4906076"/>
                <a:gridCol w="3336132"/>
              </a:tblGrid>
              <a:tr h="405384">
                <a:tc>
                  <a:txBody>
                    <a:bodyPr wrap="square"/>
                    <a:lstStyle/>
                    <a:p>
                      <a:pPr>
                        <a:lnSpc>
                          <a:spcPct val="100000"/>
                        </a:lnSpc>
                      </a:pPr>
                      <a:r>
                        <a:rPr sz="1700" i="0" b="1">
                          <a:solidFill>
                            <a:srgbClr val="FFFFFF"/>
                          </a:solidFill>
                          <a:latin typeface="Helvetica Neue"/>
                        </a:rPr>
                        <a:t>Trap</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Larkspur example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Do this</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Small groups look extreme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200 random groups range 0 to 15.46 around 3.30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Show N or shrink</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One bad row</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Pearson +0.44 to -0.31; Spearman +0.42 to +0.41</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Compute both and plot</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Whose average?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68 sessions per user; 373 as seen by a random session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State the denominator</a:t>
                      </a:r>
                    </a:p>
                  </a:txBody>
                  <a:tcPr marL="109728" marR="109728" marT="54864" marB="54864"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rules of reasoning</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Conditionals · Bayes and base rates · Independence · Expectation and variance</a:t>
            </a:r>
          </a:p>
        </p:txBody>
      </p:sp>
      <p:cxnSp>
        <p:nvCxnSpPr>
          <p:cNvPr id="6" name="Connector 5"/>
          <p:cNvCxnSpPr/>
          <p:nvPr/>
        </p:nvCxnSpPr>
        <p:spPr>
          <a:xfrm>
            <a:off x="6446520" y="2295525"/>
            <a:ext cx="0" cy="22669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95525"/>
            <a:ext cx="4693615" cy="244983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99% accurate fraud filter flags an order</a:t>
            </a:r>
          </a:p>
          <a:p>
            <a:pPr algn="l">
              <a:lnSpc>
                <a:spcPct val="100000"/>
              </a:lnSpc>
              <a:spcBef>
                <a:spcPts val="1189"/>
              </a:spcBef>
            </a:pPr>
            <a:r>
              <a:rPr sz="1700" i="0" b="0">
                <a:solidFill>
                  <a:srgbClr val="CBD5E1"/>
                </a:solidFill>
                <a:latin typeface="Helvetica Neue"/>
              </a:rPr>
              <a:t>Count a million orders and Bayes does itself</a:t>
            </a:r>
          </a:p>
          <a:p>
            <a:pPr algn="l">
              <a:lnSpc>
                <a:spcPct val="100000"/>
              </a:lnSpc>
              <a:spcBef>
                <a:spcPts val="1189"/>
              </a:spcBef>
            </a:pPr>
            <a:r>
              <a:rPr sz="1700" i="0" b="0">
                <a:solidFill>
                  <a:srgbClr val="CBD5E1"/>
                </a:solidFill>
                <a:latin typeface="Helvetica Neue"/>
              </a:rPr>
              <a:t>The whole calculation fits in three lines</a:t>
            </a:r>
          </a:p>
          <a:p>
            <a:pPr algn="l">
              <a:lnSpc>
                <a:spcPct val="100000"/>
              </a:lnSpc>
              <a:spcBef>
                <a:spcPts val="1189"/>
              </a:spcBef>
            </a:pPr>
            <a:r>
              <a:rPr sz="1700" i="0" b="0">
                <a:solidFill>
                  <a:srgbClr val="CBD5E1"/>
                </a:solidFill>
                <a:latin typeface="Helvetica Neue"/>
              </a:rPr>
              <a:t>Expectations always add; variances need permission</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A 99% accurate fraud filter flags an order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rules of reasoning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notes/02-probability-foundations.md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P(flag given fraud) and P(fraud given flag) can be a hundred times apart, and the base rate sets the gap.</a:t>
            </a:r>
          </a:p>
        </p:txBody>
      </p:sp>
      <p:sp>
        <p:nvSpPr>
          <p:cNvPr id="13" name="Rectangle 12"/>
          <p:cNvSpPr/>
          <p:nvPr/>
        </p:nvSpPr>
        <p:spPr>
          <a:xfrm>
            <a:off x="777240" y="2601468"/>
            <a:ext cx="109728" cy="17556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601468"/>
            <a:ext cx="10088575" cy="1389887"/>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If 1 order in 1,000 is fraud, that flag is wrong about nine times in ten.</a:t>
            </a:r>
          </a:p>
        </p:txBody>
      </p:sp>
      <p:sp>
        <p:nvSpPr>
          <p:cNvPr id="15" name="TextBox 14"/>
          <p:cNvSpPr txBox="1"/>
          <p:nvPr/>
        </p:nvSpPr>
        <p:spPr>
          <a:xfrm>
            <a:off x="1234440" y="3945636"/>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0.99 × 0.001 / (0.99 × 0.001 + 0.01 × 0.999)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Count a million orders and Bayes does itself</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rules of reasoning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notes/02-probability-foundations.md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With a rare event, false positives from the huge negative group swamp the true hits.</a:t>
            </a:r>
          </a:p>
        </p:txBody>
      </p:sp>
      <p:sp>
        <p:nvSpPr>
          <p:cNvPr id="12" name="Rounded Rectangle 11"/>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1M orders</a:t>
            </a:r>
          </a:p>
          <a:p>
            <a:pPr algn="ctr">
              <a:lnSpc>
                <a:spcPct val="110000"/>
              </a:lnSpc>
            </a:pPr>
            <a:r>
              <a:rPr sz="1300" i="0" b="0">
                <a:solidFill>
                  <a:srgbClr val="E8F4F8"/>
                </a:solidFill>
                <a:latin typeface="Helvetica Neue"/>
              </a:rPr>
              <a:t>1,000 fraud</a:t>
            </a:r>
          </a:p>
        </p:txBody>
      </p:sp>
      <p:cxnSp>
        <p:nvCxnSpPr>
          <p:cNvPr id="14" name="Connector 13"/>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Fraud flagged</a:t>
            </a:r>
          </a:p>
          <a:p>
            <a:pPr algn="ctr">
              <a:lnSpc>
                <a:spcPct val="110000"/>
              </a:lnSpc>
            </a:pPr>
            <a:r>
              <a:rPr sz="1300" i="0" b="0">
                <a:solidFill>
                  <a:srgbClr val="E8F4F8"/>
                </a:solidFill>
                <a:latin typeface="Helvetica Neue"/>
              </a:rPr>
              <a:t>990 at 99%</a:t>
            </a:r>
          </a:p>
        </p:txBody>
      </p:sp>
      <p:cxnSp>
        <p:nvCxnSpPr>
          <p:cNvPr id="17" name="Connector 16"/>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Legit flagged</a:t>
            </a:r>
          </a:p>
          <a:p>
            <a:pPr algn="ctr">
              <a:lnSpc>
                <a:spcPct val="110000"/>
              </a:lnSpc>
            </a:pPr>
            <a:r>
              <a:rPr sz="1300" i="0" b="0">
                <a:solidFill>
                  <a:srgbClr val="E8F4F8"/>
                </a:solidFill>
                <a:latin typeface="Helvetica Neue"/>
              </a:rPr>
              <a:t>9,990 at 1% error</a:t>
            </a:r>
          </a:p>
        </p:txBody>
      </p:sp>
      <p:cxnSp>
        <p:nvCxnSpPr>
          <p:cNvPr id="20" name="Connector 19"/>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Flagged total</a:t>
            </a:r>
          </a:p>
          <a:p>
            <a:pPr algn="ctr">
              <a:lnSpc>
                <a:spcPct val="110000"/>
              </a:lnSpc>
            </a:pPr>
            <a:r>
              <a:rPr sz="1300" i="0" b="0">
                <a:solidFill>
                  <a:srgbClr val="E8F4F8"/>
                </a:solidFill>
                <a:latin typeface="Helvetica Neue"/>
              </a:rPr>
              <a:t>10,980, 9% fraud</a:t>
            </a:r>
          </a:p>
        </p:txBody>
      </p:sp>
      <p:sp>
        <p:nvSpPr>
          <p:cNvPr id="23" name="Rectangle 22"/>
          <p:cNvSpPr/>
          <p:nvPr/>
        </p:nvSpPr>
        <p:spPr>
          <a:xfrm>
            <a:off x="502920" y="296291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87121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Base rate 1 in 100</a:t>
            </a:r>
            <a:r>
              <a:rPr sz="1900" i="0" b="0">
                <a:solidFill>
                  <a:srgbClr val="1E293B"/>
                </a:solidFill>
                <a:latin typeface="Helvetica Neue"/>
              </a:rPr>
              <a:t> lifts it to 50%; so does </a:t>
            </a:r>
            <a:r>
              <a:rPr sz="1900" i="0" b="1">
                <a:solidFill>
                  <a:srgbClr val="1E293B"/>
                </a:solidFill>
                <a:latin typeface="Helvetica Neue"/>
              </a:rPr>
              <a:t>99.9% accuracy</a:t>
            </a:r>
            <a:r>
              <a:rPr sz="1900" i="0" b="0">
                <a:solidFill>
                  <a:srgbClr val="1E293B"/>
                </a:solidFill>
                <a:latin typeface="Helvetica Neue"/>
              </a:rPr>
              <a:t>.</a:t>
            </a:r>
          </a:p>
        </p:txBody>
      </p:sp>
      <p:sp>
        <p:nvSpPr>
          <p:cNvPr id="25" name="Rectangle 24"/>
          <p:cNvSpPr/>
          <p:nvPr/>
        </p:nvSpPr>
        <p:spPr>
          <a:xfrm>
            <a:off x="502920" y="3426206"/>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334512"/>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Two independent flags</a:t>
            </a:r>
            <a:r>
              <a:rPr sz="1900" i="0" b="0">
                <a:solidFill>
                  <a:srgbClr val="1E293B"/>
                </a:solidFill>
                <a:latin typeface="Helvetica Neue"/>
              </a:rPr>
              <a:t> reach 91%, if they are truly independent.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whole calculation fits in three lines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rules of reasoning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notes/02-probability-foundations.md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The accuracy of a test does not tell you what a positive result means until you add the base rate.</a:t>
            </a:r>
          </a:p>
        </p:txBody>
      </p:sp>
      <p:sp>
        <p:nvSpPr>
          <p:cNvPr id="12" name="Rounded Rectangle 11"/>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posterior(base, acc=0.99):</a:t>
            </a:r>
          </a:p>
          <a:p>
            <a:pPr algn="l">
              <a:lnSpc>
                <a:spcPct val="100000"/>
              </a:lnSpc>
            </a:pPr>
            <a:r>
              <a:rPr sz="1600" i="0" b="0">
                <a:solidFill>
                  <a:srgbClr val="E2E8F0"/>
                </a:solidFill>
                <a:latin typeface="Menlo"/>
              </a:rPr>
              <a:t>    hit = acc * base</a:t>
            </a:r>
          </a:p>
          <a:p>
            <a:pPr algn="l">
              <a:lnSpc>
                <a:spcPct val="100000"/>
              </a:lnSpc>
            </a:pPr>
            <a:r>
              <a:rPr sz="1600" i="0" b="0">
                <a:solidFill>
                  <a:srgbClr val="E2E8F0"/>
                </a:solidFill>
                <a:latin typeface="Menlo"/>
              </a:rPr>
              <a:t>    return hit / (hit + (1 - acc) * (1 - base))</a:t>
            </a:r>
          </a:p>
          <a:p>
            <a:pPr algn="l">
              <a:lnSpc>
                <a:spcPct val="100000"/>
              </a:lnSpc>
            </a:pPr>
          </a:p>
          <a:p>
            <a:pPr algn="l">
              <a:lnSpc>
                <a:spcPct val="100000"/>
              </a:lnSpc>
            </a:pPr>
            <a:r>
              <a:rPr sz="1600" i="0" b="0">
                <a:solidFill>
                  <a:srgbClr val="E2E8F0"/>
                </a:solidFill>
                <a:latin typeface="Menlo"/>
              </a:rPr>
              <a:t>for base in (0.001, 0.01, 0.1):</a:t>
            </a:r>
          </a:p>
          <a:p>
            <a:pPr algn="l">
              <a:lnSpc>
                <a:spcPct val="100000"/>
              </a:lnSpc>
            </a:pPr>
            <a:r>
              <a:rPr sz="1600" i="0" b="0">
                <a:solidFill>
                  <a:srgbClr val="E2E8F0"/>
                </a:solidFill>
                <a:latin typeface="Menlo"/>
              </a:rPr>
              <a:t>    print(base, round(posterior(base), 2))</a:t>
            </a:r>
          </a:p>
          <a:p>
            <a:pPr algn="l">
              <a:lnSpc>
                <a:spcPct val="100000"/>
              </a:lnSpc>
            </a:pPr>
            <a:r>
              <a:rPr sz="1600" i="0" b="0">
                <a:solidFill>
                  <a:srgbClr val="E2E8F0"/>
                </a:solidFill>
                <a:latin typeface="Menlo"/>
              </a:rPr>
              <a:t># 0.001 0.09</a:t>
            </a:r>
          </a:p>
          <a:p>
            <a:pPr algn="l">
              <a:lnSpc>
                <a:spcPct val="100000"/>
              </a:lnSpc>
            </a:pPr>
            <a:r>
              <a:rPr sz="1600" i="0" b="0">
                <a:solidFill>
                  <a:srgbClr val="E2E8F0"/>
                </a:solidFill>
                <a:latin typeface="Menlo"/>
              </a:rPr>
              <a:t># 0.01 0.5</a:t>
            </a:r>
          </a:p>
          <a:p>
            <a:pPr algn="l">
              <a:lnSpc>
                <a:spcPct val="100000"/>
              </a:lnSpc>
            </a:pPr>
            <a:r>
              <a:rPr sz="1600" i="0" b="0">
                <a:solidFill>
                  <a:srgbClr val="E2E8F0"/>
                </a:solidFill>
                <a:latin typeface="Menlo"/>
              </a:rPr>
              <a:t># 0.1 0.92</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Same filter, three answers.</a:t>
            </a:r>
          </a:p>
        </p:txBody>
      </p:sp>
      <p:sp>
        <p:nvSpPr>
          <p:cNvPr id="17" name="Rectangle 16"/>
          <p:cNvSpPr/>
          <p:nvPr/>
        </p:nvSpPr>
        <p:spPr>
          <a:xfrm>
            <a:off x="7580193" y="204368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Only the base rate changed.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Expectations always add; variances need permission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rules of reasoning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notes/02-probability-foundations.md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formula σ/√n assumes independent rows, so sessions within users make naive standard errors too small.</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Expectation</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E[X + Y] = E[X] + E[Y], related or not</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Hat-check, 52 cards: expected matches exactly 1</a:t>
            </a:r>
          </a:p>
        </p:txBody>
      </p:sp>
      <p:sp>
        <p:nvSpPr>
          <p:cNvPr id="19" name="Rectangle 18"/>
          <p:cNvSpPr/>
          <p:nvPr/>
        </p:nvSpPr>
        <p:spPr>
          <a:xfrm>
            <a:off x="731520" y="342722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518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Indicators turn counts into sums</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No conditions</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Variance</a:t>
            </a:r>
          </a:p>
        </p:txBody>
      </p:sp>
      <p:sp>
        <p:nvSpPr>
          <p:cNvPr id="26" name="Rectangle 25"/>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Var(X + Y) adds 2 Cov(X, Y)</a:t>
            </a:r>
          </a:p>
        </p:txBody>
      </p:sp>
      <p:sp>
        <p:nvSpPr>
          <p:cNvPr id="28" name="Rectangle 27"/>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Zero covariance gives σ²/n, the standard error</a:t>
            </a:r>
          </a:p>
        </p:txBody>
      </p:sp>
      <p:sp>
        <p:nvSpPr>
          <p:cNvPr id="30" name="Rectangle 29"/>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34518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 sessions per user at ρ = 0.5: naive SE 1.75x too small</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Independence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Shapes and samples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Six distributions · Law of large numbers · CLT coverage · The small-N trap</a:t>
            </a:r>
          </a:p>
        </p:txBody>
      </p:sp>
      <p:cxnSp>
        <p:nvCxnSpPr>
          <p:cNvPr id="6" name="Connector 5"/>
          <p:cNvCxnSpPr/>
          <p:nvPr/>
        </p:nvCxnSpPr>
        <p:spPr>
          <a:xfrm>
            <a:off x="6446520" y="2219960"/>
            <a:ext cx="0" cy="24180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19960"/>
            <a:ext cx="4693615" cy="260096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foundation funds small schools</a:t>
            </a:r>
          </a:p>
          <a:p>
            <a:pPr algn="l">
              <a:lnSpc>
                <a:spcPct val="100000"/>
              </a:lnSpc>
              <a:spcBef>
                <a:spcPts val="1189"/>
              </a:spcBef>
            </a:pPr>
            <a:r>
              <a:rPr sz="1700" i="0" b="0">
                <a:solidFill>
                  <a:srgbClr val="CBD5E1"/>
                </a:solidFill>
                <a:latin typeface="Helvetica Neue"/>
              </a:rPr>
              <a:t>Name the distribution and you can usually name the test</a:t>
            </a:r>
          </a:p>
          <a:p>
            <a:pPr algn="l">
              <a:lnSpc>
                <a:spcPct val="100000"/>
              </a:lnSpc>
              <a:spcBef>
                <a:spcPts val="1189"/>
              </a:spcBef>
            </a:pPr>
            <a:r>
              <a:rPr sz="1700" i="0" b="0">
                <a:solidFill>
                  <a:srgbClr val="CBD5E1"/>
                </a:solidFill>
                <a:latin typeface="Helvetica Neue"/>
              </a:rPr>
              <a:t>What the sample mean does as n grows</a:t>
            </a:r>
          </a:p>
          <a:p>
            <a:pPr algn="l">
              <a:lnSpc>
                <a:spcPct val="100000"/>
              </a:lnSpc>
              <a:spcBef>
                <a:spcPts val="1189"/>
              </a:spcBef>
            </a:pPr>
            <a:r>
              <a:rPr sz="1700" i="0" b="0">
                <a:solidFill>
                  <a:srgbClr val="CBD5E1"/>
                </a:solidFill>
                <a:latin typeface="Helvetica Neue"/>
              </a:rPr>
              <a:t>On revenue, the CLT takes its time</a:t>
            </a:r>
          </a:p>
          <a:p>
            <a:pPr algn="l">
              <a:lnSpc>
                <a:spcPct val="100000"/>
              </a:lnSpc>
              <a:spcBef>
                <a:spcPts val="1189"/>
              </a:spcBef>
            </a:pPr>
            <a:r>
              <a:rPr sz="1700" i="0" b="0">
                <a:solidFill>
                  <a:srgbClr val="CBD5E1"/>
                </a:solidFill>
                <a:latin typeface="Helvetica Neue"/>
              </a:rPr>
              <a:t>Bias does not shrink, and raw rates mislead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foundation funds small schools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Shapes and samples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notes/03-distributions-and-sampling.md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Small groups have noisy averages, so they crowd both ends of any ranking with no real difference.</a:t>
            </a:r>
          </a:p>
        </p:txBody>
      </p:sp>
      <p:sp>
        <p:nvSpPr>
          <p:cNvPr id="13" name="Rectangle 12"/>
          <p:cNvSpPr/>
          <p:nvPr/>
        </p:nvSpPr>
        <p:spPr>
          <a:xfrm>
            <a:off x="777240" y="2601468"/>
            <a:ext cx="109728" cy="17556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601468"/>
            <a:ext cx="10088575" cy="1389887"/>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best-scoring schools were small. So were the worst.</a:t>
            </a:r>
          </a:p>
        </p:txBody>
      </p:sp>
      <p:sp>
        <p:nvSpPr>
          <p:cNvPr id="15" name="TextBox 14"/>
          <p:cNvSpPr txBox="1"/>
          <p:nvPr/>
        </p:nvSpPr>
        <p:spPr>
          <a:xfrm>
            <a:off x="1234440" y="3945636"/>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Wainer, The Most Dangerous Equation, as discussed in Bayesian Methods for Hackers, ch. 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Name the distribution and you can usually name the test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Shapes and samples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notes/03-distributions-and-sampling.md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Every test and every Bayesian model starts from a distribution, so naming it usually names the method.</a:t>
            </a:r>
          </a:p>
        </p:txBody>
      </p:sp>
      <p:graphicFrame>
        <p:nvGraphicFramePr>
          <p:cNvPr id="12" name="Table 11"/>
          <p:cNvGraphicFramePr>
            <a:graphicFrameLocks noGrp="1"/>
          </p:cNvGraphicFramePr>
          <p:nvPr/>
        </p:nvGraphicFramePr>
        <p:xfrm>
          <a:off x="502920" y="1472184"/>
          <a:ext cx="11185853" cy="2691384"/>
        </p:xfrm>
        <a:graphic>
          <a:graphicData uri="http://schemas.openxmlformats.org/drawingml/2006/table">
            <a:tbl>
              <a:tblPr firstRow="1" bandRow="1">
                <a:tableStyleId>{5940675A-B579-460E-94D1-54222C63F5DA}</a:tableStyleId>
              </a:tblPr>
              <a:tblGrid>
                <a:gridCol w="4906076"/>
                <a:gridCol w="2354916"/>
                <a:gridCol w="3924861"/>
              </a:tblGrid>
              <a:tr h="405384">
                <a:tc>
                  <a:txBody>
                    <a:bodyPr wrap="square"/>
                    <a:lstStyle/>
                    <a:p>
                      <a:pPr>
                        <a:lnSpc>
                          <a:spcPct val="100000"/>
                        </a:lnSpc>
                      </a:pPr>
                      <a:r>
                        <a:rPr sz="1700" i="0" b="1">
                          <a:solidFill>
                            <a:srgbClr val="FFFFFF"/>
                          </a:solidFill>
                          <a:latin typeface="Helvetica Neue"/>
                        </a:rPr>
                        <a:t>Data</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Distribution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Typical question</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Conversions out of n users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Binomial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Is p higher in B?</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Errors per hour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Poisson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Did the rate change?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Gap between events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Exponential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How long until the next?</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Order value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Lognormal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Typical order, and how heavy a tail?</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A rate you are unsure of</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Beta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What do I believe p is?</a:t>
                      </a:r>
                    </a:p>
                  </a:txBody>
                  <a:tcPr marL="109728" marR="109728" marT="54864" marB="54864"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the sample mean does as n grows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Shapes and samples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notes/03-distributions-and-sampling.md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Means settle and turn Normal as n grows, but both results describe independent draws and say nothing about how many you need.</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Draw n users</a:t>
            </a:r>
          </a:p>
          <a:p>
            <a:pPr algn="ctr">
              <a:lnSpc>
                <a:spcPct val="110000"/>
              </a:lnSpc>
            </a:pPr>
            <a:r>
              <a:rPr sz="1300" i="0" b="0">
                <a:solidFill>
                  <a:srgbClr val="E8F4F8"/>
                </a:solidFill>
                <a:latin typeface="Helvetica Neue"/>
              </a:rPr>
              <a:t>independent rows</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LLN</a:t>
            </a:r>
          </a:p>
          <a:p>
            <a:pPr algn="ctr">
              <a:lnSpc>
                <a:spcPct val="110000"/>
              </a:lnSpc>
            </a:pPr>
            <a:r>
              <a:rPr sz="1300" i="0" b="0">
                <a:solidFill>
                  <a:srgbClr val="E8F4F8"/>
                </a:solidFill>
                <a:latin typeface="Helvetica Neue"/>
              </a:rPr>
              <a:t>mean settles on the truth</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CLT</a:t>
            </a:r>
          </a:p>
          <a:p>
            <a:pPr algn="ctr">
              <a:lnSpc>
                <a:spcPct val="110000"/>
              </a:lnSpc>
            </a:pPr>
            <a:r>
              <a:rPr sz="1300" i="0" b="0">
                <a:solidFill>
                  <a:srgbClr val="E8F4F8"/>
                </a:solidFill>
                <a:latin typeface="Helvetica Neue"/>
              </a:rPr>
              <a:t>mean's shape turns Normal</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Standard error</a:t>
            </a:r>
          </a:p>
          <a:p>
            <a:pPr algn="ctr">
              <a:lnSpc>
                <a:spcPct val="110000"/>
              </a:lnSpc>
            </a:pPr>
            <a:r>
              <a:rPr sz="1300" i="0" b="0">
                <a:solidFill>
                  <a:srgbClr val="E8F4F8"/>
                </a:solidFill>
                <a:latin typeface="Helvetica Neue"/>
              </a:rPr>
              <a:t>σ/√n, the width</a:t>
            </a:r>
          </a:p>
        </p:txBody>
      </p:sp>
      <p:sp>
        <p:nvSpPr>
          <p:cNvPr id="23" name="Rectangle 22"/>
          <p:cNvSpPr/>
          <p:nvPr/>
        </p:nvSpPr>
        <p:spPr>
          <a:xfrm>
            <a:off x="502920" y="3180842"/>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LLN</a:t>
            </a:r>
            <a:r>
              <a:rPr sz="1900" i="0" b="0">
                <a:solidFill>
                  <a:srgbClr val="1E293B"/>
                </a:solidFill>
                <a:latin typeface="Helvetica Neue"/>
              </a:rPr>
              <a:t> says where the mean goes. </a:t>
            </a:r>
            <a:r>
              <a:rPr sz="1900" i="0" b="1">
                <a:solidFill>
                  <a:srgbClr val="1E293B"/>
                </a:solidFill>
                <a:latin typeface="Helvetica Neue"/>
              </a:rPr>
              <a:t>CLT</a:t>
            </a:r>
            <a:r>
              <a:rPr sz="1900" i="0" b="0">
                <a:solidFill>
                  <a:srgbClr val="1E293B"/>
                </a:solidFill>
                <a:latin typeface="Helvetica Neue"/>
              </a:rPr>
              <a:t> says how it wobbles on the way.</a:t>
            </a:r>
          </a:p>
        </p:txBody>
      </p:sp>
      <p:sp>
        <p:nvSpPr>
          <p:cNvPr id="25" name="Rectangle 24"/>
          <p:cNvSpPr/>
          <p:nvPr/>
        </p:nvSpPr>
        <p:spPr>
          <a:xfrm>
            <a:off x="502920" y="3644138"/>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Neither fixes </a:t>
            </a:r>
            <a:r>
              <a:rPr sz="1900" i="0" b="1">
                <a:solidFill>
                  <a:srgbClr val="1E293B"/>
                </a:solidFill>
                <a:latin typeface="Helvetica Neue"/>
              </a:rPr>
              <a:t>selection bias</a:t>
            </a:r>
            <a:r>
              <a:rPr sz="1900" i="0" b="0">
                <a:solidFill>
                  <a:srgbClr val="1E293B"/>
                </a:solidFill>
                <a:latin typeface="Helvetica Neue"/>
              </a:rPr>
              <a:t> or </a:t>
            </a:r>
            <a:r>
              <a:rPr sz="1900" i="0" b="1">
                <a:solidFill>
                  <a:srgbClr val="1E293B"/>
                </a:solidFill>
                <a:latin typeface="Helvetica Neue"/>
              </a:rPr>
              <a:t>dependent rows</a:t>
            </a:r>
            <a:r>
              <a:rPr sz="1900" i="0" b="0">
                <a:solidFill>
                  <a:srgbClr val="1E293B"/>
                </a:solidFill>
                <a:latin typeface="Helvetica Neue"/>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 revenue, the CLT takes its time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Shapes and samples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notes/03-distributions-and-sampling.md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N of 30 is not a law, because a skewed zero-inflated metric can need tens of thousands of users for a 95% interval to mean 95%.</a:t>
            </a:r>
          </a:p>
        </p:txBody>
      </p:sp>
      <p:sp>
        <p:nvSpPr>
          <p:cNvPr id="12" name="Rounded Rectangle 11"/>
          <p:cNvSpPr/>
          <p:nvPr/>
        </p:nvSpPr>
        <p:spPr>
          <a:xfrm>
            <a:off x="502920" y="1472184"/>
            <a:ext cx="6711513" cy="190499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 OUTPUT</a:t>
            </a:r>
          </a:p>
        </p:txBody>
      </p:sp>
      <p:sp>
        <p:nvSpPr>
          <p:cNvPr id="14" name="TextBox 13"/>
          <p:cNvSpPr txBox="1"/>
          <p:nvPr/>
        </p:nvSpPr>
        <p:spPr>
          <a:xfrm>
            <a:off x="731520" y="1883664"/>
            <a:ext cx="6254313" cy="12649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n        skew of mean  coverage</a:t>
            </a:r>
          </a:p>
          <a:p>
            <a:pPr algn="l">
              <a:lnSpc>
                <a:spcPct val="100000"/>
              </a:lnSpc>
            </a:pPr>
            <a:r>
              <a:rPr sz="1600" i="0" b="0">
                <a:solidFill>
                  <a:srgbClr val="E2E8F0"/>
                </a:solidFill>
                <a:latin typeface="Menlo"/>
              </a:rPr>
              <a:t>30       4.68          0.563</a:t>
            </a:r>
          </a:p>
          <a:p>
            <a:pPr algn="l">
              <a:lnSpc>
                <a:spcPct val="100000"/>
              </a:lnSpc>
            </a:pPr>
            <a:r>
              <a:rPr sz="1600" i="0" b="0">
                <a:solidFill>
                  <a:srgbClr val="E2E8F0"/>
                </a:solidFill>
                <a:latin typeface="Menlo"/>
              </a:rPr>
              <a:t>300      1.34          0.832</a:t>
            </a:r>
          </a:p>
          <a:p>
            <a:pPr algn="l">
              <a:lnSpc>
                <a:spcPct val="100000"/>
              </a:lnSpc>
            </a:pPr>
            <a:r>
              <a:rPr sz="1600" i="0" b="0">
                <a:solidFill>
                  <a:srgbClr val="E2E8F0"/>
                </a:solidFill>
                <a:latin typeface="Menlo"/>
              </a:rPr>
              <a:t>3000     0.46          0.928</a:t>
            </a:r>
          </a:p>
          <a:p>
            <a:pPr algn="l">
              <a:lnSpc>
                <a:spcPct val="100000"/>
              </a:lnSpc>
            </a:pPr>
            <a:r>
              <a:rPr sz="1600" i="0" b="0">
                <a:solidFill>
                  <a:srgbClr val="E2E8F0"/>
                </a:solidFill>
                <a:latin typeface="Menlo"/>
              </a:rPr>
              <a:t>30000    0.22          0.948</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Zero-inflated lognormal spend.</a:t>
            </a:r>
          </a:p>
        </p:txBody>
      </p:sp>
      <p:sp>
        <p:nvSpPr>
          <p:cNvPr id="17" name="Rectangle 16"/>
          <p:cNvSpPr/>
          <p:nvPr/>
        </p:nvSpPr>
        <p:spPr>
          <a:xfrm>
            <a:off x="7580193" y="204368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Nominal 95% interval.</a:t>
            </a:r>
          </a:p>
        </p:txBody>
      </p:sp>
      <p:sp>
        <p:nvSpPr>
          <p:cNvPr id="19" name="Rectangle 18"/>
          <p:cNvSpPr/>
          <p:nvPr/>
        </p:nvSpPr>
        <p:spPr>
          <a:xfrm>
            <a:off x="7580193" y="248259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395728"/>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Small samples miss the whales.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Bias does not shrink, and raw rates mislead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Shapes and samples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notes/03-distributions-and-sampling.md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bigger biased sample gives a more precise wrong answer, and shrinkage moves an estimate only when N is too small to speak for itself.</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More rows, same bias</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Buyers reply 4x as often to a survey</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57,152 rows: mean 11.06</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5,000 random rows: 3.00; truth 3.12</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Selection is not sampling error</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Shrink small groups</a:t>
            </a:r>
          </a:p>
        </p:txBody>
      </p:sp>
      <p:sp>
        <p:nvSpPr>
          <p:cNvPr id="26" name="Rectangle 25"/>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2/2 raw 1.000, shrunk 0.905</a:t>
            </a:r>
          </a:p>
        </p:txBody>
      </p:sp>
      <p:sp>
        <p:nvSpPr>
          <p:cNvPr id="28" name="Rectangle 27"/>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92/100 raw 0.920, shrunk 0.914</a:t>
            </a:r>
          </a:p>
        </p:txBody>
      </p:sp>
      <p:sp>
        <p:nvSpPr>
          <p:cNvPr id="30" name="Rectangle 29"/>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905/1000 barely moves</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Add pseudo-observations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From a sample to a number</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Bias and variance · Maximum likelihood · Intervals · Bootstrap · Sample size</a:t>
            </a:r>
          </a:p>
        </p:txBody>
      </p:sp>
      <p:cxnSp>
        <p:nvCxnSpPr>
          <p:cNvPr id="6" name="Connector 5"/>
          <p:cNvCxnSpPr/>
          <p:nvPr/>
        </p:nvCxnSpPr>
        <p:spPr>
          <a:xfrm>
            <a:off x="6446520" y="2425065"/>
            <a:ext cx="0" cy="20078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425065"/>
            <a:ext cx="4693615" cy="21907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Can next quarter's plan assume 3.20?</a:t>
            </a:r>
          </a:p>
          <a:p>
            <a:pPr algn="l">
              <a:lnSpc>
                <a:spcPct val="100000"/>
              </a:lnSpc>
              <a:spcBef>
                <a:spcPts val="1189"/>
              </a:spcBef>
            </a:pPr>
            <a:r>
              <a:rPr sz="1700" i="0" b="0">
                <a:solidFill>
                  <a:srgbClr val="CBD5E1"/>
                </a:solidFill>
                <a:latin typeface="Helvetica Neue"/>
              </a:rPr>
              <a:t>Near zero, swap Wald for Wilson</a:t>
            </a:r>
          </a:p>
          <a:p>
            <a:pPr algn="l">
              <a:lnSpc>
                <a:spcPct val="100000"/>
              </a:lnSpc>
              <a:spcBef>
                <a:spcPts val="1189"/>
              </a:spcBef>
            </a:pPr>
            <a:r>
              <a:rPr sz="1700" i="0" b="0">
                <a:solidFill>
                  <a:srgbClr val="CBD5E1"/>
                </a:solidFill>
                <a:latin typeface="Helvetica Neue"/>
              </a:rPr>
              <a:t>The bootstrap replaces algebra with resampling</a:t>
            </a:r>
          </a:p>
          <a:p>
            <a:pPr algn="l">
              <a:lnSpc>
                <a:spcPct val="100000"/>
              </a:lnSpc>
              <a:spcBef>
                <a:spcPts val="1189"/>
              </a:spcBef>
            </a:pPr>
            <a:r>
              <a:rPr sz="1700" i="0" b="0">
                <a:solidFill>
                  <a:srgbClr val="CBD5E1"/>
                </a:solidFill>
                <a:latin typeface="Helvetica Neue"/>
              </a:rPr>
              <a:t>Sample size: revenue costs more than conversion</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Can next quarter's plan assume 3.20?</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From a sample to a number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notes/04-estimation.md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single number cannot support a decision, so report the estimate together with how far it could be from the truth.</a:t>
            </a:r>
          </a:p>
        </p:txBody>
      </p:sp>
      <p:sp>
        <p:nvSpPr>
          <p:cNvPr id="13" name="Rectangle 12"/>
          <p:cNvSpPr/>
          <p:nvPr/>
        </p:nvSpPr>
        <p:spPr>
          <a:xfrm>
            <a:off x="777240" y="2299716"/>
            <a:ext cx="109728" cy="23591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Revenue per user is 2.68. The interval [2.09, 3.27] is the part a planner can use.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4,000 sampled Larkspur users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Near zero, swap Wald for Wilson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From a sample to a number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notes/04-estimation.md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Use Wilson for rates in small segments, because Wald collapses near zero and can cover far below its label.</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 OUTPUT</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0/50  Wald [0.0000, 0.0000]</a:t>
            </a:r>
          </a:p>
          <a:p>
            <a:pPr algn="l">
              <a:lnSpc>
                <a:spcPct val="100000"/>
              </a:lnSpc>
            </a:pPr>
            <a:r>
              <a:rPr sz="1600" i="0" b="0">
                <a:solidFill>
                  <a:srgbClr val="E2E8F0"/>
                </a:solidFill>
                <a:latin typeface="Menlo"/>
              </a:rPr>
              <a:t>      Wilson [0.0000, 0.0714]</a:t>
            </a:r>
          </a:p>
          <a:p>
            <a:pPr algn="l">
              <a:lnSpc>
                <a:spcPct val="100000"/>
              </a:lnSpc>
            </a:pPr>
          </a:p>
          <a:p>
            <a:pPr algn="l">
              <a:lnSpc>
                <a:spcPct val="100000"/>
              </a:lnSpc>
            </a:pPr>
            <a:r>
              <a:rPr sz="1600" i="0" b="0">
                <a:solidFill>
                  <a:srgbClr val="E2E8F0"/>
                </a:solidFill>
                <a:latin typeface="Menlo"/>
              </a:rPr>
              <a:t>p=0.02 n=50</a:t>
            </a:r>
          </a:p>
          <a:p>
            <a:pPr algn="l">
              <a:lnSpc>
                <a:spcPct val="100000"/>
              </a:lnSpc>
            </a:pPr>
            <a:r>
              <a:rPr sz="1600" i="0" b="0">
                <a:solidFill>
                  <a:srgbClr val="E2E8F0"/>
                </a:solidFill>
                <a:latin typeface="Menlo"/>
              </a:rPr>
              <a:t>  Wald cover 0.633</a:t>
            </a:r>
          </a:p>
          <a:p>
            <a:pPr algn="l">
              <a:lnSpc>
                <a:spcPct val="100000"/>
              </a:lnSpc>
            </a:pPr>
            <a:r>
              <a:rPr sz="1600" i="0" b="0">
                <a:solidFill>
                  <a:srgbClr val="E2E8F0"/>
                </a:solidFill>
                <a:latin typeface="Menlo"/>
              </a:rPr>
              <a:t>  Wilson cover 0.920</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Wald</a:t>
            </a:r>
            <a:r>
              <a:rPr sz="1800" i="0" b="0">
                <a:solidFill>
                  <a:srgbClr val="1E293B"/>
                </a:solidFill>
                <a:latin typeface="Helvetica Neue"/>
              </a:rPr>
              <a:t> claims certainty from 50 users.</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Wilson</a:t>
            </a:r>
            <a:r>
              <a:rPr sz="1800" i="0" b="0">
                <a:solidFill>
                  <a:srgbClr val="1E293B"/>
                </a:solidFill>
                <a:latin typeface="Helvetica Neue"/>
              </a:rPr>
              <a:t> inverts the score test.</a:t>
            </a:r>
          </a:p>
        </p:txBody>
      </p:sp>
      <p:sp>
        <p:nvSpPr>
          <p:cNvPr id="19" name="Rectangle 18"/>
          <p:cNvSpPr/>
          <p:nvPr/>
        </p:nvSpPr>
        <p:spPr>
          <a:xfrm>
            <a:off x="7580193" y="278434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697480"/>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Test any procedure by simulating coverage.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bootstrap replaces algebra with resampling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From a sample to a number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notes/04-estimation.md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Resample the independent unit, because bootstrapping sessions gave 0.027 where the true standard error was 0.049.</a:t>
            </a:r>
          </a:p>
        </p:txBody>
      </p:sp>
      <p:sp>
        <p:nvSpPr>
          <p:cNvPr id="12" name="Rounded Rectangle 11"/>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Sample</a:t>
            </a:r>
          </a:p>
          <a:p>
            <a:pPr algn="ctr">
              <a:lnSpc>
                <a:spcPct val="110000"/>
              </a:lnSpc>
            </a:pPr>
            <a:r>
              <a:rPr sz="1300" i="0" b="0">
                <a:solidFill>
                  <a:srgbClr val="E8F4F8"/>
                </a:solidFill>
                <a:latin typeface="Helvetica Neue"/>
              </a:rPr>
              <a:t>n independent users</a:t>
            </a:r>
          </a:p>
        </p:txBody>
      </p:sp>
      <p:cxnSp>
        <p:nvCxnSpPr>
          <p:cNvPr id="14" name="Connector 13"/>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Resample</a:t>
            </a:r>
          </a:p>
          <a:p>
            <a:pPr algn="ctr">
              <a:lnSpc>
                <a:spcPct val="110000"/>
              </a:lnSpc>
            </a:pPr>
            <a:r>
              <a:rPr sz="1300" i="0" b="0">
                <a:solidFill>
                  <a:srgbClr val="E8F4F8"/>
                </a:solidFill>
                <a:latin typeface="Helvetica Neue"/>
              </a:rPr>
              <a:t>with replacement</a:t>
            </a:r>
          </a:p>
        </p:txBody>
      </p:sp>
      <p:cxnSp>
        <p:nvCxnSpPr>
          <p:cNvPr id="17" name="Connector 16"/>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Recompute</a:t>
            </a:r>
          </a:p>
          <a:p>
            <a:pPr algn="ctr">
              <a:lnSpc>
                <a:spcPct val="110000"/>
              </a:lnSpc>
            </a:pPr>
            <a:r>
              <a:rPr sz="1300" i="0" b="0">
                <a:solidFill>
                  <a:srgbClr val="E8F4F8"/>
                </a:solidFill>
                <a:latin typeface="Helvetica Neue"/>
              </a:rPr>
              <a:t>any statistic</a:t>
            </a:r>
          </a:p>
        </p:txBody>
      </p:sp>
      <p:cxnSp>
        <p:nvCxnSpPr>
          <p:cNvPr id="20" name="Connector 19"/>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 spread</a:t>
            </a:r>
          </a:p>
          <a:p>
            <a:pPr algn="ctr">
              <a:lnSpc>
                <a:spcPct val="110000"/>
              </a:lnSpc>
            </a:pPr>
            <a:r>
              <a:rPr sz="1300" i="0" b="0">
                <a:solidFill>
                  <a:srgbClr val="E8F4F8"/>
                </a:solidFill>
                <a:latin typeface="Helvetica Neue"/>
              </a:rPr>
              <a:t>SE and interval</a:t>
            </a:r>
          </a:p>
        </p:txBody>
      </p:sp>
      <p:cxnSp>
        <p:nvCxnSpPr>
          <p:cNvPr id="23" name="Connector 22"/>
          <p:cNvCxnSpPr/>
          <p:nvPr/>
        </p:nvCxnSpPr>
        <p:spPr>
          <a:xfrm>
            <a:off x="10416387" y="2551176"/>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775307" y="2962656"/>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75307" y="2587752"/>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75307" y="2999232"/>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Repeat thousands of times</a:t>
            </a:r>
          </a:p>
        </p:txBody>
      </p:sp>
      <p:sp>
        <p:nvSpPr>
          <p:cNvPr id="27" name="Rectangle 26"/>
          <p:cNvSpPr/>
          <p:nvPr/>
        </p:nvSpPr>
        <p:spPr>
          <a:xfrm>
            <a:off x="502920" y="3785869"/>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94176"/>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Revenue per session: </a:t>
            </a:r>
            <a:r>
              <a:rPr sz="1900" i="0" b="1">
                <a:solidFill>
                  <a:srgbClr val="1E293B"/>
                </a:solidFill>
                <a:latin typeface="Helvetica Neue"/>
              </a:rPr>
              <a:t>delta SE 0.193, bootstrap 0.195, naive by session 0.116</a:t>
            </a:r>
            <a:r>
              <a:rPr sz="1900" i="0" b="0">
                <a:solidFill>
                  <a:srgbClr val="1E293B"/>
                </a:solidFill>
                <a:latin typeface="Helvetica Neue"/>
              </a:rPr>
              <a:t>.</a:t>
            </a:r>
          </a:p>
        </p:txBody>
      </p:sp>
      <p:sp>
        <p:nvSpPr>
          <p:cNvPr id="29" name="Rectangle 28"/>
          <p:cNvSpPr/>
          <p:nvPr/>
        </p:nvSpPr>
        <p:spPr>
          <a:xfrm>
            <a:off x="502920" y="4249166"/>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157472"/>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Fails</a:t>
            </a:r>
            <a:r>
              <a:rPr sz="1900" i="0" b="0">
                <a:solidFill>
                  <a:srgbClr val="1E293B"/>
                </a:solidFill>
                <a:latin typeface="Helvetica Neue"/>
              </a:rPr>
              <a:t> at the sample maximum, on rows that are not independent, and on tails the sample missed.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Sample size: revenue costs more than conversion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From a sample to a number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notes/04-estimation.md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TextBox 8"/>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n per arm ≈ 16σ²/δ² (5% significance, 80% power). Example from Kohavi et al., DMKD 2009.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Sample size grows with variance and the inverse square of the effect, so metric choice can change the cost of a test by 3x.</a:t>
            </a:r>
          </a:p>
        </p:txBody>
      </p:sp>
      <p:sp>
        <p:nvSpPr>
          <p:cNvPr id="13" name="Rectangle 12"/>
          <p:cNvSpPr/>
          <p:nvPr/>
        </p:nvSpPr>
        <p:spPr>
          <a:xfrm>
            <a:off x="502920"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985772"/>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Revenue, mean 3.75, sd 30</a:t>
            </a:r>
          </a:p>
        </p:txBody>
      </p:sp>
      <p:sp>
        <p:nvSpPr>
          <p:cNvPr id="16" name="Rectangle 15"/>
          <p:cNvSpPr/>
          <p:nvPr/>
        </p:nvSpPr>
        <p:spPr>
          <a:xfrm>
            <a:off x="731520" y="282676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74472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 change: about 409,000 per arm</a:t>
            </a:r>
          </a:p>
        </p:txBody>
      </p:sp>
      <p:sp>
        <p:nvSpPr>
          <p:cNvPr id="18" name="Rectangle 17"/>
          <p:cNvSpPr/>
          <p:nvPr/>
        </p:nvSpPr>
        <p:spPr>
          <a:xfrm>
            <a:off x="731520" y="32412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1592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Variance comes from the tail</a:t>
            </a:r>
          </a:p>
        </p:txBody>
      </p:sp>
      <p:sp>
        <p:nvSpPr>
          <p:cNvPr id="20" name="Rectangle 19"/>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Costly</a:t>
            </a:r>
          </a:p>
        </p:txBody>
      </p:sp>
      <p:sp>
        <p:nvSpPr>
          <p:cNvPr id="22" name="Rectangle 21"/>
          <p:cNvSpPr/>
          <p:nvPr/>
        </p:nvSpPr>
        <p:spPr>
          <a:xfrm>
            <a:off x="6278727"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985772"/>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985772"/>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Conversion, 5% base</a:t>
            </a:r>
          </a:p>
        </p:txBody>
      </p:sp>
      <p:sp>
        <p:nvSpPr>
          <p:cNvPr id="25" name="Rectangle 24"/>
          <p:cNvSpPr/>
          <p:nvPr/>
        </p:nvSpPr>
        <p:spPr>
          <a:xfrm>
            <a:off x="6507327" y="282676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 relative change: about 122,000 per arm</a:t>
            </a:r>
          </a:p>
        </p:txBody>
      </p:sp>
      <p:sp>
        <p:nvSpPr>
          <p:cNvPr id="27" name="Rectangle 26"/>
          <p:cNvSpPr/>
          <p:nvPr/>
        </p:nvSpPr>
        <p:spPr>
          <a:xfrm>
            <a:off x="6507327" y="352628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344424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Halving the effect takes 4x the users</a:t>
            </a:r>
          </a:p>
        </p:txBody>
      </p:sp>
      <p:sp>
        <p:nvSpPr>
          <p:cNvPr id="29" name="Rectangle 28"/>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3.3x cheaper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From a number to a decision</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recipe · Choosing a test · What p is not · Multiple comparisons · Winner's curse</a:t>
            </a:r>
          </a:p>
        </p:txBody>
      </p:sp>
      <p:cxnSp>
        <p:nvCxnSpPr>
          <p:cNvPr id="6" name="Connector 5"/>
          <p:cNvCxnSpPr/>
          <p:nvPr/>
        </p:nvCxnSpPr>
        <p:spPr>
          <a:xfrm>
            <a:off x="6446520" y="2144395"/>
            <a:ext cx="0" cy="256921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144395"/>
            <a:ext cx="4693615" cy="275209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One segment of twenty reached p = 0.04</a:t>
            </a:r>
          </a:p>
          <a:p>
            <a:pPr algn="l">
              <a:lnSpc>
                <a:spcPct val="100000"/>
              </a:lnSpc>
              <a:spcBef>
                <a:spcPts val="1189"/>
              </a:spcBef>
            </a:pPr>
            <a:r>
              <a:rPr sz="1700" i="0" b="0">
                <a:solidFill>
                  <a:srgbClr val="CBD5E1"/>
                </a:solidFill>
                <a:latin typeface="Helvetica Neue"/>
              </a:rPr>
              <a:t>Every test follows one recipe</a:t>
            </a:r>
          </a:p>
          <a:p>
            <a:pPr algn="l">
              <a:lnSpc>
                <a:spcPct val="100000"/>
              </a:lnSpc>
              <a:spcBef>
                <a:spcPts val="1189"/>
              </a:spcBef>
            </a:pPr>
            <a:r>
              <a:rPr sz="1700" i="0" b="0">
                <a:solidFill>
                  <a:srgbClr val="CBD5E1"/>
                </a:solidFill>
                <a:latin typeface="Helvetica Neue"/>
              </a:rPr>
              <a:t>Shuffling the labels shows what a test does</a:t>
            </a:r>
          </a:p>
          <a:p>
            <a:pPr algn="l">
              <a:lnSpc>
                <a:spcPct val="100000"/>
              </a:lnSpc>
              <a:spcBef>
                <a:spcPts val="1189"/>
              </a:spcBef>
            </a:pPr>
            <a:r>
              <a:rPr sz="1700" i="0" b="0">
                <a:solidFill>
                  <a:srgbClr val="CBD5E1"/>
                </a:solidFill>
                <a:latin typeface="Helvetica Neue"/>
              </a:rPr>
              <a:t>What a p-value is not</a:t>
            </a:r>
          </a:p>
          <a:p>
            <a:pPr algn="l">
              <a:lnSpc>
                <a:spcPct val="100000"/>
              </a:lnSpc>
              <a:spcBef>
                <a:spcPts val="1189"/>
              </a:spcBef>
            </a:pPr>
            <a:r>
              <a:rPr sz="1700" i="0" b="0">
                <a:solidFill>
                  <a:srgbClr val="CBD5E1"/>
                </a:solidFill>
                <a:latin typeface="Helvetica Neue"/>
              </a:rPr>
              <a:t>Choosing the test</a:t>
            </a:r>
          </a:p>
          <a:p>
            <a:pPr algn="l">
              <a:lnSpc>
                <a:spcPct val="100000"/>
              </a:lnSpc>
              <a:spcBef>
                <a:spcPts val="1189"/>
              </a:spcBef>
            </a:pPr>
            <a:r>
              <a:rPr sz="1700" i="0" b="0">
                <a:solidFill>
                  <a:srgbClr val="CBD5E1"/>
                </a:solidFill>
                <a:latin typeface="Helvetica Neue"/>
              </a:rPr>
              <a:t>Many tests, and exaggerated winners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segment of twenty reached p = 0.04</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Treat a win found by slicing as a hypothesis to confirm, since noise alone usually produces one somewhere among twenty.</a:t>
            </a:r>
          </a:p>
        </p:txBody>
      </p:sp>
      <p:sp>
        <p:nvSpPr>
          <p:cNvPr id="13" name="Rectangle 12"/>
          <p:cNvSpPr/>
          <p:nvPr/>
        </p:nvSpPr>
        <p:spPr>
          <a:xfrm>
            <a:off x="777240" y="2299716"/>
            <a:ext cx="109728" cy="235915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Twenty tests of nothing produce at least one false positive 64% of the time.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1 − 0.95²⁰; simulated at 62% with 30 users per arm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test follows one recipe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Every test states a null, fixes alpha in advance, computes a surprise under the null, and then needs an effect size to mean anything.</a:t>
            </a:r>
          </a:p>
        </p:txBody>
      </p:sp>
      <p:sp>
        <p:nvSpPr>
          <p:cNvPr id="12" name="Rounded Rectangle 11"/>
          <p:cNvSpPr/>
          <p:nvPr/>
        </p:nvSpPr>
        <p:spPr>
          <a:xfrm>
            <a:off x="502920" y="1563624"/>
            <a:ext cx="1834835"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State H0</a:t>
            </a:r>
          </a:p>
          <a:p>
            <a:pPr algn="ctr">
              <a:lnSpc>
                <a:spcPct val="110000"/>
              </a:lnSpc>
            </a:pPr>
            <a:r>
              <a:rPr sz="1300" i="0" b="0">
                <a:solidFill>
                  <a:srgbClr val="E8F4F8"/>
                </a:solidFill>
                <a:latin typeface="Helvetica Neue"/>
              </a:rPr>
              <a:t>what no effect means</a:t>
            </a:r>
          </a:p>
        </p:txBody>
      </p:sp>
      <p:cxnSp>
        <p:nvCxnSpPr>
          <p:cNvPr id="14" name="Connector 13"/>
          <p:cNvCxnSpPr/>
          <p:nvPr/>
        </p:nvCxnSpPr>
        <p:spPr>
          <a:xfrm>
            <a:off x="239261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Fix α</a:t>
            </a:r>
          </a:p>
          <a:p>
            <a:pPr algn="ctr">
              <a:lnSpc>
                <a:spcPct val="110000"/>
              </a:lnSpc>
            </a:pPr>
            <a:r>
              <a:rPr sz="1300" i="0" b="0">
                <a:solidFill>
                  <a:srgbClr val="E8F4F8"/>
                </a:solidFill>
                <a:latin typeface="Helvetica Neue"/>
              </a:rPr>
              <a:t>before seeing data</a:t>
            </a:r>
          </a:p>
        </p:txBody>
      </p:sp>
      <p:cxnSp>
        <p:nvCxnSpPr>
          <p:cNvPr id="17" name="Connector 16"/>
          <p:cNvCxnSpPr/>
          <p:nvPr/>
        </p:nvCxnSpPr>
        <p:spPr>
          <a:xfrm>
            <a:off x="473037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Statistic</a:t>
            </a:r>
          </a:p>
          <a:p>
            <a:pPr algn="ctr">
              <a:lnSpc>
                <a:spcPct val="110000"/>
              </a:lnSpc>
            </a:pPr>
            <a:r>
              <a:rPr sz="1300" i="0" b="0">
                <a:solidFill>
                  <a:srgbClr val="E8F4F8"/>
                </a:solidFill>
                <a:latin typeface="Helvetica Neue"/>
              </a:rPr>
              <a:t>and its null distribution</a:t>
            </a:r>
          </a:p>
        </p:txBody>
      </p:sp>
      <p:cxnSp>
        <p:nvCxnSpPr>
          <p:cNvPr id="20" name="Connector 19"/>
          <p:cNvCxnSpPr/>
          <p:nvPr/>
        </p:nvCxnSpPr>
        <p:spPr>
          <a:xfrm>
            <a:off x="7068129"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120548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p-value</a:t>
            </a:r>
          </a:p>
          <a:p>
            <a:pPr algn="ctr">
              <a:lnSpc>
                <a:spcPct val="110000"/>
              </a:lnSpc>
            </a:pPr>
            <a:r>
              <a:rPr sz="1300" i="0" b="0">
                <a:solidFill>
                  <a:srgbClr val="E8F4F8"/>
                </a:solidFill>
                <a:latin typeface="Helvetica Neue"/>
              </a:rPr>
              <a:t>this extreme, by chance</a:t>
            </a:r>
          </a:p>
        </p:txBody>
      </p:sp>
      <p:cxnSp>
        <p:nvCxnSpPr>
          <p:cNvPr id="23" name="Connector 22"/>
          <p:cNvCxnSpPr/>
          <p:nvPr/>
        </p:nvCxnSpPr>
        <p:spPr>
          <a:xfrm>
            <a:off x="9405884"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Decide</a:t>
            </a:r>
          </a:p>
          <a:p>
            <a:pPr algn="ctr">
              <a:lnSpc>
                <a:spcPct val="110000"/>
              </a:lnSpc>
            </a:pPr>
            <a:r>
              <a:rPr sz="1300" i="0" b="0">
                <a:solidFill>
                  <a:srgbClr val="E8F4F8"/>
                </a:solidFill>
                <a:latin typeface="Helvetica Neue"/>
              </a:rPr>
              <a:t>with the effect size</a:t>
            </a:r>
          </a:p>
        </p:txBody>
      </p:sp>
      <p:sp>
        <p:nvSpPr>
          <p:cNvPr id="26" name="Rectangle 25"/>
          <p:cNvSpPr/>
          <p:nvPr/>
        </p:nvSpPr>
        <p:spPr>
          <a:xfrm>
            <a:off x="502920" y="3180842"/>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A test answers one question: could this be noise?</a:t>
            </a:r>
          </a:p>
        </p:txBody>
      </p:sp>
      <p:sp>
        <p:nvSpPr>
          <p:cNvPr id="28" name="Rectangle 27"/>
          <p:cNvSpPr/>
          <p:nvPr/>
        </p:nvSpPr>
        <p:spPr>
          <a:xfrm>
            <a:off x="502920" y="3644138"/>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effect size and interval answer the question the business asked.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Shuffling the labels shows what a test does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p-value is how often chance alone gives a result this extreme, which you can compute directly by shuffling labels.</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pool = np.concatenate([a, b])</a:t>
            </a:r>
          </a:p>
          <a:p>
            <a:pPr algn="l">
              <a:lnSpc>
                <a:spcPct val="100000"/>
              </a:lnSpc>
            </a:pPr>
            <a:r>
              <a:rPr sz="1600" i="0" b="0">
                <a:solidFill>
                  <a:srgbClr val="E2E8F0"/>
                </a:solidFill>
                <a:latin typeface="Menlo"/>
              </a:rPr>
              <a:t>for i in range(10_000):</a:t>
            </a:r>
          </a:p>
          <a:p>
            <a:pPr algn="l">
              <a:lnSpc>
                <a:spcPct val="100000"/>
              </a:lnSpc>
            </a:pPr>
            <a:r>
              <a:rPr sz="1600" i="0" b="0">
                <a:solidFill>
                  <a:srgbClr val="E2E8F0"/>
                </a:solidFill>
                <a:latin typeface="Menlo"/>
              </a:rPr>
              <a:t>    rng.shuffle(pool)</a:t>
            </a:r>
          </a:p>
          <a:p>
            <a:pPr algn="l">
              <a:lnSpc>
                <a:spcPct val="100000"/>
              </a:lnSpc>
            </a:pPr>
            <a:r>
              <a:rPr sz="1600" i="0" b="0">
                <a:solidFill>
                  <a:srgbClr val="E2E8F0"/>
                </a:solidFill>
                <a:latin typeface="Menlo"/>
              </a:rPr>
              <a:t>    diffs[i] = pool[400:].mean() - pool[:400].mean()</a:t>
            </a:r>
          </a:p>
          <a:p>
            <a:pPr algn="l">
              <a:lnSpc>
                <a:spcPct val="100000"/>
              </a:lnSpc>
            </a:pPr>
            <a:r>
              <a:rPr sz="1600" i="0" b="0">
                <a:solidFill>
                  <a:srgbClr val="E2E8F0"/>
                </a:solidFill>
                <a:latin typeface="Menlo"/>
              </a:rPr>
              <a:t>np.mean(np.abs(diffs) &gt;= abs(obs))</a:t>
            </a:r>
          </a:p>
          <a:p>
            <a:pPr algn="l">
              <a:lnSpc>
                <a:spcPct val="100000"/>
              </a:lnSpc>
            </a:pPr>
            <a:r>
              <a:rPr sz="1600" i="0" b="0">
                <a:solidFill>
                  <a:srgbClr val="E2E8F0"/>
                </a:solidFill>
                <a:latin typeface="Menlo"/>
              </a:rPr>
              <a:t># permutation p = 0.007, Welch p = 0.009</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No effect means labels are arbitrary.</a:t>
            </a:r>
          </a:p>
        </p:txBody>
      </p:sp>
      <p:sp>
        <p:nvSpPr>
          <p:cNvPr id="17" name="Rectangle 16"/>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Classical tests approximate this.</a:t>
            </a:r>
          </a:p>
        </p:txBody>
      </p:sp>
      <p:sp>
        <p:nvSpPr>
          <p:cNvPr id="19" name="Rectangle 18"/>
          <p:cNvSpPr/>
          <p:nvPr/>
        </p:nvSpPr>
        <p:spPr>
          <a:xfrm>
            <a:off x="7580193" y="308610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Unsure of a formula? Shuffle.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a p-value is not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p-value measures surprise under the null, not the chance the null is true, the size of an effect, or its importance.</a:t>
            </a:r>
          </a:p>
        </p:txBody>
      </p:sp>
      <p:graphicFrame>
        <p:nvGraphicFramePr>
          <p:cNvPr id="12" name="Table 11"/>
          <p:cNvGraphicFramePr>
            <a:graphicFrameLocks noGrp="1"/>
          </p:cNvGraphicFramePr>
          <p:nvPr/>
        </p:nvGraphicFramePr>
        <p:xfrm>
          <a:off x="502920" y="1472184"/>
          <a:ext cx="11185854" cy="2545080"/>
        </p:xfrm>
        <a:graphic>
          <a:graphicData uri="http://schemas.openxmlformats.org/drawingml/2006/table">
            <a:tbl>
              <a:tblPr firstRow="1" bandRow="1">
                <a:tableStyleId>{5940675A-B579-460E-94D1-54222C63F5DA}</a:tableStyleId>
              </a:tblPr>
              <a:tblGrid>
                <a:gridCol w="5102319"/>
                <a:gridCol w="6083535"/>
              </a:tblGrid>
              <a:tr h="405384">
                <a:tc>
                  <a:txBody>
                    <a:bodyPr wrap="square"/>
                    <a:lstStyle/>
                    <a:p>
                      <a:pPr>
                        <a:lnSpc>
                          <a:spcPct val="100000"/>
                        </a:lnSpc>
                      </a:pPr>
                      <a:r>
                        <a:rPr sz="1700" i="0" b="1">
                          <a:solidFill>
                            <a:srgbClr val="FFFFFF"/>
                          </a:solidFill>
                          <a:latin typeface="Helvetica Neue"/>
                        </a:rPr>
                        <a:t>Wrong reading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Why</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p = 0.03: 3% chance the null is true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 assumes the null. The other direction needs a prior</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 = 0.2: no effect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test may be underpowered</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 = 0.003: a big effect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5M per arm makes a 0.9% lift significant</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0.049 vs 0.051: they disagree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difference between them is not itself significant</a:t>
                      </a:r>
                    </a:p>
                  </a:txBody>
                  <a:tcPr marL="109728" marR="109728" marT="54864" marB="54864" anchor="ctr">
                    <a:solidFill>
                      <a:srgbClr val="F8FAF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Choosing the test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Pick by outcome type and design, and remember that a rank test answers a different question from a test on revenue.</a:t>
            </a:r>
          </a:p>
        </p:txBody>
      </p:sp>
      <p:sp>
        <p:nvSpPr>
          <p:cNvPr id="12" name="Rectangle 11"/>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Two groups</a:t>
            </a:r>
          </a:p>
        </p:txBody>
      </p:sp>
      <p:sp>
        <p:nvSpPr>
          <p:cNvPr id="16" name="Rectangle 15"/>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Same units twice</a:t>
            </a:r>
          </a:p>
        </p:txBody>
      </p:sp>
      <p:sp>
        <p:nvSpPr>
          <p:cNvPr id="20" name="Rectangle 19"/>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Three or more</a:t>
            </a:r>
          </a:p>
        </p:txBody>
      </p:sp>
      <p:sp>
        <p:nvSpPr>
          <p:cNvPr id="24" name="Rectangle 23"/>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Categories</a:t>
            </a:r>
          </a:p>
        </p:txBody>
      </p:sp>
      <p:sp>
        <p:nvSpPr>
          <p:cNvPr id="28" name="Rectangle 27"/>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4900269"/>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1" name="TextBox 30"/>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Skew and whales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Many tests, and exaggerated winners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From a number to a decision</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notes/05-hypothesis-testing.md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Control error across the tests you run, and never forecast from a significant estimate at low power.</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Correct for multiplicity</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100 tests, 10 real</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Raw: 11 hits, 3 false</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Holm: 5 hits, 0 false</a:t>
            </a:r>
          </a:p>
        </p:txBody>
      </p:sp>
      <p:sp>
        <p:nvSpPr>
          <p:cNvPr id="21" name="Rectangle 20"/>
          <p:cNvSpPr/>
          <p:nvPr/>
        </p:nvSpPr>
        <p:spPr>
          <a:xfrm>
            <a:off x="731520" y="3556761"/>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47472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BH: 7 hits, 0 false</a:t>
            </a:r>
          </a:p>
        </p:txBody>
      </p:sp>
      <p:sp>
        <p:nvSpPr>
          <p:cNvPr id="23" name="Rectangle 22"/>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FWER for launches, FDR for screens</a:t>
            </a:r>
          </a:p>
        </p:txBody>
      </p:sp>
      <p:sp>
        <p:nvSpPr>
          <p:cNvPr id="25" name="Rectangle 24"/>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Expect a smaller effect later</a:t>
            </a:r>
          </a:p>
        </p:txBody>
      </p:sp>
      <p:sp>
        <p:nvSpPr>
          <p:cNvPr id="28" name="Rectangle 27"/>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True lift 1%, power 17%</a:t>
            </a:r>
          </a:p>
        </p:txBody>
      </p:sp>
      <p:sp>
        <p:nvSpPr>
          <p:cNvPr id="30" name="Rectangle 29"/>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Significant estimates average 2.45%</a:t>
            </a:r>
          </a:p>
        </p:txBody>
      </p:sp>
      <p:sp>
        <p:nvSpPr>
          <p:cNvPr id="32" name="Rectangle 31"/>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2.5x the truth</a:t>
            </a:r>
          </a:p>
        </p:txBody>
      </p:sp>
      <p:sp>
        <p:nvSpPr>
          <p:cNvPr id="34" name="Rectangle 33"/>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Winner's curse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166534"/>
                </a:solidFill>
                <a:latin typeface="Helvetica Neue"/>
              </a:rPr>
              <a:t>PART 6</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Models that hold other things fixed</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t-test as OLS · Covariates · Diagnostics · Clustering · Logistic · Poisson</a:t>
            </a:r>
          </a:p>
        </p:txBody>
      </p:sp>
      <p:cxnSp>
        <p:nvCxnSpPr>
          <p:cNvPr id="6" name="Connector 5"/>
          <p:cNvCxnSpPr/>
          <p:nvPr/>
        </p:nvCxnSpPr>
        <p:spPr>
          <a:xfrm>
            <a:off x="6446520" y="2295525"/>
            <a:ext cx="0" cy="22669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95525"/>
            <a:ext cx="4693615" cy="244983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Free precision is one line away</a:t>
            </a:r>
          </a:p>
          <a:p>
            <a:pPr algn="l">
              <a:lnSpc>
                <a:spcPct val="100000"/>
              </a:lnSpc>
              <a:spcBef>
                <a:spcPts val="1189"/>
              </a:spcBef>
            </a:pPr>
            <a:r>
              <a:rPr sz="1700" i="0" b="0">
                <a:solidFill>
                  <a:srgbClr val="CBD5E1"/>
                </a:solidFill>
                <a:latin typeface="Helvetica Neue"/>
              </a:rPr>
              <a:t>Choose the model from the outcome, then check it</a:t>
            </a:r>
          </a:p>
          <a:p>
            <a:pPr algn="l">
              <a:lnSpc>
                <a:spcPct val="100000"/>
              </a:lnSpc>
              <a:spcBef>
                <a:spcPts val="1189"/>
              </a:spcBef>
            </a:pPr>
            <a:r>
              <a:rPr sz="1700" i="0" b="0">
                <a:solidFill>
                  <a:srgbClr val="CBD5E1"/>
                </a:solidFill>
                <a:latin typeface="Helvetica Neue"/>
              </a:rPr>
              <a:t>The fixes change the uncertainty, not the estimate</a:t>
            </a:r>
          </a:p>
          <a:p>
            <a:pPr algn="l">
              <a:lnSpc>
                <a:spcPct val="100000"/>
              </a:lnSpc>
              <a:spcBef>
                <a:spcPts val="1189"/>
              </a:spcBef>
            </a:pPr>
            <a:r>
              <a:rPr sz="1700" i="0" b="0">
                <a:solidFill>
                  <a:srgbClr val="CBD5E1"/>
                </a:solidFill>
                <a:latin typeface="Helvetica Neue"/>
              </a:rPr>
              <a:t>A logistic coefficient of 0.4 is not one number</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Free precision is one line away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Models that hold other things fixed</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notes/06-regression-and-glms.md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t-test is a regression on a 0/1 column, so you can add pre-period covariates and shrink the error for free.</a:t>
            </a:r>
          </a:p>
        </p:txBody>
      </p:sp>
      <p:sp>
        <p:nvSpPr>
          <p:cNvPr id="13" name="Rectangle 12"/>
          <p:cNvSpPr/>
          <p:nvPr/>
        </p:nvSpPr>
        <p:spPr>
          <a:xfrm>
            <a:off x="777240" y="2299716"/>
            <a:ext cx="109728" cy="235915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Adding last month's spend cut the standard error from 0.343 to 0.287, with no extra traffic.</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Larkspur simulated experiment, 20,000 users, true effect 1.5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Choose the model from the outcome, then check 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Models that hold other things fixed</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notes/06-regression-and-glms.md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Pick the GLM from the outcome's type, then check residuals, leverage, dispersion and clustering before trusting any standard error.</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Continuous</a:t>
            </a:r>
          </a:p>
          <a:p>
            <a:pPr algn="ctr">
              <a:lnSpc>
                <a:spcPct val="110000"/>
              </a:lnSpc>
            </a:pPr>
            <a:r>
              <a:rPr sz="1300" i="0" b="0">
                <a:solidFill>
                  <a:srgbClr val="E8F4F8"/>
                </a:solidFill>
                <a:latin typeface="Helvetica Neue"/>
              </a:rPr>
              <a:t>OLS</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Yes or no</a:t>
            </a:r>
          </a:p>
          <a:p>
            <a:pPr algn="ctr">
              <a:lnSpc>
                <a:spcPct val="110000"/>
              </a:lnSpc>
            </a:pPr>
            <a:r>
              <a:rPr sz="1300" i="0" b="0">
                <a:solidFill>
                  <a:srgbClr val="E8F4F8"/>
                </a:solidFill>
                <a:latin typeface="Helvetica Neue"/>
              </a:rPr>
              <a:t>logistic, log-odds link</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Count</a:t>
            </a:r>
          </a:p>
          <a:p>
            <a:pPr algn="ctr">
              <a:lnSpc>
                <a:spcPct val="110000"/>
              </a:lnSpc>
            </a:pPr>
            <a:r>
              <a:rPr sz="1300" i="0" b="0">
                <a:solidFill>
                  <a:srgbClr val="E8F4F8"/>
                </a:solidFill>
                <a:latin typeface="Helvetica Neue"/>
              </a:rPr>
              <a:t>Poisson with offset</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Diagnostics</a:t>
            </a:r>
          </a:p>
          <a:p>
            <a:pPr algn="ctr">
              <a:lnSpc>
                <a:spcPct val="110000"/>
              </a:lnSpc>
            </a:pPr>
            <a:r>
              <a:rPr sz="1300" i="0" b="0">
                <a:solidFill>
                  <a:srgbClr val="E8F4F8"/>
                </a:solidFill>
                <a:latin typeface="Helvetica Neue"/>
              </a:rPr>
              <a:t>residuals, leverage, clusters</a:t>
            </a:r>
          </a:p>
        </p:txBody>
      </p:sp>
      <p:sp>
        <p:nvSpPr>
          <p:cNvPr id="23" name="Rectangle 22"/>
          <p:cNvSpPr/>
          <p:nvPr/>
        </p:nvSpPr>
        <p:spPr>
          <a:xfrm>
            <a:off x="502920" y="3180842"/>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One family:</a:t>
            </a:r>
            <a:r>
              <a:rPr sz="1900" i="0" b="0">
                <a:solidFill>
                  <a:srgbClr val="1E293B"/>
                </a:solidFill>
                <a:latin typeface="Helvetica Neue"/>
              </a:rPr>
              <a:t> linear predictor, a distribution, a link function.</a:t>
            </a:r>
          </a:p>
        </p:txBody>
      </p:sp>
      <p:sp>
        <p:nvSpPr>
          <p:cNvPr id="25" name="Rectangle 24"/>
          <p:cNvSpPr/>
          <p:nvPr/>
        </p:nvSpPr>
        <p:spPr>
          <a:xfrm>
            <a:off x="502920" y="3644138"/>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Offset</a:t>
            </a:r>
            <a:r>
              <a:rPr sz="1900" i="0" b="0">
                <a:solidFill>
                  <a:srgbClr val="1E293B"/>
                </a:solidFill>
                <a:latin typeface="Helvetica Neue"/>
              </a:rPr>
              <a:t> turns a count into a rate per day.</a:t>
            </a:r>
          </a:p>
        </p:txBody>
      </p:sp>
      <p:sp>
        <p:nvSpPr>
          <p:cNvPr id="27" name="Rectangle 26"/>
          <p:cNvSpPr/>
          <p:nvPr/>
        </p:nvSpPr>
        <p:spPr>
          <a:xfrm>
            <a:off x="502920" y="4107433"/>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015740"/>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Overdispersed?</a:t>
            </a:r>
            <a:r>
              <a:rPr sz="1900" i="0" b="0">
                <a:solidFill>
                  <a:srgbClr val="1E293B"/>
                </a:solidFill>
                <a:latin typeface="Helvetica Neue"/>
              </a:rPr>
              <a:t> Robust SEs or negative binomial.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fixes change the uncertainty, not the estimate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Models that hold other things fixed</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notes/06-regression-and-glms.md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Cluster at the level of randomisation and use robust errors on money, since coefficient estimates hide both problems.</a:t>
            </a:r>
          </a:p>
        </p:txBody>
      </p:sp>
      <p:graphicFrame>
        <p:nvGraphicFramePr>
          <p:cNvPr id="12" name="Table 11"/>
          <p:cNvGraphicFramePr>
            <a:graphicFrameLocks noGrp="1"/>
          </p:cNvGraphicFramePr>
          <p:nvPr/>
        </p:nvGraphicFramePr>
        <p:xfrm>
          <a:off x="502920" y="1472184"/>
          <a:ext cx="11185854" cy="2026920"/>
        </p:xfrm>
        <a:graphic>
          <a:graphicData uri="http://schemas.openxmlformats.org/drawingml/2006/table">
            <a:tbl>
              <a:tblPr firstRow="1" bandRow="1">
                <a:tableStyleId>{5940675A-B579-460E-94D1-54222C63F5DA}</a:tableStyleId>
              </a:tblPr>
              <a:tblGrid>
                <a:gridCol w="2943646"/>
                <a:gridCol w="5102319"/>
                <a:gridCol w="3139889"/>
              </a:tblGrid>
              <a:tr h="405384">
                <a:tc>
                  <a:txBody>
                    <a:bodyPr wrap="square"/>
                    <a:lstStyle/>
                    <a:p>
                      <a:pPr>
                        <a:lnSpc>
                          <a:spcPct val="100000"/>
                        </a:lnSpc>
                      </a:pPr>
                      <a:r>
                        <a:rPr sz="1700" i="0" b="1">
                          <a:solidFill>
                            <a:srgbClr val="FFFFFF"/>
                          </a:solidFill>
                          <a:latin typeface="Helvetica Neue"/>
                        </a:rPr>
                        <a:t>Problem</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Symptom in the example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Fix</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Funnel residuals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pre SE 0.0067 classical, 0.0112 robust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HC3 robust SEs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Rows repeat in a user</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27.8% false positives at nominal 5%</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Cluster on user</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Collinear predictors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VIF 391, SE 0.81 vs 0.041, same RMSE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Combine or drop</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One far-out point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slope 2.02 to -0.18, Cook's D 107</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Find out what it is</a:t>
                      </a:r>
                    </a:p>
                  </a:txBody>
                  <a:tcPr marL="109728" marR="109728" marT="54864" marB="54864" anchor="ctr">
                    <a:solidFill>
                      <a:srgbClr val="F8FAFC"/>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logistic coefficient of 0.4 is not one number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Models that hold other things fixed</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notes/06-regression-and-glms.md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Report average marginal effects to stakeholders, since an odds ratio implies a different point change at each baseline.</a:t>
            </a:r>
          </a:p>
        </p:txBody>
      </p:sp>
      <p:sp>
        <p:nvSpPr>
          <p:cNvPr id="12" name="Rounded Rectangle 11"/>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from scipy.special import expit, logit</a:t>
            </a:r>
          </a:p>
          <a:p>
            <a:pPr algn="l">
              <a:lnSpc>
                <a:spcPct val="100000"/>
              </a:lnSpc>
            </a:pPr>
          </a:p>
          <a:p>
            <a:pPr algn="l">
              <a:lnSpc>
                <a:spcPct val="100000"/>
              </a:lnSpc>
            </a:pPr>
            <a:r>
              <a:rPr sz="1600" i="0" b="0">
                <a:solidFill>
                  <a:srgbClr val="E2E8F0"/>
                </a:solidFill>
                <a:latin typeface="Menlo"/>
              </a:rPr>
              <a:t>for base in (0.02, 0.20, 0.50, 0.80):</a:t>
            </a:r>
          </a:p>
          <a:p>
            <a:pPr algn="l">
              <a:lnSpc>
                <a:spcPct val="100000"/>
              </a:lnSpc>
            </a:pPr>
            <a:r>
              <a:rPr sz="1600" i="0" b="0">
                <a:solidFill>
                  <a:srgbClr val="E2E8F0"/>
                </a:solidFill>
                <a:latin typeface="Menlo"/>
              </a:rPr>
              <a:t>    new = expit(logit(base) + 0.4)</a:t>
            </a:r>
          </a:p>
          <a:p>
            <a:pPr algn="l">
              <a:lnSpc>
                <a:spcPct val="100000"/>
              </a:lnSpc>
            </a:pPr>
            <a:r>
              <a:rPr sz="1600" i="0" b="0">
                <a:solidFill>
                  <a:srgbClr val="E2E8F0"/>
                </a:solidFill>
                <a:latin typeface="Menlo"/>
              </a:rPr>
              <a:t>    print(base, round(new, 3), round(new - base, 3))</a:t>
            </a:r>
          </a:p>
          <a:p>
            <a:pPr algn="l">
              <a:lnSpc>
                <a:spcPct val="100000"/>
              </a:lnSpc>
            </a:pPr>
            <a:r>
              <a:rPr sz="1600" i="0" b="0">
                <a:solidFill>
                  <a:srgbClr val="E2E8F0"/>
                </a:solidFill>
                <a:latin typeface="Menlo"/>
              </a:rPr>
              <a:t># 0.02 0.03  0.01</a:t>
            </a:r>
          </a:p>
          <a:p>
            <a:pPr algn="l">
              <a:lnSpc>
                <a:spcPct val="100000"/>
              </a:lnSpc>
            </a:pPr>
            <a:r>
              <a:rPr sz="1600" i="0" b="0">
                <a:solidFill>
                  <a:srgbClr val="E2E8F0"/>
                </a:solidFill>
                <a:latin typeface="Menlo"/>
              </a:rPr>
              <a:t># 0.2  0.272 0.072</a:t>
            </a:r>
          </a:p>
          <a:p>
            <a:pPr algn="l">
              <a:lnSpc>
                <a:spcPct val="100000"/>
              </a:lnSpc>
            </a:pPr>
            <a:r>
              <a:rPr sz="1600" i="0" b="0">
                <a:solidFill>
                  <a:srgbClr val="E2E8F0"/>
                </a:solidFill>
                <a:latin typeface="Menlo"/>
              </a:rPr>
              <a:t># 0.5  0.599 0.099</a:t>
            </a:r>
          </a:p>
          <a:p>
            <a:pPr algn="l">
              <a:lnSpc>
                <a:spcPct val="100000"/>
              </a:lnSpc>
            </a:pPr>
            <a:r>
              <a:rPr sz="1600" i="0" b="0">
                <a:solidFill>
                  <a:srgbClr val="E2E8F0"/>
                </a:solidFill>
                <a:latin typeface="Menlo"/>
              </a:rPr>
              <a:t># 0.8  0.856 0.056</a:t>
            </a:r>
          </a:p>
        </p:txBody>
      </p:sp>
      <p:sp>
        <p:nvSpPr>
          <p:cNvPr id="15" name="Rectangle 14"/>
          <p:cNvSpPr/>
          <p:nvPr/>
        </p:nvSpPr>
        <p:spPr>
          <a:xfrm>
            <a:off x="7580193" y="1604772"/>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Odds always multiply by 1.49.</a:t>
            </a:r>
          </a:p>
        </p:txBody>
      </p:sp>
      <p:sp>
        <p:nvSpPr>
          <p:cNvPr id="17" name="Rectangle 16"/>
          <p:cNvSpPr/>
          <p:nvPr/>
        </p:nvSpPr>
        <p:spPr>
          <a:xfrm>
            <a:off x="7580193" y="2043684"/>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Points depend on the baseline.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notes/06-regression-and-glms.md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Most statistical errors that reach a decision are one-line mistakes, and each stage here has a check that catches them.</a:t>
            </a:r>
          </a:p>
        </p:txBody>
      </p:sp>
      <p:sp>
        <p:nvSpPr>
          <p:cNvPr id="12" name="Rectangle 11"/>
          <p:cNvSpPr/>
          <p:nvPr/>
        </p:nvSpPr>
        <p:spPr>
          <a:xfrm>
            <a:off x="502920"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Look</a:t>
            </a:r>
          </a:p>
        </p:txBody>
      </p:sp>
      <p:sp>
        <p:nvSpPr>
          <p:cNvPr id="15" name="TextBox 14"/>
          <p:cNvSpPr txBox="1"/>
          <p:nvPr/>
        </p:nvSpPr>
        <p:spPr>
          <a:xfrm>
            <a:off x="777240"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What is one row? Count exclusions. Show N. Mean and median together.</a:t>
            </a:r>
          </a:p>
        </p:txBody>
      </p:sp>
      <p:sp>
        <p:nvSpPr>
          <p:cNvPr id="16" name="Rectangle 15"/>
          <p:cNvSpPr/>
          <p:nvPr/>
        </p:nvSpPr>
        <p:spPr>
          <a:xfrm>
            <a:off x="4322978"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2727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Reason</a:t>
            </a:r>
          </a:p>
        </p:txBody>
      </p:sp>
      <p:sp>
        <p:nvSpPr>
          <p:cNvPr id="19" name="TextBox 18"/>
          <p:cNvSpPr txBox="1"/>
          <p:nvPr/>
        </p:nvSpPr>
        <p:spPr>
          <a:xfrm>
            <a:off x="4597298"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P(A|B) is not P(B|A). Expectations add; variances need independence.</a:t>
            </a:r>
          </a:p>
        </p:txBody>
      </p:sp>
      <p:sp>
        <p:nvSpPr>
          <p:cNvPr id="20" name="Rectangle 19"/>
          <p:cNvSpPr/>
          <p:nvPr/>
        </p:nvSpPr>
        <p:spPr>
          <a:xfrm>
            <a:off x="8143036"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2727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Sample</a:t>
            </a:r>
          </a:p>
        </p:txBody>
      </p:sp>
      <p:sp>
        <p:nvSpPr>
          <p:cNvPr id="23" name="TextBox 22"/>
          <p:cNvSpPr txBox="1"/>
          <p:nvPr/>
        </p:nvSpPr>
        <p:spPr>
          <a:xfrm>
            <a:off x="8417356"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N of 30 is no law. Bias does not shrink. Small groups fill the extremes.</a:t>
            </a:r>
          </a:p>
        </p:txBody>
      </p:sp>
      <p:sp>
        <p:nvSpPr>
          <p:cNvPr id="24" name="Rectangle 23"/>
          <p:cNvSpPr/>
          <p:nvPr/>
        </p:nvSpPr>
        <p:spPr>
          <a:xfrm>
            <a:off x="502920"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573780"/>
            <a:ext cx="82296" cy="182727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Estimate</a:t>
            </a:r>
          </a:p>
        </p:txBody>
      </p:sp>
      <p:sp>
        <p:nvSpPr>
          <p:cNvPr id="27" name="TextBox 26"/>
          <p:cNvSpPr txBox="1"/>
          <p:nvPr/>
        </p:nvSpPr>
        <p:spPr>
          <a:xfrm>
            <a:off x="777240"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Report intervals. Wilson for small counts. Bootstrap the independent unit.</a:t>
            </a:r>
          </a:p>
        </p:txBody>
      </p:sp>
      <p:sp>
        <p:nvSpPr>
          <p:cNvPr id="28" name="Rectangle 27"/>
          <p:cNvSpPr/>
          <p:nvPr/>
        </p:nvSpPr>
        <p:spPr>
          <a:xfrm>
            <a:off x="4322978"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573780"/>
            <a:ext cx="82296" cy="182727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Test</a:t>
            </a:r>
          </a:p>
        </p:txBody>
      </p:sp>
      <p:sp>
        <p:nvSpPr>
          <p:cNvPr id="31" name="TextBox 30"/>
          <p:cNvSpPr txBox="1"/>
          <p:nvPr/>
        </p:nvSpPr>
        <p:spPr>
          <a:xfrm>
            <a:off x="4597298"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Welch by default. One primary question. Distrust winners at low power.</a:t>
            </a:r>
          </a:p>
        </p:txBody>
      </p:sp>
      <p:sp>
        <p:nvSpPr>
          <p:cNvPr id="32" name="Rectangle 31"/>
          <p:cNvSpPr/>
          <p:nvPr/>
        </p:nvSpPr>
        <p:spPr>
          <a:xfrm>
            <a:off x="8143036"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573780"/>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Model</a:t>
            </a:r>
          </a:p>
        </p:txBody>
      </p:sp>
      <p:sp>
        <p:nvSpPr>
          <p:cNvPr id="35" name="TextBox 34"/>
          <p:cNvSpPr txBox="1"/>
          <p:nvPr/>
        </p:nvSpPr>
        <p:spPr>
          <a:xfrm>
            <a:off x="8417356"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Pre-period covariates. Cluster at randomisation. Marginal effects. Check dispersion.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notes/01-descriptive-statistics-and-eda.md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next pillar takes these tools to an experiment, where randomisation finally lets us talk about causes.</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03 Experimentation and causality:</a:t>
            </a:r>
            <a:r>
              <a:rPr sz="2000" i="0" b="0">
                <a:solidFill>
                  <a:srgbClr val="1E293B"/>
                </a:solidFill>
                <a:latin typeface="Helvetica Neue"/>
              </a:rPr>
              <a:t> the checkout goes to a real A/B test, with metrics and peeking.</a:t>
            </a:r>
          </a:p>
        </p:txBody>
      </p:sp>
      <p:sp>
        <p:nvSpPr>
          <p:cNvPr id="14" name="Rectangle 13"/>
          <p:cNvSpPr/>
          <p:nvPr/>
        </p:nvSpPr>
        <p:spPr>
          <a:xfrm>
            <a:off x="502920" y="27269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3042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04 Bayesian analysis:</a:t>
            </a:r>
            <a:r>
              <a:rPr sz="2000" i="0" b="0">
                <a:solidFill>
                  <a:srgbClr val="1E293B"/>
                </a:solidFill>
                <a:latin typeface="Helvetica Neue"/>
              </a:rPr>
              <a:t> priors, posteriors and P(B beats A) directly.</a:t>
            </a:r>
          </a:p>
        </p:txBody>
      </p:sp>
      <p:sp>
        <p:nvSpPr>
          <p:cNvPr id="16" name="Rectangle 15"/>
          <p:cNvSpPr/>
          <p:nvPr/>
        </p:nvSpPr>
        <p:spPr>
          <a:xfrm>
            <a:off x="502920" y="35499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53383"/>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Run the code:</a:t>
            </a:r>
            <a:r>
              <a:rPr sz="2000" i="0" b="0">
                <a:solidFill>
                  <a:srgbClr val="1E293B"/>
                </a:solidFill>
                <a:latin typeface="Helvetica Neue"/>
              </a:rPr>
              <a:t> every chapter is a notebook on synthetic data; coursework in </a:t>
            </a:r>
            <a:r>
              <a:rPr sz="1800" i="0" b="0">
                <a:solidFill>
                  <a:srgbClr val="0F7490"/>
                </a:solidFill>
                <a:latin typeface="Menlo"/>
              </a:rPr>
              <a:t>practice/</a:t>
            </a:r>
            <a:r>
              <a:rPr sz="2000" i="0" b="0">
                <a:solidFill>
                  <a:srgbClr val="1E293B"/>
                </a:solidFill>
                <a:latin typeface="Helvetica Neue"/>
              </a:rPr>
              <a:t>.</a:t>
            </a:r>
          </a:p>
        </p:txBody>
      </p:sp>
      <p:sp>
        <p:nvSpPr>
          <p:cNvPr id="18" name="Rectangle 17"/>
          <p:cNvSpPr/>
          <p:nvPr/>
        </p:nvSpPr>
        <p:spPr>
          <a:xfrm>
            <a:off x="502920" y="43728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763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Read:</a:t>
            </a:r>
            <a:r>
              <a:rPr sz="2000" i="0" b="0">
                <a:solidFill>
                  <a:srgbClr val="1E293B"/>
                </a:solidFill>
                <a:latin typeface="Helvetica Neue"/>
              </a:rPr>
              <a:t> Bruce &amp; Bruce; Reinhart, *Statistics Done Wrong*; Stat 110 lectures.</a:t>
            </a:r>
          </a:p>
        </p:txBody>
      </p:sp>
      <p:sp>
        <p:nvSpPr>
          <p:cNvPr id="20" name="Rectangle 19"/>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3" name="TextBox 22"/>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Ask what the independent unit is, and how the rows got into the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