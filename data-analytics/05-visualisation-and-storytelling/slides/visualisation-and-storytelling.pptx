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Fernhill Home is a fictional online homewares retailer. In January 2025 it cut its email budget. Revenue kept growing and the dashboard stayed green, while repeat buying fell by nearly a third. We follow that one dataset: choose the right form, draw it in Python, make it explorable, rebuild it in JavaScript, and then get a decision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any library, we need a way to think about what a chart is and which one fits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oldest argument for plotting. So if we must plot, how do we decide what to draw?</a:t>
            </a:r>
          </a:p>
          <a:p/>
          <a:p>
            <a:r>
              <a:t>Source: notes/01-grammar-and-chart-choice.md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Swap the mark and keep everything else, and you have a different chart with the same mapping.</a:t>
            </a:r>
          </a:p>
          <a:p/>
          <a:p>
            <a:r>
              <a:t>Source: notes/01-grammar-and-chart-choice.md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compressed form of the code in practice/ch01_grammar_and_choice.py, which adds styling and titles.</a:t>
            </a:r>
          </a:p>
          <a:p/>
          <a:p>
            <a:r>
              <a:t>Source: notes/01-grammar-and-chart-choice.md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Cleveland and McGill's experiments order the encodings: position on a common scale first, then length, angle and slope, then area, then shading. That ranking is why bars usually beat pies.</a:t>
            </a:r>
          </a:p>
          <a:p/>
          <a:p>
            <a:r>
              <a:t>Source: notes/01-grammar-and-chart-choice.md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Neither chart contains a false number. The distortion comes entirely from the scale.</a:t>
            </a:r>
          </a:p>
          <a:p/>
          <a:p>
            <a:r>
              <a:t>Source: notes/01-grammar-and-chart-choice.md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draw it. A static chart is still what most decisions see, in a memo or 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here is false. It simply does not help you see anything.</a:t>
            </a:r>
          </a:p>
          <a:p/>
          <a:p>
            <a:r>
              <a:t>Source: notes/02-matplotlib-and-seaborn.md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choices once in practice/chartstyle.py, not chart by chart.</a:t>
            </a:r>
          </a:p>
          <a:p/>
          <a:p>
            <a:r>
              <a:t>Source: notes/02-matplotlib-and-seaborn.md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of chapter five depends on this view: the fall is within every channel as well as in the mix.</a:t>
            </a:r>
          </a:p>
          <a:p/>
          <a:p>
            <a:r>
              <a:t>Source: notes/02-matplotlib-and-seaborn.md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compressed form of practice/chartstyle.py, which has more settings.</a:t>
            </a:r>
          </a:p>
          <a:p/>
          <a:p>
            <a:r>
              <a:t>Source: notes/02-matplotlib-and-seaborn.md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Seaborn is built on matplotlib, so the two are not rivals. Heatmaps need care with colour too: use a diverging scale only where a midpoint means something.</a:t>
            </a:r>
          </a:p>
          <a:p/>
          <a:p>
            <a:r>
              <a:t>Source: notes/02-matplotlib-and-seaborn.md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Hover and zoom feel powerful. They also hand work to the reader, so the first question is whether they will do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people who asked for the analysis will not brush a time range to find the January fall. A manager exploring her own channel next week might.</a:t>
            </a:r>
          </a:p>
          <a:p/>
          <a:p>
            <a:r>
              <a:t>Source: notes/03-plotly-and-interactive.md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what is missing: using interaction simply because it is available.</a:t>
            </a:r>
          </a:p>
          <a:p/>
          <a:p>
            <a:r>
              <a:t>Source: notes/03-plotly-and-interactive.md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default hover text is what every unconfigured plotly chart shows. Fixing it is most of the work.</a:t>
            </a:r>
          </a:p>
          <a:p/>
          <a:p>
            <a:r>
              <a:t>Source: notes/03-plotly-and-interactive.md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ships in the page either way, which is why a static plotly file cannot filter ten million rows.</a:t>
            </a:r>
          </a:p>
          <a:p/>
          <a:p>
            <a:r>
              <a:t>Source: notes/03-plotly-and-interactive.md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the user's choice must trigger a new query, you have outgrown a static file and need a server.</a:t>
            </a:r>
          </a:p>
          <a:p/>
          <a:p>
            <a:r>
              <a:t>Source: notes/03-plotly-and-interactive.md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interactive so far ran as JavaScript. Now we meet that layer and see what writing it directly buys.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Sooner or later someone asks for a chart no library offers, or one that has to live inside a web product.</a:t>
            </a:r>
          </a:p>
          <a:p/>
          <a:p>
            <a:r>
              <a:t>Source: notes/04-javascript-d3-vega-lite-observable-plot.md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draw the same Fernhill chart at each level to feel the difference.</a:t>
            </a:r>
          </a:p>
          <a:p/>
          <a:p>
            <a:r>
              <a:t>Source: notes/04-javascript-d3-vega-lite-observable-plot.md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simplified form of step 3 in practice/js/repeat_chart.mjs. Once you see charts as a list of data and a matching list of elements, the rest of D3 stops looking like a pile of method chains.</a:t>
            </a:r>
          </a:p>
          <a:p/>
          <a:p>
            <a:r>
              <a:t>Source: notes/04-javascript-d3-vega-lite-observable-plot.md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test the hover without a browser by firing events under jsdom, but jsdom has no layout, so text measuring needs a real browser.</a:t>
            </a:r>
          </a:p>
          <a:p/>
          <a:p>
            <a:r>
              <a:t>Source: notes/04-javascript-d3-vega-lite-observable-plot.md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line counts are this one chart as written, including styling, and are an illustration rather than a benchmark.</a:t>
            </a:r>
          </a:p>
          <a:p/>
          <a:p>
            <a:r>
              <a:t>Source: notes/04-javascript-d3-vega-lite-observable-plot.md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different jobs: something people monitor, and telling someone what you found so that they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did not lie. It answered the question it was built to answer.</a:t>
            </a:r>
          </a:p>
          <a:p/>
          <a:p>
            <a:r>
              <a:t>Source: notes/05-dashboards-and-storytelling.md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compressed form of practice/dashboard_app.py. No callbacks to wire up.</a:t>
            </a:r>
          </a:p>
          <a:p/>
          <a:p>
            <a:r>
              <a:t>Source: notes/05-dashboards-and-storytelling.md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months from now, if the marketing team wants to edit it, you want them able to.</a:t>
            </a:r>
          </a:p>
          <a:p/>
          <a:p>
            <a:r>
              <a:t>Source: notes/05-dashboards-and-storytelling.md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any chart: who is the audience, what must they know or do, and only then how data supports it. Priya, the CMO, is the audience.</a:t>
            </a:r>
          </a:p>
          <a:p/>
          <a:p>
            <a:r>
              <a:t>Source: notes/05-dashboards-and-storytelling.md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channel rates at 2024 levels and apply the 2025 mix, which gives the mix effect. The remainder is within-channel.</a:t>
            </a:r>
          </a:p>
          <a:p/>
          <a:p>
            <a:r>
              <a:t>Source: notes/05-dashboards-and-storytelling.md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margin and revenue-per-repeat figures are assumptions in the code, and Fernhill is synthetic with this effect built in.</a:t>
            </a:r>
          </a:p>
          <a:p/>
          <a:p>
            <a:r>
              <a:t>Source: notes/05-dashboards-and-storytelling.md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notes/05-dashboards-and-storytelling.md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notes/05-dashboards-and-storytelling.md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097280"/>
            <a:ext cx="5120640" cy="5120640"/>
          </a:xfrm>
          <a:prstGeom prst="ellipse">
            <a:avLst/>
          </a:prstGeom>
          <a:solidFill>
            <a:srgbClr val="DC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4023360"/>
            <a:ext cx="4023360" cy="4023360"/>
          </a:xfrm>
          <a:prstGeom prst="ellipse">
            <a:avLst/>
          </a:prstGeom>
          <a:solidFill>
            <a:srgbClr val="F6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937760" cy="13990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200" i="0" b="1">
                <a:solidFill>
                  <a:srgbClr val="FFFFFF"/>
                </a:solidFill>
                <a:latin typeface="Helvetica Neue"/>
              </a:rPr>
              <a:t>Visualisation and Storytelling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42032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i="0" b="0">
                <a:solidFill>
                  <a:srgbClr val="0EA5C9"/>
                </a:solidFill>
                <a:latin typeface="Helvetica Neue"/>
              </a:rPr>
              <a:t>From a chart that is correct to a decision that gets made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66744"/>
            <a:ext cx="4572000" cy="457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86783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i="0" b="0">
                <a:solidFill>
                  <a:srgbClr val="94A3B8"/>
                </a:solidFill>
                <a:latin typeface="Helvetica Neue"/>
              </a:rPr>
              <a:t>Choose it · Draw it · Explore it · Build it · Argue from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822960"/>
            <a:ext cx="5196535" cy="881481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822960"/>
            <a:ext cx="91440" cy="881481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950976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1: Choosing the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264031"/>
            <a:ext cx="4785055" cy="4242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Why plot · The grammar · Encoding accuracy · Two honest lies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905609"/>
            <a:ext cx="5196535" cy="881481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905609"/>
            <a:ext cx="91440" cy="881481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033625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2: Static charts in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346680"/>
            <a:ext cx="4785055" cy="4242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Object model · Declutter · Small multiples · Seaborn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988259"/>
            <a:ext cx="5196535" cy="881481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2988259"/>
            <a:ext cx="91440" cy="881481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116275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3: Interactive charts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429330"/>
            <a:ext cx="4785055" cy="4242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When it earns its cost · Plotly · Export · Linked views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070908"/>
            <a:ext cx="5196535" cy="881481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4070908"/>
            <a:ext cx="91440" cy="881481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198924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4: JavaScript underneath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511979"/>
            <a:ext cx="4785055" cy="4242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Three levels · The data join · One chart three ways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5153558"/>
            <a:ext cx="5196535" cy="881481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5153558"/>
            <a:ext cx="91440" cy="881481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5281574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5: Dashboards and the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594629"/>
            <a:ext cx="4785055" cy="4242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Monitoring · Streamlit and BI tools · The Big Idea · Sizing · 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6355080"/>
            <a:ext cx="5196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100" i="1" b="0">
                <a:solidFill>
                  <a:srgbClr val="94A3B8"/>
                </a:solidFill>
                <a:latin typeface="Helvetica Neue"/>
              </a:rPr>
              <a:t>Notes: data-analytics/05-visualisation-and-storytelling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D4621A"/>
                </a:solidFill>
                <a:latin typeface="Helvetica Neue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859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Choosing the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166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Why plot · The grammar · Encoding accuracy · Two honest lies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2090420"/>
            <a:ext cx="0" cy="267716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2090420"/>
            <a:ext cx="4693615" cy="286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Summary statistics agree. The data does not.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A chart is a set of independent decisions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Change one word and it is a different chart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Choose the chart by the question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Two ways an honest dataset gets misrepresented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i="0" b="1">
                <a:solidFill>
                  <a:srgbClr val="FFFFFF"/>
                </a:solidFill>
                <a:latin typeface="Helvetica Neue"/>
              </a:rPr>
              <a:t>Summary statistics agree. The data does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Choosing the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notes/01-grammar-and-chart-choice.md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Plot before you summarise, because identical statistics can hide completely different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" y="1417320"/>
            <a:ext cx="6261948" cy="20237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z-anscombe-quart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2184"/>
            <a:ext cx="6152220" cy="19140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3523368"/>
            <a:ext cx="61522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Anscombe's quartet, 1973: same means, variances, correlation and fit.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0900" y="1559052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0940" y="1472184"/>
            <a:ext cx="4347834" cy="996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Four datasets with the same summaries and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four different stories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20900" y="2601468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0940" y="2514600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A table of statistics could not have told you.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700" i="0" b="1">
                <a:solidFill>
                  <a:srgbClr val="FFFFFF"/>
                </a:solidFill>
                <a:latin typeface="Helvetica Neue"/>
              </a:rPr>
              <a:t>A chart is a set of independent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The grammar of graphics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Choosing the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notes/01-grammar-and-chart-choice.md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The grammar treats a chart as data, encodings, scales and marks, so you can change one part at a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563624"/>
            <a:ext cx="1834835" cy="1205484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563624"/>
            <a:ext cx="1560515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Data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tidy rows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92619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40675" y="1563624"/>
            <a:ext cx="1834835" cy="1205484"/>
          </a:xfrm>
          <a:prstGeom prst="roundRect">
            <a:avLst>
              <a:gd name="adj" fmla="val 12000"/>
            </a:avLst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7835" y="1563624"/>
            <a:ext cx="1560515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Encoding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field to channel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30374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78430" y="1563624"/>
            <a:ext cx="1834835" cy="1205484"/>
          </a:xfrm>
          <a:prstGeom prst="roundRect">
            <a:avLst>
              <a:gd name="adj" fmla="val 12000"/>
            </a:avLst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5590" y="1563624"/>
            <a:ext cx="1560515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Scale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value to position or colour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68129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16185" y="1563624"/>
            <a:ext cx="1834835" cy="1205484"/>
          </a:xfrm>
          <a:prstGeom prst="roundRect">
            <a:avLst>
              <a:gd name="adj" fmla="val 12000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53345" y="1563624"/>
            <a:ext cx="1560515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Mark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line, bar, point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05884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53940" y="1563624"/>
            <a:ext cx="1834835" cy="1205484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91100" y="1563624"/>
            <a:ext cx="1560515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Facet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repeat per group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180842"/>
            <a:ext cx="101346" cy="10134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089148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1E293B"/>
                </a:solidFill>
                <a:latin typeface="Helvetica Neue"/>
              </a:rPr>
              <a:t>Wilkinson's grammar replaced a menu of chart types with composable parts.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44138"/>
            <a:ext cx="101346" cy="10134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552444"/>
            <a:ext cx="10865815" cy="728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1E293B"/>
                </a:solidFill>
                <a:latin typeface="Helvetica Neue"/>
              </a:rPr>
              <a:t>Wickham's layers made it practical; </a:t>
            </a:r>
            <a:r>
              <a:rPr sz="1900" i="0" b="1">
                <a:solidFill>
                  <a:srgbClr val="1E293B"/>
                </a:solidFill>
                <a:latin typeface="Helvetica Neue"/>
              </a:rPr>
              <a:t>Vega-Lite and Altair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carry it into JSON and Python.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Change one word and it is a different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Choosing 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notes/01-grammar-and-chart-choice.md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In a grammar-based library the mark is one independent choice, so comparing forms costs a single word.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472184"/>
            <a:ext cx="6711513" cy="1904999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81912"/>
            <a:ext cx="625431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83664"/>
            <a:ext cx="6254313" cy="1264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base = alt.Chart(total).encode(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x="month:T", y="repeat_rate:Q")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line = base.mark_line()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bars = base.mark_bar()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dots = base.mark_circle()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0193" y="1604772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233" y="1517904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Same data and encodings,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three marks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0193" y="2345436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233" y="2258568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Altair compiles this to Vega-Lite 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Choose the chart by 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Then check the encoding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Choosing the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notes/01-grammar-and-chart-choice.md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Name the question first, then choose the form whose encoding answers it most accurately.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4" cy="2950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5756"/>
                <a:gridCol w="3355756"/>
                <a:gridCol w="4474342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The question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Reach for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Why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How does it change over time?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Line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Position on a common scale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Which category is biggest?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Sorted bars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Length from a zero baseline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What share is this?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Sorted bars, stacked bar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Length beats angle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How is it distributed?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Histogram, box plot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Shape and outliers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Do two measures move together?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Scatter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Two positions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i="0" b="1">
                <a:solidFill>
                  <a:srgbClr val="FFFFFF"/>
                </a:solidFill>
                <a:latin typeface="Helvetica Neue"/>
              </a:rPr>
              <a:t>Two ways an honest dataset gets misrepresented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Honest data, misleading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Choosing the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notes/01-grammar-and-chart-choice.md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1">
                <a:solidFill>
                  <a:srgbClr val="1E3A5F"/>
                </a:solidFill>
                <a:latin typeface="Helvetica Neue"/>
              </a:rPr>
              <a:t>Dual axes and truncated bars both let a scale choice manufacture the message, so use panels and zero baselines.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Two y-axes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313178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231136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Crossing points come from two arbitrary scales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012694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930652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Change one range and the story changes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427222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345180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Use two panels or index to a common base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Truncated bars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07327" y="2313178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7367" y="2231136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A bar's length is its message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7327" y="2727706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7367" y="2645664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Knaflic's tax-rate example: about </a:t>
            </a:r>
            <a:r>
              <a:rPr sz="1700" i="0" b="1">
                <a:solidFill>
                  <a:srgbClr val="1E293B"/>
                </a:solidFill>
                <a:latin typeface="Helvetica Neue"/>
              </a:rPr>
              <a:t>13%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looks like about </a:t>
            </a:r>
            <a:r>
              <a:rPr sz="1700" i="0" b="1">
                <a:solidFill>
                  <a:srgbClr val="1E293B"/>
                </a:solidFill>
                <a:latin typeface="Helvetica Neue"/>
              </a:rPr>
              <a:t>460%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07327" y="3427222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7367" y="3345180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Bars start at zero; lines may zoom if the axis says 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D4621A"/>
                </a:solidFill>
                <a:latin typeface="Helvetica Neue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859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Static charts in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166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Object model · Declutter · Small multiples · Seaborn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1960880"/>
            <a:ext cx="0" cy="293624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1960880"/>
            <a:ext cx="4693615" cy="311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The default chart is correct and tells you nothing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Remove first, then direct attention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Small multiples show what four tangled lines hid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Put the choices in one place so they cannot drift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Matplotlib draws. Seaborn does the statistics.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i="0" b="1">
                <a:solidFill>
                  <a:srgbClr val="FFFFFF"/>
                </a:solidFill>
                <a:latin typeface="Helvetica Neue"/>
              </a:rPr>
              <a:t>The default chart is correct and tells you nothing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Static charts in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notes/02-matplotlib-and-seaborn.md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Default styling draws the data correctly but leaves every decision about emphasis to the reader.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" y="1417320"/>
            <a:ext cx="6261948" cy="318583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z-matplotlib-default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2184"/>
            <a:ext cx="6152220" cy="30761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4685454"/>
            <a:ext cx="61522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Fernhill's revenue by channel with matplotlib's defaults.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0900" y="1559052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0940" y="1472184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Box, ticks and legend compete with the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20900" y="2299716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0940" y="2212848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The event that matters is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not marked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Remove first, then direct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Declutter in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Static charts in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notes/02-matplotlib-and-seaborn.md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Every element must earn its place, and one shared style module keeps those choices from drifting.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11185855" cy="7150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1601114"/>
            <a:ext cx="457200" cy="457200"/>
          </a:xfrm>
          <a:prstGeom prst="ellipse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60111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1472184"/>
            <a:ext cx="10180015" cy="715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Use the object API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A Figure holds Axes; call methods on ax.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96972"/>
            <a:ext cx="11185855" cy="7150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7512" y="2425903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42590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96972"/>
            <a:ext cx="10180015" cy="715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Remove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Top and right spines, heavy gridlines, tick marks.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21761"/>
            <a:ext cx="11185855" cy="7150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2" y="3250691"/>
            <a:ext cx="457200" cy="457200"/>
          </a:xfrm>
          <a:prstGeom prst="ellipse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25069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121761"/>
            <a:ext cx="10180015" cy="715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Label directly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Name each line at its end, keep a legend for two or more series.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46550"/>
            <a:ext cx="11185855" cy="7150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7512" y="4075480"/>
            <a:ext cx="457200" cy="45720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4075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946550"/>
            <a:ext cx="10180015" cy="715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Mark the event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A thin rule and a short label.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771339"/>
            <a:ext cx="11185855" cy="7150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7512" y="4900269"/>
            <a:ext cx="457200" cy="457200"/>
          </a:xfrm>
          <a:prstGeom prst="ellipse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90026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771339"/>
            <a:ext cx="10180015" cy="715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Set it once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rcParams and a fixed colour per entity.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300" i="0" b="1">
                <a:solidFill>
                  <a:srgbClr val="FFFFFF"/>
                </a:solidFill>
                <a:latin typeface="Helvetica Neue"/>
              </a:rPr>
              <a:t>Small multiples show what four tangled lines hid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Same data, one panel per channel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Static charts in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notes/02-matplotlib-and-seaborn.md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Small multiples separate tangled series while keeping one shared scale, so you can compare across panels.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" y="1417320"/>
            <a:ext cx="6261948" cy="188703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z-small-multiples-repeat-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2184"/>
            <a:ext cx="6152220" cy="17773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3386652"/>
            <a:ext cx="61522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Each channel against the others in grey.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0900" y="1559052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0940" y="1472184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Every channel drops at the same moment.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20900" y="2299716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0940" y="2212848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So it is not only mix.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Hold that thought.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Put the choices in one place so they cannot drift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Static charts in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notes/02-matplotlib-and-seaborn.md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1">
                <a:solidFill>
                  <a:srgbClr val="1E3A5F"/>
                </a:solidFill>
                <a:latin typeface="Helvetica Neue"/>
              </a:rPr>
              <a:t>Set matplotlib's rcParams once in a shared module and draw through ax, so styling stays consistent across charts.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472184"/>
            <a:ext cx="6711513" cy="263652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81912"/>
            <a:ext cx="625431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83664"/>
            <a:ext cx="6254313" cy="19964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plt.rcParams.update({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"axes.spines.top": False,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"axes.spines.right": False,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"axes.grid": True,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"axes.grid.axis": "y",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})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fig, ax = plt.subplots(figsize=(8, 4))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ax.axvline(CUT, color=MUTED, linewidth=1)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0193" y="1604772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233" y="1517904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Most of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chartstyle.py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is one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rcParams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call.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0193" y="2345436"/>
            <a:ext cx="96012" cy="96012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233" y="2258568"/>
            <a:ext cx="3788542" cy="3931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Call methods on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ax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, not on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plt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Matplotlib draws. Seaborn does the statistics.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Static charts in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notes/02-matplotlib-and-seaborn.md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Use seaborn for statistical views from tidy data, then adjust the matplotlib objects it returns.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Matplotlib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13178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231136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You place every element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27706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645664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Full control for final figures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142234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060192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Rich styling through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rcParams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Seaborn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07327" y="2313178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7367" y="2231136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Takes tidy data and column names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07327" y="2727706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7367" y="2645664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Adds grouping, intervals and facets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07327" y="3142234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27367" y="3060192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Returns matplotlib objects to adjust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0F7490"/>
                </a:solidFill>
                <a:latin typeface="Helvetica Neue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859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Interactive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166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When it earns its cost · Plotly · Export · Linked views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2349500"/>
            <a:ext cx="0" cy="215900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2349500"/>
            <a:ext cx="4693615" cy="2341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Who will actually drag that slider?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Match the medium to the reader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A plotly figure is a dictionary until the browser reads it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Export a static copy every time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One rich chart, or several linked views?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Who will actually drag that slider?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Interactive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notes/03-plotly-and-interactive.md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1">
                <a:solidFill>
                  <a:srgbClr val="1E3A5F"/>
                </a:solidFill>
                <a:latin typeface="Helvetica Neue"/>
              </a:rPr>
              <a:t>Interaction should follow the reader's sequence of overview, filter, then detail, and only when they will use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601468"/>
            <a:ext cx="109728" cy="175564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601468"/>
            <a:ext cx="10088575" cy="13898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i="0" b="1">
                <a:solidFill>
                  <a:srgbClr val="1E3A5F"/>
                </a:solidFill>
                <a:latin typeface="Helvetica Neue"/>
              </a:rPr>
              <a:t>Overview first, zoom and filter, then details on demand.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945636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1" b="0">
                <a:solidFill>
                  <a:srgbClr val="475569"/>
                </a:solidFill>
                <a:latin typeface="Helvetica Neue"/>
              </a:rPr>
              <a:t>Shneiderman, The Eyes Have It, 1996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Match the medium to the reader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Interactive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notes/03-plotly-and-interactive.md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If you can state the finding, state it. Use interaction for readers with their own questions.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472184"/>
          <a:ext cx="11185854" cy="2026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5756"/>
                <a:gridCol w="4474342"/>
                <a:gridCol w="3355756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Your reader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Their question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Medium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Executive reading a memo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What should we do?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Static, answer in title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Analyst checking your work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Does it hold in my segment?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Interactive chart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Manager every week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Is my number okay?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Dashboard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Curious public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Where am I in this?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Interactive piece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700" i="0" b="1">
                <a:solidFill>
                  <a:srgbClr val="FFFFFF"/>
                </a:solidFill>
                <a:latin typeface="Helvetica Neue"/>
              </a:rPr>
              <a:t>A plotly figure is a dictionary until the browser reads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Interactive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notes/03-plotly-and-interactive.md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Plotly figures are JSON rendered by plotly.js, so any tooltip field must ship in the page and be templated.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472184"/>
            <a:ext cx="6711513" cy="239268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81912"/>
            <a:ext cx="625431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83664"/>
            <a:ext cx="6254313" cy="17525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fig = px.line(monthly, x="month", y="revenue",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    color="channel",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    custom_data=["sessions", "orders"])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fig.update_traces(hovertemplate=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"%{x|%b %Y}&lt;br&gt;&lt;b&gt;£%{y:,.0f}&lt;/b&gt;&lt;br&gt;"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"%{customdata[0]:,} sessions"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"&lt;extra&gt;%{fullData.name}&lt;/extra&gt;")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0193" y="1604772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233" y="1517904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Python writes JSON;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plotly.js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renders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0193" y="2345436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233" y="2258568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Default hover leaks column names, so write a template.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Export a static copy every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Hover cannot be printed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Interactive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notes/03-plotly-and-interactive.md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Ship inline HTML for email, CDN HTML for hosted pages, and always a static copy because hover cannot print.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" y="1417320"/>
            <a:ext cx="6261948" cy="318583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z-plotly-revenue-by-channel-70866337326832805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2184"/>
            <a:ext cx="6152220" cy="30761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4685454"/>
            <a:ext cx="61522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The same figure as a PNG. Inline HTML 4.7 MB, CDN 10 KB in this 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0900" y="1559052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0940" y="1472184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Inline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for email,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CDN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for hosted pages.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20900" y="2299716"/>
            <a:ext cx="96012" cy="9601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0940" y="2212848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Hover fails on phones and in print, so keep a table.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One rich chart, or several linked views?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Interactive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notes/03-plotly-and-interactive.md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Use plotly for one rich chart and Altair for linked views, since its selections are part of the grammar.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Plotly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13178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231136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Rich single charts with hover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27706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645664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Dropdowns flip trace visibility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142234"/>
            <a:ext cx="90678" cy="9067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060192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All data ships in the HTML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Altair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07327" y="2313178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7367" y="2231136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A selection is a declared parameter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07327" y="2727706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7367" y="2645664"/>
            <a:ext cx="4587087" cy="661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30" i="0" b="0">
                <a:solidFill>
                  <a:srgbClr val="0F7490"/>
                </a:solidFill>
                <a:latin typeface="Menlo"/>
              </a:rPr>
              <a:t>scale=alt.Scale(domain=brush)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links views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07327" y="3427222"/>
            <a:ext cx="90678" cy="9067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27367" y="3345180"/>
            <a:ext cx="4587087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0">
                <a:solidFill>
                  <a:srgbClr val="1E293B"/>
                </a:solidFill>
                <a:latin typeface="Helvetica Neue"/>
              </a:rPr>
              <a:t>Raises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MaxRowsError</a:t>
            </a:r>
            <a:r>
              <a:rPr sz="1700" i="0" b="0">
                <a:solidFill>
                  <a:srgbClr val="1E293B"/>
                </a:solidFill>
                <a:latin typeface="Helvetica Neue"/>
              </a:rPr>
              <a:t> above 5,000 rows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0EA5C9"/>
                </a:solidFill>
                <a:latin typeface="Helvetica Neue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859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JavaScript underneath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166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Three levels · The data join · One chart three ways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2090420"/>
            <a:ext cx="0" cy="267716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2090420"/>
            <a:ext cx="4693615" cy="286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happens when no library has your chart?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Three levels, and each one decides more for you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The data join is the idea that makes D3 D3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The same chart, written by hand in D3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Climb down the ladder only when you must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i="0" b="1">
                <a:solidFill>
                  <a:srgbClr val="FFFFFF"/>
                </a:solidFill>
                <a:latin typeface="Helvetica Neue"/>
              </a:rPr>
              <a:t>What happens when no library has your chart?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JavaScript underneath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notes/04-javascript-d3-vega-lite-observable-plot.md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1">
                <a:solidFill>
                  <a:srgbClr val="1E3A5F"/>
                </a:solidFill>
                <a:latin typeface="Helvetica Neue"/>
              </a:rPr>
              <a:t>D3 is a toolkit for binding data to the document, so the chart is yours to assemble rather than a function to call.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99716"/>
            <a:ext cx="109728" cy="235915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299716"/>
            <a:ext cx="10088575" cy="1993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i="0" b="1">
                <a:solidFill>
                  <a:srgbClr val="1E3A5F"/>
                </a:solidFill>
                <a:latin typeface="Helvetica Neue"/>
              </a:rPr>
              <a:t>D3 has no barChart(). It binds data to document elements and gives you the geometry.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247388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1" b="0">
                <a:solidFill>
                  <a:srgbClr val="475569"/>
                </a:solidFill>
                <a:latin typeface="Helvetica Neue"/>
              </a:rPr>
              <a:t>Bostock, Ogievetsky and Heer, IEEE TVCG 2011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Three levels, and each one decides more for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JavaScript underneath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notes/04-javascript-d3-vega-lite-observable-plot.md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D3, Vega-Lite and Plot sit at different levels of abstraction, and Altair is a Python route to Vega-Lite.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26767" y="1563624"/>
            <a:ext cx="2377440" cy="987552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63927" y="1563624"/>
            <a:ext cx="21031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D3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scales, joins, shapes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59071" y="2057400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907127" y="1563624"/>
            <a:ext cx="2377440" cy="987552"/>
          </a:xfrm>
          <a:prstGeom prst="roundRect">
            <a:avLst>
              <a:gd name="adj" fmla="val 12000"/>
            </a:avLst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4287" y="1563624"/>
            <a:ext cx="21031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Vega-Lite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a JSON grammar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39431" y="2057400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87487" y="1563624"/>
            <a:ext cx="2377440" cy="987552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4647" y="1563624"/>
            <a:ext cx="210312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Observable Plot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marks and 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871216"/>
            <a:ext cx="11185855" cy="2615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0">
                <a:solidFill>
                  <a:srgbClr val="475569"/>
                </a:solidFill>
                <a:latin typeface="Helvetica Neue"/>
              </a:rPr>
              <a:t>All three render to SVG or Canvas in the browser. Altair generates Vega-Lite.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data join is the idea that makes D3 D3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JavaScript underneath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notes/04-javascript-d3-vega-lite-observable-plot.md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The D3 data join makes page elements match a list of data, creating and removing them as the data changes.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472184"/>
            <a:ext cx="6711513" cy="1904999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81912"/>
            <a:ext cx="625431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83664"/>
            <a:ext cx="6254313" cy="1264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svg.selectAll("path")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.data(series)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.join("path")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.attr("stroke", (d) =&gt; colour(d.key))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.attr("d", (d) =&gt; line(d.values));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0193" y="1604772"/>
            <a:ext cx="96012" cy="9601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233" y="1517904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Make the elements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match the list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0193" y="2345436"/>
            <a:ext cx="96012" cy="9601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233" y="2258568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Needed ones are created, extras removed.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The same chart, written by hand in D3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67 lines of chart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JavaScript underneath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notes/04-javascript-d3-vega-lite-observable-plot.md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With D3 every element is your code, including large invisible hover targets that thin lines cannot provide.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" y="1417320"/>
            <a:ext cx="6261948" cy="3529337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z-js-d3-repeat-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2184"/>
            <a:ext cx="6152220" cy="34196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5028953"/>
            <a:ext cx="61522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Rendered in Node with jsdom and resvg. The same module runs in a browser.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0900" y="1559052"/>
            <a:ext cx="96012" cy="9601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0940" y="1472184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Scales, axes, labels and legend are all your code.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20900" y="2299716"/>
            <a:ext cx="96012" cy="9601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0940" y="2212848"/>
            <a:ext cx="4347834" cy="3931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Hover uses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large invisible targets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Climb down the ladder only when you must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4 · JavaScript underneath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notes/04-javascript-d3-vega-lite-observable-plot.md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1">
                <a:solidFill>
                  <a:srgbClr val="1E3A5F"/>
                </a:solidFill>
                <a:latin typeface="Helvetica Neue"/>
              </a:rPr>
              <a:t>Use Altair or plotly while you can, Vega-Lite for embedded specs, Plot for speed, and D3 when design justifies it.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472184"/>
          <a:ext cx="11185852" cy="2026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3791"/>
                <a:gridCol w="3050687"/>
                <a:gridCol w="3050687"/>
                <a:gridCol w="3050687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D3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Vega-Lite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Plot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This chart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67 lines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33 lines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24 lines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You describe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Elements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A JSON spec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Marks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Good at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New forms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Portable specs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Fast exploration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Fights you on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Time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Pixel placement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Bespoke interaction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0EA5C9"/>
                </a:solidFill>
                <a:latin typeface="Helvetica Neue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859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Dashboards and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166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Monitoring · Streamlit and BI tools · The Big Idea · Sizing · Story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1626235"/>
            <a:ext cx="0" cy="360553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1626235"/>
            <a:ext cx="4693615" cy="3788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Fernhill's revenue tile was green the whole time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A Streamlit dashboard is a script that reruns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Ask who will change it in six months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Write the sentence before you open a slide tool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One line, one event, and the answer as the title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Say the size, the assumptions, and what you do not 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300" i="0" b="1">
                <a:solidFill>
                  <a:srgbClr val="FFFFFF"/>
                </a:solidFill>
                <a:latin typeface="Helvetica Neue"/>
              </a:rPr>
              <a:t>Fernhill's revenue tile was green the whole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5 · Dashboards and the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notes/05-dashboards-and-storytelling.md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Pair a growth metric with a health metric, because anything you can raise by spending looks fine alone.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9900" y="1417320"/>
            <a:ext cx="5798258" cy="3712463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z-streamli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64" y="1472184"/>
            <a:ext cx="5688530" cy="36027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5212080"/>
            <a:ext cx="61522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The rebuilt dashboard, with revenue beside repeat rate.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0900" y="1559052"/>
            <a:ext cx="96012" cy="96012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0940" y="1472184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Revenue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+6.5%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; repeat rate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-11.3 pts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20900" y="2299716"/>
            <a:ext cx="96012" cy="96012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0940" y="2212848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Anything you can push by spending needs a partner metric.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A Streamlit dashboard is a script that reruns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5 · Dashboards and the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notes/05-dashboards-and-storytelling.md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1">
                <a:solidFill>
                  <a:srgbClr val="1E3A5F"/>
                </a:solidFill>
                <a:latin typeface="Helvetica Neue"/>
              </a:rPr>
              <a:t>Streamlit reruns the whole script on every widget change, so widgets are plain values and caching is essential.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472184"/>
            <a:ext cx="6711513" cy="288036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81912"/>
            <a:ext cx="625431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83664"/>
            <a:ext cx="6254313" cy="22402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@st.cache_data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def load(): ...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data = load()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chosen = st.multiselect("Channel", names, default=names)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view = data[data.channel.isin(chosen)]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st.metric("Revenue", f"£{view.revenue.sum() / 1e6:.2f}m")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0193" y="1604772"/>
            <a:ext cx="96012" cy="96012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233" y="1517904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Each click reruns the script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top to bottom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0193" y="2345436"/>
            <a:ext cx="96012" cy="96012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233" y="2258568"/>
            <a:ext cx="3788542" cy="3931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Cache the expensive work.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193" y="2784348"/>
            <a:ext cx="96012" cy="96012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0233" y="2697480"/>
            <a:ext cx="3788542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20" i="0" b="0">
                <a:solidFill>
                  <a:srgbClr val="0F7490"/>
                </a:solidFill>
                <a:latin typeface="Menlo"/>
              </a:rPr>
              <a:t>AppTest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 tests it with no browser.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Ask who will change it in six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5 · Dashboards and the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notes/05-dashboards-and-storytelling.md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1">
                <a:solidFill>
                  <a:srgbClr val="1E3A5F"/>
                </a:solidFill>
                <a:latin typeface="Helvetica Neue"/>
              </a:rPr>
              <a:t>Pick the dashboard tool by who maintains it, because a Streamlit app owned by non-coders becomes a ticket queue.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472184"/>
            <a:ext cx="3545738" cy="27492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82296" cy="274929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087880"/>
            <a:ext cx="3042818" cy="1950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475569"/>
                </a:solidFill>
                <a:latin typeface="Helvetica Neue"/>
              </a:rPr>
              <a:t>Python in git, with code review and tests. For bespoke tools maintained by people who write Python.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2978" y="1472184"/>
            <a:ext cx="3545738" cy="27492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2978" y="1472184"/>
            <a:ext cx="82296" cy="27492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7298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Metabase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7298" y="2087880"/>
            <a:ext cx="3042818" cy="1950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475569"/>
                </a:solidFill>
                <a:latin typeface="Helvetica Neue"/>
              </a:rPr>
              <a:t>Open source or cloud. SQL with parameters and point-and-click questions, for standard reporting.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43036" y="1472184"/>
            <a:ext cx="3545738" cy="27492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43036" y="1472184"/>
            <a:ext cx="82296" cy="274929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7356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Looker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7356" y="2087880"/>
            <a:ext cx="3042818" cy="1950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475569"/>
                </a:solidFill>
                <a:latin typeface="Helvetica Neue"/>
              </a:rPr>
              <a:t>Free and hosted by Google. A browser canvas for quick reports on Google data; not the same as Looker.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300" i="0" b="1">
                <a:solidFill>
                  <a:srgbClr val="FFFFFF"/>
                </a:solidFill>
                <a:latin typeface="Helvetica Neue"/>
              </a:rPr>
              <a:t>Write the sentence before you open a slide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Who, what, how, then the Big Idea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5 · Dashboards and the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notes/05-dashboards-and-storytelling.md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1">
                <a:solidFill>
                  <a:srgbClr val="1E3A5F"/>
                </a:solidFill>
                <a:latin typeface="Helvetica Neue"/>
              </a:rPr>
              <a:t>The Big Idea is one complete sentence with your point of view and the stakes, and writing it exposes what you do not know.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1997964"/>
            <a:ext cx="109728" cy="2962656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997964"/>
            <a:ext cx="10088575" cy="2596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i="0" b="1">
                <a:solidFill>
                  <a:srgbClr val="1E3A5F"/>
                </a:solidFill>
                <a:latin typeface="Helvetica Neue"/>
              </a:rPr>
              <a:t>Cutting the email budget saved £120k a year and has cost us several times that in margin, so we should restore it and test the effect with a holdout.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54914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1" b="0">
                <a:solidFill>
                  <a:srgbClr val="475569"/>
                </a:solidFill>
                <a:latin typeface="Helvetica Neue"/>
              </a:rPr>
              <a:t>A Big Idea: point of view, what is at stake, one complete sentence (Duarte, via Knaflic)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300" i="0" b="1">
                <a:solidFill>
                  <a:srgbClr val="FFFFFF"/>
                </a:solidFill>
                <a:latin typeface="Helvetica Neue"/>
              </a:rPr>
              <a:t>One line, one event, and the answer as the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The explanatory 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5 · Dashboards and the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notes/05-dashboards-and-storytelling.md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An explanatory chart keeps one series, marks the event, and states the finding in the title.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" y="1417320"/>
            <a:ext cx="6261948" cy="3339643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z-story-explanatory-repeat-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2184"/>
            <a:ext cx="6152220" cy="32299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4839259"/>
            <a:ext cx="61522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1" b="0">
                <a:solidFill>
                  <a:srgbClr val="94A3B8"/>
                </a:solidFill>
                <a:latin typeface="Helvetica Neue"/>
              </a:rPr>
              <a:t>From four channels to the single message.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0900" y="1559052"/>
            <a:ext cx="96012" cy="96012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0940" y="1472184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Mix explains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4.3 pts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; within channels </a:t>
            </a:r>
            <a:r>
              <a:rPr sz="1800" i="0" b="1">
                <a:solidFill>
                  <a:srgbClr val="1E293B"/>
                </a:solidFill>
                <a:latin typeface="Helvetica Neue"/>
              </a:rPr>
              <a:t>7.1 pts</a:t>
            </a:r>
            <a:r>
              <a:rPr sz="1800" i="0" b="0">
                <a:solidFill>
                  <a:srgbClr val="1E293B"/>
                </a:solidFill>
                <a:latin typeface="Helvetica Neue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20900" y="2299716"/>
            <a:ext cx="96012" cy="96012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0940" y="2212848"/>
            <a:ext cx="4347834" cy="694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1E293B"/>
                </a:solidFill>
                <a:latin typeface="Helvetica Neue"/>
              </a:rPr>
              <a:t>The title states the finding as a sentence.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FFFFFF"/>
                </a:solidFill>
                <a:latin typeface="Helvetica Neue"/>
              </a:rPr>
              <a:t>Say the size, the assumptions, and what you do not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Worked sizing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5 · Dashboards and the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notes/05-dashboards-and-storytelling.md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Report the break-even as well as the estimate, so the reader can see the decision survives its assumptions.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658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74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£120k saved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budget, per year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889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6694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410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about £547k lost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margin at 40%, assumed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9925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4730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446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8.8%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break-even margin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961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2766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Holdout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before and after is not cause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180842"/>
            <a:ext cx="101346" cy="101346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089148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1E293B"/>
                </a:solidFill>
                <a:latin typeface="Helvetica Neue"/>
              </a:rPr>
              <a:t>Conclusion survives any plausible margin, so the assumption is safe to state.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644138"/>
            <a:ext cx="101346" cy="101346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552444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Paid social is a separate question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and this data does not settle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Rules of thumb for visualisation and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notes/05-dashboards-and-storytelling.md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Name the question, show it honestly, remove the clutter, and state the decision you want in one sentence.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472184"/>
            <a:ext cx="3545738" cy="17769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82296" cy="1776984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087880"/>
            <a:ext cx="3042818" cy="978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0">
                <a:solidFill>
                  <a:srgbClr val="475569"/>
                </a:solidFill>
                <a:latin typeface="Helvetica Neue"/>
              </a:rPr>
              <a:t>Name the question, then pick the encoding. Position beats length, which beats angle and area.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2978" y="1472184"/>
            <a:ext cx="3545738" cy="17769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2978" y="1472184"/>
            <a:ext cx="82296" cy="17769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7298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Honesty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7298" y="2087880"/>
            <a:ext cx="3042818" cy="978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0">
                <a:solidFill>
                  <a:srgbClr val="475569"/>
                </a:solidFill>
                <a:latin typeface="Helvetica Neue"/>
              </a:rPr>
              <a:t>Bars start at zero. Never use two y-axes. Show the window you have.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43036" y="1472184"/>
            <a:ext cx="3545738" cy="17769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43036" y="1472184"/>
            <a:ext cx="82296" cy="1776984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7356" y="1655064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Style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7356" y="2087880"/>
            <a:ext cx="3042818" cy="978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0">
                <a:solidFill>
                  <a:srgbClr val="475569"/>
                </a:solidFill>
                <a:latin typeface="Helvetica Neue"/>
              </a:rPr>
              <a:t>Remove, then emphasise. Label directly. Colour by job, and validate the palette.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523488"/>
            <a:ext cx="3545738" cy="17769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523488"/>
            <a:ext cx="82296" cy="1776984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706368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Interaction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139183"/>
            <a:ext cx="3042818" cy="9784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0">
                <a:solidFill>
                  <a:srgbClr val="475569"/>
                </a:solidFill>
                <a:latin typeface="Helvetica Neue"/>
              </a:rPr>
              <a:t>Essential things stay visible without hover. Export a static copy.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2978" y="3523488"/>
            <a:ext cx="3545738" cy="17769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22978" y="3523488"/>
            <a:ext cx="82296" cy="1776984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7298" y="3706368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Dashboards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7298" y="4139183"/>
            <a:ext cx="3042818" cy="9784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0">
                <a:solidFill>
                  <a:srgbClr val="475569"/>
                </a:solidFill>
                <a:latin typeface="Helvetica Neue"/>
              </a:rPr>
              <a:t>Name the decision. Give numbers a comparison and growth a partner metric.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43036" y="3523488"/>
            <a:ext cx="3545738" cy="17769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43036" y="3523488"/>
            <a:ext cx="82296" cy="1776984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7356" y="3706368"/>
            <a:ext cx="3088538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7356" y="4139183"/>
            <a:ext cx="3042818" cy="9784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0">
                <a:solidFill>
                  <a:srgbClr val="475569"/>
                </a:solidFill>
                <a:latin typeface="Helvetica Neue"/>
              </a:rPr>
              <a:t>Write the sentence first. Titles state findings. Propose the test.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Where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notes/05-dashboards-and-storytelling.md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Next, use these charts on six worked analyses in the applied-analyses pillar.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68704"/>
            <a:ext cx="106680" cy="106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472184"/>
            <a:ext cx="10865815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1E293B"/>
                </a:solidFill>
                <a:latin typeface="Helvetica Neue"/>
              </a:rPr>
              <a:t>Applied analyses: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six worked business questions using these charts.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56384"/>
            <a:ext cx="106680" cy="106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959864"/>
            <a:ext cx="10865815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1E293B"/>
                </a:solidFill>
                <a:latin typeface="Helvetica Neue"/>
              </a:rPr>
              <a:t>Practice: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rebuild the Fernhill charts in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practice/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, then change the question.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44064"/>
            <a:ext cx="106680" cy="106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447544"/>
            <a:ext cx="10865815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1E293B"/>
                </a:solidFill>
                <a:latin typeface="Helvetica Neue"/>
              </a:rPr>
              <a:t>Read next: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Knaflic for explanatory work, Wilke for chart choice, Munzner for the theory.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