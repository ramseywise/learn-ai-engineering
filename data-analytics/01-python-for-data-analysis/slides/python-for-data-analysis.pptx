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meet pandas from the start. We follow one small online shop that sells kettles, grinders, filters and scales. Its data arrives as a messy export, and by the end we can load it, clean it, join it, summarise it and plot it. The theme is that the dangerous errors here do not raise exceptions. They produce a clean number that is wrong.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the data structure, and then with the file we actually receive. By the end of this part we have 11 clean orders, and we can account for every row we removed.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shop's first orders fit in a list of dictionaries, and computing revenue means writing a loop for every question. With a frame, the same question is one line that says what it means. That saving is why pandas exists. But the deeper idea is the one on this slide: labels are not decoration. Let's see what they do.</a:t>
            </a:r>
          </a:p>
          <a:p/>
          <a:p>
            <a:r>
              <a:t>Source: notes/01-series-and-dataframe.md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weeks of units sold, with products in different orders and not quite the same products. Filter meets filter, kettle meets kettle. Grinder has no partner, so the result is NaN, because pandas will not pretend it knows what two plus nothing is. The same numbers as bare arrays give 29, 36 and 7, which is meaningless, and nothing warns you.</a:t>
            </a:r>
          </a:p>
          <a:p/>
          <a:p>
            <a:r>
              <a:t>Source: notes/01-series-and-dataframe.md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habit that pays for the whole chapter. Dtypes deserve special care because they decide what an operation means. And a column of whole numbers printing as floats is the classic sign of a missing value, because NaN is a float.</a:t>
            </a:r>
          </a:p>
          <a:p/>
          <a:p>
            <a:r>
              <a:t>Source: notes/01-series-and-dataframe.md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older material will actively mislead you. The first form selects, then assigns onto a temporary that is thrown away, and pandas warns about it. The second makes the selection and the assignment in one call, so it reaches the frame.</a:t>
            </a:r>
          </a:p>
          <a:p/>
          <a:p>
            <a:r>
              <a:t>Source: notes/01-series-and-dataframe.md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export has a comment line, Ana and ana, a filter with a trailing space, a dollar sign in the price, a duplicated order and a negative quantity. None of this is exotic. Each fix goes into one function that prints how many rows it loaded and kept. If you edit the file by hand, nobody can rerun your work, including you next month.</a:t>
            </a:r>
          </a:p>
          <a:p/>
          <a:p>
            <a:r>
              <a:t>Source: notes/02-loading-and-cleaning.md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Filling with the mean shrinks the variance and can invent values that are impossible. So ask why each gap exists. And when you coerce, count: errors equal to coerce turns every failure into NaN without a word.</a:t>
            </a:r>
          </a:p>
          <a:p/>
          <a:p>
            <a:r>
              <a:t>Source: notes/02-loading-and-cleaning.md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have a clean frame. This part is about asking for exactly the rows you mean, and bringing in other tables without changing the answer by accident.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 fresh default index, labels and positions happen to match, which teaches a bad habit. The first filter breaks it. Everything in this chapter follows from keeping those two ideas apart.</a:t>
            </a:r>
          </a:p>
          <a:p/>
          <a:p>
            <a:r>
              <a:t>Source: notes/03-indexing-and-selection.md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 1 is the second row, whose label happens to be 3. Label 0 no longer exists, since order 1001 was a kettle. One more trap: a slice with loc includes its end, so loc zero to two has three rows, while iloc zero to two has two.</a:t>
            </a:r>
          </a:p>
          <a:p/>
          <a:p>
            <a:r>
              <a:t>Source: notes/03-indexing-and-selection.md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Masks combine with an ampersand and a pipe, with parentheses around each condition, because the words and and or do not work element by element. The sum of a mask counts the matching rows, and its mean is the share.</a:t>
            </a:r>
          </a:p>
          <a:p/>
          <a:p>
            <a:r>
              <a:t>Source: notes/03-indexing-and-selection.md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expensive mistake in the chapter. Ana has two orders and two promotions, so four rows. Ben has three orders and two promotions, so six. Revenue goes up because rows were duplicated, and nothing raised an error.</a:t>
            </a:r>
          </a:p>
          <a:p/>
          <a:p>
            <a:r>
              <a:t>Source: notes/04-reshaping-and-joins.md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checks apply to any SQL you write later. With them in place, joining orders to customers and products answers a question no single table could. Brew gear brings the most margin at 142.0, but consumables keep about 62 of every 100 in revenue.</a:t>
            </a:r>
          </a:p>
          <a:p/>
          <a:p>
            <a:r>
              <a:t>Source: notes/04-reshaping-and-joins.md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Wickham's tidy data gives us the vocabulary. Before any aggregation, ask what one row means. Use plain pivot only when keys are unique, since it raises an error on repeats, and pivot_table otherwise.</a:t>
            </a:r>
          </a:p>
          <a:p/>
          <a:p>
            <a:r>
              <a:t>Source: notes/04-reshaping-and-joins.md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Groupby answers most analyst questions. It is also where a confident wrong number most often enters a report.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looks like a simple question, and it has a tempting wrong answer. We get to it after the model that makes groupby simple.</a:t>
            </a:r>
          </a:p>
          <a:p/>
          <a:p>
            <a:r>
              <a:t>Source: notes/05-groupby-and-aggregation.md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Wickham gave this pattern its name. Think about what comes out of each piece, because that picks the method.</a:t>
            </a:r>
          </a:p>
          <a:p/>
          <a:p>
            <a:r>
              <a:t>Source: notes/05-groupby-and-aggregation.md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Agg shrinks. Transform keeps the shape, which is why it's the tool for adding a group statistic as a new column. Reach for apply last. It is the most flexible and the slowest.</a:t>
            </a:r>
          </a:p>
          <a:p/>
          <a:p>
            <a:r>
              <a:t>Source: notes/05-groupby-and-aggregation.md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East has a small filter order at about 62 percent and a large grinder order at about 37. Averaging gives 0.492, while the shop kept 43 of 108, or 0.398. The ranking changes too: east beats north on the mean of rates and loses on the true rate. The same trap applies to conversion rate and to cost per click.</a:t>
            </a:r>
          </a:p>
          <a:p/>
          <a:p>
            <a:r>
              <a:t>Source: notes/05-groupby-and-aggregation.md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Named aggregation gives you readable columns. Missing keys are the other silent loss here: a row with no region drops out of a groupby, so the groups no longer add up to the total. Size and count also differ when a column has gaps.</a:t>
            </a:r>
          </a:p>
          <a:p/>
          <a:p>
            <a:r>
              <a:t>Source: notes/05-groupby-and-aggregation.md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shop now has a full synthetic year of daily revenue. Time looks like one more grouping key, but it has its own rules.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did we do last month sounds like a groupby, and it nearly is. But rows have order, months differ, a label can sit at either end of a period, and an outage leaves no row at all. Here the line breaks in March for two lost days, because we made gaps visible.</a:t>
            </a:r>
          </a:p>
          <a:p/>
          <a:p>
            <a:r>
              <a:t>Source: notes/06-time-series.md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code from older books breaks most often. The reason is a real ambiguity: ME says month end, as distinct from MS for month start. Datetimes also now default to microsecond resolution, so an integer conversion gives numbers a thousand times smaller than old code expected.</a:t>
            </a:r>
          </a:p>
          <a:p/>
          <a:p>
            <a:r>
              <a:t>Source: notes/06-time-series.md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Asfreq makes the outage visible. Then resample gives a table per month, and count exposes that March has only 29 observations. A bin is an interval. For month-end bins, pandas defaults to closing and labelling on the right. For five-minute bins, on the left. Choose on purpose where it matters.</a:t>
            </a:r>
          </a:p>
          <a:p/>
          <a:p>
            <a:r>
              <a:t>Source: notes/06-time-series.md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centred average starts rising on November 29, days before anything happened, because it reads from the future. That is fine for a chart. For a forecast it looks brilliant in testing and can't exist in production.</a:t>
            </a:r>
          </a:p>
          <a:p/>
          <a:p>
            <a:r>
              <a:t>Source: notes/06-time-series.md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Daily change on this data mostly measures the weekly pattern, since Saturday beats Tuesday every week. Shift by seven and what remains is mostly noise. And the zone changes the answer to which day a sale happened on, even which month.</a:t>
            </a:r>
          </a:p>
          <a:p/>
          <a:p>
            <a:r>
              <a:t>Source: notes/06-time-series.md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Plots are how you find out what's wrong with your data and what's interesting. Here the reader is you. Persuading others is pillar 05.</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mean sits above the median at 507 against 477, the same fact in numbers. Charts have choices in them, and the first skill is noticing that you made one.</a:t>
            </a:r>
          </a:p>
          <a:p/>
          <a:p>
            <a:r>
              <a:t>Source: notes/07-plotting.md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Nearly every Python plot is matplotlib underneath, so these two objects explain most plotting confusion. Pandas plot methods take ax, so you can place them. Implicit plotting stops being obvious as soon as you have two plots.</a:t>
            </a:r>
          </a:p>
          <a:p/>
          <a:p>
            <a:r>
              <a:t>Source: notes/07-plotting.md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Rather than four lines on one plot, draw one plot four times. Axes-level functions such as boxplot draw on an Axes you give them. Figure-level functions such as catplot build their own figure so they can lay out facets. This is the chart for when a single plot has turned into spaghetti.</a:t>
            </a:r>
          </a:p>
          <a:p/>
          <a:p>
            <a:r>
              <a:t>Source: notes/07-plotting.md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omissions are on purpose. Pie charts use angle, and Cleveland and McGill found people judge position and length more accurately. And two y axes imply a relationship set by whichever scales you chose, so draw two panels instead. Pillar 05 returns to both.</a:t>
            </a:r>
          </a:p>
          <a:p/>
          <a:p>
            <a:r>
              <a:t>Source: notes/07-plotting.md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thing, it's that none of today's worst errors raise an exception. The row counts and totals are how you catch them.</a:t>
            </a:r>
          </a:p>
          <a:p/>
          <a:p>
            <a:r>
              <a:t>Source: notes/07-plotting.md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now get data into a frame, clean it, reshape it, summarise it and see it. What it can't yet tell you is whether a difference is real or luck. That's next.</a:t>
            </a:r>
          </a:p>
          <a:p/>
          <a:p>
            <a:r>
              <a:t>Source: notes/07-plotting.md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Oval 1"/>
          <p:cNvSpPr/>
          <p:nvPr/>
        </p:nvSpPr>
        <p:spPr>
          <a:xfrm>
            <a:off x="7498079" y="-1097280"/>
            <a:ext cx="5120640" cy="5120640"/>
          </a:xfrm>
          <a:prstGeom prst="ellipse">
            <a:avLst/>
          </a:prstGeom>
          <a:solidFill>
            <a:srgbClr val="D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78240" y="4023360"/>
            <a:ext cx="4023360" cy="4023360"/>
          </a:xfrm>
          <a:prstGeom prst="ellipse">
            <a:avLst/>
          </a:prstGeom>
          <a:solidFill>
            <a:srgbClr val="F6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852160"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4937760" cy="1688591"/>
          </a:xfrm>
          <a:prstGeom prst="rect">
            <a:avLst/>
          </a:prstGeom>
          <a:noFill/>
        </p:spPr>
        <p:txBody>
          <a:bodyPr wrap="square" lIns="0" rIns="0" tIns="0" bIns="0" anchor="t">
            <a:noAutofit/>
          </a:bodyPr>
          <a:lstStyle/>
          <a:p>
            <a:pPr algn="l">
              <a:lnSpc>
                <a:spcPct val="95000"/>
              </a:lnSpc>
            </a:pPr>
            <a:r>
              <a:rPr sz="5200" i="0" b="1">
                <a:solidFill>
                  <a:srgbClr val="FFFFFF"/>
                </a:solidFill>
                <a:latin typeface="Helvetica Neue"/>
              </a:rPr>
              <a:t>Python for Data Analysis</a:t>
            </a:r>
          </a:p>
        </p:txBody>
      </p:sp>
      <p:sp>
        <p:nvSpPr>
          <p:cNvPr id="7" name="TextBox 6"/>
          <p:cNvSpPr txBox="1"/>
          <p:nvPr/>
        </p:nvSpPr>
        <p:spPr>
          <a:xfrm>
            <a:off x="548640" y="2831592"/>
            <a:ext cx="4937760" cy="896112"/>
          </a:xfrm>
          <a:prstGeom prst="rect">
            <a:avLst/>
          </a:prstGeom>
          <a:noFill/>
        </p:spPr>
        <p:txBody>
          <a:bodyPr wrap="square" lIns="0" rIns="0" tIns="0" bIns="0" anchor="t">
            <a:noAutofit/>
          </a:bodyPr>
          <a:lstStyle/>
          <a:p>
            <a:pPr algn="l">
              <a:lnSpc>
                <a:spcPct val="110000"/>
              </a:lnSpc>
            </a:pPr>
            <a:r>
              <a:rPr sz="2400" i="0" b="0">
                <a:solidFill>
                  <a:srgbClr val="0EA5C9"/>
                </a:solidFill>
                <a:latin typeface="Helvetica Neue"/>
              </a:rPr>
              <a:t>From a messy export to a chart you can trust</a:t>
            </a:r>
          </a:p>
        </p:txBody>
      </p:sp>
      <p:sp>
        <p:nvSpPr>
          <p:cNvPr id="8" name="Rectangle 7"/>
          <p:cNvSpPr/>
          <p:nvPr/>
        </p:nvSpPr>
        <p:spPr>
          <a:xfrm>
            <a:off x="548640" y="3956303"/>
            <a:ext cx="4572000" cy="457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276343"/>
            <a:ext cx="4937760" cy="1463040"/>
          </a:xfrm>
          <a:prstGeom prst="rect">
            <a:avLst/>
          </a:prstGeom>
          <a:noFill/>
        </p:spPr>
        <p:txBody>
          <a:bodyPr wrap="square" lIns="0" rIns="0" tIns="0" bIns="0" anchor="t">
            <a:noAutofit/>
          </a:bodyPr>
          <a:lstStyle/>
          <a:p>
            <a:pPr algn="l">
              <a:lnSpc>
                <a:spcPct val="125000"/>
              </a:lnSpc>
            </a:pPr>
            <a:r>
              <a:rPr sz="1500" i="0" b="0">
                <a:solidFill>
                  <a:srgbClr val="94A3B8"/>
                </a:solidFill>
                <a:latin typeface="Helvetica Neue"/>
              </a:rPr>
              <a:t>Load it · Select and join it · Summarise it · Respect time · See it</a:t>
            </a:r>
          </a:p>
        </p:txBody>
      </p:sp>
      <p:sp>
        <p:nvSpPr>
          <p:cNvPr id="10" name="Rectangle 9"/>
          <p:cNvSpPr/>
          <p:nvPr/>
        </p:nvSpPr>
        <p:spPr>
          <a:xfrm>
            <a:off x="6492240" y="822960"/>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0" y="822960"/>
            <a:ext cx="91440" cy="881481"/>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950976"/>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1: Getting a table you can trust</a:t>
            </a:r>
          </a:p>
        </p:txBody>
      </p:sp>
      <p:sp>
        <p:nvSpPr>
          <p:cNvPr id="13" name="TextBox 12"/>
          <p:cNvSpPr txBox="1"/>
          <p:nvPr/>
        </p:nvSpPr>
        <p:spPr>
          <a:xfrm>
            <a:off x="6766560" y="1264031"/>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Why a DataFrame · Alignment · Dtypes · Copy-on-Write · Cleaning in one function</a:t>
            </a:r>
          </a:p>
        </p:txBody>
      </p:sp>
      <p:sp>
        <p:nvSpPr>
          <p:cNvPr id="14" name="Rectangle 13"/>
          <p:cNvSpPr/>
          <p:nvPr/>
        </p:nvSpPr>
        <p:spPr>
          <a:xfrm>
            <a:off x="6492240" y="1905609"/>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92240" y="1905609"/>
            <a:ext cx="91440" cy="881481"/>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2033625"/>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2: Asking for the right rows and tables</a:t>
            </a:r>
          </a:p>
        </p:txBody>
      </p:sp>
      <p:sp>
        <p:nvSpPr>
          <p:cNvPr id="17" name="TextBox 16"/>
          <p:cNvSpPr txBox="1"/>
          <p:nvPr/>
        </p:nvSpPr>
        <p:spPr>
          <a:xfrm>
            <a:off x="6766560" y="2346680"/>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loc and iloc · Boolean masks · Merge with checks · Long and wide</a:t>
            </a:r>
          </a:p>
        </p:txBody>
      </p:sp>
      <p:sp>
        <p:nvSpPr>
          <p:cNvPr id="18" name="Rectangle 17"/>
          <p:cNvSpPr/>
          <p:nvPr/>
        </p:nvSpPr>
        <p:spPr>
          <a:xfrm>
            <a:off x="6492240" y="2988259"/>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2988259"/>
            <a:ext cx="91440" cy="881481"/>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3116275"/>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3: Summarising without fooling yourself</a:t>
            </a:r>
          </a:p>
        </p:txBody>
      </p:sp>
      <p:sp>
        <p:nvSpPr>
          <p:cNvPr id="21" name="TextBox 20"/>
          <p:cNvSpPr txBox="1"/>
          <p:nvPr/>
        </p:nvSpPr>
        <p:spPr>
          <a:xfrm>
            <a:off x="6766560" y="3429330"/>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Split-apply-combine · agg and transform · The mean-of-rates trap · Lost keys</a:t>
            </a:r>
          </a:p>
        </p:txBody>
      </p:sp>
      <p:sp>
        <p:nvSpPr>
          <p:cNvPr id="22" name="Rectangle 21"/>
          <p:cNvSpPr/>
          <p:nvPr/>
        </p:nvSpPr>
        <p:spPr>
          <a:xfrm>
            <a:off x="6492240" y="4070908"/>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92240" y="4070908"/>
            <a:ext cx="91440" cy="881481"/>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0" y="4198924"/>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4: Respecting time</a:t>
            </a:r>
          </a:p>
        </p:txBody>
      </p:sp>
      <p:sp>
        <p:nvSpPr>
          <p:cNvPr id="25" name="TextBox 24"/>
          <p:cNvSpPr txBox="1"/>
          <p:nvPr/>
        </p:nvSpPr>
        <p:spPr>
          <a:xfrm>
            <a:off x="6766560" y="4511979"/>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Parsing · Frequencies · Resampling · Shift and rolling · Leakage</a:t>
            </a:r>
          </a:p>
        </p:txBody>
      </p:sp>
      <p:sp>
        <p:nvSpPr>
          <p:cNvPr id="26" name="Rectangle 25"/>
          <p:cNvSpPr/>
          <p:nvPr/>
        </p:nvSpPr>
        <p:spPr>
          <a:xfrm>
            <a:off x="6492240" y="5153558"/>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92240" y="5153558"/>
            <a:ext cx="91440" cy="881481"/>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66560" y="5281574"/>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5: Seeing the data</a:t>
            </a:r>
          </a:p>
        </p:txBody>
      </p:sp>
      <p:sp>
        <p:nvSpPr>
          <p:cNvPr id="29" name="TextBox 28"/>
          <p:cNvSpPr txBox="1"/>
          <p:nvPr/>
        </p:nvSpPr>
        <p:spPr>
          <a:xfrm>
            <a:off x="6766560" y="5594629"/>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Figure and Axes · pandas plot · seaborn · Choosing a chart</a:t>
            </a:r>
          </a:p>
        </p:txBody>
      </p:sp>
      <p:sp>
        <p:nvSpPr>
          <p:cNvPr id="30" name="TextBox 29"/>
          <p:cNvSpPr txBox="1"/>
          <p:nvPr/>
        </p:nvSpPr>
        <p:spPr>
          <a:xfrm>
            <a:off x="6492240" y="6355080"/>
            <a:ext cx="5196535" cy="274320"/>
          </a:xfrm>
          <a:prstGeom prst="rect">
            <a:avLst/>
          </a:prstGeom>
          <a:noFill/>
        </p:spPr>
        <p:txBody>
          <a:bodyPr wrap="square" lIns="0" rIns="0" tIns="0" bIns="0" anchor="t">
            <a:noAutofit/>
          </a:bodyPr>
          <a:lstStyle/>
          <a:p>
            <a:pPr algn="r">
              <a:lnSpc>
                <a:spcPct val="110000"/>
              </a:lnSpc>
            </a:pPr>
            <a:r>
              <a:rPr sz="1100" i="1" b="0">
                <a:solidFill>
                  <a:srgbClr val="94A3B8"/>
                </a:solidFill>
                <a:latin typeface="Helvetica Neue"/>
              </a:rPr>
              <a:t>Notes: data-analytics/01-python-for-data-analysis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1</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Getting a table you can trust</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Why a DataFrame · Alignment · Dtypes · Copy-on-Write · Cleaning in one function</a:t>
            </a:r>
          </a:p>
        </p:txBody>
      </p:sp>
      <p:cxnSp>
        <p:nvCxnSpPr>
          <p:cNvPr id="6" name="Connector 5"/>
          <p:cNvCxnSpPr/>
          <p:nvPr/>
        </p:nvCxnSpPr>
        <p:spPr>
          <a:xfrm>
            <a:off x="6446520" y="2014855"/>
            <a:ext cx="0" cy="282829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014855"/>
            <a:ext cx="4693615" cy="301117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Why not just use a list of dictionaries?</a:t>
            </a:r>
          </a:p>
          <a:p>
            <a:pPr algn="l">
              <a:lnSpc>
                <a:spcPct val="100000"/>
              </a:lnSpc>
              <a:spcBef>
                <a:spcPts val="1189"/>
              </a:spcBef>
            </a:pPr>
            <a:r>
              <a:rPr sz="1700" i="0" b="0">
                <a:solidFill>
                  <a:srgbClr val="CBD5E1"/>
                </a:solidFill>
                <a:latin typeface="Helvetica Neue"/>
              </a:rPr>
              <a:t>Pandas matches on labels, not on positions</a:t>
            </a:r>
          </a:p>
          <a:p>
            <a:pPr algn="l">
              <a:lnSpc>
                <a:spcPct val="100000"/>
              </a:lnSpc>
              <a:spcBef>
                <a:spcPts val="1189"/>
              </a:spcBef>
            </a:pPr>
            <a:r>
              <a:rPr sz="1700" i="0" b="0">
                <a:solidFill>
                  <a:srgbClr val="CBD5E1"/>
                </a:solidFill>
                <a:latin typeface="Helvetica Neue"/>
              </a:rPr>
              <a:t>Four checks on every new frame</a:t>
            </a:r>
          </a:p>
          <a:p>
            <a:pPr algn="l">
              <a:lnSpc>
                <a:spcPct val="100000"/>
              </a:lnSpc>
              <a:spcBef>
                <a:spcPts val="1189"/>
              </a:spcBef>
            </a:pPr>
            <a:r>
              <a:rPr sz="1700" i="0" b="0">
                <a:solidFill>
                  <a:srgbClr val="CBD5E1"/>
                </a:solidFill>
                <a:latin typeface="Helvetica Neue"/>
              </a:rPr>
              <a:t>Pandas 3: a selection behaves like a copy</a:t>
            </a:r>
          </a:p>
          <a:p>
            <a:pPr algn="l">
              <a:lnSpc>
                <a:spcPct val="100000"/>
              </a:lnSpc>
              <a:spcBef>
                <a:spcPts val="1189"/>
              </a:spcBef>
            </a:pPr>
            <a:r>
              <a:rPr sz="1700" i="0" b="0">
                <a:solidFill>
                  <a:srgbClr val="CBD5E1"/>
                </a:solidFill>
                <a:latin typeface="Helvetica Neue"/>
              </a:rPr>
              <a:t>The export becomes a clean frame in one rerunnable function</a:t>
            </a:r>
          </a:p>
          <a:p>
            <a:pPr algn="l">
              <a:lnSpc>
                <a:spcPct val="100000"/>
              </a:lnSpc>
              <a:spcBef>
                <a:spcPts val="1189"/>
              </a:spcBef>
            </a:pPr>
            <a:r>
              <a:rPr sz="1700" i="0" b="0">
                <a:solidFill>
                  <a:srgbClr val="CBD5E1"/>
                </a:solidFill>
                <a:latin typeface="Helvetica Neue"/>
              </a:rPr>
              <a:t>A gap is a question, not a value to fill</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Why not just use a list of dictionaries?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Getting a table you can trust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notes/01-series-and-dataframe.md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 DataFrame replaces loops over row dictionaries with named column operations that align on labels.</a:t>
            </a:r>
          </a:p>
        </p:txBody>
      </p:sp>
      <p:sp>
        <p:nvSpPr>
          <p:cNvPr id="13" name="Rectangle 12"/>
          <p:cNvSpPr/>
          <p:nvPr/>
        </p:nvSpPr>
        <p:spPr>
          <a:xfrm>
            <a:off x="777240" y="2299716"/>
            <a:ext cx="109728" cy="235915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299716"/>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A DataFrame is a table whose rows and columns carry labels, and whose operations match on those labels.</a:t>
            </a:r>
          </a:p>
        </p:txBody>
      </p:sp>
      <p:sp>
        <p:nvSpPr>
          <p:cNvPr id="15" name="TextBox 14"/>
          <p:cNvSpPr txBox="1"/>
          <p:nvPr/>
        </p:nvSpPr>
        <p:spPr>
          <a:xfrm>
            <a:off x="1234440" y="4247388"/>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McKinney built pandas for labelled statistical data (SciPy 2010)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Pandas matches on labels, not on positions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Getting a table you can trust</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notes/01-series-and-dataframe.md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Arithmetic between Series aligns on labels and gives NaN where a label exists on only one side.</a:t>
            </a:r>
          </a:p>
        </p:txBody>
      </p:sp>
      <p:sp>
        <p:nvSpPr>
          <p:cNvPr id="12" name="Rounded Rectangle 11"/>
          <p:cNvSpPr/>
          <p:nvPr/>
        </p:nvSpPr>
        <p:spPr>
          <a:xfrm>
            <a:off x="502920" y="1472184"/>
            <a:ext cx="6711513" cy="288036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224027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week1 = pd.Series(</a:t>
            </a:r>
          </a:p>
          <a:p>
            <a:pPr algn="l">
              <a:lnSpc>
                <a:spcPct val="100000"/>
              </a:lnSpc>
            </a:pPr>
            <a:r>
              <a:rPr sz="1600" i="0" b="0">
                <a:solidFill>
                  <a:srgbClr val="E2E8F0"/>
                </a:solidFill>
                <a:latin typeface="Menlo"/>
              </a:rPr>
              <a:t>    {"kettle": 4, "filter": 30, "grinder": 2})</a:t>
            </a:r>
          </a:p>
          <a:p>
            <a:pPr algn="l">
              <a:lnSpc>
                <a:spcPct val="100000"/>
              </a:lnSpc>
            </a:pPr>
            <a:r>
              <a:rPr sz="1600" i="0" b="0">
                <a:solidFill>
                  <a:srgbClr val="E2E8F0"/>
                </a:solidFill>
                <a:latin typeface="Menlo"/>
              </a:rPr>
              <a:t>week2 = pd.Series(</a:t>
            </a:r>
          </a:p>
          <a:p>
            <a:pPr algn="l">
              <a:lnSpc>
                <a:spcPct val="100000"/>
              </a:lnSpc>
            </a:pPr>
            <a:r>
              <a:rPr sz="1600" i="0" b="0">
                <a:solidFill>
                  <a:srgbClr val="E2E8F0"/>
                </a:solidFill>
                <a:latin typeface="Menlo"/>
              </a:rPr>
              <a:t>    {"filter": 25, "scale": 6, "kettle": 5})</a:t>
            </a:r>
          </a:p>
          <a:p>
            <a:pPr algn="l">
              <a:lnSpc>
                <a:spcPct val="100000"/>
              </a:lnSpc>
            </a:pPr>
            <a:r>
              <a:rPr sz="1600" i="0" b="0">
                <a:solidFill>
                  <a:srgbClr val="E2E8F0"/>
                </a:solidFill>
                <a:latin typeface="Menlo"/>
              </a:rPr>
              <a:t>print(week1 + week2)</a:t>
            </a:r>
          </a:p>
          <a:p>
            <a:pPr algn="l">
              <a:lnSpc>
                <a:spcPct val="100000"/>
              </a:lnSpc>
            </a:pPr>
            <a:r>
              <a:rPr sz="1600" i="0" b="0">
                <a:solidFill>
                  <a:srgbClr val="E2E8F0"/>
                </a:solidFill>
                <a:latin typeface="Menlo"/>
              </a:rPr>
              <a:t># filter     55.0</a:t>
            </a:r>
          </a:p>
          <a:p>
            <a:pPr algn="l">
              <a:lnSpc>
                <a:spcPct val="100000"/>
              </a:lnSpc>
            </a:pPr>
            <a:r>
              <a:rPr sz="1600" i="0" b="0">
                <a:solidFill>
                  <a:srgbClr val="E2E8F0"/>
                </a:solidFill>
                <a:latin typeface="Menlo"/>
              </a:rPr>
              <a:t># grinder     NaN</a:t>
            </a:r>
          </a:p>
          <a:p>
            <a:pPr algn="l">
              <a:lnSpc>
                <a:spcPct val="100000"/>
              </a:lnSpc>
            </a:pPr>
            <a:r>
              <a:rPr sz="1600" i="0" b="0">
                <a:solidFill>
                  <a:srgbClr val="E2E8F0"/>
                </a:solidFill>
                <a:latin typeface="Menlo"/>
              </a:rPr>
              <a:t># kettle      9.0</a:t>
            </a:r>
          </a:p>
          <a:p>
            <a:pPr algn="l">
              <a:lnSpc>
                <a:spcPct val="100000"/>
              </a:lnSpc>
            </a:pPr>
            <a:r>
              <a:rPr sz="1600" i="0" b="0">
                <a:solidFill>
                  <a:srgbClr val="E2E8F0"/>
                </a:solidFill>
                <a:latin typeface="Menlo"/>
              </a:rPr>
              <a:t># scale       NaN</a:t>
            </a:r>
          </a:p>
        </p:txBody>
      </p:sp>
      <p:sp>
        <p:nvSpPr>
          <p:cNvPr id="15" name="Rectangle 14"/>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Same label, same row,</a:t>
            </a:r>
            <a:r>
              <a:rPr sz="1800" i="0" b="0">
                <a:solidFill>
                  <a:srgbClr val="1E293B"/>
                </a:solidFill>
                <a:latin typeface="Helvetica Neue"/>
              </a:rPr>
              <a:t> whatever the order.</a:t>
            </a:r>
          </a:p>
        </p:txBody>
      </p:sp>
      <p:sp>
        <p:nvSpPr>
          <p:cNvPr id="17" name="Rectangle 16"/>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Result:</a:t>
            </a:r>
            <a:r>
              <a:rPr sz="1800" i="0" b="0">
                <a:solidFill>
                  <a:srgbClr val="1E293B"/>
                </a:solidFill>
                <a:latin typeface="Helvetica Neue"/>
              </a:rPr>
              <a:t> the union of labels.</a:t>
            </a:r>
          </a:p>
        </p:txBody>
      </p:sp>
      <p:sp>
        <p:nvSpPr>
          <p:cNvPr id="19" name="Rectangle 18"/>
          <p:cNvSpPr/>
          <p:nvPr/>
        </p:nvSpPr>
        <p:spPr>
          <a:xfrm>
            <a:off x="7580193" y="278434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697480"/>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One side missing:</a:t>
            </a:r>
            <a:r>
              <a:rPr sz="1800" i="0" b="0">
                <a:solidFill>
                  <a:srgbClr val="1E293B"/>
                </a:solidFill>
                <a:latin typeface="Helvetica Neue"/>
              </a:rPr>
              <a:t> </a:t>
            </a:r>
            <a:r>
              <a:rPr sz="1620" i="0" b="0">
                <a:solidFill>
                  <a:srgbClr val="0F7490"/>
                </a:solidFill>
                <a:latin typeface="Menlo"/>
              </a:rPr>
              <a:t>NaN</a:t>
            </a:r>
            <a:r>
              <a:rPr sz="1800" i="0" b="0">
                <a:solidFill>
                  <a:srgbClr val="1E293B"/>
                </a:solidFill>
                <a:latin typeface="Helvetica Neue"/>
              </a:rPr>
              <a:t>, not a guess.</a:t>
            </a:r>
          </a:p>
        </p:txBody>
      </p:sp>
      <p:sp>
        <p:nvSpPr>
          <p:cNvPr id="21" name="Rectangle 20"/>
          <p:cNvSpPr/>
          <p:nvPr/>
        </p:nvSpPr>
        <p:spPr>
          <a:xfrm>
            <a:off x="7580193" y="352501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0233" y="343814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Bare NumPy</a:t>
            </a:r>
            <a:r>
              <a:rPr sz="1800" i="0" b="0">
                <a:solidFill>
                  <a:srgbClr val="1E293B"/>
                </a:solidFill>
                <a:latin typeface="Helvetica Neue"/>
              </a:rPr>
              <a:t> would add by position and give </a:t>
            </a:r>
            <a:r>
              <a:rPr sz="1620" i="0" b="0">
                <a:solidFill>
                  <a:srgbClr val="0F7490"/>
                </a:solidFill>
                <a:latin typeface="Menlo"/>
              </a:rPr>
              <a:t>[29 36 7]</a:t>
            </a:r>
            <a:r>
              <a:rPr sz="1800" i="0" b="0">
                <a:solidFill>
                  <a:srgbClr val="1E293B"/>
                </a:solidFill>
                <a:latin typeface="Helvetica Neue"/>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Four checks on every new frame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Getting a table you can trust</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notes/01-series-and-dataframe.md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5</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Run shape, dtypes, head and isna().sum() on every new frame, since most problems show up there first.</a:t>
            </a:r>
          </a:p>
        </p:txBody>
      </p:sp>
      <p:sp>
        <p:nvSpPr>
          <p:cNvPr id="12" name="Rectangle 11"/>
          <p:cNvSpPr/>
          <p:nvPr/>
        </p:nvSpPr>
        <p:spPr>
          <a:xfrm>
            <a:off x="502920" y="1472184"/>
            <a:ext cx="2590723" cy="227990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82296" cy="2279904"/>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shape</a:t>
            </a:r>
          </a:p>
        </p:txBody>
      </p:sp>
      <p:sp>
        <p:nvSpPr>
          <p:cNvPr id="15" name="TextBox 14"/>
          <p:cNvSpPr txBox="1"/>
          <p:nvPr/>
        </p:nvSpPr>
        <p:spPr>
          <a:xfrm>
            <a:off x="777240" y="2087880"/>
            <a:ext cx="2087803" cy="1481327"/>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Rows and columns. Did you get what the source says it holds?</a:t>
            </a:r>
          </a:p>
        </p:txBody>
      </p:sp>
      <p:sp>
        <p:nvSpPr>
          <p:cNvPr id="16" name="Rectangle 15"/>
          <p:cNvSpPr/>
          <p:nvPr/>
        </p:nvSpPr>
        <p:spPr>
          <a:xfrm>
            <a:off x="3367963" y="1472184"/>
            <a:ext cx="2590723" cy="227990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7963" y="1472184"/>
            <a:ext cx="82296" cy="227990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42283"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dtypes</a:t>
            </a:r>
          </a:p>
        </p:txBody>
      </p:sp>
      <p:sp>
        <p:nvSpPr>
          <p:cNvPr id="19" name="TextBox 18"/>
          <p:cNvSpPr txBox="1"/>
          <p:nvPr/>
        </p:nvSpPr>
        <p:spPr>
          <a:xfrm>
            <a:off x="3642283" y="2087880"/>
            <a:ext cx="2087803" cy="1481327"/>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A number stored as </a:t>
            </a:r>
            <a:r>
              <a:rPr sz="1620" i="0" b="0">
                <a:solidFill>
                  <a:srgbClr val="0F7490"/>
                </a:solidFill>
                <a:latin typeface="Menlo"/>
              </a:rPr>
              <a:t>str</a:t>
            </a:r>
            <a:r>
              <a:rPr sz="1800" i="0" b="0">
                <a:solidFill>
                  <a:srgbClr val="475569"/>
                </a:solidFill>
                <a:latin typeface="Helvetica Neue"/>
              </a:rPr>
              <a:t> will concatenate rather than add.</a:t>
            </a:r>
          </a:p>
        </p:txBody>
      </p:sp>
      <p:sp>
        <p:nvSpPr>
          <p:cNvPr id="20" name="Rectangle 19"/>
          <p:cNvSpPr/>
          <p:nvPr/>
        </p:nvSpPr>
        <p:spPr>
          <a:xfrm>
            <a:off x="6233007" y="1472184"/>
            <a:ext cx="2590723" cy="227990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1472184"/>
            <a:ext cx="82296" cy="2279904"/>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7327"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head</a:t>
            </a:r>
          </a:p>
        </p:txBody>
      </p:sp>
      <p:sp>
        <p:nvSpPr>
          <p:cNvPr id="23" name="TextBox 22"/>
          <p:cNvSpPr txBox="1"/>
          <p:nvPr/>
        </p:nvSpPr>
        <p:spPr>
          <a:xfrm>
            <a:off x="6507327" y="2087880"/>
            <a:ext cx="2087803" cy="1481327"/>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See real values: stray capitals, symbols, odd formats.</a:t>
            </a:r>
          </a:p>
        </p:txBody>
      </p:sp>
      <p:sp>
        <p:nvSpPr>
          <p:cNvPr id="24" name="Rectangle 23"/>
          <p:cNvSpPr/>
          <p:nvPr/>
        </p:nvSpPr>
        <p:spPr>
          <a:xfrm>
            <a:off x="9098051" y="1472184"/>
            <a:ext cx="2590723" cy="227990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98051" y="1472184"/>
            <a:ext cx="82296" cy="2279904"/>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72371"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isna().sum()</a:t>
            </a:r>
          </a:p>
        </p:txBody>
      </p:sp>
      <p:sp>
        <p:nvSpPr>
          <p:cNvPr id="27" name="TextBox 26"/>
          <p:cNvSpPr txBox="1"/>
          <p:nvPr/>
        </p:nvSpPr>
        <p:spPr>
          <a:xfrm>
            <a:off x="9372371" y="2087880"/>
            <a:ext cx="2087803" cy="1481327"/>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Gaps per column. A whole-number column printing </a:t>
            </a:r>
            <a:r>
              <a:rPr sz="1620" i="0" b="0">
                <a:solidFill>
                  <a:srgbClr val="0F7490"/>
                </a:solidFill>
                <a:latin typeface="Menlo"/>
              </a:rPr>
              <a:t>.0</a:t>
            </a:r>
            <a:r>
              <a:rPr sz="1800" i="0" b="0">
                <a:solidFill>
                  <a:srgbClr val="475569"/>
                </a:solidFill>
                <a:latin typeface="Helvetica Neue"/>
              </a:rPr>
              <a:t> is hiding 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Pandas 3: a selection behaves like a copy</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Getting a table you can trust</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notes/01-series-and-dataframe.md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6</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Under Copy-on-Write any selection acts as a copy, so change part of a frame with a single .loc call.</a:t>
            </a:r>
          </a:p>
        </p:txBody>
      </p:sp>
      <p:sp>
        <p:nvSpPr>
          <p:cNvPr id="12" name="Rounded Rectangle 11"/>
          <p:cNvSpPr/>
          <p:nvPr/>
        </p:nvSpPr>
        <p:spPr>
          <a:xfrm>
            <a:off x="502920" y="1472184"/>
            <a:ext cx="6711513" cy="1904999"/>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126491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fixed = orders.copy()</a:t>
            </a:r>
          </a:p>
          <a:p>
            <a:pPr algn="l">
              <a:lnSpc>
                <a:spcPct val="100000"/>
              </a:lnSpc>
            </a:pPr>
            <a:r>
              <a:rPr sz="1600" i="0" b="0">
                <a:solidFill>
                  <a:srgbClr val="E2E8F0"/>
                </a:solidFill>
                <a:latin typeface="Menlo"/>
              </a:rPr>
              <a:t>fixed["qty"][fixed["customer"] == "ana"] = 0</a:t>
            </a:r>
          </a:p>
          <a:p>
            <a:pPr algn="l">
              <a:lnSpc>
                <a:spcPct val="100000"/>
              </a:lnSpc>
            </a:pPr>
            <a:r>
              <a:rPr sz="1600" i="0" b="0">
                <a:solidFill>
                  <a:srgbClr val="E2E8F0"/>
                </a:solidFill>
                <a:latin typeface="Menlo"/>
              </a:rPr>
              <a:t># ChainedAssignmentError warning; nothing changes</a:t>
            </a:r>
          </a:p>
          <a:p>
            <a:pPr algn="l">
              <a:lnSpc>
                <a:spcPct val="100000"/>
              </a:lnSpc>
            </a:pPr>
            <a:r>
              <a:rPr sz="1600" i="0" b="0">
                <a:solidFill>
                  <a:srgbClr val="E2E8F0"/>
                </a:solidFill>
                <a:latin typeface="Menlo"/>
              </a:rPr>
              <a:t>fixed.loc[fixed["customer"] == "ana", "qty"] = 0</a:t>
            </a:r>
          </a:p>
          <a:p>
            <a:pPr algn="l">
              <a:lnSpc>
                <a:spcPct val="100000"/>
              </a:lnSpc>
            </a:pPr>
            <a:r>
              <a:rPr sz="1600" i="0" b="0">
                <a:solidFill>
                  <a:srgbClr val="E2E8F0"/>
                </a:solidFill>
                <a:latin typeface="Menlo"/>
              </a:rPr>
              <a:t># one .loc call: this works</a:t>
            </a:r>
          </a:p>
        </p:txBody>
      </p:sp>
      <p:sp>
        <p:nvSpPr>
          <p:cNvPr id="15" name="Rectangle 14"/>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Copy-on-Write</a:t>
            </a:r>
            <a:r>
              <a:rPr sz="1800" i="0" b="0">
                <a:solidFill>
                  <a:srgbClr val="1E293B"/>
                </a:solidFill>
                <a:latin typeface="Helvetica Neue"/>
              </a:rPr>
              <a:t> is the only mode in pandas 3.</a:t>
            </a:r>
          </a:p>
        </p:txBody>
      </p:sp>
      <p:sp>
        <p:nvSpPr>
          <p:cNvPr id="17" name="Rectangle 16"/>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996696"/>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Old books</a:t>
            </a:r>
            <a:r>
              <a:rPr sz="1800" i="0" b="0">
                <a:solidFill>
                  <a:srgbClr val="1E293B"/>
                </a:solidFill>
                <a:latin typeface="Helvetica Neue"/>
              </a:rPr>
              <a:t> warn about views and </a:t>
            </a:r>
            <a:r>
              <a:rPr sz="1620" i="0" b="0">
                <a:solidFill>
                  <a:srgbClr val="0F7490"/>
                </a:solidFill>
                <a:latin typeface="Menlo"/>
              </a:rPr>
              <a:t>SettingWithCopyWarning</a:t>
            </a:r>
            <a:r>
              <a:rPr sz="1800" i="0" b="0">
                <a:solidFill>
                  <a:srgbClr val="1E293B"/>
                </a:solidFill>
                <a:latin typeface="Helvetica Neue"/>
              </a:rPr>
              <a:t>, which is gone.</a:t>
            </a:r>
          </a:p>
        </p:txBody>
      </p:sp>
      <p:sp>
        <p:nvSpPr>
          <p:cNvPr id="19" name="Rectangle 18"/>
          <p:cNvSpPr/>
          <p:nvPr/>
        </p:nvSpPr>
        <p:spPr>
          <a:xfrm>
            <a:off x="7580193" y="33878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330098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One rule:</a:t>
            </a:r>
            <a:r>
              <a:rPr sz="1800" i="0" b="0">
                <a:solidFill>
                  <a:srgbClr val="1E293B"/>
                </a:solidFill>
                <a:latin typeface="Helvetica Neue"/>
              </a:rPr>
              <a:t> to change part of a frame, use a single </a:t>
            </a:r>
            <a:r>
              <a:rPr sz="1620" i="0" b="0">
                <a:solidFill>
                  <a:srgbClr val="0F7490"/>
                </a:solidFill>
                <a:latin typeface="Menlo"/>
              </a:rPr>
              <a:t>.loc</a:t>
            </a:r>
            <a:r>
              <a:rPr sz="1800" i="0" b="0">
                <a:solidFill>
                  <a:srgbClr val="1E293B"/>
                </a:solidFill>
                <a:latin typeface="Helvetica Neue"/>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600" i="0" b="1">
                <a:solidFill>
                  <a:srgbClr val="FFFFFF"/>
                </a:solidFill>
                <a:latin typeface="Helvetica Neue"/>
              </a:rPr>
              <a:t>The export becomes a clean frame in one rerunnable function</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Getting a table you can trust</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notes/02-loading-and-cleaning.md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7</a:t>
            </a:r>
          </a:p>
        </p:txBody>
      </p:sp>
      <p:sp>
        <p:nvSpPr>
          <p:cNvPr id="9" name="TextBox 8"/>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13 raw rows go in, 11 orders come out, and every removal is accounted for.</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Do every cleaning step in one function over an unchanged raw file, so the work can be rerun and audited.</a:t>
            </a:r>
          </a:p>
        </p:txBody>
      </p:sp>
      <p:sp>
        <p:nvSpPr>
          <p:cNvPr id="13" name="Rounded Rectangle 12"/>
          <p:cNvSpPr/>
          <p:nvPr/>
        </p:nvSpPr>
        <p:spPr>
          <a:xfrm>
            <a:off x="502920" y="2077212"/>
            <a:ext cx="1834835" cy="1708404"/>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077212"/>
            <a:ext cx="1560515" cy="170840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Read the raw text</a:t>
            </a:r>
          </a:p>
          <a:p>
            <a:pPr algn="ctr">
              <a:lnSpc>
                <a:spcPct val="110000"/>
              </a:lnSpc>
            </a:pPr>
            <a:r>
              <a:rPr sz="1300" i="0" b="0">
                <a:solidFill>
                  <a:srgbClr val="E8F4F8"/>
                </a:solidFill>
                <a:latin typeface="Helvetica Neue"/>
              </a:rPr>
              <a:t>Find the comment line, the </a:t>
            </a:r>
            <a:r>
              <a:rPr sz="1300" i="0" b="0">
                <a:solidFill>
                  <a:srgbClr val="E8F4F8"/>
                </a:solidFill>
                <a:latin typeface="Menlo"/>
              </a:rPr>
              <a:t>$</a:t>
            </a:r>
            <a:r>
              <a:rPr sz="1300" i="0" b="0">
                <a:solidFill>
                  <a:srgbClr val="E8F4F8"/>
                </a:solidFill>
                <a:latin typeface="Helvetica Neue"/>
              </a:rPr>
              <a:t>, the </a:t>
            </a:r>
            <a:r>
              <a:rPr sz="1300" i="0" b="0">
                <a:solidFill>
                  <a:srgbClr val="E8F4F8"/>
                </a:solidFill>
                <a:latin typeface="Menlo"/>
              </a:rPr>
              <a:t>n/a</a:t>
            </a:r>
            <a:r>
              <a:rPr sz="1300" i="0" b="0">
                <a:solidFill>
                  <a:srgbClr val="E8F4F8"/>
                </a:solidFill>
                <a:latin typeface="Helvetica Neue"/>
              </a:rPr>
              <a:t>.</a:t>
            </a:r>
          </a:p>
        </p:txBody>
      </p:sp>
      <p:cxnSp>
        <p:nvCxnSpPr>
          <p:cNvPr id="15" name="Connector 14"/>
          <p:cNvCxnSpPr/>
          <p:nvPr/>
        </p:nvCxnSpPr>
        <p:spPr>
          <a:xfrm>
            <a:off x="2392619" y="293141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840675" y="2077212"/>
            <a:ext cx="1834835" cy="1708404"/>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77835" y="2077212"/>
            <a:ext cx="1560515" cy="170840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Parse with options</a:t>
            </a:r>
          </a:p>
          <a:p>
            <a:pPr algn="ctr">
              <a:lnSpc>
                <a:spcPct val="110000"/>
              </a:lnSpc>
            </a:pPr>
            <a:r>
              <a:rPr sz="1300" i="0" b="0">
                <a:solidFill>
                  <a:srgbClr val="E8F4F8"/>
                </a:solidFill>
                <a:latin typeface="Menlo"/>
              </a:rPr>
              <a:t>comment</a:t>
            </a:r>
            <a:r>
              <a:rPr sz="1300" i="0" b="0">
                <a:solidFill>
                  <a:srgbClr val="E8F4F8"/>
                </a:solidFill>
                <a:latin typeface="Helvetica Neue"/>
              </a:rPr>
              <a:t>, </a:t>
            </a:r>
            <a:r>
              <a:rPr sz="1300" i="0" b="0">
                <a:solidFill>
                  <a:srgbClr val="E8F4F8"/>
                </a:solidFill>
                <a:latin typeface="Menlo"/>
              </a:rPr>
              <a:t>na_values</a:t>
            </a:r>
            <a:r>
              <a:rPr sz="1300" i="0" b="0">
                <a:solidFill>
                  <a:srgbClr val="E8F4F8"/>
                </a:solidFill>
                <a:latin typeface="Helvetica Neue"/>
              </a:rPr>
              <a:t>, dates</a:t>
            </a:r>
          </a:p>
        </p:txBody>
      </p:sp>
      <p:cxnSp>
        <p:nvCxnSpPr>
          <p:cNvPr id="18" name="Connector 17"/>
          <p:cNvCxnSpPr/>
          <p:nvPr/>
        </p:nvCxnSpPr>
        <p:spPr>
          <a:xfrm>
            <a:off x="4730374" y="293141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78430" y="2077212"/>
            <a:ext cx="1834835" cy="1708404"/>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15590" y="2077212"/>
            <a:ext cx="1560515" cy="170840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Fix text and types</a:t>
            </a:r>
          </a:p>
          <a:p>
            <a:pPr algn="ctr">
              <a:lnSpc>
                <a:spcPct val="110000"/>
              </a:lnSpc>
            </a:pPr>
            <a:r>
              <a:rPr sz="1300" i="0" b="0">
                <a:solidFill>
                  <a:srgbClr val="E8F4F8"/>
                </a:solidFill>
                <a:latin typeface="Helvetica Neue"/>
              </a:rPr>
              <a:t>Strip and lower text, then </a:t>
            </a:r>
            <a:r>
              <a:rPr sz="1300" i="0" b="0">
                <a:solidFill>
                  <a:srgbClr val="E8F4F8"/>
                </a:solidFill>
                <a:latin typeface="Menlo"/>
              </a:rPr>
              <a:t>to_numeric</a:t>
            </a:r>
            <a:r>
              <a:rPr sz="1300" i="0" b="0">
                <a:solidFill>
                  <a:srgbClr val="E8F4F8"/>
                </a:solidFill>
                <a:latin typeface="Helvetica Neue"/>
              </a:rPr>
              <a:t>.</a:t>
            </a:r>
          </a:p>
        </p:txBody>
      </p:sp>
      <p:cxnSp>
        <p:nvCxnSpPr>
          <p:cNvPr id="21" name="Connector 20"/>
          <p:cNvCxnSpPr/>
          <p:nvPr/>
        </p:nvCxnSpPr>
        <p:spPr>
          <a:xfrm>
            <a:off x="7068129" y="293141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516185" y="2077212"/>
            <a:ext cx="1834835" cy="1708404"/>
          </a:xfrm>
          <a:prstGeom prst="roundRect">
            <a:avLst>
              <a:gd name="adj" fmla="val 12000"/>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53345" y="2077212"/>
            <a:ext cx="1560515" cy="170840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Drop with reasons</a:t>
            </a:r>
          </a:p>
          <a:p>
            <a:pPr algn="ctr">
              <a:lnSpc>
                <a:spcPct val="110000"/>
              </a:lnSpc>
            </a:pPr>
            <a:r>
              <a:rPr sz="1300" i="0" b="0">
                <a:solidFill>
                  <a:srgbClr val="E8F4F8"/>
                </a:solidFill>
                <a:latin typeface="Helvetica Neue"/>
              </a:rPr>
              <a:t>One duplicate, one return.</a:t>
            </a:r>
          </a:p>
        </p:txBody>
      </p:sp>
      <p:cxnSp>
        <p:nvCxnSpPr>
          <p:cNvPr id="24" name="Connector 23"/>
          <p:cNvCxnSpPr/>
          <p:nvPr/>
        </p:nvCxnSpPr>
        <p:spPr>
          <a:xfrm>
            <a:off x="9405884" y="293141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853940" y="2077212"/>
            <a:ext cx="1834835" cy="1708404"/>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991100" y="2077212"/>
            <a:ext cx="1560515" cy="170840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Assert</a:t>
            </a:r>
          </a:p>
          <a:p>
            <a:pPr algn="ctr">
              <a:lnSpc>
                <a:spcPct val="110000"/>
              </a:lnSpc>
            </a:pPr>
            <a:r>
              <a:rPr sz="1300" i="0" b="0">
                <a:solidFill>
                  <a:srgbClr val="E8F4F8"/>
                </a:solidFill>
                <a:latin typeface="Helvetica Neue"/>
              </a:rPr>
              <a:t>Unique ids, no missing prices.</a:t>
            </a:r>
          </a:p>
        </p:txBody>
      </p:sp>
      <p:sp>
        <p:nvSpPr>
          <p:cNvPr id="27" name="TextBox 26"/>
          <p:cNvSpPr txBox="1"/>
          <p:nvPr/>
        </p:nvSpPr>
        <p:spPr>
          <a:xfrm>
            <a:off x="502920" y="4105656"/>
            <a:ext cx="11185855" cy="1380743"/>
          </a:xfrm>
          <a:prstGeom prst="rect">
            <a:avLst/>
          </a:prstGeom>
          <a:noFill/>
        </p:spPr>
        <p:txBody>
          <a:bodyPr wrap="square" lIns="0" rIns="0" tIns="0" bIns="0" anchor="t">
            <a:noAutofit/>
          </a:bodyPr>
          <a:lstStyle/>
          <a:p>
            <a:pPr algn="ctr">
              <a:lnSpc>
                <a:spcPct val="110000"/>
              </a:lnSpc>
            </a:pPr>
            <a:r>
              <a:rPr sz="1700" i="0" b="0">
                <a:solidFill>
                  <a:srgbClr val="475569"/>
                </a:solidFill>
                <a:latin typeface="Helvetica Neue"/>
              </a:rPr>
              <a:t>Keep the raw file unchanged. Next month's export runs through the same steps.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gap is a question, not a value to fill</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Getting a table you can trust</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notes/02-loading-and-cleaning.md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8</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Decide what to do with a missing value by asking why it is missing, because filling with the mean by reflex can invent data.</a:t>
            </a:r>
          </a:p>
        </p:txBody>
      </p:sp>
      <p:graphicFrame>
        <p:nvGraphicFramePr>
          <p:cNvPr id="12" name="Table 11"/>
          <p:cNvGraphicFramePr>
            <a:graphicFrameLocks noGrp="1"/>
          </p:cNvGraphicFramePr>
          <p:nvPr/>
        </p:nvGraphicFramePr>
        <p:xfrm>
          <a:off x="502920" y="1472184"/>
          <a:ext cx="11185854" cy="2545080"/>
        </p:xfrm>
        <a:graphic>
          <a:graphicData uri="http://schemas.openxmlformats.org/drawingml/2006/table">
            <a:tbl>
              <a:tblPr firstRow="1" bandRow="1">
                <a:tableStyleId>{5940675A-B579-460E-94D1-54222C63F5DA}</a:tableStyleId>
              </a:tblPr>
              <a:tblGrid>
                <a:gridCol w="3355756"/>
                <a:gridCol w="4474342"/>
                <a:gridCol w="3355756"/>
              </a:tblGrid>
              <a:tr h="405384">
                <a:tc>
                  <a:txBody>
                    <a:bodyPr wrap="square"/>
                    <a:lstStyle/>
                    <a:p>
                      <a:pPr>
                        <a:lnSpc>
                          <a:spcPct val="100000"/>
                        </a:lnSpc>
                      </a:pPr>
                      <a:r>
                        <a:rPr sz="1700" i="0" b="1">
                          <a:solidFill>
                            <a:srgbClr val="FFFFFF"/>
                          </a:solidFill>
                          <a:latin typeface="Helvetica Neue"/>
                        </a:rPr>
                        <a:t>In the shop's export</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What it means</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What we did</a:t>
                      </a:r>
                    </a:p>
                  </a:txBody>
                  <a:tcPr marL="109728" marR="109728" marT="54864" marB="54864" anchor="ctr">
                    <a:solidFill>
                      <a:srgbClr val="1E3A5F"/>
                    </a:solidFill>
                  </a:tcPr>
                </a:tc>
              </a:tr>
              <a:tr h="664464">
                <a:tc>
                  <a:txBody>
                    <a:bodyPr wrap="square"/>
                    <a:lstStyle/>
                    <a:p>
                      <a:pPr>
                        <a:lnSpc>
                          <a:spcPct val="100000"/>
                        </a:lnSpc>
                      </a:pPr>
                      <a:r>
                        <a:rPr sz="1530" i="0" b="1">
                          <a:solidFill>
                            <a:srgbClr val="0F7490"/>
                          </a:solidFill>
                          <a:latin typeface="Menlo"/>
                        </a:rPr>
                        <a:t>region</a:t>
                      </a:r>
                      <a:r>
                        <a:rPr sz="1700" i="0" b="1">
                          <a:solidFill>
                            <a:srgbClr val="1E293B"/>
                          </a:solidFill>
                          <a:latin typeface="Helvetica Neue"/>
                        </a:rPr>
                        <a:t> blank or </a:t>
                      </a:r>
                      <a:r>
                        <a:rPr sz="1530" i="0" b="1">
                          <a:solidFill>
                            <a:srgbClr val="0F7490"/>
                          </a:solidFill>
                          <a:latin typeface="Menlo"/>
                        </a:rPr>
                        <a: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Not recorded</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Label it </a:t>
                      </a:r>
                      <a:r>
                        <a:rPr sz="1530" i="0" b="0">
                          <a:solidFill>
                            <a:srgbClr val="0F7490"/>
                          </a:solidFill>
                          <a:latin typeface="Menlo"/>
                        </a:rPr>
                        <a:t>unknown</a:t>
                      </a:r>
                      <a:r>
                        <a:rPr sz="1700" i="0" b="0">
                          <a:solidFill>
                            <a:srgbClr val="475569"/>
                          </a:solidFill>
                          <a:latin typeface="Helvetica Neue"/>
                        </a:rPr>
                        <a:t>, and keep the row</a:t>
                      </a:r>
                    </a:p>
                  </a:txBody>
                  <a:tcPr marL="109728" marR="109728" marT="54864" marB="54864" anchor="ctr">
                    <a:solidFill>
                      <a:srgbClr val="FFFFFF"/>
                    </a:solidFill>
                  </a:tcPr>
                </a:tc>
              </a:tr>
              <a:tr h="664464">
                <a:tc>
                  <a:txBody>
                    <a:bodyPr wrap="square"/>
                    <a:lstStyle/>
                    <a:p>
                      <a:pPr>
                        <a:lnSpc>
                          <a:spcPct val="100000"/>
                        </a:lnSpc>
                      </a:pPr>
                      <a:r>
                        <a:rPr sz="1530" i="0" b="1">
                          <a:solidFill>
                            <a:srgbClr val="0F7490"/>
                          </a:solidFill>
                          <a:latin typeface="Menlo"/>
                        </a:rPr>
                        <a:t>qty</a:t>
                      </a:r>
                      <a:r>
                        <a:rPr sz="1700" i="0" b="1">
                          <a:solidFill>
                            <a:srgbClr val="1E293B"/>
                          </a:solidFill>
                          <a:latin typeface="Helvetica Neue"/>
                        </a:rPr>
                        <a:t> is </a:t>
                      </a:r>
                      <a:r>
                        <a:rPr sz="1530" i="0" b="1">
                          <a:solidFill>
                            <a:srgbClr val="0F7490"/>
                          </a:solidFill>
                          <a:latin typeface="Menlo"/>
                        </a:rPr>
                        <a:t>n/a</a:t>
                      </a:r>
                      <a:r>
                        <a:rPr sz="1700" i="0" b="1">
                          <a:solidFill>
                            <a:srgbClr val="1E293B"/>
                          </a:solidFill>
                          <a:latin typeface="Helvetica Neue"/>
                        </a:rPr>
                        <a:t> on order 1006</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A value that exists but got lost</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Confirm with the owner, set it to 1</a:t>
                      </a:r>
                    </a:p>
                  </a:txBody>
                  <a:tcPr marL="109728" marR="109728" marT="54864" marB="54864" anchor="ctr">
                    <a:solidFill>
                      <a:srgbClr val="F8FAFC"/>
                    </a:solidFill>
                  </a:tcPr>
                </a:tc>
              </a:tr>
              <a:tr h="405384">
                <a:tc>
                  <a:txBody>
                    <a:bodyPr wrap="square"/>
                    <a:lstStyle/>
                    <a:p>
                      <a:pPr>
                        <a:lnSpc>
                          <a:spcPct val="100000"/>
                        </a:lnSpc>
                      </a:pPr>
                      <a:r>
                        <a:rPr sz="1530" i="0" b="1">
                          <a:solidFill>
                            <a:srgbClr val="0F7490"/>
                          </a:solidFill>
                          <a:latin typeface="Menlo"/>
                        </a:rPr>
                        <a:t>qty</a:t>
                      </a:r>
                      <a:r>
                        <a:rPr sz="1700" i="0" b="1">
                          <a:solidFill>
                            <a:srgbClr val="1E293B"/>
                          </a:solidFill>
                          <a:latin typeface="Helvetica Neue"/>
                        </a:rPr>
                        <a:t> is -1 on order 1008</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 return, not a sale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Remove it, and say so</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Order 1006 appears twice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Duplicate export row</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Drop on </a:t>
                      </a:r>
                      <a:r>
                        <a:rPr sz="1530" i="0" b="0">
                          <a:solidFill>
                            <a:srgbClr val="0F7490"/>
                          </a:solidFill>
                          <a:latin typeface="Menlo"/>
                        </a:rPr>
                        <a:t>order_id</a:t>
                      </a:r>
                    </a:p>
                  </a:txBody>
                  <a:tcPr marL="109728" marR="109728" marT="54864" marB="54864" anchor="ctr">
                    <a:solidFill>
                      <a:srgbClr val="F8FAFC"/>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2</a:t>
            </a:r>
          </a:p>
        </p:txBody>
      </p:sp>
      <p:sp>
        <p:nvSpPr>
          <p:cNvPr id="4" name="TextBox 3"/>
          <p:cNvSpPr txBox="1"/>
          <p:nvPr/>
        </p:nvSpPr>
        <p:spPr>
          <a:xfrm>
            <a:off x="822960" y="1965960"/>
            <a:ext cx="5486400" cy="26974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Asking for the right rows and tables</a:t>
            </a:r>
          </a:p>
        </p:txBody>
      </p:sp>
      <p:sp>
        <p:nvSpPr>
          <p:cNvPr id="5" name="TextBox 4"/>
          <p:cNvSpPr txBox="1"/>
          <p:nvPr/>
        </p:nvSpPr>
        <p:spPr>
          <a:xfrm>
            <a:off x="822960" y="47548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loc and iloc · Boolean masks · Merge with checks · Long and wide</a:t>
            </a:r>
          </a:p>
        </p:txBody>
      </p:sp>
      <p:cxnSp>
        <p:nvCxnSpPr>
          <p:cNvPr id="6" name="Connector 5"/>
          <p:cNvCxnSpPr/>
          <p:nvPr/>
        </p:nvCxnSpPr>
        <p:spPr>
          <a:xfrm>
            <a:off x="6446520" y="2144395"/>
            <a:ext cx="0" cy="256921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144395"/>
            <a:ext cx="4693615" cy="275209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Which row is "row 1" after you filter?</a:t>
            </a:r>
          </a:p>
          <a:p>
            <a:pPr algn="l">
              <a:lnSpc>
                <a:spcPct val="100000"/>
              </a:lnSpc>
              <a:spcBef>
                <a:spcPts val="1189"/>
              </a:spcBef>
            </a:pPr>
            <a:r>
              <a:rPr sz="1700" i="0" b="0">
                <a:solidFill>
                  <a:srgbClr val="CBD5E1"/>
                </a:solidFill>
                <a:latin typeface="Helvetica Neue"/>
              </a:rPr>
              <a:t>The same frame, two meanings of a number</a:t>
            </a:r>
          </a:p>
          <a:p>
            <a:pPr algn="l">
              <a:lnSpc>
                <a:spcPct val="100000"/>
              </a:lnSpc>
              <a:spcBef>
                <a:spcPts val="1189"/>
              </a:spcBef>
            </a:pPr>
            <a:r>
              <a:rPr sz="1700" i="0" b="0">
                <a:solidFill>
                  <a:srgbClr val="CBD5E1"/>
                </a:solidFill>
                <a:latin typeface="Helvetica Neue"/>
              </a:rPr>
              <a:t>loc and iloc differ in more than labels</a:t>
            </a:r>
          </a:p>
          <a:p>
            <a:pPr algn="l">
              <a:lnSpc>
                <a:spcPct val="100000"/>
              </a:lnSpc>
              <a:spcBef>
                <a:spcPts val="1189"/>
              </a:spcBef>
            </a:pPr>
            <a:r>
              <a:rPr sz="1700" i="0" b="0">
                <a:solidFill>
                  <a:srgbClr val="CBD5E1"/>
                </a:solidFill>
                <a:latin typeface="Helvetica Neue"/>
              </a:rPr>
              <a:t>A careless join took revenue from 523.5 to 756.0</a:t>
            </a:r>
          </a:p>
          <a:p>
            <a:pPr algn="l">
              <a:lnSpc>
                <a:spcPct val="100000"/>
              </a:lnSpc>
              <a:spcBef>
                <a:spcPts val="1189"/>
              </a:spcBef>
            </a:pPr>
            <a:r>
              <a:rPr sz="1700" i="0" b="0">
                <a:solidFill>
                  <a:srgbClr val="CBD5E1"/>
                </a:solidFill>
                <a:latin typeface="Helvetica Neue"/>
              </a:rPr>
              <a:t>Four checks make any join safe</a:t>
            </a:r>
          </a:p>
          <a:p>
            <a:pPr algn="l">
              <a:lnSpc>
                <a:spcPct val="100000"/>
              </a:lnSpc>
              <a:spcBef>
                <a:spcPts val="1189"/>
              </a:spcBef>
            </a:pPr>
            <a:r>
              <a:rPr sz="1700" i="0" b="0">
                <a:solidFill>
                  <a:srgbClr val="CBD5E1"/>
                </a:solidFill>
                <a:latin typeface="Helvetica Neue"/>
              </a:rPr>
              <a:t>Long for analysis, wide for reading</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Which row is "row 1" after you filter?</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Asking for the right rows and tables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notes/03-indexing-and-selection.md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10</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After a filter, labels and positions differ, so use loc for labels and iloc for positions.</a:t>
            </a:r>
          </a:p>
        </p:txBody>
      </p:sp>
      <p:sp>
        <p:nvSpPr>
          <p:cNvPr id="13" name="Rectangle 12"/>
          <p:cNvSpPr/>
          <p:nvPr/>
        </p:nvSpPr>
        <p:spPr>
          <a:xfrm>
            <a:off x="777240" y="1997964"/>
            <a:ext cx="109728" cy="296265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199796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Filtering keeps the original labels, so label 3 can sit at position 1. loc and iloc then give different answers, and neither complains.</a:t>
            </a:r>
          </a:p>
        </p:txBody>
      </p:sp>
      <p:sp>
        <p:nvSpPr>
          <p:cNvPr id="15" name="TextBox 14"/>
          <p:cNvSpPr txBox="1"/>
          <p:nvPr/>
        </p:nvSpPr>
        <p:spPr>
          <a:xfrm>
            <a:off x="1234440" y="4549140"/>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Say which you mean, every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same frame, two meanings of a number</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Asking for the right rows and tables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notes/03-indexing-and-selection.md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11</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A filtered frame keeps its labels with gaps, so position 1 can be label 3 and label 0 may no longer exist.</a:t>
            </a:r>
          </a:p>
        </p:txBody>
      </p:sp>
      <p:sp>
        <p:nvSpPr>
          <p:cNvPr id="12" name="Rounded Rectangle 11"/>
          <p:cNvSpPr/>
          <p:nvPr/>
        </p:nvSpPr>
        <p:spPr>
          <a:xfrm>
            <a:off x="502920" y="1472184"/>
            <a:ext cx="6711513" cy="288036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224027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filters = orders[orders["product"] == "filter"]</a:t>
            </a:r>
          </a:p>
          <a:p>
            <a:pPr algn="l">
              <a:lnSpc>
                <a:spcPct val="100000"/>
              </a:lnSpc>
            </a:pPr>
            <a:r>
              <a:rPr sz="1600" i="0" b="0">
                <a:solidFill>
                  <a:srgbClr val="E2E8F0"/>
                </a:solidFill>
                <a:latin typeface="Menlo"/>
              </a:rPr>
              <a:t>#    order_id customer</a:t>
            </a:r>
          </a:p>
          <a:p>
            <a:pPr algn="l">
              <a:lnSpc>
                <a:spcPct val="100000"/>
              </a:lnSpc>
            </a:pPr>
            <a:r>
              <a:rPr sz="1600" i="0" b="0">
                <a:solidFill>
                  <a:srgbClr val="E2E8F0"/>
                </a:solidFill>
                <a:latin typeface="Menlo"/>
              </a:rPr>
              <a:t># 1      1002      ben</a:t>
            </a:r>
          </a:p>
          <a:p>
            <a:pPr algn="l">
              <a:lnSpc>
                <a:spcPct val="100000"/>
              </a:lnSpc>
            </a:pPr>
            <a:r>
              <a:rPr sz="1600" i="0" b="0">
                <a:solidFill>
                  <a:srgbClr val="E2E8F0"/>
                </a:solidFill>
                <a:latin typeface="Menlo"/>
              </a:rPr>
              <a:t># 3      1004     cara</a:t>
            </a:r>
          </a:p>
          <a:p>
            <a:pPr algn="l">
              <a:lnSpc>
                <a:spcPct val="100000"/>
              </a:lnSpc>
            </a:pPr>
            <a:r>
              <a:rPr sz="1600" i="0" b="0">
                <a:solidFill>
                  <a:srgbClr val="E2E8F0"/>
                </a:solidFill>
                <a:latin typeface="Menlo"/>
              </a:rPr>
              <a:t># 6      1007      eli</a:t>
            </a:r>
          </a:p>
          <a:p>
            <a:pPr algn="l">
              <a:lnSpc>
                <a:spcPct val="100000"/>
              </a:lnSpc>
            </a:pPr>
            <a:r>
              <a:rPr sz="1600" i="0" b="0">
                <a:solidFill>
                  <a:srgbClr val="E2E8F0"/>
                </a:solidFill>
                <a:latin typeface="Menlo"/>
              </a:rPr>
              <a:t># 9      1011      dev</a:t>
            </a:r>
          </a:p>
          <a:p>
            <a:pPr algn="l">
              <a:lnSpc>
                <a:spcPct val="100000"/>
              </a:lnSpc>
            </a:pPr>
            <a:r>
              <a:rPr sz="1600" i="0" b="0">
                <a:solidFill>
                  <a:srgbClr val="E2E8F0"/>
                </a:solidFill>
                <a:latin typeface="Menlo"/>
              </a:rPr>
              <a:t>filters.iloc[1]["order_id"]   # 1004: second row</a:t>
            </a:r>
          </a:p>
          <a:p>
            <a:pPr algn="l">
              <a:lnSpc>
                <a:spcPct val="100000"/>
              </a:lnSpc>
            </a:pPr>
            <a:r>
              <a:rPr sz="1600" i="0" b="0">
                <a:solidFill>
                  <a:srgbClr val="E2E8F0"/>
                </a:solidFill>
                <a:latin typeface="Menlo"/>
              </a:rPr>
              <a:t>filters.loc[3]["order_id"]    # 1004: label 3</a:t>
            </a:r>
          </a:p>
          <a:p>
            <a:pPr algn="l">
              <a:lnSpc>
                <a:spcPct val="100000"/>
              </a:lnSpc>
            </a:pPr>
            <a:r>
              <a:rPr sz="1600" i="0" b="0">
                <a:solidFill>
                  <a:srgbClr val="E2E8F0"/>
                </a:solidFill>
                <a:latin typeface="Menlo"/>
              </a:rPr>
              <a:t>filters.loc[0]                # KeyError: 0</a:t>
            </a:r>
          </a:p>
        </p:txBody>
      </p:sp>
      <p:sp>
        <p:nvSpPr>
          <p:cNvPr id="15" name="Rectangle 14"/>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620" i="0" b="1">
                <a:solidFill>
                  <a:srgbClr val="0F7490"/>
                </a:solidFill>
                <a:latin typeface="Menlo"/>
              </a:rPr>
              <a:t>iloc</a:t>
            </a:r>
            <a:r>
              <a:rPr sz="1800" i="0" b="0">
                <a:solidFill>
                  <a:srgbClr val="1E293B"/>
                </a:solidFill>
                <a:latin typeface="Helvetica Neue"/>
              </a:rPr>
              <a:t> counts positions from zero.</a:t>
            </a:r>
          </a:p>
        </p:txBody>
      </p:sp>
      <p:sp>
        <p:nvSpPr>
          <p:cNvPr id="17" name="Rectangle 16"/>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620" i="0" b="1">
                <a:solidFill>
                  <a:srgbClr val="0F7490"/>
                </a:solidFill>
                <a:latin typeface="Menlo"/>
              </a:rPr>
              <a:t>loc</a:t>
            </a:r>
            <a:r>
              <a:rPr sz="1800" i="0" b="0">
                <a:solidFill>
                  <a:srgbClr val="1E293B"/>
                </a:solidFill>
                <a:latin typeface="Helvetica Neue"/>
              </a:rPr>
              <a:t> looks up labels, and label 0 was a kettle.</a:t>
            </a:r>
          </a:p>
        </p:txBody>
      </p:sp>
      <p:sp>
        <p:nvSpPr>
          <p:cNvPr id="19" name="Rectangle 18"/>
          <p:cNvSpPr/>
          <p:nvPr/>
        </p:nvSpPr>
        <p:spPr>
          <a:xfrm>
            <a:off x="7580193" y="308610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620" i="0" b="1">
                <a:solidFill>
                  <a:srgbClr val="0F7490"/>
                </a:solidFill>
                <a:latin typeface="Menlo"/>
              </a:rPr>
              <a:t>reset_index(drop=True)</a:t>
            </a:r>
            <a:r>
              <a:rPr sz="1800" i="0" b="0">
                <a:solidFill>
                  <a:srgbClr val="1E293B"/>
                </a:solidFill>
                <a:latin typeface="Helvetica Neue"/>
              </a:rPr>
              <a:t> renumbers after a filter.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loc and iloc differ in more than labels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Asking for the right rows and tables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notes/03-indexing-and-selection.md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12</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loc slices include the end and accept masks and names, while iloc slices exclude the end and accept only integers.</a:t>
            </a:r>
          </a:p>
        </p:txBody>
      </p:sp>
      <p:sp>
        <p:nvSpPr>
          <p:cNvPr id="12" name="Rectangle 11"/>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loc</a:t>
            </a:r>
          </a:p>
        </p:txBody>
      </p:sp>
      <p:sp>
        <p:nvSpPr>
          <p:cNvPr id="15" name="Rectangle 14"/>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530" i="0" b="0">
                <a:solidFill>
                  <a:srgbClr val="0F7490"/>
                </a:solidFill>
                <a:latin typeface="Menlo"/>
              </a:rPr>
              <a:t>df.loc[0:2]</a:t>
            </a:r>
            <a:r>
              <a:rPr sz="1700" i="0" b="0">
                <a:solidFill>
                  <a:srgbClr val="1E293B"/>
                </a:solidFill>
                <a:latin typeface="Helvetica Neue"/>
              </a:rPr>
              <a:t> includes the end: three rows</a:t>
            </a:r>
          </a:p>
        </p:txBody>
      </p:sp>
      <p:sp>
        <p:nvSpPr>
          <p:cNvPr id="17" name="Rectangle 16"/>
          <p:cNvSpPr/>
          <p:nvPr/>
        </p:nvSpPr>
        <p:spPr>
          <a:xfrm>
            <a:off x="731520" y="272770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Takes masks and column names</a:t>
            </a:r>
          </a:p>
        </p:txBody>
      </p:sp>
      <p:sp>
        <p:nvSpPr>
          <p:cNvPr id="19" name="Rectangle 18"/>
          <p:cNvSpPr/>
          <p:nvPr/>
        </p:nvSpPr>
        <p:spPr>
          <a:xfrm>
            <a:off x="731520" y="314223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060192"/>
            <a:ext cx="4587087" cy="661416"/>
          </a:xfrm>
          <a:prstGeom prst="rect">
            <a:avLst/>
          </a:prstGeom>
          <a:noFill/>
        </p:spPr>
        <p:txBody>
          <a:bodyPr wrap="square" lIns="0" rIns="0" tIns="0" bIns="0" anchor="t">
            <a:noAutofit/>
          </a:bodyPr>
          <a:lstStyle/>
          <a:p>
            <a:pPr algn="l">
              <a:lnSpc>
                <a:spcPct val="110000"/>
              </a:lnSpc>
            </a:pPr>
            <a:r>
              <a:rPr sz="1530" i="0" b="0">
                <a:solidFill>
                  <a:srgbClr val="0F7490"/>
                </a:solidFill>
                <a:latin typeface="Menlo"/>
              </a:rPr>
              <a:t>df.loc[mask, "qty"] = 0</a:t>
            </a:r>
            <a:r>
              <a:rPr sz="1700" i="0" b="0">
                <a:solidFill>
                  <a:srgbClr val="1E293B"/>
                </a:solidFill>
                <a:latin typeface="Helvetica Neue"/>
              </a:rPr>
              <a:t> is the way to set values</a:t>
            </a:r>
          </a:p>
        </p:txBody>
      </p:sp>
      <p:sp>
        <p:nvSpPr>
          <p:cNvPr id="21" name="Rectangle 20"/>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labels</a:t>
            </a:r>
          </a:p>
        </p:txBody>
      </p:sp>
      <p:sp>
        <p:nvSpPr>
          <p:cNvPr id="23" name="Rectangle 22"/>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iloc</a:t>
            </a:r>
          </a:p>
        </p:txBody>
      </p:sp>
      <p:sp>
        <p:nvSpPr>
          <p:cNvPr id="26" name="Rectangle 25"/>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7367" y="2231136"/>
            <a:ext cx="4587087" cy="376428"/>
          </a:xfrm>
          <a:prstGeom prst="rect">
            <a:avLst/>
          </a:prstGeom>
          <a:noFill/>
        </p:spPr>
        <p:txBody>
          <a:bodyPr wrap="square" lIns="0" rIns="0" tIns="0" bIns="0" anchor="t">
            <a:noAutofit/>
          </a:bodyPr>
          <a:lstStyle/>
          <a:p>
            <a:pPr algn="l">
              <a:lnSpc>
                <a:spcPct val="110000"/>
              </a:lnSpc>
            </a:pPr>
            <a:r>
              <a:rPr sz="1530" i="0" b="0">
                <a:solidFill>
                  <a:srgbClr val="0F7490"/>
                </a:solidFill>
                <a:latin typeface="Menlo"/>
              </a:rPr>
              <a:t>df.iloc[0:2]</a:t>
            </a:r>
            <a:r>
              <a:rPr sz="1700" i="0" b="0">
                <a:solidFill>
                  <a:srgbClr val="1E293B"/>
                </a:solidFill>
                <a:latin typeface="Helvetica Neue"/>
              </a:rPr>
              <a:t> excludes the end: two rows</a:t>
            </a:r>
          </a:p>
        </p:txBody>
      </p:sp>
      <p:sp>
        <p:nvSpPr>
          <p:cNvPr id="28" name="Rectangle 27"/>
          <p:cNvSpPr/>
          <p:nvPr/>
        </p:nvSpPr>
        <p:spPr>
          <a:xfrm>
            <a:off x="6507327" y="272770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27367"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Integers only, like a Python list</a:t>
            </a:r>
          </a:p>
        </p:txBody>
      </p:sp>
      <p:sp>
        <p:nvSpPr>
          <p:cNvPr id="30" name="Rectangle 29"/>
          <p:cNvSpPr/>
          <p:nvPr/>
        </p:nvSpPr>
        <p:spPr>
          <a:xfrm>
            <a:off x="6507327" y="314223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27367"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The way to say "the first row"</a:t>
            </a:r>
          </a:p>
        </p:txBody>
      </p:sp>
      <p:sp>
        <p:nvSpPr>
          <p:cNvPr id="32" name="Rectangle 31"/>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positions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careless join took revenue from 523.5 to 756.0</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Asking for the right rows and tables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notes/04-reshaping-and-joins.md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13</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A merge on a key that repeats on both sides multiplies rows and inflates totals without error, so state validate.</a:t>
            </a:r>
          </a:p>
        </p:txBody>
      </p:sp>
      <p:sp>
        <p:nvSpPr>
          <p:cNvPr id="12" name="Rounded Rectangle 11"/>
          <p:cNvSpPr/>
          <p:nvPr/>
        </p:nvSpPr>
        <p:spPr>
          <a:xfrm>
            <a:off x="502920" y="1472184"/>
            <a:ext cx="6711513" cy="239268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175259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blown = orders.merge(promos, on="customer",</a:t>
            </a:r>
          </a:p>
          <a:p>
            <a:pPr algn="l">
              <a:lnSpc>
                <a:spcPct val="100000"/>
              </a:lnSpc>
            </a:pPr>
            <a:r>
              <a:rPr sz="1600" i="0" b="0">
                <a:solidFill>
                  <a:srgbClr val="E2E8F0"/>
                </a:solidFill>
                <a:latin typeface="Menlo"/>
              </a:rPr>
              <a:t>                     how="left")</a:t>
            </a:r>
          </a:p>
          <a:p>
            <a:pPr algn="l">
              <a:lnSpc>
                <a:spcPct val="100000"/>
              </a:lnSpc>
            </a:pPr>
            <a:r>
              <a:rPr sz="1600" i="0" b="0">
                <a:solidFill>
                  <a:srgbClr val="E2E8F0"/>
                </a:solidFill>
                <a:latin typeface="Menlo"/>
              </a:rPr>
              <a:t># rows:    11 -&gt; 16</a:t>
            </a:r>
          </a:p>
          <a:p>
            <a:pPr algn="l">
              <a:lnSpc>
                <a:spcPct val="100000"/>
              </a:lnSpc>
            </a:pPr>
            <a:r>
              <a:rPr sz="1600" i="0" b="0">
                <a:solidFill>
                  <a:srgbClr val="E2E8F0"/>
                </a:solidFill>
                <a:latin typeface="Menlo"/>
              </a:rPr>
              <a:t># revenue: 523.5 -&gt; 756.0, and no error</a:t>
            </a:r>
          </a:p>
          <a:p>
            <a:pPr algn="l">
              <a:lnSpc>
                <a:spcPct val="100000"/>
              </a:lnSpc>
            </a:pPr>
            <a:r>
              <a:rPr sz="1600" i="0" b="0">
                <a:solidFill>
                  <a:srgbClr val="E2E8F0"/>
                </a:solidFill>
                <a:latin typeface="Menlo"/>
              </a:rPr>
              <a:t>orders.merge(promos, on="customer", how="left",</a:t>
            </a:r>
          </a:p>
          <a:p>
            <a:pPr algn="l">
              <a:lnSpc>
                <a:spcPct val="100000"/>
              </a:lnSpc>
            </a:pPr>
            <a:r>
              <a:rPr sz="1600" i="0" b="0">
                <a:solidFill>
                  <a:srgbClr val="E2E8F0"/>
                </a:solidFill>
                <a:latin typeface="Menlo"/>
              </a:rPr>
              <a:t>             validate="many_to_one")</a:t>
            </a:r>
          </a:p>
          <a:p>
            <a:pPr algn="l">
              <a:lnSpc>
                <a:spcPct val="100000"/>
              </a:lnSpc>
            </a:pPr>
            <a:r>
              <a:rPr sz="1600" i="0" b="0">
                <a:solidFill>
                  <a:srgbClr val="E2E8F0"/>
                </a:solidFill>
                <a:latin typeface="Menlo"/>
              </a:rPr>
              <a:t># MergeError: Merge keys are not unique in right</a:t>
            </a:r>
          </a:p>
        </p:txBody>
      </p:sp>
      <p:sp>
        <p:nvSpPr>
          <p:cNvPr id="15" name="Rectangle 14"/>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Repeats on both sides</a:t>
            </a:r>
            <a:r>
              <a:rPr sz="1800" i="0" b="0">
                <a:solidFill>
                  <a:srgbClr val="1E293B"/>
                </a:solidFill>
                <a:latin typeface="Helvetica Neue"/>
              </a:rPr>
              <a:t> multiply rows.</a:t>
            </a:r>
          </a:p>
        </p:txBody>
      </p:sp>
      <p:sp>
        <p:nvSpPr>
          <p:cNvPr id="17" name="Rectangle 16"/>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620" i="0" b="1">
                <a:solidFill>
                  <a:srgbClr val="0F7490"/>
                </a:solidFill>
                <a:latin typeface="Menlo"/>
              </a:rPr>
              <a:t>validate</a:t>
            </a:r>
            <a:r>
              <a:rPr sz="1800" i="0" b="0">
                <a:solidFill>
                  <a:srgbClr val="1E293B"/>
                </a:solidFill>
                <a:latin typeface="Helvetica Neue"/>
              </a:rPr>
              <a:t> turns a silent error into a loud 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Four checks make any join safe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Asking for the right rows and tables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notes/04-reshaping-and-joins.md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14</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On every merge state how and validate, then compare the row count and one total before and after.</a:t>
            </a:r>
          </a:p>
        </p:txBody>
      </p:sp>
      <p:sp>
        <p:nvSpPr>
          <p:cNvPr id="12" name="Rounded Rectangle 11"/>
          <p:cNvSpPr/>
          <p:nvPr/>
        </p:nvSpPr>
        <p:spPr>
          <a:xfrm>
            <a:off x="586587" y="1563624"/>
            <a:ext cx="2377440" cy="1490472"/>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747" y="1563624"/>
            <a:ext cx="2103120"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State how</a:t>
            </a:r>
          </a:p>
          <a:p>
            <a:pPr algn="ctr">
              <a:lnSpc>
                <a:spcPct val="110000"/>
              </a:lnSpc>
            </a:pPr>
            <a:r>
              <a:rPr sz="1300" i="0" b="0">
                <a:solidFill>
                  <a:srgbClr val="E8F4F8"/>
                </a:solidFill>
                <a:latin typeface="Helvetica Neue"/>
              </a:rPr>
              <a:t>The default inner join drops unmatched rows.</a:t>
            </a:r>
          </a:p>
        </p:txBody>
      </p:sp>
      <p:cxnSp>
        <p:nvCxnSpPr>
          <p:cNvPr id="14" name="Connector 13"/>
          <p:cNvCxnSpPr/>
          <p:nvPr/>
        </p:nvCxnSpPr>
        <p:spPr>
          <a:xfrm>
            <a:off x="3018891" y="230886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66947" y="1563624"/>
            <a:ext cx="2377440" cy="1490472"/>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4107" y="1563624"/>
            <a:ext cx="2103120"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State validate</a:t>
            </a:r>
          </a:p>
          <a:p>
            <a:pPr algn="ctr">
              <a:lnSpc>
                <a:spcPct val="110000"/>
              </a:lnSpc>
            </a:pPr>
            <a:r>
              <a:rPr sz="1300" i="0" b="0">
                <a:solidFill>
                  <a:srgbClr val="E8F4F8"/>
                </a:solidFill>
                <a:latin typeface="Menlo"/>
              </a:rPr>
              <a:t>many_to_one</a:t>
            </a:r>
            <a:r>
              <a:rPr sz="1300" i="0" b="0">
                <a:solidFill>
                  <a:srgbClr val="E8F4F8"/>
                </a:solidFill>
                <a:latin typeface="Helvetica Neue"/>
              </a:rPr>
              <a:t> checks the key really is unique on the right.</a:t>
            </a:r>
          </a:p>
        </p:txBody>
      </p:sp>
      <p:cxnSp>
        <p:nvCxnSpPr>
          <p:cNvPr id="17" name="Connector 16"/>
          <p:cNvCxnSpPr/>
          <p:nvPr/>
        </p:nvCxnSpPr>
        <p:spPr>
          <a:xfrm>
            <a:off x="5899251" y="230886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47307" y="1563624"/>
            <a:ext cx="2377440" cy="1490472"/>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4467" y="1563624"/>
            <a:ext cx="2103120"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Compare row counts</a:t>
            </a:r>
          </a:p>
          <a:p>
            <a:pPr algn="ctr">
              <a:lnSpc>
                <a:spcPct val="110000"/>
              </a:lnSpc>
            </a:pPr>
            <a:r>
              <a:rPr sz="1300" i="0" b="0">
                <a:solidFill>
                  <a:srgbClr val="E8F4F8"/>
                </a:solidFill>
                <a:latin typeface="Helvetica Neue"/>
              </a:rPr>
              <a:t>Before and after: 11 and 11.</a:t>
            </a:r>
          </a:p>
        </p:txBody>
      </p:sp>
      <p:cxnSp>
        <p:nvCxnSpPr>
          <p:cNvPr id="20" name="Connector 19"/>
          <p:cNvCxnSpPr/>
          <p:nvPr/>
        </p:nvCxnSpPr>
        <p:spPr>
          <a:xfrm>
            <a:off x="8779611" y="230886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227667" y="1563624"/>
            <a:ext cx="2377440" cy="149047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4827" y="1563624"/>
            <a:ext cx="2103120"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Compare one total</a:t>
            </a:r>
          </a:p>
          <a:p>
            <a:pPr algn="ctr">
              <a:lnSpc>
                <a:spcPct val="110000"/>
              </a:lnSpc>
            </a:pPr>
            <a:r>
              <a:rPr sz="1300" i="0" b="0">
                <a:solidFill>
                  <a:srgbClr val="E8F4F8"/>
                </a:solidFill>
                <a:latin typeface="Helvetica Neue"/>
              </a:rPr>
              <a:t>Revenue stays 523.5.</a:t>
            </a:r>
          </a:p>
        </p:txBody>
      </p:sp>
      <p:sp>
        <p:nvSpPr>
          <p:cNvPr id="23" name="TextBox 22"/>
          <p:cNvSpPr txBox="1"/>
          <p:nvPr/>
        </p:nvSpPr>
        <p:spPr>
          <a:xfrm>
            <a:off x="502920" y="3374136"/>
            <a:ext cx="11185855" cy="2112263"/>
          </a:xfrm>
          <a:prstGeom prst="rect">
            <a:avLst/>
          </a:prstGeom>
          <a:noFill/>
        </p:spPr>
        <p:txBody>
          <a:bodyPr wrap="square" lIns="0" rIns="0" tIns="0" bIns="0" anchor="t">
            <a:noAutofit/>
          </a:bodyPr>
          <a:lstStyle/>
          <a:p>
            <a:pPr algn="ctr">
              <a:lnSpc>
                <a:spcPct val="110000"/>
              </a:lnSpc>
            </a:pPr>
            <a:r>
              <a:rPr sz="1700" i="0" b="0">
                <a:solidFill>
                  <a:srgbClr val="475569"/>
                </a:solidFill>
                <a:latin typeface="Helvetica Neue"/>
              </a:rPr>
              <a:t>Audit unmatched keys with indicator=True, and clean keys first, since "Ana" and "ana " will not join.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Long for analysis, wide for reading</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Asking for the right rows and tables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notes/04-reshaping-and-joins.md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15</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Tidy long data has one variable per column and one observation per row, which is what groupby and seaborn expect.</a:t>
            </a:r>
          </a:p>
        </p:txBody>
      </p:sp>
      <p:sp>
        <p:nvSpPr>
          <p:cNvPr id="12" name="Rectangle 11"/>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Long (tidy)</a:t>
            </a:r>
          </a:p>
        </p:txBody>
      </p:sp>
      <p:sp>
        <p:nvSpPr>
          <p:cNvPr id="15" name="Rectangle 14"/>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Each variable is a column</a:t>
            </a:r>
          </a:p>
        </p:txBody>
      </p:sp>
      <p:sp>
        <p:nvSpPr>
          <p:cNvPr id="17" name="Rectangle 16"/>
          <p:cNvSpPr/>
          <p:nvPr/>
        </p:nvSpPr>
        <p:spPr>
          <a:xfrm>
            <a:off x="731520" y="272770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What </a:t>
            </a:r>
            <a:r>
              <a:rPr sz="1530" i="0" b="0">
                <a:solidFill>
                  <a:srgbClr val="0F7490"/>
                </a:solidFill>
                <a:latin typeface="Menlo"/>
              </a:rPr>
              <a:t>groupby</a:t>
            </a:r>
            <a:r>
              <a:rPr sz="1700" i="0" b="0">
                <a:solidFill>
                  <a:srgbClr val="1E293B"/>
                </a:solidFill>
                <a:latin typeface="Helvetica Neue"/>
              </a:rPr>
              <a:t> and seaborn expect</a:t>
            </a:r>
          </a:p>
        </p:txBody>
      </p:sp>
      <p:sp>
        <p:nvSpPr>
          <p:cNvPr id="19" name="Rectangle 18"/>
          <p:cNvSpPr/>
          <p:nvPr/>
        </p:nvSpPr>
        <p:spPr>
          <a:xfrm>
            <a:off x="731520" y="314223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Get there with </a:t>
            </a:r>
            <a:r>
              <a:rPr sz="1530" i="0" b="0">
                <a:solidFill>
                  <a:srgbClr val="0F7490"/>
                </a:solidFill>
                <a:latin typeface="Menlo"/>
              </a:rPr>
              <a:t>melt</a:t>
            </a:r>
          </a:p>
        </p:txBody>
      </p:sp>
      <p:sp>
        <p:nvSpPr>
          <p:cNvPr id="21" name="Rectangle 20"/>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one row per observation</a:t>
            </a:r>
          </a:p>
        </p:txBody>
      </p:sp>
      <p:sp>
        <p:nvSpPr>
          <p:cNvPr id="23" name="Rectangle 22"/>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Wide</a:t>
            </a:r>
          </a:p>
        </p:txBody>
      </p:sp>
      <p:sp>
        <p:nvSpPr>
          <p:cNvPr id="26" name="Rectangle 25"/>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7367"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Easy for people to scan</a:t>
            </a:r>
          </a:p>
        </p:txBody>
      </p:sp>
      <p:sp>
        <p:nvSpPr>
          <p:cNvPr id="28" name="Rectangle 27"/>
          <p:cNvSpPr/>
          <p:nvPr/>
        </p:nvSpPr>
        <p:spPr>
          <a:xfrm>
            <a:off x="6507327" y="272770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27367"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Good for reports</a:t>
            </a:r>
          </a:p>
        </p:txBody>
      </p:sp>
      <p:sp>
        <p:nvSpPr>
          <p:cNvPr id="30" name="Rectangle 29"/>
          <p:cNvSpPr/>
          <p:nvPr/>
        </p:nvSpPr>
        <p:spPr>
          <a:xfrm>
            <a:off x="6507327" y="314223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27367" y="3060192"/>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Get there with </a:t>
            </a:r>
            <a:r>
              <a:rPr sz="1530" i="0" b="0">
                <a:solidFill>
                  <a:srgbClr val="0F7490"/>
                </a:solidFill>
                <a:latin typeface="Menlo"/>
              </a:rPr>
              <a:t>pivot_table</a:t>
            </a:r>
            <a:r>
              <a:rPr sz="1700" i="0" b="0">
                <a:solidFill>
                  <a:srgbClr val="1E293B"/>
                </a:solidFill>
                <a:latin typeface="Helvetica Neue"/>
              </a:rPr>
              <a:t>, and state </a:t>
            </a:r>
            <a:r>
              <a:rPr sz="1530" i="0" b="0">
                <a:solidFill>
                  <a:srgbClr val="0F7490"/>
                </a:solidFill>
                <a:latin typeface="Menlo"/>
              </a:rPr>
              <a:t>aggfunc</a:t>
            </a:r>
          </a:p>
        </p:txBody>
      </p:sp>
      <p:sp>
        <p:nvSpPr>
          <p:cNvPr id="32" name="Rectangle 31"/>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one column per category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F7490"/>
                </a:solidFill>
                <a:latin typeface="Helvetica Neue"/>
              </a:rPr>
              <a:t>PART 3</a:t>
            </a:r>
          </a:p>
        </p:txBody>
      </p:sp>
      <p:sp>
        <p:nvSpPr>
          <p:cNvPr id="4" name="TextBox 3"/>
          <p:cNvSpPr txBox="1"/>
          <p:nvPr/>
        </p:nvSpPr>
        <p:spPr>
          <a:xfrm>
            <a:off x="822960" y="1965960"/>
            <a:ext cx="5486400" cy="26974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Summarising without fooling yourself</a:t>
            </a:r>
          </a:p>
        </p:txBody>
      </p:sp>
      <p:sp>
        <p:nvSpPr>
          <p:cNvPr id="5" name="TextBox 4"/>
          <p:cNvSpPr txBox="1"/>
          <p:nvPr/>
        </p:nvSpPr>
        <p:spPr>
          <a:xfrm>
            <a:off x="822960" y="47548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Split-apply-combine · agg and transform · The mean-of-rates trap · Lost keys</a:t>
            </a:r>
          </a:p>
        </p:txBody>
      </p:sp>
      <p:cxnSp>
        <p:nvCxnSpPr>
          <p:cNvPr id="6" name="Connector 5"/>
          <p:cNvCxnSpPr/>
          <p:nvPr/>
        </p:nvCxnSpPr>
        <p:spPr>
          <a:xfrm>
            <a:off x="6446520" y="2219960"/>
            <a:ext cx="0" cy="241808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219960"/>
            <a:ext cx="4693615" cy="260096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What is the margin rate in each region?</a:t>
            </a:r>
          </a:p>
          <a:p>
            <a:pPr algn="l">
              <a:lnSpc>
                <a:spcPct val="100000"/>
              </a:lnSpc>
              <a:spcBef>
                <a:spcPts val="1189"/>
              </a:spcBef>
            </a:pPr>
            <a:r>
              <a:rPr sz="1700" i="0" b="0">
                <a:solidFill>
                  <a:srgbClr val="CBD5E1"/>
                </a:solidFill>
                <a:latin typeface="Helvetica Neue"/>
              </a:rPr>
              <a:t>Every groupby is split, apply, combine</a:t>
            </a:r>
          </a:p>
          <a:p>
            <a:pPr algn="l">
              <a:lnSpc>
                <a:spcPct val="100000"/>
              </a:lnSpc>
              <a:spcBef>
                <a:spcPts val="1189"/>
              </a:spcBef>
            </a:pPr>
            <a:r>
              <a:rPr sz="1700" i="0" b="0">
                <a:solidFill>
                  <a:srgbClr val="CBD5E1"/>
                </a:solidFill>
                <a:latin typeface="Helvetica Neue"/>
              </a:rPr>
              <a:t>The method depends on what each group should return</a:t>
            </a:r>
          </a:p>
          <a:p>
            <a:pPr algn="l">
              <a:lnSpc>
                <a:spcPct val="100000"/>
              </a:lnSpc>
              <a:spcBef>
                <a:spcPts val="1189"/>
              </a:spcBef>
            </a:pPr>
            <a:r>
              <a:rPr sz="1700" i="0" b="0">
                <a:solidFill>
                  <a:srgbClr val="CBD5E1"/>
                </a:solidFill>
                <a:latin typeface="Helvetica Neue"/>
              </a:rPr>
              <a:t>Averaging rates overstates every region</a:t>
            </a:r>
          </a:p>
          <a:p>
            <a:pPr algn="l">
              <a:lnSpc>
                <a:spcPct val="100000"/>
              </a:lnSpc>
              <a:spcBef>
                <a:spcPts val="1189"/>
              </a:spcBef>
            </a:pPr>
            <a:r>
              <a:rPr sz="1700" i="0" b="0">
                <a:solidFill>
                  <a:srgbClr val="CBD5E1"/>
                </a:solidFill>
                <a:latin typeface="Helvetica Neue"/>
              </a:rPr>
              <a:t>Name your aggregates, and always keep a count</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What is the margin rate in each region?</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Summarising without fooling yourself</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notes/05-groupby-and-aggregation.md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17</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Averaging per-order rates weights small and large orders alike, so it gives the wrong group rate.</a:t>
            </a:r>
          </a:p>
        </p:txBody>
      </p:sp>
      <p:sp>
        <p:nvSpPr>
          <p:cNvPr id="13" name="Rectangle 12"/>
          <p:cNvSpPr/>
          <p:nvPr/>
        </p:nvSpPr>
        <p:spPr>
          <a:xfrm>
            <a:off x="777240" y="2299716"/>
            <a:ext cx="109728" cy="235915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299716"/>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The obvious answer, averaging a rate per order, gives the wrong number for every region in the shop.</a:t>
            </a:r>
          </a:p>
        </p:txBody>
      </p:sp>
      <p:sp>
        <p:nvSpPr>
          <p:cNvPr id="15" name="TextBox 14"/>
          <p:cNvSpPr txBox="1"/>
          <p:nvPr/>
        </p:nvSpPr>
        <p:spPr>
          <a:xfrm>
            <a:off x="1234440" y="4247388"/>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The fix is one line, once you see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Every groupby is split, apply, combine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Summarising without fooling yourself</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notes/05-groupby-and-aggregation.md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18</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A groupby splits rows by key, applies a function to each piece independently, and combines the results.</a:t>
            </a:r>
          </a:p>
        </p:txBody>
      </p:sp>
      <p:sp>
        <p:nvSpPr>
          <p:cNvPr id="12" name="Rounded Rectangle 11"/>
          <p:cNvSpPr/>
          <p:nvPr/>
        </p:nvSpPr>
        <p:spPr>
          <a:xfrm>
            <a:off x="2026767" y="1563624"/>
            <a:ext cx="2377440" cy="1205484"/>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6392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Split</a:t>
            </a:r>
          </a:p>
          <a:p>
            <a:pPr algn="ctr">
              <a:lnSpc>
                <a:spcPct val="110000"/>
              </a:lnSpc>
            </a:pPr>
            <a:r>
              <a:rPr sz="1300" i="0" b="0">
                <a:solidFill>
                  <a:srgbClr val="E8F4F8"/>
                </a:solidFill>
                <a:latin typeface="Helvetica Neue"/>
              </a:rPr>
              <a:t>Divide rows by key.</a:t>
            </a:r>
          </a:p>
        </p:txBody>
      </p:sp>
      <p:cxnSp>
        <p:nvCxnSpPr>
          <p:cNvPr id="14" name="Connector 13"/>
          <p:cNvCxnSpPr/>
          <p:nvPr/>
        </p:nvCxnSpPr>
        <p:spPr>
          <a:xfrm>
            <a:off x="445907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07127" y="1563624"/>
            <a:ext cx="2377440" cy="1205484"/>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4428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Apply</a:t>
            </a:r>
          </a:p>
          <a:p>
            <a:pPr algn="ctr">
              <a:lnSpc>
                <a:spcPct val="110000"/>
              </a:lnSpc>
            </a:pPr>
            <a:r>
              <a:rPr sz="1300" i="0" b="0">
                <a:solidFill>
                  <a:srgbClr val="E8F4F8"/>
                </a:solidFill>
                <a:latin typeface="Helvetica Neue"/>
              </a:rPr>
              <a:t>Compute on each piece, on its own.</a:t>
            </a:r>
          </a:p>
        </p:txBody>
      </p:sp>
      <p:cxnSp>
        <p:nvCxnSpPr>
          <p:cNvPr id="17" name="Connector 16"/>
          <p:cNvCxnSpPr/>
          <p:nvPr/>
        </p:nvCxnSpPr>
        <p:spPr>
          <a:xfrm>
            <a:off x="733943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787487" y="1563624"/>
            <a:ext cx="2377440" cy="1205484"/>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2464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Combine</a:t>
            </a:r>
          </a:p>
          <a:p>
            <a:pPr algn="ctr">
              <a:lnSpc>
                <a:spcPct val="110000"/>
              </a:lnSpc>
            </a:pPr>
            <a:r>
              <a:rPr sz="1300" i="0" b="0">
                <a:solidFill>
                  <a:srgbClr val="E8F4F8"/>
                </a:solidFill>
                <a:latin typeface="Helvetica Neue"/>
              </a:rPr>
              <a:t>Put results into one object.</a:t>
            </a:r>
          </a:p>
        </p:txBody>
      </p:sp>
      <p:sp>
        <p:nvSpPr>
          <p:cNvPr id="20" name="TextBox 19"/>
          <p:cNvSpPr txBox="1"/>
          <p:nvPr/>
        </p:nvSpPr>
        <p:spPr>
          <a:xfrm>
            <a:off x="502920" y="3089148"/>
            <a:ext cx="11185855" cy="2397252"/>
          </a:xfrm>
          <a:prstGeom prst="rect">
            <a:avLst/>
          </a:prstGeom>
          <a:noFill/>
        </p:spPr>
        <p:txBody>
          <a:bodyPr wrap="square" lIns="0" rIns="0" tIns="0" bIns="0" anchor="t">
            <a:noAutofit/>
          </a:bodyPr>
          <a:lstStyle/>
          <a:p>
            <a:pPr algn="ctr">
              <a:lnSpc>
                <a:spcPct val="110000"/>
              </a:lnSpc>
            </a:pPr>
            <a:r>
              <a:rPr sz="1700" i="0" b="0">
                <a:solidFill>
                  <a:srgbClr val="475569"/>
                </a:solidFill>
                <a:latin typeface="Helvetica Neue"/>
              </a:rPr>
              <a:t>Wickham's name for the pattern (JSS 2011). Overlapping windows fall outside it and need rolling.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method depends on what each group should return</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Summarising without fooling yourself</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notes/05-groupby-and-aggregation.md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19</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agg returns one row per group, transform one value per original row, filter a subset of rows, and apply anything.</a:t>
            </a:r>
          </a:p>
        </p:txBody>
      </p:sp>
      <p:graphicFrame>
        <p:nvGraphicFramePr>
          <p:cNvPr id="12" name="Table 11"/>
          <p:cNvGraphicFramePr>
            <a:graphicFrameLocks noGrp="1"/>
          </p:cNvGraphicFramePr>
          <p:nvPr/>
        </p:nvGraphicFramePr>
        <p:xfrm>
          <a:off x="502920" y="1472184"/>
          <a:ext cx="11185854" cy="2545080"/>
        </p:xfrm>
        <a:graphic>
          <a:graphicData uri="http://schemas.openxmlformats.org/drawingml/2006/table">
            <a:tbl>
              <a:tblPr firstRow="1" bandRow="1">
                <a:tableStyleId>{5940675A-B579-460E-94D1-54222C63F5DA}</a:tableStyleId>
              </a:tblPr>
              <a:tblGrid>
                <a:gridCol w="2237171"/>
                <a:gridCol w="3355756"/>
                <a:gridCol w="5592927"/>
              </a:tblGrid>
              <a:tr h="405384">
                <a:tc>
                  <a:txBody>
                    <a:bodyPr wrap="square"/>
                    <a:lstStyle/>
                    <a:p>
                      <a:pPr>
                        <a:lnSpc>
                          <a:spcPct val="100000"/>
                        </a:lnSpc>
                      </a:pPr>
                      <a:r>
                        <a:rPr sz="1700" i="0" b="1">
                          <a:solidFill>
                            <a:srgbClr val="FFFFFF"/>
                          </a:solidFill>
                          <a:latin typeface="Helvetica Neue"/>
                        </a:rPr>
                        <a:t>Method</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Returns</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Example</a:t>
                      </a:r>
                    </a:p>
                  </a:txBody>
                  <a:tcPr marL="109728" marR="109728" marT="54864" marB="54864" anchor="ctr">
                    <a:solidFill>
                      <a:srgbClr val="1E3A5F"/>
                    </a:solidFill>
                  </a:tcPr>
                </a:tc>
              </a:tr>
              <a:tr h="405384">
                <a:tc>
                  <a:txBody>
                    <a:bodyPr wrap="square"/>
                    <a:lstStyle/>
                    <a:p>
                      <a:pPr>
                        <a:lnSpc>
                          <a:spcPct val="100000"/>
                        </a:lnSpc>
                      </a:pPr>
                      <a:r>
                        <a:rPr sz="1530" i="0" b="1">
                          <a:solidFill>
                            <a:srgbClr val="0F7490"/>
                          </a:solidFill>
                          <a:latin typeface="Menlo"/>
                        </a:rPr>
                        <a:t>agg</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One row per group</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Revenue and count by region</a:t>
                      </a:r>
                    </a:p>
                  </a:txBody>
                  <a:tcPr marL="109728" marR="109728" marT="54864" marB="54864" anchor="ctr">
                    <a:solidFill>
                      <a:srgbClr val="FFFFFF"/>
                    </a:solidFill>
                  </a:tcPr>
                </a:tc>
              </a:tr>
              <a:tr h="405384">
                <a:tc>
                  <a:txBody>
                    <a:bodyPr wrap="square"/>
                    <a:lstStyle/>
                    <a:p>
                      <a:pPr>
                        <a:lnSpc>
                          <a:spcPct val="100000"/>
                        </a:lnSpc>
                      </a:pPr>
                      <a:r>
                        <a:rPr sz="1530" i="0" b="1">
                          <a:solidFill>
                            <a:srgbClr val="0F7490"/>
                          </a:solidFill>
                          <a:latin typeface="Menlo"/>
                        </a:rPr>
                        <a:t>transform</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One value per original row</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Each order's share of its region's revenue</a:t>
                      </a:r>
                    </a:p>
                  </a:txBody>
                  <a:tcPr marL="109728" marR="109728" marT="54864" marB="54864" anchor="ctr">
                    <a:solidFill>
                      <a:srgbClr val="F8FAFC"/>
                    </a:solidFill>
                  </a:tcPr>
                </a:tc>
              </a:tr>
              <a:tr h="664464">
                <a:tc>
                  <a:txBody>
                    <a:bodyPr wrap="square"/>
                    <a:lstStyle/>
                    <a:p>
                      <a:pPr>
                        <a:lnSpc>
                          <a:spcPct val="100000"/>
                        </a:lnSpc>
                      </a:pPr>
                      <a:r>
                        <a:rPr sz="1530" i="0" b="1">
                          <a:solidFill>
                            <a:srgbClr val="0F7490"/>
                          </a:solidFill>
                          <a:latin typeface="Menlo"/>
                        </a:rPr>
                        <a:t>filter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Some rows, kept or dropped by group</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Customers with at least two orders</a:t>
                      </a:r>
                    </a:p>
                  </a:txBody>
                  <a:tcPr marL="109728" marR="109728" marT="54864" marB="54864" anchor="ctr">
                    <a:solidFill>
                      <a:srgbClr val="FFFFFF"/>
                    </a:solidFill>
                  </a:tcPr>
                </a:tc>
              </a:tr>
              <a:tr h="664464">
                <a:tc>
                  <a:txBody>
                    <a:bodyPr wrap="square"/>
                    <a:lstStyle/>
                    <a:p>
                      <a:pPr>
                        <a:lnSpc>
                          <a:spcPct val="100000"/>
                        </a:lnSpc>
                      </a:pPr>
                      <a:r>
                        <a:rPr sz="1530" i="0" b="1">
                          <a:solidFill>
                            <a:srgbClr val="0F7490"/>
                          </a:solidFill>
                          <a:latin typeface="Menlo"/>
                        </a:rPr>
                        <a:t>apply</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Anything, rebuilt from each piece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Top order per region; slowest, so try the others first</a:t>
                      </a:r>
                    </a:p>
                  </a:txBody>
                  <a:tcPr marL="109728" marR="109728" marT="54864" marB="54864" anchor="ctr">
                    <a:solidFill>
                      <a:srgbClr val="F8FAFC"/>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Averaging rates overstates every region</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Summarising without fooling yourself</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notes/05-groupby-and-aggregation.md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20</a:t>
            </a:r>
          </a:p>
        </p:txBody>
      </p:sp>
      <p:sp>
        <p:nvSpPr>
          <p:cNvPr id="9" name="TextBox 8"/>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Margin rate by region, on the shop's 11 orders.</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To get a group's rate, sum the numerator and the denominator and then divide, because a mean of rates ignores size.</a:t>
            </a:r>
          </a:p>
        </p:txBody>
      </p:sp>
      <p:graphicFrame>
        <p:nvGraphicFramePr>
          <p:cNvPr id="13" name="Table 12"/>
          <p:cNvGraphicFramePr>
            <a:graphicFrameLocks noGrp="1"/>
          </p:cNvGraphicFramePr>
          <p:nvPr/>
        </p:nvGraphicFramePr>
        <p:xfrm>
          <a:off x="502920" y="1985772"/>
          <a:ext cx="11185855" cy="2026920"/>
        </p:xfrm>
        <a:graphic>
          <a:graphicData uri="http://schemas.openxmlformats.org/drawingml/2006/table">
            <a:tbl>
              <a:tblPr firstRow="1" bandRow="1">
                <a:tableStyleId>{5940675A-B579-460E-94D1-54222C63F5DA}</a:tableStyleId>
              </a:tblPr>
              <a:tblGrid>
                <a:gridCol w="2237171"/>
                <a:gridCol w="2237171"/>
                <a:gridCol w="2237171"/>
                <a:gridCol w="2237171"/>
                <a:gridCol w="2237171"/>
              </a:tblGrid>
              <a:tr h="405384">
                <a:tc>
                  <a:txBody>
                    <a:bodyPr wrap="square"/>
                    <a:lstStyle/>
                    <a:p>
                      <a:pPr>
                        <a:lnSpc>
                          <a:spcPct val="100000"/>
                        </a:lnSpc>
                      </a:pPr>
                      <a:r>
                        <a:rPr sz="1700" i="0" b="1">
                          <a:solidFill>
                            <a:srgbClr val="FFFFFF"/>
                          </a:solidFill>
                          <a:latin typeface="Helvetica Neue"/>
                        </a:rPr>
                        <a:t>Region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Revenue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Margin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Mean of rates</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True rate</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east</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108.0</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43.0</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0.492</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0.398</a:t>
                      </a:r>
                    </a:p>
                  </a:txBody>
                  <a:tcPr marL="109728" marR="109728" marT="54864" marB="54864" anchor="ctr">
                    <a:solidFill>
                      <a:srgbClr val="E8F4F8"/>
                    </a:solidFill>
                  </a:tcPr>
                </a:tc>
              </a:tr>
              <a:tr h="405384">
                <a:tc>
                  <a:txBody>
                    <a:bodyPr wrap="square"/>
                    <a:lstStyle/>
                    <a:p>
                      <a:pPr>
                        <a:lnSpc>
                          <a:spcPct val="100000"/>
                        </a:lnSpc>
                      </a:pPr>
                      <a:r>
                        <a:rPr sz="1700" i="0" b="1">
                          <a:solidFill>
                            <a:srgbClr val="1E293B"/>
                          </a:solidFill>
                          <a:latin typeface="Helvetica Neue"/>
                        </a:rPr>
                        <a:t>north</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169.0</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69.0</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0.453</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0.408</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south</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128.5</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64.0</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0.515</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0.498</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unknown</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118.0</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46.0</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0.415</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0.390</a:t>
                      </a:r>
                    </a:p>
                  </a:txBody>
                  <a:tcPr marL="109728" marR="109728" marT="54864" marB="54864" anchor="ctr">
                    <a:solidFill>
                      <a:srgbClr val="F8FAFC"/>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Name your aggregates, and always keep a count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Summarising without fooling yourself</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notes/05-groupby-and-aggregation.md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21</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Report a count beside every group statistic, and check that groups add up, because missing keys vanish by default.</a:t>
            </a:r>
          </a:p>
        </p:txBody>
      </p:sp>
      <p:sp>
        <p:nvSpPr>
          <p:cNvPr id="12" name="Rounded Rectangle 11"/>
          <p:cNvSpPr/>
          <p:nvPr/>
        </p:nvSpPr>
        <p:spPr>
          <a:xfrm>
            <a:off x="502920" y="1472184"/>
            <a:ext cx="6711513" cy="239268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175259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by_region = orders.groupby("region").agg(</a:t>
            </a:r>
          </a:p>
          <a:p>
            <a:pPr algn="l">
              <a:lnSpc>
                <a:spcPct val="100000"/>
              </a:lnSpc>
            </a:pPr>
            <a:r>
              <a:rPr sz="1600" i="0" b="0">
                <a:solidFill>
                  <a:srgbClr val="E2E8F0"/>
                </a:solidFill>
                <a:latin typeface="Menlo"/>
              </a:rPr>
              <a:t>    revenue=("revenue", "sum"),</a:t>
            </a:r>
          </a:p>
          <a:p>
            <a:pPr algn="l">
              <a:lnSpc>
                <a:spcPct val="100000"/>
              </a:lnSpc>
            </a:pPr>
            <a:r>
              <a:rPr sz="1600" i="0" b="0">
                <a:solidFill>
                  <a:srgbClr val="E2E8F0"/>
                </a:solidFill>
                <a:latin typeface="Menlo"/>
              </a:rPr>
              <a:t>    margin=("margin", "sum"),</a:t>
            </a:r>
          </a:p>
          <a:p>
            <a:pPr algn="l">
              <a:lnSpc>
                <a:spcPct val="100000"/>
              </a:lnSpc>
            </a:pPr>
            <a:r>
              <a:rPr sz="1600" i="0" b="0">
                <a:solidFill>
                  <a:srgbClr val="E2E8F0"/>
                </a:solidFill>
                <a:latin typeface="Menlo"/>
              </a:rPr>
              <a:t>    orders=("order_id", "count"),</a:t>
            </a:r>
          </a:p>
          <a:p>
            <a:pPr algn="l">
              <a:lnSpc>
                <a:spcPct val="100000"/>
              </a:lnSpc>
            </a:pPr>
            <a:r>
              <a:rPr sz="1600" i="0" b="0">
                <a:solidFill>
                  <a:srgbClr val="E2E8F0"/>
                </a:solidFill>
                <a:latin typeface="Menlo"/>
              </a:rPr>
              <a:t>)</a:t>
            </a:r>
          </a:p>
          <a:p>
            <a:pPr algn="l">
              <a:lnSpc>
                <a:spcPct val="100000"/>
              </a:lnSpc>
            </a:pPr>
            <a:r>
              <a:rPr sz="1600" i="0" b="0">
                <a:solidFill>
                  <a:srgbClr val="E2E8F0"/>
                </a:solidFill>
                <a:latin typeface="Menlo"/>
              </a:rPr>
              <a:t>by_region["rate"] = (</a:t>
            </a:r>
          </a:p>
          <a:p>
            <a:pPr algn="l">
              <a:lnSpc>
                <a:spcPct val="100000"/>
              </a:lnSpc>
            </a:pPr>
            <a:r>
              <a:rPr sz="1600" i="0" b="0">
                <a:solidFill>
                  <a:srgbClr val="E2E8F0"/>
                </a:solidFill>
                <a:latin typeface="Menlo"/>
              </a:rPr>
              <a:t>    by_region["margin"] / by_region["revenue"])</a:t>
            </a:r>
          </a:p>
        </p:txBody>
      </p:sp>
      <p:sp>
        <p:nvSpPr>
          <p:cNvPr id="15" name="Rectangle 14"/>
          <p:cNvSpPr/>
          <p:nvPr/>
        </p:nvSpPr>
        <p:spPr>
          <a:xfrm>
            <a:off x="7580193" y="160477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996696"/>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A mean of one order</a:t>
            </a:r>
            <a:r>
              <a:rPr sz="1800" i="0" b="0">
                <a:solidFill>
                  <a:srgbClr val="1E293B"/>
                </a:solidFill>
                <a:latin typeface="Helvetica Neue"/>
              </a:rPr>
              <a:t> prints as confidently as a mean of ten thousand.</a:t>
            </a:r>
          </a:p>
        </p:txBody>
      </p:sp>
      <p:sp>
        <p:nvSpPr>
          <p:cNvPr id="17" name="Rectangle 16"/>
          <p:cNvSpPr/>
          <p:nvPr/>
        </p:nvSpPr>
        <p:spPr>
          <a:xfrm>
            <a:off x="7580193" y="2647188"/>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560320"/>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Missing keys vanish</a:t>
            </a:r>
            <a:r>
              <a:rPr sz="1800" i="0" b="0">
                <a:solidFill>
                  <a:srgbClr val="1E293B"/>
                </a:solidFill>
                <a:latin typeface="Helvetica Neue"/>
              </a:rPr>
              <a:t> unless you pass </a:t>
            </a:r>
            <a:r>
              <a:rPr sz="1620" i="0" b="0">
                <a:solidFill>
                  <a:srgbClr val="0F7490"/>
                </a:solidFill>
                <a:latin typeface="Menlo"/>
              </a:rPr>
              <a:t>dropna=False</a:t>
            </a:r>
            <a:r>
              <a:rPr sz="1800" i="0" b="0">
                <a:solidFill>
                  <a:srgbClr val="1E293B"/>
                </a:solidFill>
                <a:latin typeface="Helvetica Neue"/>
              </a:rPr>
              <a:t>.</a:t>
            </a:r>
          </a:p>
        </p:txBody>
      </p:sp>
      <p:sp>
        <p:nvSpPr>
          <p:cNvPr id="19" name="Rectangle 18"/>
          <p:cNvSpPr/>
          <p:nvPr/>
        </p:nvSpPr>
        <p:spPr>
          <a:xfrm>
            <a:off x="7580193" y="338785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330098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Check</a:t>
            </a:r>
            <a:r>
              <a:rPr sz="1800" i="0" b="0">
                <a:solidFill>
                  <a:srgbClr val="1E293B"/>
                </a:solidFill>
                <a:latin typeface="Helvetica Neue"/>
              </a:rPr>
              <a:t> that the groups add up to the total.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EA5C9"/>
                </a:solidFill>
                <a:latin typeface="Helvetica Neue"/>
              </a:rPr>
              <a:t>PART 4</a:t>
            </a:r>
          </a:p>
        </p:txBody>
      </p:sp>
      <p:sp>
        <p:nvSpPr>
          <p:cNvPr id="4" name="TextBox 3"/>
          <p:cNvSpPr txBox="1"/>
          <p:nvPr/>
        </p:nvSpPr>
        <p:spPr>
          <a:xfrm>
            <a:off x="822960" y="1965960"/>
            <a:ext cx="5486400" cy="10210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Respecting time</a:t>
            </a:r>
          </a:p>
        </p:txBody>
      </p:sp>
      <p:sp>
        <p:nvSpPr>
          <p:cNvPr id="5" name="TextBox 4"/>
          <p:cNvSpPr txBox="1"/>
          <p:nvPr/>
        </p:nvSpPr>
        <p:spPr>
          <a:xfrm>
            <a:off x="822960" y="3078479"/>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Parsing · Frequencies · Resampling · Shift and rolling · Leakage</a:t>
            </a:r>
          </a:p>
        </p:txBody>
      </p:sp>
      <p:cxnSp>
        <p:nvCxnSpPr>
          <p:cNvPr id="6" name="Connector 5"/>
          <p:cNvCxnSpPr/>
          <p:nvPr/>
        </p:nvCxnSpPr>
        <p:spPr>
          <a:xfrm>
            <a:off x="6446520" y="2479040"/>
            <a:ext cx="0" cy="189992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479040"/>
            <a:ext cx="4693615" cy="208280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The whole year in one line</a:t>
            </a:r>
          </a:p>
          <a:p>
            <a:pPr algn="l">
              <a:lnSpc>
                <a:spcPct val="100000"/>
              </a:lnSpc>
              <a:spcBef>
                <a:spcPts val="1189"/>
              </a:spcBef>
            </a:pPr>
            <a:r>
              <a:rPr sz="1700" i="0" b="0">
                <a:solidFill>
                  <a:srgbClr val="CBD5E1"/>
                </a:solidFill>
                <a:latin typeface="Helvetica Neue"/>
              </a:rPr>
              <a:t>Old frequency names now raise an error</a:t>
            </a:r>
          </a:p>
          <a:p>
            <a:pPr algn="l">
              <a:lnSpc>
                <a:spcPct val="100000"/>
              </a:lnSpc>
              <a:spcBef>
                <a:spcPts val="1189"/>
              </a:spcBef>
            </a:pPr>
            <a:r>
              <a:rPr sz="1700" i="0" b="0">
                <a:solidFill>
                  <a:srgbClr val="CBD5E1"/>
                </a:solidFill>
                <a:latin typeface="Helvetica Neue"/>
              </a:rPr>
              <a:t>resample is a groupby on time bins</a:t>
            </a:r>
          </a:p>
          <a:p>
            <a:pPr algn="l">
              <a:lnSpc>
                <a:spcPct val="100000"/>
              </a:lnSpc>
              <a:spcBef>
                <a:spcPts val="1189"/>
              </a:spcBef>
            </a:pPr>
            <a:r>
              <a:rPr sz="1700" i="0" b="0">
                <a:solidFill>
                  <a:srgbClr val="CBD5E1"/>
                </a:solidFill>
                <a:latin typeface="Helvetica Neue"/>
              </a:rPr>
              <a:t>A window that peeks ahead is cheating</a:t>
            </a:r>
          </a:p>
          <a:p>
            <a:pPr algn="l">
              <a:lnSpc>
                <a:spcPct val="100000"/>
              </a:lnSpc>
              <a:spcBef>
                <a:spcPts val="1189"/>
              </a:spcBef>
            </a:pPr>
            <a:r>
              <a:rPr sz="1700" i="0" b="0">
                <a:solidFill>
                  <a:srgbClr val="CBD5E1"/>
                </a:solidFill>
                <a:latin typeface="Helvetica Neue"/>
              </a:rPr>
              <a:t>Three smaller rules that save real errors</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whole year in one line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Respecting time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notes/06-time-series.md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Time series have ordered rows, unequal months and silently absent days, so they need more care than an ordinary grouping key.</a:t>
            </a:r>
          </a:p>
        </p:txBody>
      </p:sp>
      <p:sp>
        <p:nvSpPr>
          <p:cNvPr id="13" name="Rectangle 12"/>
          <p:cNvSpPr/>
          <p:nvPr/>
        </p:nvSpPr>
        <p:spPr>
          <a:xfrm>
            <a:off x="448056" y="1417320"/>
            <a:ext cx="6261948" cy="272442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da01-plotting-line.png"/>
          <p:cNvPicPr>
            <a:picLocks noChangeAspect="1"/>
          </p:cNvPicPr>
          <p:nvPr/>
        </p:nvPicPr>
        <p:blipFill>
          <a:blip r:embed="rId2"/>
          <a:stretch>
            <a:fillRect/>
          </a:stretch>
        </p:blipFill>
        <p:spPr>
          <a:xfrm>
            <a:off x="502920" y="1472184"/>
            <a:ext cx="6152220" cy="2614693"/>
          </a:xfrm>
          <a:prstGeom prst="rect">
            <a:avLst/>
          </a:prstGeom>
        </p:spPr>
      </p:pic>
      <p:sp>
        <p:nvSpPr>
          <p:cNvPr id="15" name="TextBox 14"/>
          <p:cNvSpPr txBox="1"/>
          <p:nvPr/>
        </p:nvSpPr>
        <p:spPr>
          <a:xfrm>
            <a:off x="502920" y="4224037"/>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Synthetic daily revenue for 2024, with trend, weekly pattern, outages and a December jump. Generated in the chapter's code.</a:t>
            </a:r>
          </a:p>
        </p:txBody>
      </p:sp>
      <p:sp>
        <p:nvSpPr>
          <p:cNvPr id="16" name="Rectangle 15"/>
          <p:cNvSpPr/>
          <p:nvPr/>
        </p:nvSpPr>
        <p:spPr>
          <a:xfrm>
            <a:off x="7020900" y="155905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Rows have an order,</a:t>
            </a:r>
            <a:r>
              <a:rPr sz="1800" i="0" b="0">
                <a:solidFill>
                  <a:srgbClr val="1E293B"/>
                </a:solidFill>
                <a:latin typeface="Helvetica Neue"/>
              </a:rPr>
              <a:t> so a previous value exists.</a:t>
            </a:r>
          </a:p>
        </p:txBody>
      </p:sp>
      <p:sp>
        <p:nvSpPr>
          <p:cNvPr id="18" name="Rectangle 17"/>
          <p:cNvSpPr/>
          <p:nvPr/>
        </p:nvSpPr>
        <p:spPr>
          <a:xfrm>
            <a:off x="7020900" y="2299716"/>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212848"/>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Months differ in length,</a:t>
            </a:r>
            <a:r>
              <a:rPr sz="1800" i="0" b="0">
                <a:solidFill>
                  <a:srgbClr val="1E293B"/>
                </a:solidFill>
                <a:latin typeface="Helvetica Neue"/>
              </a:rPr>
              <a:t> so monthly totals are not directly comparable.</a:t>
            </a:r>
          </a:p>
        </p:txBody>
      </p:sp>
      <p:sp>
        <p:nvSpPr>
          <p:cNvPr id="20" name="Rectangle 19"/>
          <p:cNvSpPr/>
          <p:nvPr/>
        </p:nvSpPr>
        <p:spPr>
          <a:xfrm>
            <a:off x="7020900" y="3040380"/>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953512"/>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A missing day</a:t>
            </a:r>
            <a:r>
              <a:rPr sz="1800" i="0" b="0">
                <a:solidFill>
                  <a:srgbClr val="1E293B"/>
                </a:solidFill>
                <a:latin typeface="Helvetica Neue"/>
              </a:rPr>
              <a:t> is often an absent row, invisible in a table.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Old frequency names now raise an error</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Respecting time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notes/06-time-series.md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24</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Pandas 3 removed the frequency aliases M, Q, Y, H and T, so write ME, QE, YE, h and min instead.</a:t>
            </a:r>
          </a:p>
        </p:txBody>
      </p:sp>
      <p:graphicFrame>
        <p:nvGraphicFramePr>
          <p:cNvPr id="12" name="Table 11"/>
          <p:cNvGraphicFramePr>
            <a:graphicFrameLocks noGrp="1"/>
          </p:cNvGraphicFramePr>
          <p:nvPr/>
        </p:nvGraphicFramePr>
        <p:xfrm>
          <a:off x="502920" y="1472184"/>
          <a:ext cx="11185854" cy="2837688"/>
        </p:xfrm>
        <a:graphic>
          <a:graphicData uri="http://schemas.openxmlformats.org/drawingml/2006/table">
            <a:tbl>
              <a:tblPr firstRow="1" bandRow="1">
                <a:tableStyleId>{5940675A-B579-460E-94D1-54222C63F5DA}</a:tableStyleId>
              </a:tblPr>
              <a:tblGrid>
                <a:gridCol w="4474342"/>
                <a:gridCol w="3355756"/>
                <a:gridCol w="3355756"/>
              </a:tblGrid>
              <a:tr h="405384">
                <a:tc>
                  <a:txBody>
                    <a:bodyPr wrap="square"/>
                    <a:lstStyle/>
                    <a:p>
                      <a:pPr>
                        <a:lnSpc>
                          <a:spcPct val="100000"/>
                        </a:lnSpc>
                      </a:pPr>
                      <a:r>
                        <a:rPr sz="1700" i="0" b="1">
                          <a:solidFill>
                            <a:srgbClr val="FFFFFF"/>
                          </a:solidFill>
                          <a:latin typeface="Helvetica Neue"/>
                        </a:rPr>
                        <a:t>Meaning</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Current</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Removed</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Month end / month start</a:t>
                      </a:r>
                    </a:p>
                  </a:txBody>
                  <a:tcPr marL="109728" marR="109728" marT="54864" marB="54864" anchor="ctr">
                    <a:solidFill>
                      <a:srgbClr val="FFFFFF"/>
                    </a:solidFill>
                  </a:tcPr>
                </a:tc>
                <a:tc>
                  <a:txBody>
                    <a:bodyPr wrap="square"/>
                    <a:lstStyle/>
                    <a:p>
                      <a:pPr>
                        <a:lnSpc>
                          <a:spcPct val="100000"/>
                        </a:lnSpc>
                      </a:pPr>
                      <a:r>
                        <a:rPr sz="1530" i="0" b="0">
                          <a:solidFill>
                            <a:srgbClr val="0F7490"/>
                          </a:solidFill>
                          <a:latin typeface="Menlo"/>
                        </a:rPr>
                        <a:t>ME</a:t>
                      </a:r>
                      <a:r>
                        <a:rPr sz="1700" i="0" b="0">
                          <a:solidFill>
                            <a:srgbClr val="475569"/>
                          </a:solidFill>
                          <a:latin typeface="Helvetica Neue"/>
                        </a:rPr>
                        <a:t> / </a:t>
                      </a:r>
                      <a:r>
                        <a:rPr sz="1530" i="0" b="0">
                          <a:solidFill>
                            <a:srgbClr val="0F7490"/>
                          </a:solidFill>
                          <a:latin typeface="Menlo"/>
                        </a:rPr>
                        <a:t>MS</a:t>
                      </a:r>
                    </a:p>
                  </a:txBody>
                  <a:tcPr marL="109728" marR="109728" marT="54864" marB="54864" anchor="ctr">
                    <a:solidFill>
                      <a:srgbClr val="FFFFFF"/>
                    </a:solidFill>
                  </a:tcPr>
                </a:tc>
                <a:tc>
                  <a:txBody>
                    <a:bodyPr wrap="square"/>
                    <a:lstStyle/>
                    <a:p>
                      <a:pPr>
                        <a:lnSpc>
                          <a:spcPct val="100000"/>
                        </a:lnSpc>
                      </a:pPr>
                      <a:r>
                        <a:rPr sz="1530" i="0" b="0">
                          <a:solidFill>
                            <a:srgbClr val="0F7490"/>
                          </a:solidFill>
                          <a:latin typeface="Menlo"/>
                        </a:rPr>
                        <a:t>M</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Quarter end</a:t>
                      </a:r>
                    </a:p>
                  </a:txBody>
                  <a:tcPr marL="109728" marR="109728" marT="54864" marB="54864" anchor="ctr">
                    <a:solidFill>
                      <a:srgbClr val="F8FAFC"/>
                    </a:solidFill>
                  </a:tcPr>
                </a:tc>
                <a:tc>
                  <a:txBody>
                    <a:bodyPr wrap="square"/>
                    <a:lstStyle/>
                    <a:p>
                      <a:pPr>
                        <a:lnSpc>
                          <a:spcPct val="100000"/>
                        </a:lnSpc>
                      </a:pPr>
                      <a:r>
                        <a:rPr sz="1530" i="0" b="0">
                          <a:solidFill>
                            <a:srgbClr val="0F7490"/>
                          </a:solidFill>
                          <a:latin typeface="Menlo"/>
                        </a:rPr>
                        <a:t>QE</a:t>
                      </a:r>
                    </a:p>
                  </a:txBody>
                  <a:tcPr marL="109728" marR="109728" marT="54864" marB="54864" anchor="ctr">
                    <a:solidFill>
                      <a:srgbClr val="F8FAFC"/>
                    </a:solidFill>
                  </a:tcPr>
                </a:tc>
                <a:tc>
                  <a:txBody>
                    <a:bodyPr wrap="square"/>
                    <a:lstStyle/>
                    <a:p>
                      <a:pPr>
                        <a:lnSpc>
                          <a:spcPct val="100000"/>
                        </a:lnSpc>
                      </a:pPr>
                      <a:r>
                        <a:rPr sz="1530" i="0" b="0">
                          <a:solidFill>
                            <a:srgbClr val="0F7490"/>
                          </a:solidFill>
                          <a:latin typeface="Menlo"/>
                        </a:rPr>
                        <a:t>Q</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Year end</a:t>
                      </a:r>
                    </a:p>
                  </a:txBody>
                  <a:tcPr marL="109728" marR="109728" marT="54864" marB="54864" anchor="ctr">
                    <a:solidFill>
                      <a:srgbClr val="FFFFFF"/>
                    </a:solidFill>
                  </a:tcPr>
                </a:tc>
                <a:tc>
                  <a:txBody>
                    <a:bodyPr wrap="square"/>
                    <a:lstStyle/>
                    <a:p>
                      <a:pPr>
                        <a:lnSpc>
                          <a:spcPct val="100000"/>
                        </a:lnSpc>
                      </a:pPr>
                      <a:r>
                        <a:rPr sz="1530" i="0" b="0">
                          <a:solidFill>
                            <a:srgbClr val="0F7490"/>
                          </a:solidFill>
                          <a:latin typeface="Menlo"/>
                        </a:rPr>
                        <a:t>YE</a:t>
                      </a:r>
                    </a:p>
                  </a:txBody>
                  <a:tcPr marL="109728" marR="109728" marT="54864" marB="54864" anchor="ctr">
                    <a:solidFill>
                      <a:srgbClr val="FFFFFF"/>
                    </a:solidFill>
                  </a:tcPr>
                </a:tc>
                <a:tc>
                  <a:txBody>
                    <a:bodyPr wrap="square"/>
                    <a:lstStyle/>
                    <a:p>
                      <a:pPr>
                        <a:lnSpc>
                          <a:spcPct val="100000"/>
                        </a:lnSpc>
                      </a:pPr>
                      <a:r>
                        <a:rPr sz="1530" i="0" b="0">
                          <a:solidFill>
                            <a:srgbClr val="0F7490"/>
                          </a:solidFill>
                          <a:latin typeface="Menlo"/>
                        </a:rPr>
                        <a:t>A</a:t>
                      </a:r>
                      <a:r>
                        <a:rPr sz="1700" i="0" b="0">
                          <a:solidFill>
                            <a:srgbClr val="475569"/>
                          </a:solidFill>
                          <a:latin typeface="Helvetica Neue"/>
                        </a:rPr>
                        <a:t>, </a:t>
                      </a:r>
                      <a:r>
                        <a:rPr sz="1530" i="0" b="0">
                          <a:solidFill>
                            <a:srgbClr val="0F7490"/>
                          </a:solidFill>
                          <a:latin typeface="Menlo"/>
                        </a:rPr>
                        <a:t>Y</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Hour</a:t>
                      </a:r>
                    </a:p>
                  </a:txBody>
                  <a:tcPr marL="109728" marR="109728" marT="54864" marB="54864" anchor="ctr">
                    <a:solidFill>
                      <a:srgbClr val="F8FAFC"/>
                    </a:solidFill>
                  </a:tcPr>
                </a:tc>
                <a:tc>
                  <a:txBody>
                    <a:bodyPr wrap="square"/>
                    <a:lstStyle/>
                    <a:p>
                      <a:pPr>
                        <a:lnSpc>
                          <a:spcPct val="100000"/>
                        </a:lnSpc>
                      </a:pPr>
                      <a:r>
                        <a:rPr sz="1530" i="0" b="0">
                          <a:solidFill>
                            <a:srgbClr val="0F7490"/>
                          </a:solidFill>
                          <a:latin typeface="Menlo"/>
                        </a:rPr>
                        <a:t>h</a:t>
                      </a:r>
                    </a:p>
                  </a:txBody>
                  <a:tcPr marL="109728" marR="109728" marT="54864" marB="54864" anchor="ctr">
                    <a:solidFill>
                      <a:srgbClr val="F8FAFC"/>
                    </a:solidFill>
                  </a:tcPr>
                </a:tc>
                <a:tc>
                  <a:txBody>
                    <a:bodyPr wrap="square"/>
                    <a:lstStyle/>
                    <a:p>
                      <a:pPr>
                        <a:lnSpc>
                          <a:spcPct val="100000"/>
                        </a:lnSpc>
                      </a:pPr>
                      <a:r>
                        <a:rPr sz="1530" i="0" b="0">
                          <a:solidFill>
                            <a:srgbClr val="0F7490"/>
                          </a:solidFill>
                          <a:latin typeface="Menlo"/>
                        </a:rPr>
                        <a:t>H</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Minute</a:t>
                      </a:r>
                    </a:p>
                  </a:txBody>
                  <a:tcPr marL="109728" marR="109728" marT="54864" marB="54864" anchor="ctr">
                    <a:solidFill>
                      <a:srgbClr val="FFFFFF"/>
                    </a:solidFill>
                  </a:tcPr>
                </a:tc>
                <a:tc>
                  <a:txBody>
                    <a:bodyPr wrap="square"/>
                    <a:lstStyle/>
                    <a:p>
                      <a:pPr>
                        <a:lnSpc>
                          <a:spcPct val="100000"/>
                        </a:lnSpc>
                      </a:pPr>
                      <a:r>
                        <a:rPr sz="1530" i="0" b="0">
                          <a:solidFill>
                            <a:srgbClr val="0F7490"/>
                          </a:solidFill>
                          <a:latin typeface="Menlo"/>
                        </a:rPr>
                        <a:t>min</a:t>
                      </a:r>
                    </a:p>
                  </a:txBody>
                  <a:tcPr marL="109728" marR="109728" marT="54864" marB="54864" anchor="ctr">
                    <a:solidFill>
                      <a:srgbClr val="FFFFFF"/>
                    </a:solidFill>
                  </a:tcPr>
                </a:tc>
                <a:tc>
                  <a:txBody>
                    <a:bodyPr wrap="square"/>
                    <a:lstStyle/>
                    <a:p>
                      <a:pPr>
                        <a:lnSpc>
                          <a:spcPct val="100000"/>
                        </a:lnSpc>
                      </a:pPr>
                      <a:r>
                        <a:rPr sz="1530" i="0" b="0">
                          <a:solidFill>
                            <a:srgbClr val="0F7490"/>
                          </a:solidFill>
                          <a:latin typeface="Menlo"/>
                        </a:rPr>
                        <a:t>T</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Second</a:t>
                      </a:r>
                    </a:p>
                  </a:txBody>
                  <a:tcPr marL="109728" marR="109728" marT="54864" marB="54864" anchor="ctr">
                    <a:solidFill>
                      <a:srgbClr val="F8FAFC"/>
                    </a:solidFill>
                  </a:tcPr>
                </a:tc>
                <a:tc>
                  <a:txBody>
                    <a:bodyPr wrap="square"/>
                    <a:lstStyle/>
                    <a:p>
                      <a:pPr>
                        <a:lnSpc>
                          <a:spcPct val="100000"/>
                        </a:lnSpc>
                      </a:pPr>
                      <a:r>
                        <a:rPr sz="1530" i="0" b="0">
                          <a:solidFill>
                            <a:srgbClr val="0F7490"/>
                          </a:solidFill>
                          <a:latin typeface="Menlo"/>
                        </a:rPr>
                        <a:t>s</a:t>
                      </a:r>
                    </a:p>
                  </a:txBody>
                  <a:tcPr marL="109728" marR="109728" marT="54864" marB="54864" anchor="ctr">
                    <a:solidFill>
                      <a:srgbClr val="F8FAFC"/>
                    </a:solidFill>
                  </a:tcPr>
                </a:tc>
                <a:tc>
                  <a:txBody>
                    <a:bodyPr wrap="square"/>
                    <a:lstStyle/>
                    <a:p>
                      <a:pPr>
                        <a:lnSpc>
                          <a:spcPct val="100000"/>
                        </a:lnSpc>
                      </a:pPr>
                      <a:r>
                        <a:rPr sz="1530" i="0" b="0">
                          <a:solidFill>
                            <a:srgbClr val="0F7490"/>
                          </a:solidFill>
                          <a:latin typeface="Menlo"/>
                        </a:rPr>
                        <a:t>S</a:t>
                      </a:r>
                    </a:p>
                  </a:txBody>
                  <a:tcPr marL="109728" marR="109728" marT="54864" marB="54864" anchor="ctr">
                    <a:solidFill>
                      <a:srgbClr val="F8FAFC"/>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resample is a groupby on time bins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Respecting time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notes/06-time-series.md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25</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Resample into bins with sum, mean and count together, since months differ in length and absent days hide in the sum.</a:t>
            </a:r>
          </a:p>
        </p:txBody>
      </p:sp>
      <p:sp>
        <p:nvSpPr>
          <p:cNvPr id="12" name="Rounded Rectangle 11"/>
          <p:cNvSpPr/>
          <p:nvPr/>
        </p:nvSpPr>
        <p:spPr>
          <a:xfrm>
            <a:off x="502920" y="1472184"/>
            <a:ext cx="6711513" cy="263652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199643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 asfreq shows absent days as NaN</a:t>
            </a:r>
          </a:p>
          <a:p>
            <a:pPr algn="l">
              <a:lnSpc>
                <a:spcPct val="100000"/>
              </a:lnSpc>
            </a:pPr>
            <a:r>
              <a:rPr sz="1600" i="0" b="0">
                <a:solidFill>
                  <a:srgbClr val="E2E8F0"/>
                </a:solidFill>
                <a:latin typeface="Menlo"/>
              </a:rPr>
              <a:t>regular = daily.asfreq("D")</a:t>
            </a:r>
          </a:p>
          <a:p>
            <a:pPr algn="l">
              <a:lnSpc>
                <a:spcPct val="100000"/>
              </a:lnSpc>
            </a:pPr>
            <a:r>
              <a:rPr sz="1600" i="0" b="0">
                <a:solidFill>
                  <a:srgbClr val="E2E8F0"/>
                </a:solidFill>
                <a:latin typeface="Menlo"/>
              </a:rPr>
              <a:t>regular.resample("ME").agg(</a:t>
            </a:r>
          </a:p>
          <a:p>
            <a:pPr algn="l">
              <a:lnSpc>
                <a:spcPct val="100000"/>
              </a:lnSpc>
            </a:pPr>
            <a:r>
              <a:rPr sz="1600" i="0" b="0">
                <a:solidFill>
                  <a:srgbClr val="E2E8F0"/>
                </a:solidFill>
                <a:latin typeface="Menlo"/>
              </a:rPr>
              <a:t>    ["sum", "mean", "count"])</a:t>
            </a:r>
          </a:p>
          <a:p>
            <a:pPr algn="l">
              <a:lnSpc>
                <a:spcPct val="100000"/>
              </a:lnSpc>
            </a:pPr>
            <a:r>
              <a:rPr sz="1600" i="0" b="0">
                <a:solidFill>
                  <a:srgbClr val="E2E8F0"/>
                </a:solidFill>
                <a:latin typeface="Menlo"/>
              </a:rPr>
              <a:t>#                 sum   mean  count</a:t>
            </a:r>
          </a:p>
          <a:p>
            <a:pPr algn="l">
              <a:lnSpc>
                <a:spcPct val="100000"/>
              </a:lnSpc>
            </a:pPr>
            <a:r>
              <a:rPr sz="1600" i="0" b="0">
                <a:solidFill>
                  <a:srgbClr val="E2E8F0"/>
                </a:solidFill>
                <a:latin typeface="Menlo"/>
              </a:rPr>
              <a:t># 2024-01-31  11992.8  386.9     31</a:t>
            </a:r>
          </a:p>
          <a:p>
            <a:pPr algn="l">
              <a:lnSpc>
                <a:spcPct val="100000"/>
              </a:lnSpc>
            </a:pPr>
            <a:r>
              <a:rPr sz="1600" i="0" b="0">
                <a:solidFill>
                  <a:srgbClr val="E2E8F0"/>
                </a:solidFill>
                <a:latin typeface="Menlo"/>
              </a:rPr>
              <a:t># 2024-02-29  12266.4  423.0     29</a:t>
            </a:r>
          </a:p>
          <a:p>
            <a:pPr algn="l">
              <a:lnSpc>
                <a:spcPct val="100000"/>
              </a:lnSpc>
            </a:pPr>
            <a:r>
              <a:rPr sz="1600" i="0" b="0">
                <a:solidFill>
                  <a:srgbClr val="E2E8F0"/>
                </a:solidFill>
                <a:latin typeface="Menlo"/>
              </a:rPr>
              <a:t># 2024-03-31  12775.1  440.5     29</a:t>
            </a:r>
          </a:p>
        </p:txBody>
      </p:sp>
      <p:sp>
        <p:nvSpPr>
          <p:cNvPr id="15" name="Rectangle 14"/>
          <p:cNvSpPr/>
          <p:nvPr/>
        </p:nvSpPr>
        <p:spPr>
          <a:xfrm>
            <a:off x="7580193" y="160477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620" i="0" b="1">
                <a:solidFill>
                  <a:srgbClr val="0F7490"/>
                </a:solidFill>
                <a:latin typeface="Menlo"/>
              </a:rPr>
              <a:t>count</a:t>
            </a:r>
            <a:r>
              <a:rPr sz="1800" i="0" b="0">
                <a:solidFill>
                  <a:srgbClr val="1E293B"/>
                </a:solidFill>
                <a:latin typeface="Helvetica Neue"/>
              </a:rPr>
              <a:t> shows March lost two days.</a:t>
            </a:r>
          </a:p>
        </p:txBody>
      </p:sp>
      <p:sp>
        <p:nvSpPr>
          <p:cNvPr id="17" name="Rectangle 16"/>
          <p:cNvSpPr/>
          <p:nvPr/>
        </p:nvSpPr>
        <p:spPr>
          <a:xfrm>
            <a:off x="7580193" y="2345436"/>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620" i="0" b="1">
                <a:solidFill>
                  <a:srgbClr val="0F7490"/>
                </a:solidFill>
                <a:latin typeface="Menlo"/>
              </a:rPr>
              <a:t>mean</a:t>
            </a:r>
            <a:r>
              <a:rPr sz="1800" i="0" b="0">
                <a:solidFill>
                  <a:srgbClr val="1E293B"/>
                </a:solidFill>
                <a:latin typeface="Helvetica Neue"/>
              </a:rPr>
              <a:t> is fair across month lengths.</a:t>
            </a:r>
          </a:p>
        </p:txBody>
      </p:sp>
      <p:sp>
        <p:nvSpPr>
          <p:cNvPr id="19" name="Rectangle 18"/>
          <p:cNvSpPr/>
          <p:nvPr/>
        </p:nvSpPr>
        <p:spPr>
          <a:xfrm>
            <a:off x="7580193" y="3086100"/>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999232"/>
            <a:ext cx="3788542" cy="996696"/>
          </a:xfrm>
          <a:prstGeom prst="rect">
            <a:avLst/>
          </a:prstGeom>
          <a:noFill/>
        </p:spPr>
        <p:txBody>
          <a:bodyPr wrap="square" lIns="0" rIns="0" tIns="0" bIns="0" anchor="t">
            <a:noAutofit/>
          </a:bodyPr>
          <a:lstStyle/>
          <a:p>
            <a:pPr algn="l">
              <a:lnSpc>
                <a:spcPct val="110000"/>
              </a:lnSpc>
            </a:pPr>
            <a:r>
              <a:rPr sz="1620" i="0" b="1">
                <a:solidFill>
                  <a:srgbClr val="0F7490"/>
                </a:solidFill>
                <a:latin typeface="Menlo"/>
              </a:rPr>
              <a:t>closed</a:t>
            </a:r>
            <a:r>
              <a:rPr sz="1800" i="0" b="1">
                <a:solidFill>
                  <a:srgbClr val="1E293B"/>
                </a:solidFill>
                <a:latin typeface="Helvetica Neue"/>
              </a:rPr>
              <a:t>, </a:t>
            </a:r>
            <a:r>
              <a:rPr sz="1620" i="0" b="1">
                <a:solidFill>
                  <a:srgbClr val="0F7490"/>
                </a:solidFill>
                <a:latin typeface="Menlo"/>
              </a:rPr>
              <a:t>label</a:t>
            </a:r>
            <a:r>
              <a:rPr sz="1800" i="0" b="0">
                <a:solidFill>
                  <a:srgbClr val="1E293B"/>
                </a:solidFill>
                <a:latin typeface="Helvetica Neue"/>
              </a:rPr>
              <a:t> set which edge belongs and which names the bin.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window that peeks ahead is cheating</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Respecting time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notes/06-time-series.md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26</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A negative shift and center=True both read the future, which is acceptable on a chart and cheating in a model.</a:t>
            </a:r>
          </a:p>
        </p:txBody>
      </p:sp>
      <p:sp>
        <p:nvSpPr>
          <p:cNvPr id="12" name="Rectangle 11"/>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Backward-looking</a:t>
            </a:r>
          </a:p>
        </p:txBody>
      </p:sp>
      <p:sp>
        <p:nvSpPr>
          <p:cNvPr id="15" name="Rectangle 14"/>
          <p:cNvSpPr/>
          <p:nvPr/>
        </p:nvSpPr>
        <p:spPr>
          <a:xfrm>
            <a:off x="731520"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530" i="0" b="0">
                <a:solidFill>
                  <a:srgbClr val="0F7490"/>
                </a:solidFill>
                <a:latin typeface="Menlo"/>
              </a:rPr>
              <a:t>shift(1)</a:t>
            </a:r>
            <a:r>
              <a:rPr sz="1700" i="0" b="0">
                <a:solidFill>
                  <a:srgbClr val="1E293B"/>
                </a:solidFill>
                <a:latin typeface="Helvetica Neue"/>
              </a:rPr>
              <a:t>: yesterday's value</a:t>
            </a:r>
          </a:p>
        </p:txBody>
      </p:sp>
      <p:sp>
        <p:nvSpPr>
          <p:cNvPr id="17" name="Rectangle 16"/>
          <p:cNvSpPr/>
          <p:nvPr/>
        </p:nvSpPr>
        <p:spPr>
          <a:xfrm>
            <a:off x="731520" y="272770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645664"/>
            <a:ext cx="4587087" cy="376428"/>
          </a:xfrm>
          <a:prstGeom prst="rect">
            <a:avLst/>
          </a:prstGeom>
          <a:noFill/>
        </p:spPr>
        <p:txBody>
          <a:bodyPr wrap="square" lIns="0" rIns="0" tIns="0" bIns="0" anchor="t">
            <a:noAutofit/>
          </a:bodyPr>
          <a:lstStyle/>
          <a:p>
            <a:pPr algn="l">
              <a:lnSpc>
                <a:spcPct val="110000"/>
              </a:lnSpc>
            </a:pPr>
            <a:r>
              <a:rPr sz="1530" i="0" b="0">
                <a:solidFill>
                  <a:srgbClr val="0F7490"/>
                </a:solidFill>
                <a:latin typeface="Menlo"/>
              </a:rPr>
              <a:t>rolling(7).mean()</a:t>
            </a:r>
            <a:r>
              <a:rPr sz="1700" i="0" b="0">
                <a:solidFill>
                  <a:srgbClr val="1E293B"/>
                </a:solidFill>
                <a:latin typeface="Helvetica Neue"/>
              </a:rPr>
              <a:t> is trailing by default</a:t>
            </a:r>
          </a:p>
        </p:txBody>
      </p:sp>
      <p:sp>
        <p:nvSpPr>
          <p:cNvPr id="19" name="Rectangle 18"/>
          <p:cNvSpPr/>
          <p:nvPr/>
        </p:nvSpPr>
        <p:spPr>
          <a:xfrm>
            <a:off x="731520" y="314223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Reacts after the December jump</a:t>
            </a:r>
          </a:p>
        </p:txBody>
      </p:sp>
      <p:sp>
        <p:nvSpPr>
          <p:cNvPr id="21" name="Rectangle 20"/>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safe in a model</a:t>
            </a:r>
          </a:p>
        </p:txBody>
      </p:sp>
      <p:sp>
        <p:nvSpPr>
          <p:cNvPr id="23" name="Rectangle 22"/>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78727"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Forward-looking</a:t>
            </a:r>
          </a:p>
        </p:txBody>
      </p:sp>
      <p:sp>
        <p:nvSpPr>
          <p:cNvPr id="26" name="Rectangle 25"/>
          <p:cNvSpPr/>
          <p:nvPr/>
        </p:nvSpPr>
        <p:spPr>
          <a:xfrm>
            <a:off x="6507327"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7367" y="2231136"/>
            <a:ext cx="4587087" cy="376428"/>
          </a:xfrm>
          <a:prstGeom prst="rect">
            <a:avLst/>
          </a:prstGeom>
          <a:noFill/>
        </p:spPr>
        <p:txBody>
          <a:bodyPr wrap="square" lIns="0" rIns="0" tIns="0" bIns="0" anchor="t">
            <a:noAutofit/>
          </a:bodyPr>
          <a:lstStyle/>
          <a:p>
            <a:pPr algn="l">
              <a:lnSpc>
                <a:spcPct val="110000"/>
              </a:lnSpc>
            </a:pPr>
            <a:r>
              <a:rPr sz="1530" i="0" b="0">
                <a:solidFill>
                  <a:srgbClr val="0F7490"/>
                </a:solidFill>
                <a:latin typeface="Menlo"/>
              </a:rPr>
              <a:t>shift(-1)</a:t>
            </a:r>
            <a:r>
              <a:rPr sz="1700" i="0" b="0">
                <a:solidFill>
                  <a:srgbClr val="1E293B"/>
                </a:solidFill>
                <a:latin typeface="Helvetica Neue"/>
              </a:rPr>
              <a:t>: tomorrow's value</a:t>
            </a:r>
          </a:p>
        </p:txBody>
      </p:sp>
      <p:sp>
        <p:nvSpPr>
          <p:cNvPr id="28" name="Rectangle 27"/>
          <p:cNvSpPr/>
          <p:nvPr/>
        </p:nvSpPr>
        <p:spPr>
          <a:xfrm>
            <a:off x="6507327" y="272770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27367" y="2645664"/>
            <a:ext cx="4587087" cy="376428"/>
          </a:xfrm>
          <a:prstGeom prst="rect">
            <a:avLst/>
          </a:prstGeom>
          <a:noFill/>
        </p:spPr>
        <p:txBody>
          <a:bodyPr wrap="square" lIns="0" rIns="0" tIns="0" bIns="0" anchor="t">
            <a:noAutofit/>
          </a:bodyPr>
          <a:lstStyle/>
          <a:p>
            <a:pPr algn="l">
              <a:lnSpc>
                <a:spcPct val="110000"/>
              </a:lnSpc>
            </a:pPr>
            <a:r>
              <a:rPr sz="1530" i="0" b="0">
                <a:solidFill>
                  <a:srgbClr val="0F7490"/>
                </a:solidFill>
                <a:latin typeface="Menlo"/>
              </a:rPr>
              <a:t>center=True</a:t>
            </a:r>
            <a:r>
              <a:rPr sz="1700" i="0" b="0">
                <a:solidFill>
                  <a:srgbClr val="1E293B"/>
                </a:solidFill>
                <a:latin typeface="Helvetica Neue"/>
              </a:rPr>
              <a:t> reads future days</a:t>
            </a:r>
          </a:p>
        </p:txBody>
      </p:sp>
      <p:sp>
        <p:nvSpPr>
          <p:cNvPr id="30" name="Rectangle 29"/>
          <p:cNvSpPr/>
          <p:nvPr/>
        </p:nvSpPr>
        <p:spPr>
          <a:xfrm>
            <a:off x="6507327" y="314223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27367"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Rises on November 29, before the jump</a:t>
            </a:r>
          </a:p>
        </p:txBody>
      </p:sp>
      <p:sp>
        <p:nvSpPr>
          <p:cNvPr id="32" name="Rectangle 31"/>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leakage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Three smaller rules that save real errors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Respecting time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notes/06-time-series.md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27</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Compare seasonal data with a seasonal shift, use time-based windows on irregular data, and store timestamps in UTC.</a:t>
            </a:r>
          </a:p>
        </p:txBody>
      </p:sp>
      <p:sp>
        <p:nvSpPr>
          <p:cNvPr id="12" name="Rectangle 11"/>
          <p:cNvSpPr/>
          <p:nvPr/>
        </p:nvSpPr>
        <p:spPr>
          <a:xfrm>
            <a:off x="502920" y="1568704"/>
            <a:ext cx="106680" cy="106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472184"/>
            <a:ext cx="5944038" cy="109728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Compare like with like:</a:t>
            </a:r>
            <a:r>
              <a:rPr sz="2000" i="0" b="0">
                <a:solidFill>
                  <a:srgbClr val="1E293B"/>
                </a:solidFill>
                <a:latin typeface="Helvetica Neue"/>
              </a:rPr>
              <a:t> </a:t>
            </a:r>
            <a:r>
              <a:rPr sz="1800" i="0" b="0">
                <a:solidFill>
                  <a:srgbClr val="0F7490"/>
                </a:solidFill>
                <a:latin typeface="Menlo"/>
              </a:rPr>
              <a:t>shift(7)</a:t>
            </a:r>
            <a:r>
              <a:rPr sz="2000" i="0" b="0">
                <a:solidFill>
                  <a:srgbClr val="1E293B"/>
                </a:solidFill>
                <a:latin typeface="Helvetica Neue"/>
              </a:rPr>
              <a:t> compares the same weekday. The typical change drops from 13% to about 9%.</a:t>
            </a:r>
          </a:p>
        </p:txBody>
      </p:sp>
      <p:sp>
        <p:nvSpPr>
          <p:cNvPr id="14" name="Rectangle 13"/>
          <p:cNvSpPr/>
          <p:nvPr/>
        </p:nvSpPr>
        <p:spPr>
          <a:xfrm>
            <a:off x="502920" y="2726944"/>
            <a:ext cx="106680" cy="106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630424"/>
            <a:ext cx="5944038" cy="109728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Rows or calendar:</a:t>
            </a:r>
            <a:r>
              <a:rPr sz="2000" i="0" b="0">
                <a:solidFill>
                  <a:srgbClr val="1E293B"/>
                </a:solidFill>
                <a:latin typeface="Helvetica Neue"/>
              </a:rPr>
              <a:t> </a:t>
            </a:r>
            <a:r>
              <a:rPr sz="1800" i="0" b="0">
                <a:solidFill>
                  <a:srgbClr val="0F7490"/>
                </a:solidFill>
                <a:latin typeface="Menlo"/>
              </a:rPr>
              <a:t>rolling(7)</a:t>
            </a:r>
            <a:r>
              <a:rPr sz="2000" i="0" b="0">
                <a:solidFill>
                  <a:srgbClr val="1E293B"/>
                </a:solidFill>
                <a:latin typeface="Helvetica Neue"/>
              </a:rPr>
              <a:t> counts rows, and </a:t>
            </a:r>
            <a:r>
              <a:rPr sz="1800" i="0" b="0">
                <a:solidFill>
                  <a:srgbClr val="0F7490"/>
                </a:solidFill>
                <a:latin typeface="Menlo"/>
              </a:rPr>
              <a:t>rolling("7D")</a:t>
            </a:r>
            <a:r>
              <a:rPr sz="2000" i="0" b="0">
                <a:solidFill>
                  <a:srgbClr val="1E293B"/>
                </a:solidFill>
                <a:latin typeface="Helvetica Neue"/>
              </a:rPr>
              <a:t> counts days. They differ when rows are absent.</a:t>
            </a:r>
          </a:p>
        </p:txBody>
      </p:sp>
      <p:sp>
        <p:nvSpPr>
          <p:cNvPr id="16" name="Rectangle 15"/>
          <p:cNvSpPr/>
          <p:nvPr/>
        </p:nvSpPr>
        <p:spPr>
          <a:xfrm>
            <a:off x="502920" y="3885184"/>
            <a:ext cx="106680" cy="106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788664"/>
            <a:ext cx="5944038" cy="109728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Store in UTC:</a:t>
            </a:r>
            <a:r>
              <a:rPr sz="2000" i="0" b="0">
                <a:solidFill>
                  <a:srgbClr val="1E293B"/>
                </a:solidFill>
                <a:latin typeface="Helvetica Neue"/>
              </a:rPr>
              <a:t> convert for display, and pick the reporting zone before daily totals. A local day can last 23 hours.</a:t>
            </a:r>
          </a:p>
        </p:txBody>
      </p:sp>
      <p:sp>
        <p:nvSpPr>
          <p:cNvPr id="18" name="Rectangle 17"/>
          <p:cNvSpPr/>
          <p:nvPr/>
        </p:nvSpPr>
        <p:spPr>
          <a:xfrm>
            <a:off x="7132758" y="1472184"/>
            <a:ext cx="4556016"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32758" y="1472184"/>
            <a:ext cx="4556016" cy="557784"/>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61358" y="1472184"/>
            <a:ext cx="4098816"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Which day?</a:t>
            </a:r>
          </a:p>
        </p:txBody>
      </p:sp>
      <p:sp>
        <p:nvSpPr>
          <p:cNvPr id="21" name="TextBox 20"/>
          <p:cNvSpPr txBox="1"/>
          <p:nvPr/>
        </p:nvSpPr>
        <p:spPr>
          <a:xfrm>
            <a:off x="7361358" y="2231136"/>
            <a:ext cx="4053096" cy="3072383"/>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22:00 UTC on March 31 is already April 1 in Oslo.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EA5C9"/>
                </a:solidFill>
                <a:latin typeface="Helvetica Neue"/>
              </a:rPr>
              <a:t>PART 5</a:t>
            </a:r>
          </a:p>
        </p:txBody>
      </p:sp>
      <p:sp>
        <p:nvSpPr>
          <p:cNvPr id="4" name="TextBox 3"/>
          <p:cNvSpPr txBox="1"/>
          <p:nvPr/>
        </p:nvSpPr>
        <p:spPr>
          <a:xfrm>
            <a:off x="822960" y="1965960"/>
            <a:ext cx="5486400" cy="10210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Seeing the data</a:t>
            </a:r>
          </a:p>
        </p:txBody>
      </p:sp>
      <p:sp>
        <p:nvSpPr>
          <p:cNvPr id="5" name="TextBox 4"/>
          <p:cNvSpPr txBox="1"/>
          <p:nvPr/>
        </p:nvSpPr>
        <p:spPr>
          <a:xfrm>
            <a:off x="822960" y="3078479"/>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Figure and Axes · pandas plot · seaborn · Choosing a chart</a:t>
            </a:r>
          </a:p>
        </p:txBody>
      </p:sp>
      <p:cxnSp>
        <p:nvCxnSpPr>
          <p:cNvPr id="6" name="Connector 5"/>
          <p:cNvCxnSpPr/>
          <p:nvPr/>
        </p:nvCxnSpPr>
        <p:spPr>
          <a:xfrm>
            <a:off x="6446520" y="2554605"/>
            <a:ext cx="0" cy="174879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554605"/>
            <a:ext cx="4693615" cy="1931669"/>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The same column, three stories</a:t>
            </a:r>
          </a:p>
          <a:p>
            <a:pPr algn="l">
              <a:lnSpc>
                <a:spcPct val="100000"/>
              </a:lnSpc>
              <a:spcBef>
                <a:spcPts val="1189"/>
              </a:spcBef>
            </a:pPr>
            <a:r>
              <a:rPr sz="1700" i="0" b="0">
                <a:solidFill>
                  <a:srgbClr val="CBD5E1"/>
                </a:solidFill>
                <a:latin typeface="Helvetica Neue"/>
              </a:rPr>
              <a:t>Ask for the Figure and the Axes by name</a:t>
            </a:r>
          </a:p>
          <a:p>
            <a:pPr algn="l">
              <a:lnSpc>
                <a:spcPct val="100000"/>
              </a:lnSpc>
              <a:spcBef>
                <a:spcPts val="1189"/>
              </a:spcBef>
            </a:pPr>
            <a:r>
              <a:rPr sz="1700" i="0" b="0">
                <a:solidFill>
                  <a:srgbClr val="CBD5E1"/>
                </a:solidFill>
                <a:latin typeface="Helvetica Neue"/>
              </a:rPr>
              <a:t>Small multiples show the shape and the level at once</a:t>
            </a:r>
          </a:p>
          <a:p>
            <a:pPr algn="l">
              <a:lnSpc>
                <a:spcPct val="100000"/>
              </a:lnSpc>
              <a:spcBef>
                <a:spcPts val="1189"/>
              </a:spcBef>
            </a:pPr>
            <a:r>
              <a:rPr sz="1700" i="0" b="0">
                <a:solidFill>
                  <a:srgbClr val="CBD5E1"/>
                </a:solidFill>
                <a:latin typeface="Helvetica Neue"/>
              </a:rPr>
              <a:t>Pick the chart from the question</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same column, three stories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Seeing the data</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notes/07-plotting.md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29</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At 5 bins a staircase, at 150 static, and at 25 a main body with a long right tail.</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 histogram's shape depends on its bin count, so try several before you trust what you see.</a:t>
            </a:r>
          </a:p>
        </p:txBody>
      </p:sp>
      <p:sp>
        <p:nvSpPr>
          <p:cNvPr id="14" name="Rectangle 13"/>
          <p:cNvSpPr/>
          <p:nvPr/>
        </p:nvSpPr>
        <p:spPr>
          <a:xfrm>
            <a:off x="981172" y="1930908"/>
            <a:ext cx="10229350" cy="319887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da01-plotting-hist.png"/>
          <p:cNvPicPr>
            <a:picLocks noChangeAspect="1"/>
          </p:cNvPicPr>
          <p:nvPr/>
        </p:nvPicPr>
        <p:blipFill>
          <a:blip r:embed="rId2"/>
          <a:stretch>
            <a:fillRect/>
          </a:stretch>
        </p:blipFill>
        <p:spPr>
          <a:xfrm>
            <a:off x="1036036" y="1985772"/>
            <a:ext cx="10119622" cy="3089147"/>
          </a:xfrm>
          <a:prstGeom prst="rect">
            <a:avLst/>
          </a:prstGeom>
        </p:spPr>
      </p:pic>
      <p:sp>
        <p:nvSpPr>
          <p:cNvPr id="16" name="TextBox 15"/>
          <p:cNvSpPr txBox="1"/>
          <p:nvPr/>
        </p:nvSpPr>
        <p:spPr>
          <a:xfrm>
            <a:off x="502920" y="5212080"/>
            <a:ext cx="11185855"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Daily revenue with 5, 25 and 150 bins. Generated in the chapter's code from synthetic data.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Ask for the Figure and the Axes by name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Seeing the data</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notes/07-plotting.md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30</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A Figure is the canvas and an Axes is one plot on it, so name them with plt.subplots rather than rely on a current Axes.</a:t>
            </a:r>
          </a:p>
        </p:txBody>
      </p:sp>
      <p:sp>
        <p:nvSpPr>
          <p:cNvPr id="12" name="Rounded Rectangle 11"/>
          <p:cNvSpPr/>
          <p:nvPr/>
        </p:nvSpPr>
        <p:spPr>
          <a:xfrm>
            <a:off x="502920" y="1472184"/>
            <a:ext cx="6711513" cy="2148839"/>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150875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fig, axes = plt.subplots(1, 2, figsize=(9, 3))</a:t>
            </a:r>
          </a:p>
          <a:p>
            <a:pPr algn="l">
              <a:lnSpc>
                <a:spcPct val="100000"/>
              </a:lnSpc>
            </a:pPr>
            <a:r>
              <a:rPr sz="1600" i="0" b="0">
                <a:solidFill>
                  <a:srgbClr val="E2E8F0"/>
                </a:solidFill>
                <a:latin typeface="Menlo"/>
              </a:rPr>
              <a:t>by_month.plot.bar(ax=axes[0])</a:t>
            </a:r>
          </a:p>
          <a:p>
            <a:pPr algn="l">
              <a:lnSpc>
                <a:spcPct val="100000"/>
              </a:lnSpc>
            </a:pPr>
            <a:r>
              <a:rPr sz="1600" i="0" b="0">
                <a:solidFill>
                  <a:srgbClr val="E2E8F0"/>
                </a:solidFill>
                <a:latin typeface="Menlo"/>
              </a:rPr>
              <a:t>axes[0].set(title="Mean daily revenue by month")</a:t>
            </a:r>
          </a:p>
          <a:p>
            <a:pPr algn="l">
              <a:lnSpc>
                <a:spcPct val="100000"/>
              </a:lnSpc>
            </a:pPr>
            <a:r>
              <a:rPr sz="1600" i="0" b="0">
                <a:solidFill>
                  <a:srgbClr val="E2E8F0"/>
                </a:solidFill>
                <a:latin typeface="Menlo"/>
              </a:rPr>
              <a:t>by_product.sort_values().plot.barh(ax=axes[1])</a:t>
            </a:r>
          </a:p>
          <a:p>
            <a:pPr algn="l">
              <a:lnSpc>
                <a:spcPct val="100000"/>
              </a:lnSpc>
            </a:pPr>
            <a:r>
              <a:rPr sz="1600" i="0" b="0">
                <a:solidFill>
                  <a:srgbClr val="E2E8F0"/>
                </a:solidFill>
                <a:latin typeface="Menlo"/>
              </a:rPr>
              <a:t>fig.tight_layout()</a:t>
            </a:r>
          </a:p>
          <a:p>
            <a:pPr algn="l">
              <a:lnSpc>
                <a:spcPct val="100000"/>
              </a:lnSpc>
            </a:pPr>
            <a:r>
              <a:rPr sz="1600" i="0" b="0">
                <a:solidFill>
                  <a:srgbClr val="E2E8F0"/>
                </a:solidFill>
                <a:latin typeface="Menlo"/>
              </a:rPr>
              <a:t>fig.savefig("bars.png")</a:t>
            </a:r>
          </a:p>
        </p:txBody>
      </p:sp>
      <p:sp>
        <p:nvSpPr>
          <p:cNvPr id="15" name="Rectangle 14"/>
          <p:cNvSpPr/>
          <p:nvPr/>
        </p:nvSpPr>
        <p:spPr>
          <a:xfrm>
            <a:off x="7580193" y="1604772"/>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Figure:</a:t>
            </a:r>
            <a:r>
              <a:rPr sz="1800" i="0" b="0">
                <a:solidFill>
                  <a:srgbClr val="1E293B"/>
                </a:solidFill>
                <a:latin typeface="Helvetica Neue"/>
              </a:rPr>
              <a:t> the canvas you save.</a:t>
            </a:r>
          </a:p>
        </p:txBody>
      </p:sp>
      <p:sp>
        <p:nvSpPr>
          <p:cNvPr id="17" name="Rectangle 16"/>
          <p:cNvSpPr/>
          <p:nvPr/>
        </p:nvSpPr>
        <p:spPr>
          <a:xfrm>
            <a:off x="7580193" y="2043684"/>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1956816"/>
            <a:ext cx="3788542"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Axes:</a:t>
            </a:r>
            <a:r>
              <a:rPr sz="1800" i="0" b="0">
                <a:solidFill>
                  <a:srgbClr val="1E293B"/>
                </a:solidFill>
                <a:latin typeface="Helvetica Neue"/>
              </a:rPr>
              <a:t> one plot on it.</a:t>
            </a:r>
          </a:p>
        </p:txBody>
      </p:sp>
      <p:sp>
        <p:nvSpPr>
          <p:cNvPr id="19" name="Rectangle 18"/>
          <p:cNvSpPr/>
          <p:nvPr/>
        </p:nvSpPr>
        <p:spPr>
          <a:xfrm>
            <a:off x="7580193" y="2482596"/>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395728"/>
            <a:ext cx="3788542" cy="694943"/>
          </a:xfrm>
          <a:prstGeom prst="rect">
            <a:avLst/>
          </a:prstGeom>
          <a:noFill/>
        </p:spPr>
        <p:txBody>
          <a:bodyPr wrap="square" lIns="0" rIns="0" tIns="0" bIns="0" anchor="t">
            <a:noAutofit/>
          </a:bodyPr>
          <a:lstStyle/>
          <a:p>
            <a:pPr algn="l">
              <a:lnSpc>
                <a:spcPct val="110000"/>
              </a:lnSpc>
            </a:pPr>
            <a:r>
              <a:rPr sz="1620" i="0" b="1">
                <a:solidFill>
                  <a:srgbClr val="0F7490"/>
                </a:solidFill>
                <a:latin typeface="Menlo"/>
              </a:rPr>
              <a:t>plt.plot</a:t>
            </a:r>
            <a:r>
              <a:rPr sz="1800" i="0" b="0">
                <a:solidFill>
                  <a:srgbClr val="1E293B"/>
                </a:solidFill>
                <a:latin typeface="Helvetica Neue"/>
              </a:rPr>
              <a:t> draws on whichever is current.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Small multiples show the shape and the level at once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Seeing the data</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notes/07-plotting.md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31</a:t>
            </a:r>
          </a:p>
        </p:txBody>
      </p:sp>
      <p:sp>
        <p:nvSpPr>
          <p:cNvPr id="9" name="TextBox 8"/>
          <p:cNvSpPr txBox="1"/>
          <p:nvPr/>
        </p:nvSpPr>
        <p:spPr>
          <a:xfrm>
            <a:off x="502920" y="1426464"/>
            <a:ext cx="11185855" cy="661416"/>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On one scale, the weekly shape holds while the level rises. Figure-level </a:t>
            </a:r>
            <a:r>
              <a:rPr sz="1530" i="0" b="0">
                <a:solidFill>
                  <a:srgbClr val="0F7490"/>
                </a:solidFill>
                <a:latin typeface="Menlo"/>
              </a:rPr>
              <a:t>catplot</a:t>
            </a:r>
            <a:r>
              <a:rPr sz="1700" i="0" b="0">
                <a:solidFill>
                  <a:srgbClr val="475569"/>
                </a:solidFill>
                <a:latin typeface="Helvetica Neue"/>
              </a:rPr>
              <a:t> draws this with </a:t>
            </a:r>
            <a:r>
              <a:rPr sz="1530" i="0" b="0">
                <a:solidFill>
                  <a:srgbClr val="0F7490"/>
                </a:solidFill>
                <a:latin typeface="Menlo"/>
              </a:rPr>
              <a:t>col=</a:t>
            </a:r>
            <a:r>
              <a:rPr sz="1700" i="0" b="0">
                <a:solidFill>
                  <a:srgbClr val="475569"/>
                </a:solidFill>
                <a:latin typeface="Helvetica Neue"/>
              </a:rPr>
              <a:t>.</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Small multiples on a shared scale compare a pattern across groups, and seaborn's figure-level functions draw them from tidy data.</a:t>
            </a:r>
          </a:p>
        </p:txBody>
      </p:sp>
      <p:sp>
        <p:nvSpPr>
          <p:cNvPr id="13" name="Rectangle 12"/>
          <p:cNvSpPr/>
          <p:nvPr/>
        </p:nvSpPr>
        <p:spPr>
          <a:xfrm>
            <a:off x="448056" y="2215896"/>
            <a:ext cx="11295583" cy="225316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da01-plotting-facets.png"/>
          <p:cNvPicPr>
            <a:picLocks noChangeAspect="1"/>
          </p:cNvPicPr>
          <p:nvPr/>
        </p:nvPicPr>
        <p:blipFill>
          <a:blip r:embed="rId2"/>
          <a:stretch>
            <a:fillRect/>
          </a:stretch>
        </p:blipFill>
        <p:spPr>
          <a:xfrm>
            <a:off x="502920" y="2270760"/>
            <a:ext cx="11185855" cy="2143438"/>
          </a:xfrm>
          <a:prstGeom prst="rect">
            <a:avLst/>
          </a:prstGeom>
        </p:spPr>
      </p:pic>
      <p:sp>
        <p:nvSpPr>
          <p:cNvPr id="15" name="TextBox 14"/>
          <p:cNvSpPr txBox="1"/>
          <p:nvPr/>
        </p:nvSpPr>
        <p:spPr>
          <a:xfrm>
            <a:off x="502920" y="4551358"/>
            <a:ext cx="11185855"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Mean revenue by weekday per quarter, on a shared y axis. Generated in the chapter's code from synthetic data.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Pick the chart from the question</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Seeing the data</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notes/07-plotting.md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32</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Choose a line for time, sorted bars for comparison, a histogram for shape, a box for groups and a scatter for relationships.</a:t>
            </a:r>
          </a:p>
        </p:txBody>
      </p:sp>
      <p:graphicFrame>
        <p:nvGraphicFramePr>
          <p:cNvPr id="12" name="Table 11"/>
          <p:cNvGraphicFramePr>
            <a:graphicFrameLocks noGrp="1"/>
          </p:cNvGraphicFramePr>
          <p:nvPr/>
        </p:nvGraphicFramePr>
        <p:xfrm>
          <a:off x="502920" y="1472184"/>
          <a:ext cx="11185854" cy="2837688"/>
        </p:xfrm>
        <a:graphic>
          <a:graphicData uri="http://schemas.openxmlformats.org/drawingml/2006/table">
            <a:tbl>
              <a:tblPr firstRow="1" bandRow="1">
                <a:tableStyleId>{5940675A-B579-460E-94D1-54222C63F5DA}</a:tableStyleId>
              </a:tblPr>
              <a:tblGrid>
                <a:gridCol w="4474342"/>
                <a:gridCol w="3355756"/>
                <a:gridCol w="3355756"/>
              </a:tblGrid>
              <a:tr h="405384">
                <a:tc>
                  <a:txBody>
                    <a:bodyPr wrap="square"/>
                    <a:lstStyle/>
                    <a:p>
                      <a:pPr>
                        <a:lnSpc>
                          <a:spcPct val="100000"/>
                        </a:lnSpc>
                      </a:pPr>
                      <a:r>
                        <a:rPr sz="1700" i="0" b="1">
                          <a:solidFill>
                            <a:srgbClr val="FFFFFF"/>
                          </a:solidFill>
                          <a:latin typeface="Helvetica Neue"/>
                        </a:rPr>
                        <a:t>Question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Chart</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Call</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How does it change over time?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Line</a:t>
                      </a:r>
                    </a:p>
                  </a:txBody>
                  <a:tcPr marL="109728" marR="109728" marT="54864" marB="54864" anchor="ctr">
                    <a:solidFill>
                      <a:srgbClr val="FFFFFF"/>
                    </a:solidFill>
                  </a:tcPr>
                </a:tc>
                <a:tc>
                  <a:txBody>
                    <a:bodyPr wrap="square"/>
                    <a:lstStyle/>
                    <a:p>
                      <a:pPr>
                        <a:lnSpc>
                          <a:spcPct val="100000"/>
                        </a:lnSpc>
                      </a:pPr>
                      <a:r>
                        <a:rPr sz="1530" i="0" b="0">
                          <a:solidFill>
                            <a:srgbClr val="0F7490"/>
                          </a:solidFill>
                          <a:latin typeface="Menlo"/>
                        </a:rPr>
                        <a:t>ax.plot</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How do categories compare?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Sorted bars from zero</a:t>
                      </a:r>
                    </a:p>
                  </a:txBody>
                  <a:tcPr marL="109728" marR="109728" marT="54864" marB="54864" anchor="ctr">
                    <a:solidFill>
                      <a:srgbClr val="F8FAFC"/>
                    </a:solidFill>
                  </a:tcPr>
                </a:tc>
                <a:tc>
                  <a:txBody>
                    <a:bodyPr wrap="square"/>
                    <a:lstStyle/>
                    <a:p>
                      <a:pPr>
                        <a:lnSpc>
                          <a:spcPct val="100000"/>
                        </a:lnSpc>
                      </a:pPr>
                      <a:r>
                        <a:rPr sz="1530" i="0" b="0">
                          <a:solidFill>
                            <a:srgbClr val="0F7490"/>
                          </a:solidFill>
                          <a:latin typeface="Menlo"/>
                        </a:rPr>
                        <a:t>plot.barh</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What shape does one column have?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Histogram</a:t>
                      </a:r>
                    </a:p>
                  </a:txBody>
                  <a:tcPr marL="109728" marR="109728" marT="54864" marB="54864" anchor="ctr">
                    <a:solidFill>
                      <a:srgbClr val="FFFFFF"/>
                    </a:solidFill>
                  </a:tcPr>
                </a:tc>
                <a:tc>
                  <a:txBody>
                    <a:bodyPr wrap="square"/>
                    <a:lstStyle/>
                    <a:p>
                      <a:pPr>
                        <a:lnSpc>
                          <a:spcPct val="100000"/>
                        </a:lnSpc>
                      </a:pPr>
                      <a:r>
                        <a:rPr sz="1530" i="0" b="0">
                          <a:solidFill>
                            <a:srgbClr val="0F7490"/>
                          </a:solidFill>
                          <a:latin typeface="Menlo"/>
                        </a:rPr>
                        <a:t>ax.hist</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How do groups' distributions differ?</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Box</a:t>
                      </a:r>
                    </a:p>
                  </a:txBody>
                  <a:tcPr marL="109728" marR="109728" marT="54864" marB="54864" anchor="ctr">
                    <a:solidFill>
                      <a:srgbClr val="F8FAFC"/>
                    </a:solidFill>
                  </a:tcPr>
                </a:tc>
                <a:tc>
                  <a:txBody>
                    <a:bodyPr wrap="square"/>
                    <a:lstStyle/>
                    <a:p>
                      <a:pPr>
                        <a:lnSpc>
                          <a:spcPct val="100000"/>
                        </a:lnSpc>
                      </a:pPr>
                      <a:r>
                        <a:rPr sz="1530" i="0" b="0">
                          <a:solidFill>
                            <a:srgbClr val="0F7490"/>
                          </a:solidFill>
                          <a:latin typeface="Menlo"/>
                        </a:rPr>
                        <a:t>sns.boxplot</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How do two numbers relate?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Scatter</a:t>
                      </a:r>
                    </a:p>
                  </a:txBody>
                  <a:tcPr marL="109728" marR="109728" marT="54864" marB="54864" anchor="ctr">
                    <a:solidFill>
                      <a:srgbClr val="FFFFFF"/>
                    </a:solidFill>
                  </a:tcPr>
                </a:tc>
                <a:tc>
                  <a:txBody>
                    <a:bodyPr wrap="square"/>
                    <a:lstStyle/>
                    <a:p>
                      <a:pPr>
                        <a:lnSpc>
                          <a:spcPct val="100000"/>
                        </a:lnSpc>
                      </a:pPr>
                      <a:r>
                        <a:rPr sz="1530" i="0" b="0">
                          <a:solidFill>
                            <a:srgbClr val="0F7490"/>
                          </a:solidFill>
                          <a:latin typeface="Menlo"/>
                        </a:rPr>
                        <a:t>sns.scatterplot</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Same pattern across groups?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Small multiples</a:t>
                      </a:r>
                    </a:p>
                  </a:txBody>
                  <a:tcPr marL="109728" marR="109728" marT="54864" marB="54864" anchor="ctr">
                    <a:solidFill>
                      <a:srgbClr val="F8FAFC"/>
                    </a:solidFill>
                  </a:tcPr>
                </a:tc>
                <a:tc>
                  <a:txBody>
                    <a:bodyPr wrap="square"/>
                    <a:lstStyle/>
                    <a:p>
                      <a:pPr>
                        <a:lnSpc>
                          <a:spcPct val="100000"/>
                        </a:lnSpc>
                      </a:pPr>
                      <a:r>
                        <a:rPr sz="1530" i="0" b="0">
                          <a:solidFill>
                            <a:srgbClr val="0F7490"/>
                          </a:solidFill>
                          <a:latin typeface="Menlo"/>
                        </a:rPr>
                        <a:t>sns.catplot(col=...)</a:t>
                      </a:r>
                    </a:p>
                  </a:txBody>
                  <a:tcPr marL="109728" marR="109728" marT="54864" marB="54864" anchor="ctr">
                    <a:solidFill>
                      <a:srgbClr val="F8FAFC"/>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Rules of thumb</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What to remember</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notes/07-plotting.md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33</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The dangerous errors in pandas raise no exception, so build the checks into every load, join, group and chart.</a:t>
            </a:r>
          </a:p>
        </p:txBody>
      </p:sp>
      <p:sp>
        <p:nvSpPr>
          <p:cNvPr id="12" name="Rectangle 11"/>
          <p:cNvSpPr/>
          <p:nvPr/>
        </p:nvSpPr>
        <p:spPr>
          <a:xfrm>
            <a:off x="502920" y="1472184"/>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82296" cy="186994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Load</a:t>
            </a:r>
          </a:p>
        </p:txBody>
      </p:sp>
      <p:sp>
        <p:nvSpPr>
          <p:cNvPr id="15" name="TextBox 14"/>
          <p:cNvSpPr txBox="1"/>
          <p:nvPr/>
        </p:nvSpPr>
        <p:spPr>
          <a:xfrm>
            <a:off x="777240" y="2087880"/>
            <a:ext cx="3042818" cy="1071371"/>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Keep the raw file. Put every fix in one rerunnable function.</a:t>
            </a:r>
          </a:p>
        </p:txBody>
      </p:sp>
      <p:sp>
        <p:nvSpPr>
          <p:cNvPr id="16" name="Rectangle 15"/>
          <p:cNvSpPr/>
          <p:nvPr/>
        </p:nvSpPr>
        <p:spPr>
          <a:xfrm>
            <a:off x="4322978" y="1472184"/>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2978" y="1472184"/>
            <a:ext cx="82296" cy="186994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7298"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Select</a:t>
            </a:r>
          </a:p>
        </p:txBody>
      </p:sp>
      <p:sp>
        <p:nvSpPr>
          <p:cNvPr id="19" name="TextBox 18"/>
          <p:cNvSpPr txBox="1"/>
          <p:nvPr/>
        </p:nvSpPr>
        <p:spPr>
          <a:xfrm>
            <a:off x="4597298" y="2087880"/>
            <a:ext cx="3042818" cy="1071371"/>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loc</a:t>
            </a:r>
            <a:r>
              <a:rPr sz="1800" i="0" b="0">
                <a:solidFill>
                  <a:srgbClr val="475569"/>
                </a:solidFill>
                <a:latin typeface="Helvetica Neue"/>
              </a:rPr>
              <a:t> for labels, </a:t>
            </a:r>
            <a:r>
              <a:rPr sz="1620" i="0" b="0">
                <a:solidFill>
                  <a:srgbClr val="0F7490"/>
                </a:solidFill>
                <a:latin typeface="Menlo"/>
              </a:rPr>
              <a:t>iloc</a:t>
            </a:r>
            <a:r>
              <a:rPr sz="1800" i="0" b="0">
                <a:solidFill>
                  <a:srgbClr val="475569"/>
                </a:solidFill>
                <a:latin typeface="Helvetica Neue"/>
              </a:rPr>
              <a:t> for positions, a single </a:t>
            </a:r>
            <a:r>
              <a:rPr sz="1620" i="0" b="0">
                <a:solidFill>
                  <a:srgbClr val="0F7490"/>
                </a:solidFill>
                <a:latin typeface="Menlo"/>
              </a:rPr>
              <a:t>.loc</a:t>
            </a:r>
            <a:r>
              <a:rPr sz="1800" i="0" b="0">
                <a:solidFill>
                  <a:srgbClr val="475569"/>
                </a:solidFill>
                <a:latin typeface="Helvetica Neue"/>
              </a:rPr>
              <a:t> to set.</a:t>
            </a:r>
          </a:p>
        </p:txBody>
      </p:sp>
      <p:sp>
        <p:nvSpPr>
          <p:cNvPr id="20" name="Rectangle 19"/>
          <p:cNvSpPr/>
          <p:nvPr/>
        </p:nvSpPr>
        <p:spPr>
          <a:xfrm>
            <a:off x="8143036" y="1472184"/>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43036" y="1472184"/>
            <a:ext cx="82296" cy="186994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7356"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Join</a:t>
            </a:r>
          </a:p>
        </p:txBody>
      </p:sp>
      <p:sp>
        <p:nvSpPr>
          <p:cNvPr id="23" name="TextBox 22"/>
          <p:cNvSpPr txBox="1"/>
          <p:nvPr/>
        </p:nvSpPr>
        <p:spPr>
          <a:xfrm>
            <a:off x="8417356" y="2087880"/>
            <a:ext cx="3042818" cy="1071371"/>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State </a:t>
            </a:r>
            <a:r>
              <a:rPr sz="1620" i="0" b="0">
                <a:solidFill>
                  <a:srgbClr val="0F7490"/>
                </a:solidFill>
                <a:latin typeface="Menlo"/>
              </a:rPr>
              <a:t>how</a:t>
            </a:r>
            <a:r>
              <a:rPr sz="1800" i="0" b="0">
                <a:solidFill>
                  <a:srgbClr val="475569"/>
                </a:solidFill>
                <a:latin typeface="Helvetica Neue"/>
              </a:rPr>
              <a:t> and </a:t>
            </a:r>
            <a:r>
              <a:rPr sz="1620" i="0" b="0">
                <a:solidFill>
                  <a:srgbClr val="0F7490"/>
                </a:solidFill>
                <a:latin typeface="Menlo"/>
              </a:rPr>
              <a:t>validate</a:t>
            </a:r>
            <a:r>
              <a:rPr sz="1800" i="0" b="0">
                <a:solidFill>
                  <a:srgbClr val="475569"/>
                </a:solidFill>
                <a:latin typeface="Helvetica Neue"/>
              </a:rPr>
              <a:t>. Compare rows and one total.</a:t>
            </a:r>
          </a:p>
        </p:txBody>
      </p:sp>
      <p:sp>
        <p:nvSpPr>
          <p:cNvPr id="24" name="Rectangle 23"/>
          <p:cNvSpPr/>
          <p:nvPr/>
        </p:nvSpPr>
        <p:spPr>
          <a:xfrm>
            <a:off x="502920" y="3616452"/>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3616452"/>
            <a:ext cx="82296" cy="1869948"/>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3799332"/>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Group</a:t>
            </a:r>
          </a:p>
        </p:txBody>
      </p:sp>
      <p:sp>
        <p:nvSpPr>
          <p:cNvPr id="27" name="TextBox 26"/>
          <p:cNvSpPr txBox="1"/>
          <p:nvPr/>
        </p:nvSpPr>
        <p:spPr>
          <a:xfrm>
            <a:off x="777240" y="4232148"/>
            <a:ext cx="3042818" cy="1071372"/>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Print counts. Sum then divide for ratios. Check groups add up.</a:t>
            </a:r>
          </a:p>
        </p:txBody>
      </p:sp>
      <p:sp>
        <p:nvSpPr>
          <p:cNvPr id="28" name="Rectangle 27"/>
          <p:cNvSpPr/>
          <p:nvPr/>
        </p:nvSpPr>
        <p:spPr>
          <a:xfrm>
            <a:off x="4322978" y="3616452"/>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2978" y="3616452"/>
            <a:ext cx="82296" cy="1869948"/>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97298" y="3799332"/>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Time</a:t>
            </a:r>
          </a:p>
        </p:txBody>
      </p:sp>
      <p:sp>
        <p:nvSpPr>
          <p:cNvPr id="31" name="TextBox 30"/>
          <p:cNvSpPr txBox="1"/>
          <p:nvPr/>
        </p:nvSpPr>
        <p:spPr>
          <a:xfrm>
            <a:off x="4597298" y="4232148"/>
            <a:ext cx="3042818" cy="1071372"/>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Show gaps with </a:t>
            </a:r>
            <a:r>
              <a:rPr sz="1620" i="0" b="0">
                <a:solidFill>
                  <a:srgbClr val="0F7490"/>
                </a:solidFill>
                <a:latin typeface="Menlo"/>
              </a:rPr>
              <a:t>asfreq</a:t>
            </a:r>
            <a:r>
              <a:rPr sz="1800" i="0" b="0">
                <a:solidFill>
                  <a:srgbClr val="475569"/>
                </a:solidFill>
                <a:latin typeface="Helvetica Neue"/>
              </a:rPr>
              <a:t>. Keep model features looking backward.</a:t>
            </a:r>
          </a:p>
        </p:txBody>
      </p:sp>
      <p:sp>
        <p:nvSpPr>
          <p:cNvPr id="32" name="Rectangle 31"/>
          <p:cNvSpPr/>
          <p:nvPr/>
        </p:nvSpPr>
        <p:spPr>
          <a:xfrm>
            <a:off x="8143036" y="3616452"/>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43036" y="3616452"/>
            <a:ext cx="82296" cy="1869948"/>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7356" y="3799332"/>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Plot</a:t>
            </a:r>
          </a:p>
        </p:txBody>
      </p:sp>
      <p:sp>
        <p:nvSpPr>
          <p:cNvPr id="35" name="TextBox 34"/>
          <p:cNvSpPr txBox="1"/>
          <p:nvPr/>
        </p:nvSpPr>
        <p:spPr>
          <a:xfrm>
            <a:off x="8417356" y="4232148"/>
            <a:ext cx="3042818" cy="1071372"/>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Question first. Bars from zero. One y axis.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Where next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What to remember</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notes/07-plotting.md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34</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With data in a frame, the next question is whether a difference is real, which takes probability and statistics.</a:t>
            </a:r>
          </a:p>
        </p:txBody>
      </p:sp>
      <p:sp>
        <p:nvSpPr>
          <p:cNvPr id="12" name="Rectangle 11"/>
          <p:cNvSpPr/>
          <p:nvPr/>
        </p:nvSpPr>
        <p:spPr>
          <a:xfrm>
            <a:off x="502920" y="156870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47218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Practice:</a:t>
            </a:r>
            <a:r>
              <a:rPr sz="2000" i="0" b="0">
                <a:solidFill>
                  <a:srgbClr val="1E293B"/>
                </a:solidFill>
                <a:latin typeface="Helvetica Neue"/>
              </a:rPr>
              <a:t> the notebooks in </a:t>
            </a:r>
            <a:r>
              <a:rPr sz="1800" i="0" b="0">
                <a:solidFill>
                  <a:srgbClr val="0F7490"/>
                </a:solidFill>
                <a:latin typeface="Menlo"/>
              </a:rPr>
              <a:t>practice/</a:t>
            </a:r>
            <a:r>
              <a:rPr sz="2000" i="0" b="0">
                <a:solidFill>
                  <a:srgbClr val="1E293B"/>
                </a:solidFill>
                <a:latin typeface="Helvetica Neue"/>
              </a:rPr>
              <a:t>, after </a:t>
            </a:r>
            <a:r>
              <a:rPr sz="1800" i="0" b="0">
                <a:solidFill>
                  <a:srgbClr val="0F7490"/>
                </a:solidFill>
                <a:latin typeface="Menlo"/>
              </a:rPr>
              <a:t>bash fetch_data.sh</a:t>
            </a:r>
            <a:r>
              <a:rPr sz="2000" i="0" b="0">
                <a:solidFill>
                  <a:srgbClr val="1E293B"/>
                </a:solidFill>
                <a:latin typeface="Helvetica Neue"/>
              </a:rPr>
              <a:t>.</a:t>
            </a:r>
          </a:p>
        </p:txBody>
      </p:sp>
      <p:sp>
        <p:nvSpPr>
          <p:cNvPr id="14" name="Rectangle 13"/>
          <p:cNvSpPr/>
          <p:nvPr/>
        </p:nvSpPr>
        <p:spPr>
          <a:xfrm>
            <a:off x="502920" y="205638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195986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Pillar 02:</a:t>
            </a:r>
            <a:r>
              <a:rPr sz="2000" i="0" b="0">
                <a:solidFill>
                  <a:srgbClr val="1E293B"/>
                </a:solidFill>
                <a:latin typeface="Helvetica Neue"/>
              </a:rPr>
              <a:t> is a difference real, or luck? Probability and statistics.</a:t>
            </a:r>
          </a:p>
        </p:txBody>
      </p:sp>
      <p:sp>
        <p:nvSpPr>
          <p:cNvPr id="16" name="Rectangle 15"/>
          <p:cNvSpPr/>
          <p:nvPr/>
        </p:nvSpPr>
        <p:spPr>
          <a:xfrm>
            <a:off x="502920" y="254406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44754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Pillar 03:</a:t>
            </a:r>
            <a:r>
              <a:rPr sz="2000" i="0" b="0">
                <a:solidFill>
                  <a:srgbClr val="1E293B"/>
                </a:solidFill>
                <a:latin typeface="Helvetica Neue"/>
              </a:rPr>
              <a:t> did the change cause it? Experiments and causality.</a:t>
            </a:r>
          </a:p>
        </p:txBody>
      </p:sp>
      <p:sp>
        <p:nvSpPr>
          <p:cNvPr id="18" name="Rectangle 17"/>
          <p:cNvSpPr/>
          <p:nvPr/>
        </p:nvSpPr>
        <p:spPr>
          <a:xfrm>
            <a:off x="502920" y="303174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293522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Pillar 05:</a:t>
            </a:r>
            <a:r>
              <a:rPr sz="2000" i="0" b="0">
                <a:solidFill>
                  <a:srgbClr val="1E293B"/>
                </a:solidFill>
                <a:latin typeface="Helvetica Neue"/>
              </a:rPr>
              <a:t> make charts that convince other people.</a:t>
            </a:r>
          </a:p>
        </p:txBody>
      </p:sp>
      <p:sp>
        <p:nvSpPr>
          <p:cNvPr id="20" name="Rectangle 19"/>
          <p:cNvSpPr/>
          <p:nvPr/>
        </p:nvSpPr>
        <p:spPr>
          <a:xfrm>
            <a:off x="502920" y="351942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42290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Pillar 06:</a:t>
            </a:r>
            <a:r>
              <a:rPr sz="2000" i="0" b="0">
                <a:solidFill>
                  <a:srgbClr val="1E293B"/>
                </a:solidFill>
                <a:latin typeface="Helvetica Neue"/>
              </a:rPr>
              <a:t> forecasting, cohorts, funnels and SQL on real analyses.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