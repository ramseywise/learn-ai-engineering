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1 of the AI-engineering course, and the innermost layer: context contains prompts. Four parts — how models read, the named techniques, building with prompts, shipping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a mimic, not an oracle. Chat, tool calls and agents are all the application layer building text before the call and parsing text after it. GPT-3's few-shot result (2020) started the discipline: behaviour elicited by changing the input, with no weight updates.</a:t>
            </a:r>
          </a:p>
          <a:p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notes/01-how-models-read-prompts.md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notes/02-prompt-anatomy.md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notes/03-core-techniques.md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notes/04-controlling-output.md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notes/05-tools-and-function-calling.md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notes/06-chaining-and-workflows.md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notes/06-chaining-and-workflows.md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notes/07-prompting-reasoning-models.md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notes/08-prompt-optimization.md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notes/08-prompt-optimization.md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notes/09-evaluating-prompts.md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notes/10-adversarial-prompting.md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notes/10-adversarial-prompting.md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notes/11-applications.md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README.md#rules-of-thumb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Prompt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Writing the document the model completes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Tokens · Anatomy · Techniques · Output control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Tools · Chains · Reasoning models · Evals · Security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84124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841247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96926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28231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How models read prompts · Prompt anatomy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85415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185415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313432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626487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Examples teach · reasoning buys compute · search explores · tools reach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3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529583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657599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Building with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70655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Controlling output · Tools · Chains and workflows · Reasoning models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873752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4873752"/>
            <a:ext cx="91440" cy="1143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01768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4: Shipping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314823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Optimization · Evaluation · Adversarial prompting ·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ai-engineering/01-prompt-engineering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How models read prompts · Prompt anatomy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399540"/>
            <a:ext cx="0" cy="405892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399540"/>
            <a:ext cx="4693615" cy="424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mental model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Five properties of the reader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Order matters — the word-count test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Chat models are completion models wearing a transcript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Every prompt must satisfy four criteria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Writing instructions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Ordering — the default skeleton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Separate instructions from data with XML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Agent system prompts — procedures, not rule piles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Why every rule follows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An LLM is a document-completion engine. A prompt is the opening of a document whose most plausible continuation is the answer you want.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Ask "how would this document continue?" — not "how would a reasonable person reply?"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Five properties of the reader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How models read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07873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Tokens, not characters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~4 chars per token. Letter counting and string reversal are hard; SHOUTING and random IDs cost extra tokens.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07873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Autoregressive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Fixed compute per token and no takebacks. More thinking means emitting more tokens — the basis of CoT.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07873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Left-to-right attention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Order matters. Put the instruction before content when it changes </a:t>
            </a:r>
            <a:r>
              <a:rPr sz="1500" i="0" b="1">
                <a:solidFill>
                  <a:srgbClr val="1E293B"/>
                </a:solidFill>
                <a:latin typeface="Helvetica Neue"/>
              </a:rPr>
              <a:t>how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the content must be read.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25240"/>
            <a:ext cx="82296" cy="207873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Truth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Hallucination is the same behaviour as fluency. A false premise gets run with, not questioned.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825240"/>
            <a:ext cx="82296" cy="2078736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Chat is a transcript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RLHF + ChatML turn a completion model into an assistant. Roles are document structure, not a security boundary.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825240"/>
            <a:ext cx="3545738" cy="2078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825240"/>
            <a:ext cx="82296" cy="2078736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008120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So…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440936"/>
            <a:ext cx="30428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0">
                <a:solidFill>
                  <a:srgbClr val="475569"/>
                </a:solidFill>
                <a:latin typeface="Helvetica Neue"/>
              </a:rPr>
              <a:t>Shape the document. Don't ask more forcefully — reorder, decompose, or move the work out of the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Order matters — the word-count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Property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book asked ChatGPT to count the words in a 173-word paragraph, placing the instruction in two positions.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If the prompt fails the one-pass test, restructure the task rather than asking harder.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0760"/>
            <a:ext cx="5410047" cy="3215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270760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70760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Instruction after the paragraph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11175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02971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model reads the paragraph not knowing it will need a count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1127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2922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answers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348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22579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4375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can't go back and re-read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Read first, task second → a guess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2270760"/>
            <a:ext cx="5410047" cy="3215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2270760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2270760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Instruction before the paragraph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7327" y="311175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302971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model knows the job while it reads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07327" y="352628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7367" y="344424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It answers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173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940809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3858768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One-pass heuristic: could an expert finish this in a single read, with no notes?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Task first → the reading is shaped by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FFFFFF"/>
                </a:solidFill>
                <a:latin typeface="Helvetica Neue"/>
              </a:rPr>
              <a:t>Chat models are completion models wearing a transcript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Property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notes/01-how-models-read-prompts.md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190499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CHATML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12649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&lt;|im_start|&gt;system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You are a terse technical assistant.&lt;|im_end|&gt;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&lt;|im_start|&gt;user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What does </a:t>
            </a:r>
            <a:r>
              <a:rPr sz="1440" i="0" b="0">
                <a:solidFill>
                  <a:srgbClr val="0F7490"/>
                </a:solidFill>
                <a:latin typeface="Menlo"/>
              </a:rPr>
              <a:t>git rebase</a:t>
            </a:r>
            <a:r>
              <a:rPr sz="1600" i="0" b="0">
                <a:solidFill>
                  <a:srgbClr val="E2E8F0"/>
                </a:solidFill>
                <a:latin typeface="Menlo"/>
              </a:rPr>
              <a:t> do?&lt;|im_end|&gt;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&lt;|im_start|&gt;assistant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System role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is the main lever: RLHF trains models to follow it closely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Reserved tokens can't be typed —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unless you paste user content into </a:t>
            </a:r>
            <a:r>
              <a:rPr sz="1620" i="0" b="1">
                <a:solidFill>
                  <a:srgbClr val="0F7490"/>
                </a:solidFill>
                <a:latin typeface="Menlo"/>
              </a:rPr>
              <a:t>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What chat costs: alignment tax, chatty preamble, a narrower voice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73202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645152"/>
            <a:ext cx="3788542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Two scripts: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the user's conversation ≠ the transcript you send. You are the showrunner of the second.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Every prompt must satisfy four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Prompt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Chat fine-tuning gives you 1, 3 and 4 almost free. Criterion 2 is never automatic — that's context engineering.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1704213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170421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1472184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Resemble training data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Little Red Riding Hood principle — stay on familiar document shapes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03170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" y="273519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27351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503170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Carry all relevant information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and only that. Padding distracts (Chekhov's gun — everything included must matter)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34156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512" y="3766185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76618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534156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Lead to a solution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point at an answer, not at more elaboration of the problem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65142"/>
            <a:ext cx="11185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7512" y="4797171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" y="47971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65142"/>
            <a:ext cx="10180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Have a natural stopping point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end of turn, a closing tag, or a stop sequence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Writing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Clear, direct, specific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Golden rule (Anthropic): if a colleague with no context would be confused by the prompt, so will the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Reasons generalise better than commands. Shouting (CRITICAL, MUST) now causes over-application.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30114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66238"/>
                <a:gridCol w="3441801"/>
                <a:gridCol w="5377815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Weak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FFFFFF"/>
                          </a:solidFill>
                          <a:latin typeface="Helvetica Neue"/>
                        </a:rPr>
                        <a:t>Strong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Be specific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"Keep it short, not too descriptive"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"Use 2–3 sentences, for a high-school student"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Say what to do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"DO NOT ASK FOR INTERESTS" (it asked anyway)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"Recommend from the top trending movies. If none fit, say so."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Give the reason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"NEVER use ellipses"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"No ellipses — a text-to-speech engine will read this aloud"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Avoid absolutes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"Always cite three sources"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"Cite sources where they exist; say so when they don't"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57302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1">
                          <a:solidFill>
                            <a:srgbClr val="1E293B"/>
                          </a:solidFill>
                          <a:latin typeface="Helvetica Neue"/>
                        </a:rPr>
                        <a:t>Specify the output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"Extract the places"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"Extract the places. Format: </a:t>
                      </a:r>
                      <a:r>
                        <a:rPr sz="1260" i="0" b="0">
                          <a:solidFill>
                            <a:srgbClr val="0F7490"/>
                          </a:solidFill>
                          <a:latin typeface="Menlo"/>
                        </a:rPr>
                        <a:t>Place: &lt;comma_separated_list&gt;</a:t>
                      </a:r>
                      <a:r>
                        <a:rPr sz="1400" i="0" b="0">
                          <a:solidFill>
                            <a:srgbClr val="475569"/>
                          </a:solidFill>
                          <a:latin typeface="Helvetica Neue"/>
                        </a:rPr>
                        <a:t>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Ordering — the default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Beat the Valley of Meh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Introduction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what document, what task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Context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long parade of reference material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Refocus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restate the question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Transition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nudge from reading to answering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8084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89148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Recency bias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+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lost in the middle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→ early-to-mid content is used least (the Valley of Meh)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6265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87096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Sandwich: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introduction + refocus, so the instruction is both primed and fresh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25950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334256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Long inputs (20k+ tokens): documents first, query last — up to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30% better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on Anthropic's tests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0776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1606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Ask the model to quote the relevant parts before it answers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Separate instructions from data with XML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Choosing the document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3680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27279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&lt;instructions&gt;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Summarize the document for an executive audience.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&lt;/instructions&gt;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&lt;document index="1"&gt;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&lt;source&gt;q3-report.pdf&lt;/source&gt;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&lt;document_content&gt;{{DOCUMENT}}&lt;/document_content&gt;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&lt;/document&gt;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&lt;constraints&gt;Max 3 sentences. Plain prose.&lt;/constraints&gt;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Advice conversation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the chat default; can include synthetic prior turns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Analytic report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a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Scope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section and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# Analysis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before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# Conclusion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Structured doc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— lets the app route parts of the 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4302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34340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Version the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template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(slots), not the rendered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i="0" b="1">
                <a:solidFill>
                  <a:srgbClr val="FFFFFF"/>
                </a:solidFill>
                <a:latin typeface="Helvetica Neue"/>
              </a:rPr>
              <a:t>Agent system prompts — procedures, not rule piles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Tau-Bench ablation (Li, Exp. 2-4)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notes/02-prompt-anatomy.md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One change at a time to an airline/retail support agent's system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Write an SOP with numbered stages and exception branches. When an agent underperforms, ablate before rewriting.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4" cy="2139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92927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Change (all else fixed)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Effect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Tone swapped (neutral → bombastic → emoji-casual)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Little change in completion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Same rules, flattened from an ordered procedure into an unordered list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Success fell more than 30%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— "verify identity before refund" was skipped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Tool descriptions removed (signatures kept)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Tool-call errors up 45%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Examples teach · reasoning buys compute · search explores · tools reach out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014855"/>
            <a:ext cx="0" cy="282829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014855"/>
            <a:ext cx="4693615" cy="30111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technique when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Few-shot — what the examples actually teach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Chain-of-thought — reasoning before the answer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Sampling, knowledge, search, code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ReAct — reason + act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Reflexion — verbal reinforcement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Which technique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Start at the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Reasoning models build many of these in — check notes/07 before adding CoT scaffolding.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3977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044601"/>
                <a:gridCol w="3509287"/>
                <a:gridCol w="2631965"/>
              </a:tblGrid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Problem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Reach for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FFFFFF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Task is clear and common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Zero-shot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Format, style, or labels are non-obvious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Few-shot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Longer prompt; anchoring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Multi-step arithmetic, logic, planning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Chain-of-thought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More output 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Answers vary run to run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Self-consistency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N× calls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Search problem with dead ends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Tree of Thoughts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Many calls + a controller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Exact computation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PAL (code + interpreter)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A sandbox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Needs fresh or private information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ReAct / tool use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+ tools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Can verify and retry (tests, checkers)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Reflexion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Retry budget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1">
                          <a:solidFill>
                            <a:srgbClr val="1E293B"/>
                          </a:solidFill>
                          <a:latin typeface="Helvetica Neue"/>
                        </a:rPr>
                        <a:t>Long task with separable stages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Prompt chaining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00" i="0" b="0">
                          <a:solidFill>
                            <a:srgbClr val="475569"/>
                          </a:solidFill>
                          <a:latin typeface="Helvetica Neue"/>
                        </a:rPr>
                        <a:t>Orchestration code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Few-shot — what the examples actually teach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In-context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Start zero-shot. Add examples only when zero-shot fails in a way you can name.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What matters (Min et al., 2022)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Label space and input distribution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matter more than whether each label is correct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297682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1564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Random labels still beat no examples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Format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matters a lot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2673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Sample labels from the true distribution, not a uniform spread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three drawbacks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Scales badly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each example needs the same rich context as the real question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Anchoring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the examples' range becomes the model's expectation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Spurious patterns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— example order gets learned. Shuffle, or let DSPy choose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Chain-of-thought — reasoning before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Wei et al., 2022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32054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3095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705088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Standard vs. chain-of-thought prompting (Wei et al., 2022)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Without reasoning tokens, an answer is an intuitive guess; an explanation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after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it is rationalisation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90322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816351"/>
            <a:ext cx="4347834" cy="3931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PaLM 540B on GSM8K: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~20% → ~60%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3255263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Zero-shot CoT: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"Let's think step by step"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408279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995928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Put reasoning in a parseable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&lt;thinking&gt;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block so the app can strip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Sampling, knowledge, search,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Beyond a single CoT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75513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Self-consistency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Sample several CoT paths at temperature &gt; 0 and take the majority answer. N× cost; nothing to vote on in open-ended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75513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Generated knowledge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356104"/>
            <a:ext cx="2087803" cy="2688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Call 1 generates relevant facts; call 2 answers with them in the prompt. Adds no knowledge the model lacks — that's retrieval.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75513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Tree of Thoughts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Generate, evaluate, backtrack. Game of 24: CoT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4%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→ ToT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74%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 Needs a controller loop in code.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7551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75513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PAL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956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The model writes code; an interpreter computes the answer. Don't ask the model to do what code does reliably.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ReAct — reason + 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Yao et al., 2022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1: I need to search Arthur's Magazine and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First for Women, and find which started first.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1:  Search[Arthur's Magazine]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Observation 1: Arthur's Magazine (1844–1846) was an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American literary periodical...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2: Started in 1844. Now search First for Women.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2:  Search[First for Women]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Observation 2: ...started in 1989...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Thought 3: 1844 &lt; 1989, so Arthur's Magazine was first.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Action 3:  Finish[Arthur's Magazine]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Grounded in retrieved facts, so it hallucinates less than CoT — but one bad search derails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ALFWorld: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71%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vs. 45% for act-only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3878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30098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Prompted alone it lost to CoT on HotpotQA; fine-tuning on ~3k traces flipped that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0193" y="44302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0233" y="434340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ancestor of today's native tool-calling loop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Reflexion — verbal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Shinn et al., 2023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notes/03-core-techniques.md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267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639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Actor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produces text or actions (CoT / ReAct)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907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0712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Evaluator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tests, heuristics, or an LLM judge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3943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874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46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Self-reflection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turns the score into written feedback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76207" y="2769108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215487" y="3180588"/>
            <a:ext cx="576072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215487" y="2805684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15487" y="3217164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retry with the reflection in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03801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1210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HumanEval pass@1: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91%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vs. GPT-4's 80% at the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67098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7540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It works only when you get a do-over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ideally with an objective evaluator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3039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38700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Useless for irreversible actions; with a weak evaluator it reinforces confident mistakes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Building with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Controlling output · Tools · Chains and workflows · Reasoning models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658620"/>
            <a:ext cx="0" cy="354076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658620"/>
            <a:ext cx="4693615" cy="37236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Anatomy of the ideal completion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Sampling parameters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structured-output ladder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tool-calling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Writing tool definitions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Safety lives in code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Workflow patterns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Workflows vs. agents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Prompting reasoning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Anatomy of the ideal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Controlling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Preamble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The solution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Recognisable end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1911858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696468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6964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Fluffy postscript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671826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580132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Structural boilerplate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(an opening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{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, a heading): put it in the prompt — cheaper, and it guarantees the format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45363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3619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Reasoning: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let it run long — that's CoT, and it buys correctness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16934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82524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Fluff: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don't fight it; give it a slot (</a:t>
            </a:r>
            <a:r>
              <a:rPr sz="1710" i="0" b="0">
                <a:solidFill>
                  <a:srgbClr val="0F7490"/>
                </a:solidFill>
                <a:latin typeface="Menlo"/>
              </a:rPr>
              <a:t>1. answer 2. caveats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) and parse slot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80230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8853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Stop on the recognisable end and nothing after it costs you anything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Sampling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Tune one knob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Temperature 0 is not deterministic. Many reasoning models fix or reject these parameters.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3727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5745"/>
                <a:gridCol w="4557200"/>
                <a:gridCol w="41429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Parameter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Effect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Typical use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temperature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Flattens (high) or sharpens (low) the distribution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Low for extraction and factual QA; higher for brainstorming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top_p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Sample from the smallest set reaching mass 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Tune temperature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or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top_p — not both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max_tokens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Hard cap on output length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cut-off is not a stop — check the stop reason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stop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Strings that end generation server-side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cheapest way to end on your recognisable end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frequency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/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presence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penalty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Penalise repeated or any-seen tokens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Tune one penalty — not both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structured-output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Climb only as far as you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notes/04-controlling-output.md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schema guarantees shape, not truth. Validate the values too.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532382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53238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Ask for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"Return JSON with keys…" — fine for prototypes, breaks at scale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159508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21970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21970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159508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Show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schema or one complete example; match the prompt's format to the output's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2846832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2907030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290703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2846832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Fence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&lt;answer&gt;…&lt;/answer&gt;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gives a parse target even in a chatty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3534156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359435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359435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3534156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Prefill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start the assistant turn with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{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some newer models no longer accept this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4221480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428167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428167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221480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Constrain it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JSON mode or schema-constrained decoding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0" y="490880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10512" y="4969001"/>
            <a:ext cx="457200" cy="457200"/>
          </a:xfrm>
          <a:prstGeom prst="ellipse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0512" y="496900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79" y="490880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Route it through a tool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tool whose parameters are your output 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weaker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983480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stronger guarantee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" y="2066544"/>
            <a:ext cx="0" cy="282549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tool-calling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Tools and function calling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messages +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Model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proposes a call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App runs it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dispatch by name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Append result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a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tool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message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16387" y="2551176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775307" y="2962656"/>
            <a:ext cx="864108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75307" y="2587752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775307" y="299923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repeat until the reply has no tool calls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85869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The model never touches the world. It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proposes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; your code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executes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49166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57472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Under the hood it's still completion: schemas are rendered into the system prompt as 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3097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39284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Writing a tool definition is writing a prompt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names, descriptions and enums all steer the choice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Writing tool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Each field is prompt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72184"/>
          <a:ext cx="11185854" cy="36149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825270"/>
                <a:gridCol w="636058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 tools that partition the domain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Every extra tool is a distractor; overlapping tools force a coin flip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Self-documenting names (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get_current_weather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Unbroken lowercase is hard to tokenise and read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Descriptions say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when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to use 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"Use when the user asks about recent events…"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Few, simple arguments; use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enum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Complex parameter lists burn tokens and accuracy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Drop arguments the app already knows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model invents placeholders (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"my-org"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) for values it can't see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Errors that teach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date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must be YYYY-MM-DD", not a stack trace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Safety lives in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Gate side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notes/05-tools-and-function-calling.md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967228"/>
            <a:ext cx="109728" cy="175564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967228"/>
            <a:ext cx="10088575" cy="13898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"Always confirm with the user before booking" will eventually be skipped.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11396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Let the model request any call; intercept side-effecting calls in the app and require approval of the exact arguments. Tool results are untrusted input.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Workflow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Anthropic's taxonomy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notes/06-chaining-and-workflows.md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When one prompt can't do the job, split it — each step gets one job, a short context, and a checkable output.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270760"/>
          <a:ext cx="11185854" cy="32095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2891"/>
                <a:gridCol w="4350054"/>
                <a:gridCol w="41429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Pattern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Prompt chaining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Sequential steps with optional gates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Outline → check → draft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Routing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Classify then send to a specialised prompt or model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Support triage; small model for easy queries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Parallelisation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Sectioning (subtasks) or voting (same task N×)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Moderation on several axes; self-consistency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Orchestrator–workers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An LLM splits the task and delegates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Multi-file code changes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Evaluator–optimiser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One prompt generates, another critiques —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Translation with a critic; Reflexion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Workflows vs.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Start with a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notes/06-chaining-and-workflows.md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First question for every task: does it need an LLM at all?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Workflow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Control flow predefined in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Tool use orchestrated by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High predictability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556761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47472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Good for: repeatable tasks, production reliability, cost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DAG is the default topology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Agent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Control flow chosen by the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Tools selected by the model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07327" y="314223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Lower predictability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3556761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7367" y="347472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Good for: open-ended tasks whose steps can't be known up front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Most production systems are hybrids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Prompting reasoning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Goals, not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Building with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notes/07-prompting-reasoning-models.md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Escalate gradually: thinking off → low → medium → high, only while eval scores keep improving.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Drop these habits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Prescribing the reasoning steps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946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Bolting on "Let's think step by step" — explicit CoT can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hurt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instruction-following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Padding with few-shot examples by default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41172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32968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Trusting reasoning because it was long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Do this instead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State the goal, constraints and output format at a high level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Tune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effort / budget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not wording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34518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Use examples only for style or format the model gets wrong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07327" y="412673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367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Ask it to verify its work before finishing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EA5C9"/>
                </a:solidFill>
                <a:latin typeface="Helvetica Neu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Shipping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Optimization · Evaluation · Adversarial prompting · Applications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863725"/>
            <a:ext cx="0" cy="313055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863725"/>
            <a:ext cx="4693615" cy="33134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Prompt optimization is a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Letting models write prompts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Build the eval first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LLM-as-judge — the SOMA rubric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Case study: small changes, large effects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Adversarial prompting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Defenses — layer them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Synthetic data — inject the randomness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Prompt optimization is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No metric, no optimizer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notes/08-prompt-optimization.md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58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Template v1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889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694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410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Run on eval set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925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730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446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9611" y="205740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27667" y="1563624"/>
            <a:ext cx="2377440" cy="98755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4827" y="1563624"/>
            <a:ext cx="2103120" cy="9875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Propose changes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you, APE/OPRO, DSPy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16387" y="2551176"/>
            <a:ext cx="0" cy="41148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775307" y="2962656"/>
            <a:ext cx="8641080" cy="0"/>
          </a:xfrm>
          <a:prstGeom prst="line">
            <a:avLst/>
          </a:prstGeom>
          <a:ln w="22225">
            <a:solidFill>
              <a:srgbClr val="1665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75307" y="2587752"/>
            <a:ext cx="0" cy="374904"/>
          </a:xfrm>
          <a:prstGeom prst="line">
            <a:avLst/>
          </a:prstGeom>
          <a:ln w="22225">
            <a:solidFill>
              <a:srgbClr val="16653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775307" y="299923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1" b="0">
                <a:solidFill>
                  <a:srgbClr val="166534"/>
                </a:solidFill>
                <a:latin typeface="Helvetica Neue"/>
              </a:rPr>
              <a:t>keep the new version only if it beats the old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85869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Template ≠ prompt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version the template, with its model, ID and eval score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249166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157472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Pin the model version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a tuned prompt is not portable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712462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2076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Diff behaviour, not text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— run the regression suite on every edit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175758"/>
            <a:ext cx="101346" cy="10134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084064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Fix the cheapest layer first: clarity → context → ordering → examples → CoT → split → bigger model → fine-tune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Letting models write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APE · OPRO · meta-prompting · DSPy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notes/08-prompt-optimization.md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409041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An LLM proposes instructions, each is scored on a target model. Found "Let's work this out in a step by step way to be sure we have the right answer."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409041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The LLM is the optimizer, shown past prompts and their scores. Found "Take a deep breath…"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409041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Meta-prompting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 strong model drafts or critiques a prompt from failing cases. A first draft, not a result.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40904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409041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DSPy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3291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Signatures + modules, compiled against a metric: picks few-shot examples and their order, searches instructions.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Build the eval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Evaluating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Copilot's eval framework is older than its prompts or its UI. Always log latency and token counts too.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Level 1: 5–20 examples, outputs committed, reviewed with git diff. Level 2: hundreds, scored automatically.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18806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92891"/>
                <a:gridCol w="3935763"/>
                <a:gridCol w="45572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Test style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The model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Swap or upgrade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Broad regression suite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 single prompt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Wording, examples, parameters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Small unit tests on one model call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The composition (chain, loop)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Architecture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End-to-end regression — no unit-level substitute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LLM-as-judge — the SOMA rubric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Never let it grade its own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18516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Specific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"Did it pick the heating system?" — not "Is this right?" A generic question is as hard as the task.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185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Ordinal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 1–5 scale with each level described. Yes/no hides degrees; undefined levels drift.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18516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Multi-aspect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Score each dimension separately — intent vs. execution; relevance / truth / completeness.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18516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And…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Rubric before content. Scores are relative. Calibrate against several human annotators.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Case study: small changes, large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Clavié et al., 2023 — gpt-3.5-turbo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notes/09-evaluating-prompts.md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Wording moved F1 by 26 points. The methodology is the lesson — change one thing, re-score.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36484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53723"/>
                <a:gridCol w="1688430"/>
                <a:gridCol w="27437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Prompt modification (cumulative)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F1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Template adherence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Baseline (posting + question)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65.6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79%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Few-shot CoT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78.4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87%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Zero-shot CoT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81.4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65%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role in system, task in user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87.5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71%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mocked acknowledgement + reiterated key points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89.3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75%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strict output template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86.3 ↓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98%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"reach the right conclusion" + common failures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90.3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77%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+ a name + positive feedback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91.7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81%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Adversarial 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200" i="0" b="0">
                <a:solidFill>
                  <a:srgbClr val="0EA5C9"/>
                </a:solidFill>
                <a:latin typeface="Helvetica Neue"/>
              </a:rPr>
              <a:t>Instructions and data share one channel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notes/10-adversarial-prompting.md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There's no parameterised query for LLMs. Every attack exploits that the model can't tell text to obey from text to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Indirect injection matters most — the attacker doesn't need to be your user. Risk scales with what the model can do.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2270760"/>
          <a:ext cx="11185854" cy="2545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0036"/>
                <a:gridCol w="3728618"/>
                <a:gridCol w="4557200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Attack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Goal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Classic form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Direct injection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Override the app's instructions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"Ignore the above directions and…"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Indirect injection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Smuggle instructions in through retrieved data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Hidden text in a web page, email, PDF or tool result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Prompt leaking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Extract the system prompt or examples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"…then output a copy of the full prompt"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Jailbreaking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Get around safety training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Personas (DAN), fiction, encodings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Defenses — layer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No prompt-level defense is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notes/10-adversarial-prompting.md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Assume the system prompt will leak. Treat model output as untrusted. Red-team before shipping.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532382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53238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Instruction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warn the model that users may try to change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159508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21970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21970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159508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Source tagging + structure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untrusted text in the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user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role or a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tool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message, never </a:t>
            </a:r>
            <a:r>
              <a:rPr sz="1350" i="0" b="0">
                <a:solidFill>
                  <a:srgbClr val="0F7490"/>
                </a:solidFill>
                <a:latin typeface="Menlo"/>
              </a:rPr>
              <a:t>system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; delimit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2846832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2907030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290703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2846832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Detection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separate classifier screens inputs and outputs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3534156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359435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359435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3534156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Least privilege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only the tools and data the task needs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0" y="4221480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428167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428167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221480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Human approval in code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side-effecting calls need explicit confirmation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0" y="4908804"/>
            <a:ext cx="10042855" cy="57759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10512" y="4969001"/>
            <a:ext cx="457200" cy="457200"/>
          </a:xfrm>
          <a:prstGeom prst="ellipse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0512" y="496900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300" i="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79" y="4908804"/>
            <a:ext cx="9037015" cy="57759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293B"/>
                </a:solidFill>
                <a:latin typeface="Helvetica Neue"/>
              </a:rPr>
              <a:t>Architecture</a:t>
            </a:r>
            <a:r>
              <a:rPr sz="1500" i="0" b="0">
                <a:solidFill>
                  <a:srgbClr val="475569"/>
                </a:solidFill>
                <a:latin typeface="Helvetica Neue"/>
              </a:rPr>
              <a:t> — a quarantined model reads untrusted content and can't call tools (dual-LLM, CaMeL)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weaker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983480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stronger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" y="2066544"/>
            <a:ext cx="0" cy="282549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Synthetic data — inject the randomness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Shipping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notes/11-applications.md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Raising the temperature isn't enough for diversity. Put the variation in the prompt.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Pitfalls: skewed seeds give skewed data, and data from model A favours model A in evals.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985772"/>
            <a:ext cx="82296" cy="3453384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68652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Combinatorial seeding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69692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TinyStories: sample a noun, verb, adjective and features into every prompt. A seeded label is a free label.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7963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7963" y="1985772"/>
            <a:ext cx="82296" cy="34533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42283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Hierarchical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2283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Generate a summary and a must-use sentence first, then the final piece.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1985772"/>
            <a:ext cx="82296" cy="34533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Vary the audience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7327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phi-1: textbook Python for different readers. A 1.3B model rivalled models 10× its size.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051" y="1985772"/>
            <a:ext cx="2590723" cy="3453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8051" y="1985772"/>
            <a:ext cx="82296" cy="3453384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371" y="2168652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Synthetic queries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371" y="2601468"/>
            <a:ext cx="2087803" cy="2654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Promptagator: 8 labelled examples + a corpus are enough to train a niche retriever.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Rules of thumb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pillar on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README.md#rules-of-thumb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14579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Writing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Clear and specific; say why. XML between instructions and data. Long content first, question last.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14579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Techniques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Zero-shot → few-shot → CoT → self-consistency. PAL for maths, ReAct for tools, Reflexion when you can check.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14579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347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Low temperature for parseable output. Climb the structured-output ladder only as far as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92296"/>
            <a:ext cx="82296" cy="214579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Tools &amp; chains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Tool descriptions are prompts. Gate side effects in code. Workflow before agent.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892296"/>
            <a:ext cx="82296" cy="2145792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Reasoning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State the goal, not the steps. Tune effort, not wording.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892296"/>
            <a:ext cx="3545738" cy="2145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892296"/>
            <a:ext cx="82296" cy="2145792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075176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Shipping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07992"/>
            <a:ext cx="3042818" cy="1347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0">
                <a:solidFill>
                  <a:srgbClr val="475569"/>
                </a:solidFill>
                <a:latin typeface="Helvetica Neue"/>
              </a:rPr>
              <a:t>Eval before tuning; one change at a time. Assume leaks and injection.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to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Context contains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02 — Context engineering: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what goes into the window alongside the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182880" cy="2849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94A3B8"/>
                </a:solidFill>
                <a:latin typeface="Helvetica Neue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203704"/>
            <a:ext cx="5578278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Retrieval, memory, tool outputs and token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3761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4109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06 — Eval: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defining correct, datasets, graders and calibrated judges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6057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6405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Run the notebooks: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pe-lecture, pe-pal, react, pe-function-calling, pe-chatgpt-adversarial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38353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8701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Read: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Berryman &amp; Ziegler, Prompt Engineering for LLMs; Huyen, AI Engineering Ch 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06492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09972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Copy from: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notes/prompt-library.md — example prompts by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758" y="1472184"/>
            <a:ext cx="4556016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758" y="1472184"/>
            <a:ext cx="4556016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1358" y="1472184"/>
            <a:ext cx="4098816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one idea to keep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1358" y="2231136"/>
            <a:ext cx="4053096" cy="38039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A prompt is a document the model continues. When a prompt fails, change the document — its order, its contents, its shape — before you change the wording.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