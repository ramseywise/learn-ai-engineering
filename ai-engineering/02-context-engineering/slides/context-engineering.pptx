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pillar of the course. Prompt engineering wrote the instructions. Today we decide everything else that shares the window with them, on every call. One research agent stays with us the whole way, and it fails in every way the notes describe, so each technique arrives as the fix for something we have just watched break.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the failure. A research agent runs out of window five iterations in. To understand why that is more than a size problem we need three things: why more tokens hurt, what is actually sitting in the window, and how to spend it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agent for the day. Its job is simple: find what each OpenAI co-founder does now. It searches, reads, searches again. Seven searches bring back about 367 thousand characters, and with no compression the run overflows at iteration five and fails. The model was never the limit. So why not just buy a bigger window? That is the next slide.</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frames the job as a minimization, and the mechanism explains why. In a transformer every token attends to every other token, so doubling the context quadruples the pairs while the parameters stay the same. Attention gets thinner, not just slower. So a bigger window moves the overflow further out and leaves the quality problem in place. What does that quality problem look like when you measure it?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compares GPT-5 with a recursive variant across context lengths on three tasks. Needle in a haystack holds up. OOLONG, where the answer depends on nearly every line, falls off much earlier. So the useful question is never how big the window is. It is where the knee sits for your task. We will measure that knee in the last part.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 is not a cliff at the window edge. Here are the four shapes people have observed. For our agent the dangerous ones are the first two: the founder whose role changed sits in the middle of a long page, and a stale article nearby pulls the answer the wrong way. Now let's open the window and see what is taking up all that room.</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rest of the talk. Every technique today moves something between these slots. In our agent the history slot, holding the raw search results, grew until it pushed out everything else. The first slot we tune is the one we write by hand, the system prompt.</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 low and you are writing a program in English, and it breaks on the first case you did not list. Too high and the model invents its own reading. The middle is heuristics plus signals. When you catch yourself adding a fourth conditional, stop. That rule probably belongs somewhere other than the prompt, which is exactly the question on the next slide.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layers, and you sort by how often something is needed and how firmly it must hold. In the DAIR deep-research case study the agent searched for stale news because "latest" meant last year. The fix was a runtime injection of the current date, not another sentence of instruction. Where that date lands in the window turns out to matter a great deal.</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cache matches a prefix. One changed token and everything after it is prefilled again. So stable content goes first, dynamic content goes late. Anthropic also measures up to thirty percent better quality on long-document work when the query comes last, so the two pressures agree. Getting this wrong has a price, and the next slide shows the bill.</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production incident from the notes. Someone added the current time to a system prompt serving a hundred thousand conversations a day. Time to first token went from half a second to three to five seconds, and the bill nearly doubled. The other rows are the same bug in different clothes. Our agent needs the date too, so it goes late. Next, the most useful thing that can go late.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status bar is distilled state at the very end of the window, maintained in code. Weak models gain forty to fifty-four points, and strong models keep their accuracy while cutting reasoning tokens by eighty to ninety percent. It is lossy, though: when a question needed triples and the bar stored pairs, Claude fell from 100 percent to 7.6. Our agent's bar would hold which founders it has confirmed. With the layout settled, how much room does each slot get?</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see tidy percentage tables in the literature. They are starting guesses. Two rules do more work. Take the output reservation off the top, because a full window leaves no room to answer. And give every growing thing a ceiling. Our agent had no ceiling on tool results, and that one missing number is why it died at iteration five.</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catch to everything we are about to do. Summarizing an old tool result changes the text, so everything after it is prefilled again. Fu and colleagues at Tsinghua measure cache reads at 82.4 percent of API cost and drop entries from the KV cache directly. Most of us have no access to the serving stack, so the practical lesson is to batch edits and make them at stable boundaries.</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budget gets set by evidence. Add one layer at a time, record tokens and score, and see which layers pay. Watch the metric: response length over prompt length rewards verbosity, so track quality per prompt token. That closes the first part. We know why the window fills and how to lay it out. Next: what should come in at all?</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agent's real mistake was loading things before it knew it needed them. This part covers the two ways content enters the window, retrieval from outside and memory from earlier, and the structure that keeps both legible.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sum. A file path costs about ten tokens and a file costs five thousand. Load fifty files up front and you spend 250 thousand. Keep an index of paths and read the three you need and you spend about 15.5 thousand. The difference is who decides what is relevant, and when.</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Just-in-time retrieval has real costs: it is slower, it can wander, and it is not deterministic. So the default is a hybrid, and one question decides each item: is this needed on at least 80 percent of turns? Yes, pre-load it. No, keep an identifier and a tool. For our agent the plan is resident and the pages are fetched.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 decision, so it earns a table. Read it by the "use when" column. Notice that permissions alone can force retrieval, because you cannot put a document in a shared prefix if only some users may read it. In practice you combine these. Then, when you do retrieve, how many chunks should you take?</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scales with the task. A lookup wants few chunks because every extra one dilutes. Our agent is comparing sources across several people, so it needs breadth. Don't ask one stage to do both jobs: a fast first stage gets recall, and a reranker gets precision. The chunks themselves have a problem, though, and that is the next slide.</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Chunking strips the context that made a sentence meaningful. Anthropic's fix has an LLM write a short prefix for each chunk at index time. Top-20 retrieval failures fall 49 percent with contextual embeddings plus contextual BM25, and 67 percent with a reranker. That handles content from outside. What about what the agent already learned?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affects the model only by entering a window, so every memory decision is a context decision. A founder moves to a new company. If the old role stays stored next to the new one, the agent now has a contradiction it will resolve arbitrarily. So each write chooses add, update, delete or no-op. The format of those facts is the next choice.</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best format. Simple notes are cheap but lose the links between facts. Advanced cards disambiguate but are expensive to maintain. Typed state built from a fact log wins aggregation questions at about 99 percent against six to forty-three. Mix them according to what is at stake. But should you be extracting at all?</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 asks whether designed memory still pays once a model can search its own history. On one conversation, Mem0 wins only with the weakest reader. A strong reader on a store written by a weak model barely helps, 45 percent against 43. Reading the raw file with search reached 99 percent. The author's caveats are serious, so read this as a direction and not a benchmark. Whatever you keep, it needs a shape.</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saves attention rather than tokens. The DAIR deep-research case study showed the failure directly: status values drifted between pending and to-do, done and finished, across runs, until the code reading them broke. The fix is a closed set of allowed values. And since that state gets re-injected, it has to be valid.</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you will write many times. Parse, validate, and on failure hand the validator's message back so the retry knows what to fix. Use the provider's structured-output mode when you have it and keep the validator for what it cannot express. So we now choose what comes in. But our agent's searches are still enormous, which takes us to shrinking.</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with good selection the window still grows. Two levers remain, and they are in order of cost: make content smaller, or move it into its own window. This part returns to the overflowing agent and fixes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Compaction is what lets an agent run for hours, so we need it. But look at what it does by default. Over twenty production agent configurations, the /compact prompt keeps 53 percent of safety rules after one round and 10 percent after five. "Don't delete emails until I confirm" is exactly the sentence that goes. So compaction has to be designed.</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and the last matters most. Recent turns stay verbatim because the half-finished edit and the error being debugged live there. Compacting mid-edit at 95 percent forces a summary of an incoherent state, so prefer a natural seam, with about 80 percent as a backstop.</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for our running example. Same task, same window, six strategies. Summarizing each page separately finishes but repeats facts. The winner tells the compressor the query and what the agent already knows, so it can throw away everything else: seven iterations and forty thousand tokens, and one 148 thousand character page became two thousand with every role change kept.</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papers reach the same fix. Keep the rules away from the summarizer. Typed pinning holds 0.96 recall over five rounds in this figure, while the plain compactors slide. The surprising part is the check: configurations reporting perfect recall had silently dropped a mean of 57 percent of their constraints. Trust a string comparison here, not the model.</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is the idea. A forty thousand token test output compresses to one line with essentially no loss. A one-sentence rationale cannot compress at all without losing what makes it useful. So order by what is expensive to regenerate. Reasoning can shrink too, by moving out of the main window.</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Ebouky and colleagues take four reasoning operations: understand the question, recall related problems, examine the answer, and backtrack. Listed in one prompt they are cognitive prompting. Run as separate calls they are cognitive tools. GPT-4.1 on AIME 2024 went from 32 to 53 percent, and the one-prompt version reached only 42, so isolation alone is worth another eleven points. A model verdict still has blind spots, though.</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verifying itself shares its own blind spots, so past two or three rounds it rarely helps. Anything you can check with a parser, a test or a calculator, check that way. And a stop condition where the model grades itself above 0.8 is a demo. Before we leave reasoning, a word on a format you will run into.</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meet this syntax, and it looks like a programming language. It is not. Its value is making you write down intent, inputs, process and output. The same four sections in markdown do as well. So take the discipline and don't worry about the notation. Now the most expensive lever.</a:t>
            </a:r>
          </a:p>
          <a:p/>
          <a:p>
            <a:r>
              <a:t>Source: notes/09-protocols.md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DAIR case study one agent managed tasks, memory, search and the report, and it forgot steps as that grew. The fix was a search worker receiving only the query text. That is cheap for the orchestrator's window and expensive overall: three sub-agents at 80 thousand each is 240 thousand real tokens for six thousand visible. So try compression first.</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tokens are resident in every window, so write them tersely. Results matter even more. A tool returning fifty thousand tokens brings back the bulk-loading problem we fixed earlier. Paginate, return identifiers, and return errors the agent can act on rather than a stack trace. That covers the levers. Next: how do you tell which one has failed?</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context system fails in ways that look like a stupid model. This part gives the failure taxonomy, a diagnostic order, the experiment that settles arguments, and a way to decide how much machinery you need.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our agent finishing and confidently reporting a founder's old job. The reflex is to reach for a better model. Don't. First look at what was actually sent, because most of these bugs are assembly bugs. To read what you see you need names for the failures.</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 the signatures. An old role and a new role both retrieved is clash. An old role written into memory as current is poisoning. A long summary about the wrong founder is distraction. Each has a different fix, so naming it correctly is most of the work.</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in order of cost. Printing the window finds most bugs. Step five is the one people skip: run the same task with minimal context. If it works, the context was the problem, and if it fails, no amount of context work will help. One of the five failures needs its own treatment.</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agent reads web pages, and a page can carry instructions. The first four defenses reduce the odds because they all run through the model. The last two run in code, so they hold whatever the model was persuaded of. Now that we can name failures, how do we measure the fix?</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accuracy number tells you nothing about where it broke. Ask four questions in order. Did the fact exist, did it come back, did it survive budget and compaction, and did the answer use it? Then the length sweep from the start of the talk finds your knee. One experiment settles most arguments.</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to remember. Take one component away, change nothing else, rerun the eval set, and record quality and tokens. No real change and a big token saving: cut it. A small drop: compress it. A big drop: keep it and protect it from compaction. Now, how much of all this do you actually need?</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rung multiplies cost and failure modes. Most failures that show up at the orchestration level are really prompt and example problems underneath. So start low and climb on evidence. That gives us an order for designing a system from scratch.</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to take to your next design meeting. The eval set comes first and the smallest window second. Then each question buys one mechanism. Our agent, redesigned this way, has a ceiling on tool results, a context-aware compressor, pinned rules and a date injected late. Last, a warning about something you will read.</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large part of the upstream course treats context as a semantic field. Under the vocabulary are two real papers with modest findings. This one shows paraphrases falling into a 2-cycle between two clusters. Treat the rest as hypothesis or metaphor, and keep the practical bits: early framing is sticky, so restart instead of arguing.</a:t>
            </a:r>
          </a:p>
          <a:p/>
          <a:p>
            <a:r>
              <a:t>Source: notes/99-speculative-field-track.md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cards, one per decision you now own. If you keep only one, keep the last: look in the window before you look at the weights. Our agent never needed a better model. It needed a ceiling, a compressor that knew the task, and rules that stayed out of the summary.</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is the harness, because everything today ran inside a loop we took for granted. Then eval, which generalizes today's measurements. Before you go, run the context budgeter in the practice folder on one of your own prompts and see where the tokens sit.</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Context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The smallest set of high-signal tokens</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One research agent, a 128K window, and 367k characters of search results.</a:t>
            </a:r>
          </a:p>
          <a:p>
            <a:pPr algn="l">
              <a:lnSpc>
                <a:spcPct val="125000"/>
              </a:lnSpc>
            </a:pPr>
            <a:r>
              <a:rPr sz="1500" i="0" b="0">
                <a:solidFill>
                  <a:srgbClr val="94A3B8"/>
                </a:solidFill>
                <a:latin typeface="Helvetica Neue"/>
              </a:rPr>
              <a:t>What goes in, what shrinks, what splits off, and how you find out what went wrong.</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Why the window fills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The agent overflows · What occupies the window · How to budget it</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What comes in</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Retrieve when it is needed · Remember what lasts · Give it a structure</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What shrinks and what splits off</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Compact the history · Keep the rules · Reason in isolation · Split into sub-agents</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When it still goes wrong</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Five failures · Diagnose in the window · Measure · Climb only when you must</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ai-engineering/02-context-engineering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Why the window fills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agent overflows · What occupies the window · How to budget it</a:t>
            </a:r>
          </a:p>
        </p:txBody>
      </p:sp>
      <p:cxnSp>
        <p:nvCxnSpPr>
          <p:cNvPr id="6" name="Connector 5"/>
          <p:cNvCxnSpPr/>
          <p:nvPr/>
        </p:nvCxnSpPr>
        <p:spPr>
          <a:xfrm>
            <a:off x="6446520" y="1447799"/>
            <a:ext cx="0" cy="396240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47799"/>
            <a:ext cx="4693615" cy="414528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Seven searches overflow a 128K window</a:t>
            </a:r>
          </a:p>
          <a:p>
            <a:pPr algn="l">
              <a:lnSpc>
                <a:spcPct val="100000"/>
              </a:lnSpc>
              <a:spcBef>
                <a:spcPts val="910"/>
              </a:spcBef>
            </a:pPr>
            <a:r>
              <a:rPr sz="1300" i="0" b="0">
                <a:solidFill>
                  <a:srgbClr val="CBD5E1"/>
                </a:solidFill>
                <a:latin typeface="Helvetica Neue"/>
              </a:rPr>
              <a:t>A bigger window divides attention more thinly</a:t>
            </a:r>
          </a:p>
          <a:p>
            <a:pPr algn="l">
              <a:lnSpc>
                <a:spcPct val="100000"/>
              </a:lnSpc>
              <a:spcBef>
                <a:spcPts val="910"/>
              </a:spcBef>
            </a:pPr>
            <a:r>
              <a:rPr sz="1300" i="0" b="0">
                <a:solidFill>
                  <a:srgbClr val="CBD5E1"/>
                </a:solidFill>
                <a:latin typeface="Helvetica Neue"/>
              </a:rPr>
              <a:t>The effective window depends on the task</a:t>
            </a:r>
          </a:p>
          <a:p>
            <a:pPr algn="l">
              <a:lnSpc>
                <a:spcPct val="100000"/>
              </a:lnSpc>
              <a:spcBef>
                <a:spcPts val="910"/>
              </a:spcBef>
            </a:pPr>
            <a:r>
              <a:rPr sz="1300" i="0" b="0">
                <a:solidFill>
                  <a:srgbClr val="CBD5E1"/>
                </a:solidFill>
                <a:latin typeface="Helvetica Neue"/>
              </a:rPr>
              <a:t>Context rot starts long before the limit</a:t>
            </a:r>
          </a:p>
          <a:p>
            <a:pPr algn="l">
              <a:lnSpc>
                <a:spcPct val="100000"/>
              </a:lnSpc>
              <a:spcBef>
                <a:spcPts val="910"/>
              </a:spcBef>
            </a:pPr>
            <a:r>
              <a:rPr sz="1300" i="0" b="0">
                <a:solidFill>
                  <a:srgbClr val="CBD5E1"/>
                </a:solidFill>
                <a:latin typeface="Helvetica Neue"/>
              </a:rPr>
              <a:t>Six kinds of content compete for one window</a:t>
            </a:r>
          </a:p>
          <a:p>
            <a:pPr algn="l">
              <a:lnSpc>
                <a:spcPct val="100000"/>
              </a:lnSpc>
              <a:spcBef>
                <a:spcPts val="910"/>
              </a:spcBef>
            </a:pPr>
            <a:r>
              <a:rPr sz="1300" i="0" b="0">
                <a:solidFill>
                  <a:srgbClr val="CBD5E1"/>
                </a:solidFill>
                <a:latin typeface="Helvetica Neue"/>
              </a:rPr>
              <a:t>Write the system prompt at the right altitude</a:t>
            </a:r>
          </a:p>
          <a:p>
            <a:pPr algn="l">
              <a:lnSpc>
                <a:spcPct val="100000"/>
              </a:lnSpc>
              <a:spcBef>
                <a:spcPts val="910"/>
              </a:spcBef>
            </a:pPr>
            <a:r>
              <a:rPr sz="1300" i="0" b="0">
                <a:solidFill>
                  <a:srgbClr val="CBD5E1"/>
                </a:solidFill>
                <a:latin typeface="Helvetica Neue"/>
              </a:rPr>
              <a:t>Sort content by frequency, stability and enforcement</a:t>
            </a:r>
          </a:p>
          <a:p>
            <a:pPr algn="l">
              <a:lnSpc>
                <a:spcPct val="100000"/>
              </a:lnSpc>
              <a:spcBef>
                <a:spcPts val="910"/>
              </a:spcBef>
            </a:pPr>
            <a:r>
              <a:rPr sz="1300" i="0" b="0">
                <a:solidFill>
                  <a:srgbClr val="CBD5E1"/>
                </a:solidFill>
                <a:latin typeface="Helvetica Neue"/>
              </a:rPr>
              <a:t>The cache is a prefix match, so stable goes first</a:t>
            </a:r>
          </a:p>
          <a:p>
            <a:pPr algn="l">
              <a:lnSpc>
                <a:spcPct val="100000"/>
              </a:lnSpc>
              <a:spcBef>
                <a:spcPts val="910"/>
              </a:spcBef>
            </a:pPr>
            <a:r>
              <a:rPr sz="1300" i="0" b="0">
                <a:solidFill>
                  <a:srgbClr val="CBD5E1"/>
                </a:solidFill>
                <a:latin typeface="Helvetica Neue"/>
              </a:rPr>
              <a:t>One timestamp nearly doubled the bill</a:t>
            </a:r>
          </a:p>
          <a:p>
            <a:pPr algn="l">
              <a:lnSpc>
                <a:spcPct val="100000"/>
              </a:lnSpc>
              <a:spcBef>
                <a:spcPts val="910"/>
              </a:spcBef>
            </a:pPr>
            <a:r>
              <a:rPr sz="1300" i="0" b="0">
                <a:solidFill>
                  <a:srgbClr val="CBD5E1"/>
                </a:solidFill>
                <a:latin typeface="Helvetica Neue"/>
              </a:rPr>
              <a:t>Put a status bar at the end of the window</a:t>
            </a:r>
          </a:p>
          <a:p>
            <a:pPr algn="l">
              <a:lnSpc>
                <a:spcPct val="100000"/>
              </a:lnSpc>
              <a:spcBef>
                <a:spcPts val="910"/>
              </a:spcBef>
            </a:pPr>
            <a:r>
              <a:rPr sz="1300" i="0" b="0">
                <a:solidFill>
                  <a:srgbClr val="CBD5E1"/>
                </a:solidFill>
                <a:latin typeface="Helvetica Neue"/>
              </a:rPr>
              <a:t>Two rules matter more than any percentage split</a:t>
            </a:r>
          </a:p>
          <a:p>
            <a:pPr algn="l">
              <a:lnSpc>
                <a:spcPct val="100000"/>
              </a:lnSpc>
              <a:spcBef>
                <a:spcPts val="910"/>
              </a:spcBef>
            </a:pPr>
            <a:r>
              <a:rPr sz="1300" i="0" b="0">
                <a:solidFill>
                  <a:srgbClr val="CBD5E1"/>
                </a:solidFill>
                <a:latin typeface="Helvetica Neue"/>
              </a:rPr>
              <a:t>Text edits break the cache, so edit the cache itself</a:t>
            </a:r>
          </a:p>
          <a:p>
            <a:pPr algn="l">
              <a:lnSpc>
                <a:spcPct val="100000"/>
              </a:lnSpc>
              <a:spcBef>
                <a:spcPts val="910"/>
              </a:spcBef>
            </a:pPr>
            <a:r>
              <a:rPr sz="1300" i="0" b="0">
                <a:solidFill>
                  <a:srgbClr val="CBD5E1"/>
                </a:solidFill>
                <a:latin typeface="Helvetica Neue"/>
              </a:rPr>
              <a:t>Measure what each layer of the prompt buys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Seven searches overflow a 128K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agent with no plan for its window dies on its own tool results, however capable the model is.</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Seven searches return about 367k characters. A 128K window overflows at iteration 5, and the task fails.</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Li, AI Agents in Depth, Experiment 2-9: tracking OpenAI co-founders' current roles with Kimi K3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A bigger window divides attention more thinly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not a bigger window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Find the smallest set of high-signal tokens that maximizes the likelihood of the outcome you want.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Added tokens do not expand the attention budget. They split the same budget across more claimants.</a:t>
            </a:r>
          </a:p>
        </p:txBody>
      </p:sp>
      <p:sp>
        <p:nvSpPr>
          <p:cNvPr id="14" name="Rectangle 13"/>
          <p:cNvSpPr/>
          <p:nvPr/>
        </p:nvSpPr>
        <p:spPr>
          <a:xfrm>
            <a:off x="502920" y="207746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85772"/>
            <a:ext cx="5944038"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Every token attends to every other: </a:t>
            </a:r>
            <a:r>
              <a:rPr sz="1900" i="0" b="1">
                <a:solidFill>
                  <a:srgbClr val="1E293B"/>
                </a:solidFill>
                <a:latin typeface="Helvetica Neue"/>
              </a:rPr>
              <a:t>n² pairs</a:t>
            </a:r>
            <a:r>
              <a:rPr sz="1900" i="0" b="0">
                <a:solidFill>
                  <a:srgbClr val="1E293B"/>
                </a:solidFill>
                <a:latin typeface="Helvetica Neue"/>
              </a:rPr>
              <a:t> for n tokens</a:t>
            </a:r>
          </a:p>
        </p:txBody>
      </p:sp>
      <p:sp>
        <p:nvSpPr>
          <p:cNvPr id="16" name="Rectangle 15"/>
          <p:cNvSpPr/>
          <p:nvPr/>
        </p:nvSpPr>
        <p:spPr>
          <a:xfrm>
            <a:off x="502920" y="285927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67584"/>
            <a:ext cx="5944038"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Doubling the context quadruples the pairs, while the parameters resolving them stay fixed</a:t>
            </a:r>
          </a:p>
        </p:txBody>
      </p:sp>
      <p:sp>
        <p:nvSpPr>
          <p:cNvPr id="18" name="Rectangle 17"/>
          <p:cNvSpPr/>
          <p:nvPr/>
        </p:nvSpPr>
        <p:spPr>
          <a:xfrm>
            <a:off x="502920" y="36410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549396"/>
            <a:ext cx="5944038" cy="1046988"/>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Token cost is not the binding constraint. A 150k window can fit the budget and still degrade output</a:t>
            </a:r>
          </a:p>
        </p:txBody>
      </p:sp>
      <p:sp>
        <p:nvSpPr>
          <p:cNvPr id="20" name="Rectangle 19"/>
          <p:cNvSpPr/>
          <p:nvPr/>
        </p:nvSpPr>
        <p:spPr>
          <a:xfrm>
            <a:off x="502920" y="474141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649724"/>
            <a:ext cx="5944038"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"It fits" is an upper bound on what is possible, not a target</a:t>
            </a:r>
          </a:p>
        </p:txBody>
      </p:sp>
      <p:sp>
        <p:nvSpPr>
          <p:cNvPr id="22" name="Rectangle 21"/>
          <p:cNvSpPr/>
          <p:nvPr/>
        </p:nvSpPr>
        <p:spPr>
          <a:xfrm>
            <a:off x="7132758" y="1985772"/>
            <a:ext cx="4556016"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132758" y="1985772"/>
            <a:ext cx="4556016"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1358" y="1985772"/>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thesis is a minimization</a:t>
            </a:r>
          </a:p>
        </p:txBody>
      </p:sp>
      <p:sp>
        <p:nvSpPr>
          <p:cNvPr id="25" name="TextBox 24"/>
          <p:cNvSpPr txBox="1"/>
          <p:nvPr/>
        </p:nvSpPr>
        <p:spPr>
          <a:xfrm>
            <a:off x="7361358" y="2744724"/>
            <a:ext cx="4053096" cy="2558795"/>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instinct with a large window is to fill it. Every token competes for a fixed attention budget, so the instinct is wrong.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The effective window depends on the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model's advertised window says nothing about the length at which your task starts to fail.</a:t>
            </a:r>
          </a:p>
        </p:txBody>
      </p:sp>
      <p:sp>
        <p:nvSpPr>
          <p:cNvPr id="13" name="Rectangle 12"/>
          <p:cNvSpPr/>
          <p:nvPr/>
        </p:nvSpPr>
        <p:spPr>
          <a:xfrm>
            <a:off x="448056" y="1417320"/>
            <a:ext cx="6261948" cy="189863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hang-recursive-language-models-fig1.png"/>
          <p:cNvPicPr>
            <a:picLocks noChangeAspect="1"/>
          </p:cNvPicPr>
          <p:nvPr/>
        </p:nvPicPr>
        <p:blipFill>
          <a:blip r:embed="rId2"/>
          <a:stretch>
            <a:fillRect/>
          </a:stretch>
        </p:blipFill>
        <p:spPr>
          <a:xfrm>
            <a:off x="502920" y="1472184"/>
            <a:ext cx="6152220" cy="1788902"/>
          </a:xfrm>
          <a:prstGeom prst="rect">
            <a:avLst/>
          </a:prstGeom>
        </p:spPr>
      </p:pic>
      <p:sp>
        <p:nvSpPr>
          <p:cNvPr id="15" name="TextBox 14"/>
          <p:cNvSpPr txBox="1"/>
          <p:nvPr/>
        </p:nvSpPr>
        <p:spPr>
          <a:xfrm>
            <a:off x="502920" y="3398246"/>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Zhang, Kraska &amp; Khattab, Recursive Language Models (2025),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Frontier models now reliably find a planted needle at 1M+ tokens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They struggle at far shorter lengths when the answer depends on almost every line</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So rot is measured per task: a needle test tells you little about synthesis</a:t>
            </a:r>
          </a:p>
        </p:txBody>
      </p:sp>
      <p:sp>
        <p:nvSpPr>
          <p:cNvPr id="22" name="Rectangle 21"/>
          <p:cNvSpPr/>
          <p:nvPr/>
        </p:nvSpPr>
        <p:spPr>
          <a:xfrm>
            <a:off x="7020900" y="43845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429768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Our agent synthesizes, so expect its usable window to sit well below the advertised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Context rot starts long before the limit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rot looks like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Context rot is a gradual decline from well below the limit, so filler is a cost and not free insurance.</a:t>
            </a:r>
          </a:p>
        </p:txBody>
      </p:sp>
      <p:sp>
        <p:nvSpPr>
          <p:cNvPr id="13" name="Rectangle 12"/>
          <p:cNvSpPr/>
          <p:nvPr/>
        </p:nvSpPr>
        <p:spPr>
          <a:xfrm>
            <a:off x="502920"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315163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Middle neglect</a:t>
            </a:r>
          </a:p>
        </p:txBody>
      </p:sp>
      <p:sp>
        <p:nvSpPr>
          <p:cNvPr id="16" name="TextBox 15"/>
          <p:cNvSpPr txBox="1"/>
          <p:nvPr/>
        </p:nvSpPr>
        <p:spPr>
          <a:xfrm>
            <a:off x="777240"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Start and end are recalled and the middle is not. Lost in the middle.</a:t>
            </a:r>
          </a:p>
        </p:txBody>
      </p:sp>
      <p:sp>
        <p:nvSpPr>
          <p:cNvPr id="17" name="Rectangle 16"/>
          <p:cNvSpPr/>
          <p:nvPr/>
        </p:nvSpPr>
        <p:spPr>
          <a:xfrm>
            <a:off x="3367963"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315163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Distractor sensitivity</a:t>
            </a:r>
          </a:p>
        </p:txBody>
      </p:sp>
      <p:sp>
        <p:nvSpPr>
          <p:cNvPr id="20" name="TextBox 19"/>
          <p:cNvSpPr txBox="1"/>
          <p:nvPr/>
        </p:nvSpPr>
        <p:spPr>
          <a:xfrm>
            <a:off x="3642283" y="2356104"/>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Plausible but wrong content pulls the answer further off target as the window grows.</a:t>
            </a:r>
          </a:p>
        </p:txBody>
      </p:sp>
      <p:sp>
        <p:nvSpPr>
          <p:cNvPr id="21" name="Rectangle 20"/>
          <p:cNvSpPr/>
          <p:nvPr/>
        </p:nvSpPr>
        <p:spPr>
          <a:xfrm>
            <a:off x="6233007"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315163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Instruction decay</a:t>
            </a:r>
          </a:p>
        </p:txBody>
      </p:sp>
      <p:sp>
        <p:nvSpPr>
          <p:cNvPr id="24" name="TextBox 23"/>
          <p:cNvSpPr txBox="1"/>
          <p:nvPr/>
        </p:nvSpPr>
        <p:spPr>
          <a:xfrm>
            <a:off x="6507327"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System-prompt rules obeyed early in a session are quietly dropped later.</a:t>
            </a:r>
          </a:p>
        </p:txBody>
      </p:sp>
      <p:sp>
        <p:nvSpPr>
          <p:cNvPr id="25" name="Rectangle 24"/>
          <p:cNvSpPr/>
          <p:nvPr/>
        </p:nvSpPr>
        <p:spPr>
          <a:xfrm>
            <a:off x="9098051"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315163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Needle degradation</a:t>
            </a:r>
          </a:p>
        </p:txBody>
      </p:sp>
      <p:sp>
        <p:nvSpPr>
          <p:cNvPr id="28" name="TextBox 27"/>
          <p:cNvSpPr txBox="1"/>
          <p:nvPr/>
        </p:nvSpPr>
        <p:spPr>
          <a:xfrm>
            <a:off x="9372371"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planted fact, present verbatim, is missed more often as filler grows.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Six kinds of content compete for one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anatomy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engineering decides, per call, what occupies each slot of the window and at what size.</a:t>
            </a:r>
          </a:p>
        </p:txBody>
      </p:sp>
      <p:sp>
        <p:nvSpPr>
          <p:cNvPr id="13" name="Rectangle 12"/>
          <p:cNvSpPr/>
          <p:nvPr/>
        </p:nvSpPr>
        <p:spPr>
          <a:xfrm>
            <a:off x="978062" y="1417320"/>
            <a:ext cx="5201934"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3806223198235870248-5374706957730669585.jpg"/>
          <p:cNvPicPr>
            <a:picLocks noChangeAspect="1"/>
          </p:cNvPicPr>
          <p:nvPr/>
        </p:nvPicPr>
        <p:blipFill>
          <a:blip r:embed="rId2"/>
          <a:stretch>
            <a:fillRect/>
          </a:stretch>
        </p:blipFill>
        <p:spPr>
          <a:xfrm>
            <a:off x="1032926" y="1472184"/>
            <a:ext cx="5092206"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System prompt:</a:t>
            </a:r>
            <a:r>
              <a:rPr sz="1800" i="0" b="0">
                <a:solidFill>
                  <a:srgbClr val="1E293B"/>
                </a:solidFill>
                <a:latin typeface="Helvetica Neue"/>
              </a:rPr>
              <a:t> role, framing, constraints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definitions:</a:t>
            </a:r>
            <a:r>
              <a:rPr sz="1800" i="0" b="0">
                <a:solidFill>
                  <a:srgbClr val="1E293B"/>
                </a:solidFill>
                <a:latin typeface="Helvetica Neue"/>
              </a:rPr>
              <a:t> resident on every call</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Retrieved knowledge</a:t>
            </a:r>
            <a:r>
              <a:rPr sz="1800" i="0" b="0">
                <a:solidFill>
                  <a:srgbClr val="1E293B"/>
                </a:solidFill>
                <a:latin typeface="Helvetica Neue"/>
              </a:rPr>
              <a:t> and </a:t>
            </a:r>
            <a:r>
              <a:rPr sz="1800" i="0" b="1">
                <a:solidFill>
                  <a:srgbClr val="1E293B"/>
                </a:solidFill>
                <a:latin typeface="Helvetica Neue"/>
              </a:rPr>
              <a:t>memory</a:t>
            </a:r>
          </a:p>
        </p:txBody>
      </p:sp>
      <p:sp>
        <p:nvSpPr>
          <p:cNvPr id="22" name="Rectangle 21"/>
          <p:cNvSpPr/>
          <p:nvPr/>
        </p:nvSpPr>
        <p:spPr>
          <a:xfrm>
            <a:off x="7020900" y="347929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Runtime state:</a:t>
            </a:r>
            <a:r>
              <a:rPr sz="1800" i="0" b="0">
                <a:solidFill>
                  <a:srgbClr val="1E293B"/>
                </a:solidFill>
                <a:latin typeface="Helvetica Neue"/>
              </a:rPr>
              <a:t> date, user, permissions</a:t>
            </a:r>
          </a:p>
        </p:txBody>
      </p:sp>
      <p:sp>
        <p:nvSpPr>
          <p:cNvPr id="24" name="Rectangle 23"/>
          <p:cNvSpPr/>
          <p:nvPr/>
        </p:nvSpPr>
        <p:spPr>
          <a:xfrm>
            <a:off x="7020900" y="42199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History:</a:t>
            </a:r>
            <a:r>
              <a:rPr sz="1800" i="0" b="0">
                <a:solidFill>
                  <a:srgbClr val="1E293B"/>
                </a:solidFill>
                <a:latin typeface="Helvetica Neue"/>
              </a:rPr>
              <a:t> including tool calls and results</a:t>
            </a:r>
          </a:p>
        </p:txBody>
      </p:sp>
      <p:sp>
        <p:nvSpPr>
          <p:cNvPr id="26" name="Rectangle 25"/>
          <p:cNvSpPr/>
          <p:nvPr/>
        </p:nvSpPr>
        <p:spPr>
          <a:xfrm>
            <a:off x="7020900" y="496062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0940" y="487375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current turn:</a:t>
            </a:r>
            <a:r>
              <a:rPr sz="1800" i="0" b="0">
                <a:solidFill>
                  <a:srgbClr val="1E293B"/>
                </a:solidFill>
                <a:latin typeface="Helvetica Neue"/>
              </a:rPr>
              <a:t> last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Write the system prompt at the right altitude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system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When a prompt collects a fourth conditional, the fix is usually a tool or a code-level control and not a fifth rule.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Too low, or too high</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Too low:</a:t>
            </a:r>
            <a:r>
              <a:rPr sz="1700" i="0" b="0">
                <a:solidFill>
                  <a:srgbClr val="1E293B"/>
                </a:solidFill>
                <a:latin typeface="Helvetica Neue"/>
              </a:rPr>
              <a:t> hardcoded if/else in prose, brittle on any case not enumerated</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"If the user says X, reply Y. If Z, reply W..."</a:t>
            </a:r>
          </a:p>
        </p:txBody>
      </p:sp>
      <p:sp>
        <p:nvSpPr>
          <p:cNvPr id="20" name="Rectangle 19"/>
          <p:cNvSpPr/>
          <p:nvPr/>
        </p:nvSpPr>
        <p:spPr>
          <a:xfrm>
            <a:off x="731520" y="37122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Too high:</a:t>
            </a:r>
            <a:r>
              <a:rPr sz="1700" i="0" b="0">
                <a:solidFill>
                  <a:srgbClr val="1E293B"/>
                </a:solidFill>
                <a:latin typeface="Helvetica Neue"/>
              </a:rPr>
              <a:t> vague guidance that assumes context the model lacks</a:t>
            </a:r>
          </a:p>
        </p:txBody>
      </p:sp>
      <p:sp>
        <p:nvSpPr>
          <p:cNvPr id="22" name="Rectangle 21"/>
          <p:cNvSpPr/>
          <p:nvPr/>
        </p:nvSpPr>
        <p:spPr>
          <a:xfrm>
            <a:off x="731520" y="441172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432968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"Be helpful and use good judgment."</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right altitude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Specific enough to guide, flexible enough to generalize</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Heuristics with clear signals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"Prefer X when the signal is A; escalate when uncertain."</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Fourth conditional? Reach for a tool or a code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Sort content by frequency, stability and enforcement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Where each instruction belongs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keeps doing X" is usually a job for a hook, not for a stronger sentence in the prompt.</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Persistent instruction</a:t>
            </a:r>
            <a:r>
              <a:rPr sz="1800" i="0" b="0">
                <a:solidFill>
                  <a:srgbClr val="475569"/>
                </a:solidFill>
                <a:latin typeface="Helvetica Neue"/>
              </a:rPr>
              <a:t> — identity, conventions, invariants. Test: true in nearly every task?</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On-demand knowledge</a:t>
            </a:r>
            <a:r>
              <a:rPr sz="1800" i="0" b="0">
                <a:solidFill>
                  <a:srgbClr val="475569"/>
                </a:solidFill>
                <a:latin typeface="Helvetica Neue"/>
              </a:rPr>
              <a:t> — skills and playbooks. A short description stays resident, the procedure loads when triggered</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Runtime injection</a:t>
            </a:r>
            <a:r>
              <a:rPr sz="1800" i="0" b="0">
                <a:solidFill>
                  <a:srgbClr val="475569"/>
                </a:solidFill>
                <a:latin typeface="Helvetica Neue"/>
              </a:rPr>
              <a:t> — date, tenant, permissions, assembled at request time</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Long-term memory</a:t>
            </a:r>
            <a:r>
              <a:rPr sz="1800" i="0" b="0">
                <a:solidFill>
                  <a:srgbClr val="475569"/>
                </a:solidFill>
                <a:latin typeface="Helvetica Neue"/>
              </a:rPr>
              <a:t> — a compact index plus retrievable detail, never a pasted transcript</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Deterministic system</a:t>
            </a:r>
            <a:r>
              <a:rPr sz="1800" i="0" b="0">
                <a:solidFill>
                  <a:srgbClr val="475569"/>
                </a:solidFill>
                <a:latin typeface="Helvetica Neue"/>
              </a:rPr>
              <a:t> — hooks, permissions, schemas, validators. A code control cannot be talked out of enforcing itself</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always resident</a:t>
            </a:r>
          </a:p>
        </p:txBody>
      </p:sp>
      <p:sp>
        <p:nvSpPr>
          <p:cNvPr id="34" name="TextBox 33"/>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enforced in code</a:t>
            </a:r>
          </a:p>
        </p:txBody>
      </p:sp>
      <p:cxnSp>
        <p:nvCxnSpPr>
          <p:cNvPr id="35" name="Connector 34"/>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The cache is a prefix match, so stable goes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Ordering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Cache economics and attention placement point the same way, so stable content goes first and the query goes last.</a:t>
            </a:r>
          </a:p>
        </p:txBody>
      </p:sp>
      <p:sp>
        <p:nvSpPr>
          <p:cNvPr id="13" name="Rectangle 12"/>
          <p:cNvSpPr/>
          <p:nvPr/>
        </p:nvSpPr>
        <p:spPr>
          <a:xfrm>
            <a:off x="448056" y="1417320"/>
            <a:ext cx="6261948" cy="343500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0-6678653083349597964.png"/>
          <p:cNvPicPr>
            <a:picLocks noChangeAspect="1"/>
          </p:cNvPicPr>
          <p:nvPr/>
        </p:nvPicPr>
        <p:blipFill>
          <a:blip r:embed="rId2"/>
          <a:stretch>
            <a:fillRect/>
          </a:stretch>
        </p:blipFill>
        <p:spPr>
          <a:xfrm>
            <a:off x="502920" y="1472184"/>
            <a:ext cx="6152220" cy="3325275"/>
          </a:xfrm>
          <a:prstGeom prst="rect">
            <a:avLst/>
          </a:prstGeom>
        </p:spPr>
      </p:pic>
      <p:sp>
        <p:nvSpPr>
          <p:cNvPr id="15" name="TextBox 14"/>
          <p:cNvSpPr txBox="1"/>
          <p:nvPr/>
        </p:nvSpPr>
        <p:spPr>
          <a:xfrm>
            <a:off x="502920" y="493461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2-10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first differing token invalidates </a:t>
            </a:r>
            <a:r>
              <a:rPr sz="1800" i="0" b="1">
                <a:solidFill>
                  <a:srgbClr val="1E293B"/>
                </a:solidFill>
                <a:latin typeface="Helvetica Neue"/>
              </a:rPr>
              <a:t>everything after it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Order: system, tools, stable memory, then retrieved, history, state, query</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Long documents above the query: up to </a:t>
            </a:r>
            <a:r>
              <a:rPr sz="1800" i="0" b="1">
                <a:solidFill>
                  <a:srgbClr val="1E293B"/>
                </a:solidFill>
                <a:latin typeface="Helvetica Neue"/>
              </a:rPr>
              <a:t>30%</a:t>
            </a:r>
            <a:r>
              <a:rPr sz="1800" i="0" b="0">
                <a:solidFill>
                  <a:srgbClr val="1E293B"/>
                </a:solidFill>
                <a:latin typeface="Helvetica Neue"/>
              </a:rPr>
              <a:t> better (Anthropic)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timestamp nearly doubled the bill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it costs to get wrong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530" i="0" b="0">
                <a:solidFill>
                  <a:srgbClr val="0F7490"/>
                </a:solidFill>
                <a:latin typeface="Menlo"/>
              </a:rPr>
              <a:t>Current time: {{now}}</a:t>
            </a:r>
            <a:r>
              <a:rPr sz="1700" i="0" b="0">
                <a:solidFill>
                  <a:srgbClr val="475569"/>
                </a:solidFill>
                <a:latin typeface="Helvetica Neue"/>
              </a:rPr>
              <a:t> in a 100k-conversation/day system prompt: TTFT </a:t>
            </a:r>
            <a:r>
              <a:rPr sz="1700" i="0" b="1">
                <a:solidFill>
                  <a:srgbClr val="1E293B"/>
                </a:solidFill>
                <a:latin typeface="Helvetica Neue"/>
              </a:rPr>
              <a:t>0.5 s to 3–5 s</a:t>
            </a:r>
            <a:r>
              <a:rPr sz="1700" i="0" b="0">
                <a:solidFill>
                  <a:srgbClr val="475569"/>
                </a:solidFill>
                <a:latin typeface="Helvetica Neue"/>
              </a:rPr>
              <a:t>, bill nearly doubled.</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Any per-request value placed early in the prompt invalidates the cached prefix on every call.</a:t>
            </a:r>
          </a:p>
        </p:txBody>
      </p:sp>
      <p:graphicFrame>
        <p:nvGraphicFramePr>
          <p:cNvPr id="14" name="Table 13"/>
          <p:cNvGraphicFramePr>
            <a:graphicFrameLocks noGrp="1"/>
          </p:cNvGraphicFramePr>
          <p:nvPr/>
        </p:nvGraphicFramePr>
        <p:xfrm>
          <a:off x="502920" y="2270760"/>
          <a:ext cx="11185853" cy="2950464"/>
        </p:xfrm>
        <a:graphic>
          <a:graphicData uri="http://schemas.openxmlformats.org/drawingml/2006/table">
            <a:tbl>
              <a:tblPr firstRow="1" bandRow="1">
                <a:tableStyleId>{5940675A-B579-460E-94D1-54222C63F5DA}</a:tableStyleId>
              </a:tblPr>
              <a:tblGrid>
                <a:gridCol w="3579473"/>
                <a:gridCol w="4026907"/>
                <a:gridCol w="3579473"/>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breaks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Timestamp in the system prompt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Prefix changes every request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Late message or a clock tool</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Per-request user config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Same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State at the end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Reordering tools by usage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Tokens re-prefilled per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Fixed order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Sliding-window history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Prefix shifts and old results vanish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Compaction, not truncation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Flattening to </a:t>
                      </a:r>
                      <a:r>
                        <a:rPr sz="1530" i="0" b="1">
                          <a:solidFill>
                            <a:srgbClr val="0F7490"/>
                          </a:solidFill>
                          <a:latin typeface="Menlo"/>
                        </a:rPr>
                        <a:t>USER:</a:t>
                      </a:r>
                      <a:r>
                        <a:rPr sz="1700" i="0" b="1">
                          <a:solidFill>
                            <a:srgbClr val="1E293B"/>
                          </a:solidFill>
                          <a:latin typeface="Helvetica Neue"/>
                        </a:rPr>
                        <a:t> text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Leaves the trained format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Structured API roles</a:t>
                      </a:r>
                    </a:p>
                  </a:txBody>
                  <a:tcPr marL="109728" marR="109728" marT="54864" marB="5486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Put a status bar at the end of the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In-context learning behaves like retrieval more than reasoning, so give the model the count instead of making it count.</a:t>
            </a:r>
          </a:p>
        </p:txBody>
      </p:sp>
      <p:sp>
        <p:nvSpPr>
          <p:cNvPr id="13" name="Rounded Rectangle 12"/>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XML</a:t>
            </a:r>
          </a:p>
        </p:txBody>
      </p:sp>
      <p:sp>
        <p:nvSpPr>
          <p:cNvPr id="15" name="TextBox 14"/>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&lt;agent_status&gt;</a:t>
            </a:r>
          </a:p>
          <a:p>
            <a:pPr algn="l">
              <a:lnSpc>
                <a:spcPct val="100000"/>
              </a:lnSpc>
            </a:pPr>
            <a:r>
              <a:rPr sz="1600" i="0" b="0">
                <a:solidFill>
                  <a:srgbClr val="E2E8F0"/>
                </a:solidFill>
                <a:latin typeface="Menlo"/>
              </a:rPr>
              <a:t>- phone_call: 3 invocations</a:t>
            </a:r>
          </a:p>
          <a:p>
            <a:pPr algn="l">
              <a:lnSpc>
                <a:spcPct val="100000"/>
              </a:lnSpc>
            </a:pPr>
            <a:r>
              <a:rPr sz="1600" i="0" b="0">
                <a:solidFill>
                  <a:srgbClr val="E2E8F0"/>
                </a:solidFill>
                <a:latin typeface="Menlo"/>
              </a:rPr>
              <a:t>  (Xfinity: 3/3 max)</a:t>
            </a:r>
          </a:p>
          <a:p>
            <a:pPr algn="l">
              <a:lnSpc>
                <a:spcPct val="100000"/>
              </a:lnSpc>
            </a:pPr>
            <a:r>
              <a:rPr sz="1600" i="0" b="0">
                <a:solidFill>
                  <a:srgbClr val="E2E8F0"/>
                </a:solidFill>
                <a:latin typeface="Menlo"/>
              </a:rPr>
              <a:t>- Current time: 2025-09-14 10:30:45</a:t>
            </a:r>
          </a:p>
          <a:p>
            <a:pPr algn="l">
              <a:lnSpc>
                <a:spcPct val="100000"/>
              </a:lnSpc>
            </a:pPr>
            <a:r>
              <a:rPr sz="1600" i="0" b="0">
                <a:solidFill>
                  <a:srgbClr val="E2E8F0"/>
                </a:solidFill>
                <a:latin typeface="Menlo"/>
              </a:rPr>
              <a:t>- TODO: [1] Cancel plan (in_progress)</a:t>
            </a:r>
          </a:p>
          <a:p>
            <a:pPr algn="l">
              <a:lnSpc>
                <a:spcPct val="100000"/>
              </a:lnSpc>
            </a:pPr>
            <a:r>
              <a:rPr sz="1600" i="0" b="0">
                <a:solidFill>
                  <a:srgbClr val="E2E8F0"/>
                </a:solidFill>
                <a:latin typeface="Menlo"/>
              </a:rPr>
              <a:t>&lt;/agent_status&gt;</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Weak models gain </a:t>
            </a:r>
            <a:r>
              <a:rPr sz="1800" i="0" b="1">
                <a:solidFill>
                  <a:srgbClr val="1E293B"/>
                </a:solidFill>
                <a:latin typeface="Helvetica Neue"/>
              </a:rPr>
              <a:t>40–54 points</a:t>
            </a:r>
            <a:r>
              <a:rPr sz="1800" i="0" b="0">
                <a:solidFill>
                  <a:srgbClr val="1E293B"/>
                </a:solidFill>
                <a:latin typeface="Helvetica Neue"/>
              </a:rPr>
              <a:t>; a 2B model with a bar matches a frontier model without one</a:t>
            </a:r>
          </a:p>
        </p:txBody>
      </p:sp>
      <p:sp>
        <p:nvSpPr>
          <p:cNvPr id="18" name="Rectangle 17"/>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Strong models cut reasoning tokens </a:t>
            </a:r>
            <a:r>
              <a:rPr sz="1800" i="0" b="1">
                <a:solidFill>
                  <a:srgbClr val="1E293B"/>
                </a:solidFill>
                <a:latin typeface="Helvetica Neue"/>
              </a:rPr>
              <a:t>80–90%</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Lossy: a pairs-only bar on a triple question, </a:t>
            </a:r>
            <a:r>
              <a:rPr sz="1800" i="0" b="1">
                <a:solidFill>
                  <a:srgbClr val="1E293B"/>
                </a:solidFill>
                <a:latin typeface="Helvetica Neue"/>
              </a:rPr>
              <a:t>100% to 7.6%</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Errors above about </a:t>
            </a:r>
            <a:r>
              <a:rPr sz="1800" i="0" b="1">
                <a:solidFill>
                  <a:srgbClr val="1E293B"/>
                </a:solidFill>
                <a:latin typeface="Helvetica Neue"/>
              </a:rPr>
              <a:t>10%</a:t>
            </a:r>
            <a:r>
              <a:rPr sz="1800" i="0" b="0">
                <a:solidFill>
                  <a:srgbClr val="1E293B"/>
                </a:solidFill>
                <a:latin typeface="Helvetica Neue"/>
              </a:rPr>
              <a:t> are worse than no bar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Two rules matter more than any percentage split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budget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Investments, such as a rule used on every call, go in the stable prefix. Expenses, such as a tool result read once, get cleared.</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Reserve the output first and cap everything that grows, then treat any percentage split as a guess to measure.</a:t>
            </a:r>
          </a:p>
        </p:txBody>
      </p:sp>
      <p:sp>
        <p:nvSpPr>
          <p:cNvPr id="14" name="Rectangle 13"/>
          <p:cNvSpPr/>
          <p:nvPr/>
        </p:nvSpPr>
        <p:spPr>
          <a:xfrm>
            <a:off x="502920"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270760"/>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 starting split: complex reasoning</a:t>
            </a:r>
          </a:p>
        </p:txBody>
      </p:sp>
      <p:sp>
        <p:nvSpPr>
          <p:cNvPr id="17" name="Rectangle 16"/>
          <p:cNvSpPr/>
          <p:nvPr/>
        </p:nvSpPr>
        <p:spPr>
          <a:xfrm>
            <a:off x="731520" y="311175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02971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System </a:t>
            </a:r>
            <a:r>
              <a:rPr sz="1700" i="0" b="1">
                <a:solidFill>
                  <a:srgbClr val="1E293B"/>
                </a:solidFill>
                <a:latin typeface="Helvetica Neue"/>
              </a:rPr>
              <a:t>15%</a:t>
            </a:r>
            <a:r>
              <a:rPr sz="1700" i="0" b="0">
                <a:solidFill>
                  <a:srgbClr val="1E293B"/>
                </a:solidFill>
                <a:latin typeface="Helvetica Neue"/>
              </a:rPr>
              <a:t>, examples </a:t>
            </a:r>
            <a:r>
              <a:rPr sz="1700" i="0" b="1">
                <a:solidFill>
                  <a:srgbClr val="1E293B"/>
                </a:solidFill>
                <a:latin typeface="Helvetica Neue"/>
              </a:rPr>
              <a:t>25%</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History </a:t>
            </a:r>
            <a:r>
              <a:rPr sz="1700" i="0" b="1">
                <a:solidFill>
                  <a:srgbClr val="1E293B"/>
                </a:solidFill>
                <a:latin typeface="Helvetica Neue"/>
              </a:rPr>
              <a:t>30%</a:t>
            </a:r>
            <a:r>
              <a:rPr sz="1700" i="0" b="0">
                <a:solidFill>
                  <a:srgbClr val="1E293B"/>
                </a:solidFill>
                <a:latin typeface="Helvetica Neue"/>
              </a:rPr>
              <a:t>, input </a:t>
            </a:r>
            <a:r>
              <a:rPr sz="1700" i="0" b="1">
                <a:solidFill>
                  <a:srgbClr val="1E293B"/>
                </a:solidFill>
                <a:latin typeface="Helvetica Neue"/>
              </a:rPr>
              <a:t>20%</a:t>
            </a:r>
          </a:p>
        </p:txBody>
      </p:sp>
      <p:sp>
        <p:nvSpPr>
          <p:cNvPr id="21" name="Rectangle 20"/>
          <p:cNvSpPr/>
          <p:nvPr/>
        </p:nvSpPr>
        <p:spPr>
          <a:xfrm>
            <a:off x="731520" y="3940809"/>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Reserve </a:t>
            </a:r>
            <a:r>
              <a:rPr sz="1700" i="0" b="1">
                <a:solidFill>
                  <a:srgbClr val="1E293B"/>
                </a:solidFill>
                <a:latin typeface="Helvetica Neue"/>
              </a:rPr>
              <a:t>10%</a:t>
            </a:r>
          </a:p>
        </p:txBody>
      </p:sp>
      <p:sp>
        <p:nvSpPr>
          <p:cNvPr id="23" name="Rectangle 22"/>
          <p:cNvSpPr/>
          <p:nvPr/>
        </p:nvSpPr>
        <p:spPr>
          <a:xfrm>
            <a:off x="731520" y="4355337"/>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27329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Simple Q&amp;A shifts to 70% history, 0% examples</a:t>
            </a:r>
          </a:p>
        </p:txBody>
      </p:sp>
      <p:sp>
        <p:nvSpPr>
          <p:cNvPr id="25" name="Rectangle 24"/>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guess to measure against</a:t>
            </a:r>
          </a:p>
        </p:txBody>
      </p:sp>
      <p:sp>
        <p:nvSpPr>
          <p:cNvPr id="27" name="Rectangle 26"/>
          <p:cNvSpPr/>
          <p:nvPr/>
        </p:nvSpPr>
        <p:spPr>
          <a:xfrm>
            <a:off x="6278727"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78727" y="2270760"/>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7327"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rules</a:t>
            </a:r>
          </a:p>
        </p:txBody>
      </p:sp>
      <p:sp>
        <p:nvSpPr>
          <p:cNvPr id="30" name="Rectangle 29"/>
          <p:cNvSpPr/>
          <p:nvPr/>
        </p:nvSpPr>
        <p:spPr>
          <a:xfrm>
            <a:off x="6507327" y="311175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Reserve the output first:</a:t>
            </a:r>
            <a:r>
              <a:rPr sz="1700" i="0" b="0">
                <a:solidFill>
                  <a:srgbClr val="1E293B"/>
                </a:solidFill>
                <a:latin typeface="Helvetica Neue"/>
              </a:rPr>
              <a:t> </a:t>
            </a:r>
            <a:r>
              <a:rPr sz="1530" i="0" b="0">
                <a:solidFill>
                  <a:srgbClr val="0F7490"/>
                </a:solidFill>
                <a:latin typeface="Menlo"/>
              </a:rPr>
              <a:t>max_tokens</a:t>
            </a:r>
            <a:r>
              <a:rPr sz="1700" i="0" b="0">
                <a:solidFill>
                  <a:srgbClr val="1E293B"/>
                </a:solidFill>
                <a:latin typeface="Helvetica Neue"/>
              </a:rPr>
              <a:t> and the thinking budget come off the top</a:t>
            </a:r>
          </a:p>
        </p:txBody>
      </p:sp>
      <p:sp>
        <p:nvSpPr>
          <p:cNvPr id="32" name="Rectangle 31"/>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72922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Give every growing component a ceiling:</a:t>
            </a:r>
            <a:r>
              <a:rPr sz="1700" i="0" b="0">
                <a:solidFill>
                  <a:srgbClr val="1E293B"/>
                </a:solidFill>
                <a:latin typeface="Helvetica Neue"/>
              </a:rPr>
              <a:t> history, tool results, retrieved chunks</a:t>
            </a:r>
          </a:p>
        </p:txBody>
      </p:sp>
      <p:sp>
        <p:nvSpPr>
          <p:cNvPr id="34" name="Rectangle 33"/>
          <p:cNvSpPr/>
          <p:nvPr/>
        </p:nvSpPr>
        <p:spPr>
          <a:xfrm>
            <a:off x="6507327" y="451078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7367" y="442874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ceiling is what triggers compaction</a:t>
            </a:r>
          </a:p>
        </p:txBody>
      </p:sp>
      <p:sp>
        <p:nvSpPr>
          <p:cNvPr id="36" name="Rectangle 35"/>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full window leaves no room to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Text edits break the cache, so edit the cache itself</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frontier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In agent workloads cache reads dominate cost, so a context edit that forces a re-prefill can cost more than it saves.</a:t>
            </a:r>
          </a:p>
        </p:txBody>
      </p:sp>
      <p:sp>
        <p:nvSpPr>
          <p:cNvPr id="13" name="Rectangle 12"/>
          <p:cNvSpPr/>
          <p:nvPr/>
        </p:nvSpPr>
        <p:spPr>
          <a:xfrm>
            <a:off x="448056" y="1417320"/>
            <a:ext cx="6261948" cy="199404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u-cache-engineering-agents-fig1.png"/>
          <p:cNvPicPr>
            <a:picLocks noChangeAspect="1"/>
          </p:cNvPicPr>
          <p:nvPr/>
        </p:nvPicPr>
        <p:blipFill>
          <a:blip r:embed="rId2"/>
          <a:stretch>
            <a:fillRect/>
          </a:stretch>
        </p:blipFill>
        <p:spPr>
          <a:xfrm>
            <a:off x="502920" y="1472184"/>
            <a:ext cx="6152220" cy="1884318"/>
          </a:xfrm>
          <a:prstGeom prst="rect">
            <a:avLst/>
          </a:prstGeom>
        </p:spPr>
      </p:pic>
      <p:sp>
        <p:nvSpPr>
          <p:cNvPr id="15" name="TextBox 14"/>
          <p:cNvSpPr txBox="1"/>
          <p:nvPr/>
        </p:nvSpPr>
        <p:spPr>
          <a:xfrm>
            <a:off x="502920" y="349366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Fu et al., Cache Engineering for Agents (2026),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KV-cache reads are </a:t>
            </a:r>
            <a:r>
              <a:rPr sz="1800" i="0" b="1">
                <a:solidFill>
                  <a:srgbClr val="1E293B"/>
                </a:solidFill>
                <a:latin typeface="Helvetica Neue"/>
              </a:rPr>
              <a:t>82.4%</a:t>
            </a:r>
            <a:r>
              <a:rPr sz="1800" i="0" b="0">
                <a:solidFill>
                  <a:srgbClr val="1E293B"/>
                </a:solidFill>
                <a:latin typeface="Helvetica Neue"/>
              </a:rPr>
              <a:t> of API cost in agent workloads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Rolling-drop of tool responses: </a:t>
            </a:r>
            <a:r>
              <a:rPr sz="1800" i="0" b="1">
                <a:solidFill>
                  <a:srgbClr val="1E293B"/>
                </a:solidFill>
                <a:latin typeface="Helvetica Neue"/>
              </a:rPr>
              <a:t>+1.7 points at 27.7% lower cost</a:t>
            </a:r>
            <a:r>
              <a:rPr sz="1800" i="0" b="0">
                <a:solidFill>
                  <a:srgbClr val="1E293B"/>
                </a:solidFill>
                <a:latin typeface="Helvetica Neue"/>
              </a:rPr>
              <a:t> than threshold summarization</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Serving gains reach </a:t>
            </a:r>
            <a:r>
              <a:rPr sz="1800" i="0" b="1">
                <a:solidFill>
                  <a:srgbClr val="1E293B"/>
                </a:solidFill>
                <a:latin typeface="Helvetica Neue"/>
              </a:rPr>
              <a:t>1.2×</a:t>
            </a:r>
            <a:r>
              <a:rPr sz="1800" i="0" b="0">
                <a:solidFill>
                  <a:srgbClr val="1E293B"/>
                </a:solidFill>
                <a:latin typeface="Helvetica Neue"/>
              </a:rPr>
              <a:t> throughput and </a:t>
            </a:r>
            <a:r>
              <a:rPr sz="1800" i="0" b="1">
                <a:solidFill>
                  <a:srgbClr val="1E293B"/>
                </a:solidFill>
                <a:latin typeface="Helvetica Neue"/>
              </a:rPr>
              <a:t>1.5×</a:t>
            </a:r>
            <a:r>
              <a:rPr sz="1800" i="0" b="0">
                <a:solidFill>
                  <a:srgbClr val="1E293B"/>
                </a:solidFill>
                <a:latin typeface="Helvetica Neue"/>
              </a:rPr>
              <a:t> P95 latency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Measure what each layer of the prompt buys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the window fills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Remove anything whose deletion does not move an eval score, and judge each layer by quality per prompt token.</a:t>
            </a:r>
          </a:p>
        </p:txBody>
      </p:sp>
      <p:sp>
        <p:nvSpPr>
          <p:cNvPr id="13" name="Rounded Rectangle 12"/>
          <p:cNvSpPr/>
          <p:nvPr/>
        </p:nvSpPr>
        <p:spPr>
          <a:xfrm>
            <a:off x="502920" y="1472184"/>
            <a:ext cx="11185855"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10728655"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layers = {"role": ..., "examples": ...,</a:t>
            </a:r>
          </a:p>
          <a:p>
            <a:pPr algn="l">
              <a:lnSpc>
                <a:spcPct val="100000"/>
              </a:lnSpc>
            </a:pPr>
            <a:r>
              <a:rPr sz="1600" i="0" b="0">
                <a:solidFill>
                  <a:srgbClr val="E2E8F0"/>
                </a:solidFill>
                <a:latin typeface="Menlo"/>
              </a:rPr>
              <a:t>          "constraints": ..., "audience": ...}</a:t>
            </a:r>
          </a:p>
          <a:p>
            <a:pPr algn="l">
              <a:lnSpc>
                <a:spcPct val="100000"/>
              </a:lnSpc>
            </a:pPr>
            <a:r>
              <a:rPr sz="1600" i="0" b="0">
                <a:solidFill>
                  <a:srgbClr val="E2E8F0"/>
                </a:solidFill>
                <a:latin typeface="Menlo"/>
              </a:rPr>
              <a:t>prompt = "Write a paragraph about climate change."</a:t>
            </a:r>
          </a:p>
          <a:p>
            <a:pPr algn="l">
              <a:lnSpc>
                <a:spcPct val="100000"/>
              </a:lnSpc>
            </a:pPr>
            <a:r>
              <a:rPr sz="1600" i="0" b="0">
                <a:solidFill>
                  <a:srgbClr val="E2E8F0"/>
                </a:solidFill>
                <a:latin typeface="Menlo"/>
              </a:rPr>
              <a:t>for name, text in [("base", "")] + list(layers.items()):</a:t>
            </a:r>
          </a:p>
          <a:p>
            <a:pPr algn="l">
              <a:lnSpc>
                <a:spcPct val="100000"/>
              </a:lnSpc>
            </a:pPr>
            <a:r>
              <a:rPr sz="1600" i="0" b="0">
                <a:solidFill>
                  <a:srgbClr val="E2E8F0"/>
                </a:solidFill>
                <a:latin typeface="Menlo"/>
              </a:rPr>
              <a:t>    prompt = f"{text}\n\n{prompt}" if text else prompt</a:t>
            </a:r>
          </a:p>
          <a:p>
            <a:pPr algn="l">
              <a:lnSpc>
                <a:spcPct val="100000"/>
              </a:lnSpc>
            </a:pPr>
            <a:r>
              <a:rPr sz="1600" i="0" b="0">
                <a:solidFill>
                  <a:srgbClr val="E2E8F0"/>
                </a:solidFill>
                <a:latin typeface="Menlo"/>
              </a:rPr>
              <a:t>    out = llm(prompt)</a:t>
            </a:r>
          </a:p>
          <a:p>
            <a:pPr algn="l">
              <a:lnSpc>
                <a:spcPct val="100000"/>
              </a:lnSpc>
            </a:pPr>
            <a:r>
              <a:rPr sz="1600" i="0" b="0">
                <a:solidFill>
                  <a:srgbClr val="E2E8F0"/>
                </a:solidFill>
                <a:latin typeface="Menlo"/>
              </a:rPr>
              <a:t>    p = len(enc.encode(prompt))</a:t>
            </a:r>
          </a:p>
          <a:p>
            <a:pPr algn="l">
              <a:lnSpc>
                <a:spcPct val="100000"/>
              </a:lnSpc>
            </a:pPr>
            <a:r>
              <a:rPr sz="1600" i="0" b="0">
                <a:solidFill>
                  <a:srgbClr val="E2E8F0"/>
                </a:solidFill>
                <a:latin typeface="Menlo"/>
              </a:rPr>
              <a:t>    print(f"{name:12} prompt={p:4} score={judge(out):.2f}")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What comes in</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Retrieve when it is needed · Remember what lasts · Give it a structure</a:t>
            </a:r>
          </a:p>
        </p:txBody>
      </p:sp>
      <p:cxnSp>
        <p:nvCxnSpPr>
          <p:cNvPr id="6" name="Connector 5"/>
          <p:cNvCxnSpPr/>
          <p:nvPr/>
        </p:nvCxnSpPr>
        <p:spPr>
          <a:xfrm>
            <a:off x="6446520" y="1228725"/>
            <a:ext cx="0" cy="44005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28725"/>
            <a:ext cx="4693615" cy="458343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Guessing relevance up front loads the whole corpus</a:t>
            </a:r>
          </a:p>
          <a:p>
            <a:pPr algn="l">
              <a:lnSpc>
                <a:spcPct val="100000"/>
              </a:lnSpc>
              <a:spcBef>
                <a:spcPts val="1050"/>
              </a:spcBef>
            </a:pPr>
            <a:r>
              <a:rPr sz="1500" i="0" b="0">
                <a:solidFill>
                  <a:srgbClr val="CBD5E1"/>
                </a:solidFill>
                <a:latin typeface="Helvetica Neue"/>
              </a:rPr>
              <a:t>Let the model pull what its reasoning asks for</a:t>
            </a:r>
          </a:p>
          <a:p>
            <a:pPr algn="l">
              <a:lnSpc>
                <a:spcPct val="100000"/>
              </a:lnSpc>
              <a:spcBef>
                <a:spcPts val="1050"/>
              </a:spcBef>
            </a:pPr>
            <a:r>
              <a:rPr sz="1500" i="0" b="0">
                <a:solidFill>
                  <a:srgbClr val="CBD5E1"/>
                </a:solidFill>
                <a:latin typeface="Helvetica Neue"/>
              </a:rPr>
              <a:t>Long context, cache, retrieval or tools</a:t>
            </a:r>
          </a:p>
          <a:p>
            <a:pPr algn="l">
              <a:lnSpc>
                <a:spcPct val="100000"/>
              </a:lnSpc>
              <a:spcBef>
                <a:spcPts val="1050"/>
              </a:spcBef>
            </a:pPr>
            <a:r>
              <a:rPr sz="1500" i="0" b="0">
                <a:solidFill>
                  <a:srgbClr val="CBD5E1"/>
                </a:solidFill>
                <a:latin typeface="Helvetica Neue"/>
              </a:rPr>
              <a:t>Retrieve wide, rerank hard, send narrow</a:t>
            </a:r>
          </a:p>
          <a:p>
            <a:pPr algn="l">
              <a:lnSpc>
                <a:spcPct val="100000"/>
              </a:lnSpc>
              <a:spcBef>
                <a:spcPts val="1050"/>
              </a:spcBef>
            </a:pPr>
            <a:r>
              <a:rPr sz="1500" i="0" b="0">
                <a:solidFill>
                  <a:srgbClr val="CBD5E1"/>
                </a:solidFill>
                <a:latin typeface="Helvetica Neue"/>
              </a:rPr>
              <a:t>A chunk out of context does not know what it says</a:t>
            </a:r>
          </a:p>
          <a:p>
            <a:pPr algn="l">
              <a:lnSpc>
                <a:spcPct val="100000"/>
              </a:lnSpc>
              <a:spcBef>
                <a:spcPts val="1050"/>
              </a:spcBef>
            </a:pPr>
            <a:r>
              <a:rPr sz="1500" i="0" b="0">
                <a:solidFill>
                  <a:srgbClr val="CBD5E1"/>
                </a:solidFill>
                <a:latin typeface="Helvetica Neue"/>
              </a:rPr>
              <a:t>Memory only matters once it enters a window</a:t>
            </a:r>
          </a:p>
          <a:p>
            <a:pPr algn="l">
              <a:lnSpc>
                <a:spcPct val="100000"/>
              </a:lnSpc>
              <a:spcBef>
                <a:spcPts val="1050"/>
              </a:spcBef>
            </a:pPr>
            <a:r>
              <a:rPr sz="1500" i="0" b="0">
                <a:solidFill>
                  <a:srgbClr val="CBD5E1"/>
                </a:solidFill>
                <a:latin typeface="Helvetica Neue"/>
              </a:rPr>
              <a:t>Match the memory format to the stakes</a:t>
            </a:r>
          </a:p>
          <a:p>
            <a:pPr algn="l">
              <a:lnSpc>
                <a:spcPct val="100000"/>
              </a:lnSpc>
              <a:spcBef>
                <a:spcPts val="1050"/>
              </a:spcBef>
            </a:pPr>
            <a:r>
              <a:rPr sz="1500" i="0" b="0">
                <a:solidFill>
                  <a:srgbClr val="CBD5E1"/>
                </a:solidFill>
                <a:latin typeface="Helvetica Neue"/>
              </a:rPr>
              <a:t>A strong model may do better searching the raw record</a:t>
            </a:r>
          </a:p>
          <a:p>
            <a:pPr algn="l">
              <a:lnSpc>
                <a:spcPct val="100000"/>
              </a:lnSpc>
              <a:spcBef>
                <a:spcPts val="1050"/>
              </a:spcBef>
            </a:pPr>
            <a:r>
              <a:rPr sz="1500" i="0" b="0">
                <a:solidFill>
                  <a:srgbClr val="CBD5E1"/>
                </a:solidFill>
                <a:latin typeface="Helvetica Neue"/>
              </a:rPr>
              <a:t>Structure tells the model what each part is</a:t>
            </a:r>
          </a:p>
          <a:p>
            <a:pPr algn="l">
              <a:lnSpc>
                <a:spcPct val="100000"/>
              </a:lnSpc>
              <a:spcBef>
                <a:spcPts val="1050"/>
              </a:spcBef>
            </a:pPr>
            <a:r>
              <a:rPr sz="1500" i="0" b="0">
                <a:solidFill>
                  <a:srgbClr val="CBD5E1"/>
                </a:solidFill>
                <a:latin typeface="Helvetica Neue"/>
              </a:rPr>
              <a:t>Validate at the boundary and feed the error back</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Guessing relevance up front loads the whole corpus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Pre-retrieval guesses relevance before the model has reasoned, and pays for every wrong guess in tokens.</a:t>
            </a:r>
          </a:p>
        </p:txBody>
      </p:sp>
      <p:sp>
        <p:nvSpPr>
          <p:cNvPr id="13" name="Rectangle 12"/>
          <p:cNvSpPr/>
          <p:nvPr/>
        </p:nvSpPr>
        <p:spPr>
          <a:xfrm>
            <a:off x="777240" y="2601468"/>
            <a:ext cx="109728" cy="17556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60146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Fifty files at 5,000 tokens is 250,000 tokens. The agent needed three of them.</a:t>
            </a:r>
          </a:p>
        </p:txBody>
      </p:sp>
      <p:sp>
        <p:nvSpPr>
          <p:cNvPr id="15" name="TextBox 14"/>
          <p:cNvSpPr txBox="1"/>
          <p:nvPr/>
        </p:nvSpPr>
        <p:spPr>
          <a:xfrm>
            <a:off x="1234440" y="394563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Index plus three files comes to about 15.5k. Worked in notes/04.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Let the model pull what its reasoning asks for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shift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Pre-load only what is needed on 80% or more of turns, and leave the long tail to tools.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Pre-computed</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Embed corpus and query, stuff top-k, generate</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Relevance is guessed </a:t>
            </a:r>
            <a:r>
              <a:rPr sz="1700" i="0" b="1">
                <a:solidFill>
                  <a:srgbClr val="1E293B"/>
                </a:solidFill>
                <a:latin typeface="Helvetica Neue"/>
              </a:rPr>
              <a:t>before</a:t>
            </a:r>
            <a:r>
              <a:rPr sz="1700" i="0" b="0">
                <a:solidFill>
                  <a:srgbClr val="1E293B"/>
                </a:solidFill>
                <a:latin typeface="Helvetica Neue"/>
              </a:rPr>
              <a:t> the model reasons</a:t>
            </a:r>
          </a:p>
        </p:txBody>
      </p:sp>
      <p:sp>
        <p:nvSpPr>
          <p:cNvPr id="20" name="Rectangle 19"/>
          <p:cNvSpPr/>
          <p:nvPr/>
        </p:nvSpPr>
        <p:spPr>
          <a:xfrm>
            <a:off x="731520" y="37122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Fifty files at 5k tokens each: </a:t>
            </a:r>
            <a:r>
              <a:rPr sz="1700" i="0" b="1">
                <a:solidFill>
                  <a:srgbClr val="1E293B"/>
                </a:solidFill>
                <a:latin typeface="Helvetica Neue"/>
              </a:rPr>
              <a:t>250k</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deterministic, often wrong</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Just-in-time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Keep </a:t>
            </a:r>
            <a:r>
              <a:rPr sz="1700" i="0" b="1">
                <a:solidFill>
                  <a:srgbClr val="1E293B"/>
                </a:solidFill>
                <a:latin typeface="Helvetica Neue"/>
              </a:rPr>
              <a:t>identifiers</a:t>
            </a:r>
            <a:r>
              <a:rPr sz="1700" i="0" b="0">
                <a:solidFill>
                  <a:srgbClr val="1E293B"/>
                </a:solidFill>
                <a:latin typeface="Helvetica Neue"/>
              </a:rPr>
              <a:t>: paths, IDs, queries</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loads what its reasoning says it needs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Index plus the three files it reads: </a:t>
            </a:r>
            <a:r>
              <a:rPr sz="1700" i="0" b="1">
                <a:solidFill>
                  <a:srgbClr val="1E293B"/>
                </a:solidFill>
                <a:latin typeface="Helvetica Neue"/>
              </a:rPr>
              <a:t>about 15.5k</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Costs: latency, wandering, non-determinism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Long context, cache, retrieval or tools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choice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These options combine, as a cached prefix plus retrieval or tools for the long tail, and permissions force retrieval.</a:t>
            </a:r>
          </a:p>
        </p:txBody>
      </p:sp>
      <p:graphicFrame>
        <p:nvGraphicFramePr>
          <p:cNvPr id="13" name="Table 12"/>
          <p:cNvGraphicFramePr>
            <a:graphicFrameLocks noGrp="1"/>
          </p:cNvGraphicFramePr>
          <p:nvPr/>
        </p:nvGraphicFramePr>
        <p:xfrm>
          <a:off x="502920" y="1472184"/>
          <a:ext cx="11185853" cy="3063240"/>
        </p:xfrm>
        <a:graphic>
          <a:graphicData uri="http://schemas.openxmlformats.org/drawingml/2006/table">
            <a:tbl>
              <a:tblPr firstRow="1" bandRow="1">
                <a:tableStyleId>{5940675A-B579-460E-94D1-54222C63F5DA}</a:tableStyleId>
              </a:tblPr>
              <a:tblGrid>
                <a:gridCol w="2631965"/>
                <a:gridCol w="4605940"/>
                <a:gridCol w="3947948"/>
              </a:tblGrid>
              <a:tr h="405384">
                <a:tc>
                  <a:txBody>
                    <a:bodyPr wrap="square"/>
                    <a:lstStyle/>
                    <a:p>
                      <a:pPr>
                        <a:lnSpc>
                          <a:spcPct val="100000"/>
                        </a:lnSpc>
                      </a:pPr>
                      <a:r>
                        <a:rPr sz="1700" i="0" b="1">
                          <a:solidFill>
                            <a:srgbClr val="FFFFFF"/>
                          </a:solidFill>
                          <a:latin typeface="Helvetica Neue"/>
                        </a:rPr>
                        <a:t>Option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Long context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Fits well inside the effective window; asked once or twice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prefill per call; rot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Prompt cache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Fits, and the same corpus serves many queries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Storage per hour; any prefix change misses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 not fit, changes often, or permissions differ per user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pipeline to build and tune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Just-in-time 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Agents over codebases, file systems, APIs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Latency, wandering, non-determinism</a:t>
                      </a:r>
                    </a:p>
                  </a:txBody>
                  <a:tcPr marL="109728" marR="109728" marT="54864" marB="54864" anchor="ctr">
                    <a:solidFill>
                      <a:srgbClr val="F8FA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Retrieve wide, rerank hard, send narrow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How much to retrieve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Recall and precision are separate jobs, with a fast wide first stage followed by a reranker that picks what reaches the window.</a:t>
            </a:r>
          </a:p>
        </p:txBody>
      </p:sp>
      <p:sp>
        <p:nvSpPr>
          <p:cNvPr id="13" name="Rounded Rectangle 12"/>
          <p:cNvSpPr/>
          <p:nvPr/>
        </p:nvSpPr>
        <p:spPr>
          <a:xfrm>
            <a:off x="2026767" y="1563624"/>
            <a:ext cx="2377440"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Wide first stage</a:t>
            </a:r>
          </a:p>
          <a:p>
            <a:pPr algn="ctr">
              <a:lnSpc>
                <a:spcPct val="110000"/>
              </a:lnSpc>
            </a:pPr>
            <a:r>
              <a:rPr sz="1300" i="0" b="0">
                <a:solidFill>
                  <a:srgbClr val="E8F4F8"/>
                </a:solidFill>
                <a:latin typeface="Helvetica Neue"/>
              </a:rPr>
              <a:t>recall</a:t>
            </a:r>
          </a:p>
        </p:txBody>
      </p:sp>
      <p:cxnSp>
        <p:nvCxnSpPr>
          <p:cNvPr id="15" name="Connector 14"/>
          <p:cNvCxnSpPr/>
          <p:nvPr/>
        </p:nvCxnSpPr>
        <p:spPr>
          <a:xfrm>
            <a:off x="445907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Rerank</a:t>
            </a:r>
          </a:p>
          <a:p>
            <a:pPr algn="ctr">
              <a:lnSpc>
                <a:spcPct val="110000"/>
              </a:lnSpc>
            </a:pPr>
            <a:r>
              <a:rPr sz="1300" i="0" b="0">
                <a:solidFill>
                  <a:srgbClr val="E8F4F8"/>
                </a:solidFill>
                <a:latin typeface="Helvetica Neue"/>
              </a:rPr>
              <a:t>precision</a:t>
            </a:r>
          </a:p>
        </p:txBody>
      </p:sp>
      <p:cxnSp>
        <p:nvCxnSpPr>
          <p:cNvPr id="18" name="Connector 17"/>
          <p:cNvCxnSpPr/>
          <p:nvPr/>
        </p:nvCxnSpPr>
        <p:spPr>
          <a:xfrm>
            <a:off x="733943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Narrow set</a:t>
            </a:r>
          </a:p>
          <a:p>
            <a:pPr algn="ctr">
              <a:lnSpc>
                <a:spcPct val="110000"/>
              </a:lnSpc>
            </a:pPr>
            <a:r>
              <a:rPr sz="1300" i="0" b="0">
                <a:solidFill>
                  <a:srgbClr val="E8F4F8"/>
                </a:solidFill>
                <a:latin typeface="Helvetica Neue"/>
              </a:rPr>
              <a:t>what reaches the window</a:t>
            </a:r>
          </a:p>
        </p:txBody>
      </p:sp>
      <p:sp>
        <p:nvSpPr>
          <p:cNvPr id="21" name="Rectangle 20"/>
          <p:cNvSpPr/>
          <p:nvPr/>
        </p:nvSpPr>
        <p:spPr>
          <a:xfrm>
            <a:off x="502920" y="296291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287121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Simple lookup:</a:t>
            </a:r>
            <a:r>
              <a:rPr sz="1900" i="0" b="0">
                <a:solidFill>
                  <a:srgbClr val="1E293B"/>
                </a:solidFill>
                <a:latin typeface="Helvetica Neue"/>
              </a:rPr>
              <a:t> few chunks, since more is pure dilution</a:t>
            </a:r>
          </a:p>
        </p:txBody>
      </p:sp>
      <p:sp>
        <p:nvSpPr>
          <p:cNvPr id="23" name="Rectangle 22"/>
          <p:cNvSpPr/>
          <p:nvPr/>
        </p:nvSpPr>
        <p:spPr>
          <a:xfrm>
            <a:off x="502920" y="342620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334512"/>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Comparison or synthesis:</a:t>
            </a:r>
            <a:r>
              <a:rPr sz="1900" i="0" b="0">
                <a:solidFill>
                  <a:srgbClr val="1E293B"/>
                </a:solidFill>
                <a:latin typeface="Helvetica Neue"/>
              </a:rPr>
              <a:t> more chunks, since it needs breadth</a:t>
            </a:r>
          </a:p>
        </p:txBody>
      </p:sp>
      <p:sp>
        <p:nvSpPr>
          <p:cNvPr id="25" name="Rectangle 24"/>
          <p:cNvSpPr/>
          <p:nvPr/>
        </p:nvSpPr>
        <p:spPr>
          <a:xfrm>
            <a:off x="502920" y="38895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79780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Ambiguous or exploratory:</a:t>
            </a:r>
            <a:r>
              <a:rPr sz="1900" i="0" b="0">
                <a:solidFill>
                  <a:srgbClr val="1E293B"/>
                </a:solidFill>
                <a:latin typeface="Helvetica Neue"/>
              </a:rPr>
              <a:t> wide, then rerank hard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A chunk out of context does not know what it says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Contextual retrieval adds meaning to chunks at index time, while contextual compression removes text at query time.</a:t>
            </a:r>
          </a:p>
        </p:txBody>
      </p:sp>
      <p:sp>
        <p:nvSpPr>
          <p:cNvPr id="13" name="Rectangle 12"/>
          <p:cNvSpPr/>
          <p:nvPr/>
        </p:nvSpPr>
        <p:spPr>
          <a:xfrm>
            <a:off x="448056" y="1417320"/>
            <a:ext cx="6261948" cy="283823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14-1989748244649362076.png"/>
          <p:cNvPicPr>
            <a:picLocks noChangeAspect="1"/>
          </p:cNvPicPr>
          <p:nvPr/>
        </p:nvPicPr>
        <p:blipFill>
          <a:blip r:embed="rId2"/>
          <a:stretch>
            <a:fillRect/>
          </a:stretch>
        </p:blipFill>
        <p:spPr>
          <a:xfrm>
            <a:off x="502920" y="1472184"/>
            <a:ext cx="6152220" cy="2728509"/>
          </a:xfrm>
          <a:prstGeom prst="rect">
            <a:avLst/>
          </a:prstGeom>
        </p:spPr>
      </p:pic>
      <p:sp>
        <p:nvSpPr>
          <p:cNvPr id="15" name="TextBox 14"/>
          <p:cNvSpPr txBox="1"/>
          <p:nvPr/>
        </p:nvSpPr>
        <p:spPr>
          <a:xfrm>
            <a:off x="502920" y="4337853"/>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3-14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"Q2 revenue grew 3%": which company, which year?</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 LLM writes a short prefix per chunk; index prefix and chunk</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Top-20 failures </a:t>
            </a:r>
            <a:r>
              <a:rPr sz="1800" i="0" b="1">
                <a:solidFill>
                  <a:srgbClr val="1E293B"/>
                </a:solidFill>
                <a:latin typeface="Helvetica Neue"/>
              </a:rPr>
              <a:t>down 49%</a:t>
            </a:r>
            <a:r>
              <a:rPr sz="1800" i="0" b="0">
                <a:solidFill>
                  <a:srgbClr val="1E293B"/>
                </a:solidFill>
                <a:latin typeface="Helvetica Neue"/>
              </a:rPr>
              <a:t>, </a:t>
            </a:r>
            <a:r>
              <a:rPr sz="1800" i="0" b="1">
                <a:solidFill>
                  <a:srgbClr val="1E293B"/>
                </a:solidFill>
                <a:latin typeface="Helvetica Neue"/>
              </a:rPr>
              <a:t>67%</a:t>
            </a:r>
            <a:r>
              <a:rPr sz="1800" i="0" b="0">
                <a:solidFill>
                  <a:srgbClr val="1E293B"/>
                </a:solidFill>
                <a:latin typeface="Helvetica Neue"/>
              </a:rPr>
              <a:t> with a reranker</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About </a:t>
            </a:r>
            <a:r>
              <a:rPr sz="1800" i="0" b="1">
                <a:solidFill>
                  <a:srgbClr val="1E293B"/>
                </a:solidFill>
                <a:latin typeface="Helvetica Neue"/>
              </a:rPr>
              <a:t>$1 per million</a:t>
            </a:r>
            <a:r>
              <a:rPr sz="1800" i="0" b="0">
                <a:solidFill>
                  <a:srgbClr val="1E293B"/>
                </a:solidFill>
                <a:latin typeface="Helvetica Neue"/>
              </a:rPr>
              <a:t> document tokens with prompt caching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Memory only matters once it enters a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Memory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Append-only memory is slow-motion context poisoning, so new facts must update or delete the old ones.</a:t>
            </a:r>
          </a:p>
        </p:txBody>
      </p:sp>
      <p:sp>
        <p:nvSpPr>
          <p:cNvPr id="13" name="Rectangle 12"/>
          <p:cNvSpPr/>
          <p:nvPr/>
        </p:nvSpPr>
        <p:spPr>
          <a:xfrm>
            <a:off x="448056" y="1417320"/>
            <a:ext cx="6261948" cy="238604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3-966622297768810484-6594520006548752261.jpg"/>
          <p:cNvPicPr>
            <a:picLocks noChangeAspect="1"/>
          </p:cNvPicPr>
          <p:nvPr/>
        </p:nvPicPr>
        <p:blipFill>
          <a:blip r:embed="rId2"/>
          <a:stretch>
            <a:fillRect/>
          </a:stretch>
        </p:blipFill>
        <p:spPr>
          <a:xfrm>
            <a:off x="502920" y="1472184"/>
            <a:ext cx="6152220" cy="2276321"/>
          </a:xfrm>
          <a:prstGeom prst="rect">
            <a:avLst/>
          </a:prstGeom>
        </p:spPr>
      </p:pic>
      <p:sp>
        <p:nvSpPr>
          <p:cNvPr id="15" name="TextBox 14"/>
          <p:cNvSpPr txBox="1"/>
          <p:nvPr/>
        </p:nvSpPr>
        <p:spPr>
          <a:xfrm>
            <a:off x="502920" y="388566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3-3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Extract candidate facts; match against existing memories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 LLM picks </a:t>
            </a:r>
            <a:r>
              <a:rPr sz="1800" i="0" b="1">
                <a:solidFill>
                  <a:srgbClr val="1E293B"/>
                </a:solidFill>
                <a:latin typeface="Helvetica Neue"/>
              </a:rPr>
              <a:t>ADD, UPDATE, DELETE or NOOP</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"Moved to Shanghai" UPDATEs "lives in Beijing"</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Absolute dates; do not store what is derivable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Match the memory format to the stakes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format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rich cards for critical, low-volume facts and simple notes for high-volume, low-stakes ones.</a:t>
            </a:r>
          </a:p>
        </p:txBody>
      </p:sp>
      <p:graphicFrame>
        <p:nvGraphicFramePr>
          <p:cNvPr id="13" name="Table 12"/>
          <p:cNvGraphicFramePr>
            <a:graphicFrameLocks noGrp="1"/>
          </p:cNvGraphicFramePr>
          <p:nvPr/>
        </p:nvGraphicFramePr>
        <p:xfrm>
          <a:off x="502920" y="1472184"/>
          <a:ext cx="11185853" cy="2804160"/>
        </p:xfrm>
        <a:graphic>
          <a:graphicData uri="http://schemas.openxmlformats.org/drawingml/2006/table">
            <a:tbl>
              <a:tblPr firstRow="1" bandRow="1">
                <a:tableStyleId>{5940675A-B579-460E-94D1-54222C63F5DA}</a:tableStyleId>
              </a:tblPr>
              <a:tblGrid>
                <a:gridCol w="2684605"/>
                <a:gridCol w="4250624"/>
                <a:gridCol w="4250624"/>
              </a:tblGrid>
              <a:tr h="405384">
                <a:tc>
                  <a:txBody>
                    <a:bodyPr wrap="square"/>
                    <a:lstStyle/>
                    <a:p>
                      <a:pPr>
                        <a:lnSpc>
                          <a:spcPct val="100000"/>
                        </a:lnSpc>
                      </a:pPr>
                      <a:r>
                        <a:rPr sz="1700" i="0" b="1">
                          <a:solidFill>
                            <a:srgbClr val="FFFFFF"/>
                          </a:solidFill>
                          <a:latin typeface="Helvetica Neue"/>
                        </a:rPr>
                        <a:t>Format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Wins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Loses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Simple notes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Cheapest; passes basic recall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Links between facts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JSON cards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Partial updates; predictable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Rigid when a fact fits three categories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Advanced JSON cards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Disambiguation: the user's dentist vs. their father's cardiologist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Expensive to generate and maintain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User as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state from a fact log: aggregation </a:t>
                      </a:r>
                      <a:r>
                        <a:rPr sz="1700" i="0" b="1">
                          <a:solidFill>
                            <a:srgbClr val="1E293B"/>
                          </a:solidFill>
                          <a:latin typeface="Helvetica Neue"/>
                        </a:rPr>
                        <a:t>~99%</a:t>
                      </a:r>
                      <a:r>
                        <a:rPr sz="1700" i="0" b="0">
                          <a:solidFill>
                            <a:srgbClr val="475569"/>
                          </a:solidFill>
                          <a:latin typeface="Helvetica Neue"/>
                        </a:rPr>
                        <a:t> vs. 6–43%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Needs a </a:t>
                      </a:r>
                      <a:r>
                        <a:rPr sz="1530" i="0" b="0">
                          <a:solidFill>
                            <a:srgbClr val="0F7490"/>
                          </a:solidFill>
                          <a:latin typeface="Menlo"/>
                        </a:rPr>
                        <a:t>notes</a:t>
                      </a:r>
                      <a:r>
                        <a:rPr sz="1700" i="0" b="0">
                          <a:solidFill>
                            <a:srgbClr val="475569"/>
                          </a:solidFill>
                          <a:latin typeface="Helvetica Neue"/>
                        </a:rPr>
                        <a:t> field for what won't type</a:t>
                      </a:r>
                    </a:p>
                  </a:txBody>
                  <a:tcPr marL="109728" marR="109728" marT="54864" marB="54864" anchor="ctr">
                    <a:solidFill>
                      <a:srgbClr val="F8FA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A strong model may do better searching the raw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Extraction loses information for good, so with a strong model keep the source and make it searchable.</a:t>
            </a:r>
          </a:p>
        </p:txBody>
      </p:sp>
      <p:sp>
        <p:nvSpPr>
          <p:cNvPr id="13" name="Rectangle 12"/>
          <p:cNvSpPr/>
          <p:nvPr/>
        </p:nvSpPr>
        <p:spPr>
          <a:xfrm>
            <a:off x="448056" y="1417320"/>
            <a:ext cx="6261948" cy="326483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g-memorytax-fig1.png"/>
          <p:cNvPicPr>
            <a:picLocks noChangeAspect="1"/>
          </p:cNvPicPr>
          <p:nvPr/>
        </p:nvPicPr>
        <p:blipFill>
          <a:blip r:embed="rId2"/>
          <a:stretch>
            <a:fillRect/>
          </a:stretch>
        </p:blipFill>
        <p:spPr>
          <a:xfrm>
            <a:off x="502920" y="1472184"/>
            <a:ext cx="6152220" cy="3155103"/>
          </a:xfrm>
          <a:prstGeom prst="rect">
            <a:avLst/>
          </a:prstGeom>
        </p:spPr>
      </p:pic>
      <p:sp>
        <p:nvSpPr>
          <p:cNvPr id="15" name="TextBox 14"/>
          <p:cNvSpPr txBox="1"/>
          <p:nvPr/>
        </p:nvSpPr>
        <p:spPr>
          <a:xfrm>
            <a:off x="502920" y="476444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Peng (2026), one LoCoMo conversation: 419 turns, 152 questions</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Mem0 beats full context only with the weakest model: GPT-4o-mini, </a:t>
            </a:r>
            <a:r>
              <a:rPr sz="1800" i="0" b="1">
                <a:solidFill>
                  <a:srgbClr val="1E293B"/>
                </a:solidFill>
                <a:latin typeface="Helvetica Neue"/>
              </a:rPr>
              <a:t>78% vs. 74%</a:t>
            </a:r>
          </a:p>
        </p:txBody>
      </p:sp>
      <p:sp>
        <p:nvSpPr>
          <p:cNvPr id="18" name="Rectangle 17"/>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writer caps every reader: Opus 5.5 on a GPT-4o-mini graph, </a:t>
            </a:r>
            <a:r>
              <a:rPr sz="1800" i="0" b="1">
                <a:solidFill>
                  <a:srgbClr val="1E293B"/>
                </a:solidFill>
                <a:latin typeface="Helvetica Neue"/>
              </a:rPr>
              <a:t>45% vs. 43%</a:t>
            </a:r>
          </a:p>
        </p:txBody>
      </p:sp>
      <p:sp>
        <p:nvSpPr>
          <p:cNvPr id="20" name="Rectangle 19"/>
          <p:cNvSpPr/>
          <p:nvPr/>
        </p:nvSpPr>
        <p:spPr>
          <a:xfrm>
            <a:off x="7020900" y="36438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557016"/>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coding agent reading the raw history as one file: </a:t>
            </a:r>
            <a:r>
              <a:rPr sz="1800" i="0" b="1">
                <a:solidFill>
                  <a:srgbClr val="1E293B"/>
                </a:solidFill>
                <a:latin typeface="Helvetica Neue"/>
              </a:rPr>
              <a:t>99%</a:t>
            </a:r>
            <a:r>
              <a:rPr sz="1800" i="0" b="0">
                <a:solidFill>
                  <a:srgbClr val="1E293B"/>
                </a:solidFill>
                <a:latin typeface="Helvetica Neue"/>
              </a:rPr>
              <a:t>, under half full context's cost</a:t>
            </a:r>
          </a:p>
        </p:txBody>
      </p:sp>
      <p:sp>
        <p:nvSpPr>
          <p:cNvPr id="22" name="Rectangle 21"/>
          <p:cNvSpPr/>
          <p:nvPr/>
        </p:nvSpPr>
        <p:spPr>
          <a:xfrm>
            <a:off x="7020900" y="46863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459943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Caveats: one conversation, one run per cell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Structure tells the model what each part 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Structure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Structure compresses meaning, not tokens. The model spends less attention working out what it is looking at.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tags for boundaries, markdown for prose, and JSON for anything a program reads back.</a:t>
            </a:r>
          </a:p>
        </p:txBody>
      </p:sp>
      <p:sp>
        <p:nvSpPr>
          <p:cNvPr id="14" name="Rectangle 13"/>
          <p:cNvSpPr/>
          <p:nvPr/>
        </p:nvSpPr>
        <p:spPr>
          <a:xfrm>
            <a:off x="502920"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270760"/>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Tags and markdown, for the reader</a:t>
            </a:r>
          </a:p>
        </p:txBody>
      </p:sp>
      <p:sp>
        <p:nvSpPr>
          <p:cNvPr id="17" name="Rectangle 16"/>
          <p:cNvSpPr/>
          <p:nvPr/>
        </p:nvSpPr>
        <p:spPr>
          <a:xfrm>
            <a:off x="731520" y="311175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XML-style tags:</a:t>
            </a:r>
            <a:r>
              <a:rPr sz="1700" i="0" b="0">
                <a:solidFill>
                  <a:srgbClr val="1E293B"/>
                </a:solidFill>
                <a:latin typeface="Helvetica Neue"/>
              </a:rPr>
              <a:t> wrap documents, separate sections</a:t>
            </a:r>
          </a:p>
        </p:txBody>
      </p:sp>
      <p:sp>
        <p:nvSpPr>
          <p:cNvPr id="19" name="Rectangle 18"/>
          <p:cNvSpPr/>
          <p:nvPr/>
        </p:nvSpPr>
        <p:spPr>
          <a:xfrm>
            <a:off x="731520" y="3811270"/>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72922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Markdown:</a:t>
            </a:r>
            <a:r>
              <a:rPr sz="1700" i="0" b="0">
                <a:solidFill>
                  <a:srgbClr val="1E293B"/>
                </a:solidFill>
                <a:latin typeface="Helvetica Neue"/>
              </a:rPr>
              <a:t> instructions and readable prompts</a:t>
            </a:r>
          </a:p>
        </p:txBody>
      </p:sp>
      <p:sp>
        <p:nvSpPr>
          <p:cNvPr id="21" name="Rectangle 20"/>
          <p:cNvSpPr/>
          <p:nvPr/>
        </p:nvSpPr>
        <p:spPr>
          <a:xfrm>
            <a:off x="731520" y="4510786"/>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2874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Weak boundary: a retrieved doc's </a:t>
            </a:r>
            <a:r>
              <a:rPr sz="1530" i="0" b="0">
                <a:solidFill>
                  <a:srgbClr val="0F7490"/>
                </a:solidFill>
                <a:latin typeface="Menlo"/>
              </a:rPr>
              <a:t>##</a:t>
            </a:r>
            <a:r>
              <a:rPr sz="1700" i="0" b="0">
                <a:solidFill>
                  <a:srgbClr val="1E293B"/>
                </a:solidFill>
                <a:latin typeface="Helvetica Neue"/>
              </a:rPr>
              <a:t> collides with yours</a:t>
            </a:r>
          </a:p>
        </p:txBody>
      </p:sp>
      <p:sp>
        <p:nvSpPr>
          <p:cNvPr id="23" name="Rectangle 22"/>
          <p:cNvSpPr/>
          <p:nvPr/>
        </p:nvSpPr>
        <p:spPr>
          <a:xfrm>
            <a:off x="6278727"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2270760"/>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JSON and YAML, for machines</a:t>
            </a:r>
          </a:p>
        </p:txBody>
      </p:sp>
      <p:sp>
        <p:nvSpPr>
          <p:cNvPr id="26" name="Rectangle 25"/>
          <p:cNvSpPr/>
          <p:nvPr/>
        </p:nvSpPr>
        <p:spPr>
          <a:xfrm>
            <a:off x="6507327" y="311175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JSON:</a:t>
            </a:r>
            <a:r>
              <a:rPr sz="1700" i="0" b="0">
                <a:solidFill>
                  <a:srgbClr val="1E293B"/>
                </a:solidFill>
                <a:latin typeface="Helvetica Neue"/>
              </a:rPr>
              <a:t> machine state and tool I/O; token-heavy, escaping inside strings</a:t>
            </a:r>
          </a:p>
        </p:txBody>
      </p:sp>
      <p:sp>
        <p:nvSpPr>
          <p:cNvPr id="28" name="Rectangle 27"/>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372922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YAML:</a:t>
            </a:r>
            <a:r>
              <a:rPr sz="1700" i="0" b="0">
                <a:solidFill>
                  <a:srgbClr val="1E293B"/>
                </a:solidFill>
                <a:latin typeface="Helvetica Neue"/>
              </a:rPr>
              <a:t> nested config-like state; whitespace and ambiguous types</a:t>
            </a:r>
          </a:p>
        </p:txBody>
      </p:sp>
      <p:sp>
        <p:nvSpPr>
          <p:cNvPr id="30" name="Rectangle 29"/>
          <p:cNvSpPr/>
          <p:nvPr/>
        </p:nvSpPr>
        <p:spPr>
          <a:xfrm>
            <a:off x="6507327" y="451078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4428744"/>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Closed sets:</a:t>
            </a:r>
            <a:r>
              <a:rPr sz="1700" i="0" b="0">
                <a:solidFill>
                  <a:srgbClr val="1E293B"/>
                </a:solidFill>
                <a:latin typeface="Helvetica Neue"/>
              </a:rPr>
              <a:t> every free-text field that code reads needs enumerated values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Validate at the boundary and feed the error back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comes in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malformed state block that is re-injected compounds on every turn, so validate at the boundary.</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for _ in range(max_attempts):</a:t>
            </a:r>
          </a:p>
          <a:p>
            <a:pPr algn="l">
              <a:lnSpc>
                <a:spcPct val="100000"/>
              </a:lnSpc>
            </a:pPr>
            <a:r>
              <a:rPr sz="1600" i="0" b="0">
                <a:solidFill>
                  <a:srgbClr val="E2E8F0"/>
                </a:solidFill>
                <a:latin typeface="Menlo"/>
              </a:rPr>
              <a:t>    raw = llm(prompt)</a:t>
            </a:r>
          </a:p>
          <a:p>
            <a:pPr algn="l">
              <a:lnSpc>
                <a:spcPct val="100000"/>
              </a:lnSpc>
            </a:pPr>
            <a:r>
              <a:rPr sz="1600" i="0" b="0">
                <a:solidFill>
                  <a:srgbClr val="E2E8F0"/>
                </a:solidFill>
                <a:latin typeface="Menlo"/>
              </a:rPr>
              <a:t>    fenced = re.search(FENCE_RE, raw, re.DOTALL)</a:t>
            </a:r>
          </a:p>
          <a:p>
            <a:pPr algn="l">
              <a:lnSpc>
                <a:spcPct val="100000"/>
              </a:lnSpc>
            </a:pPr>
            <a:r>
              <a:rPr sz="1600" i="0" b="0">
                <a:solidFill>
                  <a:srgbClr val="E2E8F0"/>
                </a:solidFill>
                <a:latin typeface="Menlo"/>
              </a:rPr>
              <a:t>    try:</a:t>
            </a:r>
          </a:p>
          <a:p>
            <a:pPr algn="l">
              <a:lnSpc>
                <a:spcPct val="100000"/>
              </a:lnSpc>
            </a:pPr>
            <a:r>
              <a:rPr sz="1600" i="0" b="0">
                <a:solidFill>
                  <a:srgbClr val="E2E8F0"/>
                </a:solidFill>
                <a:latin typeface="Menlo"/>
              </a:rPr>
              <a:t>        text = fenced.group(1) if fenced else raw</a:t>
            </a:r>
          </a:p>
          <a:p>
            <a:pPr algn="l">
              <a:lnSpc>
                <a:spcPct val="100000"/>
              </a:lnSpc>
            </a:pPr>
            <a:r>
              <a:rPr sz="1600" i="0" b="0">
                <a:solidFill>
                  <a:srgbClr val="E2E8F0"/>
                </a:solidFill>
                <a:latin typeface="Menlo"/>
              </a:rPr>
              <a:t>        obj = json.loads(text)</a:t>
            </a:r>
          </a:p>
          <a:p>
            <a:pPr algn="l">
              <a:lnSpc>
                <a:spcPct val="100000"/>
              </a:lnSpc>
            </a:pPr>
            <a:r>
              <a:rPr sz="1600" i="0" b="0">
                <a:solidFill>
                  <a:srgbClr val="E2E8F0"/>
                </a:solidFill>
                <a:latin typeface="Menlo"/>
              </a:rPr>
              <a:t>        jsonschema.validate(obj, schema)</a:t>
            </a:r>
          </a:p>
          <a:p>
            <a:pPr algn="l">
              <a:lnSpc>
                <a:spcPct val="100000"/>
              </a:lnSpc>
            </a:pPr>
            <a:r>
              <a:rPr sz="1600" i="0" b="0">
                <a:solidFill>
                  <a:srgbClr val="E2E8F0"/>
                </a:solidFill>
                <a:latin typeface="Menlo"/>
              </a:rPr>
              <a:t>        return obj</a:t>
            </a:r>
          </a:p>
          <a:p>
            <a:pPr algn="l">
              <a:lnSpc>
                <a:spcPct val="100000"/>
              </a:lnSpc>
            </a:pPr>
            <a:r>
              <a:rPr sz="1600" i="0" b="0">
                <a:solidFill>
                  <a:srgbClr val="E2E8F0"/>
                </a:solidFill>
                <a:latin typeface="Menlo"/>
              </a:rPr>
              <a:t>    except (json.JSONDecodeError,</a:t>
            </a:r>
          </a:p>
          <a:p>
            <a:pPr algn="l">
              <a:lnSpc>
                <a:spcPct val="100000"/>
              </a:lnSpc>
            </a:pPr>
            <a:r>
              <a:rPr sz="1600" i="0" b="0">
                <a:solidFill>
                  <a:srgbClr val="E2E8F0"/>
                </a:solidFill>
                <a:latin typeface="Menlo"/>
              </a:rPr>
              <a:t>            jsonschema.ValidationError) as e:</a:t>
            </a:r>
          </a:p>
          <a:p>
            <a:pPr algn="l">
              <a:lnSpc>
                <a:spcPct val="100000"/>
              </a:lnSpc>
            </a:pPr>
            <a:r>
              <a:rPr sz="1600" i="0" b="0">
                <a:solidFill>
                  <a:srgbClr val="E2E8F0"/>
                </a:solidFill>
                <a:latin typeface="Menlo"/>
              </a:rPr>
              <a:t>        prompt += (f"\n\nDid not conform. "</a:t>
            </a:r>
          </a:p>
          <a:p>
            <a:pPr algn="l">
              <a:lnSpc>
                <a:spcPct val="100000"/>
              </a:lnSpc>
            </a:pPr>
            <a:r>
              <a:rPr sz="1600" i="0" b="0">
                <a:solidFill>
                  <a:srgbClr val="E2E8F0"/>
                </a:solidFill>
                <a:latin typeface="Menlo"/>
              </a:rPr>
              <a:t>                   f"Error: {e}. Try again.")</a:t>
            </a:r>
          </a:p>
          <a:p>
            <a:pPr algn="l">
              <a:lnSpc>
                <a:spcPct val="100000"/>
              </a:lnSpc>
            </a:pPr>
            <a:r>
              <a:rPr sz="1600" i="0" b="0">
                <a:solidFill>
                  <a:srgbClr val="E2E8F0"/>
                </a:solidFill>
                <a:latin typeface="Menlo"/>
              </a:rPr>
              <a:t>raise ValueError("no schema-valid response")</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Prefer the provider's </a:t>
            </a:r>
            <a:r>
              <a:rPr sz="1800" i="0" b="1">
                <a:solidFill>
                  <a:srgbClr val="1E293B"/>
                </a:solidFill>
                <a:latin typeface="Helvetica Neue"/>
              </a:rPr>
              <a:t>structured-output mode</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validator's message tells the retry what to fix</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Keep </a:t>
            </a:r>
            <a:r>
              <a:rPr sz="1620" i="0" b="0">
                <a:solidFill>
                  <a:srgbClr val="0F7490"/>
                </a:solidFill>
                <a:latin typeface="Menlo"/>
              </a:rPr>
              <a:t>jsonschema.validate</a:t>
            </a:r>
            <a:r>
              <a:rPr sz="1800" i="0" b="0">
                <a:solidFill>
                  <a:srgbClr val="1E293B"/>
                </a:solidFill>
                <a:latin typeface="Helvetica Neue"/>
              </a:rPr>
              <a:t> for rules the provider's subset cannot express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What shrinks and what splits off</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Compact the history · Keep the rules · Reason in isolation · Split into sub-agents</a:t>
            </a:r>
          </a:p>
        </p:txBody>
      </p:sp>
      <p:cxnSp>
        <p:nvCxnSpPr>
          <p:cNvPr id="6" name="Connector 5"/>
          <p:cNvCxnSpPr/>
          <p:nvPr/>
        </p:nvCxnSpPr>
        <p:spPr>
          <a:xfrm>
            <a:off x="6446520" y="1457325"/>
            <a:ext cx="0" cy="39433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57325"/>
            <a:ext cx="4693615" cy="412623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Compaction silently deletes your safety rules</a:t>
            </a:r>
          </a:p>
          <a:p>
            <a:pPr algn="l">
              <a:lnSpc>
                <a:spcPct val="100000"/>
              </a:lnSpc>
              <a:spcBef>
                <a:spcPts val="1050"/>
              </a:spcBef>
            </a:pPr>
            <a:r>
              <a:rPr sz="1500" i="0" b="0">
                <a:solidFill>
                  <a:srgbClr val="CBD5E1"/>
                </a:solidFill>
                <a:latin typeface="Helvetica Neue"/>
              </a:rPr>
              <a:t>Compact in stages, cheapest and safest first</a:t>
            </a:r>
          </a:p>
          <a:p>
            <a:pPr algn="l">
              <a:lnSpc>
                <a:spcPct val="100000"/>
              </a:lnSpc>
              <a:spcBef>
                <a:spcPts val="1050"/>
              </a:spcBef>
            </a:pPr>
            <a:r>
              <a:rPr sz="1500" i="0" b="0">
                <a:solidFill>
                  <a:srgbClr val="CBD5E1"/>
                </a:solidFill>
                <a:latin typeface="Helvetica Neue"/>
              </a:rPr>
              <a:t>Six compression strategies, one research task</a:t>
            </a:r>
          </a:p>
          <a:p>
            <a:pPr algn="l">
              <a:lnSpc>
                <a:spcPct val="100000"/>
              </a:lnSpc>
              <a:spcBef>
                <a:spcPts val="1050"/>
              </a:spcBef>
            </a:pPr>
            <a:r>
              <a:rPr sz="1500" i="0" b="0">
                <a:solidFill>
                  <a:srgbClr val="CBD5E1"/>
                </a:solidFill>
                <a:latin typeface="Helvetica Neue"/>
              </a:rPr>
              <a:t>Take the rules out of the summary's hands</a:t>
            </a:r>
          </a:p>
          <a:p>
            <a:pPr algn="l">
              <a:lnSpc>
                <a:spcPct val="100000"/>
              </a:lnSpc>
              <a:spcBef>
                <a:spcPts val="1050"/>
              </a:spcBef>
            </a:pPr>
            <a:r>
              <a:rPr sz="1500" i="0" b="0">
                <a:solidFill>
                  <a:srgbClr val="CBD5E1"/>
                </a:solidFill>
                <a:latin typeface="Helvetica Neue"/>
              </a:rPr>
              <a:t>What survives compaction, in order</a:t>
            </a:r>
          </a:p>
          <a:p>
            <a:pPr algn="l">
              <a:lnSpc>
                <a:spcPct val="100000"/>
              </a:lnSpc>
              <a:spcBef>
                <a:spcPts val="1050"/>
              </a:spcBef>
            </a:pPr>
            <a:r>
              <a:rPr sz="1500" i="0" b="0">
                <a:solidFill>
                  <a:srgbClr val="CBD5E1"/>
                </a:solidFill>
                <a:latin typeface="Helvetica Neue"/>
              </a:rPr>
              <a:t>Run each reasoning step as its own isolated call</a:t>
            </a:r>
          </a:p>
          <a:p>
            <a:pPr algn="l">
              <a:lnSpc>
                <a:spcPct val="100000"/>
              </a:lnSpc>
              <a:spcBef>
                <a:spcPts val="1050"/>
              </a:spcBef>
            </a:pPr>
            <a:r>
              <a:rPr sz="1500" i="0" b="0">
                <a:solidFill>
                  <a:srgbClr val="CBD5E1"/>
                </a:solidFill>
                <a:latin typeface="Helvetica Neue"/>
              </a:rPr>
              <a:t>Where you can verify with code, do</a:t>
            </a:r>
          </a:p>
          <a:p>
            <a:pPr algn="l">
              <a:lnSpc>
                <a:spcPct val="100000"/>
              </a:lnSpc>
              <a:spcBef>
                <a:spcPts val="1050"/>
              </a:spcBef>
            </a:pPr>
            <a:r>
              <a:rPr sz="1500" i="0" b="0">
                <a:solidFill>
                  <a:srgbClr val="CBD5E1"/>
                </a:solidFill>
                <a:latin typeface="Helvetica Neue"/>
              </a:rPr>
              <a:t>Protocol shells are prompts with good section headers</a:t>
            </a:r>
          </a:p>
          <a:p>
            <a:pPr algn="l">
              <a:lnSpc>
                <a:spcPct val="100000"/>
              </a:lnSpc>
              <a:spcBef>
                <a:spcPts val="1050"/>
              </a:spcBef>
            </a:pPr>
            <a:r>
              <a:rPr sz="1500" i="0" b="0">
                <a:solidFill>
                  <a:srgbClr val="CBD5E1"/>
                </a:solidFill>
                <a:latin typeface="Helvetica Neue"/>
              </a:rPr>
              <a:t>A sub-agent buys a clean window at a real price</a:t>
            </a:r>
          </a:p>
          <a:p>
            <a:pPr algn="l">
              <a:lnSpc>
                <a:spcPct val="100000"/>
              </a:lnSpc>
              <a:spcBef>
                <a:spcPts val="1050"/>
              </a:spcBef>
            </a:pPr>
            <a:r>
              <a:rPr sz="1500" i="0" b="0">
                <a:solidFill>
                  <a:srgbClr val="CBD5E1"/>
                </a:solidFill>
                <a:latin typeface="Helvetica Neue"/>
              </a:rPr>
              <a:t>Tool descriptions and results are context too</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Compaction silently deletes your safety rules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summarizer cannot tell which sentence is a rule, so it compresses rules at the same rate as everything else.</a:t>
            </a:r>
          </a:p>
        </p:txBody>
      </p:sp>
      <p:sp>
        <p:nvSpPr>
          <p:cNvPr id="13" name="Rectangle 12"/>
          <p:cNvSpPr/>
          <p:nvPr/>
        </p:nvSpPr>
        <p:spPr>
          <a:xfrm>
            <a:off x="777240" y="2299716"/>
            <a:ext cx="109728" cy="235915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Claude Code's /compact on Sonnet 4.6 keeps 53% of safety rules after one round, and 10% after five.</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Zerhoudi et al. (2026), 20 production agent configurations, 50% compression per round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Compact in stages, cheapest and safest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pipeline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Compact at a phase boundary and keep recent turns verbatim, because the agent's working state lives in those turns.</a:t>
            </a:r>
          </a:p>
        </p:txBody>
      </p:sp>
      <p:sp>
        <p:nvSpPr>
          <p:cNvPr id="13" name="Rounded Rectangle 12"/>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Prune</a:t>
            </a:r>
          </a:p>
          <a:p>
            <a:pPr algn="ctr">
              <a:lnSpc>
                <a:spcPct val="110000"/>
              </a:lnSpc>
            </a:pPr>
            <a:r>
              <a:rPr sz="1300" i="0" b="0">
                <a:solidFill>
                  <a:srgbClr val="E8F4F8"/>
                </a:solidFill>
                <a:latin typeface="Helvetica Neue"/>
              </a:rPr>
              <a:t>dead branches</a:t>
            </a:r>
          </a:p>
        </p:txBody>
      </p:sp>
      <p:cxnSp>
        <p:nvCxnSpPr>
          <p:cNvPr id="15" name="Connector 14"/>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Clear tool output</a:t>
            </a:r>
          </a:p>
          <a:p>
            <a:pPr algn="ctr">
              <a:lnSpc>
                <a:spcPct val="110000"/>
              </a:lnSpc>
            </a:pPr>
            <a:r>
              <a:rPr sz="1300" i="0" b="0">
                <a:solidFill>
                  <a:srgbClr val="E8F4F8"/>
                </a:solidFill>
                <a:latin typeface="Helvetica Neue"/>
              </a:rPr>
              <a:t>keep the conclusion</a:t>
            </a:r>
          </a:p>
        </p:txBody>
      </p:sp>
      <p:cxnSp>
        <p:nvCxnSpPr>
          <p:cNvPr id="18" name="Connector 17"/>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 state</a:t>
            </a:r>
          </a:p>
          <a:p>
            <a:pPr algn="ctr">
              <a:lnSpc>
                <a:spcPct val="110000"/>
              </a:lnSpc>
            </a:pPr>
            <a:r>
              <a:rPr sz="1300" i="0" b="0">
                <a:solidFill>
                  <a:srgbClr val="E8F4F8"/>
                </a:solidFill>
                <a:latin typeface="Helvetica Neue"/>
              </a:rPr>
              <a:t>files, decisions, TODOs</a:t>
            </a:r>
          </a:p>
        </p:txBody>
      </p:sp>
      <p:cxnSp>
        <p:nvCxnSpPr>
          <p:cNvPr id="21" name="Connector 20"/>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Summarize middle</a:t>
            </a:r>
          </a:p>
          <a:p>
            <a:pPr algn="ctr">
              <a:lnSpc>
                <a:spcPct val="110000"/>
              </a:lnSpc>
            </a:pPr>
            <a:r>
              <a:rPr sz="1300" i="0" b="0">
                <a:solidFill>
                  <a:srgbClr val="E8F4F8"/>
                </a:solidFill>
                <a:latin typeface="Helvetica Neue"/>
              </a:rPr>
              <a:t>lossy but bounded</a:t>
            </a:r>
          </a:p>
        </p:txBody>
      </p:sp>
      <p:cxnSp>
        <p:nvCxnSpPr>
          <p:cNvPr id="24" name="Connector 23"/>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Keep recent</a:t>
            </a:r>
          </a:p>
          <a:p>
            <a:pPr algn="ctr">
              <a:lnSpc>
                <a:spcPct val="110000"/>
              </a:lnSpc>
            </a:pPr>
            <a:r>
              <a:rPr sz="1300" i="0" b="0">
                <a:solidFill>
                  <a:srgbClr val="E8F4F8"/>
                </a:solidFill>
                <a:latin typeface="Helvetica Neue"/>
              </a:rPr>
              <a:t>last N turns verbatim</a:t>
            </a:r>
          </a:p>
        </p:txBody>
      </p:sp>
      <p:sp>
        <p:nvSpPr>
          <p:cNvPr id="27" name="Rectangle 26"/>
          <p:cNvSpPr/>
          <p:nvPr/>
        </p:nvSpPr>
        <p:spPr>
          <a:xfrm>
            <a:off x="502920" y="346583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37413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Trigger at phase boundaries</a:t>
            </a:r>
            <a:r>
              <a:rPr sz="1900" i="0" b="0">
                <a:solidFill>
                  <a:srgbClr val="1E293B"/>
                </a:solidFill>
                <a:latin typeface="Helvetica Neue"/>
              </a:rPr>
              <a:t>, not at 95% mid-edit; about 80% occupancy as a backstop</a:t>
            </a:r>
          </a:p>
        </p:txBody>
      </p:sp>
      <p:sp>
        <p:nvSpPr>
          <p:cNvPr id="29" name="Rectangle 28"/>
          <p:cNvSpPr/>
          <p:nvPr/>
        </p:nvSpPr>
        <p:spPr>
          <a:xfrm>
            <a:off x="502920" y="392912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837432"/>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Identifiers verbatim:</a:t>
            </a:r>
            <a:r>
              <a:rPr sz="1900" i="0" b="0">
                <a:solidFill>
                  <a:srgbClr val="1E293B"/>
                </a:solidFill>
                <a:latin typeface="Helvetica Neue"/>
              </a:rPr>
              <a:t> UUIDs, hashes, paths. One wrong digit fails the next call</a:t>
            </a:r>
          </a:p>
        </p:txBody>
      </p:sp>
      <p:sp>
        <p:nvSpPr>
          <p:cNvPr id="31" name="Rectangle 30"/>
          <p:cNvSpPr/>
          <p:nvPr/>
        </p:nvSpPr>
        <p:spPr>
          <a:xfrm>
            <a:off x="502920" y="4392422"/>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30072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Compaction rewrites the prefix, so each one pays a full re-prefill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Six compression strategies, one research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Back to our agent: a 128K window, seven searches, about 367k characters.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Compression is understanding, so the compressor needs the task and the known state in its prompt.</a:t>
            </a:r>
          </a:p>
        </p:txBody>
      </p:sp>
      <p:graphicFrame>
        <p:nvGraphicFramePr>
          <p:cNvPr id="14" name="Table 13"/>
          <p:cNvGraphicFramePr>
            <a:graphicFrameLocks noGrp="1"/>
          </p:cNvGraphicFramePr>
          <p:nvPr/>
        </p:nvGraphicFramePr>
        <p:xfrm>
          <a:off x="502920" y="1985772"/>
          <a:ext cx="11185854" cy="3218688"/>
        </p:xfrm>
        <a:graphic>
          <a:graphicData uri="http://schemas.openxmlformats.org/drawingml/2006/table">
            <a:tbl>
              <a:tblPr firstRow="1" bandRow="1">
                <a:tableStyleId>{5940675A-B579-460E-94D1-54222C63F5DA}</a:tableStyleId>
              </a:tblPr>
              <a:tblGrid>
                <a:gridCol w="4921776"/>
                <a:gridCol w="6264078"/>
              </a:tblGrid>
              <a:tr h="390144">
                <a:tc>
                  <a:txBody>
                    <a:bodyPr wrap="square"/>
                    <a:lstStyle/>
                    <a:p>
                      <a:pPr>
                        <a:lnSpc>
                          <a:spcPct val="100000"/>
                        </a:lnSpc>
                      </a:pPr>
                      <a:r>
                        <a:rPr sz="1600" i="0" b="1">
                          <a:solidFill>
                            <a:srgbClr val="FFFFFF"/>
                          </a:solidFill>
                          <a:latin typeface="Helvetica Neue"/>
                        </a:rPr>
                        <a:t>Strategy</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Result</a:t>
                      </a:r>
                    </a:p>
                  </a:txBody>
                  <a:tcPr marL="109728" marR="109728" marT="54864" marB="54864" anchor="ctr">
                    <a:solidFill>
                      <a:srgbClr val="1E3A5F"/>
                    </a:solidFill>
                  </a:tcPr>
                </a:tc>
              </a:tr>
              <a:tr h="390144">
                <a:tc>
                  <a:txBody>
                    <a:bodyPr wrap="square"/>
                    <a:lstStyle/>
                    <a:p>
                      <a:pPr>
                        <a:lnSpc>
                          <a:spcPct val="100000"/>
                        </a:lnSpc>
                      </a:pPr>
                      <a:r>
                        <a:rPr sz="1600" i="0" b="1">
                          <a:solidFill>
                            <a:srgbClr val="1E293B"/>
                          </a:solidFill>
                          <a:latin typeface="Helvetica Neue"/>
                        </a:rPr>
                        <a:t>No compression</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Overflowed at iteration 5. Failed</a:t>
                      </a:r>
                    </a:p>
                  </a:txBody>
                  <a:tcPr marL="109728" marR="109728" marT="54864" marB="54864" anchor="ctr">
                    <a:solidFill>
                      <a:srgbClr val="FFFFFF"/>
                    </a:solidFill>
                  </a:tcPr>
                </a:tc>
              </a:tr>
              <a:tr h="390144">
                <a:tc>
                  <a:txBody>
                    <a:bodyPr wrap="square"/>
                    <a:lstStyle/>
                    <a:p>
                      <a:pPr>
                        <a:lnSpc>
                          <a:spcPct val="100000"/>
                        </a:lnSpc>
                      </a:pPr>
                      <a:r>
                        <a:rPr sz="1600" i="0" b="1">
                          <a:solidFill>
                            <a:srgbClr val="1E293B"/>
                          </a:solidFill>
                          <a:latin typeface="Helvetica Neue"/>
                        </a:rPr>
                        <a:t>Summarize each result separately</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12 iterations, 277k tokens; repeated facts across pages</a:t>
                      </a:r>
                    </a:p>
                  </a:txBody>
                  <a:tcPr marL="109728" marR="109728" marT="54864" marB="54864" anchor="ctr">
                    <a:solidFill>
                      <a:srgbClr val="F8FAFC"/>
                    </a:solidFill>
                  </a:tcPr>
                </a:tc>
              </a:tr>
              <a:tr h="633984">
                <a:tc>
                  <a:txBody>
                    <a:bodyPr wrap="square"/>
                    <a:lstStyle/>
                    <a:p>
                      <a:pPr>
                        <a:lnSpc>
                          <a:spcPct val="100000"/>
                        </a:lnSpc>
                      </a:pPr>
                      <a:r>
                        <a:rPr sz="1600" i="0" b="1">
                          <a:solidFill>
                            <a:srgbClr val="1E293B"/>
                          </a:solidFill>
                          <a:latin typeface="Helvetica Neue"/>
                        </a:rPr>
                        <a:t>One combined summary</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10 iterations, 93k tokens; long inputs truncated at the tail</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Context-aware</a:t>
                      </a:r>
                      <a:r>
                        <a:rPr sz="1600" i="0" b="1">
                          <a:solidFill>
                            <a:srgbClr val="1E293B"/>
                          </a:solidFill>
                          <a:latin typeface="Helvetica Neue"/>
                        </a:rPr>
                        <a:t> (query and known state in the prompt)</a:t>
                      </a:r>
                    </a:p>
                  </a:txBody>
                  <a:tcPr marL="109728" marR="109728" marT="54864" marB="54864" anchor="ctr">
                    <a:solidFill>
                      <a:srgbClr val="E8F4F8"/>
                    </a:solidFill>
                  </a:tcPr>
                </a:tc>
                <a:tc>
                  <a:txBody>
                    <a:bodyPr wrap="square"/>
                    <a:lstStyle/>
                    <a:p>
                      <a:pPr>
                        <a:lnSpc>
                          <a:spcPct val="100000"/>
                        </a:lnSpc>
                      </a:pPr>
                      <a:r>
                        <a:rPr sz="1600" i="0" b="1">
                          <a:solidFill>
                            <a:srgbClr val="1E293B"/>
                          </a:solidFill>
                          <a:latin typeface="Helvetica Neue"/>
                        </a:rPr>
                        <a:t>7 iterations, 40k tokens</a:t>
                      </a:r>
                      <a:r>
                        <a:rPr sz="1600" i="0" b="0">
                          <a:solidFill>
                            <a:srgbClr val="475569"/>
                          </a:solidFill>
                          <a:latin typeface="Helvetica Neue"/>
                        </a:rPr>
                        <a:t>; a 148k-char page to 2k chars</a:t>
                      </a:r>
                    </a:p>
                  </a:txBody>
                  <a:tcPr marL="109728" marR="109728" marT="54864" marB="54864" anchor="ctr">
                    <a:solidFill>
                      <a:srgbClr val="E8F4F8"/>
                    </a:solidFill>
                  </a:tcPr>
                </a:tc>
              </a:tr>
              <a:tr h="390144">
                <a:tc>
                  <a:txBody>
                    <a:bodyPr wrap="square"/>
                    <a:lstStyle/>
                    <a:p>
                      <a:pPr>
                        <a:lnSpc>
                          <a:spcPct val="100000"/>
                        </a:lnSpc>
                      </a:pPr>
                      <a:r>
                        <a:rPr sz="1600" i="0" b="1">
                          <a:solidFill>
                            <a:srgbClr val="1E293B"/>
                          </a:solidFill>
                          <a:latin typeface="Helvetica Neue"/>
                        </a:rPr>
                        <a:t>Context-aware plus citations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223k tokens; lossy content, lossless index to sources</a:t>
                      </a:r>
                    </a:p>
                  </a:txBody>
                  <a:tcPr marL="109728" marR="109728" marT="54864" marB="54864" anchor="ctr">
                    <a:solidFill>
                      <a:srgbClr val="FFFFFF"/>
                    </a:solidFill>
                  </a:tcPr>
                </a:tc>
              </a:tr>
              <a:tr h="390144">
                <a:tc>
                  <a:txBody>
                    <a:bodyPr wrap="square"/>
                    <a:lstStyle/>
                    <a:p>
                      <a:pPr>
                        <a:lnSpc>
                          <a:spcPct val="100000"/>
                        </a:lnSpc>
                      </a:pPr>
                      <a:r>
                        <a:rPr sz="1600" i="0" b="1">
                          <a:solidFill>
                            <a:srgbClr val="1E293B"/>
                          </a:solidFill>
                          <a:latin typeface="Helvetica Neue"/>
                        </a:rPr>
                        <a:t>Adaptive: batch at 80%, </a:t>
                      </a:r>
                      <a:r>
                        <a:rPr sz="1440" i="0" b="1">
                          <a:solidFill>
                            <a:srgbClr val="0F7490"/>
                          </a:solidFill>
                          <a:latin typeface="Menlo"/>
                        </a:rPr>
                        <a:t>[COMPRESSED]</a:t>
                      </a:r>
                      <a:r>
                        <a:rPr sz="1600" i="0" b="1">
                          <a:solidFill>
                            <a:srgbClr val="1E293B"/>
                          </a:solidFill>
                          <a:latin typeface="Helvetica Neue"/>
                        </a:rPr>
                        <a:t> marker</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175k tokens; full fidelity early on</a:t>
                      </a:r>
                    </a:p>
                  </a:txBody>
                  <a:tcPr marL="109728" marR="109728" marT="54864" marB="54864" anchor="ctr">
                    <a:solidFill>
                      <a:srgbClr val="F8FA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Take the rules out of the summary's hands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fix</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Pin constraints outside the summary and verify with a deterministic check, because compactors misreport what they kept.</a:t>
            </a:r>
          </a:p>
        </p:txBody>
      </p:sp>
      <p:sp>
        <p:nvSpPr>
          <p:cNvPr id="13" name="Rectangle 12"/>
          <p:cNvSpPr/>
          <p:nvPr/>
        </p:nvSpPr>
        <p:spPr>
          <a:xfrm>
            <a:off x="542023" y="1417320"/>
            <a:ext cx="6074013"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erhoudi-compaction-cliff-fig3.png"/>
          <p:cNvPicPr>
            <a:picLocks noChangeAspect="1"/>
          </p:cNvPicPr>
          <p:nvPr/>
        </p:nvPicPr>
        <p:blipFill>
          <a:blip r:embed="rId2"/>
          <a:stretch>
            <a:fillRect/>
          </a:stretch>
        </p:blipFill>
        <p:spPr>
          <a:xfrm>
            <a:off x="596887" y="1472184"/>
            <a:ext cx="5964285"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Zerhoudi, Mitrović &amp; Granitzer, The Compaction Cliff (2026), Fig. 3</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Classify each line by type and pin constraints: </a:t>
            </a:r>
            <a:r>
              <a:rPr sz="1800" i="0" b="1">
                <a:solidFill>
                  <a:srgbClr val="1E293B"/>
                </a:solidFill>
                <a:latin typeface="Helvetica Neue"/>
              </a:rPr>
              <a:t>0.96</a:t>
            </a:r>
            <a:r>
              <a:rPr sz="1800" i="0" b="0">
                <a:solidFill>
                  <a:srgbClr val="1E293B"/>
                </a:solidFill>
                <a:latin typeface="Helvetica Neue"/>
              </a:rPr>
              <a:t> recall over five rounds</a:t>
            </a:r>
          </a:p>
        </p:txBody>
      </p:sp>
      <p:sp>
        <p:nvSpPr>
          <p:cNvPr id="18" name="Rectangle 17"/>
          <p:cNvSpPr/>
          <p:nvPr/>
        </p:nvSpPr>
        <p:spPr>
          <a:xfrm>
            <a:off x="7020900" y="26014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Wang et al.: a constraint registry appended verbatim, retention </a:t>
            </a:r>
            <a:r>
              <a:rPr sz="1800" i="0" b="1">
                <a:solidFill>
                  <a:srgbClr val="1E293B"/>
                </a:solidFill>
                <a:latin typeface="Helvetica Neue"/>
              </a:rPr>
              <a:t>90–95%</a:t>
            </a:r>
          </a:p>
        </p:txBody>
      </p:sp>
      <p:sp>
        <p:nvSpPr>
          <p:cNvPr id="20" name="Rectangle 19"/>
          <p:cNvSpPr/>
          <p:nvPr/>
        </p:nvSpPr>
        <p:spPr>
          <a:xfrm>
            <a:off x="7020900" y="334213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Then check deterministically: self-reported 1.00 recall had silently dropped a mean </a:t>
            </a:r>
            <a:r>
              <a:rPr sz="1800" i="0" b="1">
                <a:solidFill>
                  <a:srgbClr val="1E293B"/>
                </a:solidFill>
                <a:latin typeface="Helvetica Neue"/>
              </a:rPr>
              <a:t>57%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survives compaction, in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Retention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40k tokens of test output compress to "17 passed, 2 failed", while a one-sentence rationale cannot compress at all.</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Architectural decisions</a:t>
            </a:r>
            <a:r>
              <a:rPr sz="1500" i="0" b="0">
                <a:solidFill>
                  <a:srgbClr val="475569"/>
                </a:solidFill>
                <a:latin typeface="Helvetica Neue"/>
              </a:rPr>
              <a:t> — "X over Y because Z", verbatim. Lose the reason and the agent re-litigates it</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User constraints and safety rules</a:t>
            </a:r>
            <a:r>
              <a:rPr sz="1500" i="0" b="0">
                <a:solidFill>
                  <a:srgbClr val="475569"/>
                </a:solidFill>
                <a:latin typeface="Helvetica Neue"/>
              </a:rPr>
              <a:t> — pinned verbatim, outside the summary</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Modified files and critical changes</a:t>
            </a:r>
            <a:r>
              <a:rPr sz="1500" i="0" b="0">
                <a:solidFill>
                  <a:srgbClr val="475569"/>
                </a:solidFill>
                <a:latin typeface="Helvetica Neue"/>
              </a:rPr>
              <a:t> — the diff so far is state, not history</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Verification status</a:t>
            </a:r>
            <a:r>
              <a:rPr sz="1500" i="0" b="0">
                <a:solidFill>
                  <a:srgbClr val="475569"/>
                </a:solidFill>
                <a:latin typeface="Helvetica Neue"/>
              </a:rPr>
              <a:t> — which tests ran, pass or fail</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Unresolved TODOs</a:t>
            </a:r>
            <a:r>
              <a:rPr sz="1500" i="0" b="0">
                <a:solidFill>
                  <a:srgbClr val="475569"/>
                </a:solidFill>
                <a:latin typeface="Helvetica Neue"/>
              </a:rPr>
              <a:t> — everything not yet done, with rollback notes</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Tool output</a:t>
            </a:r>
            <a:r>
              <a:rPr sz="1500" i="0" b="0">
                <a:solidFill>
                  <a:srgbClr val="475569"/>
                </a:solidFill>
                <a:latin typeface="Helvetica Neue"/>
              </a:rPr>
              <a:t> — deletable. Keep the conclusion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Run each reasoning step as its own isolated call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Reasoning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Cognitive tools apply context isolation to reasoning, because only each step's result returns to the main trace.</a:t>
            </a:r>
          </a:p>
        </p:txBody>
      </p:sp>
      <p:sp>
        <p:nvSpPr>
          <p:cNvPr id="13" name="Rectangle 12"/>
          <p:cNvSpPr/>
          <p:nvPr/>
        </p:nvSpPr>
        <p:spPr>
          <a:xfrm>
            <a:off x="1313838" y="1417320"/>
            <a:ext cx="453038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bouky-cognitive-tools-fig1.png"/>
          <p:cNvPicPr>
            <a:picLocks noChangeAspect="1"/>
          </p:cNvPicPr>
          <p:nvPr/>
        </p:nvPicPr>
        <p:blipFill>
          <a:blip r:embed="rId2"/>
          <a:stretch>
            <a:fillRect/>
          </a:stretch>
        </p:blipFill>
        <p:spPr>
          <a:xfrm>
            <a:off x="1368702" y="1472184"/>
            <a:ext cx="4420654" cy="3602735"/>
          </a:xfrm>
          <a:prstGeom prst="rect">
            <a:avLst/>
          </a:prstGeom>
        </p:spPr>
      </p:pic>
      <p:sp>
        <p:nvSpPr>
          <p:cNvPr id="15" name="TextBox 14"/>
          <p:cNvSpPr txBox="1"/>
          <p:nvPr/>
        </p:nvSpPr>
        <p:spPr>
          <a:xfrm>
            <a:off x="502920" y="521207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Ebouky et al., Eliciting Reasoning with Cognitive Tools (2025), Fig. 1</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a:t>
            </a:r>
            <a:r>
              <a:rPr sz="1800" i="0" b="0">
                <a:solidFill>
                  <a:srgbClr val="1E293B"/>
                </a:solidFill>
                <a:latin typeface="Helvetica Neue"/>
              </a:rPr>
              <a:t> all operations listed in one prompt</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B:</a:t>
            </a:r>
            <a:r>
              <a:rPr sz="1800" i="0" b="0">
                <a:solidFill>
                  <a:srgbClr val="1E293B"/>
                </a:solidFill>
                <a:latin typeface="Helvetica Neue"/>
              </a:rPr>
              <a:t> each operation is a tool call with its own prompt</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GPT-4.1 on AIME 2024: </a:t>
            </a:r>
            <a:r>
              <a:rPr sz="1800" i="0" b="1">
                <a:solidFill>
                  <a:srgbClr val="1E293B"/>
                </a:solidFill>
                <a:latin typeface="Helvetica Neue"/>
              </a:rPr>
              <a:t>32.0% to 53.0%</a:t>
            </a:r>
            <a:r>
              <a:rPr sz="1800" i="0" b="0">
                <a:solidFill>
                  <a:srgbClr val="1E293B"/>
                </a:solidFill>
                <a:latin typeface="Helvetica Neue"/>
              </a:rPr>
              <a:t> pass@1; one prompt with the same operations reached </a:t>
            </a:r>
            <a:r>
              <a:rPr sz="1800" i="0" b="1">
                <a:solidFill>
                  <a:srgbClr val="1E293B"/>
                </a:solidFill>
                <a:latin typeface="Helvetica Neue"/>
              </a:rPr>
              <a:t>42.0%</a:t>
            </a:r>
          </a:p>
        </p:txBody>
      </p:sp>
      <p:sp>
        <p:nvSpPr>
          <p:cNvPr id="22" name="Rectangle 21"/>
          <p:cNvSpPr/>
          <p:nvPr/>
        </p:nvSpPr>
        <p:spPr>
          <a:xfrm>
            <a:off x="7020900" y="40827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result returns to the main trace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you can verify with code, do</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Tests, parsers and calculators beat a model's verdict, so replace a model verifier with a deterministic check where possible.</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python_validator(response):</a:t>
            </a:r>
          </a:p>
          <a:p>
            <a:pPr algn="l">
              <a:lnSpc>
                <a:spcPct val="100000"/>
              </a:lnSpc>
            </a:pPr>
            <a:r>
              <a:rPr sz="1600" i="0" b="0">
                <a:solidFill>
                  <a:srgbClr val="E2E8F0"/>
                </a:solidFill>
                <a:latin typeface="Menlo"/>
              </a:rPr>
              <a:t>    blocks = re.findall(CODE_RE, response, re.S)</a:t>
            </a:r>
          </a:p>
          <a:p>
            <a:pPr algn="l">
              <a:lnSpc>
                <a:spcPct val="100000"/>
              </a:lnSpc>
            </a:pPr>
            <a:r>
              <a:rPr sz="1600" i="0" b="0">
                <a:solidFill>
                  <a:srgbClr val="E2E8F0"/>
                </a:solidFill>
                <a:latin typeface="Menlo"/>
              </a:rPr>
              <a:t>    if not blocks:</a:t>
            </a:r>
          </a:p>
          <a:p>
            <a:pPr algn="l">
              <a:lnSpc>
                <a:spcPct val="100000"/>
              </a:lnSpc>
            </a:pPr>
            <a:r>
              <a:rPr sz="1600" i="0" b="0">
                <a:solidFill>
                  <a:srgbClr val="E2E8F0"/>
                </a:solidFill>
                <a:latin typeface="Menlo"/>
              </a:rPr>
              <a:t>        return False, "No Python code block found."</a:t>
            </a:r>
          </a:p>
          <a:p>
            <a:pPr algn="l">
              <a:lnSpc>
                <a:spcPct val="100000"/>
              </a:lnSpc>
            </a:pPr>
            <a:r>
              <a:rPr sz="1600" i="0" b="0">
                <a:solidFill>
                  <a:srgbClr val="E2E8F0"/>
                </a:solidFill>
                <a:latin typeface="Menlo"/>
              </a:rPr>
              <a:t>    for i, block in enumerate(blocks, 1):</a:t>
            </a:r>
          </a:p>
          <a:p>
            <a:pPr algn="l">
              <a:lnSpc>
                <a:spcPct val="100000"/>
              </a:lnSpc>
            </a:pPr>
            <a:r>
              <a:rPr sz="1600" i="0" b="0">
                <a:solidFill>
                  <a:srgbClr val="E2E8F0"/>
                </a:solidFill>
                <a:latin typeface="Menlo"/>
              </a:rPr>
              <a:t>        try:</a:t>
            </a:r>
          </a:p>
          <a:p>
            <a:pPr algn="l">
              <a:lnSpc>
                <a:spcPct val="100000"/>
              </a:lnSpc>
            </a:pPr>
            <a:r>
              <a:rPr sz="1600" i="0" b="0">
                <a:solidFill>
                  <a:srgbClr val="E2E8F0"/>
                </a:solidFill>
                <a:latin typeface="Menlo"/>
              </a:rPr>
              <a:t>            compile(block, "&lt;llm&gt;", "exec")</a:t>
            </a:r>
          </a:p>
          <a:p>
            <a:pPr algn="l">
              <a:lnSpc>
                <a:spcPct val="100000"/>
              </a:lnSpc>
            </a:pPr>
            <a:r>
              <a:rPr sz="1600" i="0" b="0">
                <a:solidFill>
                  <a:srgbClr val="E2E8F0"/>
                </a:solidFill>
                <a:latin typeface="Menlo"/>
              </a:rPr>
              <a:t>        except SyntaxError as e:</a:t>
            </a:r>
          </a:p>
          <a:p>
            <a:pPr algn="l">
              <a:lnSpc>
                <a:spcPct val="100000"/>
              </a:lnSpc>
            </a:pPr>
            <a:r>
              <a:rPr sz="1600" i="0" b="0">
                <a:solidFill>
                  <a:srgbClr val="E2E8F0"/>
                </a:solidFill>
                <a:latin typeface="Menlo"/>
              </a:rPr>
              <a:t>            return False, f"Block {i}: {e}"</a:t>
            </a:r>
          </a:p>
          <a:p>
            <a:pPr algn="l">
              <a:lnSpc>
                <a:spcPct val="100000"/>
              </a:lnSpc>
            </a:pPr>
            <a:r>
              <a:rPr sz="1600" i="0" b="0">
                <a:solidFill>
                  <a:srgbClr val="E2E8F0"/>
                </a:solidFill>
                <a:latin typeface="Menlo"/>
              </a:rPr>
              <a:t>    return True, "ok"</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Loop: generate, validate, feed the problem back, </a:t>
            </a:r>
            <a:r>
              <a:rPr sz="1800" i="0" b="1">
                <a:solidFill>
                  <a:srgbClr val="1E293B"/>
                </a:solidFill>
                <a:latin typeface="Helvetica Neue"/>
              </a:rPr>
              <a:t>max 3</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Same-model verifiers share blind spots; past 2–3 rounds they rarely help</a:t>
            </a:r>
          </a:p>
        </p:txBody>
      </p:sp>
      <p:sp>
        <p:nvSpPr>
          <p:cNvPr id="20" name="Rectangle 19"/>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self-graded stop condition is a demo, not a pattern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Protocol shells are prompts with good section headers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Protocols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notes/09-protocols.md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protocol shell's value is its four explicit sections, and markdown with the same sections works as well.</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PROTOCOL</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/research.literature{</a:t>
            </a:r>
          </a:p>
          <a:p>
            <a:pPr algn="l">
              <a:lnSpc>
                <a:spcPct val="100000"/>
              </a:lnSpc>
            </a:pPr>
            <a:r>
              <a:rPr sz="1600" i="0" b="0">
                <a:solidFill>
                  <a:srgbClr val="E2E8F0"/>
                </a:solidFill>
                <a:latin typeface="Menlo"/>
              </a:rPr>
              <a:t>  intent="Structured understanding",</a:t>
            </a:r>
          </a:p>
          <a:p>
            <a:pPr algn="l">
              <a:lnSpc>
                <a:spcPct val="100000"/>
              </a:lnSpc>
            </a:pPr>
            <a:r>
              <a:rPr sz="1600" i="0" b="0">
                <a:solidFill>
                  <a:srgbClr val="E2E8F0"/>
                </a:solidFill>
                <a:latin typeface="Menlo"/>
              </a:rPr>
              <a:t>  input={ topic="Context compaction",</a:t>
            </a:r>
          </a:p>
          <a:p>
            <a:pPr algn="l">
              <a:lnSpc>
                <a:spcPct val="100000"/>
              </a:lnSpc>
            </a:pPr>
            <a:r>
              <a:rPr sz="1600" i="0" b="0">
                <a:solidFill>
                  <a:srgbClr val="E2E8F0"/>
                </a:solidFill>
                <a:latin typeface="Menlo"/>
              </a:rPr>
              <a:t>          key_questions=[...] },</a:t>
            </a:r>
          </a:p>
          <a:p>
            <a:pPr algn="l">
              <a:lnSpc>
                <a:spcPct val="100000"/>
              </a:lnSpc>
            </a:pPr>
            <a:r>
              <a:rPr sz="1600" i="0" b="0">
                <a:solidFill>
                  <a:srgbClr val="E2E8F0"/>
                </a:solidFill>
                <a:latin typeface="Menlo"/>
              </a:rPr>
              <a:t>  process=[</a:t>
            </a:r>
          </a:p>
          <a:p>
            <a:pPr algn="l">
              <a:lnSpc>
                <a:spcPct val="100000"/>
              </a:lnSpc>
            </a:pPr>
            <a:r>
              <a:rPr sz="1600" i="0" b="0">
                <a:solidFill>
                  <a:srgbClr val="E2E8F0"/>
                </a:solidFill>
                <a:latin typeface="Menlo"/>
              </a:rPr>
              <a:t>    /map{action="Foundations, terms"},</a:t>
            </a:r>
          </a:p>
          <a:p>
            <a:pPr algn="l">
              <a:lnSpc>
                <a:spcPct val="100000"/>
              </a:lnSpc>
            </a:pPr>
            <a:r>
              <a:rPr sz="1600" i="0" b="0">
                <a:solidFill>
                  <a:srgbClr val="E2E8F0"/>
                </a:solidFill>
                <a:latin typeface="Menlo"/>
              </a:rPr>
              <a:t>    /explore{action="Key works, limits"},</a:t>
            </a:r>
          </a:p>
          <a:p>
            <a:pPr algn="l">
              <a:lnSpc>
                <a:spcPct val="100000"/>
              </a:lnSpc>
            </a:pPr>
            <a:r>
              <a:rPr sz="1600" i="0" b="0">
                <a:solidFill>
                  <a:srgbClr val="E2E8F0"/>
                </a:solidFill>
                <a:latin typeface="Menlo"/>
              </a:rPr>
              <a:t>    /synthesize{action="Patterns, gaps"}</a:t>
            </a:r>
          </a:p>
          <a:p>
            <a:pPr algn="l">
              <a:lnSpc>
                <a:spcPct val="100000"/>
              </a:lnSpc>
            </a:pPr>
            <a:r>
              <a:rPr sz="1600" i="0" b="0">
                <a:solidFill>
                  <a:srgbClr val="E2E8F0"/>
                </a:solidFill>
                <a:latin typeface="Menlo"/>
              </a:rPr>
              <a:t>  ],</a:t>
            </a:r>
          </a:p>
          <a:p>
            <a:pPr algn="l">
              <a:lnSpc>
                <a:spcPct val="100000"/>
              </a:lnSpc>
            </a:pPr>
            <a:r>
              <a:rPr sz="1600" i="0" b="0">
                <a:solidFill>
                  <a:srgbClr val="E2E8F0"/>
                </a:solidFill>
                <a:latin typeface="Menlo"/>
              </a:rPr>
              <a:t>  output={ findings="Per question, cited" }</a:t>
            </a:r>
          </a:p>
          <a:p>
            <a:pPr algn="l">
              <a:lnSpc>
                <a:spcPct val="100000"/>
              </a:lnSpc>
            </a:pPr>
            <a:r>
              <a:rPr sz="1600" i="0" b="0">
                <a:solidFill>
                  <a:srgbClr val="E2E8F0"/>
                </a:solidFill>
                <a:latin typeface="Menlo"/>
              </a:rPr>
              <a:t>}</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Real:</a:t>
            </a:r>
            <a:r>
              <a:rPr sz="1800" i="0" b="0">
                <a:solidFill>
                  <a:srgbClr val="1E293B"/>
                </a:solidFill>
                <a:latin typeface="Helvetica Neue"/>
              </a:rPr>
              <a:t> explicit intent, inputs, steps and output improve consistency</a:t>
            </a:r>
          </a:p>
        </p:txBody>
      </p:sp>
      <p:sp>
        <p:nvSpPr>
          <p:cNvPr id="18" name="Rectangle 17"/>
          <p:cNvSpPr/>
          <p:nvPr/>
        </p:nvSpPr>
        <p:spPr>
          <a:xfrm>
            <a:off x="7580193" y="264718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1298448"/>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Oversold:</a:t>
            </a:r>
            <a:r>
              <a:rPr sz="1800" i="0" b="0">
                <a:solidFill>
                  <a:srgbClr val="1E293B"/>
                </a:solidFill>
                <a:latin typeface="Helvetica Neue"/>
              </a:rPr>
              <a:t> the syntax has no special power; markdown with the same four sections does as well</a:t>
            </a:r>
          </a:p>
        </p:txBody>
      </p:sp>
      <p:sp>
        <p:nvSpPr>
          <p:cNvPr id="20" name="Rectangle 19"/>
          <p:cNvSpPr/>
          <p:nvPr/>
        </p:nvSpPr>
        <p:spPr>
          <a:xfrm>
            <a:off x="7580193" y="399135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90448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Use it for procedures shared with non-engineers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A sub-agent buys a clean window at a real price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Isolation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Sub-agents suit genuinely parallel, separable work, and they should be passed the decisions as well as the task.</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Why it works</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sub-agent may burn </a:t>
            </a:r>
            <a:r>
              <a:rPr sz="1700" i="0" b="1">
                <a:solidFill>
                  <a:srgbClr val="1E293B"/>
                </a:solidFill>
                <a:latin typeface="Helvetica Neue"/>
              </a:rPr>
              <a:t>100k</a:t>
            </a:r>
            <a:r>
              <a:rPr sz="1700" i="0" b="0">
                <a:solidFill>
                  <a:srgbClr val="1E293B"/>
                </a:solidFill>
                <a:latin typeface="Helvetica Neue"/>
              </a:rPr>
              <a:t> exploring and return a </a:t>
            </a:r>
            <a:r>
              <a:rPr sz="1700" i="0" b="1">
                <a:solidFill>
                  <a:srgbClr val="1E293B"/>
                </a:solidFill>
                <a:latin typeface="Helvetica Neue"/>
              </a:rPr>
              <a:t>2k</a:t>
            </a:r>
            <a:r>
              <a:rPr sz="1700" i="0" b="0">
                <a:solidFill>
                  <a:srgbClr val="1E293B"/>
                </a:solidFill>
                <a:latin typeface="Helvetica Neue"/>
              </a:rPr>
              <a:t> summary</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sub-agent window is </a:t>
            </a:r>
            <a:r>
              <a:rPr sz="1700" i="0" b="1">
                <a:solidFill>
                  <a:srgbClr val="1E293B"/>
                </a:solidFill>
                <a:latin typeface="Helvetica Neue"/>
              </a:rPr>
              <a:t>discarded</a:t>
            </a:r>
            <a:r>
              <a:rPr sz="1700" i="0" b="0">
                <a:solidFill>
                  <a:srgbClr val="1E293B"/>
                </a:solidFill>
                <a:latin typeface="Helvetica Neue"/>
              </a:rPr>
              <a:t>, not merged</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t>
            </a:r>
            <a:r>
              <a:rPr sz="1700" i="0" b="1">
                <a:solidFill>
                  <a:srgbClr val="1E293B"/>
                </a:solidFill>
                <a:latin typeface="Helvetica Neue"/>
              </a:rPr>
              <a:t>orchestrator holds the plan</a:t>
            </a:r>
            <a:r>
              <a:rPr sz="1700" i="0" b="0">
                <a:solidFill>
                  <a:srgbClr val="1E293B"/>
                </a:solidFill>
                <a:latin typeface="Helvetica Neue"/>
              </a:rPr>
              <a:t>; workers get a bounded task and a return shape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Clean windows for synthesis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it costs</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Lost shared context; duplicated or contradictory work</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summary is lossy: what it omits is gone</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Three at 80k each: </a:t>
            </a:r>
            <a:r>
              <a:rPr sz="1700" i="0" b="1">
                <a:solidFill>
                  <a:srgbClr val="1E293B"/>
                </a:solidFill>
                <a:latin typeface="Helvetica Neue"/>
              </a:rPr>
              <a:t>240k</a:t>
            </a:r>
            <a:r>
              <a:rPr sz="1700" i="0" b="0">
                <a:solidFill>
                  <a:srgbClr val="1E293B"/>
                </a:solidFill>
                <a:latin typeface="Helvetica Neue"/>
              </a:rPr>
              <a:t> real tokens for 6k visible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Try Compress before Isolate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Tool descriptions and results are context too</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Tools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What shrinks and what splits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Tool descriptions are resident on every call, and results should return what the agent needs to decide, with structured errors.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Bad (~45 tokens)</a:t>
            </a:r>
          </a:p>
        </p:txBody>
      </p:sp>
      <p:sp>
        <p:nvSpPr>
          <p:cNvPr id="16" name="Rounded Rectangle 15"/>
          <p:cNvSpPr/>
          <p:nvPr/>
        </p:nvSpPr>
        <p:spPr>
          <a:xfrm>
            <a:off x="731520" y="2231136"/>
            <a:ext cx="4907127" cy="22098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459736"/>
            <a:ext cx="4449927" cy="175259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a:t>
            </a:r>
          </a:p>
          <a:p>
            <a:pPr algn="l">
              <a:lnSpc>
                <a:spcPct val="100000"/>
              </a:lnSpc>
            </a:pPr>
            <a:r>
              <a:rPr sz="1400" i="0" b="0">
                <a:solidFill>
                  <a:srgbClr val="E2E8F0"/>
                </a:solidFill>
                <a:latin typeface="Menlo"/>
              </a:rPr>
              <a:t>  This skill handles the complete</a:t>
            </a:r>
          </a:p>
          <a:p>
            <a:pPr algn="l">
              <a:lnSpc>
                <a:spcPct val="100000"/>
              </a:lnSpc>
            </a:pPr>
            <a:r>
              <a:rPr sz="1400" i="0" b="0">
                <a:solidFill>
                  <a:srgbClr val="E2E8F0"/>
                </a:solidFill>
                <a:latin typeface="Menlo"/>
              </a:rPr>
              <a:t>  deployment process to production.</a:t>
            </a:r>
          </a:p>
          <a:p>
            <a:pPr algn="l">
              <a:lnSpc>
                <a:spcPct val="100000"/>
              </a:lnSpc>
            </a:pPr>
            <a:r>
              <a:rPr sz="1400" i="0" b="0">
                <a:solidFill>
                  <a:srgbClr val="E2E8F0"/>
                </a:solidFill>
                <a:latin typeface="Menlo"/>
              </a:rPr>
              <a:t>  It covers environment checks,</a:t>
            </a:r>
          </a:p>
          <a:p>
            <a:pPr algn="l">
              <a:lnSpc>
                <a:spcPct val="100000"/>
              </a:lnSpc>
            </a:pPr>
            <a:r>
              <a:rPr sz="1400" i="0" b="0">
                <a:solidFill>
                  <a:srgbClr val="E2E8F0"/>
                </a:solidFill>
                <a:latin typeface="Menlo"/>
              </a:rPr>
              <a:t>  rollback procedures, and post-</a:t>
            </a:r>
          </a:p>
          <a:p>
            <a:pPr algn="l">
              <a:lnSpc>
                <a:spcPct val="100000"/>
              </a:lnSpc>
            </a:pPr>
            <a:r>
              <a:rPr sz="1400" i="0" b="0">
                <a:solidFill>
                  <a:srgbClr val="E2E8F0"/>
                </a:solidFill>
                <a:latin typeface="Menlo"/>
              </a:rPr>
              <a:t>  deploy verification. Use this</a:t>
            </a:r>
          </a:p>
          <a:p>
            <a:pPr algn="l">
              <a:lnSpc>
                <a:spcPct val="100000"/>
              </a:lnSpc>
            </a:pPr>
            <a:r>
              <a:rPr sz="1400" i="0" b="0">
                <a:solidFill>
                  <a:srgbClr val="E2E8F0"/>
                </a:solidFill>
                <a:latin typeface="Menlo"/>
              </a:rPr>
              <a:t>  before deploying any code to</a:t>
            </a:r>
          </a:p>
          <a:p>
            <a:pPr algn="l">
              <a:lnSpc>
                <a:spcPct val="100000"/>
              </a:lnSpc>
            </a:pPr>
            <a:r>
              <a:rPr sz="1400" i="0" b="0">
                <a:solidFill>
                  <a:srgbClr val="E2E8F0"/>
                </a:solidFill>
                <a:latin typeface="Menlo"/>
              </a:rPr>
              <a:t>  production.</a:t>
            </a:r>
          </a:p>
        </p:txBody>
      </p:sp>
      <p:sp>
        <p:nvSpPr>
          <p:cNvPr id="18" name="Rectangle 17"/>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Good (~9 tokens)</a:t>
            </a:r>
          </a:p>
        </p:txBody>
      </p:sp>
      <p:sp>
        <p:nvSpPr>
          <p:cNvPr id="21" name="Rounded Rectangle 20"/>
          <p:cNvSpPr/>
          <p:nvPr/>
        </p:nvSpPr>
        <p:spPr>
          <a:xfrm>
            <a:off x="6507327" y="2231136"/>
            <a:ext cx="4907127" cy="9296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5927" y="2459736"/>
            <a:ext cx="4449927" cy="47243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Use when deploying to</a:t>
            </a:r>
          </a:p>
          <a:p>
            <a:pPr algn="l">
              <a:lnSpc>
                <a:spcPct val="100000"/>
              </a:lnSpc>
            </a:pPr>
            <a:r>
              <a:rPr sz="1400" i="0" b="0">
                <a:solidFill>
                  <a:srgbClr val="E2E8F0"/>
                </a:solidFill>
                <a:latin typeface="Menlo"/>
              </a:rPr>
              <a:t>  production or rolling back.</a:t>
            </a:r>
          </a:p>
        </p:txBody>
      </p:sp>
      <p:sp>
        <p:nvSpPr>
          <p:cNvPr id="23" name="Rectangle 2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Plus: when not to use it, and what instead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When it still goes wrong</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Five failures · Diagnose in the window · Measure · Climb only when you must</a:t>
            </a:r>
          </a:p>
        </p:txBody>
      </p:sp>
      <p:cxnSp>
        <p:nvCxnSpPr>
          <p:cNvPr id="6" name="Connector 5"/>
          <p:cNvCxnSpPr/>
          <p:nvPr/>
        </p:nvCxnSpPr>
        <p:spPr>
          <a:xfrm>
            <a:off x="6446520" y="1153160"/>
            <a:ext cx="0" cy="45516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53160"/>
            <a:ext cx="4693615" cy="473456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A wrong answer is rarely the model's fault</a:t>
            </a:r>
          </a:p>
          <a:p>
            <a:pPr algn="l">
              <a:lnSpc>
                <a:spcPct val="100000"/>
              </a:lnSpc>
              <a:spcBef>
                <a:spcPts val="1120"/>
              </a:spcBef>
            </a:pPr>
            <a:r>
              <a:rPr sz="1600" i="0" b="0">
                <a:solidFill>
                  <a:srgbClr val="CBD5E1"/>
                </a:solidFill>
                <a:latin typeface="Helvetica Neue"/>
              </a:rPr>
              <a:t>Five failures with five different fixes</a:t>
            </a:r>
          </a:p>
          <a:p>
            <a:pPr algn="l">
              <a:lnSpc>
                <a:spcPct val="100000"/>
              </a:lnSpc>
              <a:spcBef>
                <a:spcPts val="1120"/>
              </a:spcBef>
            </a:pPr>
            <a:r>
              <a:rPr sz="1600" i="0" b="0">
                <a:solidFill>
                  <a:srgbClr val="CBD5E1"/>
                </a:solidFill>
                <a:latin typeface="Helvetica Neue"/>
              </a:rPr>
              <a:t>Diagnose in this order, and do not skip step five</a:t>
            </a:r>
          </a:p>
          <a:p>
            <a:pPr algn="l">
              <a:lnSpc>
                <a:spcPct val="100000"/>
              </a:lnSpc>
              <a:spcBef>
                <a:spcPts val="1120"/>
              </a:spcBef>
            </a:pPr>
            <a:r>
              <a:rPr sz="1600" i="0" b="0">
                <a:solidFill>
                  <a:srgbClr val="CBD5E1"/>
                </a:solidFill>
                <a:latin typeface="Helvetica Neue"/>
              </a:rPr>
              <a:t>Layer injection defenses, because only code is a guarantee</a:t>
            </a:r>
          </a:p>
          <a:p>
            <a:pPr algn="l">
              <a:lnSpc>
                <a:spcPct val="100000"/>
              </a:lnSpc>
              <a:spcBef>
                <a:spcPts val="1120"/>
              </a:spcBef>
            </a:pPr>
            <a:r>
              <a:rPr sz="1600" i="0" b="0">
                <a:solidFill>
                  <a:srgbClr val="CBD5E1"/>
                </a:solidFill>
                <a:latin typeface="Helvetica Neue"/>
              </a:rPr>
              <a:t>Instrument each stage, so a failure has an address</a:t>
            </a:r>
          </a:p>
          <a:p>
            <a:pPr algn="l">
              <a:lnSpc>
                <a:spcPct val="100000"/>
              </a:lnSpc>
              <a:spcBef>
                <a:spcPts val="1120"/>
              </a:spcBef>
            </a:pPr>
            <a:r>
              <a:rPr sz="1600" i="0" b="0">
                <a:solidFill>
                  <a:srgbClr val="CBD5E1"/>
                </a:solidFill>
                <a:latin typeface="Helvetica Neue"/>
              </a:rPr>
              <a:t>Ablation settles what stays in the window</a:t>
            </a:r>
          </a:p>
          <a:p>
            <a:pPr algn="l">
              <a:lnSpc>
                <a:spcPct val="100000"/>
              </a:lnSpc>
              <a:spcBef>
                <a:spcPts val="1120"/>
              </a:spcBef>
            </a:pPr>
            <a:r>
              <a:rPr sz="1600" i="0" b="0">
                <a:solidFill>
                  <a:srgbClr val="CBD5E1"/>
                </a:solidFill>
                <a:latin typeface="Helvetica Neue"/>
              </a:rPr>
              <a:t>Climb the maturity ladder only when you must</a:t>
            </a:r>
          </a:p>
          <a:p>
            <a:pPr algn="l">
              <a:lnSpc>
                <a:spcPct val="100000"/>
              </a:lnSpc>
              <a:spcBef>
                <a:spcPts val="1120"/>
              </a:spcBef>
            </a:pPr>
            <a:r>
              <a:rPr sz="1600" i="0" b="0">
                <a:solidFill>
                  <a:srgbClr val="CBD5E1"/>
                </a:solidFill>
                <a:latin typeface="Helvetica Neue"/>
              </a:rPr>
              <a:t>Design a context system in this order of questions</a:t>
            </a:r>
          </a:p>
          <a:p>
            <a:pPr algn="l">
              <a:lnSpc>
                <a:spcPct val="100000"/>
              </a:lnSpc>
              <a:spcBef>
                <a:spcPts val="1120"/>
              </a:spcBef>
            </a:pPr>
            <a:r>
              <a:rPr sz="1600" i="0" b="0">
                <a:solidFill>
                  <a:srgbClr val="CBD5E1"/>
                </a:solidFill>
                <a:latin typeface="Helvetica Neue"/>
              </a:rPr>
              <a:t>Treat the "field theory" of context as metaphor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A wrong answer is rarely the model's fault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Teams routinely misdiagnose context failures as a weak model, so inspect what was actually sent before changing anything.</a:t>
            </a:r>
          </a:p>
        </p:txBody>
      </p:sp>
      <p:sp>
        <p:nvSpPr>
          <p:cNvPr id="13" name="Rectangle 12"/>
          <p:cNvSpPr/>
          <p:nvPr/>
        </p:nvSpPr>
        <p:spPr>
          <a:xfrm>
            <a:off x="777240" y="2299716"/>
            <a:ext cx="109728" cy="23591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The agent reports a founder's old job. The reflex is to swap the model. Print the window first.</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Most context bugs are assembly bugs (notes/11)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failures with five different fixes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taxonomy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Rot, poisoning, distraction, clash and injection have distinct causes and fixes, yet get misdiagnosed as each other.</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013453"/>
                <a:gridCol w="4474342"/>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Mechanism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Signature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Rot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Occupancy grows and recall degrades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Right earlier, wrong later; facts present but unused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Poisoning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false statement is treated as ground truth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Confidently builds on something wrong</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Distraction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Marginal content crowds out signal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an adjacent question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Clash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Two contradictory pieces coexist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Inconsistent answers; arbitrary resolution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Injection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Adversarial instructions arrive as data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Follows instructions the operator never gave</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Diagnose in this order, and do not skip step five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diagnostic</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Rerunning the task with minimal context is the step that separates a context problem from a prompt or capability problem.</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Print the actual window</a:t>
            </a:r>
            <a:r>
              <a:rPr sz="1800" i="0" b="0">
                <a:solidFill>
                  <a:srgbClr val="475569"/>
                </a:solidFill>
                <a:latin typeface="Helvetica Neue"/>
              </a:rPr>
              <a:t> — what was sent, not what you think you assembled</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occupancy</a:t>
            </a:r>
            <a:r>
              <a:rPr sz="1800" i="0" b="0">
                <a:solidFill>
                  <a:srgbClr val="475569"/>
                </a:solidFill>
                <a:latin typeface="Helvetica Neue"/>
              </a:rPr>
              <a:t> — above about 50%, suspect rot and distraction first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Search for contradictions</a:t>
            </a:r>
            <a:r>
              <a:rPr sz="1800" i="0" b="0">
                <a:solidFill>
                  <a:srgbClr val="475569"/>
                </a:solidFill>
                <a:latin typeface="Helvetica Neue"/>
              </a:rPr>
              <a:t> — the wrong claim appears with two values, so clash</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provenance</a:t>
            </a:r>
            <a:r>
              <a:rPr sz="1800" i="0" b="0">
                <a:solidFill>
                  <a:srgbClr val="475569"/>
                </a:solidFill>
                <a:latin typeface="Helvetica Neue"/>
              </a:rPr>
              <a:t> — no legitimate source for the wrong fact, so poisoning or injection</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Test in isolation</a:t>
            </a:r>
            <a:r>
              <a:rPr sz="1800" i="0" b="0">
                <a:solidFill>
                  <a:srgbClr val="475569"/>
                </a:solidFill>
                <a:latin typeface="Helvetica Neue"/>
              </a:rPr>
              <a:t> — same task, minimal context. Works: a context problem. Fails: prompt or capability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Layer injection defenses, because only code is a guarantee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Injection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Every context-level defense against injection is probabilistic, and only code-level controls are guarantees.</a:t>
            </a:r>
          </a:p>
        </p:txBody>
      </p:sp>
      <p:sp>
        <p:nvSpPr>
          <p:cNvPr id="13" name="Rectangle 12"/>
          <p:cNvSpPr/>
          <p:nvPr/>
        </p:nvSpPr>
        <p:spPr>
          <a:xfrm>
            <a:off x="1645920" y="147218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532382"/>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1</a:t>
            </a:r>
          </a:p>
        </p:txBody>
      </p:sp>
      <p:sp>
        <p:nvSpPr>
          <p:cNvPr id="16" name="TextBox 15"/>
          <p:cNvSpPr txBox="1"/>
          <p:nvPr/>
        </p:nvSpPr>
        <p:spPr>
          <a:xfrm>
            <a:off x="2468879" y="1472184"/>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Structural delimiting</a:t>
            </a:r>
            <a:r>
              <a:rPr sz="1600" i="0" b="0">
                <a:solidFill>
                  <a:srgbClr val="475569"/>
                </a:solidFill>
                <a:latin typeface="Helvetica Neue"/>
              </a:rPr>
              <a:t> — untrusted content in tags; it is data, never instructions</a:t>
            </a:r>
          </a:p>
        </p:txBody>
      </p:sp>
      <p:sp>
        <p:nvSpPr>
          <p:cNvPr id="17" name="Rectangle 16"/>
          <p:cNvSpPr/>
          <p:nvPr/>
        </p:nvSpPr>
        <p:spPr>
          <a:xfrm>
            <a:off x="1645920" y="2159508"/>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219706"/>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2</a:t>
            </a:r>
          </a:p>
        </p:txBody>
      </p:sp>
      <p:sp>
        <p:nvSpPr>
          <p:cNvPr id="20" name="TextBox 19"/>
          <p:cNvSpPr txBox="1"/>
          <p:nvPr/>
        </p:nvSpPr>
        <p:spPr>
          <a:xfrm>
            <a:off x="2468879" y="2159508"/>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Trust zones</a:t>
            </a:r>
            <a:r>
              <a:rPr sz="1600" i="0" b="0">
                <a:solidFill>
                  <a:srgbClr val="475569"/>
                </a:solidFill>
                <a:latin typeface="Helvetica Neue"/>
              </a:rPr>
              <a:t> — never promote a zone implicitly</a:t>
            </a:r>
          </a:p>
        </p:txBody>
      </p:sp>
      <p:sp>
        <p:nvSpPr>
          <p:cNvPr id="21" name="Rectangle 20"/>
          <p:cNvSpPr/>
          <p:nvPr/>
        </p:nvSpPr>
        <p:spPr>
          <a:xfrm>
            <a:off x="1645920" y="2846832"/>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2907030"/>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3</a:t>
            </a:r>
          </a:p>
        </p:txBody>
      </p:sp>
      <p:sp>
        <p:nvSpPr>
          <p:cNvPr id="24" name="TextBox 23"/>
          <p:cNvSpPr txBox="1"/>
          <p:nvPr/>
        </p:nvSpPr>
        <p:spPr>
          <a:xfrm>
            <a:off x="2468879" y="2846832"/>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Instruction hierarchy</a:t>
            </a:r>
            <a:r>
              <a:rPr sz="1600" i="0" b="0">
                <a:solidFill>
                  <a:srgbClr val="475569"/>
                </a:solidFill>
                <a:latin typeface="Helvetica Neue"/>
              </a:rPr>
              <a:t> — the system prompt outranks retrieved content</a:t>
            </a:r>
          </a:p>
        </p:txBody>
      </p:sp>
      <p:sp>
        <p:nvSpPr>
          <p:cNvPr id="25" name="Rectangle 24"/>
          <p:cNvSpPr/>
          <p:nvPr/>
        </p:nvSpPr>
        <p:spPr>
          <a:xfrm>
            <a:off x="1645920" y="3534156"/>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594354"/>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4</a:t>
            </a:r>
          </a:p>
        </p:txBody>
      </p:sp>
      <p:sp>
        <p:nvSpPr>
          <p:cNvPr id="28" name="TextBox 27"/>
          <p:cNvSpPr txBox="1"/>
          <p:nvPr/>
        </p:nvSpPr>
        <p:spPr>
          <a:xfrm>
            <a:off x="2468879" y="3534156"/>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Isolation</a:t>
            </a:r>
            <a:r>
              <a:rPr sz="1600" i="0" b="0">
                <a:solidFill>
                  <a:srgbClr val="475569"/>
                </a:solidFill>
                <a:latin typeface="Helvetica Neue"/>
              </a:rPr>
              <a:t> — untrusted content in a discarded sub-agent window</a:t>
            </a:r>
          </a:p>
        </p:txBody>
      </p:sp>
      <p:sp>
        <p:nvSpPr>
          <p:cNvPr id="29" name="Rectangle 28"/>
          <p:cNvSpPr/>
          <p:nvPr/>
        </p:nvSpPr>
        <p:spPr>
          <a:xfrm>
            <a:off x="1645920" y="4221480"/>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281677"/>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5</a:t>
            </a:r>
          </a:p>
        </p:txBody>
      </p:sp>
      <p:sp>
        <p:nvSpPr>
          <p:cNvPr id="32" name="TextBox 31"/>
          <p:cNvSpPr txBox="1"/>
          <p:nvPr/>
        </p:nvSpPr>
        <p:spPr>
          <a:xfrm>
            <a:off x="2468879" y="4221480"/>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Code-level enforcement</a:t>
            </a:r>
            <a:r>
              <a:rPr sz="1600" i="0" b="0">
                <a:solidFill>
                  <a:srgbClr val="475569"/>
                </a:solidFill>
                <a:latin typeface="Helvetica Neue"/>
              </a:rPr>
              <a:t> — a permission hook cannot be talked out of denying a write</a:t>
            </a:r>
          </a:p>
        </p:txBody>
      </p:sp>
      <p:sp>
        <p:nvSpPr>
          <p:cNvPr id="33" name="Rectangle 32"/>
          <p:cNvSpPr/>
          <p:nvPr/>
        </p:nvSpPr>
        <p:spPr>
          <a:xfrm>
            <a:off x="1645920" y="490880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10512" y="496900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10512" y="4969001"/>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6</a:t>
            </a:r>
          </a:p>
        </p:txBody>
      </p:sp>
      <p:sp>
        <p:nvSpPr>
          <p:cNvPr id="36" name="TextBox 35"/>
          <p:cNvSpPr txBox="1"/>
          <p:nvPr/>
        </p:nvSpPr>
        <p:spPr>
          <a:xfrm>
            <a:off x="2468879" y="4908804"/>
            <a:ext cx="9037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Egress control</a:t>
            </a:r>
            <a:r>
              <a:rPr sz="1600" i="0" b="0">
                <a:solidFill>
                  <a:srgbClr val="475569"/>
                </a:solidFill>
                <a:latin typeface="Helvetica Neue"/>
              </a:rPr>
              <a:t> — allowlists, confirmation gates, no credentials in reachable context</a:t>
            </a:r>
          </a:p>
        </p:txBody>
      </p:sp>
      <p:sp>
        <p:nvSpPr>
          <p:cNvPr id="37" name="TextBox 36"/>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probabilistic</a:t>
            </a:r>
          </a:p>
        </p:txBody>
      </p:sp>
      <p:sp>
        <p:nvSpPr>
          <p:cNvPr id="38" name="TextBox 37"/>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guaranteed</a:t>
            </a:r>
          </a:p>
        </p:txBody>
      </p:sp>
      <p:cxnSp>
        <p:nvCxnSpPr>
          <p:cNvPr id="39" name="Connector 38"/>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Instrument each stage, so a failure has an address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context eval asks whether the fact existed, was retrieved, survived and was used, so each failure points at one stage.</a:t>
            </a:r>
          </a:p>
        </p:txBody>
      </p:sp>
      <p:sp>
        <p:nvSpPr>
          <p:cNvPr id="13" name="Rounded Rectangle 12"/>
          <p:cNvSpPr/>
          <p:nvPr/>
        </p:nvSpPr>
        <p:spPr>
          <a:xfrm>
            <a:off x="586587" y="1563624"/>
            <a:ext cx="2377440"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74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Exists?</a:t>
            </a:r>
          </a:p>
          <a:p>
            <a:pPr algn="ctr">
              <a:lnSpc>
                <a:spcPct val="110000"/>
              </a:lnSpc>
            </a:pPr>
            <a:r>
              <a:rPr sz="1300" i="0" b="0">
                <a:solidFill>
                  <a:srgbClr val="E8F4F8"/>
                </a:solidFill>
                <a:latin typeface="Helvetica Neue"/>
              </a:rPr>
              <a:t>corpus</a:t>
            </a:r>
          </a:p>
        </p:txBody>
      </p:sp>
      <p:cxnSp>
        <p:nvCxnSpPr>
          <p:cNvPr id="15" name="Connector 14"/>
          <p:cNvCxnSpPr/>
          <p:nvPr/>
        </p:nvCxnSpPr>
        <p:spPr>
          <a:xfrm>
            <a:off x="301889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66947" y="1563624"/>
            <a:ext cx="2377440"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410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Retrieved?</a:t>
            </a:r>
          </a:p>
          <a:p>
            <a:pPr algn="ctr">
              <a:lnSpc>
                <a:spcPct val="110000"/>
              </a:lnSpc>
            </a:pPr>
            <a:r>
              <a:rPr sz="1300" i="0" b="0">
                <a:solidFill>
                  <a:srgbClr val="E8F4F8"/>
                </a:solidFill>
                <a:latin typeface="Helvetica Neue"/>
              </a:rPr>
              <a:t>select</a:t>
            </a:r>
          </a:p>
        </p:txBody>
      </p:sp>
      <p:cxnSp>
        <p:nvCxnSpPr>
          <p:cNvPr id="18" name="Connector 17"/>
          <p:cNvCxnSpPr/>
          <p:nvPr/>
        </p:nvCxnSpPr>
        <p:spPr>
          <a:xfrm>
            <a:off x="589925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347307" y="1563624"/>
            <a:ext cx="2377440" cy="98755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446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Survived?</a:t>
            </a:r>
          </a:p>
          <a:p>
            <a:pPr algn="ctr">
              <a:lnSpc>
                <a:spcPct val="110000"/>
              </a:lnSpc>
            </a:pPr>
            <a:r>
              <a:rPr sz="1300" i="0" b="0">
                <a:solidFill>
                  <a:srgbClr val="E8F4F8"/>
                </a:solidFill>
                <a:latin typeface="Helvetica Neue"/>
              </a:rPr>
              <a:t>budget, compaction</a:t>
            </a:r>
          </a:p>
        </p:txBody>
      </p:sp>
      <p:cxnSp>
        <p:nvCxnSpPr>
          <p:cNvPr id="21" name="Connector 20"/>
          <p:cNvCxnSpPr/>
          <p:nvPr/>
        </p:nvCxnSpPr>
        <p:spPr>
          <a:xfrm>
            <a:off x="877961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227667" y="1563624"/>
            <a:ext cx="2377440"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6482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Used?</a:t>
            </a:r>
          </a:p>
          <a:p>
            <a:pPr algn="ctr">
              <a:lnSpc>
                <a:spcPct val="110000"/>
              </a:lnSpc>
            </a:pPr>
            <a:r>
              <a:rPr sz="1300" i="0" b="0">
                <a:solidFill>
                  <a:srgbClr val="E8F4F8"/>
                </a:solidFill>
                <a:latin typeface="Helvetica Neue"/>
              </a:rPr>
              <a:t>faithfulness</a:t>
            </a:r>
          </a:p>
        </p:txBody>
      </p:sp>
      <p:sp>
        <p:nvSpPr>
          <p:cNvPr id="24" name="Rectangle 23"/>
          <p:cNvSpPr/>
          <p:nvPr/>
        </p:nvSpPr>
        <p:spPr>
          <a:xfrm>
            <a:off x="502920" y="296291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87121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Select:</a:t>
            </a:r>
            <a:r>
              <a:rPr sz="1900" i="0" b="0">
                <a:solidFill>
                  <a:srgbClr val="1E293B"/>
                </a:solidFill>
                <a:latin typeface="Helvetica Neue"/>
              </a:rPr>
              <a:t> recall@k, precision@k, MRR</a:t>
            </a:r>
          </a:p>
        </p:txBody>
      </p:sp>
      <p:sp>
        <p:nvSpPr>
          <p:cNvPr id="26" name="Rectangle 25"/>
          <p:cNvSpPr/>
          <p:nvPr/>
        </p:nvSpPr>
        <p:spPr>
          <a:xfrm>
            <a:off x="502920" y="342620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334512"/>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Use:</a:t>
            </a:r>
            <a:r>
              <a:rPr sz="1900" i="0" b="0">
                <a:solidFill>
                  <a:srgbClr val="1E293B"/>
                </a:solidFill>
                <a:latin typeface="Helvetica Neue"/>
              </a:rPr>
              <a:t> faithfulness, citation accuracy. Faithful does not mean correct</a:t>
            </a:r>
          </a:p>
        </p:txBody>
      </p:sp>
      <p:sp>
        <p:nvSpPr>
          <p:cNvPr id="28" name="Rectangle 27"/>
          <p:cNvSpPr/>
          <p:nvPr/>
        </p:nvSpPr>
        <p:spPr>
          <a:xfrm>
            <a:off x="502920" y="3889501"/>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79780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Compress:</a:t>
            </a:r>
            <a:r>
              <a:rPr sz="1900" i="0" b="0">
                <a:solidFill>
                  <a:srgbClr val="1E293B"/>
                </a:solidFill>
                <a:latin typeface="Helvetica Neue"/>
              </a:rPr>
              <a:t> plant N facts, compact, ask for each</a:t>
            </a:r>
          </a:p>
        </p:txBody>
      </p:sp>
      <p:sp>
        <p:nvSpPr>
          <p:cNvPr id="30" name="Rectangle 29"/>
          <p:cNvSpPr/>
          <p:nvPr/>
        </p:nvSpPr>
        <p:spPr>
          <a:xfrm>
            <a:off x="502920" y="4352798"/>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26110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Long context:</a:t>
            </a:r>
            <a:r>
              <a:rPr sz="1900" i="0" b="0">
                <a:solidFill>
                  <a:srgbClr val="1E293B"/>
                </a:solidFill>
                <a:latin typeface="Helvetica Neue"/>
              </a:rPr>
              <a:t> length sweep at 10/25/50/75%; the knee is your budget</a:t>
            </a:r>
          </a:p>
        </p:txBody>
      </p:sp>
      <p:sp>
        <p:nvSpPr>
          <p:cNvPr id="32" name="Rectangle 31"/>
          <p:cNvSpPr/>
          <p:nvPr/>
        </p:nvSpPr>
        <p:spPr>
          <a:xfrm>
            <a:off x="502920" y="4816094"/>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24400"/>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Cost:</a:t>
            </a:r>
            <a:r>
              <a:rPr sz="1900" i="0" b="0">
                <a:solidFill>
                  <a:srgbClr val="1E293B"/>
                </a:solidFill>
                <a:latin typeface="Helvetica Neue"/>
              </a:rPr>
              <a:t> tokens per successful task, next to accuracy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Ablation settles what stays in the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Removing one component while holding the rest fixed shows whether to cut it, compress it or protect it from compaction.</a:t>
            </a:r>
          </a:p>
        </p:txBody>
      </p:sp>
      <p:sp>
        <p:nvSpPr>
          <p:cNvPr id="13" name="Rounded Rectangle 12"/>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for component in window:</a:t>
            </a:r>
          </a:p>
          <a:p>
            <a:pPr algn="l">
              <a:lnSpc>
                <a:spcPct val="100000"/>
              </a:lnSpc>
            </a:pPr>
            <a:r>
              <a:rPr sz="1600" i="0" b="0">
                <a:solidFill>
                  <a:srgbClr val="E2E8F0"/>
                </a:solidFill>
                <a:latin typeface="Menlo"/>
              </a:rPr>
              <a:t>    remove component, hold the rest fixed</a:t>
            </a:r>
          </a:p>
          <a:p>
            <a:pPr algn="l">
              <a:lnSpc>
                <a:spcPct val="100000"/>
              </a:lnSpc>
            </a:pPr>
            <a:r>
              <a:rPr sz="1600" i="0" b="0">
                <a:solidFill>
                  <a:srgbClr val="E2E8F0"/>
                </a:solidFill>
                <a:latin typeface="Menlo"/>
              </a:rPr>
              <a:t>    re-run the eval set</a:t>
            </a:r>
          </a:p>
          <a:p>
            <a:pPr algn="l">
              <a:lnSpc>
                <a:spcPct val="100000"/>
              </a:lnSpc>
            </a:pPr>
            <a:r>
              <a:rPr sz="1600" i="0" b="0">
                <a:solidFill>
                  <a:srgbClr val="E2E8F0"/>
                </a:solidFill>
                <a:latin typeface="Menlo"/>
              </a:rPr>
              <a:t>    record change in quality and in tokens</a:t>
            </a:r>
          </a:p>
          <a:p>
            <a:pPr algn="l">
              <a:lnSpc>
                <a:spcPct val="100000"/>
              </a:lnSpc>
            </a:pPr>
          </a:p>
          <a:p>
            <a:pPr algn="l">
              <a:lnSpc>
                <a:spcPct val="100000"/>
              </a:lnSpc>
            </a:pPr>
            <a:r>
              <a:rPr sz="1600" i="0" b="0">
                <a:solidFill>
                  <a:srgbClr val="E2E8F0"/>
                </a:solidFill>
                <a:latin typeface="Menlo"/>
              </a:rPr>
              <a:t>no change,  big saving -&gt; cut it</a:t>
            </a:r>
          </a:p>
          <a:p>
            <a:pPr algn="l">
              <a:lnSpc>
                <a:spcPct val="100000"/>
              </a:lnSpc>
            </a:pPr>
            <a:r>
              <a:rPr sz="1600" i="0" b="0">
                <a:solidFill>
                  <a:srgbClr val="E2E8F0"/>
                </a:solidFill>
                <a:latin typeface="Menlo"/>
              </a:rPr>
              <a:t>small drop, big saving -&gt; compress it</a:t>
            </a:r>
          </a:p>
          <a:p>
            <a:pPr algn="l">
              <a:lnSpc>
                <a:spcPct val="100000"/>
              </a:lnSpc>
            </a:pPr>
            <a:r>
              <a:rPr sz="1600" i="0" b="0">
                <a:solidFill>
                  <a:srgbClr val="E2E8F0"/>
                </a:solidFill>
                <a:latin typeface="Menlo"/>
              </a:rPr>
              <a:t>large drop, any        -&gt; keep and pin it</a:t>
            </a:r>
          </a:p>
        </p:txBody>
      </p:sp>
      <p:sp>
        <p:nvSpPr>
          <p:cNvPr id="16" name="Rectangle 15"/>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Components: prompt section, memory block, retrieved set, tool definitions</a:t>
            </a:r>
          </a:p>
        </p:txBody>
      </p:sp>
      <p:sp>
        <p:nvSpPr>
          <p:cNvPr id="18" name="Rectangle 17"/>
          <p:cNvSpPr/>
          <p:nvPr/>
        </p:nvSpPr>
        <p:spPr>
          <a:xfrm>
            <a:off x="7580193" y="264718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Ablation sets the budget by evidence rather than habit</a:t>
            </a:r>
          </a:p>
        </p:txBody>
      </p:sp>
      <p:sp>
        <p:nvSpPr>
          <p:cNvPr id="20" name="Rectangle 19"/>
          <p:cNvSpPr/>
          <p:nvPr/>
        </p:nvSpPr>
        <p:spPr>
          <a:xfrm>
            <a:off x="7580193" y="33878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production context bug becomes a regression case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Climb the maturity ladder only when you must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How much machinery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Most production failures at level 4 are level-2 problems, and each rung multiplies cost and failure modes.</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6040361"/>
                <a:gridCol w="2460888"/>
              </a:tblGrid>
              <a:tr h="405384">
                <a:tc>
                  <a:txBody>
                    <a:bodyPr wrap="square"/>
                    <a:lstStyle/>
                    <a:p>
                      <a:pPr>
                        <a:lnSpc>
                          <a:spcPct val="100000"/>
                        </a:lnSpc>
                      </a:pPr>
                      <a:r>
                        <a:rPr sz="1700" i="0" b="1">
                          <a:solidFill>
                            <a:srgbClr val="FFFFFF"/>
                          </a:solidFill>
                          <a:latin typeface="Helvetica Neue"/>
                        </a:rPr>
                        <a:t>Level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is in the window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Chapters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Atom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Task, constraints, output format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02</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Molecule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Plus examples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02, 03</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Cell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Plus memory across turns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05, 06</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4 Organ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Specialized contexts under an orchestrator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Cognitive system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Plus reasoning tools, schemas, verification loops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07, 08</a:t>
                      </a:r>
                    </a:p>
                  </a:txBody>
                  <a:tcPr marL="109728" marR="109728" marT="54864" marB="54864" anchor="ctr">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Design a context system in this order of questions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Start from the eval set and the smallest workable window, then add machinery only for something the model demonstrably lacks.</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does success look like?</a:t>
            </a:r>
            <a:r>
              <a:rPr sz="1600" i="0" b="0">
                <a:solidFill>
                  <a:srgbClr val="475569"/>
                </a:solidFill>
                <a:latin typeface="Helvetica Neue"/>
              </a:rPr>
              <a:t> — build the eval set first</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is the smallest window that could work?</a:t>
            </a:r>
            <a:r>
              <a:rPr sz="1600" i="0" b="0">
                <a:solidFill>
                  <a:srgbClr val="475569"/>
                </a:solidFill>
                <a:latin typeface="Helvetica Neue"/>
              </a:rPr>
              <a:t> — start at level 1 or 2</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does the model lack?</a:t>
            </a:r>
            <a:r>
              <a:rPr sz="1600" i="0" b="0">
                <a:solidFill>
                  <a:srgbClr val="475569"/>
                </a:solidFill>
                <a:latin typeface="Helvetica Neue"/>
              </a:rPr>
              <a:t> — facts: retrieval. Continuity: memory. Method: cognitive tools</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grows?</a:t>
            </a:r>
            <a:r>
              <a:rPr sz="1600" i="0" b="0">
                <a:solidFill>
                  <a:srgbClr val="475569"/>
                </a:solidFill>
                <a:latin typeface="Helvetica Neue"/>
              </a:rPr>
              <a:t> — a ceiling and a compaction rule for each</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can live outside the window?</a:t>
            </a:r>
            <a:r>
              <a:rPr sz="1600" i="0" b="0">
                <a:solidFill>
                  <a:srgbClr val="475569"/>
                </a:solidFill>
                <a:latin typeface="Helvetica Neue"/>
              </a:rPr>
              <a:t> — write before select, select before compress, isolate last</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What can go wrong?</a:t>
            </a:r>
            <a:r>
              <a:rPr sz="1600" i="0" b="0">
                <a:solidFill>
                  <a:srgbClr val="475569"/>
                </a:solidFill>
                <a:latin typeface="Helvetica Neue"/>
              </a:rPr>
              <a:t> — walk the five failure modes against the design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Treat the "field theory" of context as metaphor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Appendix</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When it still goes wrong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notes/99-speculative-field-track.md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Ask what the measurable behavior is, because the field-theory vocabulary has little testable content beyond a few small results.</a:t>
            </a:r>
          </a:p>
        </p:txBody>
      </p:sp>
      <p:sp>
        <p:nvSpPr>
          <p:cNvPr id="13" name="Rectangle 12"/>
          <p:cNvSpPr/>
          <p:nvPr/>
        </p:nvSpPr>
        <p:spPr>
          <a:xfrm>
            <a:off x="448056" y="1417320"/>
            <a:ext cx="6261948" cy="359598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ng-attractor-cycles-fig1.png"/>
          <p:cNvPicPr>
            <a:picLocks noChangeAspect="1"/>
          </p:cNvPicPr>
          <p:nvPr/>
        </p:nvPicPr>
        <p:blipFill>
          <a:blip r:embed="rId2"/>
          <a:stretch>
            <a:fillRect/>
          </a:stretch>
        </p:blipFill>
        <p:spPr>
          <a:xfrm>
            <a:off x="502920" y="1472184"/>
            <a:ext cx="6152220" cy="3486258"/>
          </a:xfrm>
          <a:prstGeom prst="rect">
            <a:avLst/>
          </a:prstGeom>
        </p:spPr>
      </p:pic>
      <p:sp>
        <p:nvSpPr>
          <p:cNvPr id="15" name="TextBox 14"/>
          <p:cNvSpPr txBox="1"/>
          <p:nvPr/>
        </p:nvSpPr>
        <p:spPr>
          <a:xfrm>
            <a:off x="502920" y="509560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Wang et al. (2025): the grounded version of an "attractor" is this 2-cycle</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"Attractors" and "resonance" borrow physics; their protocols act as ordinary structured prompts</a:t>
            </a:r>
          </a:p>
        </p:txBody>
      </p:sp>
      <p:sp>
        <p:nvSpPr>
          <p:cNvPr id="18" name="Rectangle 17"/>
          <p:cNvSpPr/>
          <p:nvPr/>
        </p:nvSpPr>
        <p:spPr>
          <a:xfrm>
            <a:off x="7020900" y="260146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real results underneath are modest and small-scale</a:t>
            </a:r>
          </a:p>
        </p:txBody>
      </p:sp>
      <p:sp>
        <p:nvSpPr>
          <p:cNvPr id="20" name="Rectangle 19"/>
          <p:cNvSpPr/>
          <p:nvPr/>
        </p:nvSpPr>
        <p:spPr>
          <a:xfrm>
            <a:off x="7020900" y="334213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Early framing is sticky:</a:t>
            </a:r>
            <a:r>
              <a:rPr sz="1800" i="0" b="0">
                <a:solidFill>
                  <a:srgbClr val="1E293B"/>
                </a:solidFill>
                <a:latin typeface="Helvetica Neue"/>
              </a:rPr>
              <a:t> restart rather than argue</a:t>
            </a:r>
          </a:p>
        </p:txBody>
      </p:sp>
      <p:sp>
        <p:nvSpPr>
          <p:cNvPr id="22" name="Rectangle 21"/>
          <p:cNvSpPr/>
          <p:nvPr/>
        </p:nvSpPr>
        <p:spPr>
          <a:xfrm>
            <a:off x="7020900" y="408279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Salience is earned</a:t>
            </a:r>
            <a:r>
              <a:rPr sz="1800" i="0" b="0">
                <a:solidFill>
                  <a:srgbClr val="1E293B"/>
                </a:solidFill>
                <a:latin typeface="Helvetica Neue"/>
              </a:rPr>
              <a:t> by structure, edge placement and restating at decision points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Closing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Justify every token: keep stable content first, cap what grows, pin the rules, and measure before adding machinery.</a:t>
            </a:r>
          </a:p>
        </p:txBody>
      </p:sp>
      <p:sp>
        <p:nvSpPr>
          <p:cNvPr id="13" name="Rectangle 12"/>
          <p:cNvSpPr/>
          <p:nvPr/>
        </p:nvSpPr>
        <p:spPr>
          <a:xfrm>
            <a:off x="502920"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2727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Assembling</a:t>
            </a:r>
          </a:p>
        </p:txBody>
      </p:sp>
      <p:sp>
        <p:nvSpPr>
          <p:cNvPr id="16" name="TextBox 15"/>
          <p:cNvSpPr txBox="1"/>
          <p:nvPr/>
        </p:nvSpPr>
        <p:spPr>
          <a:xfrm>
            <a:off x="777240"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Stable before dynamic. Reserve the output first; give every growing component a ceiling.</a:t>
            </a:r>
          </a:p>
        </p:txBody>
      </p:sp>
      <p:sp>
        <p:nvSpPr>
          <p:cNvPr id="17" name="Rectangle 16"/>
          <p:cNvSpPr/>
          <p:nvPr/>
        </p:nvSpPr>
        <p:spPr>
          <a:xfrm>
            <a:off x="4322978"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2727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Getting content in</a:t>
            </a:r>
          </a:p>
        </p:txBody>
      </p:sp>
      <p:sp>
        <p:nvSpPr>
          <p:cNvPr id="20" name="TextBox 19"/>
          <p:cNvSpPr txBox="1"/>
          <p:nvPr/>
        </p:nvSpPr>
        <p:spPr>
          <a:xfrm>
            <a:off x="4597298"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Just-in-time via identifiers. Retrieve wide, rerank hard, send narrow.</a:t>
            </a:r>
          </a:p>
        </p:txBody>
      </p:sp>
      <p:sp>
        <p:nvSpPr>
          <p:cNvPr id="21" name="Rectangle 20"/>
          <p:cNvSpPr/>
          <p:nvPr/>
        </p:nvSpPr>
        <p:spPr>
          <a:xfrm>
            <a:off x="8143036"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2727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Keeping it small</a:t>
            </a:r>
          </a:p>
        </p:txBody>
      </p:sp>
      <p:sp>
        <p:nvSpPr>
          <p:cNvPr id="24" name="TextBox 23"/>
          <p:cNvSpPr txBox="1"/>
          <p:nvPr/>
        </p:nvSpPr>
        <p:spPr>
          <a:xfrm>
            <a:off x="8417356"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Clear tool results first. Pin rules outside the summary. Give the compressor the task.</a:t>
            </a:r>
          </a:p>
        </p:txBody>
      </p:sp>
      <p:sp>
        <p:nvSpPr>
          <p:cNvPr id="25" name="Rectangle 24"/>
          <p:cNvSpPr/>
          <p:nvPr/>
        </p:nvSpPr>
        <p:spPr>
          <a:xfrm>
            <a:off x="502920"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573780"/>
            <a:ext cx="82296" cy="182727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Reasoning</a:t>
            </a:r>
          </a:p>
        </p:txBody>
      </p:sp>
      <p:sp>
        <p:nvSpPr>
          <p:cNvPr id="28" name="TextBox 27"/>
          <p:cNvSpPr txBox="1"/>
          <p:nvPr/>
        </p:nvSpPr>
        <p:spPr>
          <a:xfrm>
            <a:off x="777240"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Separate calls for separate steps. A deterministic check beats a model verifier.</a:t>
            </a:r>
          </a:p>
        </p:txBody>
      </p:sp>
      <p:sp>
        <p:nvSpPr>
          <p:cNvPr id="29" name="Rectangle 28"/>
          <p:cNvSpPr/>
          <p:nvPr/>
        </p:nvSpPr>
        <p:spPr>
          <a:xfrm>
            <a:off x="4322978"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573780"/>
            <a:ext cx="82296" cy="182727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Isolation</a:t>
            </a:r>
          </a:p>
        </p:txBody>
      </p:sp>
      <p:sp>
        <p:nvSpPr>
          <p:cNvPr id="32" name="TextBox 31"/>
          <p:cNvSpPr txBox="1"/>
          <p:nvPr/>
        </p:nvSpPr>
        <p:spPr>
          <a:xfrm>
            <a:off x="4597298"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Compress before you isolate. The orchestrator holds the plan.</a:t>
            </a:r>
          </a:p>
        </p:txBody>
      </p:sp>
      <p:sp>
        <p:nvSpPr>
          <p:cNvPr id="33" name="Rectangle 32"/>
          <p:cNvSpPr/>
          <p:nvPr/>
        </p:nvSpPr>
        <p:spPr>
          <a:xfrm>
            <a:off x="8143036"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573780"/>
            <a:ext cx="82296" cy="182727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Shipping</a:t>
            </a:r>
          </a:p>
        </p:txBody>
      </p:sp>
      <p:sp>
        <p:nvSpPr>
          <p:cNvPr id="36" name="TextBox 35"/>
          <p:cNvSpPr txBox="1"/>
          <p:nvPr/>
        </p:nvSpPr>
        <p:spPr>
          <a:xfrm>
            <a:off x="8417356"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Look in the window before the weights. Ablate to set the budget. Climb only on evidence.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Next comes the harness, which owns the loop that assembles this context on every call and keeps it reliable.</a:t>
            </a:r>
          </a:p>
        </p:txBody>
      </p:sp>
      <p:sp>
        <p:nvSpPr>
          <p:cNvPr id="13" name="Rectangle 12"/>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03 Harness engineering:</a:t>
            </a:r>
            <a:r>
              <a:rPr sz="2000" i="0" b="0">
                <a:solidFill>
                  <a:srgbClr val="1E293B"/>
                </a:solidFill>
                <a:latin typeface="Helvetica Neue"/>
              </a:rPr>
              <a:t> when the loop that assembles context becomes stateful</a:t>
            </a:r>
          </a:p>
        </p:txBody>
      </p:sp>
      <p:sp>
        <p:nvSpPr>
          <p:cNvPr id="15" name="Rectangle 14"/>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Eval:</a:t>
            </a:r>
            <a:r>
              <a:rPr sz="2000" i="0" b="0">
                <a:solidFill>
                  <a:srgbClr val="1E293B"/>
                </a:solidFill>
                <a:latin typeface="Helvetica Neue"/>
              </a:rPr>
              <a:t> RAG and grounding metrics, tracing where the tokens go</a:t>
            </a:r>
          </a:p>
        </p:txBody>
      </p:sp>
      <p:sp>
        <p:nvSpPr>
          <p:cNvPr id="17" name="Rectangle 16"/>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Practice:</a:t>
            </a:r>
            <a:r>
              <a:rPr sz="2000" i="0" b="0">
                <a:solidFill>
                  <a:srgbClr val="1E293B"/>
                </a:solidFill>
                <a:latin typeface="Helvetica Neue"/>
              </a:rPr>
              <a:t> </a:t>
            </a:r>
            <a:r>
              <a:rPr sz="1800" i="0" b="0">
                <a:solidFill>
                  <a:srgbClr val="0F7490"/>
                </a:solidFill>
                <a:latin typeface="Menlo"/>
              </a:rPr>
              <a:t>practice/context-budgeter</a:t>
            </a:r>
            <a:r>
              <a:rPr sz="2000" i="0" b="0">
                <a:solidFill>
                  <a:srgbClr val="1E293B"/>
                </a:solidFill>
                <a:latin typeface="Helvetica Neue"/>
              </a:rPr>
              <a:t> in this pillar</a:t>
            </a:r>
          </a:p>
        </p:txBody>
      </p:sp>
      <p:sp>
        <p:nvSpPr>
          <p:cNvPr id="19" name="Rectangle 18"/>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4106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Effective context engineering for AI agents; Li, AI Agents in Depth ch. 2–3</a:t>
            </a:r>
          </a:p>
        </p:txBody>
      </p:sp>
      <p:sp>
        <p:nvSpPr>
          <p:cNvPr id="21" name="Rectangle 20"/>
          <p:cNvSpPr/>
          <p:nvPr/>
        </p:nvSpPr>
        <p:spPr>
          <a:xfrm>
            <a:off x="7132758" y="1472184"/>
            <a:ext cx="4556016"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4" name="TextBox 23"/>
          <p:cNvSpPr txBox="1"/>
          <p:nvPr/>
        </p:nvSpPr>
        <p:spPr>
          <a:xfrm>
            <a:off x="7361358" y="2231136"/>
            <a:ext cx="4053096" cy="307238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token competes for a fixed attention budget. Justify each one's place, keep the rest one tool call away, and measure.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