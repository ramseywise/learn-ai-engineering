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2 of the AI-engineering course. Prompt engineering writes the instructions; context engineering decides everything else that shares the window with them, on every call. Three parts: why the window is finite and how to lay it out, the levers that move content in and out, and how to diagnose and evaluate a context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01–03. The constraint, what fills the window and in what order, and how to split the budget.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chapter after this is a response to one constraint. Attention is a fixed budget divided across n² token pairs: doubling the context quadruples the pairs while the parameters that resolve them stay fixed. Token cost is not the binding constraint; quality degrades first. "It fits in the window" is not an argument for including something.</a:t>
            </a:r>
          </a:p>
          <a:p/>
          <a:p>
            <a:r>
              <a:t>Source: notes/01-why-context-is-finite.md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row is the important one: the fact is there, unmodified, and the model still misses it. Position-encoding interpolation extends the addressable range; it moves where rot starts, it does not repeal it. The return curve on added context turns negative, not just flat: past a point a marginal document makes output worse than omitting it.</a:t>
            </a:r>
          </a:p>
          <a:p/>
          <a:p>
            <a:r>
              <a:t>Source: notes/01-why-context-is-finite.md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components, roughly in order. The formal view (Mei et al. survey) writes this as C = A(c_instr, c_know, c_tools, c_mem, c_state, c_query): context engineering is designing the assembly function A, not writing any one component.</a:t>
            </a:r>
          </a:p>
          <a:p/>
          <a:p>
            <a:r>
              <a:t>Source: notes/02-context-anatomy.md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low-altitude failure is the common one in engineered systems, because every production bug tempts you to add one more rule. The result reads like a decision tree, is unmaintainable, and still misses the next edge case.</a:t>
            </a:r>
          </a:p>
          <a:p/>
          <a:p>
            <a:r>
              <a:t>Source: notes/02-context-anatomy.md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Organize by usage frequency, stability and enforcement requirement, not by topic. Skill descriptions are routing rules: "Use when … / Do not use when …", with negative examples. Where the full skill lands trades cache against instruction-following: appended to the system prompt breaks the prefix; read as a file is weaker; a dedicated Skill tool with resident metadata is the Claude Code answer.</a:t>
            </a:r>
          </a:p>
          <a:p/>
          <a:p>
            <a:r>
              <a:t>Source: notes/02-context-anatomy.md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 needs explicit cache_control breakpoints, a minimum length of about 1024 tokens and a TTL of about 5 minutes; OpenAI caches prefixes automatically. Claude Code orders its prompt by cache boundary first, meaning second: each binary condition placed before the marker doubles the cache-key variants. Sub-agents are byte-aligned with the parent so side queries hit the parent's cache.</a:t>
            </a:r>
          </a:p>
          <a:p/>
          <a:p>
            <a:r>
              <a:t>Source: notes/02-context-anatomy.md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flattening row is mostly a model problem, not a cache problem: outside the trained chat template the model ignores tool results, repeats actions and writes text where a call was needed. Related: pass reasoning back. DeepSeek V4, Kimi K2 and GLM-5 require reasoning_content returned verbatim; Claude requires signed thinking blocks inside the tool loop.</a:t>
            </a:r>
          </a:p>
          <a:p/>
          <a:p>
            <a:r>
              <a:t>Source: notes/02-context-anatomy.md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harness appends the status bar at the end of each turn, next to the tokens being generated. An agent told "call each merchant at most 3 times" miscounts its own calls; "This is call #3 (3/3)" fixes it. Key–value entries beat the same facts as prose. Detailed errors with fix hints raised recovery from 60% to 95%. If an attacker can write to the bar it becomes an injection channel.</a:t>
            </a:r>
          </a:p>
          <a:p/>
          <a:p>
            <a:r>
              <a:t>Source: notes/02-context-anatomy.md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Formally: argmax over the assembly function of expected reward, subject to |C| ≤ L_max. Two consequences. The constraint binds before L_max, so budget against the effective window. And a component's value is marginal: a second document that restates the first is "relevant" and worth close to zero.</a:t>
            </a:r>
          </a:p>
          <a:p/>
          <a:p>
            <a:r>
              <a:t>Source: notes/03-budgeting-the-window.md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pillar's templates/control_loop.py ContextManager is the minimal version: reserve the output, then drop the oldest history entry until the rest fits. Use the model's tokenizer rather than a word count; words undercount tokens by about a quarter on English and more on code.</a:t>
            </a:r>
          </a:p>
          <a:p/>
          <a:p>
            <a:r>
              <a:t>Source: notes/03-budgeting-the-window.md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the full version, then cut elements one at a time while re-running the eval set. Two patterns account for most of the savings: task guidance over persona biography, and minimal scaffolding (three output sections, not seven). Example counts: 1–3 per class for classification, 2–5 for generation.</a:t>
            </a:r>
          </a:p>
          <a:p/>
          <a:p>
            <a:r>
              <a:t>Source: notes/03-budgeting-the-window.md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Adapted from the upstream course's 02_expand_context.py. The measurement loop: log tokens per component on every call; ablate one component and re-run the eval set; track quality per 1k tokens; plot score against total length and find where it bends down. That knee is the effective budget.</a:t>
            </a:r>
          </a:p>
          <a:p/>
          <a:p>
            <a:r>
              <a:t>Source: notes/03-budgeting-the-window.md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04–10. Four levers in order of cost: Write (can it live outside the window?), Select (what comes back in?), Compress (can it be smaller?), Isolate (does it need its own window?).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 calls this just-in-time context. Progressive disclosure: ls, grep, then read the three files that matter. Metadata carries signal for free: tests/integration/test_auth_retry.py tells the agent scope and purpose before a byte is read. Claude Code is the hybrid pattern: CLAUDE.md every session, everything else Read, Grep, Glob on demand.</a:t>
            </a:r>
          </a:p>
          <a:p/>
          <a:p>
            <a:r>
              <a:t>Source: notes/04-retrieval.md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pipeline in the note has seven stages: metadata filtering, vector search, ranking, deduplication, compression, memory injection, structured formatting. Each stage narrows the candidate set, so cheap filters go first and every later stage gets cheaper.</a:t>
            </a:r>
          </a:p>
          <a:p/>
          <a:p>
            <a:r>
              <a:t>Source: notes/04-retrieval.md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generalize past the numbers. Expansion multiplies retrieval, so the filter has to come first. Max-score aggregation is a dedup policy: multi-retrieval counts as signal without letting a chunk win by appearing everywhere weakly. The rerank scores against the user's actual question, because reranking against a rewrite would compound its drift. The 0.7/0.3 split is a corpus-specific result; for a new corpus, measure it.</a:t>
            </a:r>
          </a:p>
          <a:p/>
          <a:p>
            <a:r>
              <a:t>Source: notes/04-retrieval.md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Dense scores run roughly 0–1 and BM25 scores run to tens, so weighted fusion without min-max normalization lets BM25 swamp the dense half. The note has both fusions as code. A cross-encoder reads query and candidate together (the interviewer); a bi-encoder compares two independent vectors (the résumé screen). Many reports, Anthropic's included, mean hit rate when they say recall@k. Check the definition and k.</a:t>
            </a:r>
          </a:p>
          <a:p/>
          <a:p>
            <a:r>
              <a:t>Source: notes/04-retrieval.md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step improves both retrieval paths: BM25 gains exact keywords (ACME, 2025 Q2) and the embedding gains the missing context. The indexing cost is low because every chunk of one document shares the document as a cached prefix.</a:t>
            </a:r>
          </a:p>
          <a:p/>
          <a:p>
            <a:r>
              <a:t>Source: notes/04-retrieval.md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Ingestion and indexing on the left, query and retrieval on the right. Ingestion sets the ceiling: a text-only parser over a PDF-heavy corpus silently drops every chart and table, and the retrieval layer then looks broken. Check what the parser produced before tuning k, rerankers or chunk size.</a:t>
            </a:r>
          </a:p>
          <a:p/>
          <a:p>
            <a:r>
              <a:t>Source: notes/04-retrieval.md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 Experiment 3-9 on legal Q&amp;A: a simple question gives the same quality either way and non-agentic is faster. A compound question (negligent injury while intoxicated, with a prior theft conviction) separates them: the agent searches the sub-questions in parallel, sees the missing link, and runs a targeted second round. In PRINCE's Text-to-SQL path an LLM review step was removed: it flagged valid queries often enough to cost more than it saved. Deterministic validation beat model judgment.</a:t>
            </a:r>
          </a:p>
          <a:p/>
          <a:p>
            <a:r>
              <a:t>Source: notes/04-retrieval.md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Summarizing the last three turns is how a compaction loses the thread: the half-finished edit and the error being debugged live there. Compress for quality, not only length: ten searches scattered over 50k tokens make the model hunt; one structured summary turns a conclusion that had to be reasoned into one that can be looked up.</a:t>
            </a:r>
          </a:p>
          <a:p/>
          <a:p>
            <a:r>
              <a:t>Source: notes/05-compression-compaction.md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asymmetry between 1 and 5 is the core insight. Summarizers also drop what looks re-acquirable: early decisions, the reasons behind constraints, and failed paths. Those are exactly what items 1–4 protect. Agents that write their state down survive compaction; agents that keep it in the transcript do not.</a:t>
            </a:r>
          </a:p>
          <a:p/>
          <a:p>
            <a:r>
              <a:t>Source: notes/05-compression-compaction.md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Context-aware compression cut tokens by more than 75%. Design principles: information value is uneven (decision points &gt; evidence &gt; noise); keep semantics intact ("Sutskever left OpenAI in May 2024", not "Sutskever left"); the same text should compress differently for different tasks. Isolation beats compression where it applies: a delegated search costs the parent two messages.</a:t>
            </a:r>
          </a:p>
          <a:p/>
          <a:p>
            <a:r>
              <a:t>Source: notes/05-compression-compaction.md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Ordered by cost and by how well each keeps the cache under control. OpenAI's Responses API exposes compaction directly: the compaction item is a checkpoint, and everything before it is discardable. The memory hierarchy view: the window is L1, the session store L2, long-term memory L3; compaction demotes, retrieval promotes.</a:t>
            </a:r>
          </a:p>
          <a:p/>
          <a:p>
            <a:r>
              <a:t>Source: notes/05-compression-compaction.md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Episodic memory grows linearly and rots; semantic memory is distilled from episodes and stays roughly constant. "Corrected me about commit format three times" becomes one fact. The trajectory is a log; long- term memory is an archive that gets rewritten, merged and pruned. User as Code is Li, arXiv 2606.16707.</a:t>
            </a:r>
          </a:p>
          <a:p/>
          <a:p>
            <a:r>
              <a:t>Source: notes/06-memory.md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update over append, delete what proved wrong, one fact per file, absolute dates, don't store what's derivable from the repo, verify before relying. Compaction for the store: score importance and archive, cluster similar entries, generalize episodes into rules. Sanitize logs locally: a 0.6B local model catches natural-language PII that regex misses, recall above 95%.</a:t>
            </a:r>
          </a:p>
          <a:p/>
          <a:p>
            <a:r>
              <a:t>Source: notes/06-memory.md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as a direction, not a benchmark: most of the agents' lead came from photo captions only they could read. Li's two-tier answer combines the threads: a few critical facts resident as advanced cards, plus raw conversation chunks with contextual-retrieval prefixes searched on demand. Either tier alone fails.</a:t>
            </a:r>
          </a:p>
          <a:p/>
          <a:p>
            <a:r>
              <a:t>Source: notes/06-memory.md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places schemas go: input schemas (a fixed task skeleton with visible empty slots), state schemas (small, structured, overwritten — MEM1's constant-size state beats a growing log), and output schemas. Version schemas: a change invalidates eval baselines just as a prompt change does.</a:t>
            </a:r>
          </a:p>
          <a:p/>
          <a:p>
            <a:r>
              <a:t>Source: notes/07-structured-context.md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Condensed from the upstream course's 06_schema_design.py. With decode-time enforcement the parse step can't fail, but patterns and cross-field rules still need validation.</a:t>
            </a:r>
          </a:p>
          <a:p/>
          <a:p>
            <a:r>
              <a:t>Source: notes/07-structured-context.md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design choice is isolation: the tool call goes out with only what that step needs, and only the result comes back. Best results came when the model chose which tool to call and when, not from a fixed sequence. Caveat: maths benchmarks, non-reasoning models. Reasoning models already run something like this internally, so scaffolding adds less.</a:t>
            </a:r>
          </a:p>
          <a:p/>
          <a:p>
            <a:r>
              <a:t>Source: notes/08-cognitive-tools.md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upstream course's 03_control_loops.py. The opposite design is 07_recursive_patterns.py, which stops when the model's own regex-parsed score clears 0.8. A prompt program is the same idea at a larger scale: a list of operations with templates that read earlier outputs from shared state, so each step can be logged, diffed and evaluated.</a:t>
            </a:r>
          </a:p>
          <a:p/>
          <a:p>
            <a:r>
              <a:t>Source: notes/08-cognitive-tools.md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Pareto-lang operations (/filter, /extract, /compress, /synthesize) map onto the context levers. The model has no parser; it reads /filter.relevance{threshold=0.7} as a compact, unambiguous instruction, and the brevity is the point. The "field operations" (/attractor.*, /resonance.*) belong to the speculative track.</a:t>
            </a:r>
          </a:p>
          <a:p/>
          <a:p>
            <a:r>
              <a:t>Source: notes/09-protocols.md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Sub-agents shouldn't decide overall strategy, because each sees only its slice. Isolation is also a security boundary: an injection in a sub-agent's window reaches the orchestrator only through the summary, which holds only if the summary is treated as data.</a:t>
            </a:r>
          </a:p>
          <a:p/>
          <a:p>
            <a:r>
              <a:t>Source: notes/10-tools-and-multi-agent.md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consume context twice: definitions sit in every window, results enter per call. A tool returning 50k tokens of raw output reintroduces bulk loading through the tool layer. Tool overlap test: given this task, is there exactly one obviously correct tool? Skills plus open network access is a data-exfiltration path; default to network off with a minimal allowlist.</a:t>
            </a:r>
          </a:p>
          <a:p/>
          <a:p>
            <a:r>
              <a:t>Source: notes/10-tools-and-multi-agent.md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11–13, plus the 99 appendix. Diagnosing a context system, measuring it, and deciding how much machinery it needs.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 compact at phase boundaries; the anti-fix is repeating the constraint louder, which adds tokens. Poisoning: freshness filters, citation checks, auditable memory; memory makes it permanent. Distraction: rerank hard and send narrow. Clash: explicit precedence (system &gt; developer &gt; user &gt; retrieved, later supersedes earlier), and resolve on compaction rather than carrying both sides. "Use pnpm" at turn 12 does not remove "we use npm" from turn 3.</a:t>
            </a:r>
          </a:p>
          <a:p/>
          <a:p>
            <a:r>
              <a:t>Source: notes/11-failure-modes.md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Attack surfaces grow with every context source: retrieved documents, tool results, web pages, uploads, sub-agent summaries, MCP responses, file contents, error messages. Injection is mostly harmful when it can act, which is why egress control matters.</a:t>
            </a:r>
          </a:p>
          <a:p/>
          <a:p>
            <a:r>
              <a:t>Source: notes/11-failure-modes.md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notes/11-failure-modes.md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end-to-end score tells you something failed, not where. Evaluate at component, integration and system levels, and fix from the bottom up. Needle-in-a-haystack is the floor: Chroma's Context Rot shows degradation once the needle needs semantic matching or distractors are present.</a:t>
            </a:r>
          </a:p>
          <a:p/>
          <a:p>
            <a:r>
              <a:t>Source: notes/12-evaluating-context.md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 set must be measurable, representative (long-session, many-tool and stale-memory cases, not only clean single-turn questions), reproducible (pin model, temperature, index snapshot, prompt version) and actionable (each metric maps to a lever).</a:t>
            </a:r>
          </a:p>
          <a:p/>
          <a:p>
            <a:r>
              <a:t>Source: notes/12-evaluating-context.md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upstream course's biological metaphor, read as a maturity ladder. Reference architectures in the note: long-form generation (outline as state, constant-size window), problem solver with memory (the IBM loop plus a memory write), research assistant (isolate + compress at hand-off), adaptive tutor (a learner model injected as a short summary).</a:t>
            </a:r>
          </a:p>
          <a:p/>
          <a:p>
            <a:r>
              <a:t>Source: notes/13-putting-it-together.md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a per-component budget with ceilings measured on real traffic, an ablation table, a compaction rule with a fact-retention score, one failure mode reproduced and fixed, and a one-page design doc naming the lever each component serves. When the loop assembling context becomes stateful and conditional, you've crossed into the harness layer.</a:t>
            </a:r>
          </a:p>
          <a:p/>
          <a:p>
            <a:r>
              <a:t>Source: notes/13-putting-it-together.md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each concept to a chapter: attractors to poisoning, boundaries to Select, decay to compaction. The budget mental model is the most directly useful of the five metaphors (garden, budget, river, biopsychosocial, alchemy). Pick one to explain a design; don't design from them.</a:t>
            </a:r>
          </a:p>
          <a:p/>
          <a:p>
            <a:r>
              <a:t>Source: notes/99-speculative-field-track.md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README.md#rules-of-thumb</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Oval 1"/>
          <p:cNvSpPr/>
          <p:nvPr/>
        </p:nvSpPr>
        <p:spPr>
          <a:xfrm>
            <a:off x="7498079" y="-1097280"/>
            <a:ext cx="5120640" cy="5120640"/>
          </a:xfrm>
          <a:prstGeom prst="ellipse">
            <a:avLst/>
          </a:prstGeom>
          <a:solidFill>
            <a:srgbClr val="D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4023360"/>
            <a:ext cx="4023360" cy="4023360"/>
          </a:xfrm>
          <a:prstGeom prst="ellipse">
            <a:avLst/>
          </a:prstGeom>
          <a:solidFill>
            <a:srgbClr val="F6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852160"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4937760" cy="1920239"/>
          </a:xfrm>
          <a:prstGeom prst="rect">
            <a:avLst/>
          </a:prstGeom>
          <a:noFill/>
        </p:spPr>
        <p:txBody>
          <a:bodyPr wrap="square" lIns="0" rIns="0" tIns="0" bIns="0" anchor="t">
            <a:noAutofit/>
          </a:bodyPr>
          <a:lstStyle/>
          <a:p>
            <a:pPr algn="l">
              <a:lnSpc>
                <a:spcPct val="95000"/>
              </a:lnSpc>
            </a:pPr>
            <a:r>
              <a:rPr sz="6000" i="0" b="1">
                <a:solidFill>
                  <a:srgbClr val="FFFFFF"/>
                </a:solidFill>
                <a:latin typeface="Helvetica Neue"/>
              </a:rPr>
              <a:t>Context Engineering</a:t>
            </a:r>
          </a:p>
        </p:txBody>
      </p:sp>
      <p:sp>
        <p:nvSpPr>
          <p:cNvPr id="7" name="TextBox 6"/>
          <p:cNvSpPr txBox="1"/>
          <p:nvPr/>
        </p:nvSpPr>
        <p:spPr>
          <a:xfrm>
            <a:off x="548640" y="3063240"/>
            <a:ext cx="4937760" cy="896112"/>
          </a:xfrm>
          <a:prstGeom prst="rect">
            <a:avLst/>
          </a:prstGeom>
          <a:noFill/>
        </p:spPr>
        <p:txBody>
          <a:bodyPr wrap="square" lIns="0" rIns="0" tIns="0" bIns="0" anchor="t">
            <a:noAutofit/>
          </a:bodyPr>
          <a:lstStyle/>
          <a:p>
            <a:pPr algn="l">
              <a:lnSpc>
                <a:spcPct val="110000"/>
              </a:lnSpc>
            </a:pPr>
            <a:r>
              <a:rPr sz="2400" i="0" b="0">
                <a:solidFill>
                  <a:srgbClr val="0EA5C9"/>
                </a:solidFill>
                <a:latin typeface="Helvetica Neue"/>
              </a:rPr>
              <a:t>The smallest set of high-signal tokens</a:t>
            </a:r>
          </a:p>
        </p:txBody>
      </p:sp>
      <p:sp>
        <p:nvSpPr>
          <p:cNvPr id="8" name="Rectangle 7"/>
          <p:cNvSpPr/>
          <p:nvPr/>
        </p:nvSpPr>
        <p:spPr>
          <a:xfrm>
            <a:off x="548640" y="4187952"/>
            <a:ext cx="4572000" cy="457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07992"/>
            <a:ext cx="4937760" cy="1463040"/>
          </a:xfrm>
          <a:prstGeom prst="rect">
            <a:avLst/>
          </a:prstGeom>
          <a:noFill/>
        </p:spPr>
        <p:txBody>
          <a:bodyPr wrap="square" lIns="0" rIns="0" tIns="0" bIns="0" anchor="t">
            <a:noAutofit/>
          </a:bodyPr>
          <a:lstStyle/>
          <a:p>
            <a:pPr algn="l">
              <a:lnSpc>
                <a:spcPct val="125000"/>
              </a:lnSpc>
            </a:pPr>
            <a:r>
              <a:rPr sz="1500" i="0" b="0">
                <a:solidFill>
                  <a:srgbClr val="94A3B8"/>
                </a:solidFill>
                <a:latin typeface="Helvetica Neue"/>
              </a:rPr>
              <a:t>Finite attention · Anatomy · Budget</a:t>
            </a:r>
          </a:p>
          <a:p>
            <a:pPr algn="l">
              <a:lnSpc>
                <a:spcPct val="125000"/>
              </a:lnSpc>
            </a:pPr>
            <a:r>
              <a:rPr sz="1500" i="0" b="0">
                <a:solidFill>
                  <a:srgbClr val="94A3B8"/>
                </a:solidFill>
                <a:latin typeface="Helvetica Neue"/>
              </a:rPr>
              <a:t>Retrieval · Compaction · Memory · Structure · Isolation · Failure · Evals</a:t>
            </a:r>
          </a:p>
        </p:txBody>
      </p:sp>
      <p:sp>
        <p:nvSpPr>
          <p:cNvPr id="10" name="Rectangle 9"/>
          <p:cNvSpPr/>
          <p:nvPr/>
        </p:nvSpPr>
        <p:spPr>
          <a:xfrm>
            <a:off x="6492240" y="1513331"/>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1513331"/>
            <a:ext cx="91440" cy="1143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1641347"/>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1: Foundations</a:t>
            </a:r>
          </a:p>
        </p:txBody>
      </p:sp>
      <p:sp>
        <p:nvSpPr>
          <p:cNvPr id="13" name="TextBox 12"/>
          <p:cNvSpPr txBox="1"/>
          <p:nvPr/>
        </p:nvSpPr>
        <p:spPr>
          <a:xfrm>
            <a:off x="6766560" y="1954402"/>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Why context is finite · Anatomy of the window · Budgeting it</a:t>
            </a:r>
          </a:p>
        </p:txBody>
      </p:sp>
      <p:sp>
        <p:nvSpPr>
          <p:cNvPr id="14" name="Rectangle 13"/>
          <p:cNvSpPr/>
          <p:nvPr/>
        </p:nvSpPr>
        <p:spPr>
          <a:xfrm>
            <a:off x="6492240" y="2857499"/>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2857499"/>
            <a:ext cx="91440"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2985515"/>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2: The levers</a:t>
            </a:r>
          </a:p>
        </p:txBody>
      </p:sp>
      <p:sp>
        <p:nvSpPr>
          <p:cNvPr id="17" name="TextBox 16"/>
          <p:cNvSpPr txBox="1"/>
          <p:nvPr/>
        </p:nvSpPr>
        <p:spPr>
          <a:xfrm>
            <a:off x="6766560" y="3298570"/>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Retrieval · Compaction · Memory · Structure · Cognitive tools · Protocols · Isolation</a:t>
            </a:r>
          </a:p>
        </p:txBody>
      </p:sp>
      <p:sp>
        <p:nvSpPr>
          <p:cNvPr id="18" name="Rectangle 17"/>
          <p:cNvSpPr/>
          <p:nvPr/>
        </p:nvSpPr>
        <p:spPr>
          <a:xfrm>
            <a:off x="6492240" y="4201667"/>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4201667"/>
            <a:ext cx="91440" cy="1143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4329683"/>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3: Practice</a:t>
            </a:r>
          </a:p>
        </p:txBody>
      </p:sp>
      <p:sp>
        <p:nvSpPr>
          <p:cNvPr id="21" name="TextBox 20"/>
          <p:cNvSpPr txBox="1"/>
          <p:nvPr/>
        </p:nvSpPr>
        <p:spPr>
          <a:xfrm>
            <a:off x="6766560" y="4642738"/>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Failure modes · Evaluating context · Putting it together</a:t>
            </a:r>
          </a:p>
        </p:txBody>
      </p:sp>
      <p:sp>
        <p:nvSpPr>
          <p:cNvPr id="22" name="TextBox 21"/>
          <p:cNvSpPr txBox="1"/>
          <p:nvPr/>
        </p:nvSpPr>
        <p:spPr>
          <a:xfrm>
            <a:off x="6492240" y="6355080"/>
            <a:ext cx="5196535" cy="274320"/>
          </a:xfrm>
          <a:prstGeom prst="rect">
            <a:avLst/>
          </a:prstGeom>
          <a:noFill/>
        </p:spPr>
        <p:txBody>
          <a:bodyPr wrap="square" lIns="0" rIns="0" tIns="0" bIns="0" anchor="t">
            <a:noAutofit/>
          </a:bodyPr>
          <a:lstStyle/>
          <a:p>
            <a:pPr algn="r">
              <a:lnSpc>
                <a:spcPct val="110000"/>
              </a:lnSpc>
            </a:pPr>
            <a:r>
              <a:rPr sz="1100" i="1" b="0">
                <a:solidFill>
                  <a:srgbClr val="94A3B8"/>
                </a:solidFill>
                <a:latin typeface="Helvetica Neue"/>
              </a:rPr>
              <a:t>Notes: ai-engineering/02-context-engineering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1</a:t>
            </a:r>
          </a:p>
        </p:txBody>
      </p:sp>
      <p:sp>
        <p:nvSpPr>
          <p:cNvPr id="4" name="TextBox 3"/>
          <p:cNvSpPr txBox="1"/>
          <p:nvPr/>
        </p:nvSpPr>
        <p:spPr>
          <a:xfrm>
            <a:off x="822960" y="1965960"/>
            <a:ext cx="5486400" cy="10210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Foundations</a:t>
            </a:r>
          </a:p>
        </p:txBody>
      </p:sp>
      <p:sp>
        <p:nvSpPr>
          <p:cNvPr id="5" name="TextBox 4"/>
          <p:cNvSpPr txBox="1"/>
          <p:nvPr/>
        </p:nvSpPr>
        <p:spPr>
          <a:xfrm>
            <a:off x="822960" y="3078479"/>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Why context is finite · Anatomy of the window · Budgeting it</a:t>
            </a:r>
          </a:p>
        </p:txBody>
      </p:sp>
      <p:cxnSp>
        <p:nvCxnSpPr>
          <p:cNvPr id="6" name="Connector 5"/>
          <p:cNvCxnSpPr/>
          <p:nvPr/>
        </p:nvCxnSpPr>
        <p:spPr>
          <a:xfrm>
            <a:off x="6446520" y="1357630"/>
            <a:ext cx="0" cy="414274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357630"/>
            <a:ext cx="4693615" cy="4325620"/>
          </a:xfrm>
          <a:prstGeom prst="rect">
            <a:avLst/>
          </a:prstGeom>
          <a:noFill/>
        </p:spPr>
        <p:txBody>
          <a:bodyPr wrap="square" lIns="0" rIns="0" tIns="0" bIns="0" anchor="t">
            <a:noAutofit/>
          </a:bodyPr>
          <a:lstStyle/>
          <a:p>
            <a:pPr algn="l">
              <a:lnSpc>
                <a:spcPct val="100000"/>
              </a:lnSpc>
            </a:pPr>
            <a:r>
              <a:rPr sz="1400" i="0" b="0">
                <a:solidFill>
                  <a:srgbClr val="CBD5E1"/>
                </a:solidFill>
                <a:latin typeface="Helvetica Neue"/>
              </a:rPr>
              <a:t>The thesis</a:t>
            </a:r>
          </a:p>
          <a:p>
            <a:pPr algn="l">
              <a:lnSpc>
                <a:spcPct val="100000"/>
              </a:lnSpc>
              <a:spcBef>
                <a:spcPts val="979"/>
              </a:spcBef>
            </a:pPr>
            <a:r>
              <a:rPr sz="1400" i="0" b="0">
                <a:solidFill>
                  <a:srgbClr val="CBD5E1"/>
                </a:solidFill>
                <a:latin typeface="Helvetica Neue"/>
              </a:rPr>
              <a:t>Context rot starts long before the limit</a:t>
            </a:r>
          </a:p>
          <a:p>
            <a:pPr algn="l">
              <a:lnSpc>
                <a:spcPct val="100000"/>
              </a:lnSpc>
              <a:spcBef>
                <a:spcPts val="979"/>
              </a:spcBef>
            </a:pPr>
            <a:r>
              <a:rPr sz="1400" i="0" b="0">
                <a:solidFill>
                  <a:srgbClr val="CBD5E1"/>
                </a:solidFill>
                <a:latin typeface="Helvetica Neue"/>
              </a:rPr>
              <a:t>What fills the window</a:t>
            </a:r>
          </a:p>
          <a:p>
            <a:pPr algn="l">
              <a:lnSpc>
                <a:spcPct val="100000"/>
              </a:lnSpc>
              <a:spcBef>
                <a:spcPts val="979"/>
              </a:spcBef>
            </a:pPr>
            <a:r>
              <a:rPr sz="1400" i="0" b="0">
                <a:solidFill>
                  <a:srgbClr val="CBD5E1"/>
                </a:solidFill>
                <a:latin typeface="Helvetica Neue"/>
              </a:rPr>
              <a:t>System prompt altitude</a:t>
            </a:r>
          </a:p>
          <a:p>
            <a:pPr algn="l">
              <a:lnSpc>
                <a:spcPct val="100000"/>
              </a:lnSpc>
              <a:spcBef>
                <a:spcPts val="979"/>
              </a:spcBef>
            </a:pPr>
            <a:r>
              <a:rPr sz="1400" i="0" b="0">
                <a:solidFill>
                  <a:srgbClr val="CBD5E1"/>
                </a:solidFill>
                <a:latin typeface="Helvetica Neue"/>
              </a:rPr>
              <a:t>Organize by frequency, stability and enforcement</a:t>
            </a:r>
          </a:p>
          <a:p>
            <a:pPr algn="l">
              <a:lnSpc>
                <a:spcPct val="100000"/>
              </a:lnSpc>
              <a:spcBef>
                <a:spcPts val="979"/>
              </a:spcBef>
            </a:pPr>
            <a:r>
              <a:rPr sz="1400" i="0" b="0">
                <a:solidFill>
                  <a:srgbClr val="CBD5E1"/>
                </a:solidFill>
                <a:latin typeface="Helvetica Neue"/>
              </a:rPr>
              <a:t>Stable before dynamic — the cache is a prefix match</a:t>
            </a:r>
          </a:p>
          <a:p>
            <a:pPr algn="l">
              <a:lnSpc>
                <a:spcPct val="100000"/>
              </a:lnSpc>
              <a:spcBef>
                <a:spcPts val="979"/>
              </a:spcBef>
            </a:pPr>
            <a:r>
              <a:rPr sz="1400" i="0" b="0">
                <a:solidFill>
                  <a:srgbClr val="CBD5E1"/>
                </a:solidFill>
                <a:latin typeface="Helvetica Neue"/>
              </a:rPr>
              <a:t>Patterns that break the cache (or the model)</a:t>
            </a:r>
          </a:p>
          <a:p>
            <a:pPr algn="l">
              <a:lnSpc>
                <a:spcPct val="100000"/>
              </a:lnSpc>
              <a:spcBef>
                <a:spcPts val="979"/>
              </a:spcBef>
            </a:pPr>
            <a:r>
              <a:rPr sz="1400" i="0" b="0">
                <a:solidFill>
                  <a:srgbClr val="CBD5E1"/>
                </a:solidFill>
                <a:latin typeface="Helvetica Neue"/>
              </a:rPr>
              <a:t>The status bar — distill, don't retrieve</a:t>
            </a:r>
          </a:p>
          <a:p>
            <a:pPr algn="l">
              <a:lnSpc>
                <a:spcPct val="100000"/>
              </a:lnSpc>
              <a:spcBef>
                <a:spcPts val="979"/>
              </a:spcBef>
            </a:pPr>
            <a:r>
              <a:rPr sz="1400" i="0" b="0">
                <a:solidFill>
                  <a:srgbClr val="CBD5E1"/>
                </a:solidFill>
                <a:latin typeface="Helvetica Neue"/>
              </a:rPr>
              <a:t>The window as an economy</a:t>
            </a:r>
          </a:p>
          <a:p>
            <a:pPr algn="l">
              <a:lnSpc>
                <a:spcPct val="100000"/>
              </a:lnSpc>
              <a:spcBef>
                <a:spcPts val="979"/>
              </a:spcBef>
            </a:pPr>
            <a:r>
              <a:rPr sz="1400" i="0" b="0">
                <a:solidFill>
                  <a:srgbClr val="CBD5E1"/>
                </a:solidFill>
                <a:latin typeface="Helvetica Neue"/>
              </a:rPr>
              <a:t>Two rules matter more than any split</a:t>
            </a:r>
          </a:p>
          <a:p>
            <a:pPr algn="l">
              <a:lnSpc>
                <a:spcPct val="100000"/>
              </a:lnSpc>
              <a:spcBef>
                <a:spcPts val="979"/>
              </a:spcBef>
            </a:pPr>
            <a:r>
              <a:rPr sz="1400" i="0" b="0">
                <a:solidFill>
                  <a:srgbClr val="CBD5E1"/>
                </a:solidFill>
                <a:latin typeface="Helvetica Neue"/>
              </a:rPr>
              <a:t>Progressive reduction — cut by ablation</a:t>
            </a:r>
          </a:p>
          <a:p>
            <a:pPr algn="l">
              <a:lnSpc>
                <a:spcPct val="100000"/>
              </a:lnSpc>
              <a:spcBef>
                <a:spcPts val="979"/>
              </a:spcBef>
            </a:pPr>
            <a:r>
              <a:rPr sz="1400" i="0" b="0">
                <a:solidFill>
                  <a:srgbClr val="CBD5E1"/>
                </a:solidFill>
                <a:latin typeface="Helvetica Neue"/>
              </a:rPr>
              <a:t>Measure what each layer buys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thesis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Why every technique follows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notes/01-why-context-is-finite.md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a:t>
            </a:r>
          </a:p>
        </p:txBody>
      </p:sp>
      <p:sp>
        <p:nvSpPr>
          <p:cNvPr id="10" name="Rectangle 9"/>
          <p:cNvSpPr/>
          <p:nvPr/>
        </p:nvSpPr>
        <p:spPr>
          <a:xfrm>
            <a:off x="777240" y="2665476"/>
            <a:ext cx="109728" cy="235915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266547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Find the smallest set of high-signal tokens that maximizes the likelihood of the outcome you want.</a:t>
            </a:r>
          </a:p>
        </p:txBody>
      </p:sp>
      <p:sp>
        <p:nvSpPr>
          <p:cNvPr id="12" name="TextBox 11"/>
          <p:cNvSpPr txBox="1"/>
          <p:nvPr/>
        </p:nvSpPr>
        <p:spPr>
          <a:xfrm>
            <a:off x="1234440" y="461314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Anthropic's framing. It is a minimization: the instinct with a 1M window is to fill it, and the instinct is wrong.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Context rot starts long before the limit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Four failure shapes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notes/01-why-context-is-finite.md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a:t>
            </a:r>
          </a:p>
        </p:txBody>
      </p:sp>
      <p:sp>
        <p:nvSpPr>
          <p:cNvPr id="10" name="TextBox 9"/>
          <p:cNvSpPr txBox="1"/>
          <p:nvPr/>
        </p:nvSpPr>
        <p:spPr>
          <a:xfrm>
            <a:off x="502920" y="1426464"/>
            <a:ext cx="11185855" cy="661416"/>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Recall and use of information decline gradually as occupancy grows. It is not a cliff at the window edge.</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Filler degrades retrieval of the signal it surrounds. "Just in case" is a cost, not free insurance.</a:t>
            </a:r>
          </a:p>
        </p:txBody>
      </p:sp>
      <p:graphicFrame>
        <p:nvGraphicFramePr>
          <p:cNvPr id="14" name="Table 13"/>
          <p:cNvGraphicFramePr>
            <a:graphicFrameLocks noGrp="1"/>
          </p:cNvGraphicFramePr>
          <p:nvPr/>
        </p:nvGraphicFramePr>
        <p:xfrm>
          <a:off x="502920" y="2270760"/>
          <a:ext cx="11185854" cy="2545080"/>
        </p:xfrm>
        <a:graphic>
          <a:graphicData uri="http://schemas.openxmlformats.org/drawingml/2006/table">
            <a:tbl>
              <a:tblPr firstRow="1" bandRow="1">
                <a:tableStyleId>{5940675A-B579-460E-94D1-54222C63F5DA}</a:tableStyleId>
              </a:tblPr>
              <a:tblGrid>
                <a:gridCol w="3029502"/>
                <a:gridCol w="8156352"/>
              </a:tblGrid>
              <a:tr h="405384">
                <a:tc>
                  <a:txBody>
                    <a:bodyPr wrap="square"/>
                    <a:lstStyle/>
                    <a:p>
                      <a:pPr>
                        <a:lnSpc>
                          <a:spcPct val="100000"/>
                        </a:lnSpc>
                      </a:pPr>
                      <a:r>
                        <a:rPr sz="1700" i="0" b="1">
                          <a:solidFill>
                            <a:srgbClr val="FFFFFF"/>
                          </a:solidFill>
                          <a:latin typeface="Helvetica Neue"/>
                        </a:rPr>
                        <a:t>Shape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What it looks like</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Middle neglect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Start and end recalled, the middle is not (lost in the middle)</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Distractor sensitivity</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Plausible-but-wrong content pulls the answer further off target as the window grows</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Instruction decay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System-prompt rules obeyed early in a session are quietly dropped later</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Needle degradation</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A planted fact, present </a:t>
                      </a:r>
                      <a:r>
                        <a:rPr sz="1700" i="0" b="1">
                          <a:solidFill>
                            <a:srgbClr val="1E293B"/>
                          </a:solidFill>
                          <a:latin typeface="Helvetica Neue"/>
                        </a:rPr>
                        <a:t>verbatim</a:t>
                      </a:r>
                      <a:r>
                        <a:rPr sz="1700" i="0" b="0">
                          <a:solidFill>
                            <a:srgbClr val="475569"/>
                          </a:solidFill>
                          <a:latin typeface="Helvetica Neue"/>
                        </a:rPr>
                        <a:t>, is missed more often as filler grows</a:t>
                      </a:r>
                    </a:p>
                  </a:txBody>
                  <a:tcPr marL="109728" marR="109728" marT="54864" marB="54864" anchor="ctr">
                    <a:solidFill>
                      <a:srgbClr val="E8F4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fills the window</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components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notes/02-context-anatomy.md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Context engineering decides, per call, what occupies each slot and at what size.</a:t>
            </a:r>
          </a:p>
        </p:txBody>
      </p:sp>
      <p:sp>
        <p:nvSpPr>
          <p:cNvPr id="13" name="Rectangle 12"/>
          <p:cNvSpPr/>
          <p:nvPr/>
        </p:nvSpPr>
        <p:spPr>
          <a:xfrm>
            <a:off x="978062" y="1417320"/>
            <a:ext cx="5201934" cy="371246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2-1-6734687466306398121-3394443612882112745.jpg"/>
          <p:cNvPicPr>
            <a:picLocks noChangeAspect="1"/>
          </p:cNvPicPr>
          <p:nvPr/>
        </p:nvPicPr>
        <p:blipFill>
          <a:blip r:embed="rId2"/>
          <a:stretch>
            <a:fillRect/>
          </a:stretch>
        </p:blipFill>
        <p:spPr>
          <a:xfrm>
            <a:off x="1032926" y="1472184"/>
            <a:ext cx="5092206" cy="3602735"/>
          </a:xfrm>
          <a:prstGeom prst="rect">
            <a:avLst/>
          </a:prstGeom>
        </p:spPr>
      </p:pic>
      <p:sp>
        <p:nvSpPr>
          <p:cNvPr id="15" name="TextBox 14"/>
          <p:cNvSpPr txBox="1"/>
          <p:nvPr/>
        </p:nvSpPr>
        <p:spPr>
          <a:xfrm>
            <a:off x="502920" y="5212080"/>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Li, AI Agents in Depth (2026), Fig. 2-1 (Apache-2.0)</a:t>
            </a:r>
          </a:p>
        </p:txBody>
      </p:sp>
      <p:sp>
        <p:nvSpPr>
          <p:cNvPr id="16" name="Rectangle 15"/>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System prompt</a:t>
            </a:r>
            <a:r>
              <a:rPr sz="1800" i="0" b="0">
                <a:solidFill>
                  <a:srgbClr val="1E293B"/>
                </a:solidFill>
                <a:latin typeface="Helvetica Neue"/>
              </a:rPr>
              <a:t> — role, framing, constraints</a:t>
            </a:r>
          </a:p>
        </p:txBody>
      </p:sp>
      <p:sp>
        <p:nvSpPr>
          <p:cNvPr id="18" name="Rectangle 17"/>
          <p:cNvSpPr/>
          <p:nvPr/>
        </p:nvSpPr>
        <p:spPr>
          <a:xfrm>
            <a:off x="7020900" y="229971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Tool definitions</a:t>
            </a:r>
            <a:r>
              <a:rPr sz="1800" i="0" b="0">
                <a:solidFill>
                  <a:srgbClr val="1E293B"/>
                </a:solidFill>
                <a:latin typeface="Helvetica Neue"/>
              </a:rPr>
              <a:t> — resident every call</a:t>
            </a:r>
          </a:p>
        </p:txBody>
      </p:sp>
      <p:sp>
        <p:nvSpPr>
          <p:cNvPr id="20" name="Rectangle 19"/>
          <p:cNvSpPr/>
          <p:nvPr/>
        </p:nvSpPr>
        <p:spPr>
          <a:xfrm>
            <a:off x="7020900" y="304038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953512"/>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Retrieved knowledge</a:t>
            </a:r>
            <a:r>
              <a:rPr sz="1800" i="0" b="0">
                <a:solidFill>
                  <a:srgbClr val="1E293B"/>
                </a:solidFill>
                <a:latin typeface="Helvetica Neue"/>
              </a:rPr>
              <a:t> and </a:t>
            </a:r>
            <a:r>
              <a:rPr sz="1800" i="0" b="1">
                <a:solidFill>
                  <a:srgbClr val="1E293B"/>
                </a:solidFill>
                <a:latin typeface="Helvetica Neue"/>
              </a:rPr>
              <a:t>memory</a:t>
            </a:r>
          </a:p>
        </p:txBody>
      </p:sp>
      <p:sp>
        <p:nvSpPr>
          <p:cNvPr id="22" name="Rectangle 21"/>
          <p:cNvSpPr/>
          <p:nvPr/>
        </p:nvSpPr>
        <p:spPr>
          <a:xfrm>
            <a:off x="7020900" y="347929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392424"/>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Runtime state</a:t>
            </a:r>
            <a:r>
              <a:rPr sz="1800" i="0" b="0">
                <a:solidFill>
                  <a:srgbClr val="1E293B"/>
                </a:solidFill>
                <a:latin typeface="Helvetica Neue"/>
              </a:rPr>
              <a:t> — date, user, permissions</a:t>
            </a:r>
          </a:p>
        </p:txBody>
      </p:sp>
      <p:sp>
        <p:nvSpPr>
          <p:cNvPr id="24" name="Rectangle 23"/>
          <p:cNvSpPr/>
          <p:nvPr/>
        </p:nvSpPr>
        <p:spPr>
          <a:xfrm>
            <a:off x="7020900" y="421995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40940" y="4133088"/>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History</a:t>
            </a:r>
            <a:r>
              <a:rPr sz="1800" i="0" b="0">
                <a:solidFill>
                  <a:srgbClr val="1E293B"/>
                </a:solidFill>
                <a:latin typeface="Helvetica Neue"/>
              </a:rPr>
              <a:t> — including tool calls and results</a:t>
            </a:r>
          </a:p>
        </p:txBody>
      </p:sp>
      <p:sp>
        <p:nvSpPr>
          <p:cNvPr id="26" name="Rectangle 25"/>
          <p:cNvSpPr/>
          <p:nvPr/>
        </p:nvSpPr>
        <p:spPr>
          <a:xfrm>
            <a:off x="7020900" y="496062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40940" y="4873752"/>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 current turn</a:t>
            </a:r>
            <a:r>
              <a:rPr sz="1800" i="0" b="0">
                <a:solidFill>
                  <a:srgbClr val="1E293B"/>
                </a:solidFill>
                <a:latin typeface="Helvetica Neue"/>
              </a:rPr>
              <a:t> — last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System prompt altitude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Goldilocks zone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notes/02-context-anatomy.md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Adding a fourth conditional to a prompt? The fix is usually a tool or a code-level control, not a fifth.</a:t>
            </a:r>
          </a:p>
        </p:txBody>
      </p:sp>
      <p:graphicFrame>
        <p:nvGraphicFramePr>
          <p:cNvPr id="13" name="Table 12"/>
          <p:cNvGraphicFramePr>
            <a:graphicFrameLocks noGrp="1"/>
          </p:cNvGraphicFramePr>
          <p:nvPr/>
        </p:nvGraphicFramePr>
        <p:xfrm>
          <a:off x="502920" y="1472184"/>
          <a:ext cx="11185854" cy="2398776"/>
        </p:xfrm>
        <a:graphic>
          <a:graphicData uri="http://schemas.openxmlformats.org/drawingml/2006/table">
            <a:tbl>
              <a:tblPr firstRow="1" bandRow="1">
                <a:tableStyleId>{5940675A-B579-460E-94D1-54222C63F5DA}</a:tableStyleId>
              </a:tblPr>
              <a:tblGrid>
                <a:gridCol w="3728618"/>
                <a:gridCol w="3728618"/>
                <a:gridCol w="3728618"/>
              </a:tblGrid>
              <a:tr h="405384">
                <a:tc>
                  <a:txBody>
                    <a:bodyPr wrap="square"/>
                    <a:lstStyle/>
                    <a:p>
                      <a:pPr>
                        <a:lnSpc>
                          <a:spcPct val="100000"/>
                        </a:lnSpc>
                      </a:pPr>
                      <a:r>
                        <a:rPr sz="1700" i="0" b="1">
                          <a:solidFill>
                            <a:srgbClr val="FFFFFF"/>
                          </a:solidFill>
                          <a:latin typeface="Helvetica Neue"/>
                        </a:rPr>
                        <a:t>Too low</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Right altitude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Too high</a:t>
                      </a:r>
                    </a:p>
                  </a:txBody>
                  <a:tcPr marL="109728" marR="109728" marT="54864" marB="54864" anchor="ctr">
                    <a:solidFill>
                      <a:srgbClr val="1E3A5F"/>
                    </a:solidFill>
                  </a:tcPr>
                </a:tc>
              </a:tr>
              <a:tr h="664464">
                <a:tc>
                  <a:txBody>
                    <a:bodyPr wrap="square"/>
                    <a:lstStyle/>
                    <a:p>
                      <a:pPr>
                        <a:lnSpc>
                          <a:spcPct val="100000"/>
                        </a:lnSpc>
                      </a:pPr>
                      <a:r>
                        <a:rPr sz="1700" i="0" b="0">
                          <a:solidFill>
                            <a:srgbClr val="1E293B"/>
                          </a:solidFill>
                          <a:latin typeface="Helvetica Neue"/>
                        </a:rPr>
                        <a:t>Hardcoded if/else logic in prose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Specific enough to guide, flexible enough to generalize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Vague guidance that assumes context the model lacks</a:t>
                      </a:r>
                    </a:p>
                  </a:txBody>
                  <a:tcPr marL="109728" marR="109728" marT="54864" marB="54864" anchor="ctr">
                    <a:solidFill>
                      <a:srgbClr val="FFFFFF"/>
                    </a:solidFill>
                  </a:tcPr>
                </a:tc>
              </a:tr>
              <a:tr h="664464">
                <a:tc>
                  <a:txBody>
                    <a:bodyPr wrap="square"/>
                    <a:lstStyle/>
                    <a:p>
                      <a:pPr>
                        <a:lnSpc>
                          <a:spcPct val="100000"/>
                        </a:lnSpc>
                      </a:pPr>
                      <a:r>
                        <a:rPr sz="1700" i="0" b="0">
                          <a:solidFill>
                            <a:srgbClr val="1E293B"/>
                          </a:solidFill>
                          <a:latin typeface="Helvetica Neue"/>
                        </a:rPr>
                        <a:t>Brittle on any case not enumerated</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Heuristics with clear signals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The model invents its own interpretation</a:t>
                      </a:r>
                    </a:p>
                  </a:txBody>
                  <a:tcPr marL="109728" marR="109728" marT="54864" marB="54864" anchor="ctr">
                    <a:solidFill>
                      <a:srgbClr val="F8FAFC"/>
                    </a:solidFill>
                  </a:tcPr>
                </a:tc>
              </a:tr>
              <a:tr h="664464">
                <a:tc>
                  <a:txBody>
                    <a:bodyPr wrap="square"/>
                    <a:lstStyle/>
                    <a:p>
                      <a:pPr>
                        <a:lnSpc>
                          <a:spcPct val="100000"/>
                        </a:lnSpc>
                      </a:pPr>
                      <a:r>
                        <a:rPr sz="1700" i="0" b="0">
                          <a:solidFill>
                            <a:srgbClr val="1E293B"/>
                          </a:solidFill>
                          <a:latin typeface="Helvetica Neue"/>
                        </a:rPr>
                        <a:t>"If the user says X, reply Y. If Z, reply W…"</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"Prefer X when the signal is A; escalate when uncertain."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"Be helpful and use good judgment."</a:t>
                      </a:r>
                    </a:p>
                  </a:txBody>
                  <a:tcPr marL="109728" marR="109728" marT="54864" marB="54864"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Organize by frequency, stability and enforcement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five layers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notes/02-context-anatomy.md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"The agent keeps doing X" is usually a hook, not a stronger sentence.</a:t>
            </a:r>
          </a:p>
        </p:txBody>
      </p:sp>
      <p:sp>
        <p:nvSpPr>
          <p:cNvPr id="13" name="Rectangle 12"/>
          <p:cNvSpPr/>
          <p:nvPr/>
        </p:nvSpPr>
        <p:spPr>
          <a:xfrm>
            <a:off x="1645920" y="1472184"/>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810512" y="1601114"/>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10512" y="160111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6" name="TextBox 15"/>
          <p:cNvSpPr txBox="1"/>
          <p:nvPr/>
        </p:nvSpPr>
        <p:spPr>
          <a:xfrm>
            <a:off x="2468879" y="1472184"/>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Persistent instruction</a:t>
            </a:r>
            <a:r>
              <a:rPr sz="1800" i="0" b="0">
                <a:solidFill>
                  <a:srgbClr val="475569"/>
                </a:solidFill>
                <a:latin typeface="Helvetica Neue"/>
              </a:rPr>
              <a:t> — identity, conventions, invariants. Test: true in nearly every task? (</a:t>
            </a:r>
            <a:r>
              <a:rPr sz="1620" i="0" b="0">
                <a:solidFill>
                  <a:srgbClr val="0F7490"/>
                </a:solidFill>
                <a:latin typeface="Menlo"/>
              </a:rPr>
              <a:t>CLAUDE.md</a:t>
            </a:r>
            <a:r>
              <a:rPr sz="1800" i="0" b="0">
                <a:solidFill>
                  <a:srgbClr val="475569"/>
                </a:solidFill>
                <a:latin typeface="Helvetica Neue"/>
              </a:rPr>
              <a:t>)</a:t>
            </a:r>
          </a:p>
        </p:txBody>
      </p:sp>
      <p:sp>
        <p:nvSpPr>
          <p:cNvPr id="17" name="Rectangle 16"/>
          <p:cNvSpPr/>
          <p:nvPr/>
        </p:nvSpPr>
        <p:spPr>
          <a:xfrm>
            <a:off x="1645920" y="2296972"/>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810512" y="2425903"/>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10512" y="242590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20" name="TextBox 19"/>
          <p:cNvSpPr txBox="1"/>
          <p:nvPr/>
        </p:nvSpPr>
        <p:spPr>
          <a:xfrm>
            <a:off x="2468879" y="2296972"/>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On-demand knowledge</a:t>
            </a:r>
            <a:r>
              <a:rPr sz="1800" i="0" b="0">
                <a:solidFill>
                  <a:srgbClr val="475569"/>
                </a:solidFill>
                <a:latin typeface="Helvetica Neue"/>
              </a:rPr>
              <a:t> — skills and playbooks. ~10 tokens of description resident, the procedure loaded when triggered</a:t>
            </a:r>
          </a:p>
        </p:txBody>
      </p:sp>
      <p:sp>
        <p:nvSpPr>
          <p:cNvPr id="21" name="Rectangle 20"/>
          <p:cNvSpPr/>
          <p:nvPr/>
        </p:nvSpPr>
        <p:spPr>
          <a:xfrm>
            <a:off x="1645920" y="3121761"/>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810512" y="3250691"/>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10512" y="325069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4" name="TextBox 23"/>
          <p:cNvSpPr txBox="1"/>
          <p:nvPr/>
        </p:nvSpPr>
        <p:spPr>
          <a:xfrm>
            <a:off x="2468879" y="3121761"/>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Runtime injection</a:t>
            </a:r>
            <a:r>
              <a:rPr sz="1800" i="0" b="0">
                <a:solidFill>
                  <a:srgbClr val="475569"/>
                </a:solidFill>
                <a:latin typeface="Helvetica Neue"/>
              </a:rPr>
              <a:t> — date, tenant, permissions, assembled at request time rather than stored in the prompt</a:t>
            </a:r>
          </a:p>
        </p:txBody>
      </p:sp>
      <p:sp>
        <p:nvSpPr>
          <p:cNvPr id="25" name="Rectangle 24"/>
          <p:cNvSpPr/>
          <p:nvPr/>
        </p:nvSpPr>
        <p:spPr>
          <a:xfrm>
            <a:off x="1645920" y="3946550"/>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810512" y="4075480"/>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10512" y="4075480"/>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8" name="TextBox 27"/>
          <p:cNvSpPr txBox="1"/>
          <p:nvPr/>
        </p:nvSpPr>
        <p:spPr>
          <a:xfrm>
            <a:off x="2468879" y="3946550"/>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Long-term memory</a:t>
            </a:r>
            <a:r>
              <a:rPr sz="1800" i="0" b="0">
                <a:solidFill>
                  <a:srgbClr val="475569"/>
                </a:solidFill>
                <a:latin typeface="Helvetica Neue"/>
              </a:rPr>
              <a:t> — a compact index plus retrievable detail. Never a transcript pasted forward</a:t>
            </a:r>
          </a:p>
        </p:txBody>
      </p:sp>
      <p:sp>
        <p:nvSpPr>
          <p:cNvPr id="29" name="Rectangle 28"/>
          <p:cNvSpPr/>
          <p:nvPr/>
        </p:nvSpPr>
        <p:spPr>
          <a:xfrm>
            <a:off x="1645920" y="4771339"/>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810512" y="4900269"/>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10512" y="490026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5</a:t>
            </a:r>
          </a:p>
        </p:txBody>
      </p:sp>
      <p:sp>
        <p:nvSpPr>
          <p:cNvPr id="32" name="TextBox 31"/>
          <p:cNvSpPr txBox="1"/>
          <p:nvPr/>
        </p:nvSpPr>
        <p:spPr>
          <a:xfrm>
            <a:off x="2468879" y="4771339"/>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Deterministic system</a:t>
            </a:r>
            <a:r>
              <a:rPr sz="1800" i="0" b="0">
                <a:solidFill>
                  <a:srgbClr val="475569"/>
                </a:solidFill>
                <a:latin typeface="Helvetica Neue"/>
              </a:rPr>
              <a:t> — hooks, permissions, schemas, validators. A code control can't be talked out of enforcing itself</a:t>
            </a:r>
          </a:p>
        </p:txBody>
      </p:sp>
      <p:sp>
        <p:nvSpPr>
          <p:cNvPr id="33" name="TextBox 32"/>
          <p:cNvSpPr txBox="1"/>
          <p:nvPr/>
        </p:nvSpPr>
        <p:spPr>
          <a:xfrm>
            <a:off x="502920" y="1472184"/>
            <a:ext cx="1005840" cy="502920"/>
          </a:xfrm>
          <a:prstGeom prst="rect">
            <a:avLst/>
          </a:prstGeom>
          <a:noFill/>
        </p:spPr>
        <p:txBody>
          <a:bodyPr wrap="square" lIns="0" rIns="0" tIns="0" bIns="0" anchor="b">
            <a:noAutofit/>
          </a:bodyPr>
          <a:lstStyle/>
          <a:p>
            <a:pPr algn="ctr">
              <a:lnSpc>
                <a:spcPct val="110000"/>
              </a:lnSpc>
            </a:pPr>
            <a:r>
              <a:rPr sz="1200" i="1" b="0">
                <a:solidFill>
                  <a:srgbClr val="94A3B8"/>
                </a:solidFill>
                <a:latin typeface="Helvetica Neue"/>
              </a:rPr>
              <a:t>always resident</a:t>
            </a:r>
          </a:p>
        </p:txBody>
      </p:sp>
      <p:sp>
        <p:nvSpPr>
          <p:cNvPr id="34" name="TextBox 33"/>
          <p:cNvSpPr txBox="1"/>
          <p:nvPr/>
        </p:nvSpPr>
        <p:spPr>
          <a:xfrm>
            <a:off x="502920" y="4983480"/>
            <a:ext cx="1005840" cy="50292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enforced in code</a:t>
            </a:r>
          </a:p>
        </p:txBody>
      </p:sp>
      <p:cxnSp>
        <p:nvCxnSpPr>
          <p:cNvPr id="35" name="Connector 34"/>
          <p:cNvCxnSpPr/>
          <p:nvPr/>
        </p:nvCxnSpPr>
        <p:spPr>
          <a:xfrm>
            <a:off x="1005840" y="2066544"/>
            <a:ext cx="0" cy="2825496"/>
          </a:xfrm>
          <a:prstGeom prst="line">
            <a:avLst/>
          </a:prstGeom>
          <a:ln w="2857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100" i="0" b="1">
                <a:solidFill>
                  <a:srgbClr val="FFFFFF"/>
                </a:solidFill>
                <a:latin typeface="Helvetica Neue"/>
              </a:rPr>
              <a:t>Stable before dynamic — the cache is a prefix match</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Ordering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notes/02-context-anatomy.md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Cache economics and attention placement point the same way. Design for both from the start.</a:t>
            </a:r>
          </a:p>
        </p:txBody>
      </p:sp>
      <p:sp>
        <p:nvSpPr>
          <p:cNvPr id="13" name="Rectangle 12"/>
          <p:cNvSpPr/>
          <p:nvPr/>
        </p:nvSpPr>
        <p:spPr>
          <a:xfrm>
            <a:off x="448056" y="1417320"/>
            <a:ext cx="6261948" cy="343500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2-10-8557644568401577153.png"/>
          <p:cNvPicPr>
            <a:picLocks noChangeAspect="1"/>
          </p:cNvPicPr>
          <p:nvPr/>
        </p:nvPicPr>
        <p:blipFill>
          <a:blip r:embed="rId2"/>
          <a:stretch>
            <a:fillRect/>
          </a:stretch>
        </p:blipFill>
        <p:spPr>
          <a:xfrm>
            <a:off x="502920" y="1472184"/>
            <a:ext cx="6152220" cy="3325275"/>
          </a:xfrm>
          <a:prstGeom prst="rect">
            <a:avLst/>
          </a:prstGeom>
        </p:spPr>
      </p:pic>
      <p:sp>
        <p:nvSpPr>
          <p:cNvPr id="15" name="TextBox 14"/>
          <p:cNvSpPr txBox="1"/>
          <p:nvPr/>
        </p:nvSpPr>
        <p:spPr>
          <a:xfrm>
            <a:off x="502920" y="4934619"/>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Li, AI Agents in Depth (2026), Fig. 2-10 (Apache-2.0)</a:t>
            </a:r>
          </a:p>
        </p:txBody>
      </p:sp>
      <p:sp>
        <p:nvSpPr>
          <p:cNvPr id="16" name="Rectangle 15"/>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The first differing token invalidates </a:t>
            </a:r>
            <a:r>
              <a:rPr sz="1800" i="0" b="1">
                <a:solidFill>
                  <a:srgbClr val="1E293B"/>
                </a:solidFill>
                <a:latin typeface="Helvetica Neue"/>
              </a:rPr>
              <a:t>everything after it</a:t>
            </a:r>
          </a:p>
        </p:txBody>
      </p:sp>
      <p:sp>
        <p:nvSpPr>
          <p:cNvPr id="18" name="Rectangle 17"/>
          <p:cNvSpPr/>
          <p:nvPr/>
        </p:nvSpPr>
        <p:spPr>
          <a:xfrm>
            <a:off x="7020900" y="229971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Order: system → tools → stable memory, then retrieved → history → state → query</a:t>
            </a:r>
          </a:p>
        </p:txBody>
      </p:sp>
      <p:sp>
        <p:nvSpPr>
          <p:cNvPr id="20" name="Rectangle 19"/>
          <p:cNvSpPr/>
          <p:nvPr/>
        </p:nvSpPr>
        <p:spPr>
          <a:xfrm>
            <a:off x="7020900" y="334213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325526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Cached reads cost about </a:t>
            </a:r>
            <a:r>
              <a:rPr sz="1800" i="0" b="1">
                <a:solidFill>
                  <a:srgbClr val="1E293B"/>
                </a:solidFill>
                <a:latin typeface="Helvetica Neue"/>
              </a:rPr>
              <a:t>1/10</a:t>
            </a:r>
            <a:r>
              <a:rPr sz="1800" i="0" b="0">
                <a:solidFill>
                  <a:srgbClr val="1E293B"/>
                </a:solidFill>
                <a:latin typeface="Helvetica Neue"/>
              </a:rPr>
              <a:t> of fresh prefill</a:t>
            </a:r>
          </a:p>
        </p:txBody>
      </p:sp>
      <p:sp>
        <p:nvSpPr>
          <p:cNvPr id="22" name="Rectangle 21"/>
          <p:cNvSpPr/>
          <p:nvPr/>
        </p:nvSpPr>
        <p:spPr>
          <a:xfrm>
            <a:off x="7020900" y="408279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995928"/>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Long documents above the query: up to </a:t>
            </a:r>
            <a:r>
              <a:rPr sz="1800" i="0" b="1">
                <a:solidFill>
                  <a:srgbClr val="1E293B"/>
                </a:solidFill>
                <a:latin typeface="Helvetica Neue"/>
              </a:rPr>
              <a:t>30%</a:t>
            </a:r>
            <a:r>
              <a:rPr sz="1800" i="0" b="0">
                <a:solidFill>
                  <a:srgbClr val="1E293B"/>
                </a:solidFill>
                <a:latin typeface="Helvetica Neue"/>
              </a:rPr>
              <a:t> better (Anthropic)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Patterns that break the cache (or the model)</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Li, Experiment 2-3</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notes/02-context-anatomy.md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9</a:t>
            </a:r>
          </a:p>
        </p:txBody>
      </p:sp>
      <p:sp>
        <p:nvSpPr>
          <p:cNvPr id="10" name="TextBox 9"/>
          <p:cNvSpPr txBox="1"/>
          <p:nvPr/>
        </p:nvSpPr>
        <p:spPr>
          <a:xfrm>
            <a:off x="502920" y="1426464"/>
            <a:ext cx="11185855" cy="661416"/>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One timestamp in a 100k-conversation/day system prompt: TTFT </a:t>
            </a:r>
            <a:r>
              <a:rPr sz="1700" i="0" b="1">
                <a:solidFill>
                  <a:srgbClr val="1E293B"/>
                </a:solidFill>
                <a:latin typeface="Helvetica Neue"/>
              </a:rPr>
              <a:t>0.5 s → 3–5 s</a:t>
            </a:r>
            <a:r>
              <a:rPr sz="1700" i="0" b="0">
                <a:solidFill>
                  <a:srgbClr val="475569"/>
                </a:solidFill>
                <a:latin typeface="Helvetica Neue"/>
              </a:rPr>
              <a:t>, and the bill nearly doubled.</a:t>
            </a:r>
          </a:p>
        </p:txBody>
      </p:sp>
      <p:graphicFrame>
        <p:nvGraphicFramePr>
          <p:cNvPr id="11" name="Table 10"/>
          <p:cNvGraphicFramePr>
            <a:graphicFrameLocks noGrp="1"/>
          </p:cNvGraphicFramePr>
          <p:nvPr/>
        </p:nvGraphicFramePr>
        <p:xfrm>
          <a:off x="502920" y="2270760"/>
          <a:ext cx="11185853" cy="3767328"/>
        </p:xfrm>
        <a:graphic>
          <a:graphicData uri="http://schemas.openxmlformats.org/drawingml/2006/table">
            <a:tbl>
              <a:tblPr firstRow="1" bandRow="1">
                <a:tableStyleId>{5940675A-B579-460E-94D1-54222C63F5DA}</a:tableStyleId>
              </a:tblPr>
              <a:tblGrid>
                <a:gridCol w="3355756"/>
                <a:gridCol w="4026907"/>
                <a:gridCol w="3803190"/>
              </a:tblGrid>
              <a:tr h="374904">
                <a:tc>
                  <a:txBody>
                    <a:bodyPr wrap="square"/>
                    <a:lstStyle/>
                    <a:p>
                      <a:pPr>
                        <a:lnSpc>
                          <a:spcPct val="100000"/>
                        </a:lnSpc>
                      </a:pPr>
                      <a:r>
                        <a:rPr sz="1500" i="0" b="1">
                          <a:solidFill>
                            <a:srgbClr val="FFFFFF"/>
                          </a:solidFill>
                          <a:latin typeface="Helvetica Neue"/>
                        </a:rPr>
                        <a:t>Pattern</a:t>
                      </a:r>
                    </a:p>
                  </a:txBody>
                  <a:tcPr marL="109728" marR="109728" marT="54864" marB="54864" anchor="ctr">
                    <a:solidFill>
                      <a:srgbClr val="1E3A5F"/>
                    </a:solidFill>
                  </a:tcPr>
                </a:tc>
                <a:tc>
                  <a:txBody>
                    <a:bodyPr wrap="square"/>
                    <a:lstStyle/>
                    <a:p>
                      <a:pPr>
                        <a:lnSpc>
                          <a:spcPct val="100000"/>
                        </a:lnSpc>
                      </a:pPr>
                      <a:r>
                        <a:rPr sz="1500" i="0" b="1">
                          <a:solidFill>
                            <a:srgbClr val="FFFFFF"/>
                          </a:solidFill>
                          <a:latin typeface="Helvetica Neue"/>
                        </a:rPr>
                        <a:t>What breaks</a:t>
                      </a:r>
                    </a:p>
                  </a:txBody>
                  <a:tcPr marL="109728" marR="109728" marT="54864" marB="54864" anchor="ctr">
                    <a:solidFill>
                      <a:srgbClr val="1E3A5F"/>
                    </a:solidFill>
                  </a:tcPr>
                </a:tc>
                <a:tc>
                  <a:txBody>
                    <a:bodyPr wrap="square"/>
                    <a:lstStyle/>
                    <a:p>
                      <a:pPr>
                        <a:lnSpc>
                          <a:spcPct val="100000"/>
                        </a:lnSpc>
                      </a:pPr>
                      <a:r>
                        <a:rPr sz="1500" i="0" b="1">
                          <a:solidFill>
                            <a:srgbClr val="FFFFFF"/>
                          </a:solidFill>
                          <a:latin typeface="Helvetica Neue"/>
                        </a:rPr>
                        <a:t>Fix</a:t>
                      </a:r>
                    </a:p>
                  </a:txBody>
                  <a:tcPr marL="109728" marR="109728" marT="54864" marB="54864" anchor="ctr">
                    <a:solidFill>
                      <a:srgbClr val="1E3A5F"/>
                    </a:solidFill>
                  </a:tcPr>
                </a:tc>
              </a:tr>
              <a:tr h="374904">
                <a:tc>
                  <a:txBody>
                    <a:bodyPr wrap="square"/>
                    <a:lstStyle/>
                    <a:p>
                      <a:pPr>
                        <a:lnSpc>
                          <a:spcPct val="100000"/>
                        </a:lnSpc>
                      </a:pPr>
                      <a:r>
                        <a:rPr sz="1500" i="0" b="1">
                          <a:solidFill>
                            <a:srgbClr val="1E293B"/>
                          </a:solidFill>
                          <a:latin typeface="Helvetica Neue"/>
                        </a:rPr>
                        <a:t>Timestamp in the system prompt</a:t>
                      </a:r>
                    </a:p>
                  </a:txBody>
                  <a:tcPr marL="109728" marR="109728" marT="54864" marB="54864" anchor="ctr">
                    <a:solidFill>
                      <a:srgbClr val="FFFFFF"/>
                    </a:solidFill>
                  </a:tcPr>
                </a:tc>
                <a:tc>
                  <a:txBody>
                    <a:bodyPr wrap="square"/>
                    <a:lstStyle/>
                    <a:p>
                      <a:pPr>
                        <a:lnSpc>
                          <a:spcPct val="100000"/>
                        </a:lnSpc>
                      </a:pPr>
                      <a:r>
                        <a:rPr sz="1500" i="0" b="0">
                          <a:solidFill>
                            <a:srgbClr val="475569"/>
                          </a:solidFill>
                          <a:latin typeface="Helvetica Neue"/>
                        </a:rPr>
                        <a:t>Prefix changes every request</a:t>
                      </a:r>
                    </a:p>
                  </a:txBody>
                  <a:tcPr marL="109728" marR="109728" marT="54864" marB="54864" anchor="ctr">
                    <a:solidFill>
                      <a:srgbClr val="FFFFFF"/>
                    </a:solidFill>
                  </a:tcPr>
                </a:tc>
                <a:tc>
                  <a:txBody>
                    <a:bodyPr wrap="square"/>
                    <a:lstStyle/>
                    <a:p>
                      <a:pPr>
                        <a:lnSpc>
                          <a:spcPct val="100000"/>
                        </a:lnSpc>
                      </a:pPr>
                      <a:r>
                        <a:rPr sz="1500" i="0" b="0">
                          <a:solidFill>
                            <a:srgbClr val="475569"/>
                          </a:solidFill>
                          <a:latin typeface="Helvetica Neue"/>
                        </a:rPr>
                        <a:t>Late message or a clock tool</a:t>
                      </a:r>
                    </a:p>
                  </a:txBody>
                  <a:tcPr marL="109728" marR="109728" marT="54864" marB="54864" anchor="ctr">
                    <a:solidFill>
                      <a:srgbClr val="FFFFFF"/>
                    </a:solidFill>
                  </a:tcPr>
                </a:tc>
              </a:tr>
              <a:tr h="603504">
                <a:tc>
                  <a:txBody>
                    <a:bodyPr wrap="square"/>
                    <a:lstStyle/>
                    <a:p>
                      <a:pPr>
                        <a:lnSpc>
                          <a:spcPct val="100000"/>
                        </a:lnSpc>
                      </a:pPr>
                      <a:r>
                        <a:rPr sz="1500" i="0" b="1">
                          <a:solidFill>
                            <a:srgbClr val="1E293B"/>
                          </a:solidFill>
                          <a:latin typeface="Helvetica Neue"/>
                        </a:rPr>
                        <a:t>Per-request user config (quota, balance)</a:t>
                      </a:r>
                    </a:p>
                  </a:txBody>
                  <a:tcPr marL="109728" marR="109728" marT="54864" marB="54864" anchor="ctr">
                    <a:solidFill>
                      <a:srgbClr val="F8FAFC"/>
                    </a:solidFill>
                  </a:tcPr>
                </a:tc>
                <a:tc>
                  <a:txBody>
                    <a:bodyPr wrap="square"/>
                    <a:lstStyle/>
                    <a:p>
                      <a:pPr>
                        <a:lnSpc>
                          <a:spcPct val="100000"/>
                        </a:lnSpc>
                      </a:pPr>
                      <a:r>
                        <a:rPr sz="1500" i="0" b="0">
                          <a:solidFill>
                            <a:srgbClr val="475569"/>
                          </a:solidFill>
                          <a:latin typeface="Helvetica Neue"/>
                        </a:rPr>
                        <a:t>Same</a:t>
                      </a:r>
                    </a:p>
                  </a:txBody>
                  <a:tcPr marL="109728" marR="109728" marT="54864" marB="54864" anchor="ctr">
                    <a:solidFill>
                      <a:srgbClr val="F8FAFC"/>
                    </a:solidFill>
                  </a:tcPr>
                </a:tc>
                <a:tc>
                  <a:txBody>
                    <a:bodyPr wrap="square"/>
                    <a:lstStyle/>
                    <a:p>
                      <a:pPr>
                        <a:lnSpc>
                          <a:spcPct val="100000"/>
                        </a:lnSpc>
                      </a:pPr>
                      <a:r>
                        <a:rPr sz="1500" i="0" b="0">
                          <a:solidFill>
                            <a:srgbClr val="475569"/>
                          </a:solidFill>
                          <a:latin typeface="Helvetica Neue"/>
                        </a:rPr>
                        <a:t>State at the end (status bar)</a:t>
                      </a:r>
                    </a:p>
                  </a:txBody>
                  <a:tcPr marL="109728" marR="109728" marT="54864" marB="54864" anchor="ctr">
                    <a:solidFill>
                      <a:srgbClr val="F8FAFC"/>
                    </a:solidFill>
                  </a:tcPr>
                </a:tc>
              </a:tr>
              <a:tr h="603504">
                <a:tc>
                  <a:txBody>
                    <a:bodyPr wrap="square"/>
                    <a:lstStyle/>
                    <a:p>
                      <a:pPr>
                        <a:lnSpc>
                          <a:spcPct val="100000"/>
                        </a:lnSpc>
                      </a:pPr>
                      <a:r>
                        <a:rPr sz="1500" i="0" b="1">
                          <a:solidFill>
                            <a:srgbClr val="1E293B"/>
                          </a:solidFill>
                          <a:latin typeface="Helvetica Neue"/>
                        </a:rPr>
                        <a:t>Reordering tools by usage</a:t>
                      </a:r>
                    </a:p>
                  </a:txBody>
                  <a:tcPr marL="109728" marR="109728" marT="54864" marB="54864" anchor="ctr">
                    <a:solidFill>
                      <a:srgbClr val="FFFFFF"/>
                    </a:solidFill>
                  </a:tcPr>
                </a:tc>
                <a:tc>
                  <a:txBody>
                    <a:bodyPr wrap="square"/>
                    <a:lstStyle/>
                    <a:p>
                      <a:pPr>
                        <a:lnSpc>
                          <a:spcPct val="100000"/>
                        </a:lnSpc>
                      </a:pPr>
                      <a:r>
                        <a:rPr sz="1500" i="0" b="0">
                          <a:solidFill>
                            <a:srgbClr val="475569"/>
                          </a:solidFill>
                          <a:latin typeface="Helvetica Neue"/>
                        </a:rPr>
                        <a:t>Hundreds of tokens re-prefilled per tool</a:t>
                      </a:r>
                    </a:p>
                  </a:txBody>
                  <a:tcPr marL="109728" marR="109728" marT="54864" marB="54864" anchor="ctr">
                    <a:solidFill>
                      <a:srgbClr val="FFFFFF"/>
                    </a:solidFill>
                  </a:tcPr>
                </a:tc>
                <a:tc>
                  <a:txBody>
                    <a:bodyPr wrap="square"/>
                    <a:lstStyle/>
                    <a:p>
                      <a:pPr>
                        <a:lnSpc>
                          <a:spcPct val="100000"/>
                        </a:lnSpc>
                      </a:pPr>
                      <a:r>
                        <a:rPr sz="1500" i="0" b="0">
                          <a:solidFill>
                            <a:srgbClr val="475569"/>
                          </a:solidFill>
                          <a:latin typeface="Helvetica Neue"/>
                        </a:rPr>
                        <a:t>Fixed order</a:t>
                      </a:r>
                    </a:p>
                  </a:txBody>
                  <a:tcPr marL="109728" marR="109728" marT="54864" marB="54864" anchor="ctr">
                    <a:solidFill>
                      <a:srgbClr val="FFFFFF"/>
                    </a:solidFill>
                  </a:tcPr>
                </a:tc>
              </a:tr>
              <a:tr h="603504">
                <a:tc>
                  <a:txBody>
                    <a:bodyPr wrap="square"/>
                    <a:lstStyle/>
                    <a:p>
                      <a:pPr>
                        <a:lnSpc>
                          <a:spcPct val="100000"/>
                        </a:lnSpc>
                      </a:pPr>
                      <a:r>
                        <a:rPr sz="1500" i="0" b="1">
                          <a:solidFill>
                            <a:srgbClr val="1E293B"/>
                          </a:solidFill>
                          <a:latin typeface="Helvetica Neue"/>
                        </a:rPr>
                        <a:t>Sliding-window history</a:t>
                      </a:r>
                    </a:p>
                  </a:txBody>
                  <a:tcPr marL="109728" marR="109728" marT="54864" marB="54864" anchor="ctr">
                    <a:solidFill>
                      <a:srgbClr val="F8FAFC"/>
                    </a:solidFill>
                  </a:tcPr>
                </a:tc>
                <a:tc>
                  <a:txBody>
                    <a:bodyPr wrap="square"/>
                    <a:lstStyle/>
                    <a:p>
                      <a:pPr>
                        <a:lnSpc>
                          <a:spcPct val="100000"/>
                        </a:lnSpc>
                      </a:pPr>
                      <a:r>
                        <a:rPr sz="1500" i="0" b="0">
                          <a:solidFill>
                            <a:srgbClr val="475569"/>
                          </a:solidFill>
                          <a:latin typeface="Helvetica Neue"/>
                        </a:rPr>
                        <a:t>Prefix shifts; old results vanish and calls repeat</a:t>
                      </a:r>
                    </a:p>
                  </a:txBody>
                  <a:tcPr marL="109728" marR="109728" marT="54864" marB="54864" anchor="ctr">
                    <a:solidFill>
                      <a:srgbClr val="F8FAFC"/>
                    </a:solidFill>
                  </a:tcPr>
                </a:tc>
                <a:tc>
                  <a:txBody>
                    <a:bodyPr wrap="square"/>
                    <a:lstStyle/>
                    <a:p>
                      <a:pPr>
                        <a:lnSpc>
                          <a:spcPct val="100000"/>
                        </a:lnSpc>
                      </a:pPr>
                      <a:r>
                        <a:rPr sz="1500" i="0" b="0">
                          <a:solidFill>
                            <a:srgbClr val="475569"/>
                          </a:solidFill>
                          <a:latin typeface="Helvetica Neue"/>
                        </a:rPr>
                        <a:t>Compaction, not truncation</a:t>
                      </a:r>
                    </a:p>
                  </a:txBody>
                  <a:tcPr marL="109728" marR="109728" marT="54864" marB="54864" anchor="ctr">
                    <a:solidFill>
                      <a:srgbClr val="F8FAFC"/>
                    </a:solidFill>
                  </a:tcPr>
                </a:tc>
              </a:tr>
              <a:tr h="603504">
                <a:tc>
                  <a:txBody>
                    <a:bodyPr wrap="square"/>
                    <a:lstStyle/>
                    <a:p>
                      <a:pPr>
                        <a:lnSpc>
                          <a:spcPct val="100000"/>
                        </a:lnSpc>
                      </a:pPr>
                      <a:r>
                        <a:rPr sz="1500" i="0" b="1">
                          <a:solidFill>
                            <a:srgbClr val="1E293B"/>
                          </a:solidFill>
                          <a:latin typeface="Helvetica Neue"/>
                        </a:rPr>
                        <a:t>Flattening to </a:t>
                      </a:r>
                      <a:r>
                        <a:rPr sz="1350" i="0" b="1">
                          <a:solidFill>
                            <a:srgbClr val="0F7490"/>
                          </a:solidFill>
                          <a:latin typeface="Menlo"/>
                        </a:rPr>
                        <a:t>USER:</a:t>
                      </a:r>
                      <a:r>
                        <a:rPr sz="1500" i="0" b="1">
                          <a:solidFill>
                            <a:srgbClr val="1E293B"/>
                          </a:solidFill>
                          <a:latin typeface="Helvetica Neue"/>
                        </a:rPr>
                        <a:t> / </a:t>
                      </a:r>
                      <a:r>
                        <a:rPr sz="1350" i="0" b="1">
                          <a:solidFill>
                            <a:srgbClr val="0F7490"/>
                          </a:solidFill>
                          <a:latin typeface="Menlo"/>
                        </a:rPr>
                        <a:t>ASSISTANT:</a:t>
                      </a:r>
                      <a:r>
                        <a:rPr sz="1500" i="0" b="1">
                          <a:solidFill>
                            <a:srgbClr val="1E293B"/>
                          </a:solidFill>
                          <a:latin typeface="Helvetica Neue"/>
                        </a:rPr>
                        <a:t> text</a:t>
                      </a:r>
                    </a:p>
                  </a:txBody>
                  <a:tcPr marL="109728" marR="109728" marT="54864" marB="54864" anchor="ctr">
                    <a:solidFill>
                      <a:srgbClr val="FFFFFF"/>
                    </a:solidFill>
                  </a:tcPr>
                </a:tc>
                <a:tc>
                  <a:txBody>
                    <a:bodyPr wrap="square"/>
                    <a:lstStyle/>
                    <a:p>
                      <a:pPr>
                        <a:lnSpc>
                          <a:spcPct val="100000"/>
                        </a:lnSpc>
                      </a:pPr>
                      <a:r>
                        <a:rPr sz="1500" i="0" b="0">
                          <a:solidFill>
                            <a:srgbClr val="475569"/>
                          </a:solidFill>
                          <a:latin typeface="Helvetica Neue"/>
                        </a:rPr>
                        <a:t>Leaves the trained format; tool results ignored</a:t>
                      </a:r>
                    </a:p>
                  </a:txBody>
                  <a:tcPr marL="109728" marR="109728" marT="54864" marB="54864" anchor="ctr">
                    <a:solidFill>
                      <a:srgbClr val="FFFFFF"/>
                    </a:solidFill>
                  </a:tcPr>
                </a:tc>
                <a:tc>
                  <a:txBody>
                    <a:bodyPr wrap="square"/>
                    <a:lstStyle/>
                    <a:p>
                      <a:pPr>
                        <a:lnSpc>
                          <a:spcPct val="100000"/>
                        </a:lnSpc>
                      </a:pPr>
                      <a:r>
                        <a:rPr sz="1500" i="0" b="0">
                          <a:solidFill>
                            <a:srgbClr val="475569"/>
                          </a:solidFill>
                          <a:latin typeface="Helvetica Neue"/>
                        </a:rPr>
                        <a:t>Structured API roles</a:t>
                      </a:r>
                    </a:p>
                  </a:txBody>
                  <a:tcPr marL="109728" marR="109728" marT="54864" marB="54864" anchor="ctr">
                    <a:solidFill>
                      <a:srgbClr val="FFFFFF"/>
                    </a:solidFill>
                  </a:tcPr>
                </a:tc>
              </a:tr>
              <a:tr h="603504">
                <a:tc>
                  <a:txBody>
                    <a:bodyPr wrap="square"/>
                    <a:lstStyle/>
                    <a:p>
                      <a:pPr>
                        <a:lnSpc>
                          <a:spcPct val="100000"/>
                        </a:lnSpc>
                      </a:pPr>
                      <a:r>
                        <a:rPr sz="1500" i="0" b="1">
                          <a:solidFill>
                            <a:srgbClr val="1E293B"/>
                          </a:solidFill>
                          <a:latin typeface="Helvetica Neue"/>
                        </a:rPr>
                        <a:t>Per-request few-shot swaps</a:t>
                      </a:r>
                    </a:p>
                  </a:txBody>
                  <a:tcPr marL="109728" marR="109728" marT="54864" marB="54864" anchor="ctr">
                    <a:solidFill>
                      <a:srgbClr val="F8FAFC"/>
                    </a:solidFill>
                  </a:tcPr>
                </a:tc>
                <a:tc>
                  <a:txBody>
                    <a:bodyPr wrap="square"/>
                    <a:lstStyle/>
                    <a:p>
                      <a:pPr>
                        <a:lnSpc>
                          <a:spcPct val="100000"/>
                        </a:lnSpc>
                      </a:pPr>
                      <a:r>
                        <a:rPr sz="1500" i="0" b="0">
                          <a:solidFill>
                            <a:srgbClr val="475569"/>
                          </a:solidFill>
                          <a:latin typeface="Helvetica Neue"/>
                        </a:rPr>
                        <a:t>Examples sit early and break the prefix</a:t>
                      </a:r>
                    </a:p>
                  </a:txBody>
                  <a:tcPr marL="109728" marR="109728" marT="54864" marB="54864" anchor="ctr">
                    <a:solidFill>
                      <a:srgbClr val="F8FAFC"/>
                    </a:solidFill>
                  </a:tcPr>
                </a:tc>
                <a:tc>
                  <a:txBody>
                    <a:bodyPr wrap="square"/>
                    <a:lstStyle/>
                    <a:p>
                      <a:pPr>
                        <a:lnSpc>
                          <a:spcPct val="100000"/>
                        </a:lnSpc>
                      </a:pPr>
                      <a:r>
                        <a:rPr sz="1500" i="0" b="0">
                          <a:solidFill>
                            <a:srgbClr val="475569"/>
                          </a:solidFill>
                          <a:latin typeface="Helvetica Neue"/>
                        </a:rPr>
                        <a:t>A fixed set per task type</a:t>
                      </a:r>
                    </a:p>
                  </a:txBody>
                  <a:tcPr marL="109728" marR="109728" marT="54864" marB="54864" anchor="ctr">
                    <a:solidFill>
                      <a:srgbClr val="F8FAFC"/>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The status bar — distill, don't retrieve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Li &amp; Shi, 11 models, ~24k evals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notes/02-context-anatomy.md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In-context learning is closer to retrieval than reasoning. Give the model the count; don't make it count.</a:t>
            </a:r>
          </a:p>
        </p:txBody>
      </p:sp>
      <p:sp>
        <p:nvSpPr>
          <p:cNvPr id="13" name="Rounded Rectangle 12"/>
          <p:cNvSpPr/>
          <p:nvPr/>
        </p:nvSpPr>
        <p:spPr>
          <a:xfrm>
            <a:off x="502920" y="1472184"/>
            <a:ext cx="6711513" cy="1904999"/>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XML</a:t>
            </a:r>
          </a:p>
        </p:txBody>
      </p:sp>
      <p:sp>
        <p:nvSpPr>
          <p:cNvPr id="15" name="TextBox 14"/>
          <p:cNvSpPr txBox="1"/>
          <p:nvPr/>
        </p:nvSpPr>
        <p:spPr>
          <a:xfrm>
            <a:off x="731520" y="1883664"/>
            <a:ext cx="6254313" cy="126491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&lt;agent_status&gt;</a:t>
            </a:r>
          </a:p>
          <a:p>
            <a:pPr algn="l">
              <a:lnSpc>
                <a:spcPct val="100000"/>
              </a:lnSpc>
            </a:pPr>
            <a:r>
              <a:rPr sz="1600" i="0" b="0">
                <a:solidFill>
                  <a:srgbClr val="E2E8F0"/>
                </a:solidFill>
                <a:latin typeface="Menlo"/>
              </a:rPr>
              <a:t>- phone_call: 3 invocations (Xfinity: 3/3 max)</a:t>
            </a:r>
          </a:p>
          <a:p>
            <a:pPr algn="l">
              <a:lnSpc>
                <a:spcPct val="100000"/>
              </a:lnSpc>
            </a:pPr>
            <a:r>
              <a:rPr sz="1600" i="0" b="0">
                <a:solidFill>
                  <a:srgbClr val="E2E8F0"/>
                </a:solidFill>
                <a:latin typeface="Menlo"/>
              </a:rPr>
              <a:t>- Current time: 2025-09-14 10:30:45</a:t>
            </a:r>
          </a:p>
          <a:p>
            <a:pPr algn="l">
              <a:lnSpc>
                <a:spcPct val="100000"/>
              </a:lnSpc>
            </a:pPr>
            <a:r>
              <a:rPr sz="1600" i="0" b="0">
                <a:solidFill>
                  <a:srgbClr val="E2E8F0"/>
                </a:solidFill>
                <a:latin typeface="Menlo"/>
              </a:rPr>
              <a:t>- TODO: [1] Cancel plan (in_progress)</a:t>
            </a:r>
          </a:p>
          <a:p>
            <a:pPr algn="l">
              <a:lnSpc>
                <a:spcPct val="100000"/>
              </a:lnSpc>
            </a:pPr>
            <a:r>
              <a:rPr sz="1600" i="0" b="0">
                <a:solidFill>
                  <a:srgbClr val="E2E8F0"/>
                </a:solidFill>
                <a:latin typeface="Menlo"/>
              </a:rPr>
              <a:t>&lt;/agent_status&gt;</a:t>
            </a:r>
          </a:p>
        </p:txBody>
      </p:sp>
      <p:sp>
        <p:nvSpPr>
          <p:cNvPr id="16" name="Rectangle 15"/>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Weak models gain </a:t>
            </a:r>
            <a:r>
              <a:rPr sz="1800" i="0" b="1">
                <a:solidFill>
                  <a:srgbClr val="1E293B"/>
                </a:solidFill>
                <a:latin typeface="Helvetica Neue"/>
              </a:rPr>
              <a:t>40–54 points</a:t>
            </a:r>
            <a:r>
              <a:rPr sz="1800" i="0" b="0">
                <a:solidFill>
                  <a:srgbClr val="1E293B"/>
                </a:solidFill>
                <a:latin typeface="Helvetica Neue"/>
              </a:rPr>
              <a:t>; a 2B model with a bar matches a frontier model without</a:t>
            </a:r>
          </a:p>
        </p:txBody>
      </p:sp>
      <p:sp>
        <p:nvSpPr>
          <p:cNvPr id="18" name="Rectangle 17"/>
          <p:cNvSpPr/>
          <p:nvPr/>
        </p:nvSpPr>
        <p:spPr>
          <a:xfrm>
            <a:off x="7580193" y="264718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560320"/>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Strong models cut reasoning tokens </a:t>
            </a:r>
            <a:r>
              <a:rPr sz="1800" i="0" b="1">
                <a:solidFill>
                  <a:srgbClr val="1E293B"/>
                </a:solidFill>
                <a:latin typeface="Helvetica Neue"/>
              </a:rPr>
              <a:t>80–90%</a:t>
            </a:r>
          </a:p>
        </p:txBody>
      </p:sp>
      <p:sp>
        <p:nvSpPr>
          <p:cNvPr id="20" name="Rectangle 19"/>
          <p:cNvSpPr/>
          <p:nvPr/>
        </p:nvSpPr>
        <p:spPr>
          <a:xfrm>
            <a:off x="7580193" y="33878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330098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Maintain it in code</a:t>
            </a:r>
            <a:r>
              <a:rPr sz="1800" i="0" b="0">
                <a:solidFill>
                  <a:srgbClr val="1E293B"/>
                </a:solidFill>
                <a:latin typeface="Helvetica Neue"/>
              </a:rPr>
              <a:t>: a 20-line regex beat an LLM summarizer</a:t>
            </a:r>
          </a:p>
        </p:txBody>
      </p:sp>
      <p:sp>
        <p:nvSpPr>
          <p:cNvPr id="22" name="Rectangle 21"/>
          <p:cNvSpPr/>
          <p:nvPr/>
        </p:nvSpPr>
        <p:spPr>
          <a:xfrm>
            <a:off x="7580193" y="4128515"/>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0233" y="404164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Lossy: pairs-only bar on a triple question, </a:t>
            </a:r>
            <a:r>
              <a:rPr sz="1800" i="0" b="1">
                <a:solidFill>
                  <a:srgbClr val="1E293B"/>
                </a:solidFill>
                <a:latin typeface="Helvetica Neue"/>
              </a:rPr>
              <a:t>100% → 7.6%</a:t>
            </a:r>
          </a:p>
        </p:txBody>
      </p:sp>
      <p:sp>
        <p:nvSpPr>
          <p:cNvPr id="24" name="Rectangle 23"/>
          <p:cNvSpPr/>
          <p:nvPr/>
        </p:nvSpPr>
        <p:spPr>
          <a:xfrm>
            <a:off x="7580193" y="486918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00233" y="478231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Errors above ~10% are worse than no bar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window as an economy</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Three things to spend on</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notes/03-budgeting-the-window.md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Investments (a rule used every call) go in the stable prefix. Expenses (a tool result read once) get cleared.</a:t>
            </a:r>
          </a:p>
        </p:txBody>
      </p:sp>
      <p:graphicFrame>
        <p:nvGraphicFramePr>
          <p:cNvPr id="13" name="Table 12"/>
          <p:cNvGraphicFramePr>
            <a:graphicFrameLocks noGrp="1"/>
          </p:cNvGraphicFramePr>
          <p:nvPr/>
        </p:nvGraphicFramePr>
        <p:xfrm>
          <a:off x="502920" y="1472184"/>
          <a:ext cx="11185853" cy="2657856"/>
        </p:xfrm>
        <a:graphic>
          <a:graphicData uri="http://schemas.openxmlformats.org/drawingml/2006/table">
            <a:tbl>
              <a:tblPr firstRow="1" bandRow="1">
                <a:tableStyleId>{5940675A-B579-460E-94D1-54222C63F5DA}</a:tableStyleId>
              </a:tblPr>
              <a:tblGrid>
                <a:gridCol w="2851296"/>
                <a:gridCol w="2851296"/>
                <a:gridCol w="2851296"/>
                <a:gridCol w="2631965"/>
              </a:tblGrid>
              <a:tr h="405384">
                <a:tc>
                  <a:txBody>
                    <a:bodyPr wrap="square"/>
                    <a:lstStyle/>
                    <a:p>
                      <a:pPr>
                        <a:lnSpc>
                          <a:spcPct val="100000"/>
                        </a:lnSpc>
                      </a:pPr>
                      <a:r>
                        <a:rPr sz="1700" i="0" b="1">
                          <a:solidFill>
                            <a:srgbClr val="FFFFFF"/>
                          </a:solidFill>
                          <a:latin typeface="Helvetica Neue"/>
                        </a:rPr>
                        <a:t>Spend</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Buys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Over-spent</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Under-spent</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Instructions</a:t>
                      </a:r>
                      <a:r>
                        <a:rPr sz="1700" i="0" b="0">
                          <a:solidFill>
                            <a:srgbClr val="1E293B"/>
                          </a:solidFill>
                          <a:latin typeface="Helvetica Neue"/>
                        </a:rPr>
                        <a:t> — prompt, rules, examples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Behaviour you can rely 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Diluted attention; rules contradict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The model guesses</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Evidence</a:t>
                      </a:r>
                      <a:r>
                        <a:rPr sz="1700" i="0" b="0">
                          <a:solidFill>
                            <a:srgbClr val="1E293B"/>
                          </a:solidFill>
                          <a:latin typeface="Helvetica Neue"/>
                        </a:rPr>
                        <a:t> — docs, tool results, memory</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Grounding</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Distraction, rot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Hallucination</a:t>
                      </a:r>
                    </a:p>
                  </a:txBody>
                  <a:tcPr marL="109728" marR="109728" marT="54864" marB="54864" anchor="ctr">
                    <a:solidFill>
                      <a:srgbClr val="F8FAFC"/>
                    </a:solidFill>
                  </a:tcPr>
                </a:tc>
              </a:tr>
              <a:tr h="923544">
                <a:tc>
                  <a:txBody>
                    <a:bodyPr wrap="square"/>
                    <a:lstStyle/>
                    <a:p>
                      <a:pPr>
                        <a:lnSpc>
                          <a:spcPct val="100000"/>
                        </a:lnSpc>
                      </a:pPr>
                      <a:r>
                        <a:rPr sz="1700" i="0" b="1">
                          <a:solidFill>
                            <a:srgbClr val="1E293B"/>
                          </a:solidFill>
                          <a:latin typeface="Helvetica Neue"/>
                        </a:rPr>
                        <a:t>Working space</a:t>
                      </a:r>
                      <a:r>
                        <a:rPr sz="1700" i="0" b="0">
                          <a:solidFill>
                            <a:srgbClr val="1E293B"/>
                          </a:solidFill>
                          <a:latin typeface="Helvetica Neue"/>
                        </a:rPr>
                        <a:t> — history, reasoning, output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Room to think and answer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Lost recent turns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Truncated output</a:t>
                      </a:r>
                    </a:p>
                  </a:txBody>
                  <a:tcPr marL="109728" marR="109728" marT="54864" marB="54864"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Two rules matter more than any split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Allocation</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notes/03-budgeting-the-window.md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12</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Starting splits (pyramid, by task type) are heuristics. Measure, then adjust.</a:t>
            </a:r>
          </a:p>
        </p:txBody>
      </p:sp>
      <p:sp>
        <p:nvSpPr>
          <p:cNvPr id="11" name="Rectangle 10"/>
          <p:cNvSpPr/>
          <p:nvPr/>
        </p:nvSpPr>
        <p:spPr>
          <a:xfrm>
            <a:off x="502920" y="1985772"/>
            <a:ext cx="5410047" cy="42321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985772"/>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985772"/>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A starting split — complex reasoning</a:t>
            </a:r>
          </a:p>
        </p:txBody>
      </p:sp>
      <p:sp>
        <p:nvSpPr>
          <p:cNvPr id="14" name="Rectangle 13"/>
          <p:cNvSpPr/>
          <p:nvPr/>
        </p:nvSpPr>
        <p:spPr>
          <a:xfrm>
            <a:off x="731520" y="282676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74472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System </a:t>
            </a:r>
            <a:r>
              <a:rPr sz="1700" i="0" b="1">
                <a:solidFill>
                  <a:srgbClr val="1E293B"/>
                </a:solidFill>
                <a:latin typeface="Helvetica Neue"/>
              </a:rPr>
              <a:t>15%</a:t>
            </a:r>
            <a:r>
              <a:rPr sz="1700" i="0" b="0">
                <a:solidFill>
                  <a:srgbClr val="1E293B"/>
                </a:solidFill>
                <a:latin typeface="Helvetica Neue"/>
              </a:rPr>
              <a:t> · Examples </a:t>
            </a:r>
            <a:r>
              <a:rPr sz="1700" i="0" b="1">
                <a:solidFill>
                  <a:srgbClr val="1E293B"/>
                </a:solidFill>
                <a:latin typeface="Helvetica Neue"/>
              </a:rPr>
              <a:t>25%</a:t>
            </a:r>
          </a:p>
        </p:txBody>
      </p:sp>
      <p:sp>
        <p:nvSpPr>
          <p:cNvPr id="16" name="Rectangle 15"/>
          <p:cNvSpPr/>
          <p:nvPr/>
        </p:nvSpPr>
        <p:spPr>
          <a:xfrm>
            <a:off x="731520" y="324129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15925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History </a:t>
            </a:r>
            <a:r>
              <a:rPr sz="1700" i="0" b="1">
                <a:solidFill>
                  <a:srgbClr val="1E293B"/>
                </a:solidFill>
                <a:latin typeface="Helvetica Neue"/>
              </a:rPr>
              <a:t>30%</a:t>
            </a:r>
            <a:r>
              <a:rPr sz="1700" i="0" b="0">
                <a:solidFill>
                  <a:srgbClr val="1E293B"/>
                </a:solidFill>
                <a:latin typeface="Helvetica Neue"/>
              </a:rPr>
              <a:t> · Input </a:t>
            </a:r>
            <a:r>
              <a:rPr sz="1700" i="0" b="1">
                <a:solidFill>
                  <a:srgbClr val="1E293B"/>
                </a:solidFill>
                <a:latin typeface="Helvetica Neue"/>
              </a:rPr>
              <a:t>20%</a:t>
            </a:r>
          </a:p>
        </p:txBody>
      </p:sp>
      <p:sp>
        <p:nvSpPr>
          <p:cNvPr id="18" name="Rectangle 17"/>
          <p:cNvSpPr/>
          <p:nvPr/>
        </p:nvSpPr>
        <p:spPr>
          <a:xfrm>
            <a:off x="731520" y="3655821"/>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573780"/>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Reserve </a:t>
            </a:r>
            <a:r>
              <a:rPr sz="1700" i="0" b="1">
                <a:solidFill>
                  <a:srgbClr val="1E293B"/>
                </a:solidFill>
                <a:latin typeface="Helvetica Neue"/>
              </a:rPr>
              <a:t>10%</a:t>
            </a:r>
          </a:p>
        </p:txBody>
      </p:sp>
      <p:sp>
        <p:nvSpPr>
          <p:cNvPr id="20" name="Rectangle 19"/>
          <p:cNvSpPr/>
          <p:nvPr/>
        </p:nvSpPr>
        <p:spPr>
          <a:xfrm>
            <a:off x="731520" y="4070349"/>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988307"/>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Simple Q&amp;A shifts to 70% history, 0% examples</a:t>
            </a:r>
          </a:p>
        </p:txBody>
      </p:sp>
      <p:sp>
        <p:nvSpPr>
          <p:cNvPr id="22" name="Rectangle 21"/>
          <p:cNvSpPr/>
          <p:nvPr/>
        </p:nvSpPr>
        <p:spPr>
          <a:xfrm>
            <a:off x="685800" y="568756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68756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A guess to measure against</a:t>
            </a:r>
          </a:p>
        </p:txBody>
      </p:sp>
      <p:sp>
        <p:nvSpPr>
          <p:cNvPr id="24" name="Rectangle 23"/>
          <p:cNvSpPr/>
          <p:nvPr/>
        </p:nvSpPr>
        <p:spPr>
          <a:xfrm>
            <a:off x="6278727" y="1985772"/>
            <a:ext cx="5410047" cy="42321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8727" y="1985772"/>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7327" y="1985772"/>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The rules</a:t>
            </a:r>
          </a:p>
        </p:txBody>
      </p:sp>
      <p:sp>
        <p:nvSpPr>
          <p:cNvPr id="27" name="Rectangle 26"/>
          <p:cNvSpPr/>
          <p:nvPr/>
        </p:nvSpPr>
        <p:spPr>
          <a:xfrm>
            <a:off x="6507327" y="282676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744724"/>
            <a:ext cx="4587087" cy="946404"/>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Reserve the output first</a:t>
            </a:r>
            <a:r>
              <a:rPr sz="1700" i="0" b="0">
                <a:solidFill>
                  <a:srgbClr val="1E293B"/>
                </a:solidFill>
                <a:latin typeface="Helvetica Neue"/>
              </a:rPr>
              <a:t> — </a:t>
            </a:r>
            <a:r>
              <a:rPr sz="1530" i="0" b="0">
                <a:solidFill>
                  <a:srgbClr val="0F7490"/>
                </a:solidFill>
                <a:latin typeface="Menlo"/>
              </a:rPr>
              <a:t>max_tokens</a:t>
            </a:r>
            <a:r>
              <a:rPr sz="1700" i="0" b="0">
                <a:solidFill>
                  <a:srgbClr val="1E293B"/>
                </a:solidFill>
                <a:latin typeface="Helvetica Neue"/>
              </a:rPr>
              <a:t> plus the thinking budget come off the top</a:t>
            </a:r>
          </a:p>
        </p:txBody>
      </p:sp>
      <p:sp>
        <p:nvSpPr>
          <p:cNvPr id="29" name="Rectangle 28"/>
          <p:cNvSpPr/>
          <p:nvPr/>
        </p:nvSpPr>
        <p:spPr>
          <a:xfrm>
            <a:off x="6507327" y="3811270"/>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7367" y="3729228"/>
            <a:ext cx="4587087" cy="661416"/>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Give every growing component a ceiling</a:t>
            </a:r>
            <a:r>
              <a:rPr sz="1700" i="0" b="0">
                <a:solidFill>
                  <a:srgbClr val="1E293B"/>
                </a:solidFill>
                <a:latin typeface="Helvetica Neue"/>
              </a:rPr>
              <a:t> — history, tool results, retrieved chunks</a:t>
            </a:r>
          </a:p>
        </p:txBody>
      </p:sp>
      <p:sp>
        <p:nvSpPr>
          <p:cNvPr id="31" name="Rectangle 30"/>
          <p:cNvSpPr/>
          <p:nvPr/>
        </p:nvSpPr>
        <p:spPr>
          <a:xfrm>
            <a:off x="6507327" y="451078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7367" y="442874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The ceiling is what triggers compaction</a:t>
            </a:r>
          </a:p>
        </p:txBody>
      </p:sp>
      <p:sp>
        <p:nvSpPr>
          <p:cNvPr id="33" name="Rectangle 32"/>
          <p:cNvSpPr/>
          <p:nvPr/>
        </p:nvSpPr>
        <p:spPr>
          <a:xfrm>
            <a:off x="6461607" y="568756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53047" y="568756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A full window leaves no room to answer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Progressive reduction — cut by ablation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System prompt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notes/03-budgeting-the-window.md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Remove anything whose deletion doesn't move an eval score. Few-shot returns fall fastest after the first example.</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Before (~350 tokens)</a:t>
            </a:r>
          </a:p>
        </p:txBody>
      </p:sp>
      <p:sp>
        <p:nvSpPr>
          <p:cNvPr id="16" name="TextBox 15"/>
          <p:cNvSpPr txBox="1"/>
          <p:nvPr/>
        </p:nvSpPr>
        <p:spPr>
          <a:xfrm>
            <a:off x="731520" y="2231136"/>
            <a:ext cx="4907127" cy="2660903"/>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You are a financial analyst with a PhD from Stanford and 15 years at Goldman Sachs and Morgan Stanley. You specialise in technology sector analysis with deep knowledge of SaaS business models…</a:t>
            </a:r>
          </a:p>
        </p:txBody>
      </p:sp>
      <p:sp>
        <p:nvSpPr>
          <p:cNvPr id="17" name="Rectangle 16"/>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Persona biography</a:t>
            </a:r>
          </a:p>
        </p:txBody>
      </p:sp>
      <p:sp>
        <p:nvSpPr>
          <p:cNvPr id="19" name="Rectangle 18"/>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After (~90 tokens)</a:t>
            </a:r>
          </a:p>
        </p:txBody>
      </p:sp>
      <p:sp>
        <p:nvSpPr>
          <p:cNvPr id="22" name="TextBox 21"/>
          <p:cNvSpPr txBox="1"/>
          <p:nvPr/>
        </p:nvSpPr>
        <p:spPr>
          <a:xfrm>
            <a:off x="6507327" y="2231136"/>
            <a:ext cx="4907127" cy="2660903"/>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You are a senior financial analyst specialising in tech stocks. Cover: 1. Fundamentals 2. Industry context 3. Macro factors. Balance quantitative data with strategic insight.</a:t>
            </a:r>
          </a:p>
        </p:txBody>
      </p:sp>
      <p:sp>
        <p:nvSpPr>
          <p:cNvPr id="23" name="Rectangle 22"/>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Task guidance, three sections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Measure what each layer buys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Token efficiency</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Foundations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notes/03-budgeting-the-window.md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Track quality per prompt token. Response/prompt length ("token efficiency" upstream) rewards verbosity.</a:t>
            </a:r>
          </a:p>
        </p:txBody>
      </p:sp>
      <p:sp>
        <p:nvSpPr>
          <p:cNvPr id="13" name="Rounded Rectangle 12"/>
          <p:cNvSpPr/>
          <p:nvPr/>
        </p:nvSpPr>
        <p:spPr>
          <a:xfrm>
            <a:off x="502920" y="1472184"/>
            <a:ext cx="11185855" cy="239268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10728655"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10728655" cy="175259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layers = {"role": ..., "examples": ..., "constraints": ..., "audience": ...}</a:t>
            </a:r>
          </a:p>
          <a:p>
            <a:pPr algn="l">
              <a:lnSpc>
                <a:spcPct val="100000"/>
              </a:lnSpc>
            </a:pPr>
            <a:r>
              <a:rPr sz="1600" i="0" b="0">
                <a:solidFill>
                  <a:srgbClr val="E2E8F0"/>
                </a:solidFill>
                <a:latin typeface="Menlo"/>
              </a:rPr>
              <a:t>prompt = "Write a paragraph about climate change."</a:t>
            </a:r>
          </a:p>
          <a:p>
            <a:pPr algn="l">
              <a:lnSpc>
                <a:spcPct val="100000"/>
              </a:lnSpc>
            </a:pPr>
            <a:r>
              <a:rPr sz="1600" i="0" b="0">
                <a:solidFill>
                  <a:srgbClr val="E2E8F0"/>
                </a:solidFill>
                <a:latin typeface="Menlo"/>
              </a:rPr>
              <a:t>for name, text in [("base", "")] + list(layers.items()):</a:t>
            </a:r>
          </a:p>
          <a:p>
            <a:pPr algn="l">
              <a:lnSpc>
                <a:spcPct val="100000"/>
              </a:lnSpc>
            </a:pPr>
            <a:r>
              <a:rPr sz="1600" i="0" b="0">
                <a:solidFill>
                  <a:srgbClr val="E2E8F0"/>
                </a:solidFill>
                <a:latin typeface="Menlo"/>
              </a:rPr>
              <a:t>    prompt = f"{text}\n\n{prompt}" if text else prompt</a:t>
            </a:r>
          </a:p>
          <a:p>
            <a:pPr algn="l">
              <a:lnSpc>
                <a:spcPct val="100000"/>
              </a:lnSpc>
            </a:pPr>
            <a:r>
              <a:rPr sz="1600" i="0" b="0">
                <a:solidFill>
                  <a:srgbClr val="E2E8F0"/>
                </a:solidFill>
                <a:latin typeface="Menlo"/>
              </a:rPr>
              <a:t>    out = llm(prompt)</a:t>
            </a:r>
          </a:p>
          <a:p>
            <a:pPr algn="l">
              <a:lnSpc>
                <a:spcPct val="100000"/>
              </a:lnSpc>
            </a:pPr>
            <a:r>
              <a:rPr sz="1600" i="0" b="0">
                <a:solidFill>
                  <a:srgbClr val="E2E8F0"/>
                </a:solidFill>
                <a:latin typeface="Menlo"/>
              </a:rPr>
              <a:t>    p, r = len(enc.encode(prompt)), len(enc.encode(out))</a:t>
            </a:r>
          </a:p>
          <a:p>
            <a:pPr algn="l">
              <a:lnSpc>
                <a:spcPct val="100000"/>
              </a:lnSpc>
            </a:pPr>
            <a:r>
              <a:rPr sz="1600" i="0" b="0">
                <a:solidFill>
                  <a:srgbClr val="E2E8F0"/>
                </a:solidFill>
                <a:latin typeface="Menlo"/>
              </a:rPr>
              <a:t>    print(f"{name:12} prompt={p:4} response={r:4} score={judge(out):.2f}")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2</a:t>
            </a:r>
          </a:p>
        </p:txBody>
      </p:sp>
      <p:sp>
        <p:nvSpPr>
          <p:cNvPr id="4" name="TextBox 3"/>
          <p:cNvSpPr txBox="1"/>
          <p:nvPr/>
        </p:nvSpPr>
        <p:spPr>
          <a:xfrm>
            <a:off x="822960" y="1965960"/>
            <a:ext cx="5486400" cy="10210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The levers</a:t>
            </a:r>
          </a:p>
        </p:txBody>
      </p:sp>
      <p:sp>
        <p:nvSpPr>
          <p:cNvPr id="5" name="TextBox 4"/>
          <p:cNvSpPr txBox="1"/>
          <p:nvPr/>
        </p:nvSpPr>
        <p:spPr>
          <a:xfrm>
            <a:off x="822960" y="3078479"/>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Retrieval · Compaction · Memory · Structure · Cognitive tools · Protocols · Isolation</a:t>
            </a:r>
          </a:p>
        </p:txBody>
      </p:sp>
      <p:cxnSp>
        <p:nvCxnSpPr>
          <p:cNvPr id="6" name="Connector 5"/>
          <p:cNvCxnSpPr/>
          <p:nvPr/>
        </p:nvCxnSpPr>
        <p:spPr>
          <a:xfrm>
            <a:off x="6446520" y="690880"/>
            <a:ext cx="0" cy="547624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690880"/>
            <a:ext cx="4693615" cy="5659120"/>
          </a:xfrm>
          <a:prstGeom prst="rect">
            <a:avLst/>
          </a:prstGeom>
          <a:noFill/>
        </p:spPr>
        <p:txBody>
          <a:bodyPr wrap="square" lIns="0" rIns="0" tIns="0" bIns="0" anchor="t">
            <a:noAutofit/>
          </a:bodyPr>
          <a:lstStyle/>
          <a:p>
            <a:pPr algn="l">
              <a:lnSpc>
                <a:spcPct val="100000"/>
              </a:lnSpc>
            </a:pPr>
            <a:r>
              <a:rPr sz="1100" i="0" b="0">
                <a:solidFill>
                  <a:srgbClr val="CBD5E1"/>
                </a:solidFill>
                <a:latin typeface="Helvetica Neue"/>
              </a:rPr>
              <a:t>Retrieve before inference, or during it</a:t>
            </a:r>
          </a:p>
          <a:p>
            <a:pPr algn="l">
              <a:lnSpc>
                <a:spcPct val="100000"/>
              </a:lnSpc>
              <a:spcBef>
                <a:spcPts val="769"/>
              </a:spcBef>
            </a:pPr>
            <a:r>
              <a:rPr sz="1100" i="0" b="0">
                <a:solidFill>
                  <a:srgbClr val="CBD5E1"/>
                </a:solidFill>
                <a:latin typeface="Helvetica Neue"/>
              </a:rPr>
              <a:t>The pre-retrieval pipeline — cheap filters first</a:t>
            </a:r>
          </a:p>
          <a:p>
            <a:pPr algn="l">
              <a:lnSpc>
                <a:spcPct val="100000"/>
              </a:lnSpc>
              <a:spcBef>
                <a:spcPts val="769"/>
              </a:spcBef>
            </a:pPr>
            <a:r>
              <a:rPr sz="1100" i="0" b="0">
                <a:solidFill>
                  <a:srgbClr val="CBD5E1"/>
                </a:solidFill>
                <a:latin typeface="Helvetica Neue"/>
              </a:rPr>
              <a:t>A tuned pipeline — Bayer's PRINCE</a:t>
            </a:r>
          </a:p>
          <a:p>
            <a:pPr algn="l">
              <a:lnSpc>
                <a:spcPct val="100000"/>
              </a:lnSpc>
              <a:spcBef>
                <a:spcPts val="769"/>
              </a:spcBef>
            </a:pPr>
            <a:r>
              <a:rPr sz="1100" i="0" b="0">
                <a:solidFill>
                  <a:srgbClr val="CBD5E1"/>
                </a:solidFill>
                <a:latin typeface="Helvetica Neue"/>
              </a:rPr>
              <a:t>Hybrid retrieval and reranking</a:t>
            </a:r>
          </a:p>
          <a:p>
            <a:pPr algn="l">
              <a:lnSpc>
                <a:spcPct val="100000"/>
              </a:lnSpc>
              <a:spcBef>
                <a:spcPts val="769"/>
              </a:spcBef>
            </a:pPr>
            <a:r>
              <a:rPr sz="1100" i="0" b="0">
                <a:solidFill>
                  <a:srgbClr val="CBD5E1"/>
                </a:solidFill>
                <a:latin typeface="Helvetica Neue"/>
              </a:rPr>
              <a:t>Contextual retrieval — add context at index time</a:t>
            </a:r>
          </a:p>
          <a:p>
            <a:pPr algn="l">
              <a:lnSpc>
                <a:spcPct val="100000"/>
              </a:lnSpc>
              <a:spcBef>
                <a:spcPts val="769"/>
              </a:spcBef>
            </a:pPr>
            <a:r>
              <a:rPr sz="1100" i="0" b="0">
                <a:solidFill>
                  <a:srgbClr val="CBD5E1"/>
                </a:solidFill>
                <a:latin typeface="Helvetica Neue"/>
              </a:rPr>
              <a:t>A first production cut</a:t>
            </a:r>
          </a:p>
          <a:p>
            <a:pPr algn="l">
              <a:lnSpc>
                <a:spcPct val="100000"/>
              </a:lnSpc>
              <a:spcBef>
                <a:spcPts val="769"/>
              </a:spcBef>
            </a:pPr>
            <a:r>
              <a:rPr sz="1100" i="0" b="0">
                <a:solidFill>
                  <a:srgbClr val="CBD5E1"/>
                </a:solidFill>
                <a:latin typeface="Helvetica Neue"/>
              </a:rPr>
              <a:t>RAG architectures — each step adds control</a:t>
            </a:r>
          </a:p>
          <a:p>
            <a:pPr algn="l">
              <a:lnSpc>
                <a:spcPct val="100000"/>
              </a:lnSpc>
              <a:spcBef>
                <a:spcPts val="769"/>
              </a:spcBef>
            </a:pPr>
            <a:r>
              <a:rPr sz="1100" i="0" b="0">
                <a:solidFill>
                  <a:srgbClr val="CBD5E1"/>
                </a:solidFill>
                <a:latin typeface="Helvetica Neue"/>
              </a:rPr>
              <a:t>The compaction pipeline</a:t>
            </a:r>
          </a:p>
          <a:p>
            <a:pPr algn="l">
              <a:lnSpc>
                <a:spcPct val="100000"/>
              </a:lnSpc>
              <a:spcBef>
                <a:spcPts val="769"/>
              </a:spcBef>
            </a:pPr>
            <a:r>
              <a:rPr sz="1100" i="0" b="0">
                <a:solidFill>
                  <a:srgbClr val="CBD5E1"/>
                </a:solidFill>
                <a:latin typeface="Helvetica Neue"/>
              </a:rPr>
              <a:t>What survives compaction, in order</a:t>
            </a:r>
          </a:p>
          <a:p>
            <a:pPr algn="l">
              <a:lnSpc>
                <a:spcPct val="100000"/>
              </a:lnSpc>
              <a:spcBef>
                <a:spcPts val="769"/>
              </a:spcBef>
            </a:pPr>
            <a:r>
              <a:rPr sz="1100" i="0" b="0">
                <a:solidFill>
                  <a:srgbClr val="CBD5E1"/>
                </a:solidFill>
                <a:latin typeface="Helvetica Neue"/>
              </a:rPr>
              <a:t>Six compression strategies, one task</a:t>
            </a:r>
          </a:p>
          <a:p>
            <a:pPr algn="l">
              <a:lnSpc>
                <a:spcPct val="100000"/>
              </a:lnSpc>
              <a:spcBef>
                <a:spcPts val="769"/>
              </a:spcBef>
            </a:pPr>
            <a:r>
              <a:rPr sz="1100" i="0" b="0">
                <a:solidFill>
                  <a:srgbClr val="CBD5E1"/>
                </a:solidFill>
                <a:latin typeface="Helvetica Neue"/>
              </a:rPr>
              <a:t>The production ladder — cheapest first</a:t>
            </a:r>
          </a:p>
          <a:p>
            <a:pPr algn="l">
              <a:lnSpc>
                <a:spcPct val="100000"/>
              </a:lnSpc>
              <a:spcBef>
                <a:spcPts val="769"/>
              </a:spcBef>
            </a:pPr>
            <a:r>
              <a:rPr sz="1100" i="0" b="0">
                <a:solidFill>
                  <a:srgbClr val="CBD5E1"/>
                </a:solidFill>
                <a:latin typeface="Helvetica Neue"/>
              </a:rPr>
              <a:t>Memory formats — mix them</a:t>
            </a:r>
          </a:p>
          <a:p>
            <a:pPr algn="l">
              <a:lnSpc>
                <a:spcPct val="100000"/>
              </a:lnSpc>
              <a:spcBef>
                <a:spcPts val="769"/>
              </a:spcBef>
            </a:pPr>
            <a:r>
              <a:rPr sz="1100" i="0" b="0">
                <a:solidFill>
                  <a:srgbClr val="CBD5E1"/>
                </a:solidFill>
                <a:latin typeface="Helvetica Neue"/>
              </a:rPr>
              <a:t>Memory hygiene — update over append</a:t>
            </a:r>
          </a:p>
          <a:p>
            <a:pPr algn="l">
              <a:lnSpc>
                <a:spcPct val="100000"/>
              </a:lnSpc>
              <a:spcBef>
                <a:spcPts val="769"/>
              </a:spcBef>
            </a:pPr>
            <a:r>
              <a:rPr sz="1100" i="0" b="0">
                <a:solidFill>
                  <a:srgbClr val="CBD5E1"/>
                </a:solidFill>
                <a:latin typeface="Helvetica Neue"/>
              </a:rPr>
              <a:t>Designed memory vs. searching the raw record</a:t>
            </a:r>
          </a:p>
          <a:p>
            <a:pPr algn="l">
              <a:lnSpc>
                <a:spcPct val="100000"/>
              </a:lnSpc>
              <a:spcBef>
                <a:spcPts val="769"/>
              </a:spcBef>
            </a:pPr>
            <a:r>
              <a:rPr sz="1100" i="0" b="0">
                <a:solidFill>
                  <a:srgbClr val="CBD5E1"/>
                </a:solidFill>
                <a:latin typeface="Helvetica Neue"/>
              </a:rPr>
              <a:t>Choosing a format</a:t>
            </a:r>
          </a:p>
          <a:p>
            <a:pPr algn="l">
              <a:lnSpc>
                <a:spcPct val="100000"/>
              </a:lnSpc>
              <a:spcBef>
                <a:spcPts val="769"/>
              </a:spcBef>
            </a:pPr>
            <a:r>
              <a:rPr sz="1100" i="0" b="0">
                <a:solidFill>
                  <a:srgbClr val="CBD5E1"/>
                </a:solidFill>
                <a:latin typeface="Helvetica Neue"/>
              </a:rPr>
              <a:t>Output schemas — validate, and feed the error back</a:t>
            </a:r>
          </a:p>
          <a:p>
            <a:pPr algn="l">
              <a:lnSpc>
                <a:spcPct val="100000"/>
              </a:lnSpc>
              <a:spcBef>
                <a:spcPts val="769"/>
              </a:spcBef>
            </a:pPr>
            <a:r>
              <a:rPr sz="1100" i="0" b="0">
                <a:solidFill>
                  <a:srgbClr val="CBD5E1"/>
                </a:solidFill>
                <a:latin typeface="Helvetica Neue"/>
              </a:rPr>
              <a:t>Cognitive tools — reasoning steps as isolated calls</a:t>
            </a:r>
          </a:p>
          <a:p>
            <a:pPr algn="l">
              <a:lnSpc>
                <a:spcPct val="100000"/>
              </a:lnSpc>
              <a:spcBef>
                <a:spcPts val="769"/>
              </a:spcBef>
            </a:pPr>
            <a:r>
              <a:rPr sz="1100" i="0" b="0">
                <a:solidFill>
                  <a:srgbClr val="CBD5E1"/>
                </a:solidFill>
                <a:latin typeface="Helvetica Neue"/>
              </a:rPr>
              <a:t>Verify with code where you can</a:t>
            </a:r>
          </a:p>
          <a:p>
            <a:pPr algn="l">
              <a:lnSpc>
                <a:spcPct val="100000"/>
              </a:lnSpc>
              <a:spcBef>
                <a:spcPts val="769"/>
              </a:spcBef>
            </a:pPr>
            <a:r>
              <a:rPr sz="1100" i="0" b="0">
                <a:solidFill>
                  <a:srgbClr val="CBD5E1"/>
                </a:solidFill>
                <a:latin typeface="Helvetica Neue"/>
              </a:rPr>
              <a:t>Protocol shells — prompt programs without code</a:t>
            </a:r>
          </a:p>
          <a:p>
            <a:pPr algn="l">
              <a:lnSpc>
                <a:spcPct val="100000"/>
              </a:lnSpc>
              <a:spcBef>
                <a:spcPts val="769"/>
              </a:spcBef>
            </a:pPr>
            <a:r>
              <a:rPr sz="1100" i="0" b="0">
                <a:solidFill>
                  <a:srgbClr val="CBD5E1"/>
                </a:solidFill>
                <a:latin typeface="Helvetica Neue"/>
              </a:rPr>
              <a:t>Isolation — the most expensive lever</a:t>
            </a:r>
          </a:p>
          <a:p>
            <a:pPr algn="l">
              <a:lnSpc>
                <a:spcPct val="100000"/>
              </a:lnSpc>
              <a:spcBef>
                <a:spcPts val="769"/>
              </a:spcBef>
            </a:pPr>
            <a:r>
              <a:rPr sz="1100" i="0" b="0">
                <a:solidFill>
                  <a:srgbClr val="CBD5E1"/>
                </a:solidFill>
                <a:latin typeface="Helvetica Neue"/>
              </a:rPr>
              <a:t>Tool descriptions are resident context</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Retrieve before inference, or during it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biggest shift in the pillar</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notes/04-retrieval.md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Hybrid default: pre-load what's needed on ≥80% of turns; leave the long tail to tools.</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Pre-computed (RAG era)</a:t>
            </a:r>
          </a:p>
        </p:txBody>
      </p:sp>
      <p:sp>
        <p:nvSpPr>
          <p:cNvPr id="16" name="Rectangle 15"/>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Embed corpus and query, stuff top-k, generate</a:t>
            </a:r>
          </a:p>
        </p:txBody>
      </p:sp>
      <p:sp>
        <p:nvSpPr>
          <p:cNvPr id="18" name="Rectangle 17"/>
          <p:cNvSpPr/>
          <p:nvPr/>
        </p:nvSpPr>
        <p:spPr>
          <a:xfrm>
            <a:off x="731520" y="301269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93065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Relevance guessed </a:t>
            </a:r>
            <a:r>
              <a:rPr sz="1700" i="0" b="1">
                <a:solidFill>
                  <a:srgbClr val="1E293B"/>
                </a:solidFill>
                <a:latin typeface="Helvetica Neue"/>
              </a:rPr>
              <a:t>before</a:t>
            </a:r>
            <a:r>
              <a:rPr sz="1700" i="0" b="0">
                <a:solidFill>
                  <a:srgbClr val="1E293B"/>
                </a:solidFill>
                <a:latin typeface="Helvetica Neue"/>
              </a:rPr>
              <a:t> the model reasons</a:t>
            </a:r>
          </a:p>
        </p:txBody>
      </p:sp>
      <p:sp>
        <p:nvSpPr>
          <p:cNvPr id="20" name="Rectangle 19"/>
          <p:cNvSpPr/>
          <p:nvPr/>
        </p:nvSpPr>
        <p:spPr>
          <a:xfrm>
            <a:off x="731520" y="3712210"/>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630168"/>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50 files × 5k tokens = </a:t>
            </a:r>
            <a:r>
              <a:rPr sz="1700" i="0" b="1">
                <a:solidFill>
                  <a:srgbClr val="1E293B"/>
                </a:solidFill>
                <a:latin typeface="Helvetica Neue"/>
              </a:rPr>
              <a:t>250k</a:t>
            </a:r>
          </a:p>
        </p:txBody>
      </p:sp>
      <p:sp>
        <p:nvSpPr>
          <p:cNvPr id="22" name="Rectangle 21"/>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Fast, deterministic, often wrong</a:t>
            </a:r>
          </a:p>
        </p:txBody>
      </p:sp>
      <p:sp>
        <p:nvSpPr>
          <p:cNvPr id="24" name="Rectangle 23"/>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Just-in-time (agentic)</a:t>
            </a:r>
          </a:p>
        </p:txBody>
      </p:sp>
      <p:sp>
        <p:nvSpPr>
          <p:cNvPr id="27" name="Rectangle 26"/>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Keep </a:t>
            </a:r>
            <a:r>
              <a:rPr sz="1700" i="0" b="1">
                <a:solidFill>
                  <a:srgbClr val="1E293B"/>
                </a:solidFill>
                <a:latin typeface="Helvetica Neue"/>
              </a:rPr>
              <a:t>identifiers</a:t>
            </a:r>
            <a:r>
              <a:rPr sz="1700" i="0" b="0">
                <a:solidFill>
                  <a:srgbClr val="1E293B"/>
                </a:solidFill>
                <a:latin typeface="Helvetica Neue"/>
              </a:rPr>
              <a:t>: paths, IDs, queries (~10 tokens each)</a:t>
            </a:r>
          </a:p>
        </p:txBody>
      </p:sp>
      <p:sp>
        <p:nvSpPr>
          <p:cNvPr id="29" name="Rectangle 28"/>
          <p:cNvSpPr/>
          <p:nvPr/>
        </p:nvSpPr>
        <p:spPr>
          <a:xfrm>
            <a:off x="6507327" y="301269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7367" y="293065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The agent loads what its reasoning says it needs</a:t>
            </a:r>
          </a:p>
        </p:txBody>
      </p:sp>
      <p:sp>
        <p:nvSpPr>
          <p:cNvPr id="31" name="Rectangle 30"/>
          <p:cNvSpPr/>
          <p:nvPr/>
        </p:nvSpPr>
        <p:spPr>
          <a:xfrm>
            <a:off x="6507327" y="3712210"/>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7367" y="3630168"/>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Index + 3 files = </a:t>
            </a:r>
            <a:r>
              <a:rPr sz="1700" i="0" b="1">
                <a:solidFill>
                  <a:srgbClr val="1E293B"/>
                </a:solidFill>
                <a:latin typeface="Helvetica Neue"/>
              </a:rPr>
              <a:t>~15.5k</a:t>
            </a:r>
          </a:p>
        </p:txBody>
      </p:sp>
      <p:sp>
        <p:nvSpPr>
          <p:cNvPr id="33" name="Rectangle 32"/>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Costs: latency, wandering, non-determinism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The pre-retrieval pipeline — cheap filters first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When you do retrieve upfront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notes/04-retrieval.md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17</a:t>
            </a:r>
          </a:p>
        </p:txBody>
      </p:sp>
      <p:sp>
        <p:nvSpPr>
          <p:cNvPr id="10" name="Rounded Rectangle 9"/>
          <p:cNvSpPr/>
          <p:nvPr/>
        </p:nvSpPr>
        <p:spPr>
          <a:xfrm>
            <a:off x="502920" y="1563624"/>
            <a:ext cx="1834835" cy="1272540"/>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63624"/>
            <a:ext cx="1560515"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Filter</a:t>
            </a:r>
          </a:p>
          <a:p>
            <a:pPr algn="ctr">
              <a:lnSpc>
                <a:spcPct val="110000"/>
              </a:lnSpc>
            </a:pPr>
            <a:r>
              <a:rPr sz="1300" i="0" b="0">
                <a:solidFill>
                  <a:srgbClr val="E8F4F8"/>
                </a:solidFill>
                <a:latin typeface="Helvetica Neue"/>
              </a:rPr>
              <a:t>permission, date, tenant</a:t>
            </a:r>
          </a:p>
        </p:txBody>
      </p:sp>
      <p:cxnSp>
        <p:nvCxnSpPr>
          <p:cNvPr id="12" name="Connector 11"/>
          <p:cNvCxnSpPr/>
          <p:nvPr/>
        </p:nvCxnSpPr>
        <p:spPr>
          <a:xfrm>
            <a:off x="2392619"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40675" y="1563624"/>
            <a:ext cx="1834835" cy="1272540"/>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7835" y="1563624"/>
            <a:ext cx="1560515"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Search</a:t>
            </a:r>
          </a:p>
          <a:p>
            <a:pPr algn="ctr">
              <a:lnSpc>
                <a:spcPct val="110000"/>
              </a:lnSpc>
            </a:pPr>
            <a:r>
              <a:rPr sz="1300" i="0" b="0">
                <a:solidFill>
                  <a:srgbClr val="E8F4F8"/>
                </a:solidFill>
                <a:latin typeface="Helvetica Neue"/>
              </a:rPr>
              <a:t>hybrid top-k</a:t>
            </a:r>
          </a:p>
        </p:txBody>
      </p:sp>
      <p:cxnSp>
        <p:nvCxnSpPr>
          <p:cNvPr id="15" name="Connector 14"/>
          <p:cNvCxnSpPr/>
          <p:nvPr/>
        </p:nvCxnSpPr>
        <p:spPr>
          <a:xfrm>
            <a:off x="4730374"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78430" y="1563624"/>
            <a:ext cx="1834835" cy="1272540"/>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15590" y="1563624"/>
            <a:ext cx="1560515"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Rerank</a:t>
            </a:r>
          </a:p>
          <a:p>
            <a:pPr algn="ctr">
              <a:lnSpc>
                <a:spcPct val="110000"/>
              </a:lnSpc>
            </a:pPr>
            <a:r>
              <a:rPr sz="1300" i="0" b="0">
                <a:solidFill>
                  <a:srgbClr val="E8F4F8"/>
                </a:solidFill>
                <a:latin typeface="Helvetica Neue"/>
              </a:rPr>
              <a:t>cross-encoder</a:t>
            </a:r>
          </a:p>
        </p:txBody>
      </p:sp>
      <p:cxnSp>
        <p:nvCxnSpPr>
          <p:cNvPr id="18" name="Connector 17"/>
          <p:cNvCxnSpPr/>
          <p:nvPr/>
        </p:nvCxnSpPr>
        <p:spPr>
          <a:xfrm>
            <a:off x="7068129"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516185" y="1563624"/>
            <a:ext cx="1834835" cy="1272540"/>
          </a:xfrm>
          <a:prstGeom prst="roundRect">
            <a:avLst>
              <a:gd name="adj" fmla="val 12000"/>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53345" y="1563624"/>
            <a:ext cx="1560515"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Dedup + compress</a:t>
            </a:r>
          </a:p>
          <a:p>
            <a:pPr algn="ctr">
              <a:lnSpc>
                <a:spcPct val="110000"/>
              </a:lnSpc>
            </a:pPr>
            <a:r>
              <a:rPr sz="1300" i="0" b="0">
                <a:solidFill>
                  <a:srgbClr val="E8F4F8"/>
                </a:solidFill>
                <a:latin typeface="Helvetica Neue"/>
              </a:rPr>
              <a:t>query-conditional</a:t>
            </a:r>
          </a:p>
        </p:txBody>
      </p:sp>
      <p:cxnSp>
        <p:nvCxnSpPr>
          <p:cNvPr id="21" name="Connector 20"/>
          <p:cNvCxnSpPr/>
          <p:nvPr/>
        </p:nvCxnSpPr>
        <p:spPr>
          <a:xfrm>
            <a:off x="9405884"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853940" y="1563624"/>
            <a:ext cx="1834835" cy="1272540"/>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91100" y="1563624"/>
            <a:ext cx="1560515"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Format</a:t>
            </a:r>
          </a:p>
          <a:p>
            <a:pPr algn="ctr">
              <a:lnSpc>
                <a:spcPct val="110000"/>
              </a:lnSpc>
            </a:pPr>
            <a:r>
              <a:rPr sz="1300" i="0" b="0">
                <a:solidFill>
                  <a:srgbClr val="E8F4F8"/>
                </a:solidFill>
                <a:latin typeface="Helvetica Neue"/>
              </a:rPr>
              <a:t>tags + source + date</a:t>
            </a:r>
          </a:p>
        </p:txBody>
      </p:sp>
      <p:sp>
        <p:nvSpPr>
          <p:cNvPr id="24" name="Rectangle 23"/>
          <p:cNvSpPr/>
          <p:nvPr/>
        </p:nvSpPr>
        <p:spPr>
          <a:xfrm>
            <a:off x="502920" y="3247898"/>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3156204"/>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Filter inside the vector query</a:t>
            </a:r>
            <a:r>
              <a:rPr sz="1900" i="0" b="0">
                <a:solidFill>
                  <a:srgbClr val="1E293B"/>
                </a:solidFill>
                <a:latin typeface="Helvetica Neue"/>
              </a:rPr>
              <a:t>, not on the results. It's also a security control</a:t>
            </a:r>
          </a:p>
        </p:txBody>
      </p:sp>
      <p:sp>
        <p:nvSpPr>
          <p:cNvPr id="26" name="Rectangle 25"/>
          <p:cNvSpPr/>
          <p:nvPr/>
        </p:nvSpPr>
        <p:spPr>
          <a:xfrm>
            <a:off x="502920" y="3711194"/>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3619500"/>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Ranking ≠ retrieval</a:t>
            </a:r>
            <a:r>
              <a:rPr sz="1900" i="0" b="0">
                <a:solidFill>
                  <a:srgbClr val="1E293B"/>
                </a:solidFill>
                <a:latin typeface="Helvetica Neue"/>
              </a:rPr>
              <a:t> — retrieve wide, rerank, send narrow</a:t>
            </a:r>
          </a:p>
        </p:txBody>
      </p:sp>
      <p:sp>
        <p:nvSpPr>
          <p:cNvPr id="28" name="Rectangle 27"/>
          <p:cNvSpPr/>
          <p:nvPr/>
        </p:nvSpPr>
        <p:spPr>
          <a:xfrm>
            <a:off x="502920" y="4174490"/>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082796"/>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Dedup trap</a:t>
            </a:r>
            <a:r>
              <a:rPr sz="1900" i="0" b="0">
                <a:solidFill>
                  <a:srgbClr val="1E293B"/>
                </a:solidFill>
                <a:latin typeface="Helvetica Neue"/>
              </a:rPr>
              <a:t> — a chunk hit by several sub-queries is often the most relevant one</a:t>
            </a:r>
          </a:p>
        </p:txBody>
      </p:sp>
      <p:sp>
        <p:nvSpPr>
          <p:cNvPr id="30" name="Rectangle 29"/>
          <p:cNvSpPr/>
          <p:nvPr/>
        </p:nvSpPr>
        <p:spPr>
          <a:xfrm>
            <a:off x="502920" y="4637786"/>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546092"/>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Compress per query</a:t>
            </a:r>
            <a:r>
              <a:rPr sz="1900" i="0" b="0">
                <a:solidFill>
                  <a:srgbClr val="1E293B"/>
                </a:solidFill>
                <a:latin typeface="Helvetica Neue"/>
              </a:rPr>
              <a:t> — a generic summary drops the detail the query needed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tuned pipeline — Bayer's PRINCE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200" i="0" b="0">
                <a:solidFill>
                  <a:srgbClr val="D4621A"/>
                </a:solidFill>
                <a:latin typeface="Helvetica Neue"/>
              </a:rPr>
              <a:t>Martin Fowler, reliable LLM case study</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notes/04-retrieval.md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Each narrowing uses a mechanism more accurate and more expensive than the last.</a:t>
            </a:r>
          </a:p>
        </p:txBody>
      </p:sp>
      <p:sp>
        <p:nvSpPr>
          <p:cNvPr id="13" name="Rectangle 12"/>
          <p:cNvSpPr/>
          <p:nvPr/>
        </p:nvSpPr>
        <p:spPr>
          <a:xfrm>
            <a:off x="1645920" y="1472184"/>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810512" y="1601114"/>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10512" y="160111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6" name="TextBox 15"/>
          <p:cNvSpPr txBox="1"/>
          <p:nvPr/>
        </p:nvSpPr>
        <p:spPr>
          <a:xfrm>
            <a:off x="2468879" y="1472184"/>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Extract keywords + a metadata filter</a:t>
            </a:r>
            <a:r>
              <a:rPr sz="1800" i="0" b="0">
                <a:solidFill>
                  <a:srgbClr val="475569"/>
                </a:solidFill>
                <a:latin typeface="Helvetica Neue"/>
              </a:rPr>
              <a:t> — two concurrent LLM passes, e.g. </a:t>
            </a:r>
            <a:r>
              <a:rPr sz="1620" i="0" b="0">
                <a:solidFill>
                  <a:srgbClr val="0F7490"/>
                </a:solidFill>
                <a:latin typeface="Menlo"/>
              </a:rPr>
              <a:t>eq(study_id, T123456-2)</a:t>
            </a:r>
          </a:p>
        </p:txBody>
      </p:sp>
      <p:sp>
        <p:nvSpPr>
          <p:cNvPr id="17" name="Rectangle 16"/>
          <p:cNvSpPr/>
          <p:nvPr/>
        </p:nvSpPr>
        <p:spPr>
          <a:xfrm>
            <a:off x="1645920" y="2296972"/>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810512" y="2425903"/>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10512" y="242590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20" name="TextBox 19"/>
          <p:cNvSpPr txBox="1"/>
          <p:nvPr/>
        </p:nvSpPr>
        <p:spPr>
          <a:xfrm>
            <a:off x="2468879" y="2296972"/>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Expand the query, n=5</a:t>
            </a:r>
            <a:r>
              <a:rPr sz="1800" i="0" b="0">
                <a:solidFill>
                  <a:srgbClr val="475569"/>
                </a:solidFill>
                <a:latin typeface="Helvetica Neue"/>
              </a:rPr>
              <a:t> — a smaller model rewrites the question into five variants</a:t>
            </a:r>
          </a:p>
        </p:txBody>
      </p:sp>
      <p:sp>
        <p:nvSpPr>
          <p:cNvPr id="21" name="Rectangle 20"/>
          <p:cNvSpPr/>
          <p:nvPr/>
        </p:nvSpPr>
        <p:spPr>
          <a:xfrm>
            <a:off x="1645920" y="3121761"/>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810512" y="3250691"/>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10512" y="325069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4" name="TextBox 23"/>
          <p:cNvSpPr txBox="1"/>
          <p:nvPr/>
        </p:nvSpPr>
        <p:spPr>
          <a:xfrm>
            <a:off x="2468879" y="3121761"/>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Pre-filter inside the vector DB</a:t>
            </a:r>
            <a:r>
              <a:rPr sz="1800" i="0" b="0">
                <a:solidFill>
                  <a:srgbClr val="475569"/>
                </a:solidFill>
                <a:latin typeface="Helvetica Neue"/>
              </a:rPr>
              <a:t> — millions of vectors → tens or hundreds before any similarity math</a:t>
            </a:r>
          </a:p>
        </p:txBody>
      </p:sp>
      <p:sp>
        <p:nvSpPr>
          <p:cNvPr id="25" name="Rectangle 24"/>
          <p:cNvSpPr/>
          <p:nvPr/>
        </p:nvSpPr>
        <p:spPr>
          <a:xfrm>
            <a:off x="1645920" y="3946550"/>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810512" y="4075480"/>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10512" y="4075480"/>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8" name="TextBox 27"/>
          <p:cNvSpPr txBox="1"/>
          <p:nvPr/>
        </p:nvSpPr>
        <p:spPr>
          <a:xfrm>
            <a:off x="2468879" y="3946550"/>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Parallel hybrid search, 0.7 / 0.3</a:t>
            </a:r>
            <a:r>
              <a:rPr sz="1800" i="0" b="0">
                <a:solidFill>
                  <a:srgbClr val="475569"/>
                </a:solidFill>
                <a:latin typeface="Helvetica Neue"/>
              </a:rPr>
              <a:t> — kNN </a:t>
            </a:r>
            <a:r>
              <a:rPr sz="1800" i="0" b="1">
                <a:solidFill>
                  <a:srgbClr val="1E293B"/>
                </a:solidFill>
                <a:latin typeface="Helvetica Neue"/>
              </a:rPr>
              <a:t>0.7</a:t>
            </a:r>
            <a:r>
              <a:rPr sz="1800" i="0" b="0">
                <a:solidFill>
                  <a:srgbClr val="475569"/>
                </a:solidFill>
                <a:latin typeface="Helvetica Neue"/>
              </a:rPr>
              <a:t>, keyword </a:t>
            </a:r>
            <a:r>
              <a:rPr sz="1800" i="0" b="1">
                <a:solidFill>
                  <a:srgbClr val="1E293B"/>
                </a:solidFill>
                <a:latin typeface="Helvetica Neue"/>
              </a:rPr>
              <a:t>0.3</a:t>
            </a:r>
            <a:r>
              <a:rPr sz="1800" i="0" b="0">
                <a:solidFill>
                  <a:srgbClr val="475569"/>
                </a:solidFill>
                <a:latin typeface="Helvetica Neue"/>
              </a:rPr>
              <a:t>, found experimentally; union, max-score, keep ~20</a:t>
            </a:r>
          </a:p>
        </p:txBody>
      </p:sp>
      <p:sp>
        <p:nvSpPr>
          <p:cNvPr id="29" name="Rectangle 28"/>
          <p:cNvSpPr/>
          <p:nvPr/>
        </p:nvSpPr>
        <p:spPr>
          <a:xfrm>
            <a:off x="1645920" y="4771339"/>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810512" y="4900269"/>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10512" y="490026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5</a:t>
            </a:r>
          </a:p>
        </p:txBody>
      </p:sp>
      <p:sp>
        <p:nvSpPr>
          <p:cNvPr id="32" name="TextBox 31"/>
          <p:cNvSpPr txBox="1"/>
          <p:nvPr/>
        </p:nvSpPr>
        <p:spPr>
          <a:xfrm>
            <a:off x="2468879" y="4771339"/>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Cross-encoder rerank, 20 → 7</a:t>
            </a:r>
            <a:r>
              <a:rPr sz="1800" i="0" b="0">
                <a:solidFill>
                  <a:srgbClr val="475569"/>
                </a:solidFill>
                <a:latin typeface="Helvetica Neue"/>
              </a:rPr>
              <a:t> — </a:t>
            </a:r>
            <a:r>
              <a:rPr sz="1620" i="0" b="0">
                <a:solidFill>
                  <a:srgbClr val="0F7490"/>
                </a:solidFill>
                <a:latin typeface="Menlo"/>
              </a:rPr>
              <a:t>bge-reranker-large</a:t>
            </a:r>
            <a:r>
              <a:rPr sz="1800" i="0" b="0">
                <a:solidFill>
                  <a:srgbClr val="475569"/>
                </a:solidFill>
                <a:latin typeface="Helvetica Neue"/>
              </a:rPr>
              <a:t> against the </a:t>
            </a:r>
            <a:r>
              <a:rPr sz="1800" i="0" b="1">
                <a:solidFill>
                  <a:srgbClr val="1E293B"/>
                </a:solidFill>
                <a:latin typeface="Helvetica Neue"/>
              </a:rPr>
              <a:t>original</a:t>
            </a:r>
            <a:r>
              <a:rPr sz="1800" i="0" b="0">
                <a:solidFill>
                  <a:srgbClr val="475569"/>
                </a:solidFill>
                <a:latin typeface="Helvetica Neue"/>
              </a:rPr>
              <a:t> question, not the rewrites</a:t>
            </a:r>
          </a:p>
        </p:txBody>
      </p:sp>
      <p:sp>
        <p:nvSpPr>
          <p:cNvPr id="33" name="TextBox 32"/>
          <p:cNvSpPr txBox="1"/>
          <p:nvPr/>
        </p:nvSpPr>
        <p:spPr>
          <a:xfrm>
            <a:off x="502920" y="1472184"/>
            <a:ext cx="1005840" cy="502920"/>
          </a:xfrm>
          <a:prstGeom prst="rect">
            <a:avLst/>
          </a:prstGeom>
          <a:noFill/>
        </p:spPr>
        <p:txBody>
          <a:bodyPr wrap="square" lIns="0" rIns="0" tIns="0" bIns="0" anchor="b">
            <a:noAutofit/>
          </a:bodyPr>
          <a:lstStyle/>
          <a:p>
            <a:pPr algn="ctr">
              <a:lnSpc>
                <a:spcPct val="110000"/>
              </a:lnSpc>
            </a:pPr>
            <a:r>
              <a:rPr sz="1200" i="1" b="0">
                <a:solidFill>
                  <a:srgbClr val="94A3B8"/>
                </a:solidFill>
                <a:latin typeface="Helvetica Neue"/>
              </a:rPr>
              <a:t>millions</a:t>
            </a:r>
          </a:p>
        </p:txBody>
      </p:sp>
      <p:sp>
        <p:nvSpPr>
          <p:cNvPr id="34" name="TextBox 33"/>
          <p:cNvSpPr txBox="1"/>
          <p:nvPr/>
        </p:nvSpPr>
        <p:spPr>
          <a:xfrm>
            <a:off x="502920" y="4983480"/>
            <a:ext cx="1005840" cy="50292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7 chunks</a:t>
            </a:r>
          </a:p>
        </p:txBody>
      </p:sp>
      <p:cxnSp>
        <p:nvCxnSpPr>
          <p:cNvPr id="35" name="Connector 34"/>
          <p:cNvCxnSpPr/>
          <p:nvPr/>
        </p:nvCxnSpPr>
        <p:spPr>
          <a:xfrm>
            <a:off x="1005840" y="2066544"/>
            <a:ext cx="0" cy="2825496"/>
          </a:xfrm>
          <a:prstGeom prst="line">
            <a:avLst/>
          </a:prstGeom>
          <a:ln w="2857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Hybrid retrieval and reranking</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production default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notes/04-retrieval.md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19</a:t>
            </a:r>
          </a:p>
        </p:txBody>
      </p:sp>
      <p:sp>
        <p:nvSpPr>
          <p:cNvPr id="10" name="Rectangle 9"/>
          <p:cNvSpPr/>
          <p:nvPr/>
        </p:nvSpPr>
        <p:spPr>
          <a:xfrm>
            <a:off x="448056" y="1417320"/>
            <a:ext cx="6261948" cy="250601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3-9-8980905160909294523-7820990916603704420.jpg"/>
          <p:cNvPicPr>
            <a:picLocks noChangeAspect="1"/>
          </p:cNvPicPr>
          <p:nvPr/>
        </p:nvPicPr>
        <p:blipFill>
          <a:blip r:embed="rId2"/>
          <a:stretch>
            <a:fillRect/>
          </a:stretch>
        </p:blipFill>
        <p:spPr>
          <a:xfrm>
            <a:off x="502920" y="1472184"/>
            <a:ext cx="6152220" cy="2396289"/>
          </a:xfrm>
          <a:prstGeom prst="rect">
            <a:avLst/>
          </a:prstGeom>
        </p:spPr>
      </p:pic>
      <p:sp>
        <p:nvSpPr>
          <p:cNvPr id="12" name="TextBox 11"/>
          <p:cNvSpPr txBox="1"/>
          <p:nvPr/>
        </p:nvSpPr>
        <p:spPr>
          <a:xfrm>
            <a:off x="502920" y="4005633"/>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Li, AI Agents in Depth (2026), Fig. 3-9 (Apache-2.0)</a:t>
            </a:r>
          </a:p>
        </p:txBody>
      </p:sp>
      <p:sp>
        <p:nvSpPr>
          <p:cNvPr id="13" name="Rectangle 12"/>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BM25</a:t>
            </a:r>
            <a:r>
              <a:rPr sz="1800" i="0" b="0">
                <a:solidFill>
                  <a:srgbClr val="1E293B"/>
                </a:solidFill>
                <a:latin typeface="Helvetica Neue"/>
              </a:rPr>
              <a:t> finds exact terms: names, error codes, IDs</a:t>
            </a:r>
          </a:p>
        </p:txBody>
      </p:sp>
      <p:sp>
        <p:nvSpPr>
          <p:cNvPr id="15" name="Rectangle 14"/>
          <p:cNvSpPr/>
          <p:nvPr/>
        </p:nvSpPr>
        <p:spPr>
          <a:xfrm>
            <a:off x="7020900" y="229971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0940" y="2212848"/>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Dense</a:t>
            </a:r>
            <a:r>
              <a:rPr sz="1800" i="0" b="0">
                <a:solidFill>
                  <a:srgbClr val="1E293B"/>
                </a:solidFill>
                <a:latin typeface="Helvetica Neue"/>
              </a:rPr>
              <a:t> finds paraphrases</a:t>
            </a:r>
          </a:p>
        </p:txBody>
      </p:sp>
      <p:sp>
        <p:nvSpPr>
          <p:cNvPr id="17" name="Rectangle 16"/>
          <p:cNvSpPr/>
          <p:nvPr/>
        </p:nvSpPr>
        <p:spPr>
          <a:xfrm>
            <a:off x="7020900" y="273862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40940" y="2651760"/>
            <a:ext cx="4347834" cy="996696"/>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Fuse</a:t>
            </a:r>
            <a:r>
              <a:rPr sz="1800" i="0" b="0">
                <a:solidFill>
                  <a:srgbClr val="1E293B"/>
                </a:solidFill>
                <a:latin typeface="Helvetica Neue"/>
              </a:rPr>
              <a:t>: RRF </a:t>
            </a:r>
            <a:r>
              <a:rPr sz="1620" i="0" b="0">
                <a:solidFill>
                  <a:srgbClr val="0F7490"/>
                </a:solidFill>
                <a:latin typeface="Menlo"/>
              </a:rPr>
              <a:t>Σ 1/(60 + rank)</a:t>
            </a:r>
            <a:r>
              <a:rPr sz="1800" i="0" b="0">
                <a:solidFill>
                  <a:srgbClr val="1E293B"/>
                </a:solidFill>
                <a:latin typeface="Helvetica Neue"/>
              </a:rPr>
              <a:t> is robust; weighted scores need normalizing first</a:t>
            </a:r>
          </a:p>
        </p:txBody>
      </p:sp>
      <p:sp>
        <p:nvSpPr>
          <p:cNvPr id="19" name="Rectangle 18"/>
          <p:cNvSpPr/>
          <p:nvPr/>
        </p:nvSpPr>
        <p:spPr>
          <a:xfrm>
            <a:off x="7020900" y="3781044"/>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40940" y="3694176"/>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Rerank</a:t>
            </a:r>
            <a:r>
              <a:rPr sz="1800" i="0" b="0">
                <a:solidFill>
                  <a:srgbClr val="1E293B"/>
                </a:solidFill>
                <a:latin typeface="Helvetica Neue"/>
              </a:rPr>
              <a:t> the fused top ~50 with a cross-encoder</a:t>
            </a:r>
          </a:p>
        </p:txBody>
      </p:sp>
      <p:sp>
        <p:nvSpPr>
          <p:cNvPr id="21" name="Rectangle 20"/>
          <p:cNvSpPr/>
          <p:nvPr/>
        </p:nvSpPr>
        <p:spPr>
          <a:xfrm>
            <a:off x="7020900" y="452170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40940" y="4434840"/>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Measure each stage: </a:t>
            </a:r>
            <a:r>
              <a:rPr sz="1800" i="0" b="1">
                <a:solidFill>
                  <a:srgbClr val="1E293B"/>
                </a:solidFill>
                <a:latin typeface="Helvetica Neue"/>
              </a:rPr>
              <a:t>recall@k</a:t>
            </a:r>
            <a:r>
              <a:rPr sz="1800" i="0" b="0">
                <a:solidFill>
                  <a:srgbClr val="1E293B"/>
                </a:solidFill>
                <a:latin typeface="Helvetica Neue"/>
              </a:rPr>
              <a:t>, MRR, nDCG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Contextual retrieval — add context at index time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Anthropic</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notes/04-retrieval.md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Contextual retrieval adds at index time. Contextual compression removes at query time. Don't confuse them.</a:t>
            </a:r>
          </a:p>
        </p:txBody>
      </p:sp>
      <p:sp>
        <p:nvSpPr>
          <p:cNvPr id="13" name="Rectangle 12"/>
          <p:cNvSpPr/>
          <p:nvPr/>
        </p:nvSpPr>
        <p:spPr>
          <a:xfrm>
            <a:off x="448056" y="1417320"/>
            <a:ext cx="6261948" cy="283823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3-14-7892543693493480668.png"/>
          <p:cNvPicPr>
            <a:picLocks noChangeAspect="1"/>
          </p:cNvPicPr>
          <p:nvPr/>
        </p:nvPicPr>
        <p:blipFill>
          <a:blip r:embed="rId2"/>
          <a:stretch>
            <a:fillRect/>
          </a:stretch>
        </p:blipFill>
        <p:spPr>
          <a:xfrm>
            <a:off x="502920" y="1472184"/>
            <a:ext cx="6152220" cy="2728509"/>
          </a:xfrm>
          <a:prstGeom prst="rect">
            <a:avLst/>
          </a:prstGeom>
        </p:spPr>
      </p:pic>
      <p:sp>
        <p:nvSpPr>
          <p:cNvPr id="15" name="TextBox 14"/>
          <p:cNvSpPr txBox="1"/>
          <p:nvPr/>
        </p:nvSpPr>
        <p:spPr>
          <a:xfrm>
            <a:off x="502920" y="4337853"/>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Li, AI Agents in Depth (2026), Fig. 3-14 (Apache-2.0)</a:t>
            </a:r>
          </a:p>
        </p:txBody>
      </p:sp>
      <p:sp>
        <p:nvSpPr>
          <p:cNvPr id="16" name="Rectangle 15"/>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"Q2 revenue grew 3%" — which company, which year?</a:t>
            </a:r>
          </a:p>
        </p:txBody>
      </p:sp>
      <p:sp>
        <p:nvSpPr>
          <p:cNvPr id="18" name="Rectangle 17"/>
          <p:cNvSpPr/>
          <p:nvPr/>
        </p:nvSpPr>
        <p:spPr>
          <a:xfrm>
            <a:off x="7020900" y="229971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An LLM writes a short prefix per chunk; index prefix + chunk</a:t>
            </a:r>
          </a:p>
        </p:txBody>
      </p:sp>
      <p:sp>
        <p:nvSpPr>
          <p:cNvPr id="20" name="Rectangle 19"/>
          <p:cNvSpPr/>
          <p:nvPr/>
        </p:nvSpPr>
        <p:spPr>
          <a:xfrm>
            <a:off x="7020900" y="304038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Top-20 failures </a:t>
            </a:r>
            <a:r>
              <a:rPr sz="1800" i="0" b="1">
                <a:solidFill>
                  <a:srgbClr val="1E293B"/>
                </a:solidFill>
                <a:latin typeface="Helvetica Neue"/>
              </a:rPr>
              <a:t>−49%</a:t>
            </a:r>
            <a:r>
              <a:rPr sz="1800" i="0" b="0">
                <a:solidFill>
                  <a:srgbClr val="1E293B"/>
                </a:solidFill>
                <a:latin typeface="Helvetica Neue"/>
              </a:rPr>
              <a:t> (contextual embeddings + BM25)</a:t>
            </a:r>
          </a:p>
        </p:txBody>
      </p:sp>
      <p:sp>
        <p:nvSpPr>
          <p:cNvPr id="22" name="Rectangle 21"/>
          <p:cNvSpPr/>
          <p:nvPr/>
        </p:nvSpPr>
        <p:spPr>
          <a:xfrm>
            <a:off x="7020900" y="3781044"/>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694176"/>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−67%</a:t>
            </a:r>
            <a:r>
              <a:rPr sz="1800" i="0" b="0">
                <a:solidFill>
                  <a:srgbClr val="1E293B"/>
                </a:solidFill>
                <a:latin typeface="Helvetica Neue"/>
              </a:rPr>
              <a:t> with a reranker</a:t>
            </a:r>
          </a:p>
        </p:txBody>
      </p:sp>
      <p:sp>
        <p:nvSpPr>
          <p:cNvPr id="24" name="Rectangle 23"/>
          <p:cNvSpPr/>
          <p:nvPr/>
        </p:nvSpPr>
        <p:spPr>
          <a:xfrm>
            <a:off x="7020900" y="421995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40940" y="4133088"/>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About </a:t>
            </a:r>
            <a:r>
              <a:rPr sz="1800" i="0" b="1">
                <a:solidFill>
                  <a:srgbClr val="1E293B"/>
                </a:solidFill>
                <a:latin typeface="Helvetica Neue"/>
              </a:rPr>
              <a:t>$1 per million</a:t>
            </a:r>
            <a:r>
              <a:rPr sz="1800" i="0" b="0">
                <a:solidFill>
                  <a:srgbClr val="1E293B"/>
                </a:solidFill>
                <a:latin typeface="Helvetica Neue"/>
              </a:rPr>
              <a:t> document tokens with prompt caching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first production cut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Worked example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notes/04-retrieval.md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21</a:t>
            </a:r>
          </a:p>
        </p:txBody>
      </p:sp>
      <p:sp>
        <p:nvSpPr>
          <p:cNvPr id="10" name="Rectangle 9"/>
          <p:cNvSpPr/>
          <p:nvPr/>
        </p:nvSpPr>
        <p:spPr>
          <a:xfrm>
            <a:off x="448056" y="1417320"/>
            <a:ext cx="6261948" cy="333451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edrock-kb-pipeline-billydk-2778846574495948473.jpg"/>
          <p:cNvPicPr>
            <a:picLocks noChangeAspect="1"/>
          </p:cNvPicPr>
          <p:nvPr/>
        </p:nvPicPr>
        <p:blipFill>
          <a:blip r:embed="rId2"/>
          <a:stretch>
            <a:fillRect/>
          </a:stretch>
        </p:blipFill>
        <p:spPr>
          <a:xfrm>
            <a:off x="502920" y="1472184"/>
            <a:ext cx="6152220" cy="3224788"/>
          </a:xfrm>
          <a:prstGeom prst="rect">
            <a:avLst/>
          </a:prstGeom>
        </p:spPr>
      </p:pic>
      <p:sp>
        <p:nvSpPr>
          <p:cNvPr id="12" name="TextBox 11"/>
          <p:cNvSpPr txBox="1"/>
          <p:nvPr/>
        </p:nvSpPr>
        <p:spPr>
          <a:xfrm>
            <a:off x="502920" y="4834132"/>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Billy.dk support assistant on AWS Bedrock Knowledge Bases</a:t>
            </a:r>
          </a:p>
        </p:txBody>
      </p:sp>
      <p:sp>
        <p:nvSpPr>
          <p:cNvPr id="13" name="Rectangle 12"/>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Hybrid search</a:t>
            </a:r>
            <a:r>
              <a:rPr sz="1800" i="0" b="0">
                <a:solidFill>
                  <a:srgbClr val="1E293B"/>
                </a:solidFill>
                <a:latin typeface="Helvetica Neue"/>
              </a:rPr>
              <a:t>: semantic and keyword together</a:t>
            </a:r>
          </a:p>
        </p:txBody>
      </p:sp>
      <p:sp>
        <p:nvSpPr>
          <p:cNvPr id="15" name="Rectangle 14"/>
          <p:cNvSpPr/>
          <p:nvPr/>
        </p:nvSpPr>
        <p:spPr>
          <a:xfrm>
            <a:off x="7020900" y="229971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0940" y="2212848"/>
            <a:ext cx="4347834" cy="996696"/>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Query transformation</a:t>
            </a:r>
            <a:r>
              <a:rPr sz="1800" i="0" b="0">
                <a:solidFill>
                  <a:srgbClr val="1E293B"/>
                </a:solidFill>
                <a:latin typeface="Helvetica Neue"/>
              </a:rPr>
              <a:t> before retrieval: what users type rarely retrieves best</a:t>
            </a:r>
          </a:p>
        </p:txBody>
      </p:sp>
      <p:sp>
        <p:nvSpPr>
          <p:cNvPr id="17" name="Rectangle 16"/>
          <p:cNvSpPr/>
          <p:nvPr/>
        </p:nvSpPr>
        <p:spPr>
          <a:xfrm>
            <a:off x="7020900" y="334213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40940" y="3255264"/>
            <a:ext cx="4347834"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Missing: </a:t>
            </a:r>
            <a:r>
              <a:rPr sz="1800" i="0" b="1">
                <a:solidFill>
                  <a:srgbClr val="1E293B"/>
                </a:solidFill>
                <a:latin typeface="Helvetica Neue"/>
              </a:rPr>
              <a:t>no rerank, no dedup</a:t>
            </a:r>
          </a:p>
        </p:txBody>
      </p:sp>
      <p:sp>
        <p:nvSpPr>
          <p:cNvPr id="19" name="Rectangle 18"/>
          <p:cNvSpPr/>
          <p:nvPr/>
        </p:nvSpPr>
        <p:spPr>
          <a:xfrm>
            <a:off x="7020900" y="3781044"/>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40940" y="3694176"/>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Those are the stages teams add after quality plateaus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RAG architectures — each step adds control</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From naive to agentic</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notes/04-retrieval.md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22</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layer spanning structured and unstructured data needs a router, not a single index.</a:t>
            </a:r>
          </a:p>
        </p:txBody>
      </p:sp>
      <p:graphicFrame>
        <p:nvGraphicFramePr>
          <p:cNvPr id="13" name="Table 12"/>
          <p:cNvGraphicFramePr>
            <a:graphicFrameLocks noGrp="1"/>
          </p:cNvGraphicFramePr>
          <p:nvPr/>
        </p:nvGraphicFramePr>
        <p:xfrm>
          <a:off x="502920" y="1472184"/>
          <a:ext cx="11185854" cy="3727704"/>
        </p:xfrm>
        <a:graphic>
          <a:graphicData uri="http://schemas.openxmlformats.org/drawingml/2006/table">
            <a:tbl>
              <a:tblPr firstRow="1" bandRow="1">
                <a:tableStyleId>{5940675A-B579-460E-94D1-54222C63F5DA}</a:tableStyleId>
              </a:tblPr>
              <a:tblGrid>
                <a:gridCol w="2460888"/>
                <a:gridCol w="4698059"/>
                <a:gridCol w="4026907"/>
              </a:tblGrid>
              <a:tr h="405384">
                <a:tc>
                  <a:txBody>
                    <a:bodyPr wrap="square"/>
                    <a:lstStyle/>
                    <a:p>
                      <a:pPr>
                        <a:lnSpc>
                          <a:spcPct val="100000"/>
                        </a:lnSpc>
                      </a:pPr>
                      <a:r>
                        <a:rPr sz="1700" i="0" b="1">
                          <a:solidFill>
                            <a:srgbClr val="FFFFFF"/>
                          </a:solidFill>
                          <a:latin typeface="Helvetica Neue"/>
                        </a:rPr>
                        <a:t>Architecture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Shape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Use when</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Naive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embed → top-k → stuff into prompt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One-hop questions over a clean corpus</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Modular</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rewrite → retrieve → rerank → compress → generate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You need to swap one stage</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Agentic</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model decides whether, what and when; loops</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Multi-step questions that decompose</a:t>
                      </a:r>
                    </a:p>
                  </a:txBody>
                  <a:tcPr marL="109728" marR="109728" marT="54864" marB="54864" anchor="ctr">
                    <a:solidFill>
                      <a:srgbClr val="E8F4F8"/>
                    </a:solidFill>
                  </a:tcPr>
                </a:tc>
              </a:tr>
              <a:tr h="664464">
                <a:tc>
                  <a:txBody>
                    <a:bodyPr wrap="square"/>
                    <a:lstStyle/>
                    <a:p>
                      <a:pPr>
                        <a:lnSpc>
                          <a:spcPct val="100000"/>
                        </a:lnSpc>
                      </a:pPr>
                      <a:r>
                        <a:rPr sz="1700" i="0" b="1">
                          <a:solidFill>
                            <a:srgbClr val="1E293B"/>
                          </a:solidFill>
                          <a:latin typeface="Helvetica Neue"/>
                        </a:rPr>
                        <a:t>Graph-enhanced</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Entities and relations; retrieval walks edges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Multi-hop, "how is X related to Y"</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Text-to-SQL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schema subset + retrieved few-shot + SELECT-only check</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Counting, filtering, aggregation</a:t>
                      </a:r>
                    </a:p>
                  </a:txBody>
                  <a:tcPr marL="109728" marR="109728" marT="54864" marB="54864"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compaction pipeline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Long-horizon agents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notes/05-compression-compaction.md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23</a:t>
            </a:r>
          </a:p>
        </p:txBody>
      </p:sp>
      <p:sp>
        <p:nvSpPr>
          <p:cNvPr id="10" name="Rounded Rectangle 9"/>
          <p:cNvSpPr/>
          <p:nvPr/>
        </p:nvSpPr>
        <p:spPr>
          <a:xfrm>
            <a:off x="502920" y="1563624"/>
            <a:ext cx="1834835" cy="149047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Prune</a:t>
            </a:r>
          </a:p>
          <a:p>
            <a:pPr algn="ctr">
              <a:lnSpc>
                <a:spcPct val="110000"/>
              </a:lnSpc>
            </a:pPr>
            <a:r>
              <a:rPr sz="1300" i="0" b="0">
                <a:solidFill>
                  <a:srgbClr val="E8F4F8"/>
                </a:solidFill>
                <a:latin typeface="Helvetica Neue"/>
              </a:rPr>
              <a:t>dead branches</a:t>
            </a:r>
          </a:p>
        </p:txBody>
      </p:sp>
      <p:cxnSp>
        <p:nvCxnSpPr>
          <p:cNvPr id="12" name="Connector 11"/>
          <p:cNvCxnSpPr/>
          <p:nvPr/>
        </p:nvCxnSpPr>
        <p:spPr>
          <a:xfrm>
            <a:off x="2392619"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40675" y="1563624"/>
            <a:ext cx="1834835" cy="1490472"/>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7835"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Clear tool output</a:t>
            </a:r>
          </a:p>
          <a:p>
            <a:pPr algn="ctr">
              <a:lnSpc>
                <a:spcPct val="110000"/>
              </a:lnSpc>
            </a:pPr>
            <a:r>
              <a:rPr sz="1300" i="0" b="0">
                <a:solidFill>
                  <a:srgbClr val="E8F4F8"/>
                </a:solidFill>
                <a:latin typeface="Helvetica Neue"/>
              </a:rPr>
              <a:t>keep the conclusion</a:t>
            </a:r>
          </a:p>
        </p:txBody>
      </p:sp>
      <p:cxnSp>
        <p:nvCxnSpPr>
          <p:cNvPr id="15" name="Connector 14"/>
          <p:cNvCxnSpPr/>
          <p:nvPr/>
        </p:nvCxnSpPr>
        <p:spPr>
          <a:xfrm>
            <a:off x="4730374"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78430" y="1563624"/>
            <a:ext cx="1834835" cy="1490472"/>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15590"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Extract state</a:t>
            </a:r>
          </a:p>
          <a:p>
            <a:pPr algn="ctr">
              <a:lnSpc>
                <a:spcPct val="110000"/>
              </a:lnSpc>
            </a:pPr>
            <a:r>
              <a:rPr sz="1300" i="0" b="0">
                <a:solidFill>
                  <a:srgbClr val="E8F4F8"/>
                </a:solidFill>
                <a:latin typeface="Helvetica Neue"/>
              </a:rPr>
              <a:t>files, decisions, TODOs</a:t>
            </a:r>
          </a:p>
        </p:txBody>
      </p:sp>
      <p:cxnSp>
        <p:nvCxnSpPr>
          <p:cNvPr id="18" name="Connector 17"/>
          <p:cNvCxnSpPr/>
          <p:nvPr/>
        </p:nvCxnSpPr>
        <p:spPr>
          <a:xfrm>
            <a:off x="7068129"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516185" y="1563624"/>
            <a:ext cx="1834835" cy="1490472"/>
          </a:xfrm>
          <a:prstGeom prst="roundRect">
            <a:avLst>
              <a:gd name="adj" fmla="val 12000"/>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53345"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Summarize the middle</a:t>
            </a:r>
          </a:p>
          <a:p>
            <a:pPr algn="ctr">
              <a:lnSpc>
                <a:spcPct val="110000"/>
              </a:lnSpc>
            </a:pPr>
            <a:r>
              <a:rPr sz="1300" i="0" b="0">
                <a:solidFill>
                  <a:srgbClr val="E8F4F8"/>
                </a:solidFill>
                <a:latin typeface="Helvetica Neue"/>
              </a:rPr>
              <a:t>lossy but bounded</a:t>
            </a:r>
          </a:p>
        </p:txBody>
      </p:sp>
      <p:cxnSp>
        <p:nvCxnSpPr>
          <p:cNvPr id="21" name="Connector 20"/>
          <p:cNvCxnSpPr/>
          <p:nvPr/>
        </p:nvCxnSpPr>
        <p:spPr>
          <a:xfrm>
            <a:off x="9405884"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853940" y="1563624"/>
            <a:ext cx="1834835" cy="149047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91100"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Keep recent verbatim</a:t>
            </a:r>
          </a:p>
          <a:p>
            <a:pPr algn="ctr">
              <a:lnSpc>
                <a:spcPct val="110000"/>
              </a:lnSpc>
            </a:pPr>
            <a:r>
              <a:rPr sz="1300" i="0" b="0">
                <a:solidFill>
                  <a:srgbClr val="E8F4F8"/>
                </a:solidFill>
                <a:latin typeface="Helvetica Neue"/>
              </a:rPr>
              <a:t>last N turns</a:t>
            </a:r>
          </a:p>
        </p:txBody>
      </p:sp>
      <p:sp>
        <p:nvSpPr>
          <p:cNvPr id="24" name="Rectangle 23"/>
          <p:cNvSpPr/>
          <p:nvPr/>
        </p:nvSpPr>
        <p:spPr>
          <a:xfrm>
            <a:off x="502920" y="3465830"/>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3374136"/>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Trigger at phase boundaries</a:t>
            </a:r>
            <a:r>
              <a:rPr sz="1900" i="0" b="0">
                <a:solidFill>
                  <a:srgbClr val="1E293B"/>
                </a:solidFill>
                <a:latin typeface="Helvetica Neue"/>
              </a:rPr>
              <a:t>, not at 95% mid-edit; ~80% occupancy as a backstop</a:t>
            </a:r>
          </a:p>
        </p:txBody>
      </p:sp>
      <p:sp>
        <p:nvSpPr>
          <p:cNvPr id="26" name="Rectangle 25"/>
          <p:cNvSpPr/>
          <p:nvPr/>
        </p:nvSpPr>
        <p:spPr>
          <a:xfrm>
            <a:off x="502920" y="3929126"/>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3837432"/>
            <a:ext cx="10865815"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Identifiers verbatim</a:t>
            </a:r>
            <a:r>
              <a:rPr sz="1900" i="0" b="0">
                <a:solidFill>
                  <a:srgbClr val="1E293B"/>
                </a:solidFill>
                <a:latin typeface="Helvetica Neue"/>
              </a:rPr>
              <a:t>: UUIDs, hashes, paths, PR numbers. One wrong digit fails the next call</a:t>
            </a:r>
          </a:p>
        </p:txBody>
      </p:sp>
      <p:sp>
        <p:nvSpPr>
          <p:cNvPr id="28" name="Rectangle 27"/>
          <p:cNvSpPr/>
          <p:nvPr/>
        </p:nvSpPr>
        <p:spPr>
          <a:xfrm>
            <a:off x="502920" y="4710938"/>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619244"/>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Tool-result clearing first</a:t>
            </a:r>
            <a:r>
              <a:rPr sz="1900" i="0" b="0">
                <a:solidFill>
                  <a:srgbClr val="1E293B"/>
                </a:solidFill>
                <a:latin typeface="Helvetica Neue"/>
              </a:rPr>
              <a:t>: highest value, lowest risk</a:t>
            </a:r>
          </a:p>
        </p:txBody>
      </p:sp>
      <p:sp>
        <p:nvSpPr>
          <p:cNvPr id="30" name="Rectangle 29"/>
          <p:cNvSpPr/>
          <p:nvPr/>
        </p:nvSpPr>
        <p:spPr>
          <a:xfrm>
            <a:off x="502920" y="5174234"/>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082540"/>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Compaction rewrites the prefix, so each one pays a full re-prefill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survives compaction, in order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Retention priority</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notes/05-compression-compaction.md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40k tokens of test output → "17 passed, 2 failed". A rationale can't compress at all.</a:t>
            </a:r>
          </a:p>
        </p:txBody>
      </p:sp>
      <p:sp>
        <p:nvSpPr>
          <p:cNvPr id="13" name="Rectangle 12"/>
          <p:cNvSpPr/>
          <p:nvPr/>
        </p:nvSpPr>
        <p:spPr>
          <a:xfrm>
            <a:off x="502920" y="1472184"/>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7512" y="1601114"/>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160111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6" name="TextBox 15"/>
          <p:cNvSpPr txBox="1"/>
          <p:nvPr/>
        </p:nvSpPr>
        <p:spPr>
          <a:xfrm>
            <a:off x="1325880" y="1472184"/>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Architectural decisions</a:t>
            </a:r>
            <a:r>
              <a:rPr sz="1800" i="0" b="0">
                <a:solidFill>
                  <a:srgbClr val="475569"/>
                </a:solidFill>
                <a:latin typeface="Helvetica Neue"/>
              </a:rPr>
              <a:t> — "X over Y because Z", verbatim. Lose the reason and the agent re-litigates it</a:t>
            </a:r>
          </a:p>
        </p:txBody>
      </p:sp>
      <p:sp>
        <p:nvSpPr>
          <p:cNvPr id="17" name="Rectangle 16"/>
          <p:cNvSpPr/>
          <p:nvPr/>
        </p:nvSpPr>
        <p:spPr>
          <a:xfrm>
            <a:off x="502920" y="2296972"/>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7512" y="2425903"/>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242590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20" name="TextBox 19"/>
          <p:cNvSpPr txBox="1"/>
          <p:nvPr/>
        </p:nvSpPr>
        <p:spPr>
          <a:xfrm>
            <a:off x="1325880" y="2296972"/>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Modified files and critical changes</a:t>
            </a:r>
            <a:r>
              <a:rPr sz="1800" i="0" b="0">
                <a:solidFill>
                  <a:srgbClr val="475569"/>
                </a:solidFill>
                <a:latin typeface="Helvetica Neue"/>
              </a:rPr>
              <a:t> — the diff so far is state, not history</a:t>
            </a:r>
          </a:p>
        </p:txBody>
      </p:sp>
      <p:sp>
        <p:nvSpPr>
          <p:cNvPr id="21" name="Rectangle 20"/>
          <p:cNvSpPr/>
          <p:nvPr/>
        </p:nvSpPr>
        <p:spPr>
          <a:xfrm>
            <a:off x="502920" y="3121761"/>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67512" y="3250691"/>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325069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4" name="TextBox 23"/>
          <p:cNvSpPr txBox="1"/>
          <p:nvPr/>
        </p:nvSpPr>
        <p:spPr>
          <a:xfrm>
            <a:off x="1325880" y="3121761"/>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Verification status</a:t>
            </a:r>
            <a:r>
              <a:rPr sz="1800" i="0" b="0">
                <a:solidFill>
                  <a:srgbClr val="475569"/>
                </a:solidFill>
                <a:latin typeface="Helvetica Neue"/>
              </a:rPr>
              <a:t> — which tests ran, pass or fail</a:t>
            </a:r>
          </a:p>
        </p:txBody>
      </p:sp>
      <p:sp>
        <p:nvSpPr>
          <p:cNvPr id="25" name="Rectangle 24"/>
          <p:cNvSpPr/>
          <p:nvPr/>
        </p:nvSpPr>
        <p:spPr>
          <a:xfrm>
            <a:off x="502920" y="3946550"/>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512" y="4075480"/>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4075480"/>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8" name="TextBox 27"/>
          <p:cNvSpPr txBox="1"/>
          <p:nvPr/>
        </p:nvSpPr>
        <p:spPr>
          <a:xfrm>
            <a:off x="1325880" y="3946550"/>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Unresolved TODOs and rollback notes</a:t>
            </a:r>
            <a:r>
              <a:rPr sz="1800" i="0" b="0">
                <a:solidFill>
                  <a:srgbClr val="475569"/>
                </a:solidFill>
                <a:latin typeface="Helvetica Neue"/>
              </a:rPr>
              <a:t> — everything not yet done</a:t>
            </a:r>
          </a:p>
        </p:txBody>
      </p:sp>
      <p:sp>
        <p:nvSpPr>
          <p:cNvPr id="29" name="Rectangle 28"/>
          <p:cNvSpPr/>
          <p:nvPr/>
        </p:nvSpPr>
        <p:spPr>
          <a:xfrm>
            <a:off x="502920" y="4771339"/>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7512" y="4900269"/>
            <a:ext cx="457200" cy="457200"/>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 y="490026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5</a:t>
            </a:r>
          </a:p>
        </p:txBody>
      </p:sp>
      <p:sp>
        <p:nvSpPr>
          <p:cNvPr id="32" name="TextBox 31"/>
          <p:cNvSpPr txBox="1"/>
          <p:nvPr/>
        </p:nvSpPr>
        <p:spPr>
          <a:xfrm>
            <a:off x="1325880" y="4771339"/>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Tool output</a:t>
            </a:r>
            <a:r>
              <a:rPr sz="1800" i="0" b="0">
                <a:solidFill>
                  <a:srgbClr val="475569"/>
                </a:solidFill>
                <a:latin typeface="Helvetica Neue"/>
              </a:rPr>
              <a:t> — deletable. Keep the conclusion, drop the payload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Six compression strategies, one task</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Li, Experiment 2-9</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notes/05-compression-compaction.md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25</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Track OpenAI co-founders' current roles with a 128K window. Seven searches return ~367k characters.</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Compression is understanding. The compressor needs near-main-model capability and the task in its prompt.</a:t>
            </a:r>
          </a:p>
        </p:txBody>
      </p:sp>
      <p:graphicFrame>
        <p:nvGraphicFramePr>
          <p:cNvPr id="14" name="Table 13"/>
          <p:cNvGraphicFramePr>
            <a:graphicFrameLocks noGrp="1"/>
          </p:cNvGraphicFramePr>
          <p:nvPr/>
        </p:nvGraphicFramePr>
        <p:xfrm>
          <a:off x="502920" y="1985772"/>
          <a:ext cx="11185855" cy="3462528"/>
        </p:xfrm>
        <a:graphic>
          <a:graphicData uri="http://schemas.openxmlformats.org/drawingml/2006/table">
            <a:tbl>
              <a:tblPr firstRow="1" bandRow="1">
                <a:tableStyleId>{5940675A-B579-460E-94D1-54222C63F5DA}</a:tableStyleId>
              </a:tblPr>
              <a:tblGrid>
                <a:gridCol w="4698059"/>
                <a:gridCol w="6487796"/>
              </a:tblGrid>
              <a:tr h="390144">
                <a:tc>
                  <a:txBody>
                    <a:bodyPr wrap="square"/>
                    <a:lstStyle/>
                    <a:p>
                      <a:pPr>
                        <a:lnSpc>
                          <a:spcPct val="100000"/>
                        </a:lnSpc>
                      </a:pPr>
                      <a:r>
                        <a:rPr sz="1600" i="0" b="1">
                          <a:solidFill>
                            <a:srgbClr val="FFFFFF"/>
                          </a:solidFill>
                          <a:latin typeface="Helvetica Neue"/>
                        </a:rPr>
                        <a:t>Strategy</a:t>
                      </a:r>
                    </a:p>
                  </a:txBody>
                  <a:tcPr marL="109728" marR="109728" marT="54864" marB="54864" anchor="ctr">
                    <a:solidFill>
                      <a:srgbClr val="1E3A5F"/>
                    </a:solidFill>
                  </a:tcPr>
                </a:tc>
                <a:tc>
                  <a:txBody>
                    <a:bodyPr wrap="square"/>
                    <a:lstStyle/>
                    <a:p>
                      <a:pPr>
                        <a:lnSpc>
                          <a:spcPct val="100000"/>
                        </a:lnSpc>
                      </a:pPr>
                      <a:r>
                        <a:rPr sz="1600" i="0" b="1">
                          <a:solidFill>
                            <a:srgbClr val="FFFFFF"/>
                          </a:solidFill>
                          <a:latin typeface="Helvetica Neue"/>
                        </a:rPr>
                        <a:t>Result</a:t>
                      </a:r>
                    </a:p>
                  </a:txBody>
                  <a:tcPr marL="109728" marR="109728" marT="54864" marB="54864" anchor="ctr">
                    <a:solidFill>
                      <a:srgbClr val="1E3A5F"/>
                    </a:solidFill>
                  </a:tcPr>
                </a:tc>
              </a:tr>
              <a:tr h="390144">
                <a:tc>
                  <a:txBody>
                    <a:bodyPr wrap="square"/>
                    <a:lstStyle/>
                    <a:p>
                      <a:pPr>
                        <a:lnSpc>
                          <a:spcPct val="100000"/>
                        </a:lnSpc>
                      </a:pPr>
                      <a:r>
                        <a:rPr sz="1600" i="0" b="1">
                          <a:solidFill>
                            <a:srgbClr val="1E293B"/>
                          </a:solidFill>
                          <a:latin typeface="Helvetica Neue"/>
                        </a:rPr>
                        <a:t>No compression</a:t>
                      </a:r>
                    </a:p>
                  </a:txBody>
                  <a:tcPr marL="109728" marR="109728" marT="54864" marB="54864" anchor="ctr">
                    <a:solidFill>
                      <a:srgbClr val="FFFFFF"/>
                    </a:solidFill>
                  </a:tcPr>
                </a:tc>
                <a:tc>
                  <a:txBody>
                    <a:bodyPr wrap="square"/>
                    <a:lstStyle/>
                    <a:p>
                      <a:pPr>
                        <a:lnSpc>
                          <a:spcPct val="100000"/>
                        </a:lnSpc>
                      </a:pPr>
                      <a:r>
                        <a:rPr sz="1600" i="0" b="0">
                          <a:solidFill>
                            <a:srgbClr val="475569"/>
                          </a:solidFill>
                          <a:latin typeface="Helvetica Neue"/>
                        </a:rPr>
                        <a:t>Overflowed at iteration 5. Failed</a:t>
                      </a:r>
                    </a:p>
                  </a:txBody>
                  <a:tcPr marL="109728" marR="109728" marT="54864" marB="54864" anchor="ctr">
                    <a:solidFill>
                      <a:srgbClr val="FFFFFF"/>
                    </a:solidFill>
                  </a:tcPr>
                </a:tc>
              </a:tr>
              <a:tr h="390144">
                <a:tc>
                  <a:txBody>
                    <a:bodyPr wrap="square"/>
                    <a:lstStyle/>
                    <a:p>
                      <a:pPr>
                        <a:lnSpc>
                          <a:spcPct val="100000"/>
                        </a:lnSpc>
                      </a:pPr>
                      <a:r>
                        <a:rPr sz="1600" i="0" b="1">
                          <a:solidFill>
                            <a:srgbClr val="1E293B"/>
                          </a:solidFill>
                          <a:latin typeface="Helvetica Neue"/>
                        </a:rPr>
                        <a:t>Summarize each result separately</a:t>
                      </a:r>
                    </a:p>
                  </a:txBody>
                  <a:tcPr marL="109728" marR="109728" marT="54864" marB="54864" anchor="ctr">
                    <a:solidFill>
                      <a:srgbClr val="F8FAFC"/>
                    </a:solidFill>
                  </a:tcPr>
                </a:tc>
                <a:tc>
                  <a:txBody>
                    <a:bodyPr wrap="square"/>
                    <a:lstStyle/>
                    <a:p>
                      <a:pPr>
                        <a:lnSpc>
                          <a:spcPct val="100000"/>
                        </a:lnSpc>
                      </a:pPr>
                      <a:r>
                        <a:rPr sz="1600" i="0" b="0">
                          <a:solidFill>
                            <a:srgbClr val="475569"/>
                          </a:solidFill>
                          <a:latin typeface="Helvetica Neue"/>
                        </a:rPr>
                        <a:t>12 iterations, 277k tokens; facts repeated across pages</a:t>
                      </a:r>
                    </a:p>
                  </a:txBody>
                  <a:tcPr marL="109728" marR="109728" marT="54864" marB="54864" anchor="ctr">
                    <a:solidFill>
                      <a:srgbClr val="F8FAFC"/>
                    </a:solidFill>
                  </a:tcPr>
                </a:tc>
              </a:tr>
              <a:tr h="633984">
                <a:tc>
                  <a:txBody>
                    <a:bodyPr wrap="square"/>
                    <a:lstStyle/>
                    <a:p>
                      <a:pPr>
                        <a:lnSpc>
                          <a:spcPct val="100000"/>
                        </a:lnSpc>
                      </a:pPr>
                      <a:r>
                        <a:rPr sz="1600" i="0" b="1">
                          <a:solidFill>
                            <a:srgbClr val="1E293B"/>
                          </a:solidFill>
                          <a:latin typeface="Helvetica Neue"/>
                        </a:rPr>
                        <a:t>One combined summary</a:t>
                      </a:r>
                    </a:p>
                  </a:txBody>
                  <a:tcPr marL="109728" marR="109728" marT="54864" marB="54864" anchor="ctr">
                    <a:solidFill>
                      <a:srgbClr val="FFFFFF"/>
                    </a:solidFill>
                  </a:tcPr>
                </a:tc>
                <a:tc>
                  <a:txBody>
                    <a:bodyPr wrap="square"/>
                    <a:lstStyle/>
                    <a:p>
                      <a:pPr>
                        <a:lnSpc>
                          <a:spcPct val="100000"/>
                        </a:lnSpc>
                      </a:pPr>
                      <a:r>
                        <a:rPr sz="1600" i="0" b="0">
                          <a:solidFill>
                            <a:srgbClr val="475569"/>
                          </a:solidFill>
                          <a:latin typeface="Helvetica Neue"/>
                        </a:rPr>
                        <a:t>10 iterations, 93k tokens; long inputs truncated at the tail</a:t>
                      </a:r>
                    </a:p>
                  </a:txBody>
                  <a:tcPr marL="109728" marR="109728" marT="54864" marB="54864" anchor="ctr">
                    <a:solidFill>
                      <a:srgbClr val="FFFFFF"/>
                    </a:solidFill>
                  </a:tcPr>
                </a:tc>
              </a:tr>
              <a:tr h="633984">
                <a:tc>
                  <a:txBody>
                    <a:bodyPr wrap="square"/>
                    <a:lstStyle/>
                    <a:p>
                      <a:pPr>
                        <a:lnSpc>
                          <a:spcPct val="100000"/>
                        </a:lnSpc>
                      </a:pPr>
                      <a:r>
                        <a:rPr sz="1600" i="0" b="1">
                          <a:solidFill>
                            <a:srgbClr val="1E293B"/>
                          </a:solidFill>
                          <a:latin typeface="Helvetica Neue"/>
                        </a:rPr>
                        <a:t>Context-aware</a:t>
                      </a:r>
                      <a:r>
                        <a:rPr sz="1600" i="0" b="1">
                          <a:solidFill>
                            <a:srgbClr val="1E293B"/>
                          </a:solidFill>
                          <a:latin typeface="Helvetica Neue"/>
                        </a:rPr>
                        <a:t> (query + known state in the prompt)</a:t>
                      </a:r>
                    </a:p>
                  </a:txBody>
                  <a:tcPr marL="109728" marR="109728" marT="54864" marB="54864" anchor="ctr">
                    <a:solidFill>
                      <a:srgbClr val="E8F4F8"/>
                    </a:solidFill>
                  </a:tcPr>
                </a:tc>
                <a:tc>
                  <a:txBody>
                    <a:bodyPr wrap="square"/>
                    <a:lstStyle/>
                    <a:p>
                      <a:pPr>
                        <a:lnSpc>
                          <a:spcPct val="100000"/>
                        </a:lnSpc>
                      </a:pPr>
                      <a:r>
                        <a:rPr sz="1600" i="0" b="1">
                          <a:solidFill>
                            <a:srgbClr val="1E293B"/>
                          </a:solidFill>
                          <a:latin typeface="Helvetica Neue"/>
                        </a:rPr>
                        <a:t>7 iterations, 40k tokens</a:t>
                      </a:r>
                      <a:r>
                        <a:rPr sz="1600" i="0" b="0">
                          <a:solidFill>
                            <a:srgbClr val="475569"/>
                          </a:solidFill>
                          <a:latin typeface="Helvetica Neue"/>
                        </a:rPr>
                        <a:t>; a 148k-char page → 2k, every role change kept</a:t>
                      </a:r>
                    </a:p>
                  </a:txBody>
                  <a:tcPr marL="109728" marR="109728" marT="54864" marB="54864" anchor="ctr">
                    <a:solidFill>
                      <a:srgbClr val="E8F4F8"/>
                    </a:solidFill>
                  </a:tcPr>
                </a:tc>
              </a:tr>
              <a:tr h="390144">
                <a:tc>
                  <a:txBody>
                    <a:bodyPr wrap="square"/>
                    <a:lstStyle/>
                    <a:p>
                      <a:pPr>
                        <a:lnSpc>
                          <a:spcPct val="100000"/>
                        </a:lnSpc>
                      </a:pPr>
                      <a:r>
                        <a:rPr sz="1600" i="0" b="1">
                          <a:solidFill>
                            <a:srgbClr val="1E293B"/>
                          </a:solidFill>
                          <a:latin typeface="Helvetica Neue"/>
                        </a:rPr>
                        <a:t>Context-aware + citations</a:t>
                      </a:r>
                    </a:p>
                  </a:txBody>
                  <a:tcPr marL="109728" marR="109728" marT="54864" marB="54864" anchor="ctr">
                    <a:solidFill>
                      <a:srgbClr val="FFFFFF"/>
                    </a:solidFill>
                  </a:tcPr>
                </a:tc>
                <a:tc>
                  <a:txBody>
                    <a:bodyPr wrap="square"/>
                    <a:lstStyle/>
                    <a:p>
                      <a:pPr>
                        <a:lnSpc>
                          <a:spcPct val="100000"/>
                        </a:lnSpc>
                      </a:pPr>
                      <a:r>
                        <a:rPr sz="1600" i="0" b="0">
                          <a:solidFill>
                            <a:srgbClr val="475569"/>
                          </a:solidFill>
                          <a:latin typeface="Helvetica Neue"/>
                        </a:rPr>
                        <a:t>223k tokens; lossy content, lossless index to the sources</a:t>
                      </a:r>
                    </a:p>
                  </a:txBody>
                  <a:tcPr marL="109728" marR="109728" marT="54864" marB="54864" anchor="ctr">
                    <a:solidFill>
                      <a:srgbClr val="FFFFFF"/>
                    </a:solidFill>
                  </a:tcPr>
                </a:tc>
              </a:tr>
              <a:tr h="633984">
                <a:tc>
                  <a:txBody>
                    <a:bodyPr wrap="square"/>
                    <a:lstStyle/>
                    <a:p>
                      <a:pPr>
                        <a:lnSpc>
                          <a:spcPct val="100000"/>
                        </a:lnSpc>
                      </a:pPr>
                      <a:r>
                        <a:rPr sz="1600" i="0" b="1">
                          <a:solidFill>
                            <a:srgbClr val="1E293B"/>
                          </a:solidFill>
                          <a:latin typeface="Helvetica Neue"/>
                        </a:rPr>
                        <a:t>Adaptive: batch at 80%, </a:t>
                      </a:r>
                      <a:r>
                        <a:rPr sz="1440" i="0" b="1">
                          <a:solidFill>
                            <a:srgbClr val="0F7490"/>
                          </a:solidFill>
                          <a:latin typeface="Menlo"/>
                        </a:rPr>
                        <a:t>[COMPRESSED]</a:t>
                      </a:r>
                      <a:r>
                        <a:rPr sz="1600" i="0" b="1">
                          <a:solidFill>
                            <a:srgbClr val="1E293B"/>
                          </a:solidFill>
                          <a:latin typeface="Helvetica Neue"/>
                        </a:rPr>
                        <a:t> marker</a:t>
                      </a:r>
                    </a:p>
                  </a:txBody>
                  <a:tcPr marL="109728" marR="109728" marT="54864" marB="54864" anchor="ctr">
                    <a:solidFill>
                      <a:srgbClr val="F8FAFC"/>
                    </a:solidFill>
                  </a:tcPr>
                </a:tc>
                <a:tc>
                  <a:txBody>
                    <a:bodyPr wrap="square"/>
                    <a:lstStyle/>
                    <a:p>
                      <a:pPr>
                        <a:lnSpc>
                          <a:spcPct val="100000"/>
                        </a:lnSpc>
                      </a:pPr>
                      <a:r>
                        <a:rPr sz="1600" i="0" b="0">
                          <a:solidFill>
                            <a:srgbClr val="475569"/>
                          </a:solidFill>
                          <a:latin typeface="Helvetica Neue"/>
                        </a:rPr>
                        <a:t>175k tokens; full fidelity early on</a:t>
                      </a:r>
                    </a:p>
                  </a:txBody>
                  <a:tcPr marL="109728" marR="109728" marT="54864" marB="54864" anchor="ctr">
                    <a:solidFill>
                      <a:srgbClr val="F8FAFC"/>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production ladder — cheapest first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Claude Code's five mechanisms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notes/05-compression-compaction.md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Crash recovery: past ~30 minutes of runtime, write progress to disk. State on disk survives everything.</a:t>
            </a:r>
          </a:p>
        </p:txBody>
      </p:sp>
      <p:sp>
        <p:nvSpPr>
          <p:cNvPr id="13" name="Rectangle 12"/>
          <p:cNvSpPr/>
          <p:nvPr/>
        </p:nvSpPr>
        <p:spPr>
          <a:xfrm>
            <a:off x="502920" y="1472184"/>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7512" y="1601114"/>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160111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6" name="TextBox 15"/>
          <p:cNvSpPr txBox="1"/>
          <p:nvPr/>
        </p:nvSpPr>
        <p:spPr>
          <a:xfrm>
            <a:off x="1325880" y="1472184"/>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Tool-result budget</a:t>
            </a:r>
            <a:r>
              <a:rPr sz="1800" i="0" b="0">
                <a:solidFill>
                  <a:srgbClr val="475569"/>
                </a:solidFill>
                <a:latin typeface="Helvetica Neue"/>
              </a:rPr>
              <a:t> — large outputs go to disk; the model sees a frozen preview</a:t>
            </a:r>
          </a:p>
        </p:txBody>
      </p:sp>
      <p:sp>
        <p:nvSpPr>
          <p:cNvPr id="17" name="Rectangle 16"/>
          <p:cNvSpPr/>
          <p:nvPr/>
        </p:nvSpPr>
        <p:spPr>
          <a:xfrm>
            <a:off x="502920" y="2296972"/>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7512" y="2425903"/>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242590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20" name="TextBox 19"/>
          <p:cNvSpPr txBox="1"/>
          <p:nvPr/>
        </p:nvSpPr>
        <p:spPr>
          <a:xfrm>
            <a:off x="1325880" y="2296972"/>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Delete noise outright</a:t>
            </a:r>
            <a:r>
              <a:rPr sz="1800" i="0" b="0">
                <a:solidFill>
                  <a:srgbClr val="475569"/>
                </a:solidFill>
                <a:latin typeface="Helvetica Neue"/>
              </a:rPr>
              <a:t> — summarizing junk wastes tokens</a:t>
            </a:r>
          </a:p>
        </p:txBody>
      </p:sp>
      <p:sp>
        <p:nvSpPr>
          <p:cNvPr id="21" name="Rectangle 20"/>
          <p:cNvSpPr/>
          <p:nvPr/>
        </p:nvSpPr>
        <p:spPr>
          <a:xfrm>
            <a:off x="502920" y="3121761"/>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67512" y="3250691"/>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325069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4" name="TextBox 23"/>
          <p:cNvSpPr txBox="1"/>
          <p:nvPr/>
        </p:nvSpPr>
        <p:spPr>
          <a:xfrm>
            <a:off x="1325880" y="3121761"/>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API micro-compaction</a:t>
            </a:r>
            <a:r>
              <a:rPr sz="1800" i="0" b="0">
                <a:solidFill>
                  <a:srgbClr val="475569"/>
                </a:solidFill>
                <a:latin typeface="Helvetica Neue"/>
              </a:rPr>
              <a:t> — server-side context editing; still breaks the cache after the edit point</a:t>
            </a:r>
          </a:p>
        </p:txBody>
      </p:sp>
      <p:sp>
        <p:nvSpPr>
          <p:cNvPr id="25" name="Rectangle 24"/>
          <p:cNvSpPr/>
          <p:nvPr/>
        </p:nvSpPr>
        <p:spPr>
          <a:xfrm>
            <a:off x="502920" y="3946550"/>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512" y="4075480"/>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4075480"/>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8" name="TextBox 27"/>
          <p:cNvSpPr txBox="1"/>
          <p:nvPr/>
        </p:nvSpPr>
        <p:spPr>
          <a:xfrm>
            <a:off x="1325880" y="3946550"/>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Archival per-turn summaries</a:t>
            </a:r>
            <a:r>
              <a:rPr sz="1800" i="0" b="0">
                <a:solidFill>
                  <a:srgbClr val="475569"/>
                </a:solidFill>
                <a:latin typeface="Helvetica Neue"/>
              </a:rPr>
              <a:t> — </a:t>
            </a:r>
            <a:r>
              <a:rPr sz="1620" i="0" b="0">
                <a:solidFill>
                  <a:srgbClr val="0F7490"/>
                </a:solidFill>
                <a:latin typeface="Menlo"/>
              </a:rPr>
              <a:t>git log</a:t>
            </a:r>
            <a:r>
              <a:rPr sz="1800" i="0" b="0">
                <a:solidFill>
                  <a:srgbClr val="475569"/>
                </a:solidFill>
                <a:latin typeface="Helvetica Neue"/>
              </a:rPr>
              <a:t>, not </a:t>
            </a:r>
            <a:r>
              <a:rPr sz="1620" i="0" b="0">
                <a:solidFill>
                  <a:srgbClr val="0F7490"/>
                </a:solidFill>
                <a:latin typeface="Menlo"/>
              </a:rPr>
              <a:t>git squash</a:t>
            </a:r>
          </a:p>
        </p:txBody>
      </p:sp>
      <p:sp>
        <p:nvSpPr>
          <p:cNvPr id="29" name="Rectangle 28"/>
          <p:cNvSpPr/>
          <p:nvPr/>
        </p:nvSpPr>
        <p:spPr>
          <a:xfrm>
            <a:off x="502920" y="4771339"/>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7512" y="4900269"/>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 y="490026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5</a:t>
            </a:r>
          </a:p>
        </p:txBody>
      </p:sp>
      <p:sp>
        <p:nvSpPr>
          <p:cNvPr id="32" name="TextBox 31"/>
          <p:cNvSpPr txBox="1"/>
          <p:nvPr/>
        </p:nvSpPr>
        <p:spPr>
          <a:xfrm>
            <a:off x="1325880" y="4771339"/>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Full LLM compaction</a:t>
            </a:r>
            <a:r>
              <a:rPr sz="1800" i="0" b="0">
                <a:solidFill>
                  <a:srgbClr val="475569"/>
                </a:solidFill>
                <a:latin typeface="Helvetica Neue"/>
              </a:rPr>
              <a:t> — last resort, with a circuit breaker for compaction-failure loops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Memory formats — mix them</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How memory is stored</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notes/06-memory.md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27</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Memory affects the model only by entering a window. Every memory decision is a context decision.</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Advanced cards for critical, low-volume facts. Simple notes for high-volume, low-stakes ones.</a:t>
            </a:r>
          </a:p>
        </p:txBody>
      </p:sp>
      <p:graphicFrame>
        <p:nvGraphicFramePr>
          <p:cNvPr id="14" name="Table 13"/>
          <p:cNvGraphicFramePr>
            <a:graphicFrameLocks noGrp="1"/>
          </p:cNvGraphicFramePr>
          <p:nvPr/>
        </p:nvGraphicFramePr>
        <p:xfrm>
          <a:off x="502920" y="1985772"/>
          <a:ext cx="11185854" cy="3316224"/>
        </p:xfrm>
        <a:graphic>
          <a:graphicData uri="http://schemas.openxmlformats.org/drawingml/2006/table">
            <a:tbl>
              <a:tblPr firstRow="1" bandRow="1">
                <a:tableStyleId>{5940675A-B579-460E-94D1-54222C63F5DA}</a:tableStyleId>
              </a:tblPr>
              <a:tblGrid>
                <a:gridCol w="2684605"/>
                <a:gridCol w="4026907"/>
                <a:gridCol w="4474342"/>
              </a:tblGrid>
              <a:tr h="390144">
                <a:tc>
                  <a:txBody>
                    <a:bodyPr wrap="square"/>
                    <a:lstStyle/>
                    <a:p>
                      <a:pPr>
                        <a:lnSpc>
                          <a:spcPct val="100000"/>
                        </a:lnSpc>
                      </a:pPr>
                      <a:r>
                        <a:rPr sz="1600" i="0" b="1">
                          <a:solidFill>
                            <a:srgbClr val="FFFFFF"/>
                          </a:solidFill>
                          <a:latin typeface="Helvetica Neue"/>
                        </a:rPr>
                        <a:t>Format</a:t>
                      </a:r>
                    </a:p>
                  </a:txBody>
                  <a:tcPr marL="109728" marR="109728" marT="54864" marB="54864" anchor="ctr">
                    <a:solidFill>
                      <a:srgbClr val="1E3A5F"/>
                    </a:solidFill>
                  </a:tcPr>
                </a:tc>
                <a:tc>
                  <a:txBody>
                    <a:bodyPr wrap="square"/>
                    <a:lstStyle/>
                    <a:p>
                      <a:pPr>
                        <a:lnSpc>
                          <a:spcPct val="100000"/>
                        </a:lnSpc>
                      </a:pPr>
                      <a:r>
                        <a:rPr sz="1600" i="0" b="1">
                          <a:solidFill>
                            <a:srgbClr val="FFFFFF"/>
                          </a:solidFill>
                          <a:latin typeface="Helvetica Neue"/>
                        </a:rPr>
                        <a:t>Wins</a:t>
                      </a:r>
                    </a:p>
                  </a:txBody>
                  <a:tcPr marL="109728" marR="109728" marT="54864" marB="54864" anchor="ctr">
                    <a:solidFill>
                      <a:srgbClr val="1E3A5F"/>
                    </a:solidFill>
                  </a:tcPr>
                </a:tc>
                <a:tc>
                  <a:txBody>
                    <a:bodyPr wrap="square"/>
                    <a:lstStyle/>
                    <a:p>
                      <a:pPr>
                        <a:lnSpc>
                          <a:spcPct val="100000"/>
                        </a:lnSpc>
                      </a:pPr>
                      <a:r>
                        <a:rPr sz="1600" i="0" b="1">
                          <a:solidFill>
                            <a:srgbClr val="FFFFFF"/>
                          </a:solidFill>
                          <a:latin typeface="Helvetica Neue"/>
                        </a:rPr>
                        <a:t>Loses</a:t>
                      </a:r>
                    </a:p>
                  </a:txBody>
                  <a:tcPr marL="109728" marR="109728" marT="54864" marB="54864" anchor="ctr">
                    <a:solidFill>
                      <a:srgbClr val="1E3A5F"/>
                    </a:solidFill>
                  </a:tcPr>
                </a:tc>
              </a:tr>
              <a:tr h="633984">
                <a:tc>
                  <a:txBody>
                    <a:bodyPr wrap="square"/>
                    <a:lstStyle/>
                    <a:p>
                      <a:pPr>
                        <a:lnSpc>
                          <a:spcPct val="100000"/>
                        </a:lnSpc>
                      </a:pPr>
                      <a:r>
                        <a:rPr sz="1600" i="0" b="1">
                          <a:solidFill>
                            <a:srgbClr val="1E293B"/>
                          </a:solidFill>
                          <a:latin typeface="Helvetica Neue"/>
                        </a:rPr>
                        <a:t>Simple notes</a:t>
                      </a:r>
                    </a:p>
                  </a:txBody>
                  <a:tcPr marL="109728" marR="109728" marT="54864" marB="54864" anchor="ctr">
                    <a:solidFill>
                      <a:srgbClr val="FFFFFF"/>
                    </a:solidFill>
                  </a:tcPr>
                </a:tc>
                <a:tc>
                  <a:txBody>
                    <a:bodyPr wrap="square"/>
                    <a:lstStyle/>
                    <a:p>
                      <a:pPr>
                        <a:lnSpc>
                          <a:spcPct val="100000"/>
                        </a:lnSpc>
                      </a:pPr>
                      <a:r>
                        <a:rPr sz="1600" i="0" b="0">
                          <a:solidFill>
                            <a:srgbClr val="475569"/>
                          </a:solidFill>
                          <a:latin typeface="Helvetica Neue"/>
                        </a:rPr>
                        <a:t>Cheapest; passes basic recall</a:t>
                      </a:r>
                    </a:p>
                  </a:txBody>
                  <a:tcPr marL="109728" marR="109728" marT="54864" marB="54864" anchor="ctr">
                    <a:solidFill>
                      <a:srgbClr val="FFFFFF"/>
                    </a:solidFill>
                  </a:tcPr>
                </a:tc>
                <a:tc>
                  <a:txBody>
                    <a:bodyPr wrap="square"/>
                    <a:lstStyle/>
                    <a:p>
                      <a:pPr>
                        <a:lnSpc>
                          <a:spcPct val="100000"/>
                        </a:lnSpc>
                      </a:pPr>
                      <a:r>
                        <a:rPr sz="1600" i="0" b="0">
                          <a:solidFill>
                            <a:srgbClr val="475569"/>
                          </a:solidFill>
                          <a:latin typeface="Helvetica Neue"/>
                        </a:rPr>
                        <a:t>Links between facts (title, employer, team become three facts)</a:t>
                      </a:r>
                    </a:p>
                  </a:txBody>
                  <a:tcPr marL="109728" marR="109728" marT="54864" marB="54864" anchor="ctr">
                    <a:solidFill>
                      <a:srgbClr val="FFFFFF"/>
                    </a:solidFill>
                  </a:tcPr>
                </a:tc>
              </a:tr>
              <a:tr h="633984">
                <a:tc>
                  <a:txBody>
                    <a:bodyPr wrap="square"/>
                    <a:lstStyle/>
                    <a:p>
                      <a:pPr>
                        <a:lnSpc>
                          <a:spcPct val="100000"/>
                        </a:lnSpc>
                      </a:pPr>
                      <a:r>
                        <a:rPr sz="1600" i="0" b="1">
                          <a:solidFill>
                            <a:srgbClr val="1E293B"/>
                          </a:solidFill>
                          <a:latin typeface="Helvetica Neue"/>
                        </a:rPr>
                        <a:t>Enhanced notes</a:t>
                      </a:r>
                    </a:p>
                  </a:txBody>
                  <a:tcPr marL="109728" marR="109728" marT="54864" marB="54864" anchor="ctr">
                    <a:solidFill>
                      <a:srgbClr val="F8FAFC"/>
                    </a:solidFill>
                  </a:tcPr>
                </a:tc>
                <a:tc>
                  <a:txBody>
                    <a:bodyPr wrap="square"/>
                    <a:lstStyle/>
                    <a:p>
                      <a:pPr>
                        <a:lnSpc>
                          <a:spcPct val="100000"/>
                        </a:lnSpc>
                      </a:pPr>
                      <a:r>
                        <a:rPr sz="1600" i="0" b="0">
                          <a:solidFill>
                            <a:srgbClr val="475569"/>
                          </a:solidFill>
                          <a:latin typeface="Helvetica Neue"/>
                        </a:rPr>
                        <a:t>Nuance</a:t>
                      </a:r>
                    </a:p>
                  </a:txBody>
                  <a:tcPr marL="109728" marR="109728" marT="54864" marB="54864" anchor="ctr">
                    <a:solidFill>
                      <a:srgbClr val="F8FAFC"/>
                    </a:solidFill>
                  </a:tcPr>
                </a:tc>
                <a:tc>
                  <a:txBody>
                    <a:bodyPr wrap="square"/>
                    <a:lstStyle/>
                    <a:p>
                      <a:pPr>
                        <a:lnSpc>
                          <a:spcPct val="100000"/>
                        </a:lnSpc>
                      </a:pPr>
                      <a:r>
                        <a:rPr sz="1600" i="0" b="0">
                          <a:solidFill>
                            <a:srgbClr val="475569"/>
                          </a:solidFill>
                          <a:latin typeface="Helvetica Neue"/>
                        </a:rPr>
                        <a:t>Redundant; one change rewrites several paragraphs</a:t>
                      </a:r>
                    </a:p>
                  </a:txBody>
                  <a:tcPr marL="109728" marR="109728" marT="54864" marB="54864" anchor="ctr">
                    <a:solidFill>
                      <a:srgbClr val="F8FAFC"/>
                    </a:solidFill>
                  </a:tcPr>
                </a:tc>
              </a:tr>
              <a:tr h="390144">
                <a:tc>
                  <a:txBody>
                    <a:bodyPr wrap="square"/>
                    <a:lstStyle/>
                    <a:p>
                      <a:pPr>
                        <a:lnSpc>
                          <a:spcPct val="100000"/>
                        </a:lnSpc>
                      </a:pPr>
                      <a:r>
                        <a:rPr sz="1600" i="0" b="1">
                          <a:solidFill>
                            <a:srgbClr val="1E293B"/>
                          </a:solidFill>
                          <a:latin typeface="Helvetica Neue"/>
                        </a:rPr>
                        <a:t>JSON cards</a:t>
                      </a:r>
                    </a:p>
                  </a:txBody>
                  <a:tcPr marL="109728" marR="109728" marT="54864" marB="54864" anchor="ctr">
                    <a:solidFill>
                      <a:srgbClr val="FFFFFF"/>
                    </a:solidFill>
                  </a:tcPr>
                </a:tc>
                <a:tc>
                  <a:txBody>
                    <a:bodyPr wrap="square"/>
                    <a:lstStyle/>
                    <a:p>
                      <a:pPr>
                        <a:lnSpc>
                          <a:spcPct val="100000"/>
                        </a:lnSpc>
                      </a:pPr>
                      <a:r>
                        <a:rPr sz="1600" i="0" b="0">
                          <a:solidFill>
                            <a:srgbClr val="475569"/>
                          </a:solidFill>
                          <a:latin typeface="Helvetica Neue"/>
                        </a:rPr>
                        <a:t>Partial updates; predictable</a:t>
                      </a:r>
                    </a:p>
                  </a:txBody>
                  <a:tcPr marL="109728" marR="109728" marT="54864" marB="54864" anchor="ctr">
                    <a:solidFill>
                      <a:srgbClr val="FFFFFF"/>
                    </a:solidFill>
                  </a:tcPr>
                </a:tc>
                <a:tc>
                  <a:txBody>
                    <a:bodyPr wrap="square"/>
                    <a:lstStyle/>
                    <a:p>
                      <a:pPr>
                        <a:lnSpc>
                          <a:spcPct val="100000"/>
                        </a:lnSpc>
                      </a:pPr>
                      <a:r>
                        <a:rPr sz="1600" i="0" b="0">
                          <a:solidFill>
                            <a:srgbClr val="475569"/>
                          </a:solidFill>
                          <a:latin typeface="Helvetica Neue"/>
                        </a:rPr>
                        <a:t>Rigid when a fact fits three categories</a:t>
                      </a:r>
                    </a:p>
                  </a:txBody>
                  <a:tcPr marL="109728" marR="109728" marT="54864" marB="54864" anchor="ctr">
                    <a:solidFill>
                      <a:srgbClr val="FFFFFF"/>
                    </a:solidFill>
                  </a:tcPr>
                </a:tc>
              </a:tr>
              <a:tr h="633984">
                <a:tc>
                  <a:txBody>
                    <a:bodyPr wrap="square"/>
                    <a:lstStyle/>
                    <a:p>
                      <a:pPr>
                        <a:lnSpc>
                          <a:spcPct val="100000"/>
                        </a:lnSpc>
                      </a:pPr>
                      <a:r>
                        <a:rPr sz="1600" i="0" b="1">
                          <a:solidFill>
                            <a:srgbClr val="1E293B"/>
                          </a:solidFill>
                          <a:latin typeface="Helvetica Neue"/>
                        </a:rPr>
                        <a:t>Advanced JSON cards</a:t>
                      </a:r>
                    </a:p>
                  </a:txBody>
                  <a:tcPr marL="109728" marR="109728" marT="54864" marB="54864" anchor="ctr">
                    <a:solidFill>
                      <a:srgbClr val="F8FAFC"/>
                    </a:solidFill>
                  </a:tcPr>
                </a:tc>
                <a:tc>
                  <a:txBody>
                    <a:bodyPr wrap="square"/>
                    <a:lstStyle/>
                    <a:p>
                      <a:pPr>
                        <a:lnSpc>
                          <a:spcPct val="100000"/>
                        </a:lnSpc>
                      </a:pPr>
                      <a:r>
                        <a:rPr sz="1600" i="0" b="0">
                          <a:solidFill>
                            <a:srgbClr val="475569"/>
                          </a:solidFill>
                          <a:latin typeface="Helvetica Neue"/>
                        </a:rPr>
                        <a:t>Disambiguation: the user's dentist vs. their father's cardiologist</a:t>
                      </a:r>
                    </a:p>
                  </a:txBody>
                  <a:tcPr marL="109728" marR="109728" marT="54864" marB="54864" anchor="ctr">
                    <a:solidFill>
                      <a:srgbClr val="F8FAFC"/>
                    </a:solidFill>
                  </a:tcPr>
                </a:tc>
                <a:tc>
                  <a:txBody>
                    <a:bodyPr wrap="square"/>
                    <a:lstStyle/>
                    <a:p>
                      <a:pPr>
                        <a:lnSpc>
                          <a:spcPct val="100000"/>
                        </a:lnSpc>
                      </a:pPr>
                      <a:r>
                        <a:rPr sz="1600" i="0" b="0">
                          <a:solidFill>
                            <a:srgbClr val="475569"/>
                          </a:solidFill>
                          <a:latin typeface="Helvetica Neue"/>
                        </a:rPr>
                        <a:t>Expensive to generate and maintain</a:t>
                      </a:r>
                    </a:p>
                  </a:txBody>
                  <a:tcPr marL="109728" marR="109728" marT="54864" marB="54864" anchor="ctr">
                    <a:solidFill>
                      <a:srgbClr val="F8FAFC"/>
                    </a:solidFill>
                  </a:tcPr>
                </a:tc>
              </a:tr>
              <a:tr h="633984">
                <a:tc>
                  <a:txBody>
                    <a:bodyPr wrap="square"/>
                    <a:lstStyle/>
                    <a:p>
                      <a:pPr>
                        <a:lnSpc>
                          <a:spcPct val="100000"/>
                        </a:lnSpc>
                      </a:pPr>
                      <a:r>
                        <a:rPr sz="1600" i="0" b="1">
                          <a:solidFill>
                            <a:srgbClr val="1E293B"/>
                          </a:solidFill>
                          <a:latin typeface="Helvetica Neue"/>
                        </a:rPr>
                        <a:t>User as Code</a:t>
                      </a:r>
                    </a:p>
                  </a:txBody>
                  <a:tcPr marL="109728" marR="109728" marT="54864" marB="54864" anchor="ctr">
                    <a:solidFill>
                      <a:srgbClr val="FFFFFF"/>
                    </a:solidFill>
                  </a:tcPr>
                </a:tc>
                <a:tc>
                  <a:txBody>
                    <a:bodyPr wrap="square"/>
                    <a:lstStyle/>
                    <a:p>
                      <a:pPr>
                        <a:lnSpc>
                          <a:spcPct val="100000"/>
                        </a:lnSpc>
                      </a:pPr>
                      <a:r>
                        <a:rPr sz="1600" i="0" b="0">
                          <a:solidFill>
                            <a:srgbClr val="475569"/>
                          </a:solidFill>
                          <a:latin typeface="Helvetica Neue"/>
                        </a:rPr>
                        <a:t>Typed state from a fact log: aggregation </a:t>
                      </a:r>
                      <a:r>
                        <a:rPr sz="1600" i="0" b="1">
                          <a:solidFill>
                            <a:srgbClr val="1E293B"/>
                          </a:solidFill>
                          <a:latin typeface="Helvetica Neue"/>
                        </a:rPr>
                        <a:t>~99%</a:t>
                      </a:r>
                      <a:r>
                        <a:rPr sz="1600" i="0" b="0">
                          <a:solidFill>
                            <a:srgbClr val="475569"/>
                          </a:solidFill>
                          <a:latin typeface="Helvetica Neue"/>
                        </a:rPr>
                        <a:t> vs. 6–43%</a:t>
                      </a:r>
                    </a:p>
                  </a:txBody>
                  <a:tcPr marL="109728" marR="109728" marT="54864" marB="54864" anchor="ctr">
                    <a:solidFill>
                      <a:srgbClr val="FFFFFF"/>
                    </a:solidFill>
                  </a:tcPr>
                </a:tc>
                <a:tc>
                  <a:txBody>
                    <a:bodyPr wrap="square"/>
                    <a:lstStyle/>
                    <a:p>
                      <a:pPr>
                        <a:lnSpc>
                          <a:spcPct val="100000"/>
                        </a:lnSpc>
                      </a:pPr>
                      <a:r>
                        <a:rPr sz="1600" i="0" b="0">
                          <a:solidFill>
                            <a:srgbClr val="475569"/>
                          </a:solidFill>
                          <a:latin typeface="Helvetica Neue"/>
                        </a:rPr>
                        <a:t>A </a:t>
                      </a:r>
                      <a:r>
                        <a:rPr sz="1440" i="0" b="0">
                          <a:solidFill>
                            <a:srgbClr val="0F7490"/>
                          </a:solidFill>
                          <a:latin typeface="Menlo"/>
                        </a:rPr>
                        <a:t>notes</a:t>
                      </a:r>
                      <a:r>
                        <a:rPr sz="1600" i="0" b="0">
                          <a:solidFill>
                            <a:srgbClr val="475569"/>
                          </a:solidFill>
                          <a:latin typeface="Helvetica Neue"/>
                        </a:rPr>
                        <a:t> field for what won't type</a:t>
                      </a:r>
                    </a:p>
                  </a:txBody>
                  <a:tcPr marL="109728" marR="109728" marT="54864" marB="54864" anchor="ctr">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Memory hygiene — update over append</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Mem0's write path</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notes/06-memory.md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Append-only memory is slow-motion context poisoning.</a:t>
            </a:r>
          </a:p>
        </p:txBody>
      </p:sp>
      <p:sp>
        <p:nvSpPr>
          <p:cNvPr id="13" name="Rectangle 12"/>
          <p:cNvSpPr/>
          <p:nvPr/>
        </p:nvSpPr>
        <p:spPr>
          <a:xfrm>
            <a:off x="448056" y="1417320"/>
            <a:ext cx="6261948" cy="2386049"/>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3-3-3595692200908907249-3513188756477820007.jpg"/>
          <p:cNvPicPr>
            <a:picLocks noChangeAspect="1"/>
          </p:cNvPicPr>
          <p:nvPr/>
        </p:nvPicPr>
        <p:blipFill>
          <a:blip r:embed="rId2"/>
          <a:stretch>
            <a:fillRect/>
          </a:stretch>
        </p:blipFill>
        <p:spPr>
          <a:xfrm>
            <a:off x="502920" y="1472184"/>
            <a:ext cx="6152220" cy="2276321"/>
          </a:xfrm>
          <a:prstGeom prst="rect">
            <a:avLst/>
          </a:prstGeom>
        </p:spPr>
      </p:pic>
      <p:sp>
        <p:nvSpPr>
          <p:cNvPr id="15" name="TextBox 14"/>
          <p:cNvSpPr txBox="1"/>
          <p:nvPr/>
        </p:nvSpPr>
        <p:spPr>
          <a:xfrm>
            <a:off x="502920" y="3885665"/>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Li, AI Agents in Depth (2026), Fig. 3-3 (Apache-2.0)</a:t>
            </a:r>
          </a:p>
        </p:txBody>
      </p:sp>
      <p:sp>
        <p:nvSpPr>
          <p:cNvPr id="16" name="Rectangle 15"/>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Extract candidate facts; vector-match against existing memories</a:t>
            </a:r>
          </a:p>
        </p:txBody>
      </p:sp>
      <p:sp>
        <p:nvSpPr>
          <p:cNvPr id="18" name="Rectangle 17"/>
          <p:cNvSpPr/>
          <p:nvPr/>
        </p:nvSpPr>
        <p:spPr>
          <a:xfrm>
            <a:off x="7020900" y="260146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514600"/>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LLM picks </a:t>
            </a:r>
            <a:r>
              <a:rPr sz="1800" i="0" b="1">
                <a:solidFill>
                  <a:srgbClr val="1E293B"/>
                </a:solidFill>
                <a:latin typeface="Helvetica Neue"/>
              </a:rPr>
              <a:t>ADD · UPDATE · DELETE · NOOP</a:t>
            </a:r>
          </a:p>
        </p:txBody>
      </p:sp>
      <p:sp>
        <p:nvSpPr>
          <p:cNvPr id="20" name="Rectangle 19"/>
          <p:cNvSpPr/>
          <p:nvPr/>
        </p:nvSpPr>
        <p:spPr>
          <a:xfrm>
            <a:off x="7020900" y="334213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325526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"Moved to Shanghai" UPDATEs "lives in Beijing"</a:t>
            </a:r>
          </a:p>
        </p:txBody>
      </p:sp>
      <p:sp>
        <p:nvSpPr>
          <p:cNvPr id="22" name="Rectangle 21"/>
          <p:cNvSpPr/>
          <p:nvPr/>
        </p:nvSpPr>
        <p:spPr>
          <a:xfrm>
            <a:off x="7020900" y="408279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995928"/>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Absolute dates; don't store what's derivable</a:t>
            </a:r>
          </a:p>
        </p:txBody>
      </p:sp>
      <p:sp>
        <p:nvSpPr>
          <p:cNvPr id="24" name="Rectangle 23"/>
          <p:cNvSpPr/>
          <p:nvPr/>
        </p:nvSpPr>
        <p:spPr>
          <a:xfrm>
            <a:off x="7020900" y="482346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40940" y="4736592"/>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Verify a remembered file or flag still exists before acting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Designed memory vs. searching the raw record</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Peng, arXiv 2610.29823</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notes/06-memory.md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29</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One LoCoMo conversation: 419 turns, 152 questions.</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With a strong model, keep the source, make it searchable, and let the model decide what to load.</a:t>
            </a:r>
          </a:p>
        </p:txBody>
      </p:sp>
      <p:sp>
        <p:nvSpPr>
          <p:cNvPr id="14" name="Rectangle 13"/>
          <p:cNvSpPr/>
          <p:nvPr/>
        </p:nvSpPr>
        <p:spPr>
          <a:xfrm>
            <a:off x="502920" y="1985772"/>
            <a:ext cx="5410047" cy="350062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1985772"/>
            <a:ext cx="5410047" cy="557784"/>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1985772"/>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Extraction-based memory (Mem0, Zep)</a:t>
            </a:r>
          </a:p>
        </p:txBody>
      </p:sp>
      <p:sp>
        <p:nvSpPr>
          <p:cNvPr id="17" name="Rectangle 16"/>
          <p:cNvSpPr/>
          <p:nvPr/>
        </p:nvSpPr>
        <p:spPr>
          <a:xfrm>
            <a:off x="731520" y="282676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744724"/>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Beats full context only with the weakest reader (GPT-4o-mini, </a:t>
            </a:r>
            <a:r>
              <a:rPr sz="1700" i="0" b="1">
                <a:solidFill>
                  <a:srgbClr val="1E293B"/>
                </a:solidFill>
                <a:latin typeface="Helvetica Neue"/>
              </a:rPr>
              <a:t>78% vs. 74%</a:t>
            </a:r>
            <a:r>
              <a:rPr sz="1700" i="0" b="0">
                <a:solidFill>
                  <a:srgbClr val="1E293B"/>
                </a:solidFill>
                <a:latin typeface="Helvetica Neue"/>
              </a:rPr>
              <a:t>)</a:t>
            </a:r>
          </a:p>
        </p:txBody>
      </p:sp>
      <p:sp>
        <p:nvSpPr>
          <p:cNvPr id="19" name="Rectangle 18"/>
          <p:cNvSpPr/>
          <p:nvPr/>
        </p:nvSpPr>
        <p:spPr>
          <a:xfrm>
            <a:off x="731520" y="3526282"/>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444240"/>
            <a:ext cx="4587087" cy="946404"/>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Ties or loses with strong models; the build alone costs more than a full-context run</a:t>
            </a:r>
          </a:p>
        </p:txBody>
      </p:sp>
      <p:sp>
        <p:nvSpPr>
          <p:cNvPr id="21" name="Rectangle 20"/>
          <p:cNvSpPr/>
          <p:nvPr/>
        </p:nvSpPr>
        <p:spPr>
          <a:xfrm>
            <a:off x="731520" y="451078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4428744"/>
            <a:ext cx="4587087" cy="661416"/>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The writer caps every reader</a:t>
            </a:r>
            <a:r>
              <a:rPr sz="1700" i="0" b="0">
                <a:solidFill>
                  <a:srgbClr val="1E293B"/>
                </a:solidFill>
                <a:latin typeface="Helvetica Neue"/>
              </a:rPr>
              <a:t>: Opus 5.5 on a GPT-4o-mini graph, 45% vs. 43%</a:t>
            </a:r>
          </a:p>
        </p:txBody>
      </p:sp>
      <p:sp>
        <p:nvSpPr>
          <p:cNvPr id="23" name="Rectangle 22"/>
          <p:cNvSpPr/>
          <p:nvPr/>
        </p:nvSpPr>
        <p:spPr>
          <a:xfrm>
            <a:off x="6278727" y="1985772"/>
            <a:ext cx="5410047" cy="350062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78727" y="1985772"/>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7327" y="1985772"/>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Raw history plus search tools</a:t>
            </a:r>
          </a:p>
        </p:txBody>
      </p:sp>
      <p:sp>
        <p:nvSpPr>
          <p:cNvPr id="26" name="Rectangle 25"/>
          <p:cNvSpPr/>
          <p:nvPr/>
        </p:nvSpPr>
        <p:spPr>
          <a:xfrm>
            <a:off x="6507327" y="282676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2744724"/>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 coding agent reading the raw history as one file: </a:t>
            </a:r>
            <a:r>
              <a:rPr sz="1700" i="0" b="1">
                <a:solidFill>
                  <a:srgbClr val="1E293B"/>
                </a:solidFill>
                <a:latin typeface="Helvetica Neue"/>
              </a:rPr>
              <a:t>99%</a:t>
            </a:r>
          </a:p>
        </p:txBody>
      </p:sp>
      <p:sp>
        <p:nvSpPr>
          <p:cNvPr id="28" name="Rectangle 27"/>
          <p:cNvSpPr/>
          <p:nvPr/>
        </p:nvSpPr>
        <p:spPr>
          <a:xfrm>
            <a:off x="6507327" y="3526282"/>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3444240"/>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At under half full context's cost</a:t>
            </a:r>
          </a:p>
        </p:txBody>
      </p:sp>
      <p:sp>
        <p:nvSpPr>
          <p:cNvPr id="30" name="Rectangle 29"/>
          <p:cNvSpPr/>
          <p:nvPr/>
        </p:nvSpPr>
        <p:spPr>
          <a:xfrm>
            <a:off x="6507327" y="3940810"/>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27367" y="3858768"/>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Same direction as index-plus-detail</a:t>
            </a:r>
          </a:p>
        </p:txBody>
      </p:sp>
      <p:sp>
        <p:nvSpPr>
          <p:cNvPr id="32" name="Rectangle 31"/>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Caveats: one conversation, one run per cell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Choosing a format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Structured context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notes/07-structured-context.md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30</a:t>
            </a:r>
          </a:p>
        </p:txBody>
      </p:sp>
      <p:sp>
        <p:nvSpPr>
          <p:cNvPr id="10" name="TextBox 9"/>
          <p:cNvSpPr txBox="1"/>
          <p:nvPr/>
        </p:nvSpPr>
        <p:spPr>
          <a:xfrm>
            <a:off x="502920" y="1426464"/>
            <a:ext cx="11185855" cy="661416"/>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Structure compresses meaning, not tokens. The model spends less attention working out what each part is.</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Tags for boundaries, markdown for prose, JSON for anything a program reads back.</a:t>
            </a:r>
          </a:p>
        </p:txBody>
      </p:sp>
      <p:graphicFrame>
        <p:nvGraphicFramePr>
          <p:cNvPr id="14" name="Table 13"/>
          <p:cNvGraphicFramePr>
            <a:graphicFrameLocks noGrp="1"/>
          </p:cNvGraphicFramePr>
          <p:nvPr/>
        </p:nvGraphicFramePr>
        <p:xfrm>
          <a:off x="502920" y="2270760"/>
          <a:ext cx="11185855" cy="2950464"/>
        </p:xfrm>
        <a:graphic>
          <a:graphicData uri="http://schemas.openxmlformats.org/drawingml/2006/table">
            <a:tbl>
              <a:tblPr firstRow="1" bandRow="1">
                <a:tableStyleId>{5940675A-B579-460E-94D1-54222C63F5DA}</a:tableStyleId>
              </a:tblPr>
              <a:tblGrid>
                <a:gridCol w="2237171"/>
                <a:gridCol w="4474342"/>
                <a:gridCol w="4474342"/>
              </a:tblGrid>
              <a:tr h="405384">
                <a:tc>
                  <a:txBody>
                    <a:bodyPr wrap="square"/>
                    <a:lstStyle/>
                    <a:p>
                      <a:pPr>
                        <a:lnSpc>
                          <a:spcPct val="100000"/>
                        </a:lnSpc>
                      </a:pPr>
                      <a:r>
                        <a:rPr sz="1700" i="0" b="1">
                          <a:solidFill>
                            <a:srgbClr val="FFFFFF"/>
                          </a:solidFill>
                          <a:latin typeface="Helvetica Neue"/>
                        </a:rPr>
                        <a:t>Format</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Best for</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Watch out for</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XML-style tags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Wrapping documents, separating sections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Verbose; keep tag names meaningful</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Markdown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Instructions, readable system prompts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Weak boundaries: a retrieved doc's </a:t>
                      </a:r>
                      <a:r>
                        <a:rPr sz="1530" i="0" b="0">
                          <a:solidFill>
                            <a:srgbClr val="0F7490"/>
                          </a:solidFill>
                          <a:latin typeface="Menlo"/>
                        </a:rPr>
                        <a:t>##</a:t>
                      </a:r>
                      <a:r>
                        <a:rPr sz="1700" i="0" b="0">
                          <a:solidFill>
                            <a:srgbClr val="475569"/>
                          </a:solidFill>
                          <a:latin typeface="Helvetica Neue"/>
                        </a:rPr>
                        <a:t> collides with yours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JSON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Machine state, tool I/O</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Token-heavy; escaping inside strings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YAML</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Config-like nested state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Whitespace; ambiguous types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Tables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Comparable records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Wide tables lose alignment</a:t>
                      </a:r>
                    </a:p>
                  </a:txBody>
                  <a:tcPr marL="109728" marR="109728" marT="54864" marB="54864" anchor="ctr">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200" i="0" b="1">
                <a:solidFill>
                  <a:srgbClr val="FFFFFF"/>
                </a:solidFill>
                <a:latin typeface="Helvetica Neue"/>
              </a:rPr>
              <a:t>Output schemas — validate, and feed the error back</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Without decode-time enforcement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notes/07-structured-context.md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malformed state block that gets re-injected compounds every turn. Validate at the boundary.</a:t>
            </a:r>
          </a:p>
        </p:txBody>
      </p:sp>
      <p:sp>
        <p:nvSpPr>
          <p:cNvPr id="13" name="Rounded Rectangle 12"/>
          <p:cNvSpPr/>
          <p:nvPr/>
        </p:nvSpPr>
        <p:spPr>
          <a:xfrm>
            <a:off x="502920" y="1472184"/>
            <a:ext cx="6711513" cy="345948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6254313" cy="2819399"/>
          </a:xfrm>
          <a:prstGeom prst="rect">
            <a:avLst/>
          </a:prstGeom>
          <a:noFill/>
        </p:spPr>
        <p:txBody>
          <a:bodyPr wrap="square" lIns="0" rIns="0" tIns="0" bIns="0" anchor="t">
            <a:noAutofit/>
          </a:bodyPr>
          <a:lstStyle/>
          <a:p>
            <a:pPr algn="l">
              <a:lnSpc>
                <a:spcPct val="100000"/>
              </a:lnSpc>
            </a:pPr>
            <a:r>
              <a:rPr sz="1400" i="0" b="0">
                <a:solidFill>
                  <a:srgbClr val="E2E8F0"/>
                </a:solidFill>
                <a:latin typeface="Menlo"/>
              </a:rPr>
              <a:t>for _ in range(max_attempts):</a:t>
            </a:r>
          </a:p>
          <a:p>
            <a:pPr algn="l">
              <a:lnSpc>
                <a:spcPct val="100000"/>
              </a:lnSpc>
            </a:pPr>
            <a:r>
              <a:rPr sz="1400" i="0" b="0">
                <a:solidFill>
                  <a:srgbClr val="E2E8F0"/>
                </a:solidFill>
                <a:latin typeface="Menlo"/>
              </a:rPr>
              <a:t>    raw = llm(prompt)</a:t>
            </a:r>
          </a:p>
          <a:p>
            <a:pPr algn="l">
              <a:lnSpc>
                <a:spcPct val="100000"/>
              </a:lnSpc>
            </a:pPr>
            <a:r>
              <a:rPr sz="1400" i="0" b="0">
                <a:solidFill>
                  <a:srgbClr val="E2E8F0"/>
                </a:solidFill>
                <a:latin typeface="Menlo"/>
              </a:rPr>
              <a:t>    fenced = re.search(FENCE_RE, raw, re.DOTALL)</a:t>
            </a:r>
          </a:p>
          <a:p>
            <a:pPr algn="l">
              <a:lnSpc>
                <a:spcPct val="100000"/>
              </a:lnSpc>
            </a:pPr>
            <a:r>
              <a:rPr sz="1400" i="0" b="0">
                <a:solidFill>
                  <a:srgbClr val="E2E8F0"/>
                </a:solidFill>
                <a:latin typeface="Menlo"/>
              </a:rPr>
              <a:t>    try:</a:t>
            </a:r>
          </a:p>
          <a:p>
            <a:pPr algn="l">
              <a:lnSpc>
                <a:spcPct val="100000"/>
              </a:lnSpc>
            </a:pPr>
            <a:r>
              <a:rPr sz="1400" i="0" b="0">
                <a:solidFill>
                  <a:srgbClr val="E2E8F0"/>
                </a:solidFill>
                <a:latin typeface="Menlo"/>
              </a:rPr>
              <a:t>        text = fenced.group(1) if fenced else raw</a:t>
            </a:r>
          </a:p>
          <a:p>
            <a:pPr algn="l">
              <a:lnSpc>
                <a:spcPct val="100000"/>
              </a:lnSpc>
            </a:pPr>
            <a:r>
              <a:rPr sz="1400" i="0" b="0">
                <a:solidFill>
                  <a:srgbClr val="E2E8F0"/>
                </a:solidFill>
                <a:latin typeface="Menlo"/>
              </a:rPr>
              <a:t>        obj = json.loads(text)</a:t>
            </a:r>
          </a:p>
          <a:p>
            <a:pPr algn="l">
              <a:lnSpc>
                <a:spcPct val="100000"/>
              </a:lnSpc>
            </a:pPr>
            <a:r>
              <a:rPr sz="1400" i="0" b="0">
                <a:solidFill>
                  <a:srgbClr val="E2E8F0"/>
                </a:solidFill>
                <a:latin typeface="Menlo"/>
              </a:rPr>
              <a:t>        jsonschema.validate(obj, schema)</a:t>
            </a:r>
          </a:p>
          <a:p>
            <a:pPr algn="l">
              <a:lnSpc>
                <a:spcPct val="100000"/>
              </a:lnSpc>
            </a:pPr>
            <a:r>
              <a:rPr sz="1400" i="0" b="0">
                <a:solidFill>
                  <a:srgbClr val="E2E8F0"/>
                </a:solidFill>
                <a:latin typeface="Menlo"/>
              </a:rPr>
              <a:t>        return obj</a:t>
            </a:r>
          </a:p>
          <a:p>
            <a:pPr algn="l">
              <a:lnSpc>
                <a:spcPct val="100000"/>
              </a:lnSpc>
            </a:pPr>
            <a:r>
              <a:rPr sz="1400" i="0" b="0">
                <a:solidFill>
                  <a:srgbClr val="E2E8F0"/>
                </a:solidFill>
                <a:latin typeface="Menlo"/>
              </a:rPr>
              <a:t>    except (json.JSONDecodeError,</a:t>
            </a:r>
          </a:p>
          <a:p>
            <a:pPr algn="l">
              <a:lnSpc>
                <a:spcPct val="100000"/>
              </a:lnSpc>
            </a:pPr>
            <a:r>
              <a:rPr sz="1400" i="0" b="0">
                <a:solidFill>
                  <a:srgbClr val="E2E8F0"/>
                </a:solidFill>
                <a:latin typeface="Menlo"/>
              </a:rPr>
              <a:t>            jsonschema.ValidationError) as e:</a:t>
            </a:r>
          </a:p>
          <a:p>
            <a:pPr algn="l">
              <a:lnSpc>
                <a:spcPct val="100000"/>
              </a:lnSpc>
            </a:pPr>
            <a:r>
              <a:rPr sz="1400" i="0" b="0">
                <a:solidFill>
                  <a:srgbClr val="E2E8F0"/>
                </a:solidFill>
                <a:latin typeface="Menlo"/>
              </a:rPr>
              <a:t>        prompt += (f"\n\nYour previous response did not"</a:t>
            </a:r>
          </a:p>
          <a:p>
            <a:pPr algn="l">
              <a:lnSpc>
                <a:spcPct val="100000"/>
              </a:lnSpc>
            </a:pPr>
            <a:r>
              <a:rPr sz="1400" i="0" b="0">
                <a:solidFill>
                  <a:srgbClr val="E2E8F0"/>
                </a:solidFill>
                <a:latin typeface="Menlo"/>
              </a:rPr>
              <a:t>                   f" conform. Error: {e}. Try again.")</a:t>
            </a:r>
          </a:p>
          <a:p>
            <a:pPr algn="l">
              <a:lnSpc>
                <a:spcPct val="100000"/>
              </a:lnSpc>
            </a:pPr>
            <a:r>
              <a:rPr sz="1400" i="0" b="0">
                <a:solidFill>
                  <a:srgbClr val="E2E8F0"/>
                </a:solidFill>
                <a:latin typeface="Menlo"/>
              </a:rPr>
              <a:t>raise ValueError("no schema-valid response")</a:t>
            </a:r>
          </a:p>
        </p:txBody>
      </p:sp>
      <p:sp>
        <p:nvSpPr>
          <p:cNvPr id="16" name="Rectangle 15"/>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Prefer the provider's </a:t>
            </a:r>
            <a:r>
              <a:rPr sz="1800" i="0" b="1">
                <a:solidFill>
                  <a:srgbClr val="1E293B"/>
                </a:solidFill>
                <a:latin typeface="Helvetica Neue"/>
              </a:rPr>
              <a:t>structured-output mode</a:t>
            </a:r>
          </a:p>
        </p:txBody>
      </p:sp>
      <p:sp>
        <p:nvSpPr>
          <p:cNvPr id="18" name="Rectangle 17"/>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Otherwise: schema in the prompt + one filled example</a:t>
            </a:r>
          </a:p>
        </p:txBody>
      </p:sp>
      <p:sp>
        <p:nvSpPr>
          <p:cNvPr id="20" name="Rectangle 19"/>
          <p:cNvSpPr/>
          <p:nvPr/>
        </p:nvSpPr>
        <p:spPr>
          <a:xfrm>
            <a:off x="7580193" y="308610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The validator's message tells the retry what to fix</a:t>
            </a:r>
          </a:p>
        </p:txBody>
      </p:sp>
      <p:sp>
        <p:nvSpPr>
          <p:cNvPr id="22" name="Rectangle 21"/>
          <p:cNvSpPr/>
          <p:nvPr/>
        </p:nvSpPr>
        <p:spPr>
          <a:xfrm>
            <a:off x="7580193" y="3826763"/>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0233" y="3739896"/>
            <a:ext cx="3788542"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Keep </a:t>
            </a:r>
            <a:r>
              <a:rPr sz="1620" i="0" b="0">
                <a:solidFill>
                  <a:srgbClr val="0F7490"/>
                </a:solidFill>
                <a:latin typeface="Menlo"/>
              </a:rPr>
              <a:t>jsonschema.validate</a:t>
            </a:r>
            <a:r>
              <a:rPr sz="1800" i="0" b="0">
                <a:solidFill>
                  <a:srgbClr val="1E293B"/>
                </a:solidFill>
                <a:latin typeface="Helvetica Neue"/>
              </a:rPr>
              <a:t> for rules the provider's subset can't express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100" i="0" b="1">
                <a:solidFill>
                  <a:srgbClr val="FFFFFF"/>
                </a:solidFill>
                <a:latin typeface="Helvetica Neue"/>
              </a:rPr>
              <a:t>Cognitive tools — reasoning steps as isolated calls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Ebouky et al., IBM Research 2025</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notes/08-cognitive-tools.md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32</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GPT-4.1 on AIME 2024: </a:t>
            </a:r>
            <a:r>
              <a:rPr sz="1700" i="0" b="1">
                <a:solidFill>
                  <a:srgbClr val="1E293B"/>
                </a:solidFill>
                <a:latin typeface="Helvetica Neue"/>
              </a:rPr>
              <a:t>26.7% → 43.3%</a:t>
            </a:r>
            <a:r>
              <a:rPr sz="1700" i="0" b="0">
                <a:solidFill>
                  <a:srgbClr val="475569"/>
                </a:solidFill>
                <a:latin typeface="Helvetica Neue"/>
              </a:rPr>
              <a:t>, near o1-preview, with no training.</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Each tool runs in its own context. The model choosing when to call them beat a fixed sequence.</a:t>
            </a:r>
          </a:p>
        </p:txBody>
      </p:sp>
      <p:graphicFrame>
        <p:nvGraphicFramePr>
          <p:cNvPr id="14" name="Table 13"/>
          <p:cNvGraphicFramePr>
            <a:graphicFrameLocks noGrp="1"/>
          </p:cNvGraphicFramePr>
          <p:nvPr/>
        </p:nvGraphicFramePr>
        <p:xfrm>
          <a:off x="502920" y="1985772"/>
          <a:ext cx="11185854" cy="2026920"/>
        </p:xfrm>
        <a:graphic>
          <a:graphicData uri="http://schemas.openxmlformats.org/drawingml/2006/table">
            <a:tbl>
              <a:tblPr firstRow="1" bandRow="1">
                <a:tableStyleId>{5940675A-B579-460E-94D1-54222C63F5DA}</a:tableStyleId>
              </a:tblPr>
              <a:tblGrid>
                <a:gridCol w="3195958"/>
                <a:gridCol w="7989896"/>
              </a:tblGrid>
              <a:tr h="405384">
                <a:tc>
                  <a:txBody>
                    <a:bodyPr wrap="square"/>
                    <a:lstStyle/>
                    <a:p>
                      <a:pPr>
                        <a:lnSpc>
                          <a:spcPct val="100000"/>
                        </a:lnSpc>
                      </a:pPr>
                      <a:r>
                        <a:rPr sz="1700" i="0" b="1">
                          <a:solidFill>
                            <a:srgbClr val="FFFFFF"/>
                          </a:solidFill>
                          <a:latin typeface="Helvetica Neue"/>
                        </a:rPr>
                        <a:t>Tool</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What it does</a:t>
                      </a:r>
                    </a:p>
                  </a:txBody>
                  <a:tcPr marL="109728" marR="109728" marT="54864" marB="54864" anchor="ctr">
                    <a:solidFill>
                      <a:srgbClr val="1E3A5F"/>
                    </a:solidFill>
                  </a:tcPr>
                </a:tc>
              </a:tr>
              <a:tr h="405384">
                <a:tc>
                  <a:txBody>
                    <a:bodyPr wrap="square"/>
                    <a:lstStyle/>
                    <a:p>
                      <a:pPr>
                        <a:lnSpc>
                          <a:spcPct val="100000"/>
                        </a:lnSpc>
                      </a:pPr>
                      <a:r>
                        <a:rPr sz="1530" i="0" b="1">
                          <a:solidFill>
                            <a:srgbClr val="0F7490"/>
                          </a:solidFill>
                          <a:latin typeface="Menlo"/>
                        </a:rPr>
                        <a:t>understand_question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Core concepts, givens, goal, relevant techniques</a:t>
                      </a:r>
                    </a:p>
                  </a:txBody>
                  <a:tcPr marL="109728" marR="109728" marT="54864" marB="54864" anchor="ctr">
                    <a:solidFill>
                      <a:srgbClr val="FFFFFF"/>
                    </a:solidFill>
                  </a:tcPr>
                </a:tc>
              </a:tr>
              <a:tr h="405384">
                <a:tc>
                  <a:txBody>
                    <a:bodyPr wrap="square"/>
                    <a:lstStyle/>
                    <a:p>
                      <a:pPr>
                        <a:lnSpc>
                          <a:spcPct val="100000"/>
                        </a:lnSpc>
                      </a:pPr>
                      <a:r>
                        <a:rPr sz="1530" i="0" b="1">
                          <a:solidFill>
                            <a:srgbClr val="0F7490"/>
                          </a:solidFill>
                          <a:latin typeface="Menlo"/>
                        </a:rPr>
                        <a:t>recall_related</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Analogous solved problems and their steps</a:t>
                      </a:r>
                    </a:p>
                  </a:txBody>
                  <a:tcPr marL="109728" marR="109728" marT="54864" marB="54864" anchor="ctr">
                    <a:solidFill>
                      <a:srgbClr val="F8FAFC"/>
                    </a:solidFill>
                  </a:tcPr>
                </a:tc>
              </a:tr>
              <a:tr h="405384">
                <a:tc>
                  <a:txBody>
                    <a:bodyPr wrap="square"/>
                    <a:lstStyle/>
                    <a:p>
                      <a:pPr>
                        <a:lnSpc>
                          <a:spcPct val="100000"/>
                        </a:lnSpc>
                      </a:pPr>
                      <a:r>
                        <a:rPr sz="1530" i="0" b="1">
                          <a:solidFill>
                            <a:srgbClr val="0F7490"/>
                          </a:solidFill>
                          <a:latin typeface="Menlo"/>
                        </a:rPr>
                        <a:t>examine_answer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Check the trace for errors and unmet constraints</a:t>
                      </a:r>
                    </a:p>
                  </a:txBody>
                  <a:tcPr marL="109728" marR="109728" marT="54864" marB="54864" anchor="ctr">
                    <a:solidFill>
                      <a:srgbClr val="FFFFFF"/>
                    </a:solidFill>
                  </a:tcPr>
                </a:tc>
              </a:tr>
              <a:tr h="405384">
                <a:tc>
                  <a:txBody>
                    <a:bodyPr wrap="square"/>
                    <a:lstStyle/>
                    <a:p>
                      <a:pPr>
                        <a:lnSpc>
                          <a:spcPct val="100000"/>
                        </a:lnSpc>
                      </a:pPr>
                      <a:r>
                        <a:rPr sz="1530" i="0" b="1">
                          <a:solidFill>
                            <a:srgbClr val="0F7490"/>
                          </a:solidFill>
                          <a:latin typeface="Menlo"/>
                        </a:rPr>
                        <a:t>backtracking</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When stuck, find where it went wrong and try another path</a:t>
                      </a:r>
                    </a:p>
                  </a:txBody>
                  <a:tcPr marL="109728" marR="109728" marT="54864" marB="54864" anchor="ctr">
                    <a:solidFill>
                      <a:srgbClr val="F8FAFC"/>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Verify with code where you can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self-correction loop</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notes/08-cognitive-tools.md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End a model verifier with a machine-readable verdict. Better, replace it with a deterministic check.</a:t>
            </a:r>
          </a:p>
        </p:txBody>
      </p:sp>
      <p:sp>
        <p:nvSpPr>
          <p:cNvPr id="13" name="Rounded Rectangle 12"/>
          <p:cNvSpPr/>
          <p:nvPr/>
        </p:nvSpPr>
        <p:spPr>
          <a:xfrm>
            <a:off x="502920" y="1472184"/>
            <a:ext cx="6711513" cy="33680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6254313" cy="272795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def python_validator(response):</a:t>
            </a:r>
          </a:p>
          <a:p>
            <a:pPr algn="l">
              <a:lnSpc>
                <a:spcPct val="100000"/>
              </a:lnSpc>
            </a:pPr>
            <a:r>
              <a:rPr sz="1600" i="0" b="0">
                <a:solidFill>
                  <a:srgbClr val="E2E8F0"/>
                </a:solidFill>
                <a:latin typeface="Menlo"/>
              </a:rPr>
              <a:t>    blocks = re.findall(CODE_RE, response, re.S)</a:t>
            </a:r>
          </a:p>
          <a:p>
            <a:pPr algn="l">
              <a:lnSpc>
                <a:spcPct val="100000"/>
              </a:lnSpc>
            </a:pPr>
            <a:r>
              <a:rPr sz="1600" i="0" b="0">
                <a:solidFill>
                  <a:srgbClr val="E2E8F0"/>
                </a:solidFill>
                <a:latin typeface="Menlo"/>
              </a:rPr>
              <a:t>    if not blocks:</a:t>
            </a:r>
          </a:p>
          <a:p>
            <a:pPr algn="l">
              <a:lnSpc>
                <a:spcPct val="100000"/>
              </a:lnSpc>
            </a:pPr>
            <a:r>
              <a:rPr sz="1600" i="0" b="0">
                <a:solidFill>
                  <a:srgbClr val="E2E8F0"/>
                </a:solidFill>
                <a:latin typeface="Menlo"/>
              </a:rPr>
              <a:t>        return False, "No Python code block found."</a:t>
            </a:r>
          </a:p>
          <a:p>
            <a:pPr algn="l">
              <a:lnSpc>
                <a:spcPct val="100000"/>
              </a:lnSpc>
            </a:pPr>
            <a:r>
              <a:rPr sz="1600" i="0" b="0">
                <a:solidFill>
                  <a:srgbClr val="E2E8F0"/>
                </a:solidFill>
                <a:latin typeface="Menlo"/>
              </a:rPr>
              <a:t>    for i, block in enumerate(blocks, 1):</a:t>
            </a:r>
          </a:p>
          <a:p>
            <a:pPr algn="l">
              <a:lnSpc>
                <a:spcPct val="100000"/>
              </a:lnSpc>
            </a:pPr>
            <a:r>
              <a:rPr sz="1600" i="0" b="0">
                <a:solidFill>
                  <a:srgbClr val="E2E8F0"/>
                </a:solidFill>
                <a:latin typeface="Menlo"/>
              </a:rPr>
              <a:t>        try:</a:t>
            </a:r>
          </a:p>
          <a:p>
            <a:pPr algn="l">
              <a:lnSpc>
                <a:spcPct val="100000"/>
              </a:lnSpc>
            </a:pPr>
            <a:r>
              <a:rPr sz="1600" i="0" b="0">
                <a:solidFill>
                  <a:srgbClr val="E2E8F0"/>
                </a:solidFill>
                <a:latin typeface="Menlo"/>
              </a:rPr>
              <a:t>            compile(block, "&lt;llm&gt;", "exec")</a:t>
            </a:r>
          </a:p>
          <a:p>
            <a:pPr algn="l">
              <a:lnSpc>
                <a:spcPct val="100000"/>
              </a:lnSpc>
            </a:pPr>
            <a:r>
              <a:rPr sz="1600" i="0" b="0">
                <a:solidFill>
                  <a:srgbClr val="E2E8F0"/>
                </a:solidFill>
                <a:latin typeface="Menlo"/>
              </a:rPr>
              <a:t>        except SyntaxError as e:</a:t>
            </a:r>
          </a:p>
          <a:p>
            <a:pPr algn="l">
              <a:lnSpc>
                <a:spcPct val="100000"/>
              </a:lnSpc>
            </a:pPr>
            <a:r>
              <a:rPr sz="1600" i="0" b="0">
                <a:solidFill>
                  <a:srgbClr val="E2E8F0"/>
                </a:solidFill>
                <a:latin typeface="Menlo"/>
              </a:rPr>
              <a:t>            return False, f"Block {i}: {e}"</a:t>
            </a:r>
          </a:p>
          <a:p>
            <a:pPr algn="l">
              <a:lnSpc>
                <a:spcPct val="100000"/>
              </a:lnSpc>
            </a:pPr>
            <a:r>
              <a:rPr sz="1600" i="0" b="0">
                <a:solidFill>
                  <a:srgbClr val="E2E8F0"/>
                </a:solidFill>
                <a:latin typeface="Menlo"/>
              </a:rPr>
              <a:t>    return True, "ok"</a:t>
            </a:r>
          </a:p>
        </p:txBody>
      </p:sp>
      <p:sp>
        <p:nvSpPr>
          <p:cNvPr id="16" name="Rectangle 15"/>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Loop: generate → validate → feed the problem back, </a:t>
            </a:r>
            <a:r>
              <a:rPr sz="1800" i="0" b="1">
                <a:solidFill>
                  <a:srgbClr val="1E293B"/>
                </a:solidFill>
                <a:latin typeface="Helvetica Neue"/>
              </a:rPr>
              <a:t>max 3</a:t>
            </a:r>
          </a:p>
        </p:txBody>
      </p:sp>
      <p:sp>
        <p:nvSpPr>
          <p:cNvPr id="18" name="Rectangle 17"/>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Same-model verifiers share blind spots; past 2–3 rounds they rarely help</a:t>
            </a:r>
          </a:p>
        </p:txBody>
      </p:sp>
      <p:sp>
        <p:nvSpPr>
          <p:cNvPr id="20" name="Rectangle 19"/>
          <p:cNvSpPr/>
          <p:nvPr/>
        </p:nvSpPr>
        <p:spPr>
          <a:xfrm>
            <a:off x="7580193" y="33878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3300984"/>
            <a:ext cx="3788542"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 </a:t>
            </a:r>
            <a:r>
              <a:rPr sz="1800" i="0" b="1">
                <a:solidFill>
                  <a:srgbClr val="1E293B"/>
                </a:solidFill>
                <a:latin typeface="Helvetica Neue"/>
              </a:rPr>
              <a:t>self-graded</a:t>
            </a:r>
            <a:r>
              <a:rPr sz="1800" i="0" b="0">
                <a:solidFill>
                  <a:srgbClr val="1E293B"/>
                </a:solidFill>
                <a:latin typeface="Helvetica Neue"/>
              </a:rPr>
              <a:t> stop condition (score &gt; 0.8) is a demo, not a pattern</a:t>
            </a:r>
          </a:p>
        </p:txBody>
      </p:sp>
      <p:sp>
        <p:nvSpPr>
          <p:cNvPr id="22" name="Rectangle 21"/>
          <p:cNvSpPr/>
          <p:nvPr/>
        </p:nvSpPr>
        <p:spPr>
          <a:xfrm>
            <a:off x="7580193" y="443026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0233" y="4343400"/>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Tests, parsers, calculators beat a model verdict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Protocol shells — prompt programs without code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NOCODE track</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notes/09-protocols.md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34</a:t>
            </a:r>
          </a:p>
        </p:txBody>
      </p:sp>
      <p:sp>
        <p:nvSpPr>
          <p:cNvPr id="10" name="Rounded Rectangle 9"/>
          <p:cNvSpPr/>
          <p:nvPr/>
        </p:nvSpPr>
        <p:spPr>
          <a:xfrm>
            <a:off x="502920" y="1472184"/>
            <a:ext cx="6711513" cy="3611879"/>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PROTOCOL</a:t>
            </a:r>
          </a:p>
        </p:txBody>
      </p:sp>
      <p:sp>
        <p:nvSpPr>
          <p:cNvPr id="12" name="TextBox 11"/>
          <p:cNvSpPr txBox="1"/>
          <p:nvPr/>
        </p:nvSpPr>
        <p:spPr>
          <a:xfrm>
            <a:off x="731520" y="1883664"/>
            <a:ext cx="6254313" cy="297179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/research.literature{</a:t>
            </a:r>
          </a:p>
          <a:p>
            <a:pPr algn="l">
              <a:lnSpc>
                <a:spcPct val="100000"/>
              </a:lnSpc>
            </a:pPr>
            <a:r>
              <a:rPr sz="1600" i="0" b="0">
                <a:solidFill>
                  <a:srgbClr val="E2E8F0"/>
                </a:solidFill>
                <a:latin typeface="Menlo"/>
              </a:rPr>
              <a:t>  intent="Structured understanding of a topic",</a:t>
            </a:r>
          </a:p>
          <a:p>
            <a:pPr algn="l">
              <a:lnSpc>
                <a:spcPct val="100000"/>
              </a:lnSpc>
            </a:pPr>
            <a:r>
              <a:rPr sz="1600" i="0" b="0">
                <a:solidFill>
                  <a:srgbClr val="E2E8F0"/>
                </a:solidFill>
                <a:latin typeface="Menlo"/>
              </a:rPr>
              <a:t>  input={ topic="Context compaction, 2024–26",</a:t>
            </a:r>
          </a:p>
          <a:p>
            <a:pPr algn="l">
              <a:lnSpc>
                <a:spcPct val="100000"/>
              </a:lnSpc>
            </a:pPr>
            <a:r>
              <a:rPr sz="1600" i="0" b="0">
                <a:solidFill>
                  <a:srgbClr val="E2E8F0"/>
                </a:solidFill>
                <a:latin typeface="Menlo"/>
              </a:rPr>
              <a:t>          key_questions=[...], scope={...} },</a:t>
            </a:r>
          </a:p>
          <a:p>
            <a:pPr algn="l">
              <a:lnSpc>
                <a:spcPct val="100000"/>
              </a:lnSpc>
            </a:pPr>
            <a:r>
              <a:rPr sz="1600" i="0" b="0">
                <a:solidFill>
                  <a:srgbClr val="E2E8F0"/>
                </a:solidFill>
                <a:latin typeface="Menlo"/>
              </a:rPr>
              <a:t>  process=[</a:t>
            </a:r>
          </a:p>
          <a:p>
            <a:pPr algn="l">
              <a:lnSpc>
                <a:spcPct val="100000"/>
              </a:lnSpc>
            </a:pPr>
            <a:r>
              <a:rPr sz="1600" i="0" b="0">
                <a:solidFill>
                  <a:srgbClr val="E2E8F0"/>
                </a:solidFill>
                <a:latin typeface="Menlo"/>
              </a:rPr>
              <a:t>    /map{action="Foundations, streams, terms"},</a:t>
            </a:r>
          </a:p>
          <a:p>
            <a:pPr algn="l">
              <a:lnSpc>
                <a:spcPct val="100000"/>
              </a:lnSpc>
            </a:pPr>
            <a:r>
              <a:rPr sz="1600" i="0" b="0">
                <a:solidFill>
                  <a:srgbClr val="E2E8F0"/>
                </a:solidFill>
                <a:latin typeface="Menlo"/>
              </a:rPr>
              <a:t>    /explore{action="Key works, methods, limits"},</a:t>
            </a:r>
          </a:p>
          <a:p>
            <a:pPr algn="l">
              <a:lnSpc>
                <a:spcPct val="100000"/>
              </a:lnSpc>
            </a:pPr>
            <a:r>
              <a:rPr sz="1600" i="0" b="0">
                <a:solidFill>
                  <a:srgbClr val="E2E8F0"/>
                </a:solidFill>
                <a:latin typeface="Menlo"/>
              </a:rPr>
              <a:t>    /synthesize{action="Patterns, open questions"}</a:t>
            </a:r>
          </a:p>
          <a:p>
            <a:pPr algn="l">
              <a:lnSpc>
                <a:spcPct val="100000"/>
              </a:lnSpc>
            </a:pPr>
            <a:r>
              <a:rPr sz="1600" i="0" b="0">
                <a:solidFill>
                  <a:srgbClr val="E2E8F0"/>
                </a:solidFill>
                <a:latin typeface="Menlo"/>
              </a:rPr>
              <a:t>  ],</a:t>
            </a:r>
          </a:p>
          <a:p>
            <a:pPr algn="l">
              <a:lnSpc>
                <a:spcPct val="100000"/>
              </a:lnSpc>
            </a:pPr>
            <a:r>
              <a:rPr sz="1600" i="0" b="0">
                <a:solidFill>
                  <a:srgbClr val="E2E8F0"/>
                </a:solidFill>
                <a:latin typeface="Menlo"/>
              </a:rPr>
              <a:t>  output={ findings="Per question, cited",</a:t>
            </a:r>
          </a:p>
          <a:p>
            <a:pPr algn="l">
              <a:lnSpc>
                <a:spcPct val="100000"/>
              </a:lnSpc>
            </a:pPr>
            <a:r>
              <a:rPr sz="1600" i="0" b="0">
                <a:solidFill>
                  <a:srgbClr val="E2E8F0"/>
                </a:solidFill>
                <a:latin typeface="Menlo"/>
              </a:rPr>
              <a:t>           confidence="High/med/low + reason" }</a:t>
            </a:r>
          </a:p>
          <a:p>
            <a:pPr algn="l">
              <a:lnSpc>
                <a:spcPct val="100000"/>
              </a:lnSpc>
            </a:pPr>
            <a:r>
              <a:rPr sz="1600" i="0" b="0">
                <a:solidFill>
                  <a:srgbClr val="E2E8F0"/>
                </a:solidFill>
                <a:latin typeface="Menlo"/>
              </a:rPr>
              <a:t>}</a:t>
            </a:r>
          </a:p>
        </p:txBody>
      </p:sp>
      <p:sp>
        <p:nvSpPr>
          <p:cNvPr id="13" name="Rectangle 12"/>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0233" y="1517904"/>
            <a:ext cx="3788542" cy="996696"/>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Real:</a:t>
            </a:r>
            <a:r>
              <a:rPr sz="1800" i="0" b="0">
                <a:solidFill>
                  <a:srgbClr val="1E293B"/>
                </a:solidFill>
                <a:latin typeface="Helvetica Neue"/>
              </a:rPr>
              <a:t> explicit intent, inputs, steps and output improve consistency</a:t>
            </a:r>
          </a:p>
        </p:txBody>
      </p:sp>
      <p:sp>
        <p:nvSpPr>
          <p:cNvPr id="15" name="Rectangle 14"/>
          <p:cNvSpPr/>
          <p:nvPr/>
        </p:nvSpPr>
        <p:spPr>
          <a:xfrm>
            <a:off x="7580193" y="264718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2560320"/>
            <a:ext cx="3788542" cy="1298448"/>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Oversold:</a:t>
            </a:r>
            <a:r>
              <a:rPr sz="1800" i="0" b="0">
                <a:solidFill>
                  <a:srgbClr val="1E293B"/>
                </a:solidFill>
                <a:latin typeface="Helvetica Neue"/>
              </a:rPr>
              <a:t> the syntax has no special power; markdown with the same four sections does as well</a:t>
            </a:r>
          </a:p>
        </p:txBody>
      </p:sp>
      <p:sp>
        <p:nvSpPr>
          <p:cNvPr id="17" name="Rectangle 16"/>
          <p:cNvSpPr/>
          <p:nvPr/>
        </p:nvSpPr>
        <p:spPr>
          <a:xfrm>
            <a:off x="7580193" y="399135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390448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One action per step; inputs, not assumptions</a:t>
            </a:r>
          </a:p>
        </p:txBody>
      </p:sp>
      <p:sp>
        <p:nvSpPr>
          <p:cNvPr id="19" name="Rectangle 18"/>
          <p:cNvSpPr/>
          <p:nvPr/>
        </p:nvSpPr>
        <p:spPr>
          <a:xfrm>
            <a:off x="7580193" y="473202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464515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Use it for shareable procedures with non-engineers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Isolation — the most expensive lever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Sub-agents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notes/10-tools-and-multi-agent.md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Sub-agents are for genuinely parallel, separable investigation. Pass the decisions, not just the task.</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Why it works</a:t>
            </a:r>
          </a:p>
        </p:txBody>
      </p:sp>
      <p:sp>
        <p:nvSpPr>
          <p:cNvPr id="16" name="Rectangle 15"/>
          <p:cNvSpPr/>
          <p:nvPr/>
        </p:nvSpPr>
        <p:spPr>
          <a:xfrm>
            <a:off x="731520"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3 sub-agents spend </a:t>
            </a:r>
            <a:r>
              <a:rPr sz="1700" i="0" b="1">
                <a:solidFill>
                  <a:srgbClr val="1E293B"/>
                </a:solidFill>
                <a:latin typeface="Helvetica Neue"/>
              </a:rPr>
              <a:t>230k</a:t>
            </a:r>
            <a:r>
              <a:rPr sz="1700" i="0" b="0">
                <a:solidFill>
                  <a:srgbClr val="1E293B"/>
                </a:solidFill>
                <a:latin typeface="Helvetica Neue"/>
              </a:rPr>
              <a:t> exploring; the orchestrator sees </a:t>
            </a:r>
            <a:r>
              <a:rPr sz="1700" i="0" b="1">
                <a:solidFill>
                  <a:srgbClr val="1E293B"/>
                </a:solidFill>
                <a:latin typeface="Helvetica Neue"/>
              </a:rPr>
              <a:t>~6k</a:t>
            </a:r>
          </a:p>
        </p:txBody>
      </p:sp>
      <p:sp>
        <p:nvSpPr>
          <p:cNvPr id="18" name="Rectangle 17"/>
          <p:cNvSpPr/>
          <p:nvPr/>
        </p:nvSpPr>
        <p:spPr>
          <a:xfrm>
            <a:off x="731520" y="301269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93065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The sub-agent window is </a:t>
            </a:r>
            <a:r>
              <a:rPr sz="1700" i="0" b="1">
                <a:solidFill>
                  <a:srgbClr val="1E293B"/>
                </a:solidFill>
                <a:latin typeface="Helvetica Neue"/>
              </a:rPr>
              <a:t>discarded</a:t>
            </a:r>
            <a:r>
              <a:rPr sz="1700" i="0" b="0">
                <a:solidFill>
                  <a:srgbClr val="1E293B"/>
                </a:solidFill>
                <a:latin typeface="Helvetica Neue"/>
              </a:rPr>
              <a:t>, not merged</a:t>
            </a:r>
          </a:p>
        </p:txBody>
      </p:sp>
      <p:sp>
        <p:nvSpPr>
          <p:cNvPr id="20" name="Rectangle 19"/>
          <p:cNvSpPr/>
          <p:nvPr/>
        </p:nvSpPr>
        <p:spPr>
          <a:xfrm>
            <a:off x="731520" y="3712210"/>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630168"/>
            <a:ext cx="4587087" cy="946404"/>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Orchestrator holds the plan</a:t>
            </a:r>
            <a:r>
              <a:rPr sz="1700" i="0" b="0">
                <a:solidFill>
                  <a:srgbClr val="1E293B"/>
                </a:solidFill>
                <a:latin typeface="Helvetica Neue"/>
              </a:rPr>
              <a:t>; workers get a bounded task, minimal context, a return shape</a:t>
            </a:r>
          </a:p>
        </p:txBody>
      </p:sp>
      <p:sp>
        <p:nvSpPr>
          <p:cNvPr id="22" name="Rectangle 21"/>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Clean windows for synthesis</a:t>
            </a:r>
          </a:p>
        </p:txBody>
      </p:sp>
      <p:sp>
        <p:nvSpPr>
          <p:cNvPr id="24" name="Rectangle 23"/>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8727" y="1472184"/>
            <a:ext cx="5410047" cy="557784"/>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What it costs</a:t>
            </a:r>
          </a:p>
        </p:txBody>
      </p:sp>
      <p:sp>
        <p:nvSpPr>
          <p:cNvPr id="27" name="Rectangle 26"/>
          <p:cNvSpPr/>
          <p:nvPr/>
        </p:nvSpPr>
        <p:spPr>
          <a:xfrm>
            <a:off x="6507327" y="2313178"/>
            <a:ext cx="90678" cy="9067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Lost shared context; duplicated or contradictory work</a:t>
            </a:r>
          </a:p>
        </p:txBody>
      </p:sp>
      <p:sp>
        <p:nvSpPr>
          <p:cNvPr id="29" name="Rectangle 28"/>
          <p:cNvSpPr/>
          <p:nvPr/>
        </p:nvSpPr>
        <p:spPr>
          <a:xfrm>
            <a:off x="6507327" y="3012694"/>
            <a:ext cx="90678" cy="9067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7367" y="293065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The summary is lossy: what it omits is gone</a:t>
            </a:r>
          </a:p>
        </p:txBody>
      </p:sp>
      <p:sp>
        <p:nvSpPr>
          <p:cNvPr id="31" name="Rectangle 30"/>
          <p:cNvSpPr/>
          <p:nvPr/>
        </p:nvSpPr>
        <p:spPr>
          <a:xfrm>
            <a:off x="6507327" y="3712210"/>
            <a:ext cx="90678" cy="9067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7367" y="3630168"/>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Token multiplier: 230k real tokens for 6k visible</a:t>
            </a:r>
          </a:p>
        </p:txBody>
      </p:sp>
      <p:sp>
        <p:nvSpPr>
          <p:cNvPr id="33" name="Rectangle 32"/>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Try Compress before Isolate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Tool descriptions are resident context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Tool design is context engineering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The levers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notes/10-tools-and-multi-agent.md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Results are context too: paginate, return identifiers, return structured errors.</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Bad (~45 tokens)</a:t>
            </a:r>
          </a:p>
        </p:txBody>
      </p:sp>
      <p:sp>
        <p:nvSpPr>
          <p:cNvPr id="16" name="Rounded Rectangle 15"/>
          <p:cNvSpPr/>
          <p:nvPr/>
        </p:nvSpPr>
        <p:spPr>
          <a:xfrm>
            <a:off x="731520" y="2231136"/>
            <a:ext cx="4907127" cy="22098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2459736"/>
            <a:ext cx="4449927" cy="1752599"/>
          </a:xfrm>
          <a:prstGeom prst="rect">
            <a:avLst/>
          </a:prstGeom>
          <a:noFill/>
        </p:spPr>
        <p:txBody>
          <a:bodyPr wrap="square" lIns="0" rIns="0" tIns="0" bIns="0" anchor="t">
            <a:noAutofit/>
          </a:bodyPr>
          <a:lstStyle/>
          <a:p>
            <a:pPr algn="l">
              <a:lnSpc>
                <a:spcPct val="100000"/>
              </a:lnSpc>
            </a:pPr>
            <a:r>
              <a:rPr sz="1400" i="0" b="0">
                <a:solidFill>
                  <a:srgbClr val="E2E8F0"/>
                </a:solidFill>
                <a:latin typeface="Menlo"/>
              </a:rPr>
              <a:t>description: |</a:t>
            </a:r>
          </a:p>
          <a:p>
            <a:pPr algn="l">
              <a:lnSpc>
                <a:spcPct val="100000"/>
              </a:lnSpc>
            </a:pPr>
            <a:r>
              <a:rPr sz="1400" i="0" b="0">
                <a:solidFill>
                  <a:srgbClr val="E2E8F0"/>
                </a:solidFill>
                <a:latin typeface="Menlo"/>
              </a:rPr>
              <a:t>  This skill handles the complete</a:t>
            </a:r>
          </a:p>
          <a:p>
            <a:pPr algn="l">
              <a:lnSpc>
                <a:spcPct val="100000"/>
              </a:lnSpc>
            </a:pPr>
            <a:r>
              <a:rPr sz="1400" i="0" b="0">
                <a:solidFill>
                  <a:srgbClr val="E2E8F0"/>
                </a:solidFill>
                <a:latin typeface="Menlo"/>
              </a:rPr>
              <a:t>  deployment process to production.</a:t>
            </a:r>
          </a:p>
          <a:p>
            <a:pPr algn="l">
              <a:lnSpc>
                <a:spcPct val="100000"/>
              </a:lnSpc>
            </a:pPr>
            <a:r>
              <a:rPr sz="1400" i="0" b="0">
                <a:solidFill>
                  <a:srgbClr val="E2E8F0"/>
                </a:solidFill>
                <a:latin typeface="Menlo"/>
              </a:rPr>
              <a:t>  It covers environment checks,</a:t>
            </a:r>
          </a:p>
          <a:p>
            <a:pPr algn="l">
              <a:lnSpc>
                <a:spcPct val="100000"/>
              </a:lnSpc>
            </a:pPr>
            <a:r>
              <a:rPr sz="1400" i="0" b="0">
                <a:solidFill>
                  <a:srgbClr val="E2E8F0"/>
                </a:solidFill>
                <a:latin typeface="Menlo"/>
              </a:rPr>
              <a:t>  rollback procedures, and post-</a:t>
            </a:r>
          </a:p>
          <a:p>
            <a:pPr algn="l">
              <a:lnSpc>
                <a:spcPct val="100000"/>
              </a:lnSpc>
            </a:pPr>
            <a:r>
              <a:rPr sz="1400" i="0" b="0">
                <a:solidFill>
                  <a:srgbClr val="E2E8F0"/>
                </a:solidFill>
                <a:latin typeface="Menlo"/>
              </a:rPr>
              <a:t>  deploy verification. Use this</a:t>
            </a:r>
          </a:p>
          <a:p>
            <a:pPr algn="l">
              <a:lnSpc>
                <a:spcPct val="100000"/>
              </a:lnSpc>
            </a:pPr>
            <a:r>
              <a:rPr sz="1400" i="0" b="0">
                <a:solidFill>
                  <a:srgbClr val="E2E8F0"/>
                </a:solidFill>
                <a:latin typeface="Menlo"/>
              </a:rPr>
              <a:t>  before deploying any code to</a:t>
            </a:r>
          </a:p>
          <a:p>
            <a:pPr algn="l">
              <a:lnSpc>
                <a:spcPct val="100000"/>
              </a:lnSpc>
            </a:pPr>
            <a:r>
              <a:rPr sz="1400" i="0" b="0">
                <a:solidFill>
                  <a:srgbClr val="E2E8F0"/>
                </a:solidFill>
                <a:latin typeface="Menlo"/>
              </a:rPr>
              <a:t>  production.</a:t>
            </a:r>
          </a:p>
        </p:txBody>
      </p:sp>
      <p:sp>
        <p:nvSpPr>
          <p:cNvPr id="18" name="Rectangle 17"/>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Good (~9 tokens)</a:t>
            </a:r>
          </a:p>
        </p:txBody>
      </p:sp>
      <p:sp>
        <p:nvSpPr>
          <p:cNvPr id="21" name="Rounded Rectangle 20"/>
          <p:cNvSpPr/>
          <p:nvPr/>
        </p:nvSpPr>
        <p:spPr>
          <a:xfrm>
            <a:off x="6507327" y="2231136"/>
            <a:ext cx="4907127" cy="9296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35927" y="2459736"/>
            <a:ext cx="4449927" cy="472439"/>
          </a:xfrm>
          <a:prstGeom prst="rect">
            <a:avLst/>
          </a:prstGeom>
          <a:noFill/>
        </p:spPr>
        <p:txBody>
          <a:bodyPr wrap="square" lIns="0" rIns="0" tIns="0" bIns="0" anchor="t">
            <a:noAutofit/>
          </a:bodyPr>
          <a:lstStyle/>
          <a:p>
            <a:pPr algn="l">
              <a:lnSpc>
                <a:spcPct val="100000"/>
              </a:lnSpc>
            </a:pPr>
            <a:r>
              <a:rPr sz="1400" i="0" b="0">
                <a:solidFill>
                  <a:srgbClr val="E2E8F0"/>
                </a:solidFill>
                <a:latin typeface="Menlo"/>
              </a:rPr>
              <a:t>description: Use when deploying to</a:t>
            </a:r>
          </a:p>
          <a:p>
            <a:pPr algn="l">
              <a:lnSpc>
                <a:spcPct val="100000"/>
              </a:lnSpc>
            </a:pPr>
            <a:r>
              <a:rPr sz="1400" i="0" b="0">
                <a:solidFill>
                  <a:srgbClr val="E2E8F0"/>
                </a:solidFill>
                <a:latin typeface="Menlo"/>
              </a:rPr>
              <a:t>  production or rolling back.</a:t>
            </a:r>
          </a:p>
        </p:txBody>
      </p:sp>
      <p:sp>
        <p:nvSpPr>
          <p:cNvPr id="23" name="Rectangle 22"/>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Plus: when NOT to use it, and what instead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F7490"/>
                </a:solidFill>
                <a:latin typeface="Helvetica Neue"/>
              </a:rPr>
              <a:t>PART 3</a:t>
            </a:r>
          </a:p>
        </p:txBody>
      </p:sp>
      <p:sp>
        <p:nvSpPr>
          <p:cNvPr id="4" name="TextBox 3"/>
          <p:cNvSpPr txBox="1"/>
          <p:nvPr/>
        </p:nvSpPr>
        <p:spPr>
          <a:xfrm>
            <a:off x="822960" y="1965960"/>
            <a:ext cx="5486400" cy="10210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Practice</a:t>
            </a:r>
          </a:p>
        </p:txBody>
      </p:sp>
      <p:sp>
        <p:nvSpPr>
          <p:cNvPr id="5" name="TextBox 4"/>
          <p:cNvSpPr txBox="1"/>
          <p:nvPr/>
        </p:nvSpPr>
        <p:spPr>
          <a:xfrm>
            <a:off x="822960" y="3078479"/>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Failure modes · Evaluating context · Putting it together</a:t>
            </a:r>
          </a:p>
        </p:txBody>
      </p:sp>
      <p:cxnSp>
        <p:nvCxnSpPr>
          <p:cNvPr id="6" name="Connector 5"/>
          <p:cNvCxnSpPr/>
          <p:nvPr/>
        </p:nvCxnSpPr>
        <p:spPr>
          <a:xfrm>
            <a:off x="6446520" y="1604645"/>
            <a:ext cx="0" cy="364871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604645"/>
            <a:ext cx="4693615" cy="3831589"/>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Five ways context fails</a:t>
            </a:r>
          </a:p>
          <a:p>
            <a:pPr algn="l">
              <a:lnSpc>
                <a:spcPct val="100000"/>
              </a:lnSpc>
              <a:spcBef>
                <a:spcPts val="1189"/>
              </a:spcBef>
            </a:pPr>
            <a:r>
              <a:rPr sz="1700" i="0" b="0">
                <a:solidFill>
                  <a:srgbClr val="CBD5E1"/>
                </a:solidFill>
                <a:latin typeface="Helvetica Neue"/>
              </a:rPr>
              <a:t>Prompt injection — layer the defenses</a:t>
            </a:r>
          </a:p>
          <a:p>
            <a:pPr algn="l">
              <a:lnSpc>
                <a:spcPct val="100000"/>
              </a:lnSpc>
              <a:spcBef>
                <a:spcPts val="1189"/>
              </a:spcBef>
            </a:pPr>
            <a:r>
              <a:rPr sz="1700" i="0" b="0">
                <a:solidFill>
                  <a:srgbClr val="CBD5E1"/>
                </a:solidFill>
                <a:latin typeface="Helvetica Neue"/>
              </a:rPr>
              <a:t>The diagnostic flow</a:t>
            </a:r>
          </a:p>
          <a:p>
            <a:pPr algn="l">
              <a:lnSpc>
                <a:spcPct val="100000"/>
              </a:lnSpc>
              <a:spcBef>
                <a:spcPts val="1189"/>
              </a:spcBef>
            </a:pPr>
            <a:r>
              <a:rPr sz="1700" i="0" b="0">
                <a:solidFill>
                  <a:srgbClr val="CBD5E1"/>
                </a:solidFill>
                <a:latin typeface="Helvetica Neue"/>
              </a:rPr>
              <a:t>Context evals instrument each stage</a:t>
            </a:r>
          </a:p>
          <a:p>
            <a:pPr algn="l">
              <a:lnSpc>
                <a:spcPct val="100000"/>
              </a:lnSpc>
              <a:spcBef>
                <a:spcPts val="1189"/>
              </a:spcBef>
            </a:pPr>
            <a:r>
              <a:rPr sz="1700" i="0" b="0">
                <a:solidFill>
                  <a:srgbClr val="CBD5E1"/>
                </a:solidFill>
                <a:latin typeface="Helvetica Neue"/>
              </a:rPr>
              <a:t>Ablation — the core context experiment</a:t>
            </a:r>
          </a:p>
          <a:p>
            <a:pPr algn="l">
              <a:lnSpc>
                <a:spcPct val="100000"/>
              </a:lnSpc>
              <a:spcBef>
                <a:spcPts val="1189"/>
              </a:spcBef>
            </a:pPr>
            <a:r>
              <a:rPr sz="1700" i="0" b="0">
                <a:solidFill>
                  <a:srgbClr val="CBD5E1"/>
                </a:solidFill>
                <a:latin typeface="Helvetica Neue"/>
              </a:rPr>
              <a:t>The maturity ladder — climb only when you must</a:t>
            </a:r>
          </a:p>
          <a:p>
            <a:pPr algn="l">
              <a:lnSpc>
                <a:spcPct val="100000"/>
              </a:lnSpc>
              <a:spcBef>
                <a:spcPts val="1189"/>
              </a:spcBef>
            </a:pPr>
            <a:r>
              <a:rPr sz="1700" i="0" b="0">
                <a:solidFill>
                  <a:srgbClr val="CBD5E1"/>
                </a:solidFill>
                <a:latin typeface="Helvetica Neue"/>
              </a:rPr>
              <a:t>Designing a context system — the order of questions</a:t>
            </a:r>
          </a:p>
          <a:p>
            <a:pPr algn="l">
              <a:lnSpc>
                <a:spcPct val="100000"/>
              </a:lnSpc>
              <a:spcBef>
                <a:spcPts val="1189"/>
              </a:spcBef>
            </a:pPr>
            <a:r>
              <a:rPr sz="1700" i="0" b="0">
                <a:solidFill>
                  <a:srgbClr val="CBD5E1"/>
                </a:solidFill>
                <a:latin typeface="Helvetica Neue"/>
              </a:rPr>
              <a:t>Appendix: the speculative field track</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Five ways context fails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Window before weights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Practice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notes/11-failure-modes.md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Distinct causes with distinct fixes, routinely misdiagnosed as each other or as "the model isn't smart enough".</a:t>
            </a:r>
          </a:p>
        </p:txBody>
      </p:sp>
      <p:graphicFrame>
        <p:nvGraphicFramePr>
          <p:cNvPr id="13" name="Table 12"/>
          <p:cNvGraphicFramePr>
            <a:graphicFrameLocks noGrp="1"/>
          </p:cNvGraphicFramePr>
          <p:nvPr/>
        </p:nvGraphicFramePr>
        <p:xfrm>
          <a:off x="502920" y="1472184"/>
          <a:ext cx="11185854" cy="3468624"/>
        </p:xfrm>
        <a:graphic>
          <a:graphicData uri="http://schemas.openxmlformats.org/drawingml/2006/table">
            <a:tbl>
              <a:tblPr firstRow="1" bandRow="1">
                <a:tableStyleId>{5940675A-B579-460E-94D1-54222C63F5DA}</a:tableStyleId>
              </a:tblPr>
              <a:tblGrid>
                <a:gridCol w="2013453"/>
                <a:gridCol w="4474342"/>
                <a:gridCol w="4698059"/>
              </a:tblGrid>
              <a:tr h="405384">
                <a:tc>
                  <a:txBody>
                    <a:bodyPr wrap="square"/>
                    <a:lstStyle/>
                    <a:p>
                      <a:pPr>
                        <a:lnSpc>
                          <a:spcPct val="100000"/>
                        </a:lnSpc>
                      </a:pPr>
                      <a:r>
                        <a:rPr sz="1700" i="0" b="1">
                          <a:solidFill>
                            <a:srgbClr val="FFFFFF"/>
                          </a:solidFill>
                          <a:latin typeface="Helvetica Neue"/>
                        </a:rPr>
                        <a:t>Failure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Mechanism</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Signature</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Rot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Occupancy grows; recall degrades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Right earlier, wrong later; facts present but unused</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Poisoning</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 false statement is treated as ground truth</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Confidently builds on something wrong</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Distraction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Marginal content crowds out signal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Answers an adjacent question</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Clash</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Two contradictory pieces coexist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Inconsistent answers; arbitrary resolution</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Injection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Adversarial instructions arrive as data</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Follows instructions the operator never gave</a:t>
                      </a:r>
                    </a:p>
                  </a:txBody>
                  <a:tcPr marL="109728" marR="109728" marT="54864" marB="54864" anchor="ctr">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Prompt injection — layer the defenses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Context has no type system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Practice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notes/11-failure-modes.md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Every context-level defense is probabilistic. Only code-level controls are guarantees.</a:t>
            </a:r>
          </a:p>
        </p:txBody>
      </p:sp>
      <p:sp>
        <p:nvSpPr>
          <p:cNvPr id="13" name="Rectangle 12"/>
          <p:cNvSpPr/>
          <p:nvPr/>
        </p:nvSpPr>
        <p:spPr>
          <a:xfrm>
            <a:off x="1645920" y="1472184"/>
            <a:ext cx="10042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810512" y="1532382"/>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10512" y="1532382"/>
            <a:ext cx="457200" cy="457200"/>
          </a:xfrm>
          <a:prstGeom prst="rect">
            <a:avLst/>
          </a:prstGeom>
          <a:noFill/>
        </p:spPr>
        <p:txBody>
          <a:bodyPr wrap="square" lIns="0" rIns="0" tIns="0" bIns="0" anchor="ctr">
            <a:noAutofit/>
          </a:bodyPr>
          <a:lstStyle/>
          <a:p>
            <a:pPr algn="ctr">
              <a:lnSpc>
                <a:spcPct val="110000"/>
              </a:lnSpc>
            </a:pPr>
            <a:r>
              <a:rPr sz="1300" i="0" b="1">
                <a:solidFill>
                  <a:srgbClr val="FFFFFF"/>
                </a:solidFill>
                <a:latin typeface="Helvetica Neue"/>
              </a:rPr>
              <a:t>1</a:t>
            </a:r>
          </a:p>
        </p:txBody>
      </p:sp>
      <p:sp>
        <p:nvSpPr>
          <p:cNvPr id="16" name="TextBox 15"/>
          <p:cNvSpPr txBox="1"/>
          <p:nvPr/>
        </p:nvSpPr>
        <p:spPr>
          <a:xfrm>
            <a:off x="2468879" y="1472184"/>
            <a:ext cx="9037015" cy="577595"/>
          </a:xfrm>
          <a:prstGeom prst="rect">
            <a:avLst/>
          </a:prstGeom>
          <a:noFill/>
        </p:spPr>
        <p:txBody>
          <a:bodyPr wrap="square" lIns="0" rIns="0" tIns="0" bIns="0" anchor="ctr">
            <a:noAutofit/>
          </a:bodyPr>
          <a:lstStyle/>
          <a:p>
            <a:pPr algn="l">
              <a:lnSpc>
                <a:spcPct val="110000"/>
              </a:lnSpc>
            </a:pPr>
            <a:r>
              <a:rPr sz="1500" i="0" b="1">
                <a:solidFill>
                  <a:srgbClr val="1E293B"/>
                </a:solidFill>
                <a:latin typeface="Helvetica Neue"/>
              </a:rPr>
              <a:t>Structural delimiting</a:t>
            </a:r>
            <a:r>
              <a:rPr sz="1500" i="0" b="0">
                <a:solidFill>
                  <a:srgbClr val="475569"/>
                </a:solidFill>
                <a:latin typeface="Helvetica Neue"/>
              </a:rPr>
              <a:t> — wrap untrusted content in tags; it is data, never instructions</a:t>
            </a:r>
          </a:p>
        </p:txBody>
      </p:sp>
      <p:sp>
        <p:nvSpPr>
          <p:cNvPr id="17" name="Rectangle 16"/>
          <p:cNvSpPr/>
          <p:nvPr/>
        </p:nvSpPr>
        <p:spPr>
          <a:xfrm>
            <a:off x="1645920" y="2159508"/>
            <a:ext cx="10042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810512" y="2219706"/>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10512" y="2219706"/>
            <a:ext cx="457200" cy="457200"/>
          </a:xfrm>
          <a:prstGeom prst="rect">
            <a:avLst/>
          </a:prstGeom>
          <a:noFill/>
        </p:spPr>
        <p:txBody>
          <a:bodyPr wrap="square" lIns="0" rIns="0" tIns="0" bIns="0" anchor="ctr">
            <a:noAutofit/>
          </a:bodyPr>
          <a:lstStyle/>
          <a:p>
            <a:pPr algn="ctr">
              <a:lnSpc>
                <a:spcPct val="110000"/>
              </a:lnSpc>
            </a:pPr>
            <a:r>
              <a:rPr sz="1300" i="0" b="1">
                <a:solidFill>
                  <a:srgbClr val="FFFFFF"/>
                </a:solidFill>
                <a:latin typeface="Helvetica Neue"/>
              </a:rPr>
              <a:t>2</a:t>
            </a:r>
          </a:p>
        </p:txBody>
      </p:sp>
      <p:sp>
        <p:nvSpPr>
          <p:cNvPr id="20" name="TextBox 19"/>
          <p:cNvSpPr txBox="1"/>
          <p:nvPr/>
        </p:nvSpPr>
        <p:spPr>
          <a:xfrm>
            <a:off x="2468879" y="2159508"/>
            <a:ext cx="9037015" cy="577595"/>
          </a:xfrm>
          <a:prstGeom prst="rect">
            <a:avLst/>
          </a:prstGeom>
          <a:noFill/>
        </p:spPr>
        <p:txBody>
          <a:bodyPr wrap="square" lIns="0" rIns="0" tIns="0" bIns="0" anchor="ctr">
            <a:noAutofit/>
          </a:bodyPr>
          <a:lstStyle/>
          <a:p>
            <a:pPr algn="l">
              <a:lnSpc>
                <a:spcPct val="110000"/>
              </a:lnSpc>
            </a:pPr>
            <a:r>
              <a:rPr sz="1500" i="0" b="1">
                <a:solidFill>
                  <a:srgbClr val="1E293B"/>
                </a:solidFill>
                <a:latin typeface="Helvetica Neue"/>
              </a:rPr>
              <a:t>Trust zones</a:t>
            </a:r>
            <a:r>
              <a:rPr sz="1500" i="0" b="0">
                <a:solidFill>
                  <a:srgbClr val="475569"/>
                </a:solidFill>
                <a:latin typeface="Helvetica Neue"/>
              </a:rPr>
              <a:t> — never promote a zone implicitly</a:t>
            </a:r>
          </a:p>
        </p:txBody>
      </p:sp>
      <p:sp>
        <p:nvSpPr>
          <p:cNvPr id="21" name="Rectangle 20"/>
          <p:cNvSpPr/>
          <p:nvPr/>
        </p:nvSpPr>
        <p:spPr>
          <a:xfrm>
            <a:off x="1645920" y="2846832"/>
            <a:ext cx="10042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810512" y="2907030"/>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10512" y="2907030"/>
            <a:ext cx="457200" cy="457200"/>
          </a:xfrm>
          <a:prstGeom prst="rect">
            <a:avLst/>
          </a:prstGeom>
          <a:noFill/>
        </p:spPr>
        <p:txBody>
          <a:bodyPr wrap="square" lIns="0" rIns="0" tIns="0" bIns="0" anchor="ctr">
            <a:noAutofit/>
          </a:bodyPr>
          <a:lstStyle/>
          <a:p>
            <a:pPr algn="ctr">
              <a:lnSpc>
                <a:spcPct val="110000"/>
              </a:lnSpc>
            </a:pPr>
            <a:r>
              <a:rPr sz="1300" i="0" b="1">
                <a:solidFill>
                  <a:srgbClr val="FFFFFF"/>
                </a:solidFill>
                <a:latin typeface="Helvetica Neue"/>
              </a:rPr>
              <a:t>3</a:t>
            </a:r>
          </a:p>
        </p:txBody>
      </p:sp>
      <p:sp>
        <p:nvSpPr>
          <p:cNvPr id="24" name="TextBox 23"/>
          <p:cNvSpPr txBox="1"/>
          <p:nvPr/>
        </p:nvSpPr>
        <p:spPr>
          <a:xfrm>
            <a:off x="2468879" y="2846832"/>
            <a:ext cx="9037015" cy="577595"/>
          </a:xfrm>
          <a:prstGeom prst="rect">
            <a:avLst/>
          </a:prstGeom>
          <a:noFill/>
        </p:spPr>
        <p:txBody>
          <a:bodyPr wrap="square" lIns="0" rIns="0" tIns="0" bIns="0" anchor="ctr">
            <a:noAutofit/>
          </a:bodyPr>
          <a:lstStyle/>
          <a:p>
            <a:pPr algn="l">
              <a:lnSpc>
                <a:spcPct val="110000"/>
              </a:lnSpc>
            </a:pPr>
            <a:r>
              <a:rPr sz="1500" i="0" b="1">
                <a:solidFill>
                  <a:srgbClr val="1E293B"/>
                </a:solidFill>
                <a:latin typeface="Helvetica Neue"/>
              </a:rPr>
              <a:t>Instruction hierarchy</a:t>
            </a:r>
            <a:r>
              <a:rPr sz="1500" i="0" b="0">
                <a:solidFill>
                  <a:srgbClr val="475569"/>
                </a:solidFill>
                <a:latin typeface="Helvetica Neue"/>
              </a:rPr>
              <a:t> — the system prompt outranks retrieved content, unconditionally</a:t>
            </a:r>
          </a:p>
        </p:txBody>
      </p:sp>
      <p:sp>
        <p:nvSpPr>
          <p:cNvPr id="25" name="Rectangle 24"/>
          <p:cNvSpPr/>
          <p:nvPr/>
        </p:nvSpPr>
        <p:spPr>
          <a:xfrm>
            <a:off x="1645920" y="3534156"/>
            <a:ext cx="10042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810512" y="3594354"/>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10512" y="3594354"/>
            <a:ext cx="457200" cy="457200"/>
          </a:xfrm>
          <a:prstGeom prst="rect">
            <a:avLst/>
          </a:prstGeom>
          <a:noFill/>
        </p:spPr>
        <p:txBody>
          <a:bodyPr wrap="square" lIns="0" rIns="0" tIns="0" bIns="0" anchor="ctr">
            <a:noAutofit/>
          </a:bodyPr>
          <a:lstStyle/>
          <a:p>
            <a:pPr algn="ctr">
              <a:lnSpc>
                <a:spcPct val="110000"/>
              </a:lnSpc>
            </a:pPr>
            <a:r>
              <a:rPr sz="1300" i="0" b="1">
                <a:solidFill>
                  <a:srgbClr val="FFFFFF"/>
                </a:solidFill>
                <a:latin typeface="Helvetica Neue"/>
              </a:rPr>
              <a:t>4</a:t>
            </a:r>
          </a:p>
        </p:txBody>
      </p:sp>
      <p:sp>
        <p:nvSpPr>
          <p:cNvPr id="28" name="TextBox 27"/>
          <p:cNvSpPr txBox="1"/>
          <p:nvPr/>
        </p:nvSpPr>
        <p:spPr>
          <a:xfrm>
            <a:off x="2468879" y="3534156"/>
            <a:ext cx="9037015" cy="577595"/>
          </a:xfrm>
          <a:prstGeom prst="rect">
            <a:avLst/>
          </a:prstGeom>
          <a:noFill/>
        </p:spPr>
        <p:txBody>
          <a:bodyPr wrap="square" lIns="0" rIns="0" tIns="0" bIns="0" anchor="ctr">
            <a:noAutofit/>
          </a:bodyPr>
          <a:lstStyle/>
          <a:p>
            <a:pPr algn="l">
              <a:lnSpc>
                <a:spcPct val="110000"/>
              </a:lnSpc>
            </a:pPr>
            <a:r>
              <a:rPr sz="1500" i="0" b="1">
                <a:solidFill>
                  <a:srgbClr val="1E293B"/>
                </a:solidFill>
                <a:latin typeface="Helvetica Neue"/>
              </a:rPr>
              <a:t>Isolation</a:t>
            </a:r>
            <a:r>
              <a:rPr sz="1500" i="0" b="0">
                <a:solidFill>
                  <a:srgbClr val="475569"/>
                </a:solidFill>
                <a:latin typeface="Helvetica Neue"/>
              </a:rPr>
              <a:t> — untrusted content in a discarded sub-agent window; its summary is data too</a:t>
            </a:r>
          </a:p>
        </p:txBody>
      </p:sp>
      <p:sp>
        <p:nvSpPr>
          <p:cNvPr id="29" name="Rectangle 28"/>
          <p:cNvSpPr/>
          <p:nvPr/>
        </p:nvSpPr>
        <p:spPr>
          <a:xfrm>
            <a:off x="1645920" y="4221480"/>
            <a:ext cx="10042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810512" y="4281677"/>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10512" y="4281677"/>
            <a:ext cx="457200" cy="457200"/>
          </a:xfrm>
          <a:prstGeom prst="rect">
            <a:avLst/>
          </a:prstGeom>
          <a:noFill/>
        </p:spPr>
        <p:txBody>
          <a:bodyPr wrap="square" lIns="0" rIns="0" tIns="0" bIns="0" anchor="ctr">
            <a:noAutofit/>
          </a:bodyPr>
          <a:lstStyle/>
          <a:p>
            <a:pPr algn="ctr">
              <a:lnSpc>
                <a:spcPct val="110000"/>
              </a:lnSpc>
            </a:pPr>
            <a:r>
              <a:rPr sz="1300" i="0" b="1">
                <a:solidFill>
                  <a:srgbClr val="FFFFFF"/>
                </a:solidFill>
                <a:latin typeface="Helvetica Neue"/>
              </a:rPr>
              <a:t>★</a:t>
            </a:r>
          </a:p>
        </p:txBody>
      </p:sp>
      <p:sp>
        <p:nvSpPr>
          <p:cNvPr id="32" name="TextBox 31"/>
          <p:cNvSpPr txBox="1"/>
          <p:nvPr/>
        </p:nvSpPr>
        <p:spPr>
          <a:xfrm>
            <a:off x="2468879" y="4221480"/>
            <a:ext cx="9037015" cy="577595"/>
          </a:xfrm>
          <a:prstGeom prst="rect">
            <a:avLst/>
          </a:prstGeom>
          <a:noFill/>
        </p:spPr>
        <p:txBody>
          <a:bodyPr wrap="square" lIns="0" rIns="0" tIns="0" bIns="0" anchor="ctr">
            <a:noAutofit/>
          </a:bodyPr>
          <a:lstStyle/>
          <a:p>
            <a:pPr algn="l">
              <a:lnSpc>
                <a:spcPct val="110000"/>
              </a:lnSpc>
            </a:pPr>
            <a:r>
              <a:rPr sz="1500" i="0" b="1">
                <a:solidFill>
                  <a:srgbClr val="1E293B"/>
                </a:solidFill>
                <a:latin typeface="Helvetica Neue"/>
              </a:rPr>
              <a:t>Code-level enforcement</a:t>
            </a:r>
            <a:r>
              <a:rPr sz="1500" i="0" b="0">
                <a:solidFill>
                  <a:srgbClr val="475569"/>
                </a:solidFill>
                <a:latin typeface="Helvetica Neue"/>
              </a:rPr>
              <a:t> — a permission hook can't be talked out of denying a write</a:t>
            </a:r>
          </a:p>
        </p:txBody>
      </p:sp>
      <p:sp>
        <p:nvSpPr>
          <p:cNvPr id="33" name="Rectangle 32"/>
          <p:cNvSpPr/>
          <p:nvPr/>
        </p:nvSpPr>
        <p:spPr>
          <a:xfrm>
            <a:off x="1645920" y="4908804"/>
            <a:ext cx="10042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810512" y="4969001"/>
            <a:ext cx="457200" cy="457200"/>
          </a:xfrm>
          <a:prstGeom prst="ellipse">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10512" y="4969001"/>
            <a:ext cx="457200" cy="457200"/>
          </a:xfrm>
          <a:prstGeom prst="rect">
            <a:avLst/>
          </a:prstGeom>
          <a:noFill/>
        </p:spPr>
        <p:txBody>
          <a:bodyPr wrap="square" lIns="0" rIns="0" tIns="0" bIns="0" anchor="ctr">
            <a:noAutofit/>
          </a:bodyPr>
          <a:lstStyle/>
          <a:p>
            <a:pPr algn="ctr">
              <a:lnSpc>
                <a:spcPct val="110000"/>
              </a:lnSpc>
            </a:pPr>
            <a:r>
              <a:rPr sz="1300" i="0" b="1">
                <a:solidFill>
                  <a:srgbClr val="FFFFFF"/>
                </a:solidFill>
                <a:latin typeface="Helvetica Neue"/>
              </a:rPr>
              <a:t>6</a:t>
            </a:r>
          </a:p>
        </p:txBody>
      </p:sp>
      <p:sp>
        <p:nvSpPr>
          <p:cNvPr id="36" name="TextBox 35"/>
          <p:cNvSpPr txBox="1"/>
          <p:nvPr/>
        </p:nvSpPr>
        <p:spPr>
          <a:xfrm>
            <a:off x="2468879" y="4908804"/>
            <a:ext cx="9037015" cy="577595"/>
          </a:xfrm>
          <a:prstGeom prst="rect">
            <a:avLst/>
          </a:prstGeom>
          <a:noFill/>
        </p:spPr>
        <p:txBody>
          <a:bodyPr wrap="square" lIns="0" rIns="0" tIns="0" bIns="0" anchor="ctr">
            <a:noAutofit/>
          </a:bodyPr>
          <a:lstStyle/>
          <a:p>
            <a:pPr algn="l">
              <a:lnSpc>
                <a:spcPct val="110000"/>
              </a:lnSpc>
            </a:pPr>
            <a:r>
              <a:rPr sz="1500" i="0" b="1">
                <a:solidFill>
                  <a:srgbClr val="1E293B"/>
                </a:solidFill>
                <a:latin typeface="Helvetica Neue"/>
              </a:rPr>
              <a:t>Egress control</a:t>
            </a:r>
            <a:r>
              <a:rPr sz="1500" i="0" b="0">
                <a:solidFill>
                  <a:srgbClr val="475569"/>
                </a:solidFill>
                <a:latin typeface="Helvetica Neue"/>
              </a:rPr>
              <a:t> — allowlists, confirmation gates, no credentials in reachable context</a:t>
            </a:r>
          </a:p>
        </p:txBody>
      </p:sp>
      <p:sp>
        <p:nvSpPr>
          <p:cNvPr id="37" name="TextBox 36"/>
          <p:cNvSpPr txBox="1"/>
          <p:nvPr/>
        </p:nvSpPr>
        <p:spPr>
          <a:xfrm>
            <a:off x="502920" y="1472184"/>
            <a:ext cx="1005840" cy="502920"/>
          </a:xfrm>
          <a:prstGeom prst="rect">
            <a:avLst/>
          </a:prstGeom>
          <a:noFill/>
        </p:spPr>
        <p:txBody>
          <a:bodyPr wrap="square" lIns="0" rIns="0" tIns="0" bIns="0" anchor="b">
            <a:noAutofit/>
          </a:bodyPr>
          <a:lstStyle/>
          <a:p>
            <a:pPr algn="ctr">
              <a:lnSpc>
                <a:spcPct val="110000"/>
              </a:lnSpc>
            </a:pPr>
            <a:r>
              <a:rPr sz="1200" i="1" b="0">
                <a:solidFill>
                  <a:srgbClr val="94A3B8"/>
                </a:solidFill>
                <a:latin typeface="Helvetica Neue"/>
              </a:rPr>
              <a:t>probabilistic</a:t>
            </a:r>
          </a:p>
        </p:txBody>
      </p:sp>
      <p:sp>
        <p:nvSpPr>
          <p:cNvPr id="38" name="TextBox 37"/>
          <p:cNvSpPr txBox="1"/>
          <p:nvPr/>
        </p:nvSpPr>
        <p:spPr>
          <a:xfrm>
            <a:off x="502920" y="4983480"/>
            <a:ext cx="1005840" cy="50292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guaranteed</a:t>
            </a:r>
          </a:p>
        </p:txBody>
      </p:sp>
      <p:cxnSp>
        <p:nvCxnSpPr>
          <p:cNvPr id="39" name="Connector 38"/>
          <p:cNvCxnSpPr/>
          <p:nvPr/>
        </p:nvCxnSpPr>
        <p:spPr>
          <a:xfrm>
            <a:off x="1005840" y="2066544"/>
            <a:ext cx="0" cy="2825496"/>
          </a:xfrm>
          <a:prstGeom prst="line">
            <a:avLst/>
          </a:prstGeom>
          <a:ln w="2857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diagnostic flow</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When an agent misbehaves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Practice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notes/11-failure-modes.md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Step 5 is the one that gets skipped. It separates a context problem from a prompt problem.</a:t>
            </a:r>
          </a:p>
        </p:txBody>
      </p:sp>
      <p:sp>
        <p:nvSpPr>
          <p:cNvPr id="13" name="Rectangle 12"/>
          <p:cNvSpPr/>
          <p:nvPr/>
        </p:nvSpPr>
        <p:spPr>
          <a:xfrm>
            <a:off x="502920" y="1472184"/>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7512" y="1601114"/>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160111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6" name="TextBox 15"/>
          <p:cNvSpPr txBox="1"/>
          <p:nvPr/>
        </p:nvSpPr>
        <p:spPr>
          <a:xfrm>
            <a:off x="1325880" y="1472184"/>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Print the actual window</a:t>
            </a:r>
            <a:r>
              <a:rPr sz="1800" i="0" b="0">
                <a:solidFill>
                  <a:srgbClr val="475569"/>
                </a:solidFill>
                <a:latin typeface="Helvetica Neue"/>
              </a:rPr>
              <a:t> — what was sent, not what you think you assembled. Most bugs are assembly bugs</a:t>
            </a:r>
          </a:p>
        </p:txBody>
      </p:sp>
      <p:sp>
        <p:nvSpPr>
          <p:cNvPr id="17" name="Rectangle 16"/>
          <p:cNvSpPr/>
          <p:nvPr/>
        </p:nvSpPr>
        <p:spPr>
          <a:xfrm>
            <a:off x="502920" y="2296972"/>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7512" y="2425903"/>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242590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20" name="TextBox 19"/>
          <p:cNvSpPr txBox="1"/>
          <p:nvPr/>
        </p:nvSpPr>
        <p:spPr>
          <a:xfrm>
            <a:off x="1325880" y="2296972"/>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Check occupancy</a:t>
            </a:r>
            <a:r>
              <a:rPr sz="1800" i="0" b="0">
                <a:solidFill>
                  <a:srgbClr val="475569"/>
                </a:solidFill>
                <a:latin typeface="Helvetica Neue"/>
              </a:rPr>
              <a:t> — above ~50%, suspect rot and distraction first</a:t>
            </a:r>
          </a:p>
        </p:txBody>
      </p:sp>
      <p:sp>
        <p:nvSpPr>
          <p:cNvPr id="21" name="Rectangle 20"/>
          <p:cNvSpPr/>
          <p:nvPr/>
        </p:nvSpPr>
        <p:spPr>
          <a:xfrm>
            <a:off x="502920" y="3121761"/>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67512" y="3250691"/>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325069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4" name="TextBox 23"/>
          <p:cNvSpPr txBox="1"/>
          <p:nvPr/>
        </p:nvSpPr>
        <p:spPr>
          <a:xfrm>
            <a:off x="1325880" y="3121761"/>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Search for contradictions</a:t>
            </a:r>
            <a:r>
              <a:rPr sz="1800" i="0" b="0">
                <a:solidFill>
                  <a:srgbClr val="475569"/>
                </a:solidFill>
                <a:latin typeface="Helvetica Neue"/>
              </a:rPr>
              <a:t> — the wrong claim appears twice with different values → clash</a:t>
            </a:r>
          </a:p>
        </p:txBody>
      </p:sp>
      <p:sp>
        <p:nvSpPr>
          <p:cNvPr id="25" name="Rectangle 24"/>
          <p:cNvSpPr/>
          <p:nvPr/>
        </p:nvSpPr>
        <p:spPr>
          <a:xfrm>
            <a:off x="502920" y="3946550"/>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512" y="4075480"/>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4075480"/>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8" name="TextBox 27"/>
          <p:cNvSpPr txBox="1"/>
          <p:nvPr/>
        </p:nvSpPr>
        <p:spPr>
          <a:xfrm>
            <a:off x="1325880" y="3946550"/>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Check provenance</a:t>
            </a:r>
            <a:r>
              <a:rPr sz="1800" i="0" b="0">
                <a:solidFill>
                  <a:srgbClr val="475569"/>
                </a:solidFill>
                <a:latin typeface="Helvetica Neue"/>
              </a:rPr>
              <a:t> — no legitimate source for the wrong fact → poisoning or injection</a:t>
            </a:r>
          </a:p>
        </p:txBody>
      </p:sp>
      <p:sp>
        <p:nvSpPr>
          <p:cNvPr id="29" name="Rectangle 28"/>
          <p:cNvSpPr/>
          <p:nvPr/>
        </p:nvSpPr>
        <p:spPr>
          <a:xfrm>
            <a:off x="502920" y="4771339"/>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7512" y="4900269"/>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 y="490026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5</a:t>
            </a:r>
          </a:p>
        </p:txBody>
      </p:sp>
      <p:sp>
        <p:nvSpPr>
          <p:cNvPr id="32" name="TextBox 31"/>
          <p:cNvSpPr txBox="1"/>
          <p:nvPr/>
        </p:nvSpPr>
        <p:spPr>
          <a:xfrm>
            <a:off x="1325880" y="4771339"/>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Test in isolation</a:t>
            </a:r>
            <a:r>
              <a:rPr sz="1800" i="0" b="0">
                <a:solidFill>
                  <a:srgbClr val="475569"/>
                </a:solidFill>
                <a:latin typeface="Helvetica Neue"/>
              </a:rPr>
              <a:t> — same task, minimal context. Works → context problem. Fails → prompt or capability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Context evals instrument each stage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failure chain</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Practice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notes/12-evaluating-context.md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41</a:t>
            </a:r>
          </a:p>
        </p:txBody>
      </p:sp>
      <p:sp>
        <p:nvSpPr>
          <p:cNvPr id="10" name="Rounded Rectangle 9"/>
          <p:cNvSpPr/>
          <p:nvPr/>
        </p:nvSpPr>
        <p:spPr>
          <a:xfrm>
            <a:off x="586587" y="1563624"/>
            <a:ext cx="2377440"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374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Exists?</a:t>
            </a:r>
          </a:p>
          <a:p>
            <a:pPr algn="ctr">
              <a:lnSpc>
                <a:spcPct val="110000"/>
              </a:lnSpc>
            </a:pPr>
            <a:r>
              <a:rPr sz="1300" i="0" b="0">
                <a:solidFill>
                  <a:srgbClr val="E8F4F8"/>
                </a:solidFill>
                <a:latin typeface="Helvetica Neue"/>
              </a:rPr>
              <a:t>corpus</a:t>
            </a:r>
          </a:p>
        </p:txBody>
      </p:sp>
      <p:cxnSp>
        <p:nvCxnSpPr>
          <p:cNvPr id="12" name="Connector 11"/>
          <p:cNvCxnSpPr/>
          <p:nvPr/>
        </p:nvCxnSpPr>
        <p:spPr>
          <a:xfrm>
            <a:off x="301889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66947" y="1563624"/>
            <a:ext cx="2377440"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0410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Retrieved?</a:t>
            </a:r>
          </a:p>
          <a:p>
            <a:pPr algn="ctr">
              <a:lnSpc>
                <a:spcPct val="110000"/>
              </a:lnSpc>
            </a:pPr>
            <a:r>
              <a:rPr sz="1300" i="0" b="0">
                <a:solidFill>
                  <a:srgbClr val="E8F4F8"/>
                </a:solidFill>
                <a:latin typeface="Helvetica Neue"/>
              </a:rPr>
              <a:t>select</a:t>
            </a:r>
          </a:p>
        </p:txBody>
      </p:sp>
      <p:cxnSp>
        <p:nvCxnSpPr>
          <p:cNvPr id="15" name="Connector 14"/>
          <p:cNvCxnSpPr/>
          <p:nvPr/>
        </p:nvCxnSpPr>
        <p:spPr>
          <a:xfrm>
            <a:off x="589925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347307" y="1563624"/>
            <a:ext cx="2377440" cy="1205484"/>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446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Survived?</a:t>
            </a:r>
          </a:p>
          <a:p>
            <a:pPr algn="ctr">
              <a:lnSpc>
                <a:spcPct val="110000"/>
              </a:lnSpc>
            </a:pPr>
            <a:r>
              <a:rPr sz="1300" i="0" b="0">
                <a:solidFill>
                  <a:srgbClr val="E8F4F8"/>
                </a:solidFill>
                <a:latin typeface="Helvetica Neue"/>
              </a:rPr>
              <a:t>budget, compaction, order</a:t>
            </a:r>
          </a:p>
        </p:txBody>
      </p:sp>
      <p:cxnSp>
        <p:nvCxnSpPr>
          <p:cNvPr id="18" name="Connector 17"/>
          <p:cNvCxnSpPr/>
          <p:nvPr/>
        </p:nvCxnSpPr>
        <p:spPr>
          <a:xfrm>
            <a:off x="877961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227667" y="1563624"/>
            <a:ext cx="2377440"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6482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Used?</a:t>
            </a:r>
          </a:p>
          <a:p>
            <a:pPr algn="ctr">
              <a:lnSpc>
                <a:spcPct val="110000"/>
              </a:lnSpc>
            </a:pPr>
            <a:r>
              <a:rPr sz="1300" i="0" b="0">
                <a:solidFill>
                  <a:srgbClr val="E8F4F8"/>
                </a:solidFill>
                <a:latin typeface="Helvetica Neue"/>
              </a:rPr>
              <a:t>faithfulness</a:t>
            </a:r>
          </a:p>
        </p:txBody>
      </p:sp>
      <p:sp>
        <p:nvSpPr>
          <p:cNvPr id="21" name="Rectangle 20"/>
          <p:cNvSpPr/>
          <p:nvPr/>
        </p:nvSpPr>
        <p:spPr>
          <a:xfrm>
            <a:off x="502920" y="3180842"/>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089148"/>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Select:</a:t>
            </a:r>
            <a:r>
              <a:rPr sz="1900" i="0" b="0">
                <a:solidFill>
                  <a:srgbClr val="1E293B"/>
                </a:solidFill>
                <a:latin typeface="Helvetica Neue"/>
              </a:rPr>
              <a:t> recall@k, precision@k, MRR</a:t>
            </a:r>
          </a:p>
        </p:txBody>
      </p:sp>
      <p:sp>
        <p:nvSpPr>
          <p:cNvPr id="23" name="Rectangle 22"/>
          <p:cNvSpPr/>
          <p:nvPr/>
        </p:nvSpPr>
        <p:spPr>
          <a:xfrm>
            <a:off x="502920" y="3644138"/>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552444"/>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Use:</a:t>
            </a:r>
            <a:r>
              <a:rPr sz="1900" i="0" b="0">
                <a:solidFill>
                  <a:srgbClr val="1E293B"/>
                </a:solidFill>
                <a:latin typeface="Helvetica Neue"/>
              </a:rPr>
              <a:t> faithfulness, context utilisation, citation accuracy. Faithful ≠ correct</a:t>
            </a:r>
          </a:p>
        </p:txBody>
      </p:sp>
      <p:sp>
        <p:nvSpPr>
          <p:cNvPr id="25" name="Rectangle 24"/>
          <p:cNvSpPr/>
          <p:nvPr/>
        </p:nvSpPr>
        <p:spPr>
          <a:xfrm>
            <a:off x="502920" y="4107433"/>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015740"/>
            <a:ext cx="10865815"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Compress:</a:t>
            </a:r>
            <a:r>
              <a:rPr sz="1900" i="0" b="0">
                <a:solidFill>
                  <a:srgbClr val="1E293B"/>
                </a:solidFill>
                <a:latin typeface="Helvetica Neue"/>
              </a:rPr>
              <a:t> plant N facts, compact, ask for each. A ratio means nothing without retention</a:t>
            </a:r>
          </a:p>
        </p:txBody>
      </p:sp>
      <p:sp>
        <p:nvSpPr>
          <p:cNvPr id="27" name="Rectangle 26"/>
          <p:cNvSpPr/>
          <p:nvPr/>
        </p:nvSpPr>
        <p:spPr>
          <a:xfrm>
            <a:off x="502920" y="4889245"/>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797551"/>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Long context:</a:t>
            </a:r>
            <a:r>
              <a:rPr sz="1900" i="0" b="0">
                <a:solidFill>
                  <a:srgbClr val="1E293B"/>
                </a:solidFill>
                <a:latin typeface="Helvetica Neue"/>
              </a:rPr>
              <a:t> length sweep at 10/25/50/75%; the knee is your budget</a:t>
            </a:r>
          </a:p>
        </p:txBody>
      </p:sp>
      <p:sp>
        <p:nvSpPr>
          <p:cNvPr id="29" name="Rectangle 28"/>
          <p:cNvSpPr/>
          <p:nvPr/>
        </p:nvSpPr>
        <p:spPr>
          <a:xfrm>
            <a:off x="502920" y="5352541"/>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260848"/>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Cost:</a:t>
            </a:r>
            <a:r>
              <a:rPr sz="1900" i="0" b="0">
                <a:solidFill>
                  <a:srgbClr val="1E293B"/>
                </a:solidFill>
                <a:latin typeface="Helvetica Neue"/>
              </a:rPr>
              <a:t> report tokens per successful task next to accuracy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Ablation — the core context experiment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Set the budget by evidence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Practice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notes/12-evaluating-context.md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42</a:t>
            </a:r>
          </a:p>
        </p:txBody>
      </p:sp>
      <p:sp>
        <p:nvSpPr>
          <p:cNvPr id="10" name="TextBox 9"/>
          <p:cNvSpPr txBox="1"/>
          <p:nvPr/>
        </p:nvSpPr>
        <p:spPr>
          <a:xfrm>
            <a:off x="502920" y="1426464"/>
            <a:ext cx="11185855" cy="661416"/>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Remove one component, hold everything else fixed, re-run the eval set, record Δ quality and Δ tokens.</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Grow the eval set from failures: every production context bug becomes a regression case.</a:t>
            </a:r>
          </a:p>
        </p:txBody>
      </p:sp>
      <p:graphicFrame>
        <p:nvGraphicFramePr>
          <p:cNvPr id="14" name="Table 13"/>
          <p:cNvGraphicFramePr>
            <a:graphicFrameLocks noGrp="1"/>
          </p:cNvGraphicFramePr>
          <p:nvPr/>
        </p:nvGraphicFramePr>
        <p:xfrm>
          <a:off x="502920" y="2270760"/>
          <a:ext cx="11185854" cy="1621536"/>
        </p:xfrm>
        <a:graphic>
          <a:graphicData uri="http://schemas.openxmlformats.org/drawingml/2006/table">
            <a:tbl>
              <a:tblPr firstRow="1" bandRow="1">
                <a:tableStyleId>{5940675A-B579-460E-94D1-54222C63F5DA}</a:tableStyleId>
              </a:tblPr>
              <a:tblGrid>
                <a:gridCol w="3355756"/>
                <a:gridCol w="3355756"/>
                <a:gridCol w="4474342"/>
              </a:tblGrid>
              <a:tr h="405384">
                <a:tc>
                  <a:txBody>
                    <a:bodyPr wrap="square"/>
                    <a:lstStyle/>
                    <a:p>
                      <a:pPr>
                        <a:lnSpc>
                          <a:spcPct val="100000"/>
                        </a:lnSpc>
                      </a:pPr>
                      <a:r>
                        <a:rPr sz="1700" i="0" b="1">
                          <a:solidFill>
                            <a:srgbClr val="FFFFFF"/>
                          </a:solidFill>
                          <a:latin typeface="Helvetica Neue"/>
                        </a:rPr>
                        <a:t>Δ quality</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Δ tokens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Action</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 0</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large</a:t>
                      </a:r>
                    </a:p>
                  </a:txBody>
                  <a:tcPr marL="109728" marR="109728" marT="54864" marB="54864" anchor="ctr">
                    <a:solidFill>
                      <a:srgbClr val="E8F4F8"/>
                    </a:solidFill>
                  </a:tcPr>
                </a:tc>
                <a:tc>
                  <a:txBody>
                    <a:bodyPr wrap="square"/>
                    <a:lstStyle/>
                    <a:p>
                      <a:pPr>
                        <a:lnSpc>
                          <a:spcPct val="100000"/>
                        </a:lnSpc>
                      </a:pPr>
                      <a:r>
                        <a:rPr sz="1700" i="0" b="1">
                          <a:solidFill>
                            <a:srgbClr val="1E293B"/>
                          </a:solidFill>
                          <a:latin typeface="Helvetica Neue"/>
                        </a:rPr>
                        <a:t>Cut it</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Small drop</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large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Compress it</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Large drop</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any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Keep it; protect it from compaction</a:t>
                      </a:r>
                    </a:p>
                  </a:txBody>
                  <a:tcPr marL="109728" marR="109728" marT="54864" marB="54864"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The maturity ladder — climb only when you must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Putting it together</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Practice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notes/13-putting-it-together.md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Most production failures at level 4 are level-2 problems. Each rung multiplies cost and failure modes.</a:t>
            </a:r>
          </a:p>
        </p:txBody>
      </p:sp>
      <p:graphicFrame>
        <p:nvGraphicFramePr>
          <p:cNvPr id="13" name="Table 12"/>
          <p:cNvGraphicFramePr>
            <a:graphicFrameLocks noGrp="1"/>
          </p:cNvGraphicFramePr>
          <p:nvPr/>
        </p:nvGraphicFramePr>
        <p:xfrm>
          <a:off x="502920" y="1472184"/>
          <a:ext cx="11185854" cy="2432304"/>
        </p:xfrm>
        <a:graphic>
          <a:graphicData uri="http://schemas.openxmlformats.org/drawingml/2006/table">
            <a:tbl>
              <a:tblPr firstRow="1" bandRow="1">
                <a:tableStyleId>{5940675A-B579-460E-94D1-54222C63F5DA}</a:tableStyleId>
              </a:tblPr>
              <a:tblGrid>
                <a:gridCol w="2684605"/>
                <a:gridCol w="6040361"/>
                <a:gridCol w="2460888"/>
              </a:tblGrid>
              <a:tr h="405384">
                <a:tc>
                  <a:txBody>
                    <a:bodyPr wrap="square"/>
                    <a:lstStyle/>
                    <a:p>
                      <a:pPr>
                        <a:lnSpc>
                          <a:spcPct val="100000"/>
                        </a:lnSpc>
                      </a:pPr>
                      <a:r>
                        <a:rPr sz="1700" i="0" b="1">
                          <a:solidFill>
                            <a:srgbClr val="FFFFFF"/>
                          </a:solidFill>
                          <a:latin typeface="Helvetica Neue"/>
                        </a:rPr>
                        <a:t>Level</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What's in the window</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Chapters</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1 · Atom</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Task + constraints + output format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02</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2 · Molecule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 examples (few-shot)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02, 03</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3 · Cell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 memory carried across turns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05, 06</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4 · Organ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Specialised contexts under an orchestrator</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10</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5 · Cognitive system</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 reasoning tools, schemas, verification loops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07, 08</a:t>
                      </a:r>
                    </a:p>
                  </a:txBody>
                  <a:tcPr marL="109728" marR="109728" marT="54864" marB="54864" anchor="ctr">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100" i="0" b="1">
                <a:solidFill>
                  <a:srgbClr val="FFFFFF"/>
                </a:solidFill>
                <a:latin typeface="Helvetica Neue"/>
              </a:rPr>
              <a:t>Designing a context system — the order of questions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Putting it together</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Practice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notes/13-putting-it-together.md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44</a:t>
            </a:r>
          </a:p>
        </p:txBody>
      </p:sp>
      <p:sp>
        <p:nvSpPr>
          <p:cNvPr id="10" name="Rectangle 9"/>
          <p:cNvSpPr/>
          <p:nvPr/>
        </p:nvSpPr>
        <p:spPr>
          <a:xfrm>
            <a:off x="502920" y="1472184"/>
            <a:ext cx="11185855" cy="69951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7512" y="1593342"/>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1593342"/>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3" name="TextBox 12"/>
          <p:cNvSpPr txBox="1"/>
          <p:nvPr/>
        </p:nvSpPr>
        <p:spPr>
          <a:xfrm>
            <a:off x="1325880" y="1472184"/>
            <a:ext cx="10180015" cy="699516"/>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What does success look like?</a:t>
            </a:r>
            <a:r>
              <a:rPr sz="1800" i="0" b="0">
                <a:solidFill>
                  <a:srgbClr val="475569"/>
                </a:solidFill>
                <a:latin typeface="Helvetica Neue"/>
              </a:rPr>
              <a:t> — build the eval set first</a:t>
            </a:r>
          </a:p>
        </p:txBody>
      </p:sp>
      <p:sp>
        <p:nvSpPr>
          <p:cNvPr id="14" name="Rectangle 13"/>
          <p:cNvSpPr/>
          <p:nvPr/>
        </p:nvSpPr>
        <p:spPr>
          <a:xfrm>
            <a:off x="502920" y="2281428"/>
            <a:ext cx="11185855" cy="69951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67512" y="2402586"/>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2402586"/>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17" name="TextBox 16"/>
          <p:cNvSpPr txBox="1"/>
          <p:nvPr/>
        </p:nvSpPr>
        <p:spPr>
          <a:xfrm>
            <a:off x="1325880" y="2281428"/>
            <a:ext cx="10180015" cy="699516"/>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What's the smallest window that could work?</a:t>
            </a:r>
            <a:r>
              <a:rPr sz="1800" i="0" b="0">
                <a:solidFill>
                  <a:srgbClr val="475569"/>
                </a:solidFill>
                <a:latin typeface="Helvetica Neue"/>
              </a:rPr>
              <a:t> — start at level 1 or 2</a:t>
            </a:r>
          </a:p>
        </p:txBody>
      </p:sp>
      <p:sp>
        <p:nvSpPr>
          <p:cNvPr id="18" name="Rectangle 17"/>
          <p:cNvSpPr/>
          <p:nvPr/>
        </p:nvSpPr>
        <p:spPr>
          <a:xfrm>
            <a:off x="502920" y="3090672"/>
            <a:ext cx="11185855" cy="69951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67512" y="3211829"/>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 y="321182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1" name="TextBox 20"/>
          <p:cNvSpPr txBox="1"/>
          <p:nvPr/>
        </p:nvSpPr>
        <p:spPr>
          <a:xfrm>
            <a:off x="1325880" y="3090672"/>
            <a:ext cx="10180015" cy="699516"/>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What does the model lack?</a:t>
            </a:r>
            <a:r>
              <a:rPr sz="1800" i="0" b="0">
                <a:solidFill>
                  <a:srgbClr val="475569"/>
                </a:solidFill>
                <a:latin typeface="Helvetica Neue"/>
              </a:rPr>
              <a:t> — facts → retrieval; continuity → memory; method → cognitive tools</a:t>
            </a:r>
          </a:p>
        </p:txBody>
      </p:sp>
      <p:sp>
        <p:nvSpPr>
          <p:cNvPr id="22" name="Rectangle 21"/>
          <p:cNvSpPr/>
          <p:nvPr/>
        </p:nvSpPr>
        <p:spPr>
          <a:xfrm>
            <a:off x="502920" y="3899916"/>
            <a:ext cx="11185855" cy="69951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67512" y="4021074"/>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 y="402107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5" name="TextBox 24"/>
          <p:cNvSpPr txBox="1"/>
          <p:nvPr/>
        </p:nvSpPr>
        <p:spPr>
          <a:xfrm>
            <a:off x="1325880" y="3899916"/>
            <a:ext cx="10180015" cy="699516"/>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What grows?</a:t>
            </a:r>
            <a:r>
              <a:rPr sz="1800" i="0" b="0">
                <a:solidFill>
                  <a:srgbClr val="475569"/>
                </a:solidFill>
                <a:latin typeface="Helvetica Neue"/>
              </a:rPr>
              <a:t> — a ceiling and a compaction rule for each</a:t>
            </a:r>
          </a:p>
        </p:txBody>
      </p:sp>
      <p:sp>
        <p:nvSpPr>
          <p:cNvPr id="26" name="Rectangle 25"/>
          <p:cNvSpPr/>
          <p:nvPr/>
        </p:nvSpPr>
        <p:spPr>
          <a:xfrm>
            <a:off x="502920" y="4709160"/>
            <a:ext cx="11185855" cy="69951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7512" y="4830318"/>
            <a:ext cx="457200" cy="457200"/>
          </a:xfrm>
          <a:prstGeom prst="ellipse">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 y="4830318"/>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5</a:t>
            </a:r>
          </a:p>
        </p:txBody>
      </p:sp>
      <p:sp>
        <p:nvSpPr>
          <p:cNvPr id="29" name="TextBox 28"/>
          <p:cNvSpPr txBox="1"/>
          <p:nvPr/>
        </p:nvSpPr>
        <p:spPr>
          <a:xfrm>
            <a:off x="1325880" y="4709160"/>
            <a:ext cx="10180015" cy="699516"/>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What can live outside the window?</a:t>
            </a:r>
            <a:r>
              <a:rPr sz="1800" i="0" b="0">
                <a:solidFill>
                  <a:srgbClr val="475569"/>
                </a:solidFill>
                <a:latin typeface="Helvetica Neue"/>
              </a:rPr>
              <a:t> — write before select, select before compress, isolate last</a:t>
            </a:r>
          </a:p>
        </p:txBody>
      </p:sp>
      <p:sp>
        <p:nvSpPr>
          <p:cNvPr id="30" name="Rectangle 29"/>
          <p:cNvSpPr/>
          <p:nvPr/>
        </p:nvSpPr>
        <p:spPr>
          <a:xfrm>
            <a:off x="502920" y="5518404"/>
            <a:ext cx="11185855" cy="69951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7512" y="5639562"/>
            <a:ext cx="457200" cy="457200"/>
          </a:xfrm>
          <a:prstGeom prst="ellipse">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7512" y="5639562"/>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6</a:t>
            </a:r>
          </a:p>
        </p:txBody>
      </p:sp>
      <p:sp>
        <p:nvSpPr>
          <p:cNvPr id="33" name="TextBox 32"/>
          <p:cNvSpPr txBox="1"/>
          <p:nvPr/>
        </p:nvSpPr>
        <p:spPr>
          <a:xfrm>
            <a:off x="1325880" y="5518404"/>
            <a:ext cx="10180015" cy="699516"/>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What can go wrong?</a:t>
            </a:r>
            <a:r>
              <a:rPr sz="1800" i="0" b="0">
                <a:solidFill>
                  <a:srgbClr val="475569"/>
                </a:solidFill>
                <a:latin typeface="Helvetica Neue"/>
              </a:rPr>
              <a:t> — walk the five failure modes against the design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Appendix: the speculative field track</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Note 99, confidence: low</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Practice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notes/99-speculative-field-track.md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45</a:t>
            </a:r>
          </a:p>
        </p:txBody>
      </p:sp>
      <p:sp>
        <p:nvSpPr>
          <p:cNvPr id="10" name="TextBox 9"/>
          <p:cNvSpPr txBox="1"/>
          <p:nvPr/>
        </p:nvSpPr>
        <p:spPr>
          <a:xfrm>
            <a:off x="502920" y="1426464"/>
            <a:ext cx="11185855" cy="661416"/>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About a third of the upstream course treats context as a "semantic field". It's a metaphor, not a method.</a:t>
            </a:r>
          </a:p>
        </p:txBody>
      </p:sp>
      <p:sp>
        <p:nvSpPr>
          <p:cNvPr id="11" name="Rectangle 10"/>
          <p:cNvSpPr/>
          <p:nvPr/>
        </p:nvSpPr>
        <p:spPr>
          <a:xfrm>
            <a:off x="502920" y="2270760"/>
            <a:ext cx="5410047" cy="39471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270760"/>
            <a:ext cx="5410047" cy="557784"/>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270760"/>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Vocabulary you'll meet</a:t>
            </a:r>
          </a:p>
        </p:txBody>
      </p:sp>
      <p:sp>
        <p:nvSpPr>
          <p:cNvPr id="14" name="Rectangle 13"/>
          <p:cNvSpPr/>
          <p:nvPr/>
        </p:nvSpPr>
        <p:spPr>
          <a:xfrm>
            <a:off x="731520" y="311175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029712"/>
            <a:ext cx="4587087" cy="661416"/>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Attractors</a:t>
            </a:r>
            <a:r>
              <a:rPr sz="1700" i="0" b="0">
                <a:solidFill>
                  <a:srgbClr val="1E293B"/>
                </a:solidFill>
                <a:latin typeface="Helvetica Neue"/>
              </a:rPr>
              <a:t>, </a:t>
            </a:r>
            <a:r>
              <a:rPr sz="1700" i="0" b="1">
                <a:solidFill>
                  <a:srgbClr val="1E293B"/>
                </a:solidFill>
                <a:latin typeface="Helvetica Neue"/>
              </a:rPr>
              <a:t>resonance</a:t>
            </a:r>
            <a:r>
              <a:rPr sz="1700" i="0" b="0">
                <a:solidFill>
                  <a:srgbClr val="1E293B"/>
                </a:solidFill>
                <a:latin typeface="Helvetica Neue"/>
              </a:rPr>
              <a:t>, </a:t>
            </a:r>
            <a:r>
              <a:rPr sz="1700" i="0" b="1">
                <a:solidFill>
                  <a:srgbClr val="1E293B"/>
                </a:solidFill>
                <a:latin typeface="Helvetica Neue"/>
              </a:rPr>
              <a:t>boundaries</a:t>
            </a:r>
            <a:r>
              <a:rPr sz="1700" i="0" b="0">
                <a:solidFill>
                  <a:srgbClr val="1E293B"/>
                </a:solidFill>
                <a:latin typeface="Helvetica Neue"/>
              </a:rPr>
              <a:t>, </a:t>
            </a:r>
            <a:r>
              <a:rPr sz="1700" i="0" b="1">
                <a:solidFill>
                  <a:srgbClr val="1E293B"/>
                </a:solidFill>
                <a:latin typeface="Helvetica Neue"/>
              </a:rPr>
              <a:t>quantum semantics</a:t>
            </a:r>
          </a:p>
        </p:txBody>
      </p:sp>
      <p:sp>
        <p:nvSpPr>
          <p:cNvPr id="16" name="Rectangle 15"/>
          <p:cNvSpPr/>
          <p:nvPr/>
        </p:nvSpPr>
        <p:spPr>
          <a:xfrm>
            <a:off x="731520" y="3811270"/>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729228"/>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"Protocols" like </a:t>
            </a:r>
            <a:r>
              <a:rPr sz="1530" i="0" b="0">
                <a:solidFill>
                  <a:srgbClr val="0F7490"/>
                </a:solidFill>
                <a:latin typeface="Menlo"/>
              </a:rPr>
              <a:t>/attractor.co.emerge</a:t>
            </a:r>
            <a:r>
              <a:rPr sz="1700" i="0" b="0">
                <a:solidFill>
                  <a:srgbClr val="1E293B"/>
                </a:solidFill>
                <a:latin typeface="Helvetica Neue"/>
              </a:rPr>
              <a:t> act as ordinary structured prompts</a:t>
            </a:r>
          </a:p>
        </p:txBody>
      </p:sp>
      <p:sp>
        <p:nvSpPr>
          <p:cNvPr id="18" name="Rectangle 17"/>
          <p:cNvSpPr/>
          <p:nvPr/>
        </p:nvSpPr>
        <p:spPr>
          <a:xfrm>
            <a:off x="731520" y="451078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428744"/>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Real result underneath: symbolic mechanisms (Yang et al., ICML 2025)</a:t>
            </a:r>
          </a:p>
        </p:txBody>
      </p:sp>
      <p:sp>
        <p:nvSpPr>
          <p:cNvPr id="20" name="Rectangle 19"/>
          <p:cNvSpPr/>
          <p:nvPr/>
        </p:nvSpPr>
        <p:spPr>
          <a:xfrm>
            <a:off x="6278727" y="2270760"/>
            <a:ext cx="5410047" cy="39471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78727" y="2270760"/>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7327" y="2270760"/>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What survives translation</a:t>
            </a:r>
          </a:p>
        </p:txBody>
      </p:sp>
      <p:sp>
        <p:nvSpPr>
          <p:cNvPr id="23" name="Rectangle 22"/>
          <p:cNvSpPr/>
          <p:nvPr/>
        </p:nvSpPr>
        <p:spPr>
          <a:xfrm>
            <a:off x="6507327" y="311175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27367" y="3029712"/>
            <a:ext cx="4587087" cy="661416"/>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Early framing is sticky</a:t>
            </a:r>
            <a:r>
              <a:rPr sz="1700" i="0" b="0">
                <a:solidFill>
                  <a:srgbClr val="1E293B"/>
                </a:solidFill>
                <a:latin typeface="Helvetica Neue"/>
              </a:rPr>
              <a:t> — restart rather than argue</a:t>
            </a:r>
          </a:p>
        </p:txBody>
      </p:sp>
      <p:sp>
        <p:nvSpPr>
          <p:cNvPr id="25" name="Rectangle 24"/>
          <p:cNvSpPr/>
          <p:nvPr/>
        </p:nvSpPr>
        <p:spPr>
          <a:xfrm>
            <a:off x="6507327" y="3811270"/>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27367" y="3729228"/>
            <a:ext cx="4587087" cy="946404"/>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Salience is earned</a:t>
            </a:r>
            <a:r>
              <a:rPr sz="1700" i="0" b="0">
                <a:solidFill>
                  <a:srgbClr val="1E293B"/>
                </a:solidFill>
                <a:latin typeface="Helvetica Neue"/>
              </a:rPr>
              <a:t> by structure, edge placement and restating at decision points</a:t>
            </a:r>
          </a:p>
        </p:txBody>
      </p:sp>
      <p:sp>
        <p:nvSpPr>
          <p:cNvPr id="27" name="Rectangle 26"/>
          <p:cNvSpPr/>
          <p:nvPr/>
        </p:nvSpPr>
        <p:spPr>
          <a:xfrm>
            <a:off x="6507327" y="479577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4713732"/>
            <a:ext cx="4587087" cy="661416"/>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Ambiguity is resolved by context</a:t>
            </a:r>
            <a:r>
              <a:rPr sz="1700" i="0" b="0">
                <a:solidFill>
                  <a:srgbClr val="1E293B"/>
                </a:solidFill>
                <a:latin typeface="Helvetica Neue"/>
              </a:rPr>
              <a:t> — find the underspecified term</a:t>
            </a:r>
          </a:p>
        </p:txBody>
      </p:sp>
      <p:sp>
        <p:nvSpPr>
          <p:cNvPr id="29" name="Rectangle 28"/>
          <p:cNvSpPr/>
          <p:nvPr/>
        </p:nvSpPr>
        <p:spPr>
          <a:xfrm>
            <a:off x="6461607" y="568756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53047" y="568756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Ask what the measurable behaviour is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Rules of thumb</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pillar on one slide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Wrap-up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README.md#rules-of-thumb</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46</a:t>
            </a:r>
          </a:p>
        </p:txBody>
      </p:sp>
      <p:sp>
        <p:nvSpPr>
          <p:cNvPr id="10" name="Rectangle 9"/>
          <p:cNvSpPr/>
          <p:nvPr/>
        </p:nvSpPr>
        <p:spPr>
          <a:xfrm>
            <a:off x="502920" y="1472184"/>
            <a:ext cx="3545738" cy="2145792"/>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472184"/>
            <a:ext cx="82296" cy="214579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Assembling</a:t>
            </a:r>
          </a:p>
        </p:txBody>
      </p:sp>
      <p:sp>
        <p:nvSpPr>
          <p:cNvPr id="13" name="TextBox 12"/>
          <p:cNvSpPr txBox="1"/>
          <p:nvPr/>
        </p:nvSpPr>
        <p:spPr>
          <a:xfrm>
            <a:off x="777240" y="2087880"/>
            <a:ext cx="3042818" cy="1347215"/>
          </a:xfrm>
          <a:prstGeom prst="rect">
            <a:avLst/>
          </a:prstGeom>
          <a:noFill/>
        </p:spPr>
        <p:txBody>
          <a:bodyPr wrap="square" lIns="0" rIns="0" tIns="0" bIns="0" anchor="t">
            <a:noAutofit/>
          </a:bodyPr>
          <a:lstStyle/>
          <a:p>
            <a:pPr algn="l">
              <a:lnSpc>
                <a:spcPct val="110000"/>
              </a:lnSpc>
            </a:pPr>
            <a:r>
              <a:rPr sz="1600" i="0" b="0">
                <a:solidFill>
                  <a:srgbClr val="475569"/>
                </a:solidFill>
                <a:latin typeface="Helvetica Neue"/>
              </a:rPr>
              <a:t>Stable before dynamic. Reserve the output first; give every growing component a ceiling.</a:t>
            </a:r>
          </a:p>
        </p:txBody>
      </p:sp>
      <p:sp>
        <p:nvSpPr>
          <p:cNvPr id="14" name="Rectangle 13"/>
          <p:cNvSpPr/>
          <p:nvPr/>
        </p:nvSpPr>
        <p:spPr>
          <a:xfrm>
            <a:off x="4322978" y="1472184"/>
            <a:ext cx="3545738" cy="2145792"/>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22978" y="1472184"/>
            <a:ext cx="82296" cy="2145792"/>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Getting content in</a:t>
            </a:r>
          </a:p>
        </p:txBody>
      </p:sp>
      <p:sp>
        <p:nvSpPr>
          <p:cNvPr id="17" name="TextBox 16"/>
          <p:cNvSpPr txBox="1"/>
          <p:nvPr/>
        </p:nvSpPr>
        <p:spPr>
          <a:xfrm>
            <a:off x="4597298" y="2087880"/>
            <a:ext cx="3042818" cy="1347215"/>
          </a:xfrm>
          <a:prstGeom prst="rect">
            <a:avLst/>
          </a:prstGeom>
          <a:noFill/>
        </p:spPr>
        <p:txBody>
          <a:bodyPr wrap="square" lIns="0" rIns="0" tIns="0" bIns="0" anchor="t">
            <a:noAutofit/>
          </a:bodyPr>
          <a:lstStyle/>
          <a:p>
            <a:pPr algn="l">
              <a:lnSpc>
                <a:spcPct val="110000"/>
              </a:lnSpc>
            </a:pPr>
            <a:r>
              <a:rPr sz="1600" i="0" b="0">
                <a:solidFill>
                  <a:srgbClr val="475569"/>
                </a:solidFill>
                <a:latin typeface="Helvetica Neue"/>
              </a:rPr>
              <a:t>Just-in-time via identifiers. Hybrid search + reranker. Tag sources; let the model say "not here".</a:t>
            </a:r>
          </a:p>
        </p:txBody>
      </p:sp>
      <p:sp>
        <p:nvSpPr>
          <p:cNvPr id="18" name="Rectangle 17"/>
          <p:cNvSpPr/>
          <p:nvPr/>
        </p:nvSpPr>
        <p:spPr>
          <a:xfrm>
            <a:off x="8143036" y="1472184"/>
            <a:ext cx="3545738" cy="2145792"/>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43036" y="1472184"/>
            <a:ext cx="82296" cy="214579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Keeping it small</a:t>
            </a:r>
          </a:p>
        </p:txBody>
      </p:sp>
      <p:sp>
        <p:nvSpPr>
          <p:cNvPr id="21" name="TextBox 20"/>
          <p:cNvSpPr txBox="1"/>
          <p:nvPr/>
        </p:nvSpPr>
        <p:spPr>
          <a:xfrm>
            <a:off x="8417356" y="2087880"/>
            <a:ext cx="3042818" cy="1347215"/>
          </a:xfrm>
          <a:prstGeom prst="rect">
            <a:avLst/>
          </a:prstGeom>
          <a:noFill/>
        </p:spPr>
        <p:txBody>
          <a:bodyPr wrap="square" lIns="0" rIns="0" tIns="0" bIns="0" anchor="t">
            <a:noAutofit/>
          </a:bodyPr>
          <a:lstStyle/>
          <a:p>
            <a:pPr algn="l">
              <a:lnSpc>
                <a:spcPct val="110000"/>
              </a:lnSpc>
            </a:pPr>
            <a:r>
              <a:rPr sz="1600" i="0" b="0">
                <a:solidFill>
                  <a:srgbClr val="475569"/>
                </a:solidFill>
                <a:latin typeface="Helvetica Neue"/>
              </a:rPr>
              <a:t>Clear tool results first. State in a small overwritten block. Distil episodes into facts.</a:t>
            </a:r>
          </a:p>
        </p:txBody>
      </p:sp>
      <p:sp>
        <p:nvSpPr>
          <p:cNvPr id="22" name="Rectangle 21"/>
          <p:cNvSpPr/>
          <p:nvPr/>
        </p:nvSpPr>
        <p:spPr>
          <a:xfrm>
            <a:off x="502920" y="3892296"/>
            <a:ext cx="3545738" cy="2145792"/>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3892296"/>
            <a:ext cx="82296" cy="214579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075176"/>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Reasoning</a:t>
            </a:r>
          </a:p>
        </p:txBody>
      </p:sp>
      <p:sp>
        <p:nvSpPr>
          <p:cNvPr id="25" name="TextBox 24"/>
          <p:cNvSpPr txBox="1"/>
          <p:nvPr/>
        </p:nvSpPr>
        <p:spPr>
          <a:xfrm>
            <a:off x="777240" y="4507992"/>
            <a:ext cx="3042818" cy="1347216"/>
          </a:xfrm>
          <a:prstGeom prst="rect">
            <a:avLst/>
          </a:prstGeom>
          <a:noFill/>
        </p:spPr>
        <p:txBody>
          <a:bodyPr wrap="square" lIns="0" rIns="0" tIns="0" bIns="0" anchor="t">
            <a:noAutofit/>
          </a:bodyPr>
          <a:lstStyle/>
          <a:p>
            <a:pPr algn="l">
              <a:lnSpc>
                <a:spcPct val="110000"/>
              </a:lnSpc>
            </a:pPr>
            <a:r>
              <a:rPr sz="1600" i="0" b="0">
                <a:solidFill>
                  <a:srgbClr val="475569"/>
                </a:solidFill>
                <a:latin typeface="Helvetica Neue"/>
              </a:rPr>
              <a:t>Understand, solve, verify as separate calls. A deterministic check beats a model verifier.</a:t>
            </a:r>
          </a:p>
        </p:txBody>
      </p:sp>
      <p:sp>
        <p:nvSpPr>
          <p:cNvPr id="26" name="Rectangle 25"/>
          <p:cNvSpPr/>
          <p:nvPr/>
        </p:nvSpPr>
        <p:spPr>
          <a:xfrm>
            <a:off x="4322978" y="3892296"/>
            <a:ext cx="3545738" cy="2145792"/>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22978" y="3892296"/>
            <a:ext cx="82296" cy="214579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7298" y="4075176"/>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Isolation</a:t>
            </a:r>
          </a:p>
        </p:txBody>
      </p:sp>
      <p:sp>
        <p:nvSpPr>
          <p:cNvPr id="29" name="TextBox 28"/>
          <p:cNvSpPr txBox="1"/>
          <p:nvPr/>
        </p:nvSpPr>
        <p:spPr>
          <a:xfrm>
            <a:off x="4597298" y="4507992"/>
            <a:ext cx="3042818" cy="1347216"/>
          </a:xfrm>
          <a:prstGeom prst="rect">
            <a:avLst/>
          </a:prstGeom>
          <a:noFill/>
        </p:spPr>
        <p:txBody>
          <a:bodyPr wrap="square" lIns="0" rIns="0" tIns="0" bIns="0" anchor="t">
            <a:noAutofit/>
          </a:bodyPr>
          <a:lstStyle/>
          <a:p>
            <a:pPr algn="l">
              <a:lnSpc>
                <a:spcPct val="110000"/>
              </a:lnSpc>
            </a:pPr>
            <a:r>
              <a:rPr sz="1600" i="0" b="0">
                <a:solidFill>
                  <a:srgbClr val="475569"/>
                </a:solidFill>
                <a:latin typeface="Helvetica Neue"/>
              </a:rPr>
              <a:t>Compress before Isolate. The orchestrator holds the plan; tool outputs are context.</a:t>
            </a:r>
          </a:p>
        </p:txBody>
      </p:sp>
      <p:sp>
        <p:nvSpPr>
          <p:cNvPr id="30" name="Rectangle 29"/>
          <p:cNvSpPr/>
          <p:nvPr/>
        </p:nvSpPr>
        <p:spPr>
          <a:xfrm>
            <a:off x="8143036" y="3892296"/>
            <a:ext cx="3545738" cy="2145792"/>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43036" y="3892296"/>
            <a:ext cx="82296" cy="214579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7356" y="4075176"/>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Shipping</a:t>
            </a:r>
          </a:p>
        </p:txBody>
      </p:sp>
      <p:sp>
        <p:nvSpPr>
          <p:cNvPr id="33" name="TextBox 32"/>
          <p:cNvSpPr txBox="1"/>
          <p:nvPr/>
        </p:nvSpPr>
        <p:spPr>
          <a:xfrm>
            <a:off x="8417356" y="4507992"/>
            <a:ext cx="3042818" cy="1347216"/>
          </a:xfrm>
          <a:prstGeom prst="rect">
            <a:avLst/>
          </a:prstGeom>
          <a:noFill/>
        </p:spPr>
        <p:txBody>
          <a:bodyPr wrap="square" lIns="0" rIns="0" tIns="0" bIns="0" anchor="t">
            <a:noAutofit/>
          </a:bodyPr>
          <a:lstStyle/>
          <a:p>
            <a:pPr algn="l">
              <a:lnSpc>
                <a:spcPct val="110000"/>
              </a:lnSpc>
            </a:pPr>
            <a:r>
              <a:rPr sz="1600" i="0" b="0">
                <a:solidFill>
                  <a:srgbClr val="475569"/>
                </a:solidFill>
                <a:latin typeface="Helvetica Neue"/>
              </a:rPr>
              <a:t>Look in the window before the weights. Ablate to set the budget. Climb the ladder only on evidence.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Where to go next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Each loop step assembles context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Wrap-up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README.md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47</a:t>
            </a:r>
          </a:p>
        </p:txBody>
      </p:sp>
      <p:sp>
        <p:nvSpPr>
          <p:cNvPr id="10" name="Rectangle 9"/>
          <p:cNvSpPr/>
          <p:nvPr/>
        </p:nvSpPr>
        <p:spPr>
          <a:xfrm>
            <a:off x="502920" y="1563878"/>
            <a:ext cx="101346" cy="101346"/>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472184"/>
            <a:ext cx="5944038"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03 — Harness engineering:</a:t>
            </a:r>
            <a:r>
              <a:rPr sz="1900" i="0" b="0">
                <a:solidFill>
                  <a:srgbClr val="1E293B"/>
                </a:solidFill>
                <a:latin typeface="Helvetica Neue"/>
              </a:rPr>
              <a:t> when the loop that assembles context becomes stateful</a:t>
            </a:r>
          </a:p>
        </p:txBody>
      </p:sp>
      <p:sp>
        <p:nvSpPr>
          <p:cNvPr id="12" name="TextBox 11"/>
          <p:cNvSpPr txBox="1"/>
          <p:nvPr/>
        </p:nvSpPr>
        <p:spPr>
          <a:xfrm>
            <a:off x="1005840" y="2167128"/>
            <a:ext cx="182880" cy="536448"/>
          </a:xfrm>
          <a:prstGeom prst="rect">
            <a:avLst/>
          </a:prstGeom>
          <a:noFill/>
        </p:spPr>
        <p:txBody>
          <a:bodyPr wrap="square" lIns="0" rIns="0" tIns="0" bIns="0" anchor="t">
            <a:noAutofit/>
          </a:bodyPr>
          <a:lstStyle/>
          <a:p>
            <a:pPr algn="l">
              <a:lnSpc>
                <a:spcPct val="110000"/>
              </a:lnSpc>
            </a:pPr>
            <a:r>
              <a:rPr sz="1600" i="0" b="0">
                <a:solidFill>
                  <a:srgbClr val="94A3B8"/>
                </a:solidFill>
                <a:latin typeface="Helvetica Neue"/>
              </a:rPr>
              <a:t>–</a:t>
            </a:r>
          </a:p>
        </p:txBody>
      </p:sp>
      <p:sp>
        <p:nvSpPr>
          <p:cNvPr id="13" name="TextBox 12"/>
          <p:cNvSpPr txBox="1"/>
          <p:nvPr/>
        </p:nvSpPr>
        <p:spPr>
          <a:xfrm>
            <a:off x="1188720" y="2167128"/>
            <a:ext cx="5578278" cy="627888"/>
          </a:xfrm>
          <a:prstGeom prst="rect">
            <a:avLst/>
          </a:prstGeom>
          <a:noFill/>
        </p:spPr>
        <p:txBody>
          <a:bodyPr wrap="square" lIns="0" rIns="0" tIns="0" bIns="0" anchor="t">
            <a:noAutofit/>
          </a:bodyPr>
          <a:lstStyle/>
          <a:p>
            <a:pPr algn="l">
              <a:lnSpc>
                <a:spcPct val="110000"/>
              </a:lnSpc>
            </a:pPr>
            <a:r>
              <a:rPr sz="1600" i="0" b="0">
                <a:solidFill>
                  <a:srgbClr val="475569"/>
                </a:solidFill>
                <a:latin typeface="Helvetica Neue"/>
              </a:rPr>
              <a:t>Execution boundaries, orchestration, reliable agents (PRINCE)</a:t>
            </a:r>
          </a:p>
        </p:txBody>
      </p:sp>
      <p:sp>
        <p:nvSpPr>
          <p:cNvPr id="14" name="Rectangle 13"/>
          <p:cNvSpPr/>
          <p:nvPr/>
        </p:nvSpPr>
        <p:spPr>
          <a:xfrm>
            <a:off x="502920" y="2940050"/>
            <a:ext cx="101346" cy="101346"/>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848356"/>
            <a:ext cx="5944038"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06 — Eval:</a:t>
            </a:r>
            <a:r>
              <a:rPr sz="1900" i="0" b="0">
                <a:solidFill>
                  <a:srgbClr val="1E293B"/>
                </a:solidFill>
                <a:latin typeface="Helvetica Neue"/>
              </a:rPr>
              <a:t> RAG and grounding metrics, tracing where the tokens go</a:t>
            </a:r>
          </a:p>
        </p:txBody>
      </p:sp>
      <p:sp>
        <p:nvSpPr>
          <p:cNvPr id="16" name="Rectangle 15"/>
          <p:cNvSpPr/>
          <p:nvPr/>
        </p:nvSpPr>
        <p:spPr>
          <a:xfrm>
            <a:off x="502920" y="3721862"/>
            <a:ext cx="101346" cy="101346"/>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630168"/>
            <a:ext cx="5944038"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Run the code:</a:t>
            </a:r>
            <a:r>
              <a:rPr sz="1900" i="0" b="0">
                <a:solidFill>
                  <a:srgbClr val="1E293B"/>
                </a:solidFill>
                <a:latin typeface="Helvetica Neue"/>
              </a:rPr>
              <a:t> the snippets in each note; practice/01 builds BM25 by hand</a:t>
            </a:r>
          </a:p>
        </p:txBody>
      </p:sp>
      <p:sp>
        <p:nvSpPr>
          <p:cNvPr id="18" name="Rectangle 17"/>
          <p:cNvSpPr/>
          <p:nvPr/>
        </p:nvSpPr>
        <p:spPr>
          <a:xfrm>
            <a:off x="502920" y="4503674"/>
            <a:ext cx="101346" cy="101346"/>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411980"/>
            <a:ext cx="5944038"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Read:</a:t>
            </a:r>
            <a:r>
              <a:rPr sz="1900" i="0" b="0">
                <a:solidFill>
                  <a:srgbClr val="1E293B"/>
                </a:solidFill>
                <a:latin typeface="Helvetica Neue"/>
              </a:rPr>
              <a:t> Anthropic, Effective context engineering for AI agents; Li, AI Agents in Depth ch. 2–3</a:t>
            </a:r>
          </a:p>
        </p:txBody>
      </p:sp>
      <p:sp>
        <p:nvSpPr>
          <p:cNvPr id="20" name="Rectangle 19"/>
          <p:cNvSpPr/>
          <p:nvPr/>
        </p:nvSpPr>
        <p:spPr>
          <a:xfrm>
            <a:off x="502920" y="5285485"/>
            <a:ext cx="101346" cy="101346"/>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193792"/>
            <a:ext cx="5944038"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Copy from:</a:t>
            </a:r>
            <a:r>
              <a:rPr sz="1900" i="0" b="0">
                <a:solidFill>
                  <a:srgbClr val="1E293B"/>
                </a:solidFill>
                <a:latin typeface="Helvetica Neue"/>
              </a:rPr>
              <a:t> templates/ — schemas, prompt programs, minimal-context YAML</a:t>
            </a:r>
          </a:p>
        </p:txBody>
      </p:sp>
      <p:sp>
        <p:nvSpPr>
          <p:cNvPr id="22" name="Rectangle 21"/>
          <p:cNvSpPr/>
          <p:nvPr/>
        </p:nvSpPr>
        <p:spPr>
          <a:xfrm>
            <a:off x="7132758" y="1472184"/>
            <a:ext cx="4556016" cy="474573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32758" y="1472184"/>
            <a:ext cx="4556016"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1358" y="1472184"/>
            <a:ext cx="4098816"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The one idea to keep</a:t>
            </a:r>
          </a:p>
        </p:txBody>
      </p:sp>
      <p:sp>
        <p:nvSpPr>
          <p:cNvPr id="25" name="TextBox 24"/>
          <p:cNvSpPr txBox="1"/>
          <p:nvPr/>
        </p:nvSpPr>
        <p:spPr>
          <a:xfrm>
            <a:off x="7361358" y="2231136"/>
            <a:ext cx="4053096" cy="3803903"/>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Every token competes for a fixed attention budget. Justify each one's place, keep the rest one tool call away, and measure.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