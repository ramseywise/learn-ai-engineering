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is a bill you pay once. Inference is a bill you pay every time a user types. Today we follow one small model on one GPU, a Llama-7B on an A100, and ask at each layer what actually limits it. By the end the same model goes from 25.5 to 244.7 tokens per second, and you will know why each step gave less than the one before.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tune anything we need to be able to tell whether we are winning. The usual dashboard cannot tell us, so this part replaces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number everyone looks at. nvidia-smi reports the fraction of time at least one kernel is running. Both Huyen and Fregly warn about this. Meta found on training clusters that 70 to 75 percent of compute could be lost to failures and restarts while dashboards still showed GPUs 100 percent utilized. So if that meter cannot see the problem, what can? We need to know what the request is doing.</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asymmetry drives the rest of the lecture. Batching exists to raise decode's arithmetic intensity. Disaggregation exists because the phases want different hardware. Speculative decoding exists because decode leaves compute idle. The pricing follows too. Total latency is TTFT plus TPOT times output tokens, and Huyen's floor for streamed chat is about 120 ms per token, the pace of a very fast reader. Faster only matters when a machine reads the output, as in agents and chained calls.</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model we will carry through today. Do this arithmetic with me. Every token re-reads all seven billion weights at two bytes each, so a hundred tokens a second is 700 GB per second, or 70 percent of an A100's memory bandwidth. Nothing about the chip's arithmetic appears in that sum. Hold on to that when we reach the hardware. Next question: what number should we promise the user?</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Throughput alone is the wrong target, because you can buy it by making everyone wait. Goodput is the definition serving papers such as DistServe use. Be careful: Fregly uses goodput for two other ratios that come from training clusters, so check which one a dashboard means. Even the book's own figure miscounts here. A request at 260 and 80 meets TPOT and misses TTFT. For agents the tail compounds, because a task of ten calls hits a single call's p90 far more often.</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Prefill shows high MFU and low MBU, and decode shows the opposite. Pope and colleagues measured both phases of PaLM 540B with a 2,048-token context. The figure in the note also shows Llama 2-70B's MBU falling from around 33 to 43 percent at one user to 14 to 19 percent at 256 users. That is the workload moving toward compute-bound as batches grow, which is expected and not a regression.</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closes the first part. Huyen's three levels help you plan the rest: model, hardware and service. Her ranking of the techniques with the widest impact, across the companies she surveyed, is quantization, tensor parallelism, replica parallelism and attention optimization. Online and batch traffic also get separate plans: providers priced batch at about 50 percent off as of 2024. Now let us see why decode is stuck, by looking at the machine.</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you will never write a CUDA kernel. You will still read profiles, so you need the vocabulary and the map of where bytes live. We move from chip to host to kernel to compiler.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our 700 GB per second. A kernel has exactly two ways out of waiting on memory. It can find independent work to run during the wait, through occupancy, instruction parallelism and pipelining. Or it can do more math per byte, through tiling, fusion and lower precision. The next few slides are that one choice, seen at different scales.</a:t>
            </a:r>
          </a:p>
          <a:p/>
          <a:p>
            <a:r>
              <a:t>Source: notes/02-the-hardware.md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intensity is FLOPs per byte moved. A vector add in FP32 does one FLOP per 12 bytes, two loads and one store. No compute tuning will help it. The figure's ridge is the FP32 ridge. Transformer GEMMs run on tensor cores, where dense BF16 on a B200 is about 2.25 PFLOPS, so the ridge is much further right. That is why decode is so firmly bandwidth-bound, and why batching is the main way to move it right. Always quote dense, not sparse, FLOPS and attach a precision.</a:t>
            </a:r>
          </a:p>
          <a:p/>
          <a:p>
            <a:r>
              <a:t>Source: notes/02-the-hardware.md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approximate, from Fregly's table 6-5. A GB200 superchip gives you about 900 GB in one address space, and that invites a mistake, because can touch is not cheap to touch. Fregly's illustrative example runs one kernel at 48.21 ms demand-paged and 2.17 ms with prefetch. The fabric has the same shape. NVLink gives 1.8 TB/s per GPU at 1 to 2 microseconds. Between racks you get 20 to 80 GB/s at 5 to 10 microseconds. So keep tensor-parallel groups inside one NVLink domain.</a:t>
            </a:r>
          </a:p>
          <a:p/>
          <a:p>
            <a:r>
              <a:t>Source: notes/02-the-hardware.md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here runs to completion, slowly. Tensor-parallel inference runs an all-reduce in every layer, so NCCL performance is decode latency. Also keep in mind that tokenization and batching are CPU work, so a starved host shows up as gaps between decode steps. Containers are not the problem: Fregly measures under 2 percent overhead, and the real trouble is version skew against the host driver. For sharing, use MIG for tenants with a latency promise and MPS only between trusted processes. Cold start is a storage question: stage weights to local NVMe, read shards sequentially, and let the page cache act as a warm tier.</a:t>
            </a:r>
          </a:p>
          <a:p/>
          <a:p>
            <a:r>
              <a:t>Source: notes/03-the-platform.md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Nsight Systems for the timeline, then Nsight Compute on the hot kernel. Occupancy is a means, not the goal: aim for about 50 to 75 percent and watch whether stalls fall. FlashAttention is the canonical memory-bound win. On GPT-2 medium on an A100 it does more FLOPs than standard attention, 66.6 against 75.2 GFLOPs, yet moves 9 times fewer HBM bytes, so runtime falls from 41.7 to 7.3 ms. Fregly's metrics tables are labelled illustrative, so trust their direction and not their size.</a:t>
            </a:r>
          </a:p>
          <a:p/>
          <a:p>
            <a:r>
              <a:t>Source: notes/04-kernels.md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regime our single-user model is in at batch 1. Top row: each short kernel waits for its CPU launch. Bottom row: one launch, then kernels back to back. Capture forbids allocation, synchronization and new shapes, which is why vLLM and TensorRT-LLM capture a graph per bucket at startup and pad batches up to the bucket. And Fregly's own verdict on the fancier features: warp specialization and clusters rarely justify the engineering cost, so reach for them through CUTLASS, FlashAttention or Triton.</a:t>
            </a:r>
          </a:p>
          <a:p/>
          <a:p>
            <a:r>
              <a:t>Source: notes/04-kernels.md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4.2 times gain on our model comes from removing overhead in a launch-bound regime. It is not typical of large batches. Static cache trades memory for stable shapes, since you reserve for the maximum length. Three things make a compiled model quietly slow: graph breaks, recompiles when a guard fails, and CUDA graph invalidation. Compile time is real too, minutes for a large model, so cache artifacts or export ahead of time.</a:t>
            </a:r>
          </a:p>
          <a:p/>
          <a:p>
            <a:r>
              <a:t>Source: notes/05-compilers-and-frameworks.md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that profile, the fix order chooses itself: remove Python overhead and fuse small ops, then tune the big GEMMs. Performance regresses silently, and a framework upgrade is the most common cause. That closes the single machine. Now add users, because one request on one GPU is a demo.</a:t>
            </a:r>
          </a:p>
          <a:p/>
          <a:p>
            <a:r>
              <a:t>Source: notes/05-compilers-and-frameworks.md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Serving means many requests of unknown length sharing a fleet, with a latency promise for each. The levers are how you batch, how you route, how you split the model, and where the KV cache lives.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Batching is the first lever, because decode reads all the weights each step and a batch amortizes that read over many sequences. So we want big batches. But requests are unequal. Dynamic batching with batch size 4 and a 100 ms window fixes the waiting at low load, not this. What does?</a:t>
            </a:r>
          </a:p>
          <a:p/>
          <a:p>
            <a:r>
              <a:t>Source: notes/06-serving-at-scale.md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sequences take the slots as soon as one ends. Its limits are memory, solved by PagedAttention, and long prefills stalling decodes, which we reach shortly. PagedAttention stores KV in fixed blocks, 16 tokens by default in vLLM, and maps them like an OS maps virtual pages. Clipper had the SLO-tuning idea earlier: on a scikit-learn SVM under a 20 ms SLO, adaptive batches raised throughput up to 26 times.</a:t>
            </a:r>
          </a:p>
          <a:p/>
          <a:p>
            <a:r>
              <a:t>Source: notes/07-prefill-decode-kv-cache.md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 sums worth doing yourself. First, rebalancing six prompts cuts the critical path 42 percent, and TTFT falls with it. Second, always check cascade arithmetic: escalated queries may pay for both models, so 2.2 times is a ceiling. The idea is still sound. FrugalGPT measured a real cascade over 12 commercial APIs at March 2023 prices and matched GPT-4's accuracy at 98.3 percent lower cost on one task, HEADLINES, and 59 to 73 percent lower on two others.</a:t>
            </a:r>
          </a:p>
          <a:p/>
          <a:p>
            <a:r>
              <a:t>Source: notes/06-serving-at-scale.md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choice between options, so it earns a table. Fregly's order is TP, PP, EP, DP. Huyen says PP is typically avoided for strict-latency serving in favour of replicas. The Handbook's claim that data parallelism is mainly for training holds only for models too large for one GPU. Expert parallelism's cost is real: in GShard, going from 128 to 2,048 experts made dispatch and combine about 3.75 times slower. Now let us look at the memory every one of these strategies has to budget for.</a:t>
            </a:r>
          </a:p>
          <a:p/>
          <a:p>
            <a:r>
              <a:t>Source: notes/06-serving-at-scale.md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sources write this formula differently, and using attention heads overstates GQA and MQA models. Our 7B model needs half a megabyte per token. Shrinking the cache is its own toolbox. MQA and GQA share K and V across heads. MLA stores a latent. Character.AI's cross-layer attention reported over 20 times less KV. FP8 KV halves it. But sharing is not free: DeepSeek's 7B dense ablation shows MMLU falling from 45.2 with MHA to 41.2 with GQA-8 and 37.9 with MQA.</a:t>
            </a:r>
          </a:p>
          <a:p/>
          <a:p>
            <a:r>
              <a:t>Source: notes/07-prefill-decode-kv-cache.md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prefill entering a batch stalls every decode in it. You can slice the prefill so decodes run between chunks, or move prefill to other GPUs. Chunking does not reduce total work; it reorders it, and Fregly's rule of thumb is a chunk of 50 to 100 ms of GPU time. Disaggregation pays when long prompts dominate, SLOs are strict at high load, the interconnect is fast and the fleet can size two pools. Do not offload short prompts or prompts with a large prefix-cache hit. Batch the transfers too: LMCache's example goes from about 20 ms to about 8 ms.</a:t>
            </a:r>
          </a:p>
          <a:p/>
          <a:p>
            <a:r>
              <a:t>Source: notes/07-prefill-decode-kv-cache.md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hashes each full 16-token block chained to its prefix. SGLang's RadixAttention uses a radix tree. Either way the rule is the same one that drives API prompt-cache pricing. Those prices are from 2024 and have changed, so check them. The AgentSysBench session is striking: tool calls and observations grew to 84.3 percent of the input. When the cache does hit, the next bottleneck is tokenizing the transcript, which grows from 10 to 64 percent of TTFT as the hit rate rises toward 0.99.</a:t>
            </a:r>
          </a:p>
          <a:p/>
          <a:p>
            <a:r>
              <a:t>Source: notes/07-prefill-decode-kv-cache.md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Handbook's recipe of target-tracking at around 70 percent GPU utilization runs straight into the meter problem from part one. A lightly loaded decode loop reads near 100 percent, so scaling on it adds replicas that do not help, or never triggers when KV memory is the limit. Pre-pull weights and cache compiled artifacts. That closes the fleet. One idle resource is left: all that compute decode is not using.</a:t>
            </a:r>
          </a:p>
          <a:p/>
          <a:p>
            <a:r>
              <a:t>Source: notes/06-serving-at-scale.md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leaves the GPU's compute mostly idle while it waits on memory. This part spends that idle compute or cuts the bytes. Some of these keep the output distribution exactly, and others trade a little quality.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small batch, arithmetic intensity is far below the ridge. So two families of fix follow. The caveat comes from Huyen: if your batches already saturate compute, the idle FLOPs are gone and speculative methods help less or hurt. Long contexts are the exception, because KV reads keep large batches bandwidth-bound.</a:t>
            </a:r>
          </a:p>
          <a:p/>
          <a:p>
            <a:r>
              <a:t>Source: notes/08-adaptive-inference.md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Verifying K tokens is parallel like prefill, some tokens are easy, and decode's bandwidth bound makes verification FLOPs nearly free. The books disagree on the speedup because they report different conditions. The Handbook's own demo is the most instructive: a small Qwen target with a 0.5B draft on a T4 gained nothing significant, because the draft was not much cheaper. That EAGLE-2 comparison is at temperature 0 and batch 1. Past a critical sequence length, KV loading dominates, so speculation pays at large batch again; MagicDec measures up to 2.51 times on 8 H100s.</a:t>
            </a:r>
          </a:p>
          <a:p/>
          <a:p>
            <a:r>
              <a:t>Source: notes/08-adaptive-inference.md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Weight-only quantization is the popular approach, since it works out of the box and decode is bandwidth-bound. Pope's cost benefit is more than double at small batch and near zero at large batch. How well a model survives 4 bits depends on what it was trained to do. Kyutai's 7B Helium scores 52.97 on MMLU against 54.3 at BF16, while the same backbone tuned for speech falls from 49.7 to 42.2 under the same scheme. So re-run the eval on the checkpoint you will actually serve.</a:t>
            </a:r>
          </a:p>
          <a:p/>
          <a:p>
            <a:r>
              <a:t>Source: notes/08-adaptive-inference.md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our running model lands. At batch 1 launch overhead dominates eager PyTorch, so compiling gives the largest single gain. After that, each step works on a smaller remaining bottleneck. Huyen notes it was unclear how these steps affected quality, so INT4 needs an eval before you ship it. At large batch the picture changes: compile helps less, and speculation may not help. Dynamic precision, early exit and RL tuners remain experiments, and they should ship with a kill switch that reverts to a known-good configuration.</a:t>
            </a:r>
          </a:p>
          <a:p/>
          <a:p>
            <a:r>
              <a:t>Source: notes/08-adaptive-inference.md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success here has an automatic, adversarial check between the model and production. The verifier tests correctness against a reference on many shapes and edge cases, times properly with warm-up and synchronization, guards against reward hacking such as caching results, and hands over to human review before merge. Watch the baseline: two times FlexAttention on an exotic mask is not two times the best hand-written kernel. The 40 percent figure means most generated kernels are wrong. That is fine inside a verified search loop and dangerous anywhere else.</a:t>
            </a:r>
          </a:p>
          <a:p/>
          <a:p>
            <a:r>
              <a:t>Source: notes/09-checklist-and-ai-assisted-tuning.md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Fregly's appendix has roughly 175 to 180 items in 18 categories. The note boils it down to 28 lines in these six groups, for inference only. The appendix states its ranges loosely: torch.compile appears as both 10 to 40 percent and 20 to 50 percent. So treat every number as an order of magnitude to test, not a promise. The same verifier pattern works for configuration search over batch caps, TP degree and chunk sizes, which is a smaller and safer space than kernel code.</a:t>
            </a:r>
          </a:p>
          <a:p/>
          <a:p>
            <a:r>
              <a:t>Source: notes/09-checklist-and-ai-assisted-tuning.md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chain from today: decode is bandwidth-bound, so batching, disaggregation, quantization and speculation are all different answers to one sum, the one we did for 700 GB per second at the start.</a:t>
            </a:r>
          </a:p>
          <a:p/>
          <a:p>
            <a:r>
              <a:t>Source: notes/09-checklist-and-ai-assisted-tuning.md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Inference inherits the weaknesses of the layers above. A badly sized context or a loop making ten calls where two would do is a cost this layer can shave but not remove. Before you buy another GPU, check whether the prompt or the loop should change.</a:t>
            </a:r>
          </a:p>
          <a:p/>
          <a:p>
            <a:r>
              <a:t>Source: notes/01-why-inference-is-its-own-discipline.md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Inference Engineering</a:t>
            </a:r>
          </a:p>
        </p:txBody>
      </p:sp>
      <p:sp>
        <p:nvSpPr>
          <p:cNvPr id="7" name="TextBox 6"/>
          <p:cNvSpPr txBox="1"/>
          <p:nvPr/>
        </p:nvSpPr>
        <p:spPr>
          <a:xfrm>
            <a:off x="548640" y="3063240"/>
            <a:ext cx="4937760" cy="1298448"/>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Making a model answer fast enough and cheaply enough to ship</a:t>
            </a:r>
          </a:p>
        </p:txBody>
      </p:sp>
      <p:sp>
        <p:nvSpPr>
          <p:cNvPr id="8" name="Rectangle 7"/>
          <p:cNvSpPr/>
          <p:nvPr/>
        </p:nvSpPr>
        <p:spPr>
          <a:xfrm>
            <a:off x="548640" y="4590288"/>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10327"/>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Meters · The machine · The fleet · Spending the idle compute</a:t>
            </a:r>
          </a:p>
        </p:txBody>
      </p:sp>
      <p:sp>
        <p:nvSpPr>
          <p:cNvPr id="10" name="Rectangle 9"/>
          <p:cNvSpPr/>
          <p:nvPr/>
        </p:nvSpPr>
        <p:spPr>
          <a:xfrm>
            <a:off x="6492240" y="84124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41247"/>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6926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Reading the meters</a:t>
            </a:r>
          </a:p>
        </p:txBody>
      </p:sp>
      <p:sp>
        <p:nvSpPr>
          <p:cNvPr id="13" name="TextBox 12"/>
          <p:cNvSpPr txBox="1"/>
          <p:nvPr/>
        </p:nvSpPr>
        <p:spPr>
          <a:xfrm>
            <a:off x="6766560" y="128231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Two phases · Latency and goodput · Why GPU util lies</a:t>
            </a:r>
          </a:p>
        </p:txBody>
      </p:sp>
      <p:sp>
        <p:nvSpPr>
          <p:cNvPr id="14" name="Rectangle 13"/>
          <p:cNvSpPr/>
          <p:nvPr/>
        </p:nvSpPr>
        <p:spPr>
          <a:xfrm>
            <a:off x="6492240" y="2185415"/>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185415"/>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313432"/>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Inside the machine</a:t>
            </a:r>
          </a:p>
        </p:txBody>
      </p:sp>
      <p:sp>
        <p:nvSpPr>
          <p:cNvPr id="17" name="TextBox 16"/>
          <p:cNvSpPr txBox="1"/>
          <p:nvPr/>
        </p:nvSpPr>
        <p:spPr>
          <a:xfrm>
            <a:off x="6766560" y="2626487"/>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roofline · Memory ladder · The silent platform · Kernels · Compilers</a:t>
            </a:r>
          </a:p>
        </p:txBody>
      </p:sp>
      <p:sp>
        <p:nvSpPr>
          <p:cNvPr id="18" name="Rectangle 17"/>
          <p:cNvSpPr/>
          <p:nvPr/>
        </p:nvSpPr>
        <p:spPr>
          <a:xfrm>
            <a:off x="6492240" y="3529583"/>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529583"/>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657599"/>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Sharing a fleet</a:t>
            </a:r>
          </a:p>
        </p:txBody>
      </p:sp>
      <p:sp>
        <p:nvSpPr>
          <p:cNvPr id="21" name="TextBox 20"/>
          <p:cNvSpPr txBox="1"/>
          <p:nvPr/>
        </p:nvSpPr>
        <p:spPr>
          <a:xfrm>
            <a:off x="6766560" y="3970655"/>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Batching · Routing and parallelism · KV budget · Disaggregation · Prefix caching</a:t>
            </a:r>
          </a:p>
        </p:txBody>
      </p:sp>
      <p:sp>
        <p:nvSpPr>
          <p:cNvPr id="22" name="Rectangle 21"/>
          <p:cNvSpPr/>
          <p:nvPr/>
        </p:nvSpPr>
        <p:spPr>
          <a:xfrm>
            <a:off x="6492240" y="4873752"/>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873752"/>
            <a:ext cx="91440" cy="1143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5001768"/>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Spending the idle compute</a:t>
            </a:r>
          </a:p>
        </p:txBody>
      </p:sp>
      <p:sp>
        <p:nvSpPr>
          <p:cNvPr id="25" name="TextBox 24"/>
          <p:cNvSpPr txBox="1"/>
          <p:nvPr/>
        </p:nvSpPr>
        <p:spPr>
          <a:xfrm>
            <a:off x="6766560" y="5314823"/>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Speculative decoding · Quantization · Stacking gains · The checklist and AI tuning</a:t>
            </a:r>
          </a:p>
        </p:txBody>
      </p:sp>
      <p:sp>
        <p:nvSpPr>
          <p:cNvPr id="26" name="TextBox 25"/>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ai-engineering/07-inference-engineering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Reading the meters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Two phases · Latency and goodput · Why GPU util lies</a:t>
            </a:r>
          </a:p>
        </p:txBody>
      </p:sp>
      <p:cxnSp>
        <p:nvCxnSpPr>
          <p:cNvPr id="6" name="Connector 5"/>
          <p:cNvCxnSpPr/>
          <p:nvPr/>
        </p:nvCxnSpPr>
        <p:spPr>
          <a:xfrm>
            <a:off x="6446520" y="1885315"/>
            <a:ext cx="0" cy="30873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885315"/>
            <a:ext cx="4693615" cy="32702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GPU reads 100% busy, and users are still waiting</a:t>
            </a:r>
          </a:p>
          <a:p>
            <a:pPr algn="l">
              <a:lnSpc>
                <a:spcPct val="100000"/>
              </a:lnSpc>
              <a:spcBef>
                <a:spcPts val="1189"/>
              </a:spcBef>
            </a:pPr>
            <a:r>
              <a:rPr sz="1700" i="0" b="0">
                <a:solidFill>
                  <a:srgbClr val="CBD5E1"/>
                </a:solidFill>
                <a:latin typeface="Helvetica Neue"/>
              </a:rPr>
              <a:t>One request is two different workloads</a:t>
            </a:r>
          </a:p>
          <a:p>
            <a:pPr algn="l">
              <a:lnSpc>
                <a:spcPct val="100000"/>
              </a:lnSpc>
              <a:spcBef>
                <a:spcPts val="1189"/>
              </a:spcBef>
            </a:pPr>
            <a:r>
              <a:rPr sz="1700" i="0" b="0">
                <a:solidFill>
                  <a:srgbClr val="CBD5E1"/>
                </a:solidFill>
                <a:latin typeface="Helvetica Neue"/>
              </a:rPr>
              <a:t>Our running model, priced and measured</a:t>
            </a:r>
          </a:p>
          <a:p>
            <a:pPr algn="l">
              <a:lnSpc>
                <a:spcPct val="100000"/>
              </a:lnSpc>
              <a:spcBef>
                <a:spcPts val="1189"/>
              </a:spcBef>
            </a:pPr>
            <a:r>
              <a:rPr sz="1700" i="0" b="0">
                <a:solidFill>
                  <a:srgbClr val="CBD5E1"/>
                </a:solidFill>
                <a:latin typeface="Helvetica Neue"/>
              </a:rPr>
              <a:t>Goodput counts only the requests that kept the promise</a:t>
            </a:r>
          </a:p>
          <a:p>
            <a:pPr algn="l">
              <a:lnSpc>
                <a:spcPct val="100000"/>
              </a:lnSpc>
              <a:spcBef>
                <a:spcPts val="1189"/>
              </a:spcBef>
            </a:pPr>
            <a:r>
              <a:rPr sz="1700" i="0" b="0">
                <a:solidFill>
                  <a:srgbClr val="CBD5E1"/>
                </a:solidFill>
                <a:latin typeface="Helvetica Neue"/>
              </a:rPr>
              <a:t>Replace GPU util with two meters that disagree on purpose</a:t>
            </a:r>
          </a:p>
          <a:p>
            <a:pPr algn="l">
              <a:lnSpc>
                <a:spcPct val="100000"/>
              </a:lnSpc>
              <a:spcBef>
                <a:spcPts val="1189"/>
              </a:spcBef>
            </a:pPr>
            <a:r>
              <a:rPr sz="1700" i="0" b="0">
                <a:solidFill>
                  <a:srgbClr val="CBD5E1"/>
                </a:solidFill>
                <a:latin typeface="Helvetica Neue"/>
              </a:rPr>
              <a:t>Monday: put the right meters on the wall</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GPU reads 100% busy, and users are still waiting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GPU utilization is the share of time at least one kernel runs, not how much of the chip is working.</a:t>
            </a:r>
          </a:p>
        </p:txBody>
      </p:sp>
      <p:sp>
        <p:nvSpPr>
          <p:cNvPr id="12" name="Rectangle 11"/>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The dashboard says the GPU is 100% busy. A single tiny kernel running all the time would read exactly the same.</a:t>
            </a:r>
          </a:p>
        </p:txBody>
      </p:sp>
      <p:sp>
        <p:nvSpPr>
          <p:cNvPr id="14" name="TextBox 13"/>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DCGM_FI_DEV_GPU_UTIL counts time, not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request is two different workloads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TextBox 8"/>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Each phase sits on a different side of the roofline ridge, so each wants different engineering.</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Prefill is compute-bound and sets TTFT; decode is memory-bandwidth-bound and sets TPOT.</a:t>
            </a:r>
          </a:p>
        </p:txBody>
      </p:sp>
      <p:sp>
        <p:nvSpPr>
          <p:cNvPr id="13" name="Rounded Rectangle 12"/>
          <p:cNvSpPr/>
          <p:nvPr/>
        </p:nvSpPr>
        <p:spPr>
          <a:xfrm>
            <a:off x="2026767" y="2077212"/>
            <a:ext cx="2377440" cy="1641348"/>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3927" y="2077212"/>
            <a:ext cx="2103120" cy="1641348"/>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Prefill</a:t>
            </a:r>
          </a:p>
          <a:p>
            <a:pPr algn="ctr">
              <a:lnSpc>
                <a:spcPct val="110000"/>
              </a:lnSpc>
            </a:pPr>
            <a:r>
              <a:rPr sz="1300" i="0" b="0">
                <a:solidFill>
                  <a:srgbClr val="E8F4F8"/>
                </a:solidFill>
                <a:latin typeface="Helvetica Neue"/>
              </a:rPr>
              <a:t>all input tokens in parallel; compute-bound; sets TTFT</a:t>
            </a:r>
          </a:p>
        </p:txBody>
      </p:sp>
      <p:cxnSp>
        <p:nvCxnSpPr>
          <p:cNvPr id="15" name="Connector 14"/>
          <p:cNvCxnSpPr/>
          <p:nvPr/>
        </p:nvCxnSpPr>
        <p:spPr>
          <a:xfrm>
            <a:off x="4459071" y="289788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7127" y="2077212"/>
            <a:ext cx="2377440" cy="1641348"/>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4287" y="2077212"/>
            <a:ext cx="2103120" cy="1641348"/>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KV cache</a:t>
            </a:r>
          </a:p>
          <a:p>
            <a:pPr algn="ctr">
              <a:lnSpc>
                <a:spcPct val="110000"/>
              </a:lnSpc>
            </a:pPr>
            <a:r>
              <a:rPr sz="1300" i="0" b="0">
                <a:solidFill>
                  <a:srgbClr val="E8F4F8"/>
                </a:solidFill>
                <a:latin typeface="Helvetica Neue"/>
              </a:rPr>
              <a:t>the state that links the phases</a:t>
            </a:r>
          </a:p>
        </p:txBody>
      </p:sp>
      <p:cxnSp>
        <p:nvCxnSpPr>
          <p:cNvPr id="18" name="Connector 17"/>
          <p:cNvCxnSpPr/>
          <p:nvPr/>
        </p:nvCxnSpPr>
        <p:spPr>
          <a:xfrm>
            <a:off x="7339431" y="289788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87487" y="2077212"/>
            <a:ext cx="2377440" cy="1641348"/>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4647" y="2077212"/>
            <a:ext cx="2103120" cy="1641348"/>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Decode</a:t>
            </a:r>
          </a:p>
          <a:p>
            <a:pPr algn="ctr">
              <a:lnSpc>
                <a:spcPct val="110000"/>
              </a:lnSpc>
            </a:pPr>
            <a:r>
              <a:rPr sz="1300" i="0" b="0">
                <a:solidFill>
                  <a:srgbClr val="E8F4F8"/>
                </a:solidFill>
                <a:latin typeface="Helvetica Neue"/>
              </a:rPr>
              <a:t>one token per step, re-reads weights + KV; bandwidth-bound; sets TPOT</a:t>
            </a:r>
          </a:p>
        </p:txBody>
      </p:sp>
      <p:sp>
        <p:nvSpPr>
          <p:cNvPr id="21" name="TextBox 20"/>
          <p:cNvSpPr txBox="1"/>
          <p:nvPr/>
        </p:nvSpPr>
        <p:spPr>
          <a:xfrm>
            <a:off x="502920" y="4038600"/>
            <a:ext cx="11185855" cy="1447799"/>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Output tokens cost </a:t>
            </a:r>
            <a:r>
              <a:rPr sz="1700" i="0" b="1">
                <a:solidFill>
                  <a:srgbClr val="1E293B"/>
                </a:solidFill>
                <a:latin typeface="Helvetica Neue"/>
              </a:rPr>
              <a:t>2–4×</a:t>
            </a:r>
            <a:r>
              <a:rPr sz="1700" i="0" b="0">
                <a:solidFill>
                  <a:srgbClr val="475569"/>
                </a:solidFill>
                <a:latin typeface="Helvetica Neue"/>
              </a:rPr>
              <a:t> input tokens at API providers; one adds about the latency of </a:t>
            </a:r>
            <a:r>
              <a:rPr sz="1700" i="0" b="1">
                <a:solidFill>
                  <a:srgbClr val="1E293B"/>
                </a:solidFill>
                <a:latin typeface="Helvetica Neue"/>
              </a:rPr>
              <a:t>100</a:t>
            </a:r>
            <a:r>
              <a:rPr sz="1700" i="0" b="0">
                <a:solidFill>
                  <a:srgbClr val="475569"/>
                </a:solidFill>
                <a:latin typeface="Helvetica Neue"/>
              </a:rPr>
              <a:t> input tokens (Anyscale,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Our running model, priced and measured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7B FP16 model at 100 tokens/s reads 700 GB/s, so memory bandwidth limits it long before arithmetic does.</a:t>
            </a:r>
          </a:p>
        </p:txBody>
      </p:sp>
      <p:sp>
        <p:nvSpPr>
          <p:cNvPr id="12" name="Rounded Rectangle 11"/>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ARITHMETIC</a:t>
            </a:r>
          </a:p>
        </p:txBody>
      </p:sp>
      <p:sp>
        <p:nvSpPr>
          <p:cNvPr id="14" name="TextBox 13"/>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Cost (Huyen's worked example)</a:t>
            </a:r>
          </a:p>
          <a:p>
            <a:pPr algn="l">
              <a:lnSpc>
                <a:spcPct val="100000"/>
              </a:lnSpc>
            </a:pPr>
            <a:r>
              <a:rPr sz="1600" i="0" b="0">
                <a:solidFill>
                  <a:srgbClr val="E2E8F0"/>
                </a:solidFill>
                <a:latin typeface="Menlo"/>
              </a:rPr>
              <a:t>$2/hour at 100 output tok/s = $5.56 per M tok</a:t>
            </a:r>
          </a:p>
          <a:p>
            <a:pPr algn="l">
              <a:lnSpc>
                <a:spcPct val="100000"/>
              </a:lnSpc>
            </a:pPr>
            <a:r>
              <a:rPr sz="1600" i="0" b="0">
                <a:solidFill>
                  <a:srgbClr val="E2E8F0"/>
                </a:solidFill>
                <a:latin typeface="Menlo"/>
              </a:rPr>
              <a:t>1,000 requests x 200 tokens = $1.11 decode</a:t>
            </a:r>
          </a:p>
          <a:p>
            <a:pPr algn="l">
              <a:lnSpc>
                <a:spcPct val="100000"/>
              </a:lnSpc>
            </a:pPr>
            <a:r>
              <a:rPr sz="1600" i="0" b="0">
                <a:solidFill>
                  <a:srgbClr val="E2E8F0"/>
                </a:solidFill>
                <a:latin typeface="Menlo"/>
              </a:rPr>
              <a:t>prefill, 100 requests/min   = $0.33</a:t>
            </a:r>
          </a:p>
          <a:p>
            <a:pPr algn="l">
              <a:lnSpc>
                <a:spcPct val="100000"/>
              </a:lnSpc>
            </a:pPr>
            <a:r>
              <a:rPr sz="1600" i="0" b="0">
                <a:solidFill>
                  <a:srgbClr val="E2E8F0"/>
                </a:solidFill>
                <a:latin typeface="Menlo"/>
              </a:rPr>
              <a:t>total                       = $1.44</a:t>
            </a:r>
          </a:p>
          <a:p>
            <a:pPr algn="l">
              <a:lnSpc>
                <a:spcPct val="100000"/>
              </a:lnSpc>
            </a:pPr>
          </a:p>
          <a:p>
            <a:pPr algn="l">
              <a:lnSpc>
                <a:spcPct val="100000"/>
              </a:lnSpc>
            </a:pPr>
            <a:r>
              <a:rPr sz="1600" i="0" b="0">
                <a:solidFill>
                  <a:srgbClr val="E2E8F0"/>
                </a:solidFill>
                <a:latin typeface="Menlo"/>
              </a:rPr>
              <a:t># Bandwidth: 7B model, FP16, 100 tokens/s</a:t>
            </a:r>
          </a:p>
          <a:p>
            <a:pPr algn="l">
              <a:lnSpc>
                <a:spcPct val="100000"/>
              </a:lnSpc>
            </a:pPr>
            <a:r>
              <a:rPr sz="1600" i="0" b="0">
                <a:solidFill>
                  <a:srgbClr val="E2E8F0"/>
                </a:solidFill>
                <a:latin typeface="Menlo"/>
              </a:rPr>
              <a:t>7B x 2 bytes x 100          = 700 GB/s</a:t>
            </a:r>
          </a:p>
          <a:p>
            <a:pPr algn="l">
              <a:lnSpc>
                <a:spcPct val="100000"/>
              </a:lnSpc>
            </a:pPr>
            <a:r>
              <a:rPr sz="1600" i="0" b="0">
                <a:solidFill>
                  <a:srgbClr val="E2E8F0"/>
                </a:solidFill>
                <a:latin typeface="Menlo"/>
              </a:rPr>
              <a:t>A100 rated at 2 TB/s        = 70% MBU</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Throughput is cost:</a:t>
            </a:r>
            <a:r>
              <a:rPr sz="1800" i="0" b="0">
                <a:solidFill>
                  <a:srgbClr val="1E293B"/>
                </a:solidFill>
                <a:latin typeface="Helvetica Neue"/>
              </a:rPr>
              <a:t> it maps directly to dollars per token.</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Compare per request:</a:t>
            </a:r>
            <a:r>
              <a:rPr sz="1800" i="0" b="0">
                <a:solidFill>
                  <a:srgbClr val="1E293B"/>
                </a:solidFill>
                <a:latin typeface="Helvetica Neue"/>
              </a:rPr>
              <a:t> tokenizers differ across models.</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MBU</a:t>
            </a:r>
            <a:r>
              <a:rPr sz="1800" i="0" b="0">
                <a:solidFill>
                  <a:srgbClr val="1E293B"/>
                </a:solidFill>
                <a:latin typeface="Helvetica Neue"/>
              </a:rPr>
              <a:t> = bytes moved ÷ peak bandwidth.</a:t>
            </a:r>
          </a:p>
        </p:txBody>
      </p:sp>
      <p:sp>
        <p:nvSpPr>
          <p:cNvPr id="21" name="Rectangle 20"/>
          <p:cNvSpPr/>
          <p:nvPr/>
        </p:nvSpPr>
        <p:spPr>
          <a:xfrm>
            <a:off x="7580193" y="3826763"/>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739896"/>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Up to 90%</a:t>
            </a:r>
            <a:r>
              <a:rPr sz="1800" i="0" b="0">
                <a:solidFill>
                  <a:srgbClr val="1E293B"/>
                </a:solidFill>
                <a:latin typeface="Helvetica Neue"/>
              </a:rPr>
              <a:t> of a deployed system's ML cost can be inference (Desislavov, 2023).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Goodput counts only the requests that kept the promise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Goodput is the request rate that meets every latency SLO, so optimize it rather than raw throughput.</a:t>
            </a:r>
          </a:p>
        </p:txBody>
      </p:sp>
      <p:sp>
        <p:nvSpPr>
          <p:cNvPr id="12" name="Rectangle 11"/>
          <p:cNvSpPr/>
          <p:nvPr/>
        </p:nvSpPr>
        <p:spPr>
          <a:xfrm>
            <a:off x="1019590" y="1417320"/>
            <a:ext cx="5118879"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uyen-ai-engineering-fig9-4.png"/>
          <p:cNvPicPr>
            <a:picLocks noChangeAspect="1"/>
          </p:cNvPicPr>
          <p:nvPr/>
        </p:nvPicPr>
        <p:blipFill>
          <a:blip r:embed="rId2"/>
          <a:stretch>
            <a:fillRect/>
          </a:stretch>
        </p:blipFill>
        <p:spPr>
          <a:xfrm>
            <a:off x="1074454" y="1472184"/>
            <a:ext cx="5009151" cy="3602735"/>
          </a:xfrm>
          <a:prstGeom prst="rect">
            <a:avLst/>
          </a:prstGeom>
        </p:spPr>
      </p:pic>
      <p:sp>
        <p:nvSpPr>
          <p:cNvPr id="14" name="TextBox 13"/>
          <p:cNvSpPr txBox="1"/>
          <p:nvPr/>
        </p:nvSpPr>
        <p:spPr>
          <a:xfrm>
            <a:off x="502920" y="521207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SLO: TTFT ≤ 200 ms and TPOT ≤ 100 ms (Huyen, AI Engineering, Fig. 9-4)</a:t>
            </a:r>
          </a:p>
        </p:txBody>
      </p:sp>
      <p:sp>
        <p:nvSpPr>
          <p:cNvPr id="15" name="Rectangle 14"/>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Trading latency can double or triple raw throughput (LinkedIn, 2024).</a:t>
            </a:r>
          </a:p>
        </p:txBody>
      </p:sp>
      <p:sp>
        <p:nvSpPr>
          <p:cNvPr id="17" name="Rectangle 16"/>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Caption says </a:t>
            </a:r>
            <a:r>
              <a:rPr sz="1800" i="0" b="1">
                <a:solidFill>
                  <a:srgbClr val="1E293B"/>
                </a:solidFill>
                <a:latin typeface="Helvetica Neue"/>
              </a:rPr>
              <a:t>3</a:t>
            </a:r>
            <a:r>
              <a:rPr sz="1800" i="0" b="0">
                <a:solidFill>
                  <a:srgbClr val="1E293B"/>
                </a:solidFill>
                <a:latin typeface="Helvetica Neue"/>
              </a:rPr>
              <a:t> of 10 meet the SLO. Read the bars: only </a:t>
            </a:r>
            <a:r>
              <a:rPr sz="1800" i="0" b="1">
                <a:solidFill>
                  <a:srgbClr val="1E293B"/>
                </a:solidFill>
                <a:latin typeface="Helvetica Neue"/>
              </a:rPr>
              <a:t>2</a:t>
            </a:r>
            <a:r>
              <a:rPr sz="1800" i="0" b="0">
                <a:solidFill>
                  <a:srgbClr val="1E293B"/>
                </a:solidFill>
                <a:latin typeface="Helvetica Neue"/>
              </a:rPr>
              <a:t> clear both.</a:t>
            </a:r>
          </a:p>
        </p:txBody>
      </p:sp>
      <p:sp>
        <p:nvSpPr>
          <p:cNvPr id="19" name="Rectangle 18"/>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Report p50, p90, p99: one 3,000 ms outlier makes a 390 ms mean.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Replace GPU util with two meters that disagree on purpose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Track MFU for prefill, MBU for decode, and SM activity, because GPU util cannot see either bottleneck.</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What you have</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DCGM_FI_DEV_GPU_UTIL</a:t>
            </a:r>
            <a:r>
              <a:rPr sz="1700" i="0" b="0">
                <a:solidFill>
                  <a:srgbClr val="1E293B"/>
                </a:solidFill>
                <a:latin typeface="Helvetica Neue"/>
              </a:rPr>
              <a:t>: any kernel running</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tiny kernel reads 100%</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Autoscaling on 70% inherits the error</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time-active, not work</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What to read</a:t>
            </a:r>
          </a:p>
        </p:txBody>
      </p:sp>
      <p:sp>
        <p:nvSpPr>
          <p:cNvPr id="26" name="Rectangle 25"/>
          <p:cNvSpPr/>
          <p:nvPr/>
        </p:nvSpPr>
        <p:spPr>
          <a:xfrm>
            <a:off x="6507327" y="2308352"/>
            <a:ext cx="85343" cy="85343"/>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MFU:</a:t>
            </a:r>
            <a:r>
              <a:rPr sz="1600" i="0" b="0">
                <a:solidFill>
                  <a:srgbClr val="1E293B"/>
                </a:solidFill>
                <a:latin typeface="Helvetica Neue"/>
              </a:rPr>
              <a:t> FLOP/s ÷ peak FLOP/s. Prefill's meter</a:t>
            </a:r>
          </a:p>
        </p:txBody>
      </p:sp>
      <p:sp>
        <p:nvSpPr>
          <p:cNvPr id="28" name="Rectangle 27"/>
          <p:cNvSpPr/>
          <p:nvPr/>
        </p:nvSpPr>
        <p:spPr>
          <a:xfrm>
            <a:off x="6507327" y="2698496"/>
            <a:ext cx="85343" cy="85343"/>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21280"/>
            <a:ext cx="4587087"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MBU:</a:t>
            </a:r>
            <a:r>
              <a:rPr sz="1600" i="0" b="0">
                <a:solidFill>
                  <a:srgbClr val="1E293B"/>
                </a:solidFill>
                <a:latin typeface="Helvetica Neue"/>
              </a:rPr>
              <a:t> bytes/s ÷ peak bandwidth. Decode's meter</a:t>
            </a:r>
          </a:p>
        </p:txBody>
      </p:sp>
      <p:sp>
        <p:nvSpPr>
          <p:cNvPr id="30" name="Rectangle 29"/>
          <p:cNvSpPr/>
          <p:nvPr/>
        </p:nvSpPr>
        <p:spPr>
          <a:xfrm>
            <a:off x="6507327" y="3356864"/>
            <a:ext cx="85343" cy="85343"/>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279648"/>
            <a:ext cx="4587087" cy="627888"/>
          </a:xfrm>
          <a:prstGeom prst="rect">
            <a:avLst/>
          </a:prstGeom>
          <a:noFill/>
        </p:spPr>
        <p:txBody>
          <a:bodyPr wrap="square" lIns="0" rIns="0" tIns="0" bIns="0" anchor="t">
            <a:noAutofit/>
          </a:bodyPr>
          <a:lstStyle/>
          <a:p>
            <a:pPr algn="l">
              <a:lnSpc>
                <a:spcPct val="110000"/>
              </a:lnSpc>
            </a:pPr>
            <a:r>
              <a:rPr sz="1600" i="0" b="0">
                <a:solidFill>
                  <a:srgbClr val="1E293B"/>
                </a:solidFill>
                <a:latin typeface="Helvetica Neue"/>
              </a:rPr>
              <a:t>PaLM 540B prefill MFU: </a:t>
            </a:r>
            <a:r>
              <a:rPr sz="1600" i="0" b="1">
                <a:solidFill>
                  <a:srgbClr val="1E293B"/>
                </a:solidFill>
                <a:latin typeface="Helvetica Neue"/>
              </a:rPr>
              <a:t>43%</a:t>
            </a:r>
            <a:r>
              <a:rPr sz="1600" i="0" b="0">
                <a:solidFill>
                  <a:srgbClr val="1E293B"/>
                </a:solidFill>
                <a:latin typeface="Helvetica Neue"/>
              </a:rPr>
              <a:t> at batch 1, </a:t>
            </a:r>
            <a:r>
              <a:rPr sz="1600" i="0" b="1">
                <a:solidFill>
                  <a:srgbClr val="1E293B"/>
                </a:solidFill>
                <a:latin typeface="Helvetica Neue"/>
              </a:rPr>
              <a:t>76%</a:t>
            </a:r>
            <a:r>
              <a:rPr sz="1600" i="0" b="0">
                <a:solidFill>
                  <a:srgbClr val="1E293B"/>
                </a:solidFill>
                <a:latin typeface="Helvetica Neue"/>
              </a:rPr>
              <a:t> at 512</a:t>
            </a:r>
          </a:p>
        </p:txBody>
      </p:sp>
      <p:sp>
        <p:nvSpPr>
          <p:cNvPr id="32" name="Rectangle 31"/>
          <p:cNvSpPr/>
          <p:nvPr/>
        </p:nvSpPr>
        <p:spPr>
          <a:xfrm>
            <a:off x="6507327" y="4015232"/>
            <a:ext cx="85343" cy="85343"/>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27367" y="3938016"/>
            <a:ext cx="4587087" cy="627888"/>
          </a:xfrm>
          <a:prstGeom prst="rect">
            <a:avLst/>
          </a:prstGeom>
          <a:noFill/>
        </p:spPr>
        <p:txBody>
          <a:bodyPr wrap="square" lIns="0" rIns="0" tIns="0" bIns="0" anchor="t">
            <a:noAutofit/>
          </a:bodyPr>
          <a:lstStyle/>
          <a:p>
            <a:pPr algn="l">
              <a:lnSpc>
                <a:spcPct val="110000"/>
              </a:lnSpc>
            </a:pPr>
            <a:r>
              <a:rPr sz="1600" i="0" b="0">
                <a:solidFill>
                  <a:srgbClr val="1E293B"/>
                </a:solidFill>
                <a:latin typeface="Helvetica Neue"/>
              </a:rPr>
              <a:t>PaLM 540B decode MFU: </a:t>
            </a:r>
            <a:r>
              <a:rPr sz="1600" i="0" b="1">
                <a:solidFill>
                  <a:srgbClr val="1E293B"/>
                </a:solidFill>
                <a:latin typeface="Helvetica Neue"/>
              </a:rPr>
              <a:t>14%</a:t>
            </a:r>
            <a:r>
              <a:rPr sz="1600" i="0" b="0">
                <a:solidFill>
                  <a:srgbClr val="1E293B"/>
                </a:solidFill>
                <a:latin typeface="Helvetica Neue"/>
              </a:rPr>
              <a:t> at batch 64, </a:t>
            </a:r>
            <a:r>
              <a:rPr sz="1600" i="0" b="1">
                <a:solidFill>
                  <a:srgbClr val="1E293B"/>
                </a:solidFill>
                <a:latin typeface="Helvetica Neue"/>
              </a:rPr>
              <a:t>33%</a:t>
            </a:r>
            <a:r>
              <a:rPr sz="1600" i="0" b="0">
                <a:solidFill>
                  <a:srgbClr val="1E293B"/>
                </a:solidFill>
                <a:latin typeface="Helvetica Neue"/>
              </a:rPr>
              <a:t> at 512</a:t>
            </a:r>
          </a:p>
        </p:txBody>
      </p:sp>
      <p:sp>
        <p:nvSpPr>
          <p:cNvPr id="34" name="Rectangle 33"/>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Pope et al., MLSys 2023; 64 TPU v4 chips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Monday: put the right meters on the wall</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Reading the meters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Before tuning, define the SLO, split TTFT from TPOT, and price each request.</a:t>
            </a:r>
          </a:p>
        </p:txBody>
      </p:sp>
      <p:sp>
        <p:nvSpPr>
          <p:cNvPr id="12" name="Rectangle 11"/>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Split latency</a:t>
            </a:r>
            <a:r>
              <a:rPr sz="1800" i="0" b="0">
                <a:solidFill>
                  <a:srgbClr val="475569"/>
                </a:solidFill>
                <a:latin typeface="Helvetica Neue"/>
              </a:rPr>
              <a:t> — Measure TTFT and TPOT separately, at p50, p90 and p99, under realistic concurrency.</a:t>
            </a:r>
          </a:p>
        </p:txBody>
      </p:sp>
      <p:sp>
        <p:nvSpPr>
          <p:cNvPr id="16" name="Rectangle 15"/>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Write the SLO</a:t>
            </a:r>
            <a:r>
              <a:rPr sz="1800" i="0" b="0">
                <a:solidFill>
                  <a:srgbClr val="475569"/>
                </a:solidFill>
                <a:latin typeface="Helvetica Neue"/>
              </a:rPr>
              <a:t> — Optimize goodput against it, not raw throughput.</a:t>
            </a:r>
          </a:p>
        </p:txBody>
      </p:sp>
      <p:sp>
        <p:nvSpPr>
          <p:cNvPr id="20" name="Rectangle 19"/>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Change the utilization meters</a:t>
            </a:r>
            <a:r>
              <a:rPr sz="1800" i="0" b="0">
                <a:solidFill>
                  <a:srgbClr val="475569"/>
                </a:solidFill>
                <a:latin typeface="Helvetica Neue"/>
              </a:rPr>
              <a:t> — MFU for prefill, MBU for decode, plus SM activity.</a:t>
            </a:r>
          </a:p>
        </p:txBody>
      </p:sp>
      <p:sp>
        <p:nvSpPr>
          <p:cNvPr id="24" name="Rectangle 23"/>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Price per request</a:t>
            </a:r>
            <a:r>
              <a:rPr sz="1800" i="0" b="0">
                <a:solidFill>
                  <a:srgbClr val="475569"/>
                </a:solidFill>
                <a:latin typeface="Helvetica Neue"/>
              </a:rPr>
              <a:t> — Tokenizers differ, so per-token comparisons across models are approximate.</a:t>
            </a:r>
          </a:p>
        </p:txBody>
      </p:sp>
      <p:sp>
        <p:nvSpPr>
          <p:cNvPr id="28" name="Rectangle 27"/>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1" name="TextBox 30"/>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Name the level</a:t>
            </a:r>
            <a:r>
              <a:rPr sz="1800" i="0" b="0">
                <a:solidFill>
                  <a:srgbClr val="475569"/>
                </a:solidFill>
                <a:latin typeface="Helvetica Neue"/>
              </a:rPr>
              <a:t> — Model changes can alter outputs and need an eval. Service changes usually do 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Inside the machine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roofline · Memory ladder · The silent platform · Kernels · Compilers</a:t>
            </a:r>
          </a:p>
        </p:txBody>
      </p:sp>
      <p:cxnSp>
        <p:nvCxnSpPr>
          <p:cNvPr id="6" name="Connector 5"/>
          <p:cNvCxnSpPr/>
          <p:nvPr/>
        </p:nvCxnSpPr>
        <p:spPr>
          <a:xfrm>
            <a:off x="6446520" y="1102360"/>
            <a:ext cx="0" cy="46532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102360"/>
            <a:ext cx="4693615" cy="483616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Why adding compute does nothing for a slow decode</a:t>
            </a:r>
          </a:p>
          <a:p>
            <a:pPr algn="l">
              <a:lnSpc>
                <a:spcPct val="100000"/>
              </a:lnSpc>
              <a:spcBef>
                <a:spcPts val="1120"/>
              </a:spcBef>
            </a:pPr>
            <a:r>
              <a:rPr sz="1600" i="0" b="0">
                <a:solidFill>
                  <a:srgbClr val="CBD5E1"/>
                </a:solidFill>
                <a:latin typeface="Helvetica Neue"/>
              </a:rPr>
              <a:t>The roofline tells you which limit you are under</a:t>
            </a:r>
          </a:p>
          <a:p>
            <a:pPr algn="l">
              <a:lnSpc>
                <a:spcPct val="100000"/>
              </a:lnSpc>
              <a:spcBef>
                <a:spcPts val="1120"/>
              </a:spcBef>
            </a:pPr>
            <a:r>
              <a:rPr sz="1600" i="0" b="0">
                <a:solidFill>
                  <a:srgbClr val="CBD5E1"/>
                </a:solidFill>
                <a:latin typeface="Helvetica Neue"/>
              </a:rPr>
              <a:t>Every hop down the memory ladder costs more</a:t>
            </a:r>
          </a:p>
          <a:p>
            <a:pPr algn="l">
              <a:lnSpc>
                <a:spcPct val="100000"/>
              </a:lnSpc>
              <a:spcBef>
                <a:spcPts val="1120"/>
              </a:spcBef>
            </a:pPr>
            <a:r>
              <a:rPr sz="1600" i="0" b="0">
                <a:solidFill>
                  <a:srgbClr val="CBD5E1"/>
                </a:solidFill>
                <a:latin typeface="Helvetica Neue"/>
              </a:rPr>
              <a:t>The platform can cost more than any kernel, and it fails silently</a:t>
            </a:r>
          </a:p>
          <a:p>
            <a:pPr algn="l">
              <a:lnSpc>
                <a:spcPct val="100000"/>
              </a:lnSpc>
              <a:spcBef>
                <a:spcPts val="1120"/>
              </a:spcBef>
            </a:pPr>
            <a:r>
              <a:rPr sz="1600" i="0" b="0">
                <a:solidFill>
                  <a:srgbClr val="CBD5E1"/>
                </a:solidFill>
                <a:latin typeface="Helvetica Neue"/>
              </a:rPr>
              <a:t>Name the kernel's regime before you change its code</a:t>
            </a:r>
          </a:p>
          <a:p>
            <a:pPr algn="l">
              <a:lnSpc>
                <a:spcPct val="100000"/>
              </a:lnSpc>
              <a:spcBef>
                <a:spcPts val="1120"/>
              </a:spcBef>
            </a:pPr>
            <a:r>
              <a:rPr sz="1600" i="0" b="0">
                <a:solidFill>
                  <a:srgbClr val="CBD5E1"/>
                </a:solidFill>
                <a:latin typeface="Helvetica Neue"/>
              </a:rPr>
              <a:t>At small batch the GPU idles between launches</a:t>
            </a:r>
          </a:p>
          <a:p>
            <a:pPr algn="l">
              <a:lnSpc>
                <a:spcPct val="100000"/>
              </a:lnSpc>
              <a:spcBef>
                <a:spcPts val="1120"/>
              </a:spcBef>
            </a:pPr>
            <a:r>
              <a:rPr sz="1600" i="0" b="0">
                <a:solidFill>
                  <a:srgbClr val="CBD5E1"/>
                </a:solidFill>
                <a:latin typeface="Helvetica Neue"/>
              </a:rPr>
              <a:t>The compiler gives you most of this if shapes hold still</a:t>
            </a:r>
          </a:p>
          <a:p>
            <a:pPr algn="l">
              <a:lnSpc>
                <a:spcPct val="100000"/>
              </a:lnSpc>
              <a:spcBef>
                <a:spcPts val="1120"/>
              </a:spcBef>
            </a:pPr>
            <a:r>
              <a:rPr sz="1600" i="0" b="0">
                <a:solidFill>
                  <a:srgbClr val="CBD5E1"/>
                </a:solidFill>
                <a:latin typeface="Helvetica Neue"/>
              </a:rPr>
              <a:t>Monday: profile, fix the largest bottleneck, profile again</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Why adding compute does nothing for a slow decode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notes/02-the-hardware.md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kernel must either cover memory latency with other work or do more math per byte moved.</a:t>
            </a:r>
          </a:p>
        </p:txBody>
      </p:sp>
      <p:sp>
        <p:nvSpPr>
          <p:cNvPr id="12" name="Rectangle 11"/>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load from HBM costs the time of hundreds of arithmetic instructions. A faster math unit just waits faster.</a:t>
            </a:r>
          </a:p>
        </p:txBody>
      </p:sp>
      <p:sp>
        <p:nvSpPr>
          <p:cNvPr id="14" name="TextBox 13"/>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whole game is the ratio between the top and bottom of the memory ladder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roofline tells you which limit you are under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notes/02-the-hardware.md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Left of the roofline ridge only fewer bytes help; decode at batch 1 sits two orders of magnitude left of it.</a:t>
            </a:r>
          </a:p>
        </p:txBody>
      </p:sp>
      <p:sp>
        <p:nvSpPr>
          <p:cNvPr id="12" name="Rectangle 11"/>
          <p:cNvSpPr/>
          <p:nvPr/>
        </p:nvSpPr>
        <p:spPr>
          <a:xfrm>
            <a:off x="939025" y="1417320"/>
            <a:ext cx="5280009"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systems-performance-engineering-fig6-21.png"/>
          <p:cNvPicPr>
            <a:picLocks noChangeAspect="1"/>
          </p:cNvPicPr>
          <p:nvPr/>
        </p:nvPicPr>
        <p:blipFill>
          <a:blip r:embed="rId2"/>
          <a:stretch>
            <a:fillRect/>
          </a:stretch>
        </p:blipFill>
        <p:spPr>
          <a:xfrm>
            <a:off x="993889" y="1472184"/>
            <a:ext cx="5170281" cy="3602735"/>
          </a:xfrm>
          <a:prstGeom prst="rect">
            <a:avLst/>
          </a:prstGeom>
        </p:spPr>
      </p:pic>
      <p:sp>
        <p:nvSpPr>
          <p:cNvPr id="14" name="TextBox 13"/>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Roofline with 8 TB/s HBM and 80 TFLOPS FP32 (Fregly, AISPE, Fig. 6-21)</a:t>
            </a:r>
          </a:p>
        </p:txBody>
      </p:sp>
      <p:sp>
        <p:nvSpPr>
          <p:cNvPr id="15" name="Rectangle 14"/>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Ridge: 80 ÷ 8 = </a:t>
            </a:r>
            <a:r>
              <a:rPr sz="1800" i="0" b="1">
                <a:solidFill>
                  <a:srgbClr val="1E293B"/>
                </a:solidFill>
                <a:latin typeface="Helvetica Neue"/>
              </a:rPr>
              <a:t>10 FLOP/byte</a:t>
            </a:r>
            <a:r>
              <a:rPr sz="1800" i="0" b="0">
                <a:solidFill>
                  <a:srgbClr val="1E293B"/>
                </a:solidFill>
                <a:latin typeface="Helvetica Neue"/>
              </a:rPr>
              <a:t>.</a:t>
            </a:r>
          </a:p>
        </p:txBody>
      </p:sp>
      <p:sp>
        <p:nvSpPr>
          <p:cNvPr id="17" name="Rectangle 16"/>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Vector add: </a:t>
            </a:r>
            <a:r>
              <a:rPr sz="1800" i="0" b="1">
                <a:solidFill>
                  <a:srgbClr val="1E293B"/>
                </a:solidFill>
                <a:latin typeface="Helvetica Neue"/>
              </a:rPr>
              <a:t>0.083 FLOP/byte</a:t>
            </a:r>
            <a:r>
              <a:rPr sz="1800" i="0" b="0">
                <a:solidFill>
                  <a:srgbClr val="1E293B"/>
                </a:solidFill>
                <a:latin typeface="Helvetica Neue"/>
              </a:rPr>
              <a:t>, over 100× left of it.</a:t>
            </a:r>
          </a:p>
        </p:txBody>
      </p:sp>
      <p:sp>
        <p:nvSpPr>
          <p:cNvPr id="19" name="Rectangle 18"/>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Tensor-core ridge, dense BF16: about </a:t>
            </a:r>
            <a:r>
              <a:rPr sz="1800" i="0" b="1">
                <a:solidFill>
                  <a:srgbClr val="1E293B"/>
                </a:solidFill>
                <a:latin typeface="Helvetica Neue"/>
              </a:rPr>
              <a:t>280 FLOP/byte</a:t>
            </a:r>
            <a:r>
              <a:rPr sz="1800" i="0" b="0">
                <a:solidFill>
                  <a:srgbClr val="1E293B"/>
                </a:solidFill>
                <a:latin typeface="Helvetica Neue"/>
              </a:rPr>
              <a:t>.</a:t>
            </a:r>
          </a:p>
        </p:txBody>
      </p:sp>
      <p:sp>
        <p:nvSpPr>
          <p:cNvPr id="21" name="Rectangle 20"/>
          <p:cNvSpPr/>
          <p:nvPr/>
        </p:nvSpPr>
        <p:spPr>
          <a:xfrm>
            <a:off x="7020900" y="3479291"/>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3392423"/>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Decode GEMM at batch 1: about </a:t>
            </a:r>
            <a:r>
              <a:rPr sz="1800" i="0" b="1">
                <a:solidFill>
                  <a:srgbClr val="1E293B"/>
                </a:solidFill>
                <a:latin typeface="Helvetica Neue"/>
              </a:rPr>
              <a:t>1 FLOP/byte</a:t>
            </a:r>
            <a:r>
              <a:rPr sz="1800" i="0" b="0">
                <a:solidFill>
                  <a:srgbClr val="1E293B"/>
                </a:solidFill>
                <a:latin typeface="Helvetica Neue"/>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hop down the memory ladder costs more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notes/02-the-hardware.md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Performance work moves data up the ladder fewer times, and Grace memory is an overflow tier, not HBM.</a:t>
            </a:r>
          </a:p>
        </p:txBody>
      </p:sp>
      <p:sp>
        <p:nvSpPr>
          <p:cNvPr id="12" name="Rectangle 11"/>
          <p:cNvSpPr/>
          <p:nvPr/>
        </p:nvSpPr>
        <p:spPr>
          <a:xfrm>
            <a:off x="1645920" y="1472184"/>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10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10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2468879" y="1472184"/>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Registers</a:t>
            </a:r>
            <a:r>
              <a:rPr sz="1800" i="0" b="0">
                <a:solidFill>
                  <a:srgbClr val="475569"/>
                </a:solidFill>
                <a:latin typeface="Helvetica Neue"/>
              </a:rPr>
              <a:t> — ~1 cycle. 64K per SM.</a:t>
            </a:r>
          </a:p>
        </p:txBody>
      </p:sp>
      <p:sp>
        <p:nvSpPr>
          <p:cNvPr id="16" name="Rectangle 15"/>
          <p:cNvSpPr/>
          <p:nvPr/>
        </p:nvSpPr>
        <p:spPr>
          <a:xfrm>
            <a:off x="1645920" y="2296972"/>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10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10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2468879" y="2296972"/>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Shared memory</a:t>
            </a:r>
            <a:r>
              <a:rPr sz="1800" i="0" b="0">
                <a:solidFill>
                  <a:srgbClr val="475569"/>
                </a:solidFill>
                <a:latin typeface="Helvetica Neue"/>
              </a:rPr>
              <a:t> — ~20–30 cycles. Up to 228 KB per SM, managed by the programmer.</a:t>
            </a:r>
          </a:p>
        </p:txBody>
      </p:sp>
      <p:sp>
        <p:nvSpPr>
          <p:cNvPr id="20" name="Rectangle 19"/>
          <p:cNvSpPr/>
          <p:nvPr/>
        </p:nvSpPr>
        <p:spPr>
          <a:xfrm>
            <a:off x="1645920" y="3121761"/>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810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2468879" y="3121761"/>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L2</a:t>
            </a:r>
            <a:r>
              <a:rPr sz="1800" i="0" b="0">
                <a:solidFill>
                  <a:srgbClr val="475569"/>
                </a:solidFill>
                <a:latin typeface="Helvetica Neue"/>
              </a:rPr>
              <a:t> — ~200 cycles. 126 MB across the GPU.</a:t>
            </a:r>
          </a:p>
        </p:txBody>
      </p:sp>
      <p:sp>
        <p:nvSpPr>
          <p:cNvPr id="24" name="Rectangle 23"/>
          <p:cNvSpPr/>
          <p:nvPr/>
        </p:nvSpPr>
        <p:spPr>
          <a:xfrm>
            <a:off x="1645920" y="3946550"/>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10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10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2468879" y="3946550"/>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HBM3e</a:t>
            </a:r>
            <a:r>
              <a:rPr sz="1800" i="0" b="0">
                <a:solidFill>
                  <a:srgbClr val="475569"/>
                </a:solidFill>
                <a:latin typeface="Helvetica Neue"/>
              </a:rPr>
              <a:t> — Hundreds to ~1,000 cycles. 192 GB at ~8 TB/s.</a:t>
            </a:r>
          </a:p>
        </p:txBody>
      </p:sp>
      <p:sp>
        <p:nvSpPr>
          <p:cNvPr id="28" name="Rectangle 27"/>
          <p:cNvSpPr/>
          <p:nvPr/>
        </p:nvSpPr>
        <p:spPr>
          <a:xfrm>
            <a:off x="1645920" y="4771339"/>
            <a:ext cx="10042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810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10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1" name="TextBox 30"/>
          <p:cNvSpPr txBox="1"/>
          <p:nvPr/>
        </p:nvSpPr>
        <p:spPr>
          <a:xfrm>
            <a:off x="2468879" y="4771339"/>
            <a:ext cx="9037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Grace LPDDR5X</a:t>
            </a:r>
            <a:r>
              <a:rPr sz="1800" i="0" b="0">
                <a:solidFill>
                  <a:srgbClr val="475569"/>
                </a:solidFill>
                <a:latin typeface="Helvetica Neue"/>
              </a:rPr>
              <a:t> — Far higher. 480 GB through NVLink-C2C at ~900 GB/s, coherent but not uniform.</a:t>
            </a:r>
          </a:p>
        </p:txBody>
      </p:sp>
      <p:sp>
        <p:nvSpPr>
          <p:cNvPr id="32" name="TextBox 31"/>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slower, larger</a:t>
            </a:r>
          </a:p>
        </p:txBody>
      </p:sp>
      <p:cxnSp>
        <p:nvCxnSpPr>
          <p:cNvPr id="33" name="Connector 32"/>
          <p:cNvCxnSpPr/>
          <p:nvPr/>
        </p:nvCxnSpPr>
        <p:spPr>
          <a:xfrm>
            <a:off x="1005840" y="2066544"/>
            <a:ext cx="0" cy="332841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The platform can cost more than any kernel, and it fails silently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notes/03-the-platform.md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Check the NCCL log and NUMA binding on every deployment, because each of these faults just runs slowly.</a:t>
            </a:r>
          </a:p>
        </p:txBody>
      </p:sp>
      <p:sp>
        <p:nvSpPr>
          <p:cNvPr id="12" name="Rectangle 11"/>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Gloo vs NCCL</a:t>
            </a:r>
          </a:p>
        </p:txBody>
      </p:sp>
      <p:sp>
        <p:nvSpPr>
          <p:cNvPr id="15" name="TextBox 14"/>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400 MB all-reduce, 2 ranks: </a:t>
            </a:r>
            <a:r>
              <a:rPr sz="1800" i="0" b="1">
                <a:solidFill>
                  <a:srgbClr val="1E293B"/>
                </a:solidFill>
                <a:latin typeface="Helvetica Neue"/>
              </a:rPr>
              <a:t>200 ms</a:t>
            </a:r>
            <a:r>
              <a:rPr sz="1800" i="0" b="0">
                <a:solidFill>
                  <a:srgbClr val="475569"/>
                </a:solidFill>
                <a:latin typeface="Helvetica Neue"/>
              </a:rPr>
              <a:t> vs </a:t>
            </a:r>
            <a:r>
              <a:rPr sz="1800" i="0" b="1">
                <a:solidFill>
                  <a:srgbClr val="1E293B"/>
                </a:solidFill>
                <a:latin typeface="Helvetica Neue"/>
              </a:rPr>
              <a:t>4 ms</a:t>
            </a:r>
            <a:r>
              <a:rPr sz="1800" i="0" b="0">
                <a:solidFill>
                  <a:srgbClr val="475569"/>
                </a:solidFill>
                <a:latin typeface="Helvetica Neue"/>
              </a:rPr>
              <a:t>.</a:t>
            </a:r>
          </a:p>
        </p:txBody>
      </p:sp>
      <p:sp>
        <p:nvSpPr>
          <p:cNvPr id="16" name="Rectangle 15"/>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Communicator churn</a:t>
            </a:r>
          </a:p>
        </p:txBody>
      </p:sp>
      <p:sp>
        <p:nvSpPr>
          <p:cNvPr id="19" name="TextBox 18"/>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Per-iteration group: </a:t>
            </a:r>
            <a:r>
              <a:rPr sz="1800" i="0" b="1">
                <a:solidFill>
                  <a:srgbClr val="1E293B"/>
                </a:solidFill>
                <a:latin typeface="Helvetica Neue"/>
              </a:rPr>
              <a:t>48 ms</a:t>
            </a:r>
            <a:r>
              <a:rPr sz="1800" i="0" b="0">
                <a:solidFill>
                  <a:srgbClr val="475569"/>
                </a:solidFill>
                <a:latin typeface="Helvetica Neue"/>
              </a:rPr>
              <a:t> against a </a:t>
            </a:r>
            <a:r>
              <a:rPr sz="1800" i="0" b="1">
                <a:solidFill>
                  <a:srgbClr val="1E293B"/>
                </a:solidFill>
                <a:latin typeface="Helvetica Neue"/>
              </a:rPr>
              <a:t>0.5 ms</a:t>
            </a:r>
            <a:r>
              <a:rPr sz="1800" i="0" b="0">
                <a:solidFill>
                  <a:srgbClr val="475569"/>
                </a:solidFill>
                <a:latin typeface="Helvetica Neue"/>
              </a:rPr>
              <a:t> all-reduce.</a:t>
            </a:r>
          </a:p>
        </p:txBody>
      </p:sp>
      <p:sp>
        <p:nvSpPr>
          <p:cNvPr id="20" name="Rectangle 19"/>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Wrong NUMA node</a:t>
            </a:r>
          </a:p>
        </p:txBody>
      </p:sp>
      <p:sp>
        <p:nvSpPr>
          <p:cNvPr id="23" name="TextBox 22"/>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Local ~80 ns, remote ~139 ns. Binding gains </a:t>
            </a:r>
            <a:r>
              <a:rPr sz="1800" i="0" b="1">
                <a:solidFill>
                  <a:srgbClr val="1E293B"/>
                </a:solidFill>
                <a:latin typeface="Helvetica Neue"/>
              </a:rPr>
              <a:t>5–10%</a:t>
            </a:r>
            <a:r>
              <a:rPr sz="1800" i="0" b="0">
                <a:solidFill>
                  <a:srgbClr val="475569"/>
                </a:solidFill>
                <a:latin typeface="Helvetica Neue"/>
              </a:rPr>
              <a:t>.</a:t>
            </a:r>
          </a:p>
        </p:txBody>
      </p:sp>
      <p:sp>
        <p:nvSpPr>
          <p:cNvPr id="24" name="Rectangle 23"/>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Unpinned memory</a:t>
            </a:r>
          </a:p>
        </p:txBody>
      </p:sp>
      <p:sp>
        <p:nvSpPr>
          <p:cNvPr id="27" name="TextBox 26"/>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Pinning makes host-to-device copies </a:t>
            </a:r>
            <a:r>
              <a:rPr sz="1800" i="0" b="1">
                <a:solidFill>
                  <a:srgbClr val="1E293B"/>
                </a:solidFill>
                <a:latin typeface="Helvetica Neue"/>
              </a:rPr>
              <a:t>2–3×</a:t>
            </a:r>
            <a:r>
              <a:rPr sz="1800" i="0" b="0">
                <a:solidFill>
                  <a:srgbClr val="475569"/>
                </a:solidFill>
                <a:latin typeface="Helvetica Neue"/>
              </a:rPr>
              <a:t> faster.</a:t>
            </a:r>
          </a:p>
        </p:txBody>
      </p:sp>
      <p:sp>
        <p:nvSpPr>
          <p:cNvPr id="28" name="Rectangle 27"/>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616452"/>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RDMA fell back to TCP</a:t>
            </a:r>
          </a:p>
        </p:txBody>
      </p:sp>
      <p:sp>
        <p:nvSpPr>
          <p:cNvPr id="31" name="TextBox 30"/>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Look for </a:t>
            </a:r>
            <a:r>
              <a:rPr sz="1620" i="0" b="0">
                <a:solidFill>
                  <a:srgbClr val="0F7490"/>
                </a:solidFill>
                <a:latin typeface="Menlo"/>
              </a:rPr>
              <a:t>NET/Socket</a:t>
            </a:r>
            <a:r>
              <a:rPr sz="1800" i="0" b="0">
                <a:solidFill>
                  <a:srgbClr val="475569"/>
                </a:solidFill>
                <a:latin typeface="Helvetica Neue"/>
              </a:rPr>
              <a:t>, not </a:t>
            </a:r>
            <a:r>
              <a:rPr sz="1620" i="0" b="0">
                <a:solidFill>
                  <a:srgbClr val="0F7490"/>
                </a:solidFill>
                <a:latin typeface="Menlo"/>
              </a:rPr>
              <a:t>NET/IB</a:t>
            </a:r>
            <a:r>
              <a:rPr sz="1800" i="0" b="0">
                <a:solidFill>
                  <a:srgbClr val="475569"/>
                </a:solidFill>
                <a:latin typeface="Helvetica Neue"/>
              </a:rPr>
              <a:t>, in the NCCL log.</a:t>
            </a:r>
          </a:p>
        </p:txBody>
      </p:sp>
      <p:sp>
        <p:nvSpPr>
          <p:cNvPr id="32" name="Rectangle 31"/>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616452"/>
            <a:ext cx="82296" cy="1869948"/>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Cold driver</a:t>
            </a:r>
          </a:p>
        </p:txBody>
      </p:sp>
      <p:sp>
        <p:nvSpPr>
          <p:cNvPr id="35" name="TextBox 34"/>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Persistence mode avoids </a:t>
            </a:r>
            <a:r>
              <a:rPr sz="1800" i="0" b="1">
                <a:solidFill>
                  <a:srgbClr val="1E293B"/>
                </a:solidFill>
                <a:latin typeface="Helvetica Neue"/>
              </a:rPr>
              <a:t>1–2 s</a:t>
            </a:r>
            <a:r>
              <a:rPr sz="1800" i="0" b="0">
                <a:solidFill>
                  <a:srgbClr val="475569"/>
                </a:solidFill>
                <a:latin typeface="Helvetica Neue"/>
              </a:rPr>
              <a:t> of init per process.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Name the kernel's regime before you change its code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notes/04-kernels.md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kernel is underutilized, latency-bound, memory-bound or compute-bound, and fixing one usually reveals the next.</a:t>
            </a:r>
          </a:p>
        </p:txBody>
      </p:sp>
      <p:graphicFrame>
        <p:nvGraphicFramePr>
          <p:cNvPr id="12" name="Table 11"/>
          <p:cNvGraphicFramePr>
            <a:graphicFrameLocks noGrp="1"/>
          </p:cNvGraphicFramePr>
          <p:nvPr/>
        </p:nvGraphicFramePr>
        <p:xfrm>
          <a:off x="502920" y="1472184"/>
          <a:ext cx="11185854" cy="3063240"/>
        </p:xfrm>
        <a:graphic>
          <a:graphicData uri="http://schemas.openxmlformats.org/drawingml/2006/table">
            <a:tbl>
              <a:tblPr firstRow="1" bandRow="1">
                <a:tableStyleId>{5940675A-B579-460E-94D1-54222C63F5DA}</a:tableStyleId>
              </a:tblPr>
              <a:tblGrid>
                <a:gridCol w="2151126"/>
                <a:gridCol w="4517364"/>
                <a:gridCol w="4517364"/>
              </a:tblGrid>
              <a:tr h="405384">
                <a:tc>
                  <a:txBody>
                    <a:bodyPr wrap="square"/>
                    <a:lstStyle/>
                    <a:p>
                      <a:pPr>
                        <a:lnSpc>
                          <a:spcPct val="100000"/>
                        </a:lnSpc>
                      </a:pPr>
                      <a:r>
                        <a:rPr sz="1700" i="0" b="1">
                          <a:solidFill>
                            <a:srgbClr val="FFFFFF"/>
                          </a:solidFill>
                          <a:latin typeface="Helvetica Neue"/>
                        </a:rPr>
                        <a:t>Regime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Signature in Nsight Compute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Fix</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Underutilized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Few blocks, idle SMs, low occupancy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More parallelism: grid ≥ SMs, smaller tiles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Latency-bound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Low DRAM throughput, high scoreboard stalls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Hide latency: occupancy, ILP, prefetch, pipelining</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Memory-bound</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DRAM throughput ≳ 80% of peak</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Fewer bytes: fusion, tiling, lower precision</a:t>
                      </a:r>
                    </a:p>
                  </a:txBody>
                  <a:tcPr marL="109728" marR="109728" marT="54864" marB="54864" anchor="ctr">
                    <a:solidFill>
                      <a:srgbClr val="E8F4F8"/>
                    </a:solidFill>
                  </a:tcPr>
                </a:tc>
              </a:tr>
              <a:tr h="664464">
                <a:tc>
                  <a:txBody>
                    <a:bodyPr wrap="square"/>
                    <a:lstStyle/>
                    <a:p>
                      <a:pPr>
                        <a:lnSpc>
                          <a:spcPct val="100000"/>
                        </a:lnSpc>
                      </a:pPr>
                      <a:r>
                        <a:rPr sz="1700" i="0" b="1">
                          <a:solidFill>
                            <a:srgbClr val="1E293B"/>
                          </a:solidFill>
                          <a:latin typeface="Helvetica Neue"/>
                        </a:rPr>
                        <a:t>Compute-bound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Math pipes busy, Math Pipe Throttle stalls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Tensor cores, lower precision, or stop</a:t>
                      </a:r>
                    </a:p>
                  </a:txBody>
                  <a:tcPr marL="109728" marR="109728" marT="54864" marB="54864" anchor="ctr">
                    <a:solidFill>
                      <a:srgbClr val="F8FA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At small batch the GPU idles between launches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notes/04-kernels.md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CUDA graphs make no kernel faster; they remove the launch gaps, so engines capture one per batch-size bucket.</a:t>
            </a:r>
          </a:p>
        </p:txBody>
      </p:sp>
      <p:sp>
        <p:nvSpPr>
          <p:cNvPr id="12" name="Rectangle 11"/>
          <p:cNvSpPr/>
          <p:nvPr/>
        </p:nvSpPr>
        <p:spPr>
          <a:xfrm>
            <a:off x="448056" y="1417320"/>
            <a:ext cx="6261948" cy="214482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systems-performance-engineering-fig12-3.png"/>
          <p:cNvPicPr>
            <a:picLocks noChangeAspect="1"/>
          </p:cNvPicPr>
          <p:nvPr/>
        </p:nvPicPr>
        <p:blipFill>
          <a:blip r:embed="rId2"/>
          <a:stretch>
            <a:fillRect/>
          </a:stretch>
        </p:blipFill>
        <p:spPr>
          <a:xfrm>
            <a:off x="502920" y="1472184"/>
            <a:ext cx="6152220" cy="2035096"/>
          </a:xfrm>
          <a:prstGeom prst="rect">
            <a:avLst/>
          </a:prstGeom>
        </p:spPr>
      </p:pic>
      <p:sp>
        <p:nvSpPr>
          <p:cNvPr id="14" name="TextBox 13"/>
          <p:cNvSpPr txBox="1"/>
          <p:nvPr/>
        </p:nvSpPr>
        <p:spPr>
          <a:xfrm>
            <a:off x="502920" y="364444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Kernel launches with and without a CUDA graph (Fregly, AISPE, Fig. 12-3)</a:t>
            </a:r>
          </a:p>
        </p:txBody>
      </p:sp>
      <p:sp>
        <p:nvSpPr>
          <p:cNvPr id="15" name="Rectangle 14"/>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Short kernels run about as long as the CPU takes to launch them.</a:t>
            </a:r>
          </a:p>
        </p:txBody>
      </p:sp>
      <p:sp>
        <p:nvSpPr>
          <p:cNvPr id="17" name="Rectangle 16"/>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graph records once and replays with </a:t>
            </a:r>
            <a:r>
              <a:rPr sz="1800" i="0" b="1">
                <a:solidFill>
                  <a:srgbClr val="1E293B"/>
                </a:solidFill>
                <a:latin typeface="Helvetica Neue"/>
              </a:rPr>
              <a:t>one launch</a:t>
            </a:r>
            <a:r>
              <a:rPr sz="1800" i="0" b="0">
                <a:solidFill>
                  <a:srgbClr val="1E293B"/>
                </a:solidFill>
                <a:latin typeface="Helvetica Neue"/>
              </a:rPr>
              <a:t>.</a:t>
            </a:r>
          </a:p>
        </p:txBody>
      </p:sp>
      <p:sp>
        <p:nvSpPr>
          <p:cNvPr id="19" name="Rectangle 18"/>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Fregly reports often </a:t>
            </a:r>
            <a:r>
              <a:rPr sz="1800" i="0" b="1">
                <a:solidFill>
                  <a:srgbClr val="1E293B"/>
                </a:solidFill>
                <a:latin typeface="Helvetica Neue"/>
              </a:rPr>
              <a:t>20–30%</a:t>
            </a:r>
            <a:r>
              <a:rPr sz="1800" i="0" b="0">
                <a:solidFill>
                  <a:srgbClr val="1E293B"/>
                </a:solidFill>
                <a:latin typeface="Helvetica Neue"/>
              </a:rPr>
              <a:t> less latency.</a:t>
            </a:r>
          </a:p>
        </p:txBody>
      </p:sp>
      <p:sp>
        <p:nvSpPr>
          <p:cNvPr id="21" name="Rectangle 20"/>
          <p:cNvSpPr/>
          <p:nvPr/>
        </p:nvSpPr>
        <p:spPr>
          <a:xfrm>
            <a:off x="7020900" y="378104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Addresses are fixed: one graph per batch-size bucket.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compiler gives you most of this if shapes hold still</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notes/05-compilers-and-frameworks.md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Expect torch.compile to pay when small kernels and Python dominate, and much less when one big GEMM does.</a:t>
            </a:r>
          </a:p>
        </p:txBody>
      </p:sp>
      <p:sp>
        <p:nvSpPr>
          <p:cNvPr id="12" name="Rounded Rectangle 11"/>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Decode: fix the KV shape with a static cache</a:t>
            </a:r>
          </a:p>
          <a:p>
            <a:pPr algn="l">
              <a:lnSpc>
                <a:spcPct val="100000"/>
              </a:lnSpc>
            </a:pPr>
            <a:r>
              <a:rPr sz="1600" i="0" b="0">
                <a:solidFill>
                  <a:srgbClr val="E2E8F0"/>
                </a:solidFill>
                <a:latin typeface="Menlo"/>
              </a:rPr>
              <a:t>cfg = model.generation_config</a:t>
            </a:r>
          </a:p>
          <a:p>
            <a:pPr algn="l">
              <a:lnSpc>
                <a:spcPct val="100000"/>
              </a:lnSpc>
            </a:pPr>
            <a:r>
              <a:rPr sz="1600" i="0" b="0">
                <a:solidFill>
                  <a:srgbClr val="E2E8F0"/>
                </a:solidFill>
                <a:latin typeface="Menlo"/>
              </a:rPr>
              <a:t>cfg.cache_implementation = "static"</a:t>
            </a:r>
          </a:p>
          <a:p>
            <a:pPr algn="l">
              <a:lnSpc>
                <a:spcPct val="100000"/>
              </a:lnSpc>
            </a:pPr>
            <a:r>
              <a:rPr sz="1600" i="0" b="0">
                <a:solidFill>
                  <a:srgbClr val="E2E8F0"/>
                </a:solidFill>
                <a:latin typeface="Menlo"/>
              </a:rPr>
              <a:t>model.forward = torch.compile(</a:t>
            </a:r>
          </a:p>
          <a:p>
            <a:pPr algn="l">
              <a:lnSpc>
                <a:spcPct val="100000"/>
              </a:lnSpc>
            </a:pPr>
            <a:r>
              <a:rPr sz="1600" i="0" b="0">
                <a:solidFill>
                  <a:srgbClr val="E2E8F0"/>
                </a:solidFill>
                <a:latin typeface="Menlo"/>
              </a:rPr>
              <a:t>    model.forward,</a:t>
            </a:r>
          </a:p>
          <a:p>
            <a:pPr algn="l">
              <a:lnSpc>
                <a:spcPct val="100000"/>
              </a:lnSpc>
            </a:pPr>
            <a:r>
              <a:rPr sz="1600" i="0" b="0">
                <a:solidFill>
                  <a:srgbClr val="E2E8F0"/>
                </a:solidFill>
                <a:latin typeface="Menlo"/>
              </a:rPr>
              <a:t>    mode="reduce-overhead",</a:t>
            </a:r>
          </a:p>
          <a:p>
            <a:pPr algn="l">
              <a:lnSpc>
                <a:spcPct val="100000"/>
              </a:lnSpc>
            </a:pPr>
            <a:r>
              <a:rPr sz="1600" i="0" b="0">
                <a:solidFill>
                  <a:srgbClr val="E2E8F0"/>
                </a:solidFill>
                <a:latin typeface="Menlo"/>
              </a:rPr>
              <a:t>    fullgraph=True)</a:t>
            </a:r>
          </a:p>
          <a:p>
            <a:pPr algn="l">
              <a:lnSpc>
                <a:spcPct val="100000"/>
              </a:lnSpc>
            </a:pPr>
          </a:p>
          <a:p>
            <a:pPr algn="l">
              <a:lnSpc>
                <a:spcPct val="100000"/>
              </a:lnSpc>
            </a:pPr>
            <a:r>
              <a:rPr sz="1600" i="0" b="0">
                <a:solidFill>
                  <a:srgbClr val="E2E8F0"/>
                </a:solidFill>
                <a:latin typeface="Menlo"/>
              </a:rPr>
              <a:t># CI: allow known dims, fail on any recompile</a:t>
            </a:r>
          </a:p>
          <a:p>
            <a:pPr algn="l">
              <a:lnSpc>
                <a:spcPct val="100000"/>
              </a:lnSpc>
            </a:pPr>
            <a:r>
              <a:rPr sz="1600" i="0" b="0">
                <a:solidFill>
                  <a:srgbClr val="E2E8F0"/>
                </a:solidFill>
                <a:latin typeface="Menlo"/>
              </a:rPr>
              <a:t>torch._dynamo.mark_dynamic(input_ids, 1)</a:t>
            </a:r>
          </a:p>
          <a:p>
            <a:pPr algn="l">
              <a:lnSpc>
                <a:spcPct val="100000"/>
              </a:lnSpc>
            </a:pPr>
            <a:r>
              <a:rPr sz="1600" i="0" b="0">
                <a:solidFill>
                  <a:srgbClr val="E2E8F0"/>
                </a:solidFill>
                <a:latin typeface="Menlo"/>
              </a:rPr>
              <a:t>torch.compiler.set_stance("fail_on_recompile")</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Llama-7B, A100, batch 1: </a:t>
            </a:r>
            <a:r>
              <a:rPr sz="1800" i="0" b="1">
                <a:solidFill>
                  <a:srgbClr val="1E293B"/>
                </a:solidFill>
                <a:latin typeface="Helvetica Neue"/>
              </a:rPr>
              <a:t>25.5 → 107</a:t>
            </a:r>
            <a:r>
              <a:rPr sz="1800" i="0" b="0">
                <a:solidFill>
                  <a:srgbClr val="1E293B"/>
                </a:solidFill>
                <a:latin typeface="Helvetica Neue"/>
              </a:rPr>
              <a:t> tokens/s.</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MoE, </a:t>
            </a:r>
            <a:r>
              <a:rPr sz="1620" i="0" b="0">
                <a:solidFill>
                  <a:srgbClr val="0F7490"/>
                </a:solidFill>
                <a:latin typeface="Menlo"/>
              </a:rPr>
              <a:t>max-autotune</a:t>
            </a:r>
            <a:r>
              <a:rPr sz="1800" i="0" b="0">
                <a:solidFill>
                  <a:srgbClr val="1E293B"/>
                </a:solidFill>
                <a:latin typeface="Helvetica Neue"/>
              </a:rPr>
              <a:t>: </a:t>
            </a:r>
            <a:r>
              <a:rPr sz="1800" i="0" b="1">
                <a:solidFill>
                  <a:srgbClr val="1E293B"/>
                </a:solidFill>
                <a:latin typeface="Helvetica Neue"/>
              </a:rPr>
              <a:t>248 → 173 ms</a:t>
            </a:r>
            <a:r>
              <a:rPr sz="1800" i="0" b="0">
                <a:solidFill>
                  <a:srgbClr val="1E293B"/>
                </a:solidFill>
                <a:latin typeface="Helvetica Neue"/>
              </a:rPr>
              <a:t>.</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big dense GEMM: </a:t>
            </a:r>
            <a:r>
              <a:rPr sz="1800" i="0" b="1">
                <a:solidFill>
                  <a:srgbClr val="1E293B"/>
                </a:solidFill>
                <a:latin typeface="Helvetica Neue"/>
              </a:rPr>
              <a:t>under 10%</a:t>
            </a:r>
            <a:r>
              <a:rPr sz="1800" i="0" b="0">
                <a:solidFill>
                  <a:srgbClr val="1E293B"/>
                </a:solidFill>
                <a:latin typeface="Helvetica Neue"/>
              </a:rPr>
              <a:t>.</a:t>
            </a:r>
          </a:p>
        </p:txBody>
      </p:sp>
      <p:sp>
        <p:nvSpPr>
          <p:cNvPr id="21" name="Rectangle 20"/>
          <p:cNvSpPr/>
          <p:nvPr/>
        </p:nvSpPr>
        <p:spPr>
          <a:xfrm>
            <a:off x="7580193" y="352501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438144"/>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fullgraph=True</a:t>
            </a:r>
            <a:r>
              <a:rPr sz="1800" i="0" b="0">
                <a:solidFill>
                  <a:srgbClr val="1E293B"/>
                </a:solidFill>
                <a:latin typeface="Helvetica Neue"/>
              </a:rPr>
              <a:t> catches breaks; the stance catches recompiles.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Monday: profile, fix the largest bottleneck, profile again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Inside the machine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notes/05-compilers-and-frameworks.md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Profile the host before the device, and gate merges on a sustained 5% regression so the gain survives upgrades.</a:t>
            </a:r>
          </a:p>
        </p:txBody>
      </p:sp>
      <p:sp>
        <p:nvSpPr>
          <p:cNvPr id="12" name="Rectangle 11"/>
          <p:cNvSpPr/>
          <p:nvPr/>
        </p:nvSpPr>
        <p:spPr>
          <a:xfrm>
            <a:off x="502920" y="1568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Host first.</a:t>
            </a:r>
            <a:r>
              <a:rPr sz="2000" i="0" b="0">
                <a:solidFill>
                  <a:srgbClr val="1E293B"/>
                </a:solidFill>
                <a:latin typeface="Helvetica Neue"/>
              </a:rPr>
              <a:t> Fregly's MoE profile: </a:t>
            </a:r>
            <a:r>
              <a:rPr sz="2000" i="0" b="1">
                <a:solidFill>
                  <a:srgbClr val="1E293B"/>
                </a:solidFill>
                <a:latin typeface="Helvetica Neue"/>
              </a:rPr>
              <a:t>45%</a:t>
            </a:r>
            <a:r>
              <a:rPr sz="2000" i="0" b="0">
                <a:solidFill>
                  <a:srgbClr val="1E293B"/>
                </a:solidFill>
                <a:latin typeface="Helvetica Neue"/>
              </a:rPr>
              <a:t> Python </a:t>
            </a:r>
            <a:r>
              <a:rPr sz="1800" i="0" b="0">
                <a:solidFill>
                  <a:srgbClr val="0F7490"/>
                </a:solidFill>
                <a:latin typeface="Menlo"/>
              </a:rPr>
              <a:t>forward</a:t>
            </a:r>
            <a:r>
              <a:rPr sz="2000" i="0" b="0">
                <a:solidFill>
                  <a:srgbClr val="1E293B"/>
                </a:solidFill>
                <a:latin typeface="Helvetica Neue"/>
              </a:rPr>
              <a:t> overhead, </a:t>
            </a:r>
            <a:r>
              <a:rPr sz="2000" i="0" b="1">
                <a:solidFill>
                  <a:srgbClr val="1E293B"/>
                </a:solidFill>
                <a:latin typeface="Helvetica Neue"/>
              </a:rPr>
              <a:t>20.5%</a:t>
            </a:r>
            <a:r>
              <a:rPr sz="2000" i="0" b="0">
                <a:solidFill>
                  <a:srgbClr val="1E293B"/>
                </a:solidFill>
                <a:latin typeface="Helvetica Neue"/>
              </a:rPr>
              <a:t> </a:t>
            </a:r>
            <a:r>
              <a:rPr sz="1800" i="0" b="0">
                <a:solidFill>
                  <a:srgbClr val="0F7490"/>
                </a:solidFill>
                <a:latin typeface="Menlo"/>
              </a:rPr>
              <a:t>aten::matmul</a:t>
            </a:r>
            <a:r>
              <a:rPr sz="2000" i="0" b="0">
                <a:solidFill>
                  <a:srgbClr val="1E293B"/>
                </a:solidFill>
                <a:latin typeface="Helvetica Neue"/>
              </a:rPr>
              <a:t>.</a:t>
            </a:r>
          </a:p>
        </p:txBody>
      </p:sp>
      <p:sp>
        <p:nvSpPr>
          <p:cNvPr id="14" name="Rectangle 13"/>
          <p:cNvSpPr/>
          <p:nvPr/>
        </p:nvSpPr>
        <p:spPr>
          <a:xfrm>
            <a:off x="502920" y="205638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5986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Time it honestly.</a:t>
            </a:r>
            <a:r>
              <a:rPr sz="2000" i="0" b="0">
                <a:solidFill>
                  <a:srgbClr val="1E293B"/>
                </a:solidFill>
                <a:latin typeface="Helvetica Neue"/>
              </a:rPr>
              <a:t> Call </a:t>
            </a:r>
            <a:r>
              <a:rPr sz="1800" i="0" b="0">
                <a:solidFill>
                  <a:srgbClr val="0F7490"/>
                </a:solidFill>
                <a:latin typeface="Menlo"/>
              </a:rPr>
              <a:t>torch.cuda.synchronize()</a:t>
            </a:r>
            <a:r>
              <a:rPr sz="2000" i="0" b="0">
                <a:solidFill>
                  <a:srgbClr val="1E293B"/>
                </a:solidFill>
                <a:latin typeface="Helvetica Neue"/>
              </a:rPr>
              <a:t>, or you are measuring the launch.</a:t>
            </a:r>
          </a:p>
        </p:txBody>
      </p:sp>
      <p:sp>
        <p:nvSpPr>
          <p:cNvPr id="16" name="Rectangle 15"/>
          <p:cNvSpPr/>
          <p:nvPr/>
        </p:nvSpPr>
        <p:spPr>
          <a:xfrm>
            <a:off x="502920" y="254406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4475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Then one hot kernel,</a:t>
            </a:r>
            <a:r>
              <a:rPr sz="2000" i="0" b="0">
                <a:solidFill>
                  <a:srgbClr val="1E293B"/>
                </a:solidFill>
                <a:latin typeface="Helvetica Neue"/>
              </a:rPr>
              <a:t> with Nsight Compute and its largest stall bars.</a:t>
            </a:r>
          </a:p>
        </p:txBody>
      </p:sp>
      <p:sp>
        <p:nvSpPr>
          <p:cNvPr id="18" name="Rectangle 17"/>
          <p:cNvSpPr/>
          <p:nvPr/>
        </p:nvSpPr>
        <p:spPr>
          <a:xfrm>
            <a:off x="502920" y="303174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93522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Guard the gain.</a:t>
            </a:r>
            <a:r>
              <a:rPr sz="2000" i="0" b="0">
                <a:solidFill>
                  <a:srgbClr val="1E293B"/>
                </a:solidFill>
                <a:latin typeface="Helvetica Neue"/>
              </a:rPr>
              <a:t> Fail CI on a slowdown of </a:t>
            </a:r>
            <a:r>
              <a:rPr sz="2000" i="0" b="1">
                <a:solidFill>
                  <a:srgbClr val="1E293B"/>
                </a:solidFill>
                <a:latin typeface="Helvetica Neue"/>
              </a:rPr>
              <a:t>5% or more</a:t>
            </a:r>
            <a:r>
              <a:rPr sz="2000" i="0" b="0">
                <a:solidFill>
                  <a:srgbClr val="1E293B"/>
                </a:solidFill>
                <a:latin typeface="Helvetica Neue"/>
              </a:rPr>
              <a:t> sustained over </a:t>
            </a:r>
            <a:r>
              <a:rPr sz="2000" i="0" b="1">
                <a:solidFill>
                  <a:srgbClr val="1E293B"/>
                </a:solidFill>
                <a:latin typeface="Helvetica Neue"/>
              </a:rPr>
              <a:t>3 runs</a:t>
            </a:r>
            <a:r>
              <a:rPr sz="2000" i="0" b="0">
                <a:solidFill>
                  <a:srgbClr val="1E293B"/>
                </a:solidFill>
                <a:latin typeface="Helvetica Neue"/>
              </a:rPr>
              <a:t>, on pinned versions.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Sharing a fleet</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Batching · Routing and parallelism · KV budget · Disaggregation · Prefix caching</a:t>
            </a:r>
          </a:p>
        </p:txBody>
      </p:sp>
      <p:cxnSp>
        <p:nvCxnSpPr>
          <p:cNvPr id="6" name="Connector 5"/>
          <p:cNvCxnSpPr/>
          <p:nvPr/>
        </p:nvCxnSpPr>
        <p:spPr>
          <a:xfrm>
            <a:off x="6446520" y="1102360"/>
            <a:ext cx="0" cy="46532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102360"/>
            <a:ext cx="4693615" cy="483616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Why does a 10-token answer wait for a 1,000-token one?</a:t>
            </a:r>
          </a:p>
          <a:p>
            <a:pPr algn="l">
              <a:lnSpc>
                <a:spcPct val="100000"/>
              </a:lnSpc>
              <a:spcBef>
                <a:spcPts val="1120"/>
              </a:spcBef>
            </a:pPr>
            <a:r>
              <a:rPr sz="1600" i="0" b="0">
                <a:solidFill>
                  <a:srgbClr val="CBD5E1"/>
                </a:solidFill>
                <a:latin typeface="Helvetica Neue"/>
              </a:rPr>
              <a:t>Continuous batching gives the slot back at every step</a:t>
            </a:r>
          </a:p>
          <a:p>
            <a:pPr algn="l">
              <a:lnSpc>
                <a:spcPct val="100000"/>
              </a:lnSpc>
              <a:spcBef>
                <a:spcPts val="1120"/>
              </a:spcBef>
            </a:pPr>
            <a:r>
              <a:rPr sz="1600" i="0" b="0">
                <a:solidFill>
                  <a:srgbClr val="CBD5E1"/>
                </a:solidFill>
                <a:latin typeface="Helvetica Neue"/>
              </a:rPr>
              <a:t>The router decides latency as much as the GPU does</a:t>
            </a:r>
          </a:p>
          <a:p>
            <a:pPr algn="l">
              <a:lnSpc>
                <a:spcPct val="100000"/>
              </a:lnSpc>
              <a:spcBef>
                <a:spcPts val="1120"/>
              </a:spcBef>
            </a:pPr>
            <a:r>
              <a:rPr sz="1600" i="0" b="0">
                <a:solidFill>
                  <a:srgbClr val="CBD5E1"/>
                </a:solidFill>
                <a:latin typeface="Helvetica Neue"/>
              </a:rPr>
              <a:t>Split the model only as far as you must</a:t>
            </a:r>
          </a:p>
          <a:p>
            <a:pPr algn="l">
              <a:lnSpc>
                <a:spcPct val="100000"/>
              </a:lnSpc>
              <a:spcBef>
                <a:spcPts val="1120"/>
              </a:spcBef>
            </a:pPr>
            <a:r>
              <a:rPr sz="1600" i="0" b="0">
                <a:solidFill>
                  <a:srgbClr val="CBD5E1"/>
                </a:solidFill>
                <a:latin typeface="Helvetica Neue"/>
              </a:rPr>
              <a:t>Size the KV cache from KV heads, then divide your memory</a:t>
            </a:r>
          </a:p>
          <a:p>
            <a:pPr algn="l">
              <a:lnSpc>
                <a:spcPct val="100000"/>
              </a:lnSpc>
              <a:spcBef>
                <a:spcPts val="1120"/>
              </a:spcBef>
            </a:pPr>
            <a:r>
              <a:rPr sz="1600" i="0" b="0">
                <a:solidFill>
                  <a:srgbClr val="CBD5E1"/>
                </a:solidFill>
                <a:latin typeface="Helvetica Neue"/>
              </a:rPr>
              <a:t>Splitting prefill from decode doubled goodput on the same GPUs</a:t>
            </a:r>
          </a:p>
          <a:p>
            <a:pPr algn="l">
              <a:lnSpc>
                <a:spcPct val="100000"/>
              </a:lnSpc>
              <a:spcBef>
                <a:spcPts val="1120"/>
              </a:spcBef>
            </a:pPr>
            <a:r>
              <a:rPr sz="1600" i="0" b="0">
                <a:solidFill>
                  <a:srgbClr val="CBD5E1"/>
                </a:solidFill>
                <a:latin typeface="Helvetica Neue"/>
              </a:rPr>
              <a:t>Stable content first, or the prefix cache cannot help</a:t>
            </a:r>
          </a:p>
          <a:p>
            <a:pPr algn="l">
              <a:lnSpc>
                <a:spcPct val="100000"/>
              </a:lnSpc>
              <a:spcBef>
                <a:spcPts val="1120"/>
              </a:spcBef>
            </a:pPr>
            <a:r>
              <a:rPr sz="1600" i="0" b="0">
                <a:solidFill>
                  <a:srgbClr val="CBD5E1"/>
                </a:solidFill>
                <a:latin typeface="Helvetica Neue"/>
              </a:rPr>
              <a:t>Monday: scale on signals that see the real limit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Why does a 10-token answer wait for a 1,000-token one?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notes/06-serving-at-scale.md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Requests of unknown, unequal length waste batch slots unless the scheduler works per decode step.</a:t>
            </a:r>
          </a:p>
        </p:txBody>
      </p:sp>
      <p:sp>
        <p:nvSpPr>
          <p:cNvPr id="12" name="Rectangle 11"/>
          <p:cNvSpPr/>
          <p:nvPr/>
        </p:nvSpPr>
        <p:spPr>
          <a:xfrm>
            <a:off x="777240" y="1997964"/>
            <a:ext cx="109728" cy="2962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One request needs 10 output tokens and its neighbour needs 1,000. In a static or dynamic batch, the short one holds its slot for all 1,000 steps.</a:t>
            </a:r>
          </a:p>
        </p:txBody>
      </p:sp>
      <p:sp>
        <p:nvSpPr>
          <p:cNvPr id="14" name="TextBox 13"/>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Huyen, AI Engineering, ch. 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Continuous batching gives the slot back at every step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notes/07-prefill-decode-kv-cache.md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Continuous batching swaps sequences in at every decode step, and paged KV memory is what makes that safe.</a:t>
            </a:r>
          </a:p>
        </p:txBody>
      </p:sp>
      <p:sp>
        <p:nvSpPr>
          <p:cNvPr id="12" name="Rectangle 11"/>
          <p:cNvSpPr/>
          <p:nvPr/>
        </p:nvSpPr>
        <p:spPr>
          <a:xfrm>
            <a:off x="448055" y="1417320"/>
            <a:ext cx="6261948" cy="220045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systems-performance-engineering-fig16-6.png"/>
          <p:cNvPicPr>
            <a:picLocks noChangeAspect="1"/>
          </p:cNvPicPr>
          <p:nvPr/>
        </p:nvPicPr>
        <p:blipFill>
          <a:blip r:embed="rId2"/>
          <a:stretch>
            <a:fillRect/>
          </a:stretch>
        </p:blipFill>
        <p:spPr>
          <a:xfrm>
            <a:off x="502919" y="1472184"/>
            <a:ext cx="6152220" cy="2090726"/>
          </a:xfrm>
          <a:prstGeom prst="rect">
            <a:avLst/>
          </a:prstGeom>
        </p:spPr>
      </p:pic>
      <p:sp>
        <p:nvSpPr>
          <p:cNvPr id="14" name="TextBox 13"/>
          <p:cNvSpPr txBox="1"/>
          <p:nvPr/>
        </p:nvSpPr>
        <p:spPr>
          <a:xfrm>
            <a:off x="502920" y="370007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Static vs continuous. Yellow prefill, blue decode, red end of sequence (Fregly, AISPE, Fig. 16-6)</a:t>
            </a:r>
          </a:p>
        </p:txBody>
      </p:sp>
      <p:sp>
        <p:nvSpPr>
          <p:cNvPr id="15" name="Rectangle 14"/>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Introduced by </a:t>
            </a:r>
            <a:r>
              <a:rPr sz="1800" i="0" b="1">
                <a:solidFill>
                  <a:srgbClr val="1E293B"/>
                </a:solidFill>
                <a:latin typeface="Helvetica Neue"/>
              </a:rPr>
              <a:t>Orca</a:t>
            </a:r>
            <a:r>
              <a:rPr sz="1800" i="0" b="0">
                <a:solidFill>
                  <a:srgbClr val="1E293B"/>
                </a:solidFill>
                <a:latin typeface="Helvetica Neue"/>
              </a:rPr>
              <a:t> (OSDI 2022), now default in vLLM, SGLang, TGI, TensorRT-LLM.</a:t>
            </a:r>
          </a:p>
        </p:txBody>
      </p:sp>
      <p:sp>
        <p:nvSpPr>
          <p:cNvPr id="17" name="Rectangle 16"/>
          <p:cNvSpPr/>
          <p:nvPr/>
        </p:nvSpPr>
        <p:spPr>
          <a:xfrm>
            <a:off x="7020900" y="260146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514600"/>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Paged KV: </a:t>
            </a:r>
            <a:r>
              <a:rPr sz="1800" i="0" b="1">
                <a:solidFill>
                  <a:srgbClr val="1E293B"/>
                </a:solidFill>
                <a:latin typeface="Helvetica Neue"/>
              </a:rPr>
              <a:t>20–38%</a:t>
            </a:r>
            <a:r>
              <a:rPr sz="1800" i="0" b="0">
                <a:solidFill>
                  <a:srgbClr val="1E293B"/>
                </a:solidFill>
                <a:latin typeface="Helvetica Neue"/>
              </a:rPr>
              <a:t> of memory used before, </a:t>
            </a:r>
            <a:r>
              <a:rPr sz="1800" i="0" b="1">
                <a:solidFill>
                  <a:srgbClr val="1E293B"/>
                </a:solidFill>
                <a:latin typeface="Helvetica Neue"/>
              </a:rPr>
              <a:t>under 4%</a:t>
            </a:r>
            <a:r>
              <a:rPr sz="1800" i="0" b="0">
                <a:solidFill>
                  <a:srgbClr val="1E293B"/>
                </a:solidFill>
                <a:latin typeface="Helvetica Neue"/>
              </a:rPr>
              <a:t> wasted after (Kwon, 2023).</a:t>
            </a:r>
          </a:p>
        </p:txBody>
      </p:sp>
      <p:sp>
        <p:nvSpPr>
          <p:cNvPr id="19" name="Rectangle 18"/>
          <p:cNvSpPr/>
          <p:nvPr/>
        </p:nvSpPr>
        <p:spPr>
          <a:xfrm>
            <a:off x="7020900" y="364388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3557016"/>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Cap the batch where p99 TPOT climbs.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router decides latency as much as the GPU does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notes/06-serving-at-scale.md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Route on load and cache affinity, not round-robin, because requests and replicas are not interchangeable.</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ARITHMETIC</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Length-aware: prefill cost ~ N(N+1)/2</a:t>
            </a:r>
          </a:p>
          <a:p>
            <a:pPr algn="l">
              <a:lnSpc>
                <a:spcPct val="100000"/>
              </a:lnSpc>
            </a:pPr>
            <a:r>
              <a:rPr sz="1600" i="0" b="0">
                <a:solidFill>
                  <a:srgbClr val="E2E8F0"/>
                </a:solidFill>
                <a:latin typeface="Menlo"/>
              </a:rPr>
              <a:t>[6K,2K,6K,2K,2K,2K] on two GPUs</a:t>
            </a:r>
          </a:p>
          <a:p>
            <a:pPr algn="l">
              <a:lnSpc>
                <a:spcPct val="100000"/>
              </a:lnSpc>
            </a:pPr>
            <a:r>
              <a:rPr sz="1600" i="0" b="0">
                <a:solidFill>
                  <a:srgbClr val="E2E8F0"/>
                </a:solidFill>
                <a:latin typeface="Menlo"/>
              </a:rPr>
              <a:t>both 6K on one GPU: ~38.0M Q*K products</a:t>
            </a:r>
          </a:p>
          <a:p>
            <a:pPr algn="l">
              <a:lnSpc>
                <a:spcPct val="100000"/>
              </a:lnSpc>
            </a:pPr>
            <a:r>
              <a:rPr sz="1600" i="0" b="0">
                <a:solidFill>
                  <a:srgbClr val="E2E8F0"/>
                </a:solidFill>
                <a:latin typeface="Menlo"/>
              </a:rPr>
              <a:t>[2K,2K,6K] on each: ~22.0M, 42% less</a:t>
            </a:r>
          </a:p>
          <a:p>
            <a:pPr algn="l">
              <a:lnSpc>
                <a:spcPct val="100000"/>
              </a:lnSpc>
            </a:pPr>
          </a:p>
          <a:p>
            <a:pPr algn="l">
              <a:lnSpc>
                <a:spcPct val="100000"/>
              </a:lnSpc>
            </a:pPr>
            <a:r>
              <a:rPr sz="1600" i="0" b="0">
                <a:solidFill>
                  <a:srgbClr val="E2E8F0"/>
                </a:solidFill>
                <a:latin typeface="Menlo"/>
              </a:rPr>
              <a:t># Cascade: 60% go to a 10x smaller model</a:t>
            </a:r>
          </a:p>
          <a:p>
            <a:pPr algn="l">
              <a:lnSpc>
                <a:spcPct val="100000"/>
              </a:lnSpc>
            </a:pPr>
            <a:r>
              <a:rPr sz="1600" i="0" b="0">
                <a:solidFill>
                  <a:srgbClr val="E2E8F0"/>
                </a:solidFill>
                <a:latin typeface="Menlo"/>
              </a:rPr>
              <a:t>0.6 x 0.1 + 0.4 x 1.0 = 0.46 relative cost</a:t>
            </a:r>
          </a:p>
          <a:p>
            <a:pPr algn="l">
              <a:lnSpc>
                <a:spcPct val="100000"/>
              </a:lnSpc>
            </a:pPr>
            <a:r>
              <a:rPr sz="1600" i="0" b="0">
                <a:solidFill>
                  <a:srgbClr val="E2E8F0"/>
                </a:solidFill>
                <a:latin typeface="Menlo"/>
              </a:rPr>
              <a:t>about 2.2x cheaper, not the book's claimed 5x</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Requests differ in cost by orders of magnitude.</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Replicas differ in which prefixes they hold.</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Route on </a:t>
            </a:r>
            <a:r>
              <a:rPr sz="1800" i="0" b="1">
                <a:solidFill>
                  <a:srgbClr val="1E293B"/>
                </a:solidFill>
                <a:latin typeface="Helvetica Neue"/>
              </a:rPr>
              <a:t>load</a:t>
            </a:r>
            <a:r>
              <a:rPr sz="1800" i="0" b="0">
                <a:solidFill>
                  <a:srgbClr val="1E293B"/>
                </a:solidFill>
                <a:latin typeface="Helvetica Neue"/>
              </a:rPr>
              <a:t> and </a:t>
            </a:r>
            <a:r>
              <a:rPr sz="1800" i="0" b="1">
                <a:solidFill>
                  <a:srgbClr val="1E293B"/>
                </a:solidFill>
                <a:latin typeface="Helvetica Neue"/>
              </a:rPr>
              <a:t>cache affinity</a:t>
            </a:r>
            <a:r>
              <a:rPr sz="1800" i="0" b="0">
                <a:solidFill>
                  <a:srgbClr val="1E293B"/>
                </a:solidFill>
                <a:latin typeface="Helvetica Neue"/>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Split the model only as far as you must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notes/06-serving-at-scale.md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Compose TP inside one NVLink domain, add PP only for capacity, add EP for MoE, then replicate with DP.</a:t>
            </a:r>
          </a:p>
        </p:txBody>
      </p:sp>
      <p:graphicFrame>
        <p:nvGraphicFramePr>
          <p:cNvPr id="12" name="Table 11"/>
          <p:cNvGraphicFramePr>
            <a:graphicFrameLocks noGrp="1"/>
          </p:cNvGraphicFramePr>
          <p:nvPr/>
        </p:nvGraphicFramePr>
        <p:xfrm>
          <a:off x="502920" y="1472184"/>
          <a:ext cx="11185854" cy="3209544"/>
        </p:xfrm>
        <a:graphic>
          <a:graphicData uri="http://schemas.openxmlformats.org/drawingml/2006/table">
            <a:tbl>
              <a:tblPr firstRow="1" bandRow="1">
                <a:tableStyleId>{5940675A-B579-460E-94D1-54222C63F5DA}</a:tableStyleId>
              </a:tblPr>
              <a:tblGrid>
                <a:gridCol w="2278600"/>
                <a:gridCol w="2692891"/>
                <a:gridCol w="2900036"/>
                <a:gridCol w="3314327"/>
              </a:tblGrid>
              <a:tr h="405384">
                <a:tc>
                  <a:txBody>
                    <a:bodyPr wrap="square"/>
                    <a:lstStyle/>
                    <a:p>
                      <a:pPr>
                        <a:lnSpc>
                          <a:spcPct val="100000"/>
                        </a:lnSpc>
                      </a:pPr>
                      <a:r>
                        <a:rPr sz="1700" i="0" b="1">
                          <a:solidFill>
                            <a:srgbClr val="FFFFFF"/>
                          </a:solidFill>
                          <a:latin typeface="Helvetica Neue"/>
                        </a:rPr>
                        <a:t>Strategy</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Splits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Buys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Costs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Replica (DP)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Nothing, full copies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Linear throughput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Memory × replicas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Tensor (TP)</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Each layer's matrices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Lower latency, bigger models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All-reduce every layer; NVLink</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Pipeline (PP)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Layers into stages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Capacity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Higher request latency</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Expert (EP)</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MoE experts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Scales MoE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All-to-all dispatch; imbalance</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Context (CP)</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sequence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Prefill for 100k+ prompts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Boundary communication</a:t>
                      </a:r>
                    </a:p>
                  </a:txBody>
                  <a:tcPr marL="109728" marR="109728" marT="54864" marB="54864"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Size the KV cache from KV heads, then divide your memory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notes/07-prefill-decode-kv-cache.md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KV bytes per token use KV heads, and free memory divided by that figure usually caps decode batch size.</a:t>
            </a:r>
          </a:p>
        </p:txBody>
      </p:sp>
      <p:sp>
        <p:nvSpPr>
          <p:cNvPr id="12" name="Rounded Rectangle 11"/>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bytes/token = 2 x layers x kv_heads</a:t>
            </a:r>
          </a:p>
          <a:p>
            <a:pPr algn="l">
              <a:lnSpc>
                <a:spcPct val="100000"/>
              </a:lnSpc>
            </a:pPr>
            <a:r>
              <a:rPr sz="1600" i="0" b="0">
                <a:solidFill>
                  <a:srgbClr val="E2E8F0"/>
                </a:solidFill>
                <a:latin typeface="Menlo"/>
              </a:rPr>
              <a:t>                x head_dim x bytes</a:t>
            </a:r>
          </a:p>
          <a:p>
            <a:pPr algn="l">
              <a:lnSpc>
                <a:spcPct val="100000"/>
              </a:lnSpc>
            </a:pPr>
          </a:p>
          <a:p>
            <a:pPr algn="l">
              <a:lnSpc>
                <a:spcPct val="100000"/>
              </a:lnSpc>
            </a:pPr>
            <a:r>
              <a:rPr sz="1600" i="0" b="0">
                <a:solidFill>
                  <a:srgbClr val="E2E8F0"/>
                </a:solidFill>
                <a:latin typeface="Menlo"/>
              </a:rPr>
              <a:t>Llama 2 7B,  FP16, MHA   0.5 MB/token</a:t>
            </a:r>
          </a:p>
          <a:p>
            <a:pPr algn="l">
              <a:lnSpc>
                <a:spcPct val="100000"/>
              </a:lnSpc>
            </a:pPr>
            <a:r>
              <a:rPr sz="1600" i="0" b="0">
                <a:solidFill>
                  <a:srgbClr val="E2E8F0"/>
                </a:solidFill>
                <a:latin typeface="Menlo"/>
              </a:rPr>
              <a:t>  1.07 GB at 2,048 tokens</a:t>
            </a:r>
          </a:p>
          <a:p>
            <a:pPr algn="l">
              <a:lnSpc>
                <a:spcPct val="100000"/>
              </a:lnSpc>
            </a:pPr>
            <a:r>
              <a:rPr sz="1600" i="0" b="0">
                <a:solidFill>
                  <a:srgbClr val="E2E8F0"/>
                </a:solidFill>
                <a:latin typeface="Menlo"/>
              </a:rPr>
              <a:t>Llama 2 13B, FP16, MHA   0.82 MB/token</a:t>
            </a:r>
          </a:p>
          <a:p>
            <a:pPr algn="l">
              <a:lnSpc>
                <a:spcPct val="100000"/>
              </a:lnSpc>
            </a:pPr>
            <a:r>
              <a:rPr sz="1600" i="0" b="0">
                <a:solidFill>
                  <a:srgbClr val="E2E8F0"/>
                </a:solidFill>
                <a:latin typeface="Menlo"/>
              </a:rPr>
              <a:t>  3.36 GB at 4,096 tokens</a:t>
            </a:r>
          </a:p>
          <a:p>
            <a:pPr algn="l">
              <a:lnSpc>
                <a:spcPct val="100000"/>
              </a:lnSpc>
            </a:pPr>
            <a:r>
              <a:rPr sz="1600" i="0" b="0">
                <a:solidFill>
                  <a:srgbClr val="E2E8F0"/>
                </a:solidFill>
                <a:latin typeface="Menlo"/>
              </a:rPr>
              <a:t>  GQA-8 0.67 GB, MQA 0.084 GB</a:t>
            </a:r>
          </a:p>
          <a:p>
            <a:pPr algn="l">
              <a:lnSpc>
                <a:spcPct val="100000"/>
              </a:lnSpc>
            </a:pPr>
          </a:p>
          <a:p>
            <a:pPr algn="l">
              <a:lnSpc>
                <a:spcPct val="100000"/>
              </a:lnSpc>
            </a:pPr>
            <a:r>
              <a:rPr sz="1600" i="0" b="0">
                <a:solidFill>
                  <a:srgbClr val="E2E8F0"/>
                </a:solidFill>
                <a:latin typeface="Menlo"/>
              </a:rPr>
              <a:t>500B+ MHA, batch 512, 2,048: ~3 TB</a:t>
            </a:r>
          </a:p>
          <a:p>
            <a:pPr algn="l">
              <a:lnSpc>
                <a:spcPct val="100000"/>
              </a:lnSpc>
            </a:pPr>
            <a:r>
              <a:rPr sz="1600" i="0" b="0">
                <a:solidFill>
                  <a:srgbClr val="E2E8F0"/>
                </a:solidFill>
                <a:latin typeface="Menlo"/>
              </a:rPr>
              <a:t>70 GB weights on 180 GB: ~110 GB for KV</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Use </a:t>
            </a:r>
            <a:r>
              <a:rPr sz="1620" i="0" b="0">
                <a:solidFill>
                  <a:srgbClr val="0F7490"/>
                </a:solidFill>
                <a:latin typeface="Menlo"/>
              </a:rPr>
              <a:t>n_kv_heads</a:t>
            </a:r>
            <a:r>
              <a:rPr sz="1800" i="0" b="0">
                <a:solidFill>
                  <a:srgbClr val="1E293B"/>
                </a:solidFill>
                <a:latin typeface="Helvetica Neue"/>
              </a:rPr>
              <a:t>, not attention heads.</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Budget ÷ bytes per token = tokens in flight.</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That usually caps decode batch size, not FLOP/s.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Splitting prefill from decode doubled goodput on the same GPUs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notes/07-prefill-decode-kv-cache.md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Try chunked prefill first; disaggregate only when long prompts and strict TTFT and TPOT SLOs coincide at scale.</a:t>
            </a:r>
          </a:p>
        </p:txBody>
      </p:sp>
      <p:sp>
        <p:nvSpPr>
          <p:cNvPr id="12" name="Rectangle 11"/>
          <p:cNvSpPr/>
          <p:nvPr/>
        </p:nvSpPr>
        <p:spPr>
          <a:xfrm>
            <a:off x="1261030" y="1417320"/>
            <a:ext cx="4635999"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systems-performance-engineering-fig17-2.png"/>
          <p:cNvPicPr>
            <a:picLocks noChangeAspect="1"/>
          </p:cNvPicPr>
          <p:nvPr/>
        </p:nvPicPr>
        <p:blipFill>
          <a:blip r:embed="rId2"/>
          <a:stretch>
            <a:fillRect/>
          </a:stretch>
        </p:blipFill>
        <p:spPr>
          <a:xfrm>
            <a:off x="1315894" y="1472184"/>
            <a:ext cx="4526271" cy="3602735"/>
          </a:xfrm>
          <a:prstGeom prst="rect">
            <a:avLst/>
          </a:prstGeom>
        </p:spPr>
      </p:pic>
      <p:sp>
        <p:nvSpPr>
          <p:cNvPr id="14" name="TextBox 13"/>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P90 TTFT ≤ 400 ms, P90 TPOT ≤ 40 ms (Fregly, AISPE, Fig. 17-2, after DistServe)</a:t>
            </a:r>
          </a:p>
        </p:txBody>
      </p:sp>
      <p:sp>
        <p:nvSpPr>
          <p:cNvPr id="15" name="Rectangle 14"/>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Colocated: </a:t>
            </a:r>
            <a:r>
              <a:rPr sz="1800" i="0" b="1">
                <a:solidFill>
                  <a:srgbClr val="1E293B"/>
                </a:solidFill>
                <a:latin typeface="Helvetica Neue"/>
              </a:rPr>
              <a:t>1.6 RPS</a:t>
            </a:r>
            <a:r>
              <a:rPr sz="1800" i="0" b="0">
                <a:solidFill>
                  <a:srgbClr val="1E293B"/>
                </a:solidFill>
                <a:latin typeface="Helvetica Neue"/>
              </a:rPr>
              <a:t> per GPU, capped by decode.</a:t>
            </a:r>
          </a:p>
        </p:txBody>
      </p:sp>
      <p:sp>
        <p:nvSpPr>
          <p:cNvPr id="17" name="Rectangle 16"/>
          <p:cNvSpPr/>
          <p:nvPr/>
        </p:nvSpPr>
        <p:spPr>
          <a:xfrm>
            <a:off x="7020900" y="229971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2 prefill + 1 decode: min(11.2, 10) ÷ 3 = </a:t>
            </a:r>
            <a:r>
              <a:rPr sz="1800" i="0" b="1">
                <a:solidFill>
                  <a:srgbClr val="1E293B"/>
                </a:solidFill>
                <a:latin typeface="Helvetica Neue"/>
              </a:rPr>
              <a:t>3.3 RPS</a:t>
            </a:r>
            <a:r>
              <a:rPr sz="1800" i="0" b="0">
                <a:solidFill>
                  <a:srgbClr val="1E293B"/>
                </a:solidFill>
                <a:latin typeface="Helvetica Neue"/>
              </a:rPr>
              <a:t> per GPU.</a:t>
            </a:r>
          </a:p>
        </p:txBody>
      </p:sp>
      <p:sp>
        <p:nvSpPr>
          <p:cNvPr id="19" name="Rectangle 18"/>
          <p:cNvSpPr/>
          <p:nvPr/>
        </p:nvSpPr>
        <p:spPr>
          <a:xfrm>
            <a:off x="7020900" y="304038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Headline: up to </a:t>
            </a:r>
            <a:r>
              <a:rPr sz="1800" i="0" b="1">
                <a:solidFill>
                  <a:srgbClr val="1E293B"/>
                </a:solidFill>
                <a:latin typeface="Helvetica Neue"/>
              </a:rPr>
              <a:t>7.4×</a:t>
            </a:r>
            <a:r>
              <a:rPr sz="1800" i="0" b="0">
                <a:solidFill>
                  <a:srgbClr val="1E293B"/>
                </a:solidFill>
                <a:latin typeface="Helvetica Neue"/>
              </a:rPr>
              <a:t> goodput (DistServe).</a:t>
            </a:r>
          </a:p>
        </p:txBody>
      </p:sp>
      <p:sp>
        <p:nvSpPr>
          <p:cNvPr id="21" name="Rectangle 20"/>
          <p:cNvSpPr/>
          <p:nvPr/>
        </p:nvSpPr>
        <p:spPr>
          <a:xfrm>
            <a:off x="7020900" y="3781044"/>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First try chunked prefill: </a:t>
            </a:r>
            <a:r>
              <a:rPr sz="1800" i="0" b="1">
                <a:solidFill>
                  <a:srgbClr val="1E293B"/>
                </a:solidFill>
                <a:latin typeface="Helvetica Neue"/>
              </a:rPr>
              <a:t>~1.3–1.9×</a:t>
            </a:r>
            <a:r>
              <a:rPr sz="1800" i="0" b="0">
                <a:solidFill>
                  <a:srgbClr val="1E293B"/>
                </a:solidFill>
                <a:latin typeface="Helvetica Neue"/>
              </a:rPr>
              <a:t> (SARATHI).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Stable content first, or the prefix cache cannot help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notes/07-prefill-decode-kv-cache.md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Lay prompts out stable-first and route on prefix affinity, since the cached prefix must match exactly from token one.</a:t>
            </a:r>
          </a:p>
        </p:txBody>
      </p:sp>
      <p:sp>
        <p:nvSpPr>
          <p:cNvPr id="12" name="Rectangle 11"/>
          <p:cNvSpPr/>
          <p:nvPr/>
        </p:nvSpPr>
        <p:spPr>
          <a:xfrm>
            <a:off x="502920" y="1568704"/>
            <a:ext cx="106680" cy="106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Exact match from the first token:</a:t>
            </a:r>
            <a:r>
              <a:rPr sz="2000" i="0" b="0">
                <a:solidFill>
                  <a:srgbClr val="1E293B"/>
                </a:solidFill>
                <a:latin typeface="Helvetica Neue"/>
              </a:rPr>
              <a:t> one early change invalidates everything after it.</a:t>
            </a:r>
          </a:p>
        </p:txBody>
      </p:sp>
      <p:sp>
        <p:nvSpPr>
          <p:cNvPr id="14" name="Rectangle 13"/>
          <p:cNvSpPr/>
          <p:nvPr/>
        </p:nvSpPr>
        <p:spPr>
          <a:xfrm>
            <a:off x="502920" y="2391664"/>
            <a:ext cx="106680" cy="106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951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Layout:</a:t>
            </a:r>
            <a:r>
              <a:rPr sz="2000" i="0" b="0">
                <a:solidFill>
                  <a:srgbClr val="1E293B"/>
                </a:solidFill>
                <a:latin typeface="Helvetica Neue"/>
              </a:rPr>
              <a:t> system prompt, tools, examples and documents first; variable content last.</a:t>
            </a:r>
          </a:p>
        </p:txBody>
      </p:sp>
      <p:sp>
        <p:nvSpPr>
          <p:cNvPr id="16" name="Rectangle 15"/>
          <p:cNvSpPr/>
          <p:nvPr/>
        </p:nvSpPr>
        <p:spPr>
          <a:xfrm>
            <a:off x="502920" y="2879344"/>
            <a:ext cx="106680" cy="106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7828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Anthropic (2024):</a:t>
            </a:r>
            <a:r>
              <a:rPr sz="2000" i="0" b="0">
                <a:solidFill>
                  <a:srgbClr val="1E293B"/>
                </a:solidFill>
                <a:latin typeface="Helvetica Neue"/>
              </a:rPr>
              <a:t> chat with a book, 100k-token cache, </a:t>
            </a:r>
            <a:r>
              <a:rPr sz="2000" i="0" b="1">
                <a:solidFill>
                  <a:srgbClr val="1E293B"/>
                </a:solidFill>
                <a:latin typeface="Helvetica Neue"/>
              </a:rPr>
              <a:t>11.5 s → 2.4 s</a:t>
            </a:r>
            <a:r>
              <a:rPr sz="2000" i="0" b="0">
                <a:solidFill>
                  <a:srgbClr val="1E293B"/>
                </a:solidFill>
                <a:latin typeface="Helvetica Neue"/>
              </a:rPr>
              <a:t>, </a:t>
            </a:r>
            <a:r>
              <a:rPr sz="2000" i="0" b="1">
                <a:solidFill>
                  <a:srgbClr val="1E293B"/>
                </a:solidFill>
                <a:latin typeface="Helvetica Neue"/>
              </a:rPr>
              <a:t>−90%</a:t>
            </a:r>
            <a:r>
              <a:rPr sz="2000" i="0" b="0">
                <a:solidFill>
                  <a:srgbClr val="1E293B"/>
                </a:solidFill>
                <a:latin typeface="Helvetica Neue"/>
              </a:rPr>
              <a:t> cost.</a:t>
            </a:r>
          </a:p>
        </p:txBody>
      </p:sp>
      <p:sp>
        <p:nvSpPr>
          <p:cNvPr id="18" name="Rectangle 17"/>
          <p:cNvSpPr/>
          <p:nvPr/>
        </p:nvSpPr>
        <p:spPr>
          <a:xfrm>
            <a:off x="502920" y="3367024"/>
            <a:ext cx="106680" cy="106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27050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Agents:</a:t>
            </a:r>
            <a:r>
              <a:rPr sz="2000" i="0" b="0">
                <a:solidFill>
                  <a:srgbClr val="1E293B"/>
                </a:solidFill>
                <a:latin typeface="Helvetica Neue"/>
              </a:rPr>
              <a:t> one session's final step emitted </a:t>
            </a:r>
            <a:r>
              <a:rPr sz="2000" i="0" b="1">
                <a:solidFill>
                  <a:srgbClr val="1E293B"/>
                </a:solidFill>
                <a:latin typeface="Helvetica Neue"/>
              </a:rPr>
              <a:t>151</a:t>
            </a:r>
            <a:r>
              <a:rPr sz="2000" i="0" b="0">
                <a:solidFill>
                  <a:srgbClr val="1E293B"/>
                </a:solidFill>
                <a:latin typeface="Helvetica Neue"/>
              </a:rPr>
              <a:t> tokens after a </a:t>
            </a:r>
            <a:r>
              <a:rPr sz="2000" i="0" b="1">
                <a:solidFill>
                  <a:srgbClr val="1E293B"/>
                </a:solidFill>
                <a:latin typeface="Helvetica Neue"/>
              </a:rPr>
              <a:t>166,721</a:t>
            </a:r>
            <a:r>
              <a:rPr sz="2000" i="0" b="0">
                <a:solidFill>
                  <a:srgbClr val="1E293B"/>
                </a:solidFill>
                <a:latin typeface="Helvetica Neue"/>
              </a:rPr>
              <a:t>-token input.</a:t>
            </a:r>
          </a:p>
        </p:txBody>
      </p:sp>
      <p:sp>
        <p:nvSpPr>
          <p:cNvPr id="20" name="Rectangle 19"/>
          <p:cNvSpPr/>
          <p:nvPr/>
        </p:nvSpPr>
        <p:spPr>
          <a:xfrm>
            <a:off x="502920" y="3854704"/>
            <a:ext cx="106680" cy="106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758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Idle gaps</a:t>
            </a:r>
            <a:r>
              <a:rPr sz="2000" i="0" b="0">
                <a:solidFill>
                  <a:srgbClr val="1E293B"/>
                </a:solidFill>
                <a:latin typeface="Helvetica Neue"/>
              </a:rPr>
              <a:t> outlast cache lifetimes, so the long prefix is prefilled again.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Monday: scale on signals that see the real limit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Sharing a fleet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notes/06-serving-at-scale.md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Autoscale on queue depth, KV use or TTFT, and keep warm capacity because cold starts outlast most spikes.</a:t>
            </a:r>
          </a:p>
        </p:txBody>
      </p:sp>
      <p:sp>
        <p:nvSpPr>
          <p:cNvPr id="12" name="Rectangle 11"/>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Change the scaling metric</a:t>
            </a:r>
            <a:r>
              <a:rPr sz="1800" i="0" b="0">
                <a:solidFill>
                  <a:srgbClr val="475569"/>
                </a:solidFill>
                <a:latin typeface="Helvetica Neue"/>
              </a:rPr>
              <a:t> — Queue depth, KV utilization, or p90 TTFT against the SLO. Not GPU utilization.</a:t>
            </a:r>
          </a:p>
        </p:txBody>
      </p:sp>
      <p:sp>
        <p:nvSpPr>
          <p:cNvPr id="16" name="Rectangle 15"/>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Keep warm headroom</a:t>
            </a:r>
            <a:r>
              <a:rPr sz="1800" i="0" b="0">
                <a:solidFill>
                  <a:srgbClr val="475569"/>
                </a:solidFill>
                <a:latin typeface="Helvetica Neue"/>
              </a:rPr>
              <a:t> — The Handbook's deploy takes </a:t>
            </a:r>
            <a:r>
              <a:rPr sz="1800" i="0" b="1">
                <a:solidFill>
                  <a:srgbClr val="1E293B"/>
                </a:solidFill>
                <a:latin typeface="Helvetica Neue"/>
              </a:rPr>
              <a:t>15–30 min</a:t>
            </a:r>
            <a:r>
              <a:rPr sz="1800" i="0" b="0">
                <a:solidFill>
                  <a:srgbClr val="475569"/>
                </a:solidFill>
                <a:latin typeface="Helvetica Neue"/>
              </a:rPr>
              <a:t>, longer than most spikes.</a:t>
            </a:r>
          </a:p>
        </p:txBody>
      </p:sp>
      <p:sp>
        <p:nvSpPr>
          <p:cNvPr id="20" name="Rectangle 19"/>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Alert on copy-engine spikes</a:t>
            </a:r>
            <a:r>
              <a:rPr sz="1800" i="0" b="0">
                <a:solidFill>
                  <a:srgbClr val="475569"/>
                </a:solidFill>
                <a:latin typeface="Helvetica Neue"/>
              </a:rPr>
              <a:t> — With flat compute they usually mean KV swapping, and latency is about to jump.</a:t>
            </a:r>
          </a:p>
        </p:txBody>
      </p:sp>
      <p:sp>
        <p:nvSpPr>
          <p:cNvPr id="24" name="Rectangle 23"/>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4075480"/>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Split along the GPU/CPU seam</a:t>
            </a:r>
            <a:r>
              <a:rPr sz="1800" i="0" b="0">
                <a:solidFill>
                  <a:srgbClr val="475569"/>
                </a:solidFill>
                <a:latin typeface="Helvetica Neue"/>
              </a:rPr>
              <a:t> — When load justifies it, so retrieval code never idles the GPU.</a:t>
            </a:r>
          </a:p>
        </p:txBody>
      </p:sp>
      <p:sp>
        <p:nvSpPr>
          <p:cNvPr id="28" name="Rectangle 27"/>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490026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1" name="TextBox 30"/>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Stream over SSE</a:t>
            </a:r>
            <a:r>
              <a:rPr sz="1800" i="0" b="0">
                <a:solidFill>
                  <a:srgbClr val="475569"/>
                </a:solidFill>
                <a:latin typeface="Helvetica Neue"/>
              </a:rPr>
              <a:t> — Set </a:t>
            </a:r>
            <a:r>
              <a:rPr sz="1620" i="0" b="0">
                <a:solidFill>
                  <a:srgbClr val="0F7490"/>
                </a:solidFill>
                <a:latin typeface="Menlo"/>
              </a:rPr>
              <a:t>TCP_NODELAY</a:t>
            </a:r>
            <a:r>
              <a:rPr sz="1800" i="0" b="0">
                <a:solidFill>
                  <a:srgbClr val="475569"/>
                </a:solidFill>
                <a:latin typeface="Helvetica Neue"/>
              </a:rPr>
              <a:t>, or Nagle's algorithm bursts your tokens.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Spending the idle compute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Speculative decoding · Quantization · Stacking gains · The checklist and AI tuning</a:t>
            </a:r>
          </a:p>
        </p:txBody>
      </p:sp>
      <p:cxnSp>
        <p:nvCxnSpPr>
          <p:cNvPr id="6" name="Connector 5"/>
          <p:cNvCxnSpPr/>
          <p:nvPr/>
        </p:nvCxnSpPr>
        <p:spPr>
          <a:xfrm>
            <a:off x="6446520" y="1496695"/>
            <a:ext cx="0" cy="3864609"/>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96695"/>
            <a:ext cx="4693615" cy="404749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could decode do with FLOPs it already paid for?</a:t>
            </a:r>
          </a:p>
          <a:p>
            <a:pPr algn="l">
              <a:lnSpc>
                <a:spcPct val="100000"/>
              </a:lnSpc>
              <a:spcBef>
                <a:spcPts val="1189"/>
              </a:spcBef>
            </a:pPr>
            <a:r>
              <a:rPr sz="1700" i="0" b="0">
                <a:solidFill>
                  <a:srgbClr val="CBD5E1"/>
                </a:solidFill>
                <a:latin typeface="Helvetica Neue"/>
              </a:rPr>
              <a:t>A draft guesses, and the target checks in one parallel pass</a:t>
            </a:r>
          </a:p>
          <a:p>
            <a:pPr algn="l">
              <a:lnSpc>
                <a:spcPct val="100000"/>
              </a:lnSpc>
              <a:spcBef>
                <a:spcPts val="1189"/>
              </a:spcBef>
            </a:pPr>
            <a:r>
              <a:rPr sz="1700" i="0" b="0">
                <a:solidFill>
                  <a:srgbClr val="CBD5E1"/>
                </a:solidFill>
                <a:latin typeface="Helvetica Neue"/>
              </a:rPr>
              <a:t>One outlier can crush a whole tensor's precision</a:t>
            </a:r>
          </a:p>
          <a:p>
            <a:pPr algn="l">
              <a:lnSpc>
                <a:spcPct val="100000"/>
              </a:lnSpc>
              <a:spcBef>
                <a:spcPts val="1189"/>
              </a:spcBef>
            </a:pPr>
            <a:r>
              <a:rPr sz="1700" i="0" b="0">
                <a:solidFill>
                  <a:srgbClr val="CBD5E1"/>
                </a:solidFill>
                <a:latin typeface="Helvetica Neue"/>
              </a:rPr>
              <a:t>Our model's whole journey, 25.5 to 244.7 tokens per second</a:t>
            </a:r>
          </a:p>
          <a:p>
            <a:pPr algn="l">
              <a:lnSpc>
                <a:spcPct val="100000"/>
              </a:lnSpc>
              <a:spcBef>
                <a:spcPts val="1189"/>
              </a:spcBef>
            </a:pPr>
            <a:r>
              <a:rPr sz="1700" i="0" b="0">
                <a:solidFill>
                  <a:srgbClr val="CBD5E1"/>
                </a:solidFill>
                <a:latin typeface="Helvetica Neue"/>
              </a:rPr>
              <a:t>Let a model search for kernels only behind a verifier</a:t>
            </a:r>
          </a:p>
          <a:p>
            <a:pPr algn="l">
              <a:lnSpc>
                <a:spcPct val="100000"/>
              </a:lnSpc>
              <a:spcBef>
                <a:spcPts val="1189"/>
              </a:spcBef>
            </a:pPr>
            <a:r>
              <a:rPr sz="1700" i="0" b="0">
                <a:solidFill>
                  <a:srgbClr val="CBD5E1"/>
                </a:solidFill>
                <a:latin typeface="Helvetica Neue"/>
              </a:rPr>
              <a:t>Monday: walk the checklist in order, measuring each step</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could decode do with FLOPs it already paid for?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notes/08-adaptive-inference.md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Decode can check several candidate tokens per weight read, or shrink the bytes read through quantization.</a:t>
            </a:r>
          </a:p>
        </p:txBody>
      </p:sp>
      <p:sp>
        <p:nvSpPr>
          <p:cNvPr id="12" name="Rectangle 11"/>
          <p:cNvSpPr/>
          <p:nvPr/>
        </p:nvSpPr>
        <p:spPr>
          <a:xfrm>
            <a:off x="777240" y="1997964"/>
            <a:ext cx="109728" cy="2962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Each decode step reads every weight to produce one token per sequence, while the tensor cores sit idle. What could you do with that spare compute?</a:t>
            </a:r>
          </a:p>
        </p:txBody>
      </p:sp>
      <p:sp>
        <p:nvSpPr>
          <p:cNvPr id="14" name="TextBox 13"/>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Two answers. Do more work per weight read, or read fewer bytes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A draft guesses, and the target checks in one parallel pass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notes/08-adaptive-inference.md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Speculative decoding is lossless by construction; plan on about 2× and measure acceptance per traffic type.</a:t>
            </a:r>
          </a:p>
        </p:txBody>
      </p:sp>
      <p:sp>
        <p:nvSpPr>
          <p:cNvPr id="12" name="Rectangle 11"/>
          <p:cNvSpPr/>
          <p:nvPr/>
        </p:nvSpPr>
        <p:spPr>
          <a:xfrm>
            <a:off x="448056" y="1417320"/>
            <a:ext cx="6261948" cy="202431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systems-performance-engineering-fig15-8.png"/>
          <p:cNvPicPr>
            <a:picLocks noChangeAspect="1"/>
          </p:cNvPicPr>
          <p:nvPr/>
        </p:nvPicPr>
        <p:blipFill>
          <a:blip r:embed="rId2"/>
          <a:stretch>
            <a:fillRect/>
          </a:stretch>
        </p:blipFill>
        <p:spPr>
          <a:xfrm>
            <a:off x="502920" y="1472184"/>
            <a:ext cx="6152220" cy="1914591"/>
          </a:xfrm>
          <a:prstGeom prst="rect">
            <a:avLst/>
          </a:prstGeom>
        </p:spPr>
      </p:pic>
      <p:sp>
        <p:nvSpPr>
          <p:cNvPr id="14" name="TextBox 13"/>
          <p:cNvSpPr txBox="1"/>
          <p:nvPr/>
        </p:nvSpPr>
        <p:spPr>
          <a:xfrm>
            <a:off x="502920" y="3523935"/>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Draft proposes, target verifies in parallel (Fregly, AISPE, Fig. 15-8)</a:t>
            </a:r>
          </a:p>
        </p:txBody>
      </p:sp>
      <p:sp>
        <p:nvSpPr>
          <p:cNvPr id="15" name="Rectangle 14"/>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Rejection sampling keeps the output </a:t>
            </a:r>
            <a:r>
              <a:rPr sz="1800" i="0" b="1">
                <a:solidFill>
                  <a:srgbClr val="1E293B"/>
                </a:solidFill>
                <a:latin typeface="Helvetica Neue"/>
              </a:rPr>
              <a:t>identical</a:t>
            </a:r>
            <a:r>
              <a:rPr sz="1800" i="0" b="0">
                <a:solidFill>
                  <a:srgbClr val="1E293B"/>
                </a:solidFill>
                <a:latin typeface="Helvetica Neue"/>
              </a:rPr>
              <a:t> to the target's.</a:t>
            </a:r>
          </a:p>
        </p:txBody>
      </p:sp>
      <p:sp>
        <p:nvSpPr>
          <p:cNvPr id="17" name="Rectangle 16"/>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Plan on about </a:t>
            </a:r>
            <a:r>
              <a:rPr sz="1800" i="0" b="1">
                <a:solidFill>
                  <a:srgbClr val="1E293B"/>
                </a:solidFill>
                <a:latin typeface="Helvetica Neue"/>
              </a:rPr>
              <a:t>2×</a:t>
            </a:r>
            <a:r>
              <a:rPr sz="1800" i="0" b="0">
                <a:solidFill>
                  <a:srgbClr val="1E293B"/>
                </a:solidFill>
                <a:latin typeface="Helvetica Neue"/>
              </a:rPr>
              <a:t> for a well-matched pair.</a:t>
            </a:r>
          </a:p>
        </p:txBody>
      </p:sp>
      <p:sp>
        <p:nvSpPr>
          <p:cNvPr id="19" name="Rectangle 18"/>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Draft should be at least </a:t>
            </a:r>
            <a:r>
              <a:rPr sz="1800" i="0" b="1">
                <a:solidFill>
                  <a:srgbClr val="1E293B"/>
                </a:solidFill>
                <a:latin typeface="Helvetica Neue"/>
              </a:rPr>
              <a:t>~4×</a:t>
            </a:r>
            <a:r>
              <a:rPr sz="1800" i="0" b="0">
                <a:solidFill>
                  <a:srgbClr val="1E293B"/>
                </a:solidFill>
                <a:latin typeface="Helvetica Neue"/>
              </a:rPr>
              <a:t> faster than the target.</a:t>
            </a:r>
          </a:p>
        </p:txBody>
      </p:sp>
      <p:sp>
        <p:nvSpPr>
          <p:cNvPr id="21" name="Rectangle 20"/>
          <p:cNvSpPr/>
          <p:nvPr/>
        </p:nvSpPr>
        <p:spPr>
          <a:xfrm>
            <a:off x="7020900" y="378104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369417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EAGLE-2: </a:t>
            </a:r>
            <a:r>
              <a:rPr sz="1800" i="0" b="1">
                <a:solidFill>
                  <a:srgbClr val="1E293B"/>
                </a:solidFill>
                <a:latin typeface="Helvetica Neue"/>
              </a:rPr>
              <a:t>4.26×</a:t>
            </a:r>
            <a:r>
              <a:rPr sz="1800" i="0" b="0">
                <a:solidFill>
                  <a:srgbClr val="1E293B"/>
                </a:solidFill>
                <a:latin typeface="Helvetica Neue"/>
              </a:rPr>
              <a:t>, EAGLE </a:t>
            </a:r>
            <a:r>
              <a:rPr sz="1800" i="0" b="1">
                <a:solidFill>
                  <a:srgbClr val="1E293B"/>
                </a:solidFill>
                <a:latin typeface="Helvetica Neue"/>
              </a:rPr>
              <a:t>3.07×</a:t>
            </a:r>
            <a:r>
              <a:rPr sz="1800" i="0" b="0">
                <a:solidFill>
                  <a:srgbClr val="1E293B"/>
                </a:solidFill>
                <a:latin typeface="Helvetica Neue"/>
              </a:rPr>
              <a:t>, Medusa </a:t>
            </a:r>
            <a:r>
              <a:rPr sz="1800" i="0" b="1">
                <a:solidFill>
                  <a:srgbClr val="1E293B"/>
                </a:solidFill>
                <a:latin typeface="Helvetica Neue"/>
              </a:rPr>
              <a:t>2.07×</a:t>
            </a:r>
            <a:r>
              <a:rPr sz="1800" i="0" b="0">
                <a:solidFill>
                  <a:srgbClr val="1E293B"/>
                </a:solidFill>
                <a:latin typeface="Helvetica Neue"/>
              </a:rPr>
              <a:t> on Vicuna-13B.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outlier can crush a whole tensor's precision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notes/08-adaptive-inference.md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Serious quantization methods work around outliers, and every format change needs an eval run, not just perplexity.</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absmax_quantize(X):</a:t>
            </a:r>
          </a:p>
          <a:p>
            <a:pPr algn="l">
              <a:lnSpc>
                <a:spcPct val="100000"/>
              </a:lnSpc>
            </a:pPr>
            <a:r>
              <a:rPr sz="1600" i="0" b="0">
                <a:solidFill>
                  <a:srgbClr val="E2E8F0"/>
                </a:solidFill>
                <a:latin typeface="Menlo"/>
              </a:rPr>
              <a:t>    scale = 127 / X.abs().max()</a:t>
            </a:r>
          </a:p>
          <a:p>
            <a:pPr algn="l">
              <a:lnSpc>
                <a:spcPct val="100000"/>
              </a:lnSpc>
            </a:pPr>
            <a:r>
              <a:rPr sz="1600" i="0" b="0">
                <a:solidFill>
                  <a:srgbClr val="E2E8F0"/>
                </a:solidFill>
                <a:latin typeface="Menlo"/>
              </a:rPr>
              <a:t>    q = (scale * X).round().to(torch.int8)</a:t>
            </a:r>
          </a:p>
          <a:p>
            <a:pPr algn="l">
              <a:lnSpc>
                <a:spcPct val="100000"/>
              </a:lnSpc>
            </a:pPr>
            <a:r>
              <a:rPr sz="1600" i="0" b="0">
                <a:solidFill>
                  <a:srgbClr val="E2E8F0"/>
                </a:solidFill>
                <a:latin typeface="Menlo"/>
              </a:rPr>
              <a:t>    return q, scale   # dequantize: q / scale</a:t>
            </a:r>
          </a:p>
          <a:p>
            <a:pPr algn="l">
              <a:lnSpc>
                <a:spcPct val="100000"/>
              </a:lnSpc>
            </a:pPr>
          </a:p>
          <a:p>
            <a:pPr algn="l">
              <a:lnSpc>
                <a:spcPct val="100000"/>
              </a:lnSpc>
            </a:pPr>
            <a:r>
              <a:rPr sz="1600" i="0" b="0">
                <a:solidFill>
                  <a:srgbClr val="E2E8F0"/>
                </a:solidFill>
                <a:latin typeface="Menlo"/>
              </a:rPr>
              <a:t># 0.1 in a tensor spanning [-3.0, 3.2] maps to 4</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One max value sets the scale for the whole tensor.</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LLM.int8:</a:t>
            </a:r>
            <a:r>
              <a:rPr sz="1800" i="0" b="0">
                <a:solidFill>
                  <a:srgbClr val="1E293B"/>
                </a:solidFill>
                <a:latin typeface="Helvetica Neue"/>
              </a:rPr>
              <a:t> outliers in 6 hidden dimensions, up to </a:t>
            </a:r>
            <a:r>
              <a:rPr sz="1800" i="0" b="1">
                <a:solidFill>
                  <a:srgbClr val="1E293B"/>
                </a:solidFill>
                <a:latin typeface="Helvetica Neue"/>
              </a:rPr>
              <a:t>20×</a:t>
            </a:r>
            <a:r>
              <a:rPr sz="1800" i="0" b="0">
                <a:solidFill>
                  <a:srgbClr val="1E293B"/>
                </a:solidFill>
                <a:latin typeface="Helvetica Neue"/>
              </a:rPr>
              <a:t> larger.</a:t>
            </a:r>
          </a:p>
        </p:txBody>
      </p:sp>
      <p:sp>
        <p:nvSpPr>
          <p:cNvPr id="19" name="Rectangle 18"/>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PaLM 540B, batch 64:</a:t>
            </a:r>
            <a:r>
              <a:rPr sz="1800" i="0" b="0">
                <a:solidFill>
                  <a:srgbClr val="1E293B"/>
                </a:solidFill>
                <a:latin typeface="Helvetica Neue"/>
              </a:rPr>
              <a:t> int8 weights </a:t>
            </a:r>
            <a:r>
              <a:rPr sz="1800" i="0" b="1">
                <a:solidFill>
                  <a:srgbClr val="1E293B"/>
                </a:solidFill>
                <a:latin typeface="Helvetica Neue"/>
              </a:rPr>
              <a:t>36.9 → 28.5</a:t>
            </a:r>
            <a:r>
              <a:rPr sz="1800" i="0" b="0">
                <a:solidFill>
                  <a:srgbClr val="1E293B"/>
                </a:solidFill>
                <a:latin typeface="Helvetica Neue"/>
              </a:rPr>
              <a:t> ms/token.</a:t>
            </a:r>
          </a:p>
        </p:txBody>
      </p:sp>
      <p:sp>
        <p:nvSpPr>
          <p:cNvPr id="21" name="Rectangle 20"/>
          <p:cNvSpPr/>
          <p:nvPr/>
        </p:nvSpPr>
        <p:spPr>
          <a:xfrm>
            <a:off x="7580193" y="3826763"/>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739896"/>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Safe default:</a:t>
            </a:r>
            <a:r>
              <a:rPr sz="1800" i="0" b="0">
                <a:solidFill>
                  <a:srgbClr val="1E293B"/>
                </a:solidFill>
                <a:latin typeface="Helvetica Neue"/>
              </a:rPr>
              <a:t> FP8 on Hopper and Blackwell; validate FP4 per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Our model's whole journey, 25.5 to 244.7 tokens per second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notes/08-adaptive-inference.md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Gains multiply but shrink because each step attacks a smaller remaining bottleneck, and order matters.</a:t>
            </a:r>
          </a:p>
        </p:txBody>
      </p:sp>
      <p:sp>
        <p:nvSpPr>
          <p:cNvPr id="12" name="Rectangle 11"/>
          <p:cNvSpPr/>
          <p:nvPr/>
        </p:nvSpPr>
        <p:spPr>
          <a:xfrm>
            <a:off x="1525867" y="1417320"/>
            <a:ext cx="4106325"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uyen-ai-engineering-fig9-14-7168118058761144686.jpg"/>
          <p:cNvPicPr>
            <a:picLocks noChangeAspect="1"/>
          </p:cNvPicPr>
          <p:nvPr/>
        </p:nvPicPr>
        <p:blipFill>
          <a:blip r:embed="rId2"/>
          <a:stretch>
            <a:fillRect/>
          </a:stretch>
        </p:blipFill>
        <p:spPr>
          <a:xfrm>
            <a:off x="1580731" y="1472184"/>
            <a:ext cx="3996597" cy="3602735"/>
          </a:xfrm>
          <a:prstGeom prst="rect">
            <a:avLst/>
          </a:prstGeom>
        </p:spPr>
      </p:pic>
      <p:sp>
        <p:nvSpPr>
          <p:cNvPr id="14" name="TextBox 13"/>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Llama-7B, A100-80GB, tokens/s per user, batch 1 (PyTorch 2023, via Huyen, Fig. 9-14)</a:t>
            </a:r>
          </a:p>
        </p:txBody>
      </p:sp>
      <p:sp>
        <p:nvSpPr>
          <p:cNvPr id="15" name="Rectangle 14"/>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torch.compile</a:t>
            </a:r>
            <a:r>
              <a:rPr sz="1800" i="0" b="0">
                <a:solidFill>
                  <a:srgbClr val="1E293B"/>
                </a:solidFill>
                <a:latin typeface="Helvetica Neue"/>
              </a:rPr>
              <a:t>: 25.5 → 107.0, </a:t>
            </a:r>
            <a:r>
              <a:rPr sz="1800" i="0" b="1">
                <a:solidFill>
                  <a:srgbClr val="1E293B"/>
                </a:solidFill>
                <a:latin typeface="Helvetica Neue"/>
              </a:rPr>
              <a:t>4.2×</a:t>
            </a:r>
          </a:p>
        </p:txBody>
      </p:sp>
      <p:sp>
        <p:nvSpPr>
          <p:cNvPr id="17" name="Rectangle 16"/>
          <p:cNvSpPr/>
          <p:nvPr/>
        </p:nvSpPr>
        <p:spPr>
          <a:xfrm>
            <a:off x="7020900" y="199796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1911095"/>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INT8: → 157.4, </a:t>
            </a:r>
            <a:r>
              <a:rPr sz="1800" i="0" b="1">
                <a:solidFill>
                  <a:srgbClr val="1E293B"/>
                </a:solidFill>
                <a:latin typeface="Helvetica Neue"/>
              </a:rPr>
              <a:t>1.5×</a:t>
            </a:r>
          </a:p>
        </p:txBody>
      </p:sp>
      <p:sp>
        <p:nvSpPr>
          <p:cNvPr id="19" name="Rectangle 18"/>
          <p:cNvSpPr/>
          <p:nvPr/>
        </p:nvSpPr>
        <p:spPr>
          <a:xfrm>
            <a:off x="7020900" y="243687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350008"/>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INT4: → 202.1, </a:t>
            </a:r>
            <a:r>
              <a:rPr sz="1800" i="0" b="1">
                <a:solidFill>
                  <a:srgbClr val="1E293B"/>
                </a:solidFill>
                <a:latin typeface="Helvetica Neue"/>
              </a:rPr>
              <a:t>1.3×</a:t>
            </a:r>
          </a:p>
        </p:txBody>
      </p:sp>
      <p:sp>
        <p:nvSpPr>
          <p:cNvPr id="21" name="Rectangle 20"/>
          <p:cNvSpPr/>
          <p:nvPr/>
        </p:nvSpPr>
        <p:spPr>
          <a:xfrm>
            <a:off x="7020900" y="287578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0940" y="2788920"/>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Speculation: → 244.7, </a:t>
            </a:r>
            <a:r>
              <a:rPr sz="1800" i="0" b="1">
                <a:solidFill>
                  <a:srgbClr val="1E293B"/>
                </a:solidFill>
                <a:latin typeface="Helvetica Neue"/>
              </a:rPr>
              <a:t>1.2×</a:t>
            </a:r>
          </a:p>
        </p:txBody>
      </p:sp>
      <p:sp>
        <p:nvSpPr>
          <p:cNvPr id="23" name="Rectangle 22"/>
          <p:cNvSpPr/>
          <p:nvPr/>
        </p:nvSpPr>
        <p:spPr>
          <a:xfrm>
            <a:off x="7020900" y="33147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40940" y="3227832"/>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Quality was </a:t>
            </a:r>
            <a:r>
              <a:rPr sz="1800" i="0" b="1">
                <a:solidFill>
                  <a:srgbClr val="1E293B"/>
                </a:solidFill>
                <a:latin typeface="Helvetica Neue"/>
              </a:rPr>
              <a:t>not measured</a:t>
            </a:r>
            <a:r>
              <a:rPr sz="1800" i="0" b="0">
                <a:solidFill>
                  <a:srgbClr val="1E293B"/>
                </a:solidFill>
                <a:latin typeface="Helvetica Neue"/>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Let a model search for kernels only behind a verifier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notes/09-checklist-and-ai-assisted-tuning.md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Trust the verifier and not the model, and compare generated kernels against the best existing kernel.</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for _ in range(max_iters):</a:t>
            </a:r>
          </a:p>
          <a:p>
            <a:pPr algn="l">
              <a:lnSpc>
                <a:spcPct val="100000"/>
              </a:lnSpc>
            </a:pPr>
            <a:r>
              <a:rPr sz="1600" i="0" b="0">
                <a:solidFill>
                  <a:srgbClr val="E2E8F0"/>
                </a:solidFill>
                <a:latin typeface="Menlo"/>
              </a:rPr>
              <a:t>    code = llm.generate_kernel(prompt)</a:t>
            </a:r>
          </a:p>
          <a:p>
            <a:pPr algn="l">
              <a:lnSpc>
                <a:spcPct val="100000"/>
              </a:lnSpc>
            </a:pPr>
            <a:r>
              <a:rPr sz="1600" i="0" b="0">
                <a:solidFill>
                  <a:srgbClr val="E2E8F0"/>
                </a:solidFill>
                <a:latin typeface="Menlo"/>
              </a:rPr>
              <a:t>    # compile, test vs reference, time</a:t>
            </a:r>
          </a:p>
          <a:p>
            <a:pPr algn="l">
              <a:lnSpc>
                <a:spcPct val="100000"/>
              </a:lnSpc>
            </a:pPr>
            <a:r>
              <a:rPr sz="1600" i="0" b="0">
                <a:solidFill>
                  <a:srgbClr val="E2E8F0"/>
                </a:solidFill>
                <a:latin typeface="Menlo"/>
              </a:rPr>
              <a:t>    ok, runtime, feedback = verifier.check(code)</a:t>
            </a:r>
          </a:p>
          <a:p>
            <a:pPr algn="l">
              <a:lnSpc>
                <a:spcPct val="100000"/>
              </a:lnSpc>
            </a:pPr>
            <a:r>
              <a:rPr sz="1600" i="0" b="0">
                <a:solidFill>
                  <a:srgbClr val="E2E8F0"/>
                </a:solidFill>
                <a:latin typeface="Menlo"/>
              </a:rPr>
              <a:t>    if ok and runtime &lt; target:</a:t>
            </a:r>
          </a:p>
          <a:p>
            <a:pPr algn="l">
              <a:lnSpc>
                <a:spcPct val="100000"/>
              </a:lnSpc>
            </a:pPr>
            <a:r>
              <a:rPr sz="1600" i="0" b="0">
                <a:solidFill>
                  <a:srgbClr val="E2E8F0"/>
                </a:solidFill>
                <a:latin typeface="Menlo"/>
              </a:rPr>
              <a:t>        break</a:t>
            </a:r>
          </a:p>
          <a:p>
            <a:pPr algn="l">
              <a:lnSpc>
                <a:spcPct val="100000"/>
              </a:lnSpc>
            </a:pPr>
            <a:r>
              <a:rPr sz="1600" i="0" b="0">
                <a:solidFill>
                  <a:srgbClr val="E2E8F0"/>
                </a:solidFill>
                <a:latin typeface="Menlo"/>
              </a:rPr>
              <a:t>    prompt = refine(prompt, feedback)</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R1 + verifier, ~15 min on H100: </a:t>
            </a:r>
            <a:r>
              <a:rPr sz="1800" i="0" b="1">
                <a:solidFill>
                  <a:srgbClr val="1E293B"/>
                </a:solidFill>
                <a:latin typeface="Helvetica Neue"/>
              </a:rPr>
              <a:t>1.1–2.1×</a:t>
            </a:r>
            <a:r>
              <a:rPr sz="1800" i="0" b="0">
                <a:solidFill>
                  <a:srgbClr val="1E293B"/>
                </a:solidFill>
                <a:latin typeface="Helvetica Neue"/>
              </a:rPr>
              <a:t> FlexAttention.</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FlexAttention itself: about </a:t>
            </a:r>
            <a:r>
              <a:rPr sz="1800" i="0" b="1">
                <a:solidFill>
                  <a:srgbClr val="1E293B"/>
                </a:solidFill>
                <a:latin typeface="Helvetica Neue"/>
              </a:rPr>
              <a:t>85–90%</a:t>
            </a:r>
            <a:r>
              <a:rPr sz="1800" i="0" b="0">
                <a:solidFill>
                  <a:srgbClr val="1E293B"/>
                </a:solidFill>
                <a:latin typeface="Helvetica Neue"/>
              </a:rPr>
              <a:t> of FlashAttention-2.</a:t>
            </a:r>
          </a:p>
        </p:txBody>
      </p:sp>
      <p:sp>
        <p:nvSpPr>
          <p:cNvPr id="19" name="Rectangle 18"/>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Predibase GRPO: about </a:t>
            </a:r>
            <a:r>
              <a:rPr sz="1800" i="0" b="1">
                <a:solidFill>
                  <a:srgbClr val="1E293B"/>
                </a:solidFill>
                <a:latin typeface="Helvetica Neue"/>
              </a:rPr>
              <a:t>40%</a:t>
            </a:r>
            <a:r>
              <a:rPr sz="1800" i="0" b="0">
                <a:solidFill>
                  <a:srgbClr val="1E293B"/>
                </a:solidFill>
                <a:latin typeface="Helvetica Neue"/>
              </a:rPr>
              <a:t> of kernels correct.</a:t>
            </a:r>
          </a:p>
        </p:txBody>
      </p:sp>
      <p:sp>
        <p:nvSpPr>
          <p:cNvPr id="21" name="Rectangle 20"/>
          <p:cNvSpPr/>
          <p:nvPr/>
        </p:nvSpPr>
        <p:spPr>
          <a:xfrm>
            <a:off x="7580193" y="3826763"/>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739896"/>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JAXBench docs: correctness </a:t>
            </a:r>
            <a:r>
              <a:rPr sz="1800" i="0" b="1">
                <a:solidFill>
                  <a:srgbClr val="1E293B"/>
                </a:solidFill>
                <a:latin typeface="Helvetica Neue"/>
              </a:rPr>
              <a:t>5.8% → 37.3%</a:t>
            </a:r>
            <a:r>
              <a:rPr sz="1800" i="0" b="0">
                <a:solidFill>
                  <a:srgbClr val="1E293B"/>
                </a:solidFill>
                <a:latin typeface="Helvetica Neue"/>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Monday: walk the checklist in order, measuring each step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Spending the idle compute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notes/09-checklist-and-ai-assisted-tuning.md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Walk measurement, host, placement, engine, kernels, then monitoring, and treat every printed gain as a hypothesis.</a:t>
            </a:r>
          </a:p>
        </p:txBody>
      </p:sp>
      <p:sp>
        <p:nvSpPr>
          <p:cNvPr id="12" name="Rectangle 11"/>
          <p:cNvSpPr/>
          <p:nvPr/>
        </p:nvSpPr>
        <p:spPr>
          <a:xfrm>
            <a:off x="502920" y="147218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532382"/>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532382"/>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1</a:t>
            </a:r>
          </a:p>
        </p:txBody>
      </p:sp>
      <p:sp>
        <p:nvSpPr>
          <p:cNvPr id="15" name="TextBox 14"/>
          <p:cNvSpPr txBox="1"/>
          <p:nvPr/>
        </p:nvSpPr>
        <p:spPr>
          <a:xfrm>
            <a:off x="1325880" y="1472184"/>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Method</a:t>
            </a:r>
            <a:r>
              <a:rPr sz="1500" i="0" b="0">
                <a:solidFill>
                  <a:srgbClr val="475569"/>
                </a:solidFill>
                <a:latin typeface="Helvetica Neue"/>
              </a:rPr>
              <a:t> — Define the SLO. Profile first. Benchmark realistic length distributions. Keep a regression job.</a:t>
            </a:r>
          </a:p>
        </p:txBody>
      </p:sp>
      <p:sp>
        <p:nvSpPr>
          <p:cNvPr id="16" name="Rectangle 15"/>
          <p:cNvSpPr/>
          <p:nvPr/>
        </p:nvSpPr>
        <p:spPr>
          <a:xfrm>
            <a:off x="502920" y="2159508"/>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219706"/>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219706"/>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2</a:t>
            </a:r>
          </a:p>
        </p:txBody>
      </p:sp>
      <p:sp>
        <p:nvSpPr>
          <p:cNvPr id="19" name="TextBox 18"/>
          <p:cNvSpPr txBox="1"/>
          <p:nvPr/>
        </p:nvSpPr>
        <p:spPr>
          <a:xfrm>
            <a:off x="1325880" y="2159508"/>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Host and GPU</a:t>
            </a:r>
            <a:r>
              <a:rPr sz="1500" i="0" b="0">
                <a:solidFill>
                  <a:srgbClr val="475569"/>
                </a:solidFill>
                <a:latin typeface="Helvetica Neue"/>
              </a:rPr>
              <a:t> — Persistence mode, NUMA pinning, THP </a:t>
            </a:r>
            <a:r>
              <a:rPr sz="1350" i="0" b="0">
                <a:solidFill>
                  <a:srgbClr val="0F7490"/>
                </a:solidFill>
                <a:latin typeface="Menlo"/>
              </a:rPr>
              <a:t>madvise</a:t>
            </a:r>
            <a:r>
              <a:rPr sz="1500" i="0" b="0">
                <a:solidFill>
                  <a:srgbClr val="475569"/>
                </a:solidFill>
                <a:latin typeface="Helvetica Neue"/>
              </a:rPr>
              <a:t>.</a:t>
            </a:r>
          </a:p>
        </p:txBody>
      </p:sp>
      <p:sp>
        <p:nvSpPr>
          <p:cNvPr id="20" name="Rectangle 19"/>
          <p:cNvSpPr/>
          <p:nvPr/>
        </p:nvSpPr>
        <p:spPr>
          <a:xfrm>
            <a:off x="502920" y="2846832"/>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2907030"/>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907030"/>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3</a:t>
            </a:r>
          </a:p>
        </p:txBody>
      </p:sp>
      <p:sp>
        <p:nvSpPr>
          <p:cNvPr id="23" name="TextBox 22"/>
          <p:cNvSpPr txBox="1"/>
          <p:nvPr/>
        </p:nvSpPr>
        <p:spPr>
          <a:xfrm>
            <a:off x="1325880" y="2846832"/>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Placement</a:t>
            </a:r>
            <a:r>
              <a:rPr sz="1500" i="0" b="0">
                <a:solidFill>
                  <a:srgbClr val="475569"/>
                </a:solidFill>
                <a:latin typeface="Helvetica Neue"/>
              </a:rPr>
              <a:t> — Smallest TP inside one NVLink domain. Route on prefix affinity. Disaggregate if long prompts block decode.</a:t>
            </a:r>
          </a:p>
        </p:txBody>
      </p:sp>
      <p:sp>
        <p:nvSpPr>
          <p:cNvPr id="24" name="Rectangle 23"/>
          <p:cNvSpPr/>
          <p:nvPr/>
        </p:nvSpPr>
        <p:spPr>
          <a:xfrm>
            <a:off x="502920" y="3534156"/>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3594354"/>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594354"/>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4</a:t>
            </a:r>
          </a:p>
        </p:txBody>
      </p:sp>
      <p:sp>
        <p:nvSpPr>
          <p:cNvPr id="27" name="TextBox 26"/>
          <p:cNvSpPr txBox="1"/>
          <p:nvPr/>
        </p:nvSpPr>
        <p:spPr>
          <a:xfrm>
            <a:off x="1325880" y="3534156"/>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Engine</a:t>
            </a:r>
            <a:r>
              <a:rPr sz="1500" i="0" b="0">
                <a:solidFill>
                  <a:srgbClr val="475569"/>
                </a:solidFill>
                <a:latin typeface="Helvetica Neue"/>
              </a:rPr>
              <a:t> — Continuous batching, chunked prefill, paged KV with prefix caching, warm replicas.</a:t>
            </a:r>
          </a:p>
        </p:txBody>
      </p:sp>
      <p:sp>
        <p:nvSpPr>
          <p:cNvPr id="28" name="Rectangle 27"/>
          <p:cNvSpPr/>
          <p:nvPr/>
        </p:nvSpPr>
        <p:spPr>
          <a:xfrm>
            <a:off x="502920" y="4221480"/>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4281677"/>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281677"/>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5</a:t>
            </a:r>
          </a:p>
        </p:txBody>
      </p:sp>
      <p:sp>
        <p:nvSpPr>
          <p:cNvPr id="31" name="TextBox 30"/>
          <p:cNvSpPr txBox="1"/>
          <p:nvPr/>
        </p:nvSpPr>
        <p:spPr>
          <a:xfrm>
            <a:off x="1325880" y="4221480"/>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Kernels and precision</a:t>
            </a:r>
            <a:r>
              <a:rPr sz="1500" i="0" b="0">
                <a:solidFill>
                  <a:srgbClr val="475569"/>
                </a:solidFill>
                <a:latin typeface="Helvetica Neue"/>
              </a:rPr>
              <a:t> — FP8 first, then validate lower. Add speculation at low-to-moderate batch.</a:t>
            </a:r>
          </a:p>
        </p:txBody>
      </p:sp>
      <p:sp>
        <p:nvSpPr>
          <p:cNvPr id="32" name="Rectangle 31"/>
          <p:cNvSpPr/>
          <p:nvPr/>
        </p:nvSpPr>
        <p:spPr>
          <a:xfrm>
            <a:off x="502920" y="490880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7512" y="4969001"/>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4969001"/>
            <a:ext cx="457200" cy="457200"/>
          </a:xfrm>
          <a:prstGeom prst="rect">
            <a:avLst/>
          </a:prstGeom>
          <a:noFill/>
        </p:spPr>
        <p:txBody>
          <a:bodyPr wrap="square" lIns="0" rIns="0" tIns="0" bIns="0" anchor="ctr">
            <a:noAutofit/>
          </a:bodyPr>
          <a:lstStyle/>
          <a:p>
            <a:pPr algn="ctr">
              <a:lnSpc>
                <a:spcPct val="110000"/>
              </a:lnSpc>
            </a:pPr>
            <a:r>
              <a:rPr sz="1300" i="0" b="1">
                <a:solidFill>
                  <a:srgbClr val="FFFFFF"/>
                </a:solidFill>
                <a:latin typeface="Helvetica Neue"/>
              </a:rPr>
              <a:t>6</a:t>
            </a:r>
          </a:p>
        </p:txBody>
      </p:sp>
      <p:sp>
        <p:nvSpPr>
          <p:cNvPr id="35" name="TextBox 34"/>
          <p:cNvSpPr txBox="1"/>
          <p:nvPr/>
        </p:nvSpPr>
        <p:spPr>
          <a:xfrm>
            <a:off x="1325880" y="4908804"/>
            <a:ext cx="10180015" cy="577595"/>
          </a:xfrm>
          <a:prstGeom prst="rect">
            <a:avLst/>
          </a:prstGeom>
          <a:noFill/>
        </p:spPr>
        <p:txBody>
          <a:bodyPr wrap="square" lIns="0" rIns="0" tIns="0" bIns="0" anchor="ctr">
            <a:noAutofit/>
          </a:bodyPr>
          <a:lstStyle/>
          <a:p>
            <a:pPr algn="l">
              <a:lnSpc>
                <a:spcPct val="110000"/>
              </a:lnSpc>
            </a:pPr>
            <a:r>
              <a:rPr sz="1500" i="0" b="1">
                <a:solidFill>
                  <a:srgbClr val="1E293B"/>
                </a:solidFill>
                <a:latin typeface="Helvetica Neue"/>
              </a:rPr>
              <a:t>Monitoring and power</a:t>
            </a:r>
            <a:r>
              <a:rPr sz="1500" i="0" b="0">
                <a:solidFill>
                  <a:srgbClr val="475569"/>
                </a:solidFill>
                <a:latin typeface="Helvetica Neue"/>
              </a:rPr>
              <a:t> — SM activity, MFU, MBU, thermals, per-request cost. Try a cap around </a:t>
            </a:r>
            <a:r>
              <a:rPr sz="1500" i="0" b="1">
                <a:solidFill>
                  <a:srgbClr val="1E293B"/>
                </a:solidFill>
                <a:latin typeface="Helvetica Neue"/>
              </a:rPr>
              <a:t>80%</a:t>
            </a:r>
            <a:r>
              <a:rPr sz="1500" i="0" b="0">
                <a:solidFill>
                  <a:srgbClr val="475569"/>
                </a:solidFill>
                <a:latin typeface="Helvetica Neue"/>
              </a:rPr>
              <a:t> of TDP.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 for inference engineering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notes/09-checklist-and-ai-assisted-tuning.md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Name the bound, measure goodput against an SLO, and re-run evals whenever a change can alter outputs.</a:t>
            </a:r>
          </a:p>
        </p:txBody>
      </p:sp>
      <p:sp>
        <p:nvSpPr>
          <p:cNvPr id="12" name="Rectangle 11"/>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Meters</a:t>
            </a:r>
          </a:p>
        </p:txBody>
      </p:sp>
      <p:sp>
        <p:nvSpPr>
          <p:cNvPr id="15" name="TextBox 14"/>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TTFT, TPOT, goodput at a percentile. Never GPU util alone.</a:t>
            </a:r>
          </a:p>
        </p:txBody>
      </p:sp>
      <p:sp>
        <p:nvSpPr>
          <p:cNvPr id="16" name="Rectangle 15"/>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Bound</a:t>
            </a:r>
          </a:p>
        </p:txBody>
      </p:sp>
      <p:sp>
        <p:nvSpPr>
          <p:cNvPr id="19" name="TextBox 18"/>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Prefill is compute. Decode is memory bandwidth. Find your side of the ridge.</a:t>
            </a:r>
          </a:p>
        </p:txBody>
      </p:sp>
      <p:sp>
        <p:nvSpPr>
          <p:cNvPr id="20" name="Rectangle 19"/>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Batch</a:t>
            </a:r>
          </a:p>
        </p:txBody>
      </p:sp>
      <p:sp>
        <p:nvSpPr>
          <p:cNvPr id="23" name="TextBox 22"/>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Continuous, always. Cap it where p99 TPOT climbs.</a:t>
            </a:r>
          </a:p>
        </p:txBody>
      </p:sp>
      <p:sp>
        <p:nvSpPr>
          <p:cNvPr id="24" name="Rectangle 23"/>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Budget</a:t>
            </a:r>
          </a:p>
        </p:txBody>
      </p:sp>
      <p:sp>
        <p:nvSpPr>
          <p:cNvPr id="27" name="TextBox 26"/>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KV memory, computed from KV heads, usually caps the batch.</a:t>
            </a:r>
          </a:p>
        </p:txBody>
      </p:sp>
      <p:sp>
        <p:nvSpPr>
          <p:cNvPr id="28" name="Rectangle 27"/>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616452"/>
            <a:ext cx="82296" cy="18699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Layout</a:t>
            </a:r>
          </a:p>
        </p:txBody>
      </p:sp>
      <p:sp>
        <p:nvSpPr>
          <p:cNvPr id="31" name="TextBox 30"/>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Stable prompt content first. Route on prefix affinity.</a:t>
            </a:r>
          </a:p>
        </p:txBody>
      </p:sp>
      <p:sp>
        <p:nvSpPr>
          <p:cNvPr id="32" name="Rectangle 31"/>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616452"/>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Eval</a:t>
            </a:r>
          </a:p>
        </p:txBody>
      </p:sp>
      <p:sp>
        <p:nvSpPr>
          <p:cNvPr id="35" name="TextBox 34"/>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Quantization changes outputs. Exact speculation does not.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notes/01-why-inference-is-its-own-discipline.md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This layer can shave a badly sized context or a chatty loop, but only the layers above can remove them.</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Prompt cost as a context decision:</a:t>
            </a:r>
            <a:r>
              <a:rPr sz="2000" i="0" b="0">
                <a:solidFill>
                  <a:srgbClr val="1E293B"/>
                </a:solidFill>
                <a:latin typeface="Helvetica Neue"/>
              </a:rPr>
              <a:t> 02 context engineering, retrieval and caching.</a:t>
            </a:r>
          </a:p>
        </p:txBody>
      </p:sp>
      <p:sp>
        <p:nvSpPr>
          <p:cNvPr id="14" name="Rectangle 13"/>
          <p:cNvSpPr/>
          <p:nvPr/>
        </p:nvSpPr>
        <p:spPr>
          <a:xfrm>
            <a:off x="502920" y="20563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5986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Fewer calls beat faster calls:</a:t>
            </a:r>
            <a:r>
              <a:rPr sz="2000" i="0" b="0">
                <a:solidFill>
                  <a:srgbClr val="1E293B"/>
                </a:solidFill>
                <a:latin typeface="Helvetica Neue"/>
              </a:rPr>
              <a:t> 04 loop engineering.</a:t>
            </a:r>
          </a:p>
        </p:txBody>
      </p:sp>
      <p:sp>
        <p:nvSpPr>
          <p:cNvPr id="16" name="Rectangle 15"/>
          <p:cNvSpPr/>
          <p:nvPr/>
        </p:nvSpPr>
        <p:spPr>
          <a:xfrm>
            <a:off x="502920" y="25440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4475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Cost per task as an eval metric:</a:t>
            </a:r>
            <a:r>
              <a:rPr sz="2000" i="0" b="0">
                <a:solidFill>
                  <a:srgbClr val="1E293B"/>
                </a:solidFill>
                <a:latin typeface="Helvetica Neue"/>
              </a:rPr>
              <a:t> 06 eval.</a:t>
            </a:r>
          </a:p>
        </p:txBody>
      </p:sp>
      <p:sp>
        <p:nvSpPr>
          <p:cNvPr id="18" name="Rectangle 17"/>
          <p:cNvSpPr/>
          <p:nvPr/>
        </p:nvSpPr>
        <p:spPr>
          <a:xfrm>
            <a:off x="502920" y="30317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93522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Hands-on kernels and labs:</a:t>
            </a:r>
            <a:r>
              <a:rPr sz="2000" i="0" b="0">
                <a:solidFill>
                  <a:srgbClr val="1E293B"/>
                </a:solidFill>
                <a:latin typeface="Helvetica Neue"/>
              </a:rPr>
              <a:t> the book's repository, </a:t>
            </a:r>
            <a:r>
              <a:rPr sz="1800" i="0" b="0">
                <a:solidFill>
                  <a:srgbClr val="0F7490"/>
                </a:solidFill>
                <a:latin typeface="Menlo"/>
              </a:rPr>
              <a:t>cfregly/ai-performance-engineering</a:t>
            </a:r>
            <a:r>
              <a:rPr sz="2000" i="0" b="0">
                <a:solidFill>
                  <a:srgbClr val="1E293B"/>
                </a:solidFill>
                <a:latin typeface="Helvetica Neu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