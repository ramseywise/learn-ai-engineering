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Lst>
  <p:sldSz cx="9144000" cy="5143500" type="screen16x9"/>
  <p:notesSz cx="5143500" cy="9144000"/>
  <p:embeddedFontLst>
    <p:embeddedFont>
      <p:font typeface="Roboto Mono" pitchFamily="49"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131" d="100"/>
          <a:sy n="131" d="100"/>
        </p:scale>
        <p:origin x="1272"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f2881330c3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3f2881330c3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f2881330c3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f2881330c3_0_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3f2881330c3_0_1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g3f2881330c3_0_1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f28c831ed8_0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g3f28c831ed8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g3f28c831ed8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f28c831ed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g3f28c831ed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g3f28c831ed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f28c831ed8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g3f28c831ed8_0_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g3f28c831ed8_0_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2" name="Google Shape;47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f28c831ed8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g3f28c831ed8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g3f28c831ed8_0_1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f28c831ed8_0_1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g3f28c831ed8_0_1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g3f28c831ed8_0_1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f28c831ed8_0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g3f28c831ed8_0_1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g3f28c831ed8_0_1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f28c831ed8_0_1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g3f28c831ed8_0_1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g3f28c831ed8_0_1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f28c831ed8_0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g3f28c831ed8_0_2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g3f28c831ed8_0_2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0" name="Google Shape;6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f28c831ed8_0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g3f28c831ed8_0_2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g3f28c831ed8_0_2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f28c831ed8_0_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g3f28c831ed8_0_3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g3f28c831ed8_0_3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VDsh62uIaf8"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www.youtube.com/watch?v=lInrwVnZ83o"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4480560" cy="5143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0" y="0"/>
            <a:ext cx="182880" cy="5143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5029200" y="-457200"/>
            <a:ext cx="3291840" cy="3291840"/>
          </a:xfrm>
          <a:prstGeom prst="ellipse">
            <a:avLst/>
          </a:prstGeom>
          <a:solidFill>
            <a:srgbClr val="0EA5C9">
              <a:alpha val="10196"/>
            </a:srgbClr>
          </a:solidFill>
          <a:ln w="12700" cap="flat" cmpd="sng">
            <a:solidFill>
              <a:srgbClr val="0EA5C9">
                <a:alpha val="18039"/>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6583680" y="1920240"/>
            <a:ext cx="2194560" cy="2194560"/>
          </a:xfrm>
          <a:prstGeom prst="ellipse">
            <a:avLst/>
          </a:prstGeom>
          <a:solidFill>
            <a:srgbClr val="D4621A">
              <a:alpha val="10196"/>
            </a:srgbClr>
          </a:solidFill>
          <a:ln w="12700" cap="flat" cmpd="sng">
            <a:solidFill>
              <a:srgbClr val="D4621A">
                <a:alpha val="18039"/>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5303520" y="3200400"/>
            <a:ext cx="2560320" cy="2560320"/>
          </a:xfrm>
          <a:prstGeom prst="ellipse">
            <a:avLst/>
          </a:prstGeom>
          <a:solidFill>
            <a:srgbClr val="0F7490">
              <a:alpha val="9019"/>
            </a:srgbClr>
          </a:solidFill>
          <a:ln w="12700" cap="flat" cmpd="sng">
            <a:solidFill>
              <a:srgbClr val="0F7490">
                <a:alpha val="16078"/>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256032" y="822960"/>
            <a:ext cx="402336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5200"/>
              <a:buFont typeface="Calibri"/>
              <a:buNone/>
            </a:pPr>
            <a:r>
              <a:rPr lang="en-US" sz="5200" b="1" i="0" u="none" strike="noStrike" cap="none">
                <a:solidFill>
                  <a:srgbClr val="FFFFFF"/>
                </a:solidFill>
                <a:latin typeface="Calibri"/>
                <a:ea typeface="Calibri"/>
                <a:cs typeface="Calibri"/>
                <a:sym typeface="Calibri"/>
              </a:rPr>
              <a:t>LangGraph</a:t>
            </a:r>
            <a:endParaRPr sz="5200" b="0" i="0" u="none" strike="noStrike" cap="none">
              <a:solidFill>
                <a:schemeClr val="dk1"/>
              </a:solidFill>
              <a:latin typeface="Calibri"/>
              <a:ea typeface="Calibri"/>
              <a:cs typeface="Calibri"/>
              <a:sym typeface="Calibri"/>
            </a:endParaRPr>
          </a:p>
        </p:txBody>
      </p:sp>
      <p:sp>
        <p:nvSpPr>
          <p:cNvPr id="22" name="Google Shape;22;p3"/>
          <p:cNvSpPr/>
          <p:nvPr/>
        </p:nvSpPr>
        <p:spPr>
          <a:xfrm>
            <a:off x="256032" y="1920240"/>
            <a:ext cx="40233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A5C9"/>
              </a:buClr>
              <a:buSzPts val="1800"/>
              <a:buFont typeface="Calibri"/>
              <a:buNone/>
            </a:pPr>
            <a:r>
              <a:rPr lang="en-US" sz="1800" b="0" i="0" u="none" strike="noStrike" cap="none">
                <a:solidFill>
                  <a:srgbClr val="0EA5C9"/>
                </a:solidFill>
                <a:latin typeface="Calibri"/>
                <a:ea typeface="Calibri"/>
                <a:cs typeface="Calibri"/>
                <a:sym typeface="Calibri"/>
              </a:rPr>
              <a:t>A Visual Guide to</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0EA5C9"/>
              </a:buClr>
              <a:buSzPts val="1800"/>
              <a:buFont typeface="Calibri"/>
              <a:buNone/>
            </a:pPr>
            <a:r>
              <a:rPr lang="en-US" sz="1800" b="0" i="0" u="none" strike="noStrike" cap="none">
                <a:solidFill>
                  <a:srgbClr val="0EA5C9"/>
                </a:solidFill>
                <a:latin typeface="Calibri"/>
                <a:ea typeface="Calibri"/>
                <a:cs typeface="Calibri"/>
                <a:sym typeface="Calibri"/>
              </a:rPr>
              <a:t>Stateful AI Agents</a:t>
            </a:r>
            <a:endParaRPr sz="1800" b="0" i="0" u="none" strike="noStrike" cap="none">
              <a:solidFill>
                <a:schemeClr val="dk1"/>
              </a:solidFill>
              <a:latin typeface="Calibri"/>
              <a:ea typeface="Calibri"/>
              <a:cs typeface="Calibri"/>
              <a:sym typeface="Calibri"/>
            </a:endParaRPr>
          </a:p>
        </p:txBody>
      </p:sp>
      <p:sp>
        <p:nvSpPr>
          <p:cNvPr id="23" name="Google Shape;23;p3"/>
          <p:cNvSpPr/>
          <p:nvPr/>
        </p:nvSpPr>
        <p:spPr>
          <a:xfrm>
            <a:off x="256032" y="2880360"/>
            <a:ext cx="3749040" cy="36576"/>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56032" y="2990088"/>
            <a:ext cx="3931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150"/>
              <a:buFont typeface="Calibri"/>
              <a:buNone/>
            </a:pPr>
            <a:r>
              <a:rPr lang="en-US" sz="1150" b="0" i="0" u="none" strike="noStrike" cap="none">
                <a:solidFill>
                  <a:srgbClr val="94A3B8"/>
                </a:solidFill>
                <a:latin typeface="Calibri"/>
                <a:ea typeface="Calibri"/>
                <a:cs typeface="Calibri"/>
                <a:sym typeface="Calibri"/>
              </a:rPr>
              <a:t>Graphs · State · Memory · Routing</a:t>
            </a:r>
            <a:endParaRPr sz="11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94A3B8"/>
              </a:buClr>
              <a:buSzPts val="1150"/>
              <a:buFont typeface="Calibri"/>
              <a:buNone/>
            </a:pPr>
            <a:r>
              <a:rPr lang="en-US" sz="1150" b="0" i="0" u="none" strike="noStrike" cap="none">
                <a:solidFill>
                  <a:srgbClr val="94A3B8"/>
                </a:solidFill>
                <a:latin typeface="Calibri"/>
                <a:ea typeface="Calibri"/>
                <a:cs typeface="Calibri"/>
                <a:sym typeface="Calibri"/>
              </a:rPr>
              <a:t>Human-in-the-Loop · Multi-Agent · Observability</a:t>
            </a:r>
            <a:endParaRPr sz="1150" b="0" i="0" u="none" strike="noStrike" cap="none">
              <a:solidFill>
                <a:schemeClr val="dk1"/>
              </a:solidFill>
              <a:latin typeface="Calibri"/>
              <a:ea typeface="Calibri"/>
              <a:cs typeface="Calibri"/>
              <a:sym typeface="Calibri"/>
            </a:endParaRPr>
          </a:p>
        </p:txBody>
      </p:sp>
      <p:sp>
        <p:nvSpPr>
          <p:cNvPr id="25" name="Google Shape;25;p3"/>
          <p:cNvSpPr/>
          <p:nvPr/>
        </p:nvSpPr>
        <p:spPr>
          <a:xfrm>
            <a:off x="4846320" y="960120"/>
            <a:ext cx="4023360" cy="82296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4846320" y="960120"/>
            <a:ext cx="64008" cy="82296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983480" y="1014984"/>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Part 1: Why</a:t>
            </a:r>
            <a:endParaRPr sz="1200" b="0" i="0" u="none" strike="noStrike" cap="none">
              <a:solidFill>
                <a:schemeClr val="dk1"/>
              </a:solidFill>
              <a:latin typeface="Calibri"/>
              <a:ea typeface="Calibri"/>
              <a:cs typeface="Calibri"/>
              <a:sym typeface="Calibri"/>
            </a:endParaRPr>
          </a:p>
        </p:txBody>
      </p:sp>
      <p:sp>
        <p:nvSpPr>
          <p:cNvPr id="28" name="Google Shape;28;p3"/>
          <p:cNvSpPr/>
          <p:nvPr/>
        </p:nvSpPr>
        <p:spPr>
          <a:xfrm>
            <a:off x="4983480" y="1417320"/>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From Chains to Graphs</a:t>
            </a:r>
            <a:endParaRPr sz="1050" b="0" i="0" u="none" strike="noStrike" cap="none">
              <a:solidFill>
                <a:schemeClr val="dk1"/>
              </a:solidFill>
              <a:latin typeface="Calibri"/>
              <a:ea typeface="Calibri"/>
              <a:cs typeface="Calibri"/>
              <a:sym typeface="Calibri"/>
            </a:endParaRPr>
          </a:p>
        </p:txBody>
      </p:sp>
      <p:sp>
        <p:nvSpPr>
          <p:cNvPr id="29" name="Google Shape;29;p3"/>
          <p:cNvSpPr/>
          <p:nvPr/>
        </p:nvSpPr>
        <p:spPr>
          <a:xfrm>
            <a:off x="4846320" y="1929384"/>
            <a:ext cx="4023360" cy="82296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846320" y="1929384"/>
            <a:ext cx="64008" cy="82296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983480" y="1984248"/>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Part 2: What</a:t>
            </a:r>
            <a:endParaRPr sz="1200" b="0" i="0" u="none" strike="noStrike" cap="none">
              <a:solidFill>
                <a:schemeClr val="dk1"/>
              </a:solidFill>
              <a:latin typeface="Calibri"/>
              <a:ea typeface="Calibri"/>
              <a:cs typeface="Calibri"/>
              <a:sym typeface="Calibri"/>
            </a:endParaRPr>
          </a:p>
        </p:txBody>
      </p:sp>
      <p:sp>
        <p:nvSpPr>
          <p:cNvPr id="32" name="Google Shape;32;p3"/>
          <p:cNvSpPr/>
          <p:nvPr/>
        </p:nvSpPr>
        <p:spPr>
          <a:xfrm>
            <a:off x="4983480" y="2386584"/>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Nodes · Edges · State · Reducers · </a:t>
            </a:r>
            <a:r>
              <a:rPr lang="en-US" sz="1050">
                <a:solidFill>
                  <a:srgbClr val="475569"/>
                </a:solidFill>
                <a:latin typeface="Calibri"/>
                <a:ea typeface="Calibri"/>
                <a:cs typeface="Calibri"/>
                <a:sym typeface="Calibri"/>
              </a:rPr>
              <a:t>Workflow &amp; Agents </a:t>
            </a:r>
            <a:endParaRPr sz="1050" b="0" i="0" u="none" strike="noStrike" cap="none">
              <a:solidFill>
                <a:schemeClr val="dk1"/>
              </a:solidFill>
              <a:latin typeface="Calibri"/>
              <a:ea typeface="Calibri"/>
              <a:cs typeface="Calibri"/>
              <a:sym typeface="Calibri"/>
            </a:endParaRPr>
          </a:p>
        </p:txBody>
      </p:sp>
      <p:sp>
        <p:nvSpPr>
          <p:cNvPr id="33" name="Google Shape;33;p3"/>
          <p:cNvSpPr/>
          <p:nvPr/>
        </p:nvSpPr>
        <p:spPr>
          <a:xfrm>
            <a:off x="4846320" y="2898648"/>
            <a:ext cx="4023360" cy="82296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4846320" y="2898648"/>
            <a:ext cx="64008" cy="822960"/>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983480" y="2953512"/>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Part 3: Capabilities</a:t>
            </a:r>
            <a:endParaRPr sz="1200" b="0" i="0" u="none" strike="noStrike" cap="none">
              <a:solidFill>
                <a:schemeClr val="dk1"/>
              </a:solidFill>
              <a:latin typeface="Calibri"/>
              <a:ea typeface="Calibri"/>
              <a:cs typeface="Calibri"/>
              <a:sym typeface="Calibri"/>
            </a:endParaRPr>
          </a:p>
        </p:txBody>
      </p:sp>
      <p:sp>
        <p:nvSpPr>
          <p:cNvPr id="36" name="Google Shape;36;p3"/>
          <p:cNvSpPr/>
          <p:nvPr/>
        </p:nvSpPr>
        <p:spPr>
          <a:xfrm>
            <a:off x="4983480" y="3355848"/>
            <a:ext cx="37947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Memory · Persistence &amp; Durable Execution · HITL</a:t>
            </a:r>
            <a:r>
              <a:rPr lang="en-US" sz="1050">
                <a:solidFill>
                  <a:srgbClr val="475569"/>
                </a:solidFill>
                <a:latin typeface="Calibri"/>
                <a:ea typeface="Calibri"/>
                <a:cs typeface="Calibri"/>
                <a:sym typeface="Calibri"/>
              </a:rPr>
              <a:t> · Streaming · Subgraphs  </a:t>
            </a:r>
            <a:endParaRPr sz="1050" b="0" i="0" u="none" strike="noStrike" cap="none">
              <a:solidFill>
                <a:schemeClr val="dk1"/>
              </a:solidFill>
              <a:latin typeface="Calibri"/>
              <a:ea typeface="Calibri"/>
              <a:cs typeface="Calibri"/>
              <a:sym typeface="Calibri"/>
            </a:endParaRPr>
          </a:p>
        </p:txBody>
      </p:sp>
      <p:sp>
        <p:nvSpPr>
          <p:cNvPr id="37" name="Google Shape;37;p3"/>
          <p:cNvSpPr/>
          <p:nvPr/>
        </p:nvSpPr>
        <p:spPr>
          <a:xfrm>
            <a:off x="4846320" y="3867912"/>
            <a:ext cx="4023360" cy="82296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846320" y="3867912"/>
            <a:ext cx="64008" cy="822960"/>
          </a:xfrm>
          <a:prstGeom prst="rect">
            <a:avLst/>
          </a:prstGeom>
          <a:solidFill>
            <a:srgbClr val="5B2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4983480" y="3922776"/>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Part 4: Production</a:t>
            </a:r>
            <a:endParaRPr sz="1200" b="0" i="0" u="none" strike="noStrike" cap="none">
              <a:solidFill>
                <a:schemeClr val="dk1"/>
              </a:solidFill>
              <a:latin typeface="Calibri"/>
              <a:ea typeface="Calibri"/>
              <a:cs typeface="Calibri"/>
              <a:sym typeface="Calibri"/>
            </a:endParaRPr>
          </a:p>
        </p:txBody>
      </p:sp>
      <p:sp>
        <p:nvSpPr>
          <p:cNvPr id="40" name="Google Shape;40;p3"/>
          <p:cNvSpPr/>
          <p:nvPr/>
        </p:nvSpPr>
        <p:spPr>
          <a:xfrm>
            <a:off x="4983480" y="4325112"/>
            <a:ext cx="3794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a:solidFill>
                  <a:srgbClr val="475569"/>
                </a:solidFill>
                <a:latin typeface="Calibri"/>
                <a:ea typeface="Calibri"/>
                <a:cs typeface="Calibri"/>
                <a:sym typeface="Calibri"/>
              </a:rPr>
              <a:t>Agent UI · </a:t>
            </a:r>
            <a:r>
              <a:rPr lang="en-US" sz="1050" b="0" i="0" u="none" strike="noStrike" cap="none">
                <a:solidFill>
                  <a:srgbClr val="475569"/>
                </a:solidFill>
                <a:latin typeface="Calibri"/>
                <a:ea typeface="Calibri"/>
                <a:cs typeface="Calibri"/>
                <a:sym typeface="Calibri"/>
              </a:rPr>
              <a:t>Observability · Takeaways</a:t>
            </a:r>
            <a:endParaRPr sz="1050" b="0" i="0" u="none" strike="noStrike" cap="none">
              <a:solidFill>
                <a:schemeClr val="dk1"/>
              </a:solidFill>
              <a:latin typeface="Calibri"/>
              <a:ea typeface="Calibri"/>
              <a:cs typeface="Calibri"/>
              <a:sym typeface="Calibri"/>
            </a:endParaRPr>
          </a:p>
        </p:txBody>
      </p:sp>
      <p:sp>
        <p:nvSpPr>
          <p:cNvPr id="41" name="Google Shape;41;p3"/>
          <p:cNvSpPr/>
          <p:nvPr/>
        </p:nvSpPr>
        <p:spPr>
          <a:xfrm>
            <a:off x="4846320" y="4828032"/>
            <a:ext cx="4023360" cy="21945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4A3B8"/>
              </a:buClr>
              <a:buSzPts val="850"/>
              <a:buFont typeface="Calibri"/>
              <a:buNone/>
            </a:pPr>
            <a:r>
              <a:rPr lang="en-US" sz="850" b="0" i="1" u="none" strike="noStrike" cap="none">
                <a:solidFill>
                  <a:srgbClr val="94A3B8"/>
                </a:solidFill>
                <a:latin typeface="Calibri"/>
                <a:ea typeface="Calibri"/>
                <a:cs typeface="Calibri"/>
                <a:sym typeface="Calibri"/>
              </a:rPr>
              <a:t>Reference: docs.langchain.com </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46"/>
        <p:cNvGrpSpPr/>
        <p:nvPr/>
      </p:nvGrpSpPr>
      <p:grpSpPr>
        <a:xfrm>
          <a:off x="0" y="0"/>
          <a:ext cx="0" cy="0"/>
          <a:chOff x="0" y="0"/>
          <a:chExt cx="0" cy="0"/>
        </a:xfrm>
      </p:grpSpPr>
      <p:sp>
        <p:nvSpPr>
          <p:cNvPr id="47" name="Google Shape;47;p4"/>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From Chains to Graphs</a:t>
            </a:r>
            <a:endParaRPr sz="2200" b="0" i="0" u="none" strike="noStrike" cap="none">
              <a:solidFill>
                <a:schemeClr val="dk1"/>
              </a:solidFill>
              <a:latin typeface="Calibri"/>
              <a:ea typeface="Calibri"/>
              <a:cs typeface="Calibri"/>
              <a:sym typeface="Calibri"/>
            </a:endParaRPr>
          </a:p>
        </p:txBody>
      </p:sp>
      <p:sp>
        <p:nvSpPr>
          <p:cNvPr id="50" name="Google Shape;50;p4"/>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Why LangGraph exists</a:t>
            </a:r>
            <a:endParaRPr sz="1000" b="0" i="0" u="none" strike="noStrike" cap="none">
              <a:solidFill>
                <a:schemeClr val="dk1"/>
              </a:solidFill>
              <a:latin typeface="Calibri"/>
              <a:ea typeface="Calibri"/>
              <a:cs typeface="Calibri"/>
              <a:sym typeface="Calibri"/>
            </a:endParaRPr>
          </a:p>
        </p:txBody>
      </p:sp>
      <p:sp>
        <p:nvSpPr>
          <p:cNvPr id="51" name="Google Shape;51;p4"/>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1: Why</a:t>
            </a:r>
            <a:endParaRPr sz="950" b="0" i="0" u="none" strike="noStrike" cap="none">
              <a:solidFill>
                <a:schemeClr val="dk1"/>
              </a:solidFill>
              <a:latin typeface="Calibri"/>
              <a:ea typeface="Calibri"/>
              <a:cs typeface="Calibri"/>
              <a:sym typeface="Calibri"/>
            </a:endParaRPr>
          </a:p>
        </p:txBody>
      </p:sp>
      <p:sp>
        <p:nvSpPr>
          <p:cNvPr id="53" name="Google Shape;53;p4"/>
          <p:cNvSpPr/>
          <p:nvPr/>
        </p:nvSpPr>
        <p:spPr>
          <a:xfrm>
            <a:off x="256032" y="969264"/>
            <a:ext cx="8631936"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b="0" i="0" u="none" strike="noStrike" cap="none">
                <a:solidFill>
                  <a:srgbClr val="475569"/>
                </a:solidFill>
                <a:latin typeface="Calibri"/>
                <a:ea typeface="Calibri"/>
                <a:cs typeface="Calibri"/>
                <a:sym typeface="Calibri"/>
              </a:rPr>
              <a:t>Traditional AI pipelines are linear and single-pass. LangGraph replaces them with cyclic, stateful graphs — enabling loops, branching, self-correction, and collaboration. </a:t>
            </a:r>
            <a:endParaRPr sz="1200" b="0" i="0" u="none" strike="noStrike" cap="none">
              <a:solidFill>
                <a:schemeClr val="dk1"/>
              </a:solidFill>
              <a:latin typeface="Calibri"/>
              <a:ea typeface="Calibri"/>
              <a:cs typeface="Calibri"/>
              <a:sym typeface="Calibri"/>
            </a:endParaRPr>
          </a:p>
        </p:txBody>
      </p:sp>
      <p:sp>
        <p:nvSpPr>
          <p:cNvPr id="54" name="Google Shape;54;p4"/>
          <p:cNvSpPr/>
          <p:nvPr/>
        </p:nvSpPr>
        <p:spPr>
          <a:xfrm>
            <a:off x="256032" y="1481328"/>
            <a:ext cx="3931920" cy="3401568"/>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256032" y="1481328"/>
            <a:ext cx="3931920" cy="402336"/>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256032" y="1481328"/>
            <a:ext cx="3931920"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250"/>
              <a:buFont typeface="Calibri"/>
              <a:buNone/>
            </a:pPr>
            <a:r>
              <a:rPr lang="en-US" sz="1250" b="1" i="0" u="none" strike="noStrike" cap="none">
                <a:solidFill>
                  <a:srgbClr val="475569"/>
                </a:solidFill>
                <a:latin typeface="Calibri"/>
                <a:ea typeface="Calibri"/>
                <a:cs typeface="Calibri"/>
                <a:sym typeface="Calibri"/>
              </a:rPr>
              <a:t>Pipelines — Traditional AI</a:t>
            </a:r>
            <a:endParaRPr sz="1250" b="0" i="0" u="none" strike="noStrike" cap="none">
              <a:solidFill>
                <a:schemeClr val="dk1"/>
              </a:solidFill>
              <a:latin typeface="Calibri"/>
              <a:ea typeface="Calibri"/>
              <a:cs typeface="Calibri"/>
              <a:sym typeface="Calibri"/>
            </a:endParaRPr>
          </a:p>
        </p:txBody>
      </p:sp>
      <p:sp>
        <p:nvSpPr>
          <p:cNvPr id="57" name="Google Shape;57;p4"/>
          <p:cNvSpPr/>
          <p:nvPr/>
        </p:nvSpPr>
        <p:spPr>
          <a:xfrm>
            <a:off x="420624" y="1993392"/>
            <a:ext cx="91440" cy="91440"/>
          </a:xfrm>
          <a:prstGeom prst="ellipse">
            <a:avLst/>
          </a:prstGeom>
          <a:solidFill>
            <a:srgbClr val="94A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585216" y="1938528"/>
            <a:ext cx="34564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Sequential, predictable, single-pass</a:t>
            </a:r>
            <a:endParaRPr sz="1100" b="0" i="0" u="none" strike="noStrike" cap="none">
              <a:solidFill>
                <a:schemeClr val="dk1"/>
              </a:solidFill>
              <a:latin typeface="Calibri"/>
              <a:ea typeface="Calibri"/>
              <a:cs typeface="Calibri"/>
              <a:sym typeface="Calibri"/>
            </a:endParaRPr>
          </a:p>
        </p:txBody>
      </p:sp>
      <p:sp>
        <p:nvSpPr>
          <p:cNvPr id="59" name="Google Shape;59;p4"/>
          <p:cNvSpPr/>
          <p:nvPr/>
        </p:nvSpPr>
        <p:spPr>
          <a:xfrm>
            <a:off x="420624" y="2313432"/>
            <a:ext cx="91440" cy="91440"/>
          </a:xfrm>
          <a:prstGeom prst="ellipse">
            <a:avLst/>
          </a:prstGeom>
          <a:solidFill>
            <a:srgbClr val="94A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585216" y="2258568"/>
            <a:ext cx="34564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Excellent for defined, repeatable tasks</a:t>
            </a:r>
            <a:endParaRPr sz="1100" b="0" i="0" u="none" strike="noStrike" cap="none">
              <a:solidFill>
                <a:schemeClr val="dk1"/>
              </a:solidFill>
              <a:latin typeface="Calibri"/>
              <a:ea typeface="Calibri"/>
              <a:cs typeface="Calibri"/>
              <a:sym typeface="Calibri"/>
            </a:endParaRPr>
          </a:p>
        </p:txBody>
      </p:sp>
      <p:sp>
        <p:nvSpPr>
          <p:cNvPr id="61" name="Google Shape;61;p4"/>
          <p:cNvSpPr/>
          <p:nvPr/>
        </p:nvSpPr>
        <p:spPr>
          <a:xfrm>
            <a:off x="420624" y="2633472"/>
            <a:ext cx="91440" cy="91440"/>
          </a:xfrm>
          <a:prstGeom prst="ellipse">
            <a:avLst/>
          </a:prstGeom>
          <a:solidFill>
            <a:srgbClr val="94A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585216" y="2578608"/>
            <a:ext cx="34564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Cannot pause, loop, or self-correct</a:t>
            </a:r>
            <a:endParaRPr sz="1100" b="0" i="0" u="none" strike="noStrike" cap="none">
              <a:solidFill>
                <a:schemeClr val="dk1"/>
              </a:solidFill>
              <a:latin typeface="Calibri"/>
              <a:ea typeface="Calibri"/>
              <a:cs typeface="Calibri"/>
              <a:sym typeface="Calibri"/>
            </a:endParaRPr>
          </a:p>
        </p:txBody>
      </p:sp>
      <p:sp>
        <p:nvSpPr>
          <p:cNvPr id="63" name="Google Shape;63;p4"/>
          <p:cNvSpPr/>
          <p:nvPr/>
        </p:nvSpPr>
        <p:spPr>
          <a:xfrm>
            <a:off x="420624" y="2953512"/>
            <a:ext cx="91440" cy="91440"/>
          </a:xfrm>
          <a:prstGeom prst="ellipse">
            <a:avLst/>
          </a:prstGeom>
          <a:solidFill>
            <a:srgbClr val="94A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585216" y="2898648"/>
            <a:ext cx="34564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No memory across steps — every run starts fresh</a:t>
            </a:r>
            <a:endParaRPr sz="1100" b="0" i="0" u="none" strike="noStrike" cap="none">
              <a:solidFill>
                <a:schemeClr val="dk1"/>
              </a:solidFill>
              <a:latin typeface="Calibri"/>
              <a:ea typeface="Calibri"/>
              <a:cs typeface="Calibri"/>
              <a:sym typeface="Calibri"/>
            </a:endParaRPr>
          </a:p>
        </p:txBody>
      </p:sp>
      <p:sp>
        <p:nvSpPr>
          <p:cNvPr id="65" name="Google Shape;65;p4"/>
          <p:cNvSpPr/>
          <p:nvPr/>
        </p:nvSpPr>
        <p:spPr>
          <a:xfrm>
            <a:off x="777240" y="3337560"/>
            <a:ext cx="548640" cy="548640"/>
          </a:xfrm>
          <a:prstGeom prst="ellipse">
            <a:avLst/>
          </a:prstGeom>
          <a:solidFill>
            <a:srgbClr val="E8EDF5"/>
          </a:solidFill>
          <a:ln w="12700"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777240" y="33375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400"/>
              <a:buFont typeface="Calibri"/>
              <a:buNone/>
            </a:pPr>
            <a:r>
              <a:rPr lang="en-US" sz="1400" b="1" i="0" u="none" strike="noStrike" cap="none">
                <a:solidFill>
                  <a:srgbClr val="475569"/>
                </a:solidFill>
                <a:latin typeface="Calibri"/>
                <a:ea typeface="Calibri"/>
                <a:cs typeface="Calibri"/>
                <a:sym typeface="Calibri"/>
              </a:rPr>
              <a:t>A</a:t>
            </a:r>
            <a:endParaRPr sz="1400" b="0" i="0" u="none" strike="noStrike" cap="none">
              <a:solidFill>
                <a:schemeClr val="dk1"/>
              </a:solidFill>
              <a:latin typeface="Calibri"/>
              <a:ea typeface="Calibri"/>
              <a:cs typeface="Calibri"/>
              <a:sym typeface="Calibri"/>
            </a:endParaRPr>
          </a:p>
        </p:txBody>
      </p:sp>
      <p:cxnSp>
        <p:nvCxnSpPr>
          <p:cNvPr id="67" name="Google Shape;67;p4"/>
          <p:cNvCxnSpPr/>
          <p:nvPr/>
        </p:nvCxnSpPr>
        <p:spPr>
          <a:xfrm>
            <a:off x="1325880" y="3611880"/>
            <a:ext cx="594360" cy="0"/>
          </a:xfrm>
          <a:prstGeom prst="straightConnector1">
            <a:avLst/>
          </a:prstGeom>
          <a:noFill/>
          <a:ln w="22850" cap="flat" cmpd="sng">
            <a:solidFill>
              <a:srgbClr val="94A3B8"/>
            </a:solidFill>
            <a:prstDash val="solid"/>
            <a:round/>
            <a:headEnd type="none" w="sm" len="sm"/>
            <a:tailEnd type="none" w="sm" len="sm"/>
          </a:ln>
        </p:spPr>
      </p:cxnSp>
      <p:cxnSp>
        <p:nvCxnSpPr>
          <p:cNvPr id="68" name="Google Shape;68;p4"/>
          <p:cNvCxnSpPr/>
          <p:nvPr/>
        </p:nvCxnSpPr>
        <p:spPr>
          <a:xfrm>
            <a:off x="1801368" y="3529584"/>
            <a:ext cx="118872" cy="82296"/>
          </a:xfrm>
          <a:prstGeom prst="straightConnector1">
            <a:avLst/>
          </a:prstGeom>
          <a:noFill/>
          <a:ln w="22850" cap="flat" cmpd="sng">
            <a:solidFill>
              <a:srgbClr val="94A3B8"/>
            </a:solidFill>
            <a:prstDash val="solid"/>
            <a:round/>
            <a:headEnd type="none" w="sm" len="sm"/>
            <a:tailEnd type="none" w="sm" len="sm"/>
          </a:ln>
        </p:spPr>
      </p:cxnSp>
      <p:cxnSp>
        <p:nvCxnSpPr>
          <p:cNvPr id="69" name="Google Shape;69;p4"/>
          <p:cNvCxnSpPr/>
          <p:nvPr/>
        </p:nvCxnSpPr>
        <p:spPr>
          <a:xfrm rot="10800000" flipH="1">
            <a:off x="1801368" y="3611880"/>
            <a:ext cx="118872" cy="82296"/>
          </a:xfrm>
          <a:prstGeom prst="straightConnector1">
            <a:avLst/>
          </a:prstGeom>
          <a:noFill/>
          <a:ln w="22850" cap="flat" cmpd="sng">
            <a:solidFill>
              <a:srgbClr val="94A3B8"/>
            </a:solidFill>
            <a:prstDash val="solid"/>
            <a:round/>
            <a:headEnd type="none" w="sm" len="sm"/>
            <a:tailEnd type="none" w="sm" len="sm"/>
          </a:ln>
        </p:spPr>
      </p:cxnSp>
      <p:sp>
        <p:nvSpPr>
          <p:cNvPr id="70" name="Google Shape;70;p4"/>
          <p:cNvSpPr/>
          <p:nvPr/>
        </p:nvSpPr>
        <p:spPr>
          <a:xfrm>
            <a:off x="1920240" y="3337560"/>
            <a:ext cx="548640" cy="548640"/>
          </a:xfrm>
          <a:prstGeom prst="ellipse">
            <a:avLst/>
          </a:prstGeom>
          <a:solidFill>
            <a:srgbClr val="E8EDF5"/>
          </a:solidFill>
          <a:ln w="12700"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1920240" y="33375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400"/>
              <a:buFont typeface="Calibri"/>
              <a:buNone/>
            </a:pPr>
            <a:r>
              <a:rPr lang="en-US" sz="1400" b="1" i="0" u="none" strike="noStrike" cap="none">
                <a:solidFill>
                  <a:srgbClr val="475569"/>
                </a:solidFill>
                <a:latin typeface="Calibri"/>
                <a:ea typeface="Calibri"/>
                <a:cs typeface="Calibri"/>
                <a:sym typeface="Calibri"/>
              </a:rPr>
              <a:t>B</a:t>
            </a:r>
            <a:endParaRPr sz="1400" b="0" i="0" u="none" strike="noStrike" cap="none">
              <a:solidFill>
                <a:schemeClr val="dk1"/>
              </a:solidFill>
              <a:latin typeface="Calibri"/>
              <a:ea typeface="Calibri"/>
              <a:cs typeface="Calibri"/>
              <a:sym typeface="Calibri"/>
            </a:endParaRPr>
          </a:p>
        </p:txBody>
      </p:sp>
      <p:cxnSp>
        <p:nvCxnSpPr>
          <p:cNvPr id="72" name="Google Shape;72;p4"/>
          <p:cNvCxnSpPr/>
          <p:nvPr/>
        </p:nvCxnSpPr>
        <p:spPr>
          <a:xfrm>
            <a:off x="2468880" y="3611880"/>
            <a:ext cx="594360" cy="0"/>
          </a:xfrm>
          <a:prstGeom prst="straightConnector1">
            <a:avLst/>
          </a:prstGeom>
          <a:noFill/>
          <a:ln w="22850" cap="flat" cmpd="sng">
            <a:solidFill>
              <a:srgbClr val="94A3B8"/>
            </a:solidFill>
            <a:prstDash val="solid"/>
            <a:round/>
            <a:headEnd type="none" w="sm" len="sm"/>
            <a:tailEnd type="none" w="sm" len="sm"/>
          </a:ln>
        </p:spPr>
      </p:cxnSp>
      <p:cxnSp>
        <p:nvCxnSpPr>
          <p:cNvPr id="73" name="Google Shape;73;p4"/>
          <p:cNvCxnSpPr/>
          <p:nvPr/>
        </p:nvCxnSpPr>
        <p:spPr>
          <a:xfrm>
            <a:off x="2944368" y="3529584"/>
            <a:ext cx="118872" cy="82296"/>
          </a:xfrm>
          <a:prstGeom prst="straightConnector1">
            <a:avLst/>
          </a:prstGeom>
          <a:noFill/>
          <a:ln w="22850" cap="flat" cmpd="sng">
            <a:solidFill>
              <a:srgbClr val="94A3B8"/>
            </a:solidFill>
            <a:prstDash val="solid"/>
            <a:round/>
            <a:headEnd type="none" w="sm" len="sm"/>
            <a:tailEnd type="none" w="sm" len="sm"/>
          </a:ln>
        </p:spPr>
      </p:cxnSp>
      <p:cxnSp>
        <p:nvCxnSpPr>
          <p:cNvPr id="74" name="Google Shape;74;p4"/>
          <p:cNvCxnSpPr/>
          <p:nvPr/>
        </p:nvCxnSpPr>
        <p:spPr>
          <a:xfrm rot="10800000" flipH="1">
            <a:off x="2944368" y="3611880"/>
            <a:ext cx="118872" cy="82296"/>
          </a:xfrm>
          <a:prstGeom prst="straightConnector1">
            <a:avLst/>
          </a:prstGeom>
          <a:noFill/>
          <a:ln w="22850" cap="flat" cmpd="sng">
            <a:solidFill>
              <a:srgbClr val="94A3B8"/>
            </a:solidFill>
            <a:prstDash val="solid"/>
            <a:round/>
            <a:headEnd type="none" w="sm" len="sm"/>
            <a:tailEnd type="none" w="sm" len="sm"/>
          </a:ln>
        </p:spPr>
      </p:cxnSp>
      <p:sp>
        <p:nvSpPr>
          <p:cNvPr id="75" name="Google Shape;75;p4"/>
          <p:cNvSpPr/>
          <p:nvPr/>
        </p:nvSpPr>
        <p:spPr>
          <a:xfrm>
            <a:off x="3063240" y="3337560"/>
            <a:ext cx="548640" cy="548640"/>
          </a:xfrm>
          <a:prstGeom prst="ellipse">
            <a:avLst/>
          </a:prstGeom>
          <a:solidFill>
            <a:srgbClr val="E8EDF5"/>
          </a:solidFill>
          <a:ln w="12700"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3063240" y="3337560"/>
            <a:ext cx="5486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400"/>
              <a:buFont typeface="Calibri"/>
              <a:buNone/>
            </a:pPr>
            <a:r>
              <a:rPr lang="en-US" sz="1400" b="1" i="0" u="none" strike="noStrike" cap="none">
                <a:solidFill>
                  <a:srgbClr val="475569"/>
                </a:solidFill>
                <a:latin typeface="Calibri"/>
                <a:ea typeface="Calibri"/>
                <a:cs typeface="Calibri"/>
                <a:sym typeface="Calibri"/>
              </a:rPr>
              <a:t>C</a:t>
            </a:r>
            <a:endParaRPr sz="1400" b="0" i="0" u="none" strike="noStrike" cap="none">
              <a:solidFill>
                <a:schemeClr val="dk1"/>
              </a:solidFill>
              <a:latin typeface="Calibri"/>
              <a:ea typeface="Calibri"/>
              <a:cs typeface="Calibri"/>
              <a:sym typeface="Calibri"/>
            </a:endParaRPr>
          </a:p>
        </p:txBody>
      </p:sp>
      <p:sp>
        <p:nvSpPr>
          <p:cNvPr id="77" name="Google Shape;77;p4"/>
          <p:cNvSpPr/>
          <p:nvPr/>
        </p:nvSpPr>
        <p:spPr>
          <a:xfrm>
            <a:off x="329184" y="4133088"/>
            <a:ext cx="3785616" cy="530352"/>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329184" y="4133088"/>
            <a:ext cx="3785616" cy="53035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1100"/>
              <a:buFont typeface="Calibri"/>
              <a:buNone/>
            </a:pPr>
            <a:r>
              <a:rPr lang="en-US" sz="1100" b="0" i="1" u="none" strike="noStrike" cap="none">
                <a:solidFill>
                  <a:srgbClr val="94A3B8"/>
                </a:solidFill>
                <a:latin typeface="Calibri"/>
                <a:ea typeface="Calibri"/>
                <a:cs typeface="Calibri"/>
                <a:sym typeface="Calibri"/>
              </a:rPr>
              <a:t>Linear · No memory · No loops · One shot only</a:t>
            </a:r>
            <a:endParaRPr sz="1100" b="0" i="0" u="none" strike="noStrike" cap="none">
              <a:solidFill>
                <a:schemeClr val="dk1"/>
              </a:solidFill>
              <a:latin typeface="Calibri"/>
              <a:ea typeface="Calibri"/>
              <a:cs typeface="Calibri"/>
              <a:sym typeface="Calibri"/>
            </a:endParaRPr>
          </a:p>
        </p:txBody>
      </p:sp>
      <p:sp>
        <p:nvSpPr>
          <p:cNvPr id="79" name="Google Shape;79;p4"/>
          <p:cNvSpPr/>
          <p:nvPr/>
        </p:nvSpPr>
        <p:spPr>
          <a:xfrm>
            <a:off x="4444034" y="1481265"/>
            <a:ext cx="4443900" cy="3401700"/>
          </a:xfrm>
          <a:prstGeom prst="rect">
            <a:avLst/>
          </a:prstGeom>
          <a:solidFill>
            <a:srgbClr val="FFFFFF"/>
          </a:solidFill>
          <a:ln w="12700" cap="flat" cmpd="sng">
            <a:solidFill>
              <a:srgbClr val="1E3A5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4443984" y="1481328"/>
            <a:ext cx="4443984" cy="402336"/>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4443984" y="1481328"/>
            <a:ext cx="4443984"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Graphs — LangGraph</a:t>
            </a:r>
            <a:endParaRPr sz="1250" b="0" i="0" u="none" strike="noStrike" cap="none">
              <a:solidFill>
                <a:schemeClr val="dk1"/>
              </a:solidFill>
              <a:latin typeface="Calibri"/>
              <a:ea typeface="Calibri"/>
              <a:cs typeface="Calibri"/>
              <a:sym typeface="Calibri"/>
            </a:endParaRPr>
          </a:p>
        </p:txBody>
      </p:sp>
      <p:sp>
        <p:nvSpPr>
          <p:cNvPr id="82" name="Google Shape;82;p4"/>
          <p:cNvSpPr/>
          <p:nvPr/>
        </p:nvSpPr>
        <p:spPr>
          <a:xfrm>
            <a:off x="4608576" y="1993392"/>
            <a:ext cx="91440" cy="9144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4773168" y="1938528"/>
            <a:ext cx="39684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Cyclic, stateful, and autonomous</a:t>
            </a:r>
            <a:endParaRPr sz="1100" b="0" i="0" u="none" strike="noStrike" cap="none">
              <a:solidFill>
                <a:schemeClr val="dk1"/>
              </a:solidFill>
              <a:latin typeface="Calibri"/>
              <a:ea typeface="Calibri"/>
              <a:cs typeface="Calibri"/>
              <a:sym typeface="Calibri"/>
            </a:endParaRPr>
          </a:p>
        </p:txBody>
      </p:sp>
      <p:sp>
        <p:nvSpPr>
          <p:cNvPr id="84" name="Google Shape;84;p4"/>
          <p:cNvSpPr/>
          <p:nvPr/>
        </p:nvSpPr>
        <p:spPr>
          <a:xfrm>
            <a:off x="4608576" y="2313432"/>
            <a:ext cx="91440" cy="9144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4773168" y="2258568"/>
            <a:ext cx="39684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Agents reason, evaluate, loop, and collaborate</a:t>
            </a:r>
            <a:endParaRPr sz="1100" b="0" i="0" u="none" strike="noStrike" cap="none">
              <a:solidFill>
                <a:schemeClr val="dk1"/>
              </a:solidFill>
              <a:latin typeface="Calibri"/>
              <a:ea typeface="Calibri"/>
              <a:cs typeface="Calibri"/>
              <a:sym typeface="Calibri"/>
            </a:endParaRPr>
          </a:p>
        </p:txBody>
      </p:sp>
      <p:sp>
        <p:nvSpPr>
          <p:cNvPr id="86" name="Google Shape;86;p4"/>
          <p:cNvSpPr/>
          <p:nvPr/>
        </p:nvSpPr>
        <p:spPr>
          <a:xfrm>
            <a:off x="4608576" y="2633472"/>
            <a:ext cx="91440" cy="9144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4773168" y="2578608"/>
            <a:ext cx="39684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Continuous execution and adaptation</a:t>
            </a:r>
            <a:endParaRPr sz="1100" b="0" i="0" u="none" strike="noStrike" cap="none">
              <a:solidFill>
                <a:schemeClr val="dk1"/>
              </a:solidFill>
              <a:latin typeface="Calibri"/>
              <a:ea typeface="Calibri"/>
              <a:cs typeface="Calibri"/>
              <a:sym typeface="Calibri"/>
            </a:endParaRPr>
          </a:p>
        </p:txBody>
      </p:sp>
      <p:sp>
        <p:nvSpPr>
          <p:cNvPr id="88" name="Google Shape;88;p4"/>
          <p:cNvSpPr/>
          <p:nvPr/>
        </p:nvSpPr>
        <p:spPr>
          <a:xfrm>
            <a:off x="4599476" y="2926175"/>
            <a:ext cx="91500" cy="9150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4764068" y="2871311"/>
            <a:ext cx="3968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Persistent memory across steps and sessions</a:t>
            </a:r>
            <a:endParaRPr sz="1100" b="0" i="0" u="none" strike="noStrike" cap="none">
              <a:solidFill>
                <a:schemeClr val="dk1"/>
              </a:solidFill>
              <a:latin typeface="Calibri"/>
              <a:ea typeface="Calibri"/>
              <a:cs typeface="Calibri"/>
              <a:sym typeface="Calibri"/>
            </a:endParaRPr>
          </a:p>
        </p:txBody>
      </p:sp>
      <p:sp>
        <p:nvSpPr>
          <p:cNvPr id="90" name="Google Shape;90;p4"/>
          <p:cNvSpPr/>
          <p:nvPr/>
        </p:nvSpPr>
        <p:spPr>
          <a:xfrm>
            <a:off x="4654290" y="3602728"/>
            <a:ext cx="1389900" cy="438900"/>
          </a:xfrm>
          <a:prstGeom prst="rect">
            <a:avLst/>
          </a:prstGeom>
          <a:solidFill>
            <a:srgbClr val="1E3A5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4654290" y="3602728"/>
            <a:ext cx="13899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Agent</a:t>
            </a:r>
            <a:endParaRPr sz="1100" b="0" i="0" u="none" strike="noStrike" cap="none">
              <a:solidFill>
                <a:schemeClr val="dk1"/>
              </a:solidFill>
              <a:latin typeface="Calibri"/>
              <a:ea typeface="Calibri"/>
              <a:cs typeface="Calibri"/>
              <a:sym typeface="Calibri"/>
            </a:endParaRPr>
          </a:p>
        </p:txBody>
      </p:sp>
      <p:sp>
        <p:nvSpPr>
          <p:cNvPr id="92" name="Google Shape;92;p4"/>
          <p:cNvSpPr/>
          <p:nvPr/>
        </p:nvSpPr>
        <p:spPr>
          <a:xfrm>
            <a:off x="6483090" y="3602728"/>
            <a:ext cx="1298400" cy="438900"/>
          </a:xfrm>
          <a:prstGeom prst="rect">
            <a:avLst/>
          </a:prstGeom>
          <a:solidFill>
            <a:srgbClr val="0F7490"/>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6483090" y="3602728"/>
            <a:ext cx="12984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Tools</a:t>
            </a:r>
            <a:endParaRPr sz="1100" b="0" i="0" u="none" strike="noStrike" cap="none">
              <a:solidFill>
                <a:schemeClr val="dk1"/>
              </a:solidFill>
              <a:latin typeface="Calibri"/>
              <a:ea typeface="Calibri"/>
              <a:cs typeface="Calibri"/>
              <a:sym typeface="Calibri"/>
            </a:endParaRPr>
          </a:p>
        </p:txBody>
      </p:sp>
      <p:sp>
        <p:nvSpPr>
          <p:cNvPr id="94" name="Google Shape;94;p4"/>
          <p:cNvSpPr/>
          <p:nvPr/>
        </p:nvSpPr>
        <p:spPr>
          <a:xfrm>
            <a:off x="8055858" y="3602728"/>
            <a:ext cx="658500" cy="438900"/>
          </a:xfrm>
          <a:prstGeom prst="rect">
            <a:avLst/>
          </a:prstGeom>
          <a:solidFill>
            <a:srgbClr val="D4621A"/>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8055858" y="3602728"/>
            <a:ext cx="6585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End</a:t>
            </a:r>
            <a:endParaRPr sz="1100" b="0" i="0" u="none" strike="noStrike" cap="none">
              <a:solidFill>
                <a:schemeClr val="dk1"/>
              </a:solidFill>
              <a:latin typeface="Calibri"/>
              <a:ea typeface="Calibri"/>
              <a:cs typeface="Calibri"/>
              <a:sym typeface="Calibri"/>
            </a:endParaRPr>
          </a:p>
        </p:txBody>
      </p:sp>
      <p:cxnSp>
        <p:nvCxnSpPr>
          <p:cNvPr id="96" name="Google Shape;96;p4"/>
          <p:cNvCxnSpPr/>
          <p:nvPr/>
        </p:nvCxnSpPr>
        <p:spPr>
          <a:xfrm>
            <a:off x="6044178" y="3822184"/>
            <a:ext cx="438900" cy="0"/>
          </a:xfrm>
          <a:prstGeom prst="straightConnector1">
            <a:avLst/>
          </a:prstGeom>
          <a:noFill/>
          <a:ln w="22850" cap="flat" cmpd="sng">
            <a:solidFill>
              <a:srgbClr val="1E3A5F"/>
            </a:solidFill>
            <a:prstDash val="solid"/>
            <a:round/>
            <a:headEnd type="none" w="sm" len="sm"/>
            <a:tailEnd type="none" w="sm" len="sm"/>
          </a:ln>
        </p:spPr>
      </p:cxnSp>
      <p:cxnSp>
        <p:nvCxnSpPr>
          <p:cNvPr id="97" name="Google Shape;97;p4"/>
          <p:cNvCxnSpPr/>
          <p:nvPr/>
        </p:nvCxnSpPr>
        <p:spPr>
          <a:xfrm>
            <a:off x="6364218" y="3739888"/>
            <a:ext cx="118800" cy="82200"/>
          </a:xfrm>
          <a:prstGeom prst="straightConnector1">
            <a:avLst/>
          </a:prstGeom>
          <a:noFill/>
          <a:ln w="22850" cap="flat" cmpd="sng">
            <a:solidFill>
              <a:srgbClr val="1E3A5F"/>
            </a:solidFill>
            <a:prstDash val="solid"/>
            <a:round/>
            <a:headEnd type="none" w="sm" len="sm"/>
            <a:tailEnd type="none" w="sm" len="sm"/>
          </a:ln>
        </p:spPr>
      </p:cxnSp>
      <p:cxnSp>
        <p:nvCxnSpPr>
          <p:cNvPr id="98" name="Google Shape;98;p4"/>
          <p:cNvCxnSpPr/>
          <p:nvPr/>
        </p:nvCxnSpPr>
        <p:spPr>
          <a:xfrm rot="10800000" flipH="1">
            <a:off x="6364218" y="3822280"/>
            <a:ext cx="118800" cy="82200"/>
          </a:xfrm>
          <a:prstGeom prst="straightConnector1">
            <a:avLst/>
          </a:prstGeom>
          <a:noFill/>
          <a:ln w="22850" cap="flat" cmpd="sng">
            <a:solidFill>
              <a:srgbClr val="1E3A5F"/>
            </a:solidFill>
            <a:prstDash val="solid"/>
            <a:round/>
            <a:headEnd type="none" w="sm" len="sm"/>
            <a:tailEnd type="none" w="sm" len="sm"/>
          </a:ln>
        </p:spPr>
      </p:cxnSp>
      <p:cxnSp>
        <p:nvCxnSpPr>
          <p:cNvPr id="99" name="Google Shape;99;p4"/>
          <p:cNvCxnSpPr/>
          <p:nvPr/>
        </p:nvCxnSpPr>
        <p:spPr>
          <a:xfrm>
            <a:off x="7781538" y="3822184"/>
            <a:ext cx="274200" cy="0"/>
          </a:xfrm>
          <a:prstGeom prst="straightConnector1">
            <a:avLst/>
          </a:prstGeom>
          <a:noFill/>
          <a:ln w="22850" cap="flat" cmpd="sng">
            <a:solidFill>
              <a:srgbClr val="94A3B8"/>
            </a:solidFill>
            <a:prstDash val="solid"/>
            <a:round/>
            <a:headEnd type="none" w="sm" len="sm"/>
            <a:tailEnd type="none" w="sm" len="sm"/>
          </a:ln>
        </p:spPr>
      </p:cxnSp>
      <p:cxnSp>
        <p:nvCxnSpPr>
          <p:cNvPr id="100" name="Google Shape;100;p4"/>
          <p:cNvCxnSpPr/>
          <p:nvPr/>
        </p:nvCxnSpPr>
        <p:spPr>
          <a:xfrm>
            <a:off x="7936986" y="3739888"/>
            <a:ext cx="118800" cy="82200"/>
          </a:xfrm>
          <a:prstGeom prst="straightConnector1">
            <a:avLst/>
          </a:prstGeom>
          <a:noFill/>
          <a:ln w="22850" cap="flat" cmpd="sng">
            <a:solidFill>
              <a:srgbClr val="94A3B8"/>
            </a:solidFill>
            <a:prstDash val="solid"/>
            <a:round/>
            <a:headEnd type="none" w="sm" len="sm"/>
            <a:tailEnd type="none" w="sm" len="sm"/>
          </a:ln>
        </p:spPr>
      </p:cxnSp>
      <p:cxnSp>
        <p:nvCxnSpPr>
          <p:cNvPr id="101" name="Google Shape;101;p4"/>
          <p:cNvCxnSpPr/>
          <p:nvPr/>
        </p:nvCxnSpPr>
        <p:spPr>
          <a:xfrm rot="10800000" flipH="1">
            <a:off x="7936986" y="3822280"/>
            <a:ext cx="118800" cy="82200"/>
          </a:xfrm>
          <a:prstGeom prst="straightConnector1">
            <a:avLst/>
          </a:prstGeom>
          <a:noFill/>
          <a:ln w="22850" cap="flat" cmpd="sng">
            <a:solidFill>
              <a:srgbClr val="94A3B8"/>
            </a:solidFill>
            <a:prstDash val="solid"/>
            <a:round/>
            <a:headEnd type="none" w="sm" len="sm"/>
            <a:tailEnd type="none" w="sm" len="sm"/>
          </a:ln>
        </p:spPr>
      </p:cxnSp>
      <p:cxnSp>
        <p:nvCxnSpPr>
          <p:cNvPr id="102" name="Google Shape;102;p4"/>
          <p:cNvCxnSpPr/>
          <p:nvPr/>
        </p:nvCxnSpPr>
        <p:spPr>
          <a:xfrm rot="10800000">
            <a:off x="7132314" y="3291928"/>
            <a:ext cx="0" cy="310800"/>
          </a:xfrm>
          <a:prstGeom prst="straightConnector1">
            <a:avLst/>
          </a:prstGeom>
          <a:noFill/>
          <a:ln w="19050" cap="flat" cmpd="sng">
            <a:solidFill>
              <a:srgbClr val="166534"/>
            </a:solidFill>
            <a:prstDash val="dash"/>
            <a:round/>
            <a:headEnd type="none" w="sm" len="sm"/>
            <a:tailEnd type="none" w="sm" len="sm"/>
          </a:ln>
        </p:spPr>
      </p:cxnSp>
      <p:cxnSp>
        <p:nvCxnSpPr>
          <p:cNvPr id="103" name="Google Shape;103;p4"/>
          <p:cNvCxnSpPr/>
          <p:nvPr/>
        </p:nvCxnSpPr>
        <p:spPr>
          <a:xfrm>
            <a:off x="4910322" y="3291832"/>
            <a:ext cx="2222100" cy="0"/>
          </a:xfrm>
          <a:prstGeom prst="straightConnector1">
            <a:avLst/>
          </a:prstGeom>
          <a:noFill/>
          <a:ln w="19050" cap="flat" cmpd="sng">
            <a:solidFill>
              <a:srgbClr val="166534"/>
            </a:solidFill>
            <a:prstDash val="dash"/>
            <a:round/>
            <a:headEnd type="none" w="sm" len="sm"/>
            <a:tailEnd type="none" w="sm" len="sm"/>
          </a:ln>
        </p:spPr>
      </p:cxnSp>
      <p:cxnSp>
        <p:nvCxnSpPr>
          <p:cNvPr id="104" name="Google Shape;104;p4"/>
          <p:cNvCxnSpPr/>
          <p:nvPr/>
        </p:nvCxnSpPr>
        <p:spPr>
          <a:xfrm>
            <a:off x="4910322" y="3291832"/>
            <a:ext cx="0" cy="310800"/>
          </a:xfrm>
          <a:prstGeom prst="straightConnector1">
            <a:avLst/>
          </a:prstGeom>
          <a:noFill/>
          <a:ln w="19050" cap="flat" cmpd="sng">
            <a:solidFill>
              <a:srgbClr val="166534"/>
            </a:solidFill>
            <a:prstDash val="dash"/>
            <a:round/>
            <a:headEnd type="none" w="sm" len="sm"/>
            <a:tailEnd type="none" w="sm" len="sm"/>
          </a:ln>
        </p:spPr>
      </p:cxnSp>
      <p:sp>
        <p:nvSpPr>
          <p:cNvPr id="105" name="Google Shape;105;p4"/>
          <p:cNvSpPr/>
          <p:nvPr/>
        </p:nvSpPr>
        <p:spPr>
          <a:xfrm>
            <a:off x="5294370" y="3099808"/>
            <a:ext cx="12801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6534"/>
              </a:buClr>
              <a:buSzPts val="900"/>
              <a:buFont typeface="Calibri"/>
              <a:buNone/>
            </a:pPr>
            <a:r>
              <a:rPr lang="en-US" sz="900" b="0" i="1" u="none" strike="noStrike" cap="none">
                <a:solidFill>
                  <a:srgbClr val="166534"/>
                </a:solidFill>
                <a:latin typeface="Calibri"/>
                <a:ea typeface="Calibri"/>
                <a:cs typeface="Calibri"/>
                <a:sym typeface="Calibri"/>
              </a:rPr>
              <a:t>loops back</a:t>
            </a:r>
            <a:endParaRPr sz="900" b="0" i="0" u="none" strike="noStrike" cap="none">
              <a:solidFill>
                <a:schemeClr val="dk1"/>
              </a:solidFill>
              <a:latin typeface="Calibri"/>
              <a:ea typeface="Calibri"/>
              <a:cs typeface="Calibri"/>
              <a:sym typeface="Calibri"/>
            </a:endParaRPr>
          </a:p>
        </p:txBody>
      </p:sp>
      <p:sp>
        <p:nvSpPr>
          <p:cNvPr id="106" name="Google Shape;106;p4"/>
          <p:cNvSpPr/>
          <p:nvPr/>
        </p:nvSpPr>
        <p:spPr>
          <a:xfrm>
            <a:off x="4517136" y="4133088"/>
            <a:ext cx="4297680" cy="530352"/>
          </a:xfrm>
          <a:prstGeom prst="rect">
            <a:avLst/>
          </a:prstGeom>
          <a:solidFill>
            <a:srgbClr val="E8F4F8"/>
          </a:solidFill>
          <a:ln w="9525" cap="flat" cmpd="sng">
            <a:solidFill>
              <a:srgbClr val="0EA5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4517136" y="4133088"/>
            <a:ext cx="4297680" cy="53035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3A5F"/>
              </a:buClr>
              <a:buSzPts val="1100"/>
              <a:buFont typeface="Calibri"/>
              <a:buNone/>
            </a:pPr>
            <a:r>
              <a:rPr lang="en-US" sz="1100" b="0" i="1" u="none" strike="noStrike" cap="none">
                <a:solidFill>
                  <a:srgbClr val="1E3A5F"/>
                </a:solidFill>
                <a:latin typeface="Calibri"/>
                <a:ea typeface="Calibri"/>
                <a:cs typeface="Calibri"/>
                <a:sym typeface="Calibri"/>
              </a:rPr>
              <a:t>Cyclic · Stateful · Self-correcting · Autonomous · Collaborative</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112"/>
        <p:cNvGrpSpPr/>
        <p:nvPr/>
      </p:nvGrpSpPr>
      <p:grpSpPr>
        <a:xfrm>
          <a:off x="0" y="0"/>
          <a:ext cx="0" cy="0"/>
          <a:chOff x="0" y="0"/>
          <a:chExt cx="0" cy="0"/>
        </a:xfrm>
      </p:grpSpPr>
      <p:sp>
        <p:nvSpPr>
          <p:cNvPr id="113" name="Google Shape;113;p5"/>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1 &amp; 2. </a:t>
            </a:r>
            <a:r>
              <a:rPr lang="en-US" sz="2200" b="1" i="0" u="none" strike="noStrike" cap="none">
                <a:solidFill>
                  <a:srgbClr val="FFFFFF"/>
                </a:solidFill>
                <a:latin typeface="Calibri"/>
                <a:ea typeface="Calibri"/>
                <a:cs typeface="Calibri"/>
                <a:sym typeface="Calibri"/>
              </a:rPr>
              <a:t>Nodes &amp; Edges</a:t>
            </a:r>
            <a:endParaRPr sz="2200" b="0" i="0" u="none" strike="noStrike" cap="none">
              <a:solidFill>
                <a:schemeClr val="dk1"/>
              </a:solidFill>
              <a:latin typeface="Calibri"/>
              <a:ea typeface="Calibri"/>
              <a:cs typeface="Calibri"/>
              <a:sym typeface="Calibri"/>
            </a:endParaRPr>
          </a:p>
        </p:txBody>
      </p:sp>
      <p:sp>
        <p:nvSpPr>
          <p:cNvPr id="116" name="Google Shape;116;p5"/>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The actors and logic of a graph</a:t>
            </a:r>
            <a:endParaRPr sz="1000" b="0" i="0" u="none" strike="noStrike" cap="none">
              <a:solidFill>
                <a:schemeClr val="dk1"/>
              </a:solidFill>
              <a:latin typeface="Calibri"/>
              <a:ea typeface="Calibri"/>
              <a:cs typeface="Calibri"/>
              <a:sym typeface="Calibri"/>
            </a:endParaRPr>
          </a:p>
        </p:txBody>
      </p:sp>
      <p:sp>
        <p:nvSpPr>
          <p:cNvPr id="117" name="Google Shape;117;p5"/>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2: What — Building Blocks</a:t>
            </a:r>
            <a:endParaRPr sz="950" b="0" i="0" u="none" strike="noStrike" cap="none">
              <a:solidFill>
                <a:schemeClr val="dk1"/>
              </a:solidFill>
              <a:latin typeface="Calibri"/>
              <a:ea typeface="Calibri"/>
              <a:cs typeface="Calibri"/>
              <a:sym typeface="Calibri"/>
            </a:endParaRPr>
          </a:p>
        </p:txBody>
      </p:sp>
      <p:sp>
        <p:nvSpPr>
          <p:cNvPr id="119" name="Google Shape;119;p5"/>
          <p:cNvSpPr/>
          <p:nvPr/>
        </p:nvSpPr>
        <p:spPr>
          <a:xfrm>
            <a:off x="256032" y="969264"/>
            <a:ext cx="8631936"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b="0" i="0" u="none" strike="noStrike" cap="none">
                <a:solidFill>
                  <a:srgbClr val="475569"/>
                </a:solidFill>
                <a:latin typeface="Calibri"/>
                <a:ea typeface="Calibri"/>
                <a:cs typeface="Calibri"/>
                <a:sym typeface="Calibri"/>
              </a:rPr>
              <a:t>A LangGraph workflow is a directed graph. Nodes do the work; edges control the flow between them.</a:t>
            </a:r>
            <a:endParaRPr sz="1200" b="0" i="0" u="none" strike="noStrike" cap="none">
              <a:solidFill>
                <a:schemeClr val="dk1"/>
              </a:solidFill>
              <a:latin typeface="Calibri"/>
              <a:ea typeface="Calibri"/>
              <a:cs typeface="Calibri"/>
              <a:sym typeface="Calibri"/>
            </a:endParaRPr>
          </a:p>
        </p:txBody>
      </p:sp>
      <p:sp>
        <p:nvSpPr>
          <p:cNvPr id="120" name="Google Shape;120;p5"/>
          <p:cNvSpPr/>
          <p:nvPr/>
        </p:nvSpPr>
        <p:spPr>
          <a:xfrm>
            <a:off x="256025" y="1371600"/>
            <a:ext cx="4133100" cy="37767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256032" y="1371600"/>
            <a:ext cx="4133088" cy="402336"/>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256032" y="1371600"/>
            <a:ext cx="4133088"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Nodes — The Actors</a:t>
            </a:r>
            <a:endParaRPr sz="1300" b="0" i="0" u="none" strike="noStrike" cap="none">
              <a:solidFill>
                <a:schemeClr val="dk1"/>
              </a:solidFill>
              <a:latin typeface="Calibri"/>
              <a:ea typeface="Calibri"/>
              <a:cs typeface="Calibri"/>
              <a:sym typeface="Calibri"/>
            </a:endParaRPr>
          </a:p>
        </p:txBody>
      </p:sp>
      <p:sp>
        <p:nvSpPr>
          <p:cNvPr id="123" name="Google Shape;123;p5"/>
          <p:cNvSpPr/>
          <p:nvPr/>
        </p:nvSpPr>
        <p:spPr>
          <a:xfrm>
            <a:off x="347472" y="1847088"/>
            <a:ext cx="3950208" cy="65836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A node is a single action or decision point. It receives the shared state as input, performs an action, and returns updates back to state.</a:t>
            </a: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It could be an LLM call, a tool execution, a data lookup, or a human approval step.</a:t>
            </a:r>
            <a:endParaRPr sz="1100">
              <a:solidFill>
                <a:srgbClr val="475569"/>
              </a:solidFill>
              <a:latin typeface="Calibri"/>
              <a:ea typeface="Calibri"/>
              <a:cs typeface="Calibri"/>
              <a:sym typeface="Calibri"/>
            </a:endParaRPr>
          </a:p>
        </p:txBody>
      </p:sp>
      <p:sp>
        <p:nvSpPr>
          <p:cNvPr id="124" name="Google Shape;124;p5"/>
          <p:cNvSpPr/>
          <p:nvPr/>
        </p:nvSpPr>
        <p:spPr>
          <a:xfrm>
            <a:off x="256032" y="2542032"/>
            <a:ext cx="4133088" cy="237744"/>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347472" y="2542032"/>
            <a:ext cx="395020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What a node can be:</a:t>
            </a:r>
            <a:endParaRPr sz="1050" b="0" i="0" u="none" strike="noStrike" cap="none">
              <a:solidFill>
                <a:schemeClr val="dk1"/>
              </a:solidFill>
              <a:latin typeface="Calibri"/>
              <a:ea typeface="Calibri"/>
              <a:cs typeface="Calibri"/>
              <a:sym typeface="Calibri"/>
            </a:endParaRPr>
          </a:p>
        </p:txBody>
      </p:sp>
      <p:sp>
        <p:nvSpPr>
          <p:cNvPr id="126" name="Google Shape;126;p5"/>
          <p:cNvSpPr/>
          <p:nvPr/>
        </p:nvSpPr>
        <p:spPr>
          <a:xfrm>
            <a:off x="329184" y="2852928"/>
            <a:ext cx="3986784" cy="329184"/>
          </a:xfrm>
          <a:prstGeom prst="rect">
            <a:avLst/>
          </a:prstGeom>
          <a:solidFill>
            <a:srgbClr val="F4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402336" y="2852928"/>
            <a:ext cx="10972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LLM call</a:t>
            </a:r>
            <a:endParaRPr sz="1050" b="0" i="0" u="none" strike="noStrike" cap="none">
              <a:solidFill>
                <a:schemeClr val="dk1"/>
              </a:solidFill>
              <a:latin typeface="Calibri"/>
              <a:ea typeface="Calibri"/>
              <a:cs typeface="Calibri"/>
              <a:sym typeface="Calibri"/>
            </a:endParaRPr>
          </a:p>
        </p:txBody>
      </p:sp>
      <p:sp>
        <p:nvSpPr>
          <p:cNvPr id="128" name="Google Shape;128;p5"/>
          <p:cNvSpPr/>
          <p:nvPr/>
        </p:nvSpPr>
        <p:spPr>
          <a:xfrm>
            <a:off x="1536192" y="2852928"/>
            <a:ext cx="27066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Ask the model a question or generate a response</a:t>
            </a:r>
            <a:endParaRPr sz="1000" b="0" i="0" u="none" strike="noStrike" cap="none">
              <a:solidFill>
                <a:schemeClr val="dk1"/>
              </a:solidFill>
              <a:latin typeface="Calibri"/>
              <a:ea typeface="Calibri"/>
              <a:cs typeface="Calibri"/>
              <a:sym typeface="Calibri"/>
            </a:endParaRPr>
          </a:p>
        </p:txBody>
      </p:sp>
      <p:sp>
        <p:nvSpPr>
          <p:cNvPr id="129" name="Google Shape;129;p5"/>
          <p:cNvSpPr/>
          <p:nvPr/>
        </p:nvSpPr>
        <p:spPr>
          <a:xfrm>
            <a:off x="329184" y="3236976"/>
            <a:ext cx="3986784" cy="329184"/>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402336" y="3236976"/>
            <a:ext cx="10972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Tool execution</a:t>
            </a:r>
            <a:endParaRPr sz="1050" b="0" i="0" u="none" strike="noStrike" cap="none">
              <a:solidFill>
                <a:schemeClr val="dk1"/>
              </a:solidFill>
              <a:latin typeface="Calibri"/>
              <a:ea typeface="Calibri"/>
              <a:cs typeface="Calibri"/>
              <a:sym typeface="Calibri"/>
            </a:endParaRPr>
          </a:p>
        </p:txBody>
      </p:sp>
      <p:sp>
        <p:nvSpPr>
          <p:cNvPr id="131" name="Google Shape;131;p5"/>
          <p:cNvSpPr/>
          <p:nvPr/>
        </p:nvSpPr>
        <p:spPr>
          <a:xfrm>
            <a:off x="1536192" y="3236976"/>
            <a:ext cx="27066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Run a search, DB query, API call, or code</a:t>
            </a:r>
            <a:endParaRPr sz="1000" b="0" i="0" u="none" strike="noStrike" cap="none">
              <a:solidFill>
                <a:schemeClr val="dk1"/>
              </a:solidFill>
              <a:latin typeface="Calibri"/>
              <a:ea typeface="Calibri"/>
              <a:cs typeface="Calibri"/>
              <a:sym typeface="Calibri"/>
            </a:endParaRPr>
          </a:p>
        </p:txBody>
      </p:sp>
      <p:sp>
        <p:nvSpPr>
          <p:cNvPr id="132" name="Google Shape;132;p5"/>
          <p:cNvSpPr/>
          <p:nvPr/>
        </p:nvSpPr>
        <p:spPr>
          <a:xfrm>
            <a:off x="329184" y="3621024"/>
            <a:ext cx="3986784" cy="329184"/>
          </a:xfrm>
          <a:prstGeom prst="rect">
            <a:avLst/>
          </a:prstGeom>
          <a:solidFill>
            <a:srgbClr val="F4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402336" y="3621024"/>
            <a:ext cx="10972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Human step</a:t>
            </a:r>
            <a:endParaRPr sz="1050" b="0" i="0" u="none" strike="noStrike" cap="none">
              <a:solidFill>
                <a:schemeClr val="dk1"/>
              </a:solidFill>
              <a:latin typeface="Calibri"/>
              <a:ea typeface="Calibri"/>
              <a:cs typeface="Calibri"/>
              <a:sym typeface="Calibri"/>
            </a:endParaRPr>
          </a:p>
        </p:txBody>
      </p:sp>
      <p:sp>
        <p:nvSpPr>
          <p:cNvPr id="134" name="Google Shape;134;p5"/>
          <p:cNvSpPr/>
          <p:nvPr/>
        </p:nvSpPr>
        <p:spPr>
          <a:xfrm>
            <a:off x="1536192" y="3621024"/>
            <a:ext cx="27066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Wait for human input, approval, or review</a:t>
            </a:r>
            <a:endParaRPr sz="1000" b="0" i="0" u="none" strike="noStrike" cap="none">
              <a:solidFill>
                <a:schemeClr val="dk1"/>
              </a:solidFill>
              <a:latin typeface="Calibri"/>
              <a:ea typeface="Calibri"/>
              <a:cs typeface="Calibri"/>
              <a:sym typeface="Calibri"/>
            </a:endParaRPr>
          </a:p>
        </p:txBody>
      </p:sp>
      <p:sp>
        <p:nvSpPr>
          <p:cNvPr id="135" name="Google Shape;135;p5"/>
          <p:cNvSpPr/>
          <p:nvPr/>
        </p:nvSpPr>
        <p:spPr>
          <a:xfrm>
            <a:off x="329184" y="4005072"/>
            <a:ext cx="3986784" cy="329184"/>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02336" y="4005072"/>
            <a:ext cx="10972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Sub-graph</a:t>
            </a:r>
            <a:endParaRPr sz="1050" b="0" i="0" u="none" strike="noStrike" cap="none">
              <a:solidFill>
                <a:schemeClr val="dk1"/>
              </a:solidFill>
              <a:latin typeface="Calibri"/>
              <a:ea typeface="Calibri"/>
              <a:cs typeface="Calibri"/>
              <a:sym typeface="Calibri"/>
            </a:endParaRPr>
          </a:p>
        </p:txBody>
      </p:sp>
      <p:sp>
        <p:nvSpPr>
          <p:cNvPr id="137" name="Google Shape;137;p5"/>
          <p:cNvSpPr/>
          <p:nvPr/>
        </p:nvSpPr>
        <p:spPr>
          <a:xfrm>
            <a:off x="1536192" y="4005072"/>
            <a:ext cx="27066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Nest an entire graph as a single node</a:t>
            </a:r>
            <a:endParaRPr sz="1000" b="0" i="0" u="none" strike="noStrike" cap="none">
              <a:solidFill>
                <a:schemeClr val="dk1"/>
              </a:solidFill>
              <a:latin typeface="Calibri"/>
              <a:ea typeface="Calibri"/>
              <a:cs typeface="Calibri"/>
              <a:sym typeface="Calibri"/>
            </a:endParaRPr>
          </a:p>
        </p:txBody>
      </p:sp>
      <p:sp>
        <p:nvSpPr>
          <p:cNvPr id="138" name="Google Shape;138;p5"/>
          <p:cNvSpPr/>
          <p:nvPr/>
        </p:nvSpPr>
        <p:spPr>
          <a:xfrm>
            <a:off x="329184" y="4389120"/>
            <a:ext cx="3986784" cy="329184"/>
          </a:xfrm>
          <a:prstGeom prst="rect">
            <a:avLst/>
          </a:prstGeom>
          <a:solidFill>
            <a:srgbClr val="F4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402336" y="4389120"/>
            <a:ext cx="10972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Custom logic</a:t>
            </a:r>
            <a:endParaRPr sz="1050" b="0" i="0" u="none" strike="noStrike" cap="none">
              <a:solidFill>
                <a:schemeClr val="dk1"/>
              </a:solidFill>
              <a:latin typeface="Calibri"/>
              <a:ea typeface="Calibri"/>
              <a:cs typeface="Calibri"/>
              <a:sym typeface="Calibri"/>
            </a:endParaRPr>
          </a:p>
        </p:txBody>
      </p:sp>
      <p:sp>
        <p:nvSpPr>
          <p:cNvPr id="140" name="Google Shape;140;p5"/>
          <p:cNvSpPr/>
          <p:nvPr/>
        </p:nvSpPr>
        <p:spPr>
          <a:xfrm>
            <a:off x="1536192" y="4389120"/>
            <a:ext cx="27066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Any Python function — data transform, validation</a:t>
            </a:r>
            <a:endParaRPr sz="1000" b="0" i="0" u="none" strike="noStrike" cap="none">
              <a:solidFill>
                <a:schemeClr val="dk1"/>
              </a:solidFill>
              <a:latin typeface="Calibri"/>
              <a:ea typeface="Calibri"/>
              <a:cs typeface="Calibri"/>
              <a:sym typeface="Calibri"/>
            </a:endParaRPr>
          </a:p>
        </p:txBody>
      </p:sp>
      <p:sp>
        <p:nvSpPr>
          <p:cNvPr id="141" name="Google Shape;141;p5"/>
          <p:cNvSpPr/>
          <p:nvPr/>
        </p:nvSpPr>
        <p:spPr>
          <a:xfrm>
            <a:off x="4571875" y="1408201"/>
            <a:ext cx="4316100" cy="37353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4572000" y="1371600"/>
            <a:ext cx="4315968" cy="402336"/>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4572000" y="1371600"/>
            <a:ext cx="4315968"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Edges — The Logic</a:t>
            </a:r>
            <a:endParaRPr sz="1300" b="0" i="0" u="none" strike="noStrike" cap="none">
              <a:solidFill>
                <a:schemeClr val="dk1"/>
              </a:solidFill>
              <a:latin typeface="Calibri"/>
              <a:ea typeface="Calibri"/>
              <a:cs typeface="Calibri"/>
              <a:sym typeface="Calibri"/>
            </a:endParaRPr>
          </a:p>
        </p:txBody>
      </p:sp>
      <p:sp>
        <p:nvSpPr>
          <p:cNvPr id="144" name="Google Shape;144;p5"/>
          <p:cNvSpPr/>
          <p:nvPr/>
        </p:nvSpPr>
        <p:spPr>
          <a:xfrm>
            <a:off x="4663440" y="1847088"/>
            <a:ext cx="4133088"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Edges connect nodes and define what happens next. </a:t>
            </a:r>
            <a:r>
              <a:rPr lang="en-US" sz="1100">
                <a:solidFill>
                  <a:srgbClr val="475569"/>
                </a:solidFill>
                <a:latin typeface="Calibri"/>
                <a:ea typeface="Calibri"/>
                <a:cs typeface="Calibri"/>
                <a:sym typeface="Calibri"/>
              </a:rPr>
              <a:t>T</a:t>
            </a:r>
            <a:r>
              <a:rPr lang="en-US" sz="1100" b="0" i="0" u="none" strike="noStrike" cap="none">
                <a:solidFill>
                  <a:srgbClr val="475569"/>
                </a:solidFill>
                <a:latin typeface="Calibri"/>
                <a:ea typeface="Calibri"/>
                <a:cs typeface="Calibri"/>
                <a:sym typeface="Calibri"/>
              </a:rPr>
              <a:t>wo kinds: </a:t>
            </a:r>
            <a:endParaRPr sz="1100" b="0" i="0" u="none" strike="noStrike" cap="none">
              <a:solidFill>
                <a:srgbClr val="475569"/>
              </a:solidFill>
              <a:latin typeface="Calibri"/>
              <a:ea typeface="Calibri"/>
              <a:cs typeface="Calibri"/>
              <a:sym typeface="Calibri"/>
            </a:endParaRPr>
          </a:p>
          <a:p>
            <a:pPr marL="457200" marR="0" lvl="0" indent="-298450" algn="l" rtl="0">
              <a:spcBef>
                <a:spcPts val="0"/>
              </a:spcBef>
              <a:spcAft>
                <a:spcPts val="0"/>
              </a:spcAft>
              <a:buClr>
                <a:srgbClr val="475569"/>
              </a:buClr>
              <a:buSzPts val="1100"/>
              <a:buFont typeface="Calibri"/>
              <a:buAutoNum type="alphaLcPeriod"/>
            </a:pPr>
            <a:r>
              <a:rPr lang="en-US" sz="1100" b="0" i="0" u="none" strike="noStrike" cap="none">
                <a:solidFill>
                  <a:srgbClr val="475569"/>
                </a:solidFill>
                <a:latin typeface="Calibri"/>
                <a:ea typeface="Calibri"/>
                <a:cs typeface="Calibri"/>
                <a:sym typeface="Calibri"/>
              </a:rPr>
              <a:t>fixed edges that always go to the same node, </a:t>
            </a:r>
            <a:endParaRPr sz="1100" b="0" i="0" u="none" strike="noStrike" cap="none">
              <a:solidFill>
                <a:srgbClr val="475569"/>
              </a:solidFill>
              <a:latin typeface="Calibri"/>
              <a:ea typeface="Calibri"/>
              <a:cs typeface="Calibri"/>
              <a:sym typeface="Calibri"/>
            </a:endParaRPr>
          </a:p>
          <a:p>
            <a:pPr marL="457200" marR="0" lvl="0" indent="-298450" algn="l" rtl="0">
              <a:spcBef>
                <a:spcPts val="0"/>
              </a:spcBef>
              <a:spcAft>
                <a:spcPts val="0"/>
              </a:spcAft>
              <a:buClr>
                <a:srgbClr val="475569"/>
              </a:buClr>
              <a:buSzPts val="1100"/>
              <a:buFont typeface="Calibri"/>
              <a:buAutoNum type="alphaLcPeriod"/>
            </a:pPr>
            <a:r>
              <a:rPr lang="en-US" sz="1100" b="0" i="0" u="none" strike="noStrike" cap="none">
                <a:solidFill>
                  <a:srgbClr val="475569"/>
                </a:solidFill>
                <a:latin typeface="Calibri"/>
                <a:ea typeface="Calibri"/>
                <a:cs typeface="Calibri"/>
                <a:sym typeface="Calibri"/>
              </a:rPr>
              <a:t>conditional edges that route based on the current state.</a:t>
            </a:r>
            <a:endParaRPr sz="1100" b="0" i="0" u="none" strike="noStrike" cap="none">
              <a:solidFill>
                <a:schemeClr val="dk1"/>
              </a:solidFill>
              <a:latin typeface="Calibri"/>
              <a:ea typeface="Calibri"/>
              <a:cs typeface="Calibri"/>
              <a:sym typeface="Calibri"/>
            </a:endParaRPr>
          </a:p>
        </p:txBody>
      </p:sp>
      <p:sp>
        <p:nvSpPr>
          <p:cNvPr id="145" name="Google Shape;145;p5"/>
          <p:cNvSpPr/>
          <p:nvPr/>
        </p:nvSpPr>
        <p:spPr>
          <a:xfrm>
            <a:off x="4663440" y="2542032"/>
            <a:ext cx="4133088" cy="219456"/>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4754880" y="2542032"/>
            <a:ext cx="395020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7490"/>
              </a:buClr>
              <a:buSzPts val="1000"/>
              <a:buFont typeface="Calibri"/>
              <a:buNone/>
            </a:pPr>
            <a:r>
              <a:rPr lang="en-US" sz="1000" b="1" i="0" u="none" strike="noStrike" cap="none">
                <a:solidFill>
                  <a:srgbClr val="0F7490"/>
                </a:solidFill>
                <a:latin typeface="Calibri"/>
                <a:ea typeface="Calibri"/>
                <a:cs typeface="Calibri"/>
                <a:sym typeface="Calibri"/>
              </a:rPr>
              <a:t>Fixed edge — always goes to the same next node</a:t>
            </a:r>
            <a:endParaRPr sz="1000" b="0" i="0" u="none" strike="noStrike" cap="none">
              <a:solidFill>
                <a:schemeClr val="dk1"/>
              </a:solidFill>
              <a:latin typeface="Calibri"/>
              <a:ea typeface="Calibri"/>
              <a:cs typeface="Calibri"/>
              <a:sym typeface="Calibri"/>
            </a:endParaRPr>
          </a:p>
        </p:txBody>
      </p:sp>
      <p:sp>
        <p:nvSpPr>
          <p:cNvPr id="147" name="Google Shape;147;p5"/>
          <p:cNvSpPr/>
          <p:nvPr/>
        </p:nvSpPr>
        <p:spPr>
          <a:xfrm>
            <a:off x="4846320" y="2958227"/>
            <a:ext cx="1005900" cy="3474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4846320" y="2958227"/>
            <a:ext cx="10059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000"/>
              <a:buFont typeface="Calibri"/>
              <a:buNone/>
            </a:pPr>
            <a:r>
              <a:rPr lang="en-US" sz="1000" b="1" i="0" u="none" strike="noStrike" cap="none">
                <a:solidFill>
                  <a:srgbClr val="475569"/>
                </a:solidFill>
                <a:latin typeface="Calibri"/>
                <a:ea typeface="Calibri"/>
                <a:cs typeface="Calibri"/>
                <a:sym typeface="Calibri"/>
              </a:rPr>
              <a:t>Node A</a:t>
            </a:r>
            <a:endParaRPr sz="1000" b="0" i="0" u="none" strike="noStrike" cap="none">
              <a:solidFill>
                <a:schemeClr val="dk1"/>
              </a:solidFill>
              <a:latin typeface="Calibri"/>
              <a:ea typeface="Calibri"/>
              <a:cs typeface="Calibri"/>
              <a:sym typeface="Calibri"/>
            </a:endParaRPr>
          </a:p>
        </p:txBody>
      </p:sp>
      <p:sp>
        <p:nvSpPr>
          <p:cNvPr id="149" name="Google Shape;149;p5"/>
          <p:cNvSpPr/>
          <p:nvPr/>
        </p:nvSpPr>
        <p:spPr>
          <a:xfrm>
            <a:off x="4846320" y="2958227"/>
            <a:ext cx="1005900" cy="3474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846320" y="2958227"/>
            <a:ext cx="10059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Node A</a:t>
            </a:r>
            <a:endParaRPr sz="1000" b="0" i="0" u="none" strike="noStrike" cap="none">
              <a:solidFill>
                <a:schemeClr val="dk1"/>
              </a:solidFill>
              <a:latin typeface="Calibri"/>
              <a:ea typeface="Calibri"/>
              <a:cs typeface="Calibri"/>
              <a:sym typeface="Calibri"/>
            </a:endParaRPr>
          </a:p>
        </p:txBody>
      </p:sp>
      <p:cxnSp>
        <p:nvCxnSpPr>
          <p:cNvPr id="151" name="Google Shape;151;p5"/>
          <p:cNvCxnSpPr/>
          <p:nvPr/>
        </p:nvCxnSpPr>
        <p:spPr>
          <a:xfrm>
            <a:off x="5852160" y="3131963"/>
            <a:ext cx="640200" cy="0"/>
          </a:xfrm>
          <a:prstGeom prst="straightConnector1">
            <a:avLst/>
          </a:prstGeom>
          <a:noFill/>
          <a:ln w="22850" cap="flat" cmpd="sng">
            <a:solidFill>
              <a:srgbClr val="0F7490"/>
            </a:solidFill>
            <a:prstDash val="solid"/>
            <a:round/>
            <a:headEnd type="none" w="sm" len="sm"/>
            <a:tailEnd type="none" w="sm" len="sm"/>
          </a:ln>
        </p:spPr>
      </p:cxnSp>
      <p:cxnSp>
        <p:nvCxnSpPr>
          <p:cNvPr id="152" name="Google Shape;152;p5"/>
          <p:cNvCxnSpPr/>
          <p:nvPr/>
        </p:nvCxnSpPr>
        <p:spPr>
          <a:xfrm>
            <a:off x="6373368" y="3049667"/>
            <a:ext cx="118800" cy="82200"/>
          </a:xfrm>
          <a:prstGeom prst="straightConnector1">
            <a:avLst/>
          </a:prstGeom>
          <a:noFill/>
          <a:ln w="22850" cap="flat" cmpd="sng">
            <a:solidFill>
              <a:srgbClr val="0F7490"/>
            </a:solidFill>
            <a:prstDash val="solid"/>
            <a:round/>
            <a:headEnd type="none" w="sm" len="sm"/>
            <a:tailEnd type="none" w="sm" len="sm"/>
          </a:ln>
        </p:spPr>
      </p:cxnSp>
      <p:cxnSp>
        <p:nvCxnSpPr>
          <p:cNvPr id="153" name="Google Shape;153;p5"/>
          <p:cNvCxnSpPr/>
          <p:nvPr/>
        </p:nvCxnSpPr>
        <p:spPr>
          <a:xfrm rot="10800000" flipH="1">
            <a:off x="6373368" y="3132059"/>
            <a:ext cx="118800" cy="82200"/>
          </a:xfrm>
          <a:prstGeom prst="straightConnector1">
            <a:avLst/>
          </a:prstGeom>
          <a:noFill/>
          <a:ln w="22850" cap="flat" cmpd="sng">
            <a:solidFill>
              <a:srgbClr val="0F7490"/>
            </a:solidFill>
            <a:prstDash val="solid"/>
            <a:round/>
            <a:headEnd type="none" w="sm" len="sm"/>
            <a:tailEnd type="none" w="sm" len="sm"/>
          </a:ln>
        </p:spPr>
      </p:cxnSp>
      <p:sp>
        <p:nvSpPr>
          <p:cNvPr id="154" name="Google Shape;154;p5"/>
          <p:cNvSpPr/>
          <p:nvPr/>
        </p:nvSpPr>
        <p:spPr>
          <a:xfrm>
            <a:off x="5824724" y="2926227"/>
            <a:ext cx="6402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50"/>
              <a:buFont typeface="Calibri"/>
              <a:buNone/>
            </a:pPr>
            <a:r>
              <a:rPr lang="en-US" sz="850" b="0" i="0" u="none" strike="noStrike" cap="none">
                <a:solidFill>
                  <a:srgbClr val="94A3B8"/>
                </a:solidFill>
                <a:latin typeface="Calibri"/>
                <a:ea typeface="Calibri"/>
                <a:cs typeface="Calibri"/>
                <a:sym typeface="Calibri"/>
              </a:rPr>
              <a:t>always</a:t>
            </a:r>
            <a:endParaRPr sz="850" b="0" i="0" u="none" strike="noStrike" cap="none">
              <a:solidFill>
                <a:schemeClr val="dk1"/>
              </a:solidFill>
              <a:latin typeface="Calibri"/>
              <a:ea typeface="Calibri"/>
              <a:cs typeface="Calibri"/>
              <a:sym typeface="Calibri"/>
            </a:endParaRPr>
          </a:p>
        </p:txBody>
      </p:sp>
      <p:sp>
        <p:nvSpPr>
          <p:cNvPr id="155" name="Google Shape;155;p5"/>
          <p:cNvSpPr/>
          <p:nvPr/>
        </p:nvSpPr>
        <p:spPr>
          <a:xfrm>
            <a:off x="6492240" y="2958227"/>
            <a:ext cx="1005900" cy="3474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492240" y="2958227"/>
            <a:ext cx="10059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Node B</a:t>
            </a:r>
            <a:endParaRPr sz="1000" b="0" i="0" u="none" strike="noStrike" cap="none">
              <a:solidFill>
                <a:schemeClr val="dk1"/>
              </a:solidFill>
              <a:latin typeface="Calibri"/>
              <a:ea typeface="Calibri"/>
              <a:cs typeface="Calibri"/>
              <a:sym typeface="Calibri"/>
            </a:endParaRPr>
          </a:p>
        </p:txBody>
      </p:sp>
      <p:sp>
        <p:nvSpPr>
          <p:cNvPr id="157" name="Google Shape;157;p5"/>
          <p:cNvSpPr/>
          <p:nvPr/>
        </p:nvSpPr>
        <p:spPr>
          <a:xfrm>
            <a:off x="4663440" y="3440564"/>
            <a:ext cx="4133100" cy="2196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4754880" y="3440564"/>
            <a:ext cx="39501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7490"/>
              </a:buClr>
              <a:buSzPts val="1000"/>
              <a:buFont typeface="Calibri"/>
              <a:buNone/>
            </a:pPr>
            <a:r>
              <a:rPr lang="en-US" sz="1000" b="1" i="0" u="none" strike="noStrike" cap="none">
                <a:solidFill>
                  <a:srgbClr val="0F7490"/>
                </a:solidFill>
                <a:latin typeface="Calibri"/>
                <a:ea typeface="Calibri"/>
                <a:cs typeface="Calibri"/>
                <a:sym typeface="Calibri"/>
              </a:rPr>
              <a:t>Conditional edge — routes based on current state</a:t>
            </a:r>
            <a:endParaRPr sz="1000" b="0" i="0" u="none" strike="noStrike" cap="none">
              <a:solidFill>
                <a:schemeClr val="dk1"/>
              </a:solidFill>
              <a:latin typeface="Calibri"/>
              <a:ea typeface="Calibri"/>
              <a:cs typeface="Calibri"/>
              <a:sym typeface="Calibri"/>
            </a:endParaRPr>
          </a:p>
        </p:txBody>
      </p:sp>
      <p:sp>
        <p:nvSpPr>
          <p:cNvPr id="159" name="Google Shape;159;p5"/>
          <p:cNvSpPr/>
          <p:nvPr/>
        </p:nvSpPr>
        <p:spPr>
          <a:xfrm>
            <a:off x="5596115" y="3758395"/>
            <a:ext cx="1645800" cy="365700"/>
          </a:xfrm>
          <a:prstGeom prst="rect">
            <a:avLst/>
          </a:prstGeom>
          <a:solidFill>
            <a:srgbClr val="1E3A5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5596115" y="3758395"/>
            <a:ext cx="1645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Agent</a:t>
            </a:r>
            <a:endParaRPr sz="1100" b="0" i="0" u="none" strike="noStrike" cap="none">
              <a:solidFill>
                <a:srgbClr val="000000"/>
              </a:solidFill>
              <a:latin typeface="Calibri"/>
              <a:ea typeface="Calibri"/>
              <a:cs typeface="Calibri"/>
              <a:sym typeface="Calibri"/>
            </a:endParaRPr>
          </a:p>
        </p:txBody>
      </p:sp>
      <p:cxnSp>
        <p:nvCxnSpPr>
          <p:cNvPr id="161" name="Google Shape;161;p5"/>
          <p:cNvCxnSpPr/>
          <p:nvPr/>
        </p:nvCxnSpPr>
        <p:spPr>
          <a:xfrm>
            <a:off x="6419075" y="4124155"/>
            <a:ext cx="0" cy="201300"/>
          </a:xfrm>
          <a:prstGeom prst="straightConnector1">
            <a:avLst/>
          </a:prstGeom>
          <a:noFill/>
          <a:ln w="22850" cap="flat" cmpd="sng">
            <a:solidFill>
              <a:srgbClr val="94A3B8"/>
            </a:solidFill>
            <a:prstDash val="solid"/>
            <a:round/>
            <a:headEnd type="none" w="sm" len="sm"/>
            <a:tailEnd type="none" w="sm" len="sm"/>
          </a:ln>
        </p:spPr>
      </p:cxnSp>
      <p:cxnSp>
        <p:nvCxnSpPr>
          <p:cNvPr id="162" name="Google Shape;162;p5"/>
          <p:cNvCxnSpPr/>
          <p:nvPr/>
        </p:nvCxnSpPr>
        <p:spPr>
          <a:xfrm>
            <a:off x="6345923" y="4215595"/>
            <a:ext cx="73200" cy="109800"/>
          </a:xfrm>
          <a:prstGeom prst="straightConnector1">
            <a:avLst/>
          </a:prstGeom>
          <a:noFill/>
          <a:ln w="22850" cap="flat" cmpd="sng">
            <a:solidFill>
              <a:srgbClr val="94A3B8"/>
            </a:solidFill>
            <a:prstDash val="solid"/>
            <a:round/>
            <a:headEnd type="none" w="sm" len="sm"/>
            <a:tailEnd type="none" w="sm" len="sm"/>
          </a:ln>
        </p:spPr>
      </p:cxnSp>
      <p:cxnSp>
        <p:nvCxnSpPr>
          <p:cNvPr id="163" name="Google Shape;163;p5"/>
          <p:cNvCxnSpPr/>
          <p:nvPr/>
        </p:nvCxnSpPr>
        <p:spPr>
          <a:xfrm flipH="1">
            <a:off x="6419027" y="4215595"/>
            <a:ext cx="73200" cy="109800"/>
          </a:xfrm>
          <a:prstGeom prst="straightConnector1">
            <a:avLst/>
          </a:prstGeom>
          <a:noFill/>
          <a:ln w="22850" cap="flat" cmpd="sng">
            <a:solidFill>
              <a:srgbClr val="94A3B8"/>
            </a:solidFill>
            <a:prstDash val="solid"/>
            <a:round/>
            <a:headEnd type="none" w="sm" len="sm"/>
            <a:tailEnd type="none" w="sm" len="sm"/>
          </a:ln>
        </p:spPr>
      </p:cxnSp>
      <p:sp>
        <p:nvSpPr>
          <p:cNvPr id="164" name="Google Shape;164;p5"/>
          <p:cNvSpPr/>
          <p:nvPr/>
        </p:nvSpPr>
        <p:spPr>
          <a:xfrm>
            <a:off x="5413235" y="4325323"/>
            <a:ext cx="2011800" cy="365700"/>
          </a:xfrm>
          <a:prstGeom prst="rect">
            <a:avLst/>
          </a:prstGeom>
          <a:solidFill>
            <a:srgbClr val="F4F6F9"/>
          </a:solidFill>
          <a:ln w="19050" cap="flat" cmpd="sng">
            <a:solidFill>
              <a:srgbClr val="D4621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5413235" y="4325323"/>
            <a:ext cx="2011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4621A"/>
              </a:buClr>
              <a:buSzPts val="1200"/>
              <a:buFont typeface="Calibri"/>
              <a:buNone/>
            </a:pPr>
            <a:r>
              <a:rPr lang="en-US" sz="1200" b="1" i="0" u="none" strike="noStrike" cap="none">
                <a:solidFill>
                  <a:srgbClr val="D4621A"/>
                </a:solidFill>
                <a:latin typeface="Calibri"/>
                <a:ea typeface="Calibri"/>
                <a:cs typeface="Calibri"/>
                <a:sym typeface="Calibri"/>
              </a:rPr>
              <a:t>Need a tool?</a:t>
            </a:r>
            <a:endParaRPr sz="1200" b="0" i="0" u="none" strike="noStrike" cap="none">
              <a:solidFill>
                <a:srgbClr val="000000"/>
              </a:solidFill>
              <a:latin typeface="Calibri"/>
              <a:ea typeface="Calibri"/>
              <a:cs typeface="Calibri"/>
              <a:sym typeface="Calibri"/>
            </a:endParaRPr>
          </a:p>
        </p:txBody>
      </p:sp>
      <p:cxnSp>
        <p:nvCxnSpPr>
          <p:cNvPr id="166" name="Google Shape;166;p5"/>
          <p:cNvCxnSpPr/>
          <p:nvPr/>
        </p:nvCxnSpPr>
        <p:spPr>
          <a:xfrm rot="10800000">
            <a:off x="5074835" y="4508203"/>
            <a:ext cx="338400" cy="0"/>
          </a:xfrm>
          <a:prstGeom prst="straightConnector1">
            <a:avLst/>
          </a:prstGeom>
          <a:noFill/>
          <a:ln w="19050" cap="flat" cmpd="sng">
            <a:solidFill>
              <a:srgbClr val="166534"/>
            </a:solidFill>
            <a:prstDash val="solid"/>
            <a:round/>
            <a:headEnd type="none" w="sm" len="sm"/>
            <a:tailEnd type="none" w="sm" len="sm"/>
          </a:ln>
        </p:spPr>
      </p:cxnSp>
      <p:cxnSp>
        <p:nvCxnSpPr>
          <p:cNvPr id="167" name="Google Shape;167;p5"/>
          <p:cNvCxnSpPr/>
          <p:nvPr/>
        </p:nvCxnSpPr>
        <p:spPr>
          <a:xfrm>
            <a:off x="5074907" y="4508203"/>
            <a:ext cx="0" cy="292500"/>
          </a:xfrm>
          <a:prstGeom prst="straightConnector1">
            <a:avLst/>
          </a:prstGeom>
          <a:noFill/>
          <a:ln w="22850" cap="flat" cmpd="sng">
            <a:solidFill>
              <a:srgbClr val="166534"/>
            </a:solidFill>
            <a:prstDash val="solid"/>
            <a:round/>
            <a:headEnd type="none" w="sm" len="sm"/>
            <a:tailEnd type="none" w="sm" len="sm"/>
          </a:ln>
        </p:spPr>
      </p:cxnSp>
      <p:cxnSp>
        <p:nvCxnSpPr>
          <p:cNvPr id="168" name="Google Shape;168;p5"/>
          <p:cNvCxnSpPr/>
          <p:nvPr/>
        </p:nvCxnSpPr>
        <p:spPr>
          <a:xfrm>
            <a:off x="5001755" y="4691083"/>
            <a:ext cx="73200" cy="109800"/>
          </a:xfrm>
          <a:prstGeom prst="straightConnector1">
            <a:avLst/>
          </a:prstGeom>
          <a:noFill/>
          <a:ln w="22850" cap="flat" cmpd="sng">
            <a:solidFill>
              <a:srgbClr val="166534"/>
            </a:solidFill>
            <a:prstDash val="solid"/>
            <a:round/>
            <a:headEnd type="none" w="sm" len="sm"/>
            <a:tailEnd type="none" w="sm" len="sm"/>
          </a:ln>
        </p:spPr>
      </p:cxnSp>
      <p:cxnSp>
        <p:nvCxnSpPr>
          <p:cNvPr id="169" name="Google Shape;169;p5"/>
          <p:cNvCxnSpPr/>
          <p:nvPr/>
        </p:nvCxnSpPr>
        <p:spPr>
          <a:xfrm flipH="1">
            <a:off x="5074859" y="4691083"/>
            <a:ext cx="73200" cy="109800"/>
          </a:xfrm>
          <a:prstGeom prst="straightConnector1">
            <a:avLst/>
          </a:prstGeom>
          <a:noFill/>
          <a:ln w="22850" cap="flat" cmpd="sng">
            <a:solidFill>
              <a:srgbClr val="166534"/>
            </a:solidFill>
            <a:prstDash val="solid"/>
            <a:round/>
            <a:headEnd type="none" w="sm" len="sm"/>
            <a:tailEnd type="none" w="sm" len="sm"/>
          </a:ln>
        </p:spPr>
      </p:cxnSp>
      <p:sp>
        <p:nvSpPr>
          <p:cNvPr id="170" name="Google Shape;170;p5"/>
          <p:cNvSpPr/>
          <p:nvPr/>
        </p:nvSpPr>
        <p:spPr>
          <a:xfrm>
            <a:off x="4663427" y="4800811"/>
            <a:ext cx="822900" cy="347400"/>
          </a:xfrm>
          <a:prstGeom prst="rect">
            <a:avLst/>
          </a:prstGeom>
          <a:solidFill>
            <a:srgbClr val="166534"/>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4663427" y="4800811"/>
            <a:ext cx="8229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Tools</a:t>
            </a:r>
            <a:endParaRPr sz="1000" b="0" i="0" u="none" strike="noStrike" cap="none">
              <a:solidFill>
                <a:srgbClr val="000000"/>
              </a:solidFill>
              <a:latin typeface="Calibri"/>
              <a:ea typeface="Calibri"/>
              <a:cs typeface="Calibri"/>
              <a:sym typeface="Calibri"/>
            </a:endParaRPr>
          </a:p>
        </p:txBody>
      </p:sp>
      <p:sp>
        <p:nvSpPr>
          <p:cNvPr id="172" name="Google Shape;172;p5"/>
          <p:cNvSpPr/>
          <p:nvPr/>
        </p:nvSpPr>
        <p:spPr>
          <a:xfrm>
            <a:off x="4626851" y="4307035"/>
            <a:ext cx="402300" cy="2013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66534"/>
              </a:buClr>
              <a:buSzPts val="900"/>
              <a:buFont typeface="Calibri"/>
              <a:buNone/>
            </a:pPr>
            <a:r>
              <a:rPr lang="en-US" sz="900" b="1" i="0" u="none" strike="noStrike" cap="none">
                <a:solidFill>
                  <a:srgbClr val="166534"/>
                </a:solidFill>
                <a:latin typeface="Calibri"/>
                <a:ea typeface="Calibri"/>
                <a:cs typeface="Calibri"/>
                <a:sym typeface="Calibri"/>
              </a:rPr>
              <a:t>YES</a:t>
            </a:r>
            <a:endParaRPr sz="900" b="0" i="0" u="none" strike="noStrike" cap="none">
              <a:solidFill>
                <a:srgbClr val="000000"/>
              </a:solidFill>
              <a:latin typeface="Calibri"/>
              <a:ea typeface="Calibri"/>
              <a:cs typeface="Calibri"/>
              <a:sym typeface="Calibri"/>
            </a:endParaRPr>
          </a:p>
        </p:txBody>
      </p:sp>
      <p:cxnSp>
        <p:nvCxnSpPr>
          <p:cNvPr id="173" name="Google Shape;173;p5"/>
          <p:cNvCxnSpPr/>
          <p:nvPr/>
        </p:nvCxnSpPr>
        <p:spPr>
          <a:xfrm rot="10800000">
            <a:off x="4626851" y="3923047"/>
            <a:ext cx="0" cy="1051500"/>
          </a:xfrm>
          <a:prstGeom prst="straightConnector1">
            <a:avLst/>
          </a:prstGeom>
          <a:noFill/>
          <a:ln w="19050" cap="flat" cmpd="sng">
            <a:solidFill>
              <a:srgbClr val="166534"/>
            </a:solidFill>
            <a:prstDash val="dash"/>
            <a:round/>
            <a:headEnd type="none" w="sm" len="sm"/>
            <a:tailEnd type="none" w="sm" len="sm"/>
          </a:ln>
        </p:spPr>
      </p:cxnSp>
      <p:cxnSp>
        <p:nvCxnSpPr>
          <p:cNvPr id="174" name="Google Shape;174;p5"/>
          <p:cNvCxnSpPr/>
          <p:nvPr/>
        </p:nvCxnSpPr>
        <p:spPr>
          <a:xfrm>
            <a:off x="4626851" y="3922987"/>
            <a:ext cx="969300" cy="0"/>
          </a:xfrm>
          <a:prstGeom prst="straightConnector1">
            <a:avLst/>
          </a:prstGeom>
          <a:noFill/>
          <a:ln w="19050" cap="flat" cmpd="sng">
            <a:solidFill>
              <a:srgbClr val="166534"/>
            </a:solidFill>
            <a:prstDash val="dash"/>
            <a:round/>
            <a:headEnd type="none" w="sm" len="sm"/>
            <a:tailEnd type="none" w="sm" len="sm"/>
          </a:ln>
        </p:spPr>
      </p:cxnSp>
      <p:sp>
        <p:nvSpPr>
          <p:cNvPr id="175" name="Google Shape;175;p5"/>
          <p:cNvSpPr/>
          <p:nvPr/>
        </p:nvSpPr>
        <p:spPr>
          <a:xfrm>
            <a:off x="4645139" y="3996139"/>
            <a:ext cx="4572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6534"/>
              </a:buClr>
              <a:buSzPts val="800"/>
              <a:buFont typeface="Calibri"/>
              <a:buNone/>
            </a:pPr>
            <a:r>
              <a:rPr lang="en-US" sz="800" b="0" i="1" u="none" strike="noStrike" cap="none">
                <a:solidFill>
                  <a:srgbClr val="166534"/>
                </a:solidFill>
                <a:latin typeface="Calibri"/>
                <a:ea typeface="Calibri"/>
                <a:cs typeface="Calibri"/>
                <a:sym typeface="Calibri"/>
              </a:rPr>
              <a:t>loops</a:t>
            </a:r>
            <a:endParaRPr sz="800" b="0" i="0" u="none" strike="noStrike" cap="none">
              <a:solidFill>
                <a:srgbClr val="000000"/>
              </a:solidFill>
              <a:latin typeface="Calibri"/>
              <a:ea typeface="Calibri"/>
              <a:cs typeface="Calibri"/>
              <a:sym typeface="Calibri"/>
            </a:endParaRPr>
          </a:p>
        </p:txBody>
      </p:sp>
      <p:cxnSp>
        <p:nvCxnSpPr>
          <p:cNvPr id="176" name="Google Shape;176;p5"/>
          <p:cNvCxnSpPr/>
          <p:nvPr/>
        </p:nvCxnSpPr>
        <p:spPr>
          <a:xfrm>
            <a:off x="7424915" y="4508203"/>
            <a:ext cx="1014900" cy="0"/>
          </a:xfrm>
          <a:prstGeom prst="straightConnector1">
            <a:avLst/>
          </a:prstGeom>
          <a:noFill/>
          <a:ln w="19050" cap="flat" cmpd="sng">
            <a:solidFill>
              <a:srgbClr val="0F7490"/>
            </a:solidFill>
            <a:prstDash val="solid"/>
            <a:round/>
            <a:headEnd type="none" w="sm" len="sm"/>
            <a:tailEnd type="none" w="sm" len="sm"/>
          </a:ln>
        </p:spPr>
      </p:cxnSp>
      <p:cxnSp>
        <p:nvCxnSpPr>
          <p:cNvPr id="177" name="Google Shape;177;p5"/>
          <p:cNvCxnSpPr/>
          <p:nvPr/>
        </p:nvCxnSpPr>
        <p:spPr>
          <a:xfrm>
            <a:off x="8439899" y="4508203"/>
            <a:ext cx="0" cy="292500"/>
          </a:xfrm>
          <a:prstGeom prst="straightConnector1">
            <a:avLst/>
          </a:prstGeom>
          <a:noFill/>
          <a:ln w="22850" cap="flat" cmpd="sng">
            <a:solidFill>
              <a:srgbClr val="0F7490"/>
            </a:solidFill>
            <a:prstDash val="solid"/>
            <a:round/>
            <a:headEnd type="none" w="sm" len="sm"/>
            <a:tailEnd type="none" w="sm" len="sm"/>
          </a:ln>
        </p:spPr>
      </p:cxnSp>
      <p:cxnSp>
        <p:nvCxnSpPr>
          <p:cNvPr id="178" name="Google Shape;178;p5"/>
          <p:cNvCxnSpPr/>
          <p:nvPr/>
        </p:nvCxnSpPr>
        <p:spPr>
          <a:xfrm>
            <a:off x="8366747" y="4691083"/>
            <a:ext cx="73200" cy="109800"/>
          </a:xfrm>
          <a:prstGeom prst="straightConnector1">
            <a:avLst/>
          </a:prstGeom>
          <a:noFill/>
          <a:ln w="22850" cap="flat" cmpd="sng">
            <a:solidFill>
              <a:srgbClr val="0F7490"/>
            </a:solidFill>
            <a:prstDash val="solid"/>
            <a:round/>
            <a:headEnd type="none" w="sm" len="sm"/>
            <a:tailEnd type="none" w="sm" len="sm"/>
          </a:ln>
        </p:spPr>
      </p:cxnSp>
      <p:cxnSp>
        <p:nvCxnSpPr>
          <p:cNvPr id="179" name="Google Shape;179;p5"/>
          <p:cNvCxnSpPr/>
          <p:nvPr/>
        </p:nvCxnSpPr>
        <p:spPr>
          <a:xfrm flipH="1">
            <a:off x="8439851" y="4691083"/>
            <a:ext cx="73200" cy="109800"/>
          </a:xfrm>
          <a:prstGeom prst="straightConnector1">
            <a:avLst/>
          </a:prstGeom>
          <a:noFill/>
          <a:ln w="22850" cap="flat" cmpd="sng">
            <a:solidFill>
              <a:srgbClr val="0F7490"/>
            </a:solidFill>
            <a:prstDash val="solid"/>
            <a:round/>
            <a:headEnd type="none" w="sm" len="sm"/>
            <a:tailEnd type="none" w="sm" len="sm"/>
          </a:ln>
        </p:spPr>
      </p:cxnSp>
      <p:sp>
        <p:nvSpPr>
          <p:cNvPr id="180" name="Google Shape;180;p5"/>
          <p:cNvSpPr/>
          <p:nvPr/>
        </p:nvSpPr>
        <p:spPr>
          <a:xfrm>
            <a:off x="8046707" y="4800811"/>
            <a:ext cx="786300" cy="347400"/>
          </a:xfrm>
          <a:prstGeom prst="rect">
            <a:avLst/>
          </a:prstGeom>
          <a:solidFill>
            <a:srgbClr val="0F7490"/>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8046707" y="4800811"/>
            <a:ext cx="786300" cy="347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End</a:t>
            </a:r>
            <a:endParaRPr sz="1000" b="0" i="0" u="none" strike="noStrike" cap="none">
              <a:solidFill>
                <a:srgbClr val="000000"/>
              </a:solidFill>
              <a:latin typeface="Calibri"/>
              <a:ea typeface="Calibri"/>
              <a:cs typeface="Calibri"/>
              <a:sym typeface="Calibri"/>
            </a:endParaRPr>
          </a:p>
        </p:txBody>
      </p:sp>
      <p:sp>
        <p:nvSpPr>
          <p:cNvPr id="182" name="Google Shape;182;p5"/>
          <p:cNvSpPr/>
          <p:nvPr/>
        </p:nvSpPr>
        <p:spPr>
          <a:xfrm>
            <a:off x="8028419" y="4307035"/>
            <a:ext cx="4572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7490"/>
              </a:buClr>
              <a:buSzPts val="900"/>
              <a:buFont typeface="Calibri"/>
              <a:buNone/>
            </a:pPr>
            <a:r>
              <a:rPr lang="en-US" sz="900" b="1" i="0" u="none" strike="noStrike" cap="none">
                <a:solidFill>
                  <a:srgbClr val="0F7490"/>
                </a:solidFill>
                <a:latin typeface="Calibri"/>
                <a:ea typeface="Calibri"/>
                <a:cs typeface="Calibri"/>
                <a:sym typeface="Calibri"/>
              </a:rPr>
              <a:t>NO</a:t>
            </a: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187"/>
        <p:cNvGrpSpPr/>
        <p:nvPr/>
      </p:nvGrpSpPr>
      <p:grpSpPr>
        <a:xfrm>
          <a:off x="0" y="0"/>
          <a:ext cx="0" cy="0"/>
          <a:chOff x="0" y="0"/>
          <a:chExt cx="0" cy="0"/>
        </a:xfrm>
      </p:grpSpPr>
      <p:sp>
        <p:nvSpPr>
          <p:cNvPr id="188" name="Google Shape;188;p6"/>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3. </a:t>
            </a:r>
            <a:r>
              <a:rPr lang="en-US" sz="2200" b="1" i="0" u="none" strike="noStrike" cap="none">
                <a:solidFill>
                  <a:srgbClr val="FFFFFF"/>
                </a:solidFill>
                <a:latin typeface="Calibri"/>
                <a:ea typeface="Calibri"/>
                <a:cs typeface="Calibri"/>
                <a:sym typeface="Calibri"/>
              </a:rPr>
              <a:t>State</a:t>
            </a:r>
            <a:endParaRPr sz="2200" b="0" i="0" u="none" strike="noStrike" cap="none">
              <a:solidFill>
                <a:schemeClr val="dk1"/>
              </a:solidFill>
              <a:latin typeface="Calibri"/>
              <a:ea typeface="Calibri"/>
              <a:cs typeface="Calibri"/>
              <a:sym typeface="Calibri"/>
            </a:endParaRPr>
          </a:p>
        </p:txBody>
      </p:sp>
      <p:sp>
        <p:nvSpPr>
          <p:cNvPr id="191" name="Google Shape;191;p6"/>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How agents remember within a run</a:t>
            </a:r>
            <a:endParaRPr sz="1000" b="0" i="0" u="none" strike="noStrike" cap="none">
              <a:solidFill>
                <a:schemeClr val="dk1"/>
              </a:solidFill>
              <a:latin typeface="Calibri"/>
              <a:ea typeface="Calibri"/>
              <a:cs typeface="Calibri"/>
              <a:sym typeface="Calibri"/>
            </a:endParaRPr>
          </a:p>
        </p:txBody>
      </p:sp>
      <p:sp>
        <p:nvSpPr>
          <p:cNvPr id="192" name="Google Shape;192;p6"/>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2: What — Building Blocks</a:t>
            </a:r>
            <a:endParaRPr sz="950" b="0" i="0" u="none" strike="noStrike" cap="none">
              <a:solidFill>
                <a:schemeClr val="dk1"/>
              </a:solidFill>
              <a:latin typeface="Calibri"/>
              <a:ea typeface="Calibri"/>
              <a:cs typeface="Calibri"/>
              <a:sym typeface="Calibri"/>
            </a:endParaRPr>
          </a:p>
        </p:txBody>
      </p:sp>
      <p:sp>
        <p:nvSpPr>
          <p:cNvPr id="194" name="Google Shape;194;p6"/>
          <p:cNvSpPr/>
          <p:nvPr/>
        </p:nvSpPr>
        <p:spPr>
          <a:xfrm>
            <a:off x="256032" y="969264"/>
            <a:ext cx="8631900" cy="40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State is the shared context that flows through every node. Each node can read from it and write partial updates back. It accumulates the full history of everything done so far.</a:t>
            </a:r>
            <a:endParaRPr sz="1200" b="0" i="0" u="none" strike="noStrike" cap="none">
              <a:solidFill>
                <a:schemeClr val="dk1"/>
              </a:solidFill>
              <a:latin typeface="Calibri"/>
              <a:ea typeface="Calibri"/>
              <a:cs typeface="Calibri"/>
              <a:sym typeface="Calibri"/>
            </a:endParaRPr>
          </a:p>
        </p:txBody>
      </p:sp>
      <p:sp>
        <p:nvSpPr>
          <p:cNvPr id="195" name="Google Shape;195;p6"/>
          <p:cNvSpPr/>
          <p:nvPr/>
        </p:nvSpPr>
        <p:spPr>
          <a:xfrm>
            <a:off x="5077647" y="3797560"/>
            <a:ext cx="3968400" cy="1243500"/>
          </a:xfrm>
          <a:prstGeom prst="rect">
            <a:avLst/>
          </a:prstGeom>
          <a:solidFill>
            <a:srgbClr val="F4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5187300" y="3742649"/>
            <a:ext cx="3749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50"/>
              <a:buFont typeface="Calibri"/>
              <a:buNone/>
            </a:pPr>
            <a:r>
              <a:rPr lang="en-US" sz="1050" b="1" i="0" u="none" strike="noStrike" cap="none">
                <a:solidFill>
                  <a:srgbClr val="1E3A5F"/>
                </a:solidFill>
                <a:latin typeface="Calibri"/>
                <a:ea typeface="Calibri"/>
                <a:cs typeface="Calibri"/>
                <a:sym typeface="Calibri"/>
              </a:rPr>
              <a:t>What state contains:</a:t>
            </a:r>
            <a:endParaRPr sz="1050" b="0" i="0" u="none" strike="noStrike" cap="none">
              <a:solidFill>
                <a:schemeClr val="dk1"/>
              </a:solidFill>
              <a:latin typeface="Calibri"/>
              <a:ea typeface="Calibri"/>
              <a:cs typeface="Calibri"/>
              <a:sym typeface="Calibri"/>
            </a:endParaRPr>
          </a:p>
        </p:txBody>
      </p:sp>
      <p:sp>
        <p:nvSpPr>
          <p:cNvPr id="197" name="Google Shape;197;p6"/>
          <p:cNvSpPr/>
          <p:nvPr/>
        </p:nvSpPr>
        <p:spPr>
          <a:xfrm>
            <a:off x="5205588" y="4016969"/>
            <a:ext cx="10974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messages</a:t>
            </a:r>
            <a:endParaRPr sz="1000" b="0" i="0" u="none" strike="noStrike" cap="none">
              <a:solidFill>
                <a:schemeClr val="dk1"/>
              </a:solidFill>
              <a:latin typeface="Calibri"/>
              <a:ea typeface="Calibri"/>
              <a:cs typeface="Calibri"/>
              <a:sym typeface="Calibri"/>
            </a:endParaRPr>
          </a:p>
        </p:txBody>
      </p:sp>
      <p:sp>
        <p:nvSpPr>
          <p:cNvPr id="198" name="Google Shape;198;p6"/>
          <p:cNvSpPr/>
          <p:nvPr/>
        </p:nvSpPr>
        <p:spPr>
          <a:xfrm>
            <a:off x="6339444" y="4016969"/>
            <a:ext cx="26151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 All conversation turns so far (with add_messages reducer)</a:t>
            </a:r>
            <a:endParaRPr sz="1000" b="0" i="0" u="none" strike="noStrike" cap="none">
              <a:solidFill>
                <a:schemeClr val="dk1"/>
              </a:solidFill>
              <a:latin typeface="Calibri"/>
              <a:ea typeface="Calibri"/>
              <a:cs typeface="Calibri"/>
              <a:sym typeface="Calibri"/>
            </a:endParaRPr>
          </a:p>
        </p:txBody>
      </p:sp>
      <p:sp>
        <p:nvSpPr>
          <p:cNvPr id="199" name="Google Shape;199;p6"/>
          <p:cNvSpPr/>
          <p:nvPr/>
        </p:nvSpPr>
        <p:spPr>
          <a:xfrm>
            <a:off x="5205588" y="4236425"/>
            <a:ext cx="10974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tool_outputs</a:t>
            </a:r>
            <a:endParaRPr sz="1000" b="0" i="0" u="none" strike="noStrike" cap="none">
              <a:solidFill>
                <a:schemeClr val="dk1"/>
              </a:solidFill>
              <a:latin typeface="Calibri"/>
              <a:ea typeface="Calibri"/>
              <a:cs typeface="Calibri"/>
              <a:sym typeface="Calibri"/>
            </a:endParaRPr>
          </a:p>
        </p:txBody>
      </p:sp>
      <p:sp>
        <p:nvSpPr>
          <p:cNvPr id="200" name="Google Shape;200;p6"/>
          <p:cNvSpPr/>
          <p:nvPr/>
        </p:nvSpPr>
        <p:spPr>
          <a:xfrm>
            <a:off x="6339444" y="4236425"/>
            <a:ext cx="26151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 Results from every tool call</a:t>
            </a:r>
            <a:endParaRPr sz="1000" b="0" i="0" u="none" strike="noStrike" cap="none">
              <a:solidFill>
                <a:schemeClr val="dk1"/>
              </a:solidFill>
              <a:latin typeface="Calibri"/>
              <a:ea typeface="Calibri"/>
              <a:cs typeface="Calibri"/>
              <a:sym typeface="Calibri"/>
            </a:endParaRPr>
          </a:p>
        </p:txBody>
      </p:sp>
      <p:sp>
        <p:nvSpPr>
          <p:cNvPr id="201" name="Google Shape;201;p6"/>
          <p:cNvSpPr/>
          <p:nvPr/>
        </p:nvSpPr>
        <p:spPr>
          <a:xfrm>
            <a:off x="5205588" y="4455881"/>
            <a:ext cx="10974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decisions</a:t>
            </a:r>
            <a:endParaRPr sz="1000" b="0" i="0" u="none" strike="noStrike" cap="none">
              <a:solidFill>
                <a:schemeClr val="dk1"/>
              </a:solidFill>
              <a:latin typeface="Calibri"/>
              <a:ea typeface="Calibri"/>
              <a:cs typeface="Calibri"/>
              <a:sym typeface="Calibri"/>
            </a:endParaRPr>
          </a:p>
        </p:txBody>
      </p:sp>
      <p:sp>
        <p:nvSpPr>
          <p:cNvPr id="202" name="Google Shape;202;p6"/>
          <p:cNvSpPr/>
          <p:nvPr/>
        </p:nvSpPr>
        <p:spPr>
          <a:xfrm>
            <a:off x="6339444" y="4455881"/>
            <a:ext cx="26151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 Routing choices and conditions met</a:t>
            </a:r>
            <a:endParaRPr sz="1000" b="0" i="0" u="none" strike="noStrike" cap="none">
              <a:solidFill>
                <a:schemeClr val="dk1"/>
              </a:solidFill>
              <a:latin typeface="Calibri"/>
              <a:ea typeface="Calibri"/>
              <a:cs typeface="Calibri"/>
              <a:sym typeface="Calibri"/>
            </a:endParaRPr>
          </a:p>
        </p:txBody>
      </p:sp>
      <p:sp>
        <p:nvSpPr>
          <p:cNvPr id="203" name="Google Shape;203;p6"/>
          <p:cNvSpPr/>
          <p:nvPr/>
        </p:nvSpPr>
        <p:spPr>
          <a:xfrm>
            <a:off x="5205588" y="4675337"/>
            <a:ext cx="10974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custom fields</a:t>
            </a:r>
            <a:endParaRPr sz="1000" b="0" i="0" u="none" strike="noStrike" cap="none">
              <a:solidFill>
                <a:schemeClr val="dk1"/>
              </a:solidFill>
              <a:latin typeface="Calibri"/>
              <a:ea typeface="Calibri"/>
              <a:cs typeface="Calibri"/>
              <a:sym typeface="Calibri"/>
            </a:endParaRPr>
          </a:p>
        </p:txBody>
      </p:sp>
      <p:sp>
        <p:nvSpPr>
          <p:cNvPr id="204" name="Google Shape;204;p6"/>
          <p:cNvSpPr/>
          <p:nvPr/>
        </p:nvSpPr>
        <p:spPr>
          <a:xfrm>
            <a:off x="6339444" y="4675337"/>
            <a:ext cx="26151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 Anything your workflow needs to track</a:t>
            </a:r>
            <a:endParaRPr sz="1000" b="0" i="0" u="none" strike="noStrike" cap="none">
              <a:solidFill>
                <a:schemeClr val="dk1"/>
              </a:solidFill>
              <a:latin typeface="Calibri"/>
              <a:ea typeface="Calibri"/>
              <a:cs typeface="Calibri"/>
              <a:sym typeface="Calibri"/>
            </a:endParaRPr>
          </a:p>
        </p:txBody>
      </p:sp>
      <p:sp>
        <p:nvSpPr>
          <p:cNvPr id="205" name="Google Shape;205;p6"/>
          <p:cNvSpPr/>
          <p:nvPr/>
        </p:nvSpPr>
        <p:spPr>
          <a:xfrm>
            <a:off x="1751070" y="2237300"/>
            <a:ext cx="22494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1751070" y="2237300"/>
            <a:ext cx="2249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Shared State</a:t>
            </a:r>
            <a:endParaRPr sz="1300" b="0" i="0" u="none" strike="noStrike" cap="none">
              <a:solidFill>
                <a:srgbClr val="000000"/>
              </a:solidFill>
              <a:latin typeface="Calibri"/>
              <a:ea typeface="Calibri"/>
              <a:cs typeface="Calibri"/>
              <a:sym typeface="Calibri"/>
            </a:endParaRPr>
          </a:p>
        </p:txBody>
      </p:sp>
      <p:sp>
        <p:nvSpPr>
          <p:cNvPr id="207" name="Google Shape;207;p6"/>
          <p:cNvSpPr/>
          <p:nvPr/>
        </p:nvSpPr>
        <p:spPr>
          <a:xfrm>
            <a:off x="1751070" y="2639636"/>
            <a:ext cx="22494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A5C9"/>
              </a:buClr>
              <a:buSzPts val="950"/>
              <a:buFont typeface="Calibri"/>
              <a:buNone/>
            </a:pPr>
            <a:r>
              <a:rPr lang="en-US" sz="950" b="0" i="1" u="none" strike="noStrike" cap="none">
                <a:solidFill>
                  <a:srgbClr val="0EA5C9"/>
                </a:solidFill>
                <a:latin typeface="Calibri"/>
                <a:ea typeface="Calibri"/>
                <a:cs typeface="Calibri"/>
                <a:sym typeface="Calibri"/>
              </a:rPr>
              <a:t>reads &amp; writes</a:t>
            </a:r>
            <a:endParaRPr sz="950" b="0" i="0" u="none" strike="noStrike" cap="none">
              <a:solidFill>
                <a:srgbClr val="000000"/>
              </a:solidFill>
              <a:latin typeface="Calibri"/>
              <a:ea typeface="Calibri"/>
              <a:cs typeface="Calibri"/>
              <a:sym typeface="Calibri"/>
            </a:endParaRPr>
          </a:p>
        </p:txBody>
      </p:sp>
      <p:sp>
        <p:nvSpPr>
          <p:cNvPr id="208" name="Google Shape;208;p6"/>
          <p:cNvSpPr/>
          <p:nvPr/>
        </p:nvSpPr>
        <p:spPr>
          <a:xfrm>
            <a:off x="2349517" y="1552935"/>
            <a:ext cx="1097400" cy="3657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2349517" y="1566810"/>
            <a:ext cx="10974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LLM node</a:t>
            </a:r>
            <a:endParaRPr sz="1000" b="0" i="0" u="none" strike="noStrike" cap="none">
              <a:solidFill>
                <a:srgbClr val="000000"/>
              </a:solidFill>
              <a:latin typeface="Calibri"/>
              <a:ea typeface="Calibri"/>
              <a:cs typeface="Calibri"/>
              <a:sym typeface="Calibri"/>
            </a:endParaRPr>
          </a:p>
        </p:txBody>
      </p:sp>
      <p:sp>
        <p:nvSpPr>
          <p:cNvPr id="210" name="Google Shape;210;p6"/>
          <p:cNvSpPr/>
          <p:nvPr/>
        </p:nvSpPr>
        <p:spPr>
          <a:xfrm>
            <a:off x="2327142" y="3224460"/>
            <a:ext cx="1097400" cy="3657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2327142" y="3224460"/>
            <a:ext cx="10974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Router node</a:t>
            </a:r>
            <a:endParaRPr sz="1000" b="0" i="0" u="none" strike="noStrike" cap="none">
              <a:solidFill>
                <a:srgbClr val="000000"/>
              </a:solidFill>
              <a:latin typeface="Calibri"/>
              <a:ea typeface="Calibri"/>
              <a:cs typeface="Calibri"/>
              <a:sym typeface="Calibri"/>
            </a:endParaRPr>
          </a:p>
        </p:txBody>
      </p:sp>
      <p:sp>
        <p:nvSpPr>
          <p:cNvPr id="212" name="Google Shape;212;p6"/>
          <p:cNvSpPr/>
          <p:nvPr/>
        </p:nvSpPr>
        <p:spPr>
          <a:xfrm>
            <a:off x="233648" y="2383604"/>
            <a:ext cx="1005900" cy="3657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233648" y="2383604"/>
            <a:ext cx="10059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Tool node</a:t>
            </a:r>
            <a:endParaRPr sz="1000" b="0" i="0" u="none" strike="noStrike" cap="none">
              <a:solidFill>
                <a:srgbClr val="000000"/>
              </a:solidFill>
              <a:latin typeface="Calibri"/>
              <a:ea typeface="Calibri"/>
              <a:cs typeface="Calibri"/>
              <a:sym typeface="Calibri"/>
            </a:endParaRPr>
          </a:p>
        </p:txBody>
      </p:sp>
      <p:sp>
        <p:nvSpPr>
          <p:cNvPr id="214" name="Google Shape;214;p6"/>
          <p:cNvSpPr/>
          <p:nvPr/>
        </p:nvSpPr>
        <p:spPr>
          <a:xfrm>
            <a:off x="4538612" y="2374429"/>
            <a:ext cx="1024200" cy="3657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4538612" y="2374429"/>
            <a:ext cx="10242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3A5F"/>
              </a:buClr>
              <a:buSzPts val="1000"/>
              <a:buFont typeface="Calibri"/>
              <a:buNone/>
            </a:pPr>
            <a:r>
              <a:rPr lang="en-US" sz="1000" b="1" i="0" u="none" strike="noStrike" cap="none">
                <a:solidFill>
                  <a:srgbClr val="1E3A5F"/>
                </a:solidFill>
                <a:latin typeface="Calibri"/>
                <a:ea typeface="Calibri"/>
                <a:cs typeface="Calibri"/>
                <a:sym typeface="Calibri"/>
              </a:rPr>
              <a:t>Human step</a:t>
            </a:r>
            <a:endParaRPr sz="1000" b="0" i="0" u="none" strike="noStrike" cap="none">
              <a:solidFill>
                <a:srgbClr val="000000"/>
              </a:solidFill>
              <a:latin typeface="Calibri"/>
              <a:ea typeface="Calibri"/>
              <a:cs typeface="Calibri"/>
              <a:sym typeface="Calibri"/>
            </a:endParaRPr>
          </a:p>
        </p:txBody>
      </p:sp>
      <p:cxnSp>
        <p:nvCxnSpPr>
          <p:cNvPr id="216" name="Google Shape;216;p6"/>
          <p:cNvCxnSpPr>
            <a:endCxn id="206" idx="0"/>
          </p:cNvCxnSpPr>
          <p:nvPr/>
        </p:nvCxnSpPr>
        <p:spPr>
          <a:xfrm flipH="1">
            <a:off x="2875770" y="1937300"/>
            <a:ext cx="20700" cy="300000"/>
          </a:xfrm>
          <a:prstGeom prst="straightConnector1">
            <a:avLst/>
          </a:prstGeom>
          <a:noFill/>
          <a:ln w="9525" cap="flat" cmpd="sng">
            <a:solidFill>
              <a:schemeClr val="dk2"/>
            </a:solidFill>
            <a:prstDash val="solid"/>
            <a:round/>
            <a:headEnd type="none" w="med" len="med"/>
            <a:tailEnd type="triangle" w="med" len="med"/>
          </a:ln>
        </p:spPr>
      </p:cxnSp>
      <p:cxnSp>
        <p:nvCxnSpPr>
          <p:cNvPr id="217" name="Google Shape;217;p6"/>
          <p:cNvCxnSpPr>
            <a:endCxn id="213" idx="3"/>
          </p:cNvCxnSpPr>
          <p:nvPr/>
        </p:nvCxnSpPr>
        <p:spPr>
          <a:xfrm flipH="1">
            <a:off x="1239548" y="2546354"/>
            <a:ext cx="503400" cy="20100"/>
          </a:xfrm>
          <a:prstGeom prst="straightConnector1">
            <a:avLst/>
          </a:prstGeom>
          <a:noFill/>
          <a:ln w="9525" cap="flat" cmpd="sng">
            <a:solidFill>
              <a:schemeClr val="dk2"/>
            </a:solidFill>
            <a:prstDash val="solid"/>
            <a:round/>
            <a:headEnd type="none" w="med" len="med"/>
            <a:tailEnd type="triangle" w="med" len="med"/>
          </a:ln>
        </p:spPr>
      </p:cxnSp>
      <p:cxnSp>
        <p:nvCxnSpPr>
          <p:cNvPr id="218" name="Google Shape;218;p6"/>
          <p:cNvCxnSpPr>
            <a:endCxn id="215" idx="1"/>
          </p:cNvCxnSpPr>
          <p:nvPr/>
        </p:nvCxnSpPr>
        <p:spPr>
          <a:xfrm rot="10800000" flipH="1">
            <a:off x="3998012" y="2557279"/>
            <a:ext cx="540600" cy="8700"/>
          </a:xfrm>
          <a:prstGeom prst="straightConnector1">
            <a:avLst/>
          </a:prstGeom>
          <a:noFill/>
          <a:ln w="9525" cap="flat" cmpd="sng">
            <a:solidFill>
              <a:schemeClr val="dk2"/>
            </a:solidFill>
            <a:prstDash val="solid"/>
            <a:round/>
            <a:headEnd type="none" w="med" len="med"/>
            <a:tailEnd type="triangle" w="med" len="med"/>
          </a:ln>
        </p:spPr>
      </p:cxnSp>
      <p:cxnSp>
        <p:nvCxnSpPr>
          <p:cNvPr id="219" name="Google Shape;219;p6"/>
          <p:cNvCxnSpPr>
            <a:endCxn id="211" idx="0"/>
          </p:cNvCxnSpPr>
          <p:nvPr/>
        </p:nvCxnSpPr>
        <p:spPr>
          <a:xfrm flipH="1">
            <a:off x="2875842" y="2902861"/>
            <a:ext cx="1200" cy="321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224"/>
        <p:cNvGrpSpPr/>
        <p:nvPr/>
      </p:nvGrpSpPr>
      <p:grpSpPr>
        <a:xfrm>
          <a:off x="0" y="0"/>
          <a:ext cx="0" cy="0"/>
          <a:chOff x="0" y="0"/>
          <a:chExt cx="0" cy="0"/>
        </a:xfrm>
      </p:grpSpPr>
      <p:sp>
        <p:nvSpPr>
          <p:cNvPr id="225" name="Google Shape;225;p7"/>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3. </a:t>
            </a:r>
            <a:r>
              <a:rPr lang="en-US" sz="2200" b="1" i="0" u="none" strike="noStrike" cap="none">
                <a:solidFill>
                  <a:srgbClr val="FFFFFF"/>
                </a:solidFill>
                <a:latin typeface="Calibri"/>
                <a:ea typeface="Calibri"/>
                <a:cs typeface="Calibri"/>
                <a:sym typeface="Calibri"/>
              </a:rPr>
              <a:t>Reducers f</a:t>
            </a:r>
            <a:r>
              <a:rPr lang="en-US" sz="2200" b="1">
                <a:solidFill>
                  <a:srgbClr val="FFFFFF"/>
                </a:solidFill>
                <a:latin typeface="Calibri"/>
                <a:ea typeface="Calibri"/>
                <a:cs typeface="Calibri"/>
                <a:sym typeface="Calibri"/>
              </a:rPr>
              <a:t>or State</a:t>
            </a:r>
            <a:endParaRPr sz="2200" b="0" i="0" u="none" strike="noStrike" cap="none">
              <a:solidFill>
                <a:schemeClr val="dk1"/>
              </a:solidFill>
              <a:latin typeface="Calibri"/>
              <a:ea typeface="Calibri"/>
              <a:cs typeface="Calibri"/>
              <a:sym typeface="Calibri"/>
            </a:endParaRPr>
          </a:p>
        </p:txBody>
      </p:sp>
      <p:sp>
        <p:nvSpPr>
          <p:cNvPr id="228" name="Google Shape;228;p7"/>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How agents remember within a run</a:t>
            </a:r>
            <a:endParaRPr sz="1000" b="0" i="0" u="none" strike="noStrike" cap="none">
              <a:solidFill>
                <a:schemeClr val="dk1"/>
              </a:solidFill>
              <a:latin typeface="Calibri"/>
              <a:ea typeface="Calibri"/>
              <a:cs typeface="Calibri"/>
              <a:sym typeface="Calibri"/>
            </a:endParaRPr>
          </a:p>
        </p:txBody>
      </p:sp>
      <p:sp>
        <p:nvSpPr>
          <p:cNvPr id="229" name="Google Shape;229;p7"/>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2: What — Building Blocks</a:t>
            </a:r>
            <a:endParaRPr sz="950" b="0" i="0" u="none" strike="noStrike" cap="none">
              <a:solidFill>
                <a:schemeClr val="dk1"/>
              </a:solidFill>
              <a:latin typeface="Calibri"/>
              <a:ea typeface="Calibri"/>
              <a:cs typeface="Calibri"/>
              <a:sym typeface="Calibri"/>
            </a:endParaRPr>
          </a:p>
        </p:txBody>
      </p:sp>
      <p:sp>
        <p:nvSpPr>
          <p:cNvPr id="231" name="Google Shape;231;p7"/>
          <p:cNvSpPr/>
          <p:nvPr/>
        </p:nvSpPr>
        <p:spPr>
          <a:xfrm>
            <a:off x="256032" y="969264"/>
            <a:ext cx="86319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A reducer is a function attached to a state field that defines H</a:t>
            </a:r>
            <a:r>
              <a:rPr lang="en-US" sz="1200" u="sng">
                <a:solidFill>
                  <a:srgbClr val="475569"/>
                </a:solidFill>
                <a:latin typeface="Calibri"/>
                <a:ea typeface="Calibri"/>
                <a:cs typeface="Calibri"/>
                <a:sym typeface="Calibri"/>
              </a:rPr>
              <a:t>OW updates are merged</a:t>
            </a:r>
            <a:r>
              <a:rPr lang="en-US" sz="1200">
                <a:solidFill>
                  <a:srgbClr val="475569"/>
                </a:solidFill>
                <a:latin typeface="Calibri"/>
                <a:ea typeface="Calibri"/>
                <a:cs typeface="Calibri"/>
                <a:sym typeface="Calibri"/>
              </a:rPr>
              <a:t> </a:t>
            </a:r>
            <a:r>
              <a:rPr lang="en-US" sz="1200" b="0" i="0" u="none" strike="noStrike" cap="none">
                <a:solidFill>
                  <a:srgbClr val="475569"/>
                </a:solidFill>
                <a:latin typeface="Calibri"/>
                <a:ea typeface="Calibri"/>
                <a:cs typeface="Calibri"/>
                <a:sym typeface="Calibri"/>
              </a:rPr>
              <a:t>— especially when nodes run in parallel. </a:t>
            </a:r>
            <a:r>
              <a:rPr lang="en-US" sz="1200">
                <a:solidFill>
                  <a:srgbClr val="475569"/>
                </a:solidFill>
                <a:latin typeface="Calibri"/>
                <a:ea typeface="Calibri"/>
                <a:cs typeface="Calibri"/>
                <a:sym typeface="Calibri"/>
              </a:rPr>
              <a:t>Without reducers, parallel nodes would overwrite each other's results.</a:t>
            </a:r>
            <a:endParaRPr sz="1200">
              <a:solidFill>
                <a:schemeClr val="dk1"/>
              </a:solidFill>
              <a:latin typeface="Calibri"/>
              <a:ea typeface="Calibri"/>
              <a:cs typeface="Calibri"/>
              <a:sym typeface="Calibri"/>
            </a:endParaRPr>
          </a:p>
          <a:p>
            <a:pPr marL="0" marR="0" lvl="0" indent="0" algn="l" rtl="0">
              <a:spcBef>
                <a:spcPts val="0"/>
              </a:spcBef>
              <a:spcAft>
                <a:spcPts val="0"/>
              </a:spcAft>
              <a:buClr>
                <a:srgbClr val="475569"/>
              </a:buClr>
              <a:buSzPts val="1200"/>
              <a:buFont typeface="Calibri"/>
              <a:buNone/>
            </a:pPr>
            <a:endParaRPr sz="1100">
              <a:solidFill>
                <a:srgbClr val="475569"/>
              </a:solidFill>
              <a:latin typeface="Calibri"/>
              <a:ea typeface="Calibri"/>
              <a:cs typeface="Calibri"/>
              <a:sym typeface="Calibri"/>
            </a:endParaRPr>
          </a:p>
        </p:txBody>
      </p:sp>
      <p:sp>
        <p:nvSpPr>
          <p:cNvPr id="232" name="Google Shape;232;p7"/>
          <p:cNvSpPr/>
          <p:nvPr/>
        </p:nvSpPr>
        <p:spPr>
          <a:xfrm>
            <a:off x="2487152" y="1739719"/>
            <a:ext cx="4169700" cy="603600"/>
          </a:xfrm>
          <a:prstGeom prst="rect">
            <a:avLst/>
          </a:prstGeom>
          <a:solidFill>
            <a:srgbClr val="F4F6F9"/>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2487152" y="1739719"/>
            <a:ext cx="54900" cy="603600"/>
          </a:xfrm>
          <a:prstGeom prst="rect">
            <a:avLst/>
          </a:prstGeom>
          <a:solidFill>
            <a:srgbClr val="94A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2615168" y="1776295"/>
            <a:ext cx="3931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1" i="0" u="none" strike="noStrike" cap="none">
                <a:solidFill>
                  <a:srgbClr val="1E293B"/>
                </a:solidFill>
                <a:latin typeface="Calibri"/>
                <a:ea typeface="Calibri"/>
                <a:cs typeface="Calibri"/>
                <a:sym typeface="Calibri"/>
              </a:rPr>
              <a:t>Default (overwrite)</a:t>
            </a:r>
            <a:endParaRPr sz="1100" b="0" i="0" u="none" strike="noStrike" cap="none">
              <a:solidFill>
                <a:schemeClr val="dk1"/>
              </a:solidFill>
              <a:latin typeface="Calibri"/>
              <a:ea typeface="Calibri"/>
              <a:cs typeface="Calibri"/>
              <a:sym typeface="Calibri"/>
            </a:endParaRPr>
          </a:p>
        </p:txBody>
      </p:sp>
      <p:sp>
        <p:nvSpPr>
          <p:cNvPr id="235" name="Google Shape;235;p7"/>
          <p:cNvSpPr/>
          <p:nvPr/>
        </p:nvSpPr>
        <p:spPr>
          <a:xfrm>
            <a:off x="2615168" y="2050615"/>
            <a:ext cx="39318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Last write wins. Simple fields like a status flag — only the final update survives.</a:t>
            </a:r>
            <a:endParaRPr sz="1000" b="0" i="0" u="none" strike="noStrike" cap="none">
              <a:solidFill>
                <a:schemeClr val="dk1"/>
              </a:solidFill>
              <a:latin typeface="Calibri"/>
              <a:ea typeface="Calibri"/>
              <a:cs typeface="Calibri"/>
              <a:sym typeface="Calibri"/>
            </a:endParaRPr>
          </a:p>
        </p:txBody>
      </p:sp>
      <p:sp>
        <p:nvSpPr>
          <p:cNvPr id="236" name="Google Shape;236;p7"/>
          <p:cNvSpPr/>
          <p:nvPr/>
        </p:nvSpPr>
        <p:spPr>
          <a:xfrm>
            <a:off x="2487152" y="2416375"/>
            <a:ext cx="4169700" cy="6036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2487152" y="2416375"/>
            <a:ext cx="54900" cy="603600"/>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a:off x="2615168" y="2452951"/>
            <a:ext cx="3931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1" i="0" u="none" strike="noStrike" cap="none">
                <a:solidFill>
                  <a:srgbClr val="1E293B"/>
                </a:solidFill>
                <a:latin typeface="Calibri"/>
                <a:ea typeface="Calibri"/>
                <a:cs typeface="Calibri"/>
                <a:sym typeface="Calibri"/>
              </a:rPr>
              <a:t>operator.add</a:t>
            </a:r>
            <a:endParaRPr sz="1100" b="0" i="0" u="none" strike="noStrike" cap="none">
              <a:solidFill>
                <a:schemeClr val="dk1"/>
              </a:solidFill>
              <a:latin typeface="Calibri"/>
              <a:ea typeface="Calibri"/>
              <a:cs typeface="Calibri"/>
              <a:sym typeface="Calibri"/>
            </a:endParaRPr>
          </a:p>
        </p:txBody>
      </p:sp>
      <p:sp>
        <p:nvSpPr>
          <p:cNvPr id="239" name="Google Shape;239;p7"/>
          <p:cNvSpPr/>
          <p:nvPr/>
        </p:nvSpPr>
        <p:spPr>
          <a:xfrm>
            <a:off x="2615168" y="2727271"/>
            <a:ext cx="39318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Appends to a list. Every node's output is kept. The most common pattern for messages.</a:t>
            </a:r>
            <a:endParaRPr sz="1000" b="0" i="0" u="none" strike="noStrike" cap="none">
              <a:solidFill>
                <a:schemeClr val="dk1"/>
              </a:solidFill>
              <a:latin typeface="Calibri"/>
              <a:ea typeface="Calibri"/>
              <a:cs typeface="Calibri"/>
              <a:sym typeface="Calibri"/>
            </a:endParaRPr>
          </a:p>
        </p:txBody>
      </p:sp>
      <p:sp>
        <p:nvSpPr>
          <p:cNvPr id="240" name="Google Shape;240;p7"/>
          <p:cNvSpPr/>
          <p:nvPr/>
        </p:nvSpPr>
        <p:spPr>
          <a:xfrm>
            <a:off x="2487152" y="3093031"/>
            <a:ext cx="4169700" cy="603600"/>
          </a:xfrm>
          <a:prstGeom prst="rect">
            <a:avLst/>
          </a:prstGeom>
          <a:solidFill>
            <a:srgbClr val="F4F6F9"/>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2487152" y="3093031"/>
            <a:ext cx="54900" cy="6036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2615168" y="3129607"/>
            <a:ext cx="3931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1" i="0" u="none" strike="noStrike" cap="none">
                <a:solidFill>
                  <a:srgbClr val="1E293B"/>
                </a:solidFill>
                <a:latin typeface="Calibri"/>
                <a:ea typeface="Calibri"/>
                <a:cs typeface="Calibri"/>
                <a:sym typeface="Calibri"/>
              </a:rPr>
              <a:t>add_messages</a:t>
            </a:r>
            <a:endParaRPr sz="1100" b="0" i="0" u="none" strike="noStrike" cap="none">
              <a:solidFill>
                <a:schemeClr val="dk1"/>
              </a:solidFill>
              <a:latin typeface="Calibri"/>
              <a:ea typeface="Calibri"/>
              <a:cs typeface="Calibri"/>
              <a:sym typeface="Calibri"/>
            </a:endParaRPr>
          </a:p>
        </p:txBody>
      </p:sp>
      <p:sp>
        <p:nvSpPr>
          <p:cNvPr id="243" name="Google Shape;243;p7"/>
          <p:cNvSpPr/>
          <p:nvPr/>
        </p:nvSpPr>
        <p:spPr>
          <a:xfrm>
            <a:off x="2615168" y="3403927"/>
            <a:ext cx="39318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Smart append for chat — deduplicates by message ID, handles updates correctly.</a:t>
            </a:r>
            <a:endParaRPr sz="1000" b="0" i="0" u="none" strike="noStrike" cap="none">
              <a:solidFill>
                <a:schemeClr val="dk1"/>
              </a:solidFill>
              <a:latin typeface="Calibri"/>
              <a:ea typeface="Calibri"/>
              <a:cs typeface="Calibri"/>
              <a:sym typeface="Calibri"/>
            </a:endParaRPr>
          </a:p>
        </p:txBody>
      </p:sp>
      <p:sp>
        <p:nvSpPr>
          <p:cNvPr id="244" name="Google Shape;244;p7"/>
          <p:cNvSpPr/>
          <p:nvPr/>
        </p:nvSpPr>
        <p:spPr>
          <a:xfrm>
            <a:off x="2487152" y="3769687"/>
            <a:ext cx="4169700" cy="603600"/>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2487152" y="3769687"/>
            <a:ext cx="54900" cy="603600"/>
          </a:xfrm>
          <a:prstGeom prst="rect">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2615168" y="3806263"/>
            <a:ext cx="3931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1" i="0" u="none" strike="noStrike" cap="none">
                <a:solidFill>
                  <a:srgbClr val="1E293B"/>
                </a:solidFill>
                <a:latin typeface="Calibri"/>
                <a:ea typeface="Calibri"/>
                <a:cs typeface="Calibri"/>
                <a:sym typeface="Calibri"/>
              </a:rPr>
              <a:t>Custom function</a:t>
            </a:r>
            <a:endParaRPr sz="1100" b="0" i="0" u="none" strike="noStrike" cap="none">
              <a:solidFill>
                <a:schemeClr val="dk1"/>
              </a:solidFill>
              <a:latin typeface="Calibri"/>
              <a:ea typeface="Calibri"/>
              <a:cs typeface="Calibri"/>
              <a:sym typeface="Calibri"/>
            </a:endParaRPr>
          </a:p>
        </p:txBody>
      </p:sp>
      <p:sp>
        <p:nvSpPr>
          <p:cNvPr id="247" name="Google Shape;247;p7"/>
          <p:cNvSpPr/>
          <p:nvPr/>
        </p:nvSpPr>
        <p:spPr>
          <a:xfrm>
            <a:off x="2615168" y="4080583"/>
            <a:ext cx="39318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Write any merge logic: sum numbers, pick max score, merge dicts. Full control.</a:t>
            </a:r>
            <a:endParaRPr sz="1000" b="0" i="0" u="none" strike="noStrike" cap="none">
              <a:solidFill>
                <a:schemeClr val="dk1"/>
              </a:solidFill>
              <a:latin typeface="Calibri"/>
              <a:ea typeface="Calibri"/>
              <a:cs typeface="Calibri"/>
              <a:sym typeface="Calibri"/>
            </a:endParaRPr>
          </a:p>
        </p:txBody>
      </p:sp>
      <p:sp>
        <p:nvSpPr>
          <p:cNvPr id="248" name="Google Shape;248;p7"/>
          <p:cNvSpPr/>
          <p:nvPr/>
        </p:nvSpPr>
        <p:spPr>
          <a:xfrm>
            <a:off x="2487152" y="4428055"/>
            <a:ext cx="4169700" cy="0"/>
          </a:xfrm>
          <a:prstGeom prst="rect">
            <a:avLst/>
          </a:prstGeom>
          <a:solidFill>
            <a:srgbClr val="F4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253"/>
        <p:cNvGrpSpPr/>
        <p:nvPr/>
      </p:nvGrpSpPr>
      <p:grpSpPr>
        <a:xfrm>
          <a:off x="0" y="0"/>
          <a:ext cx="0" cy="0"/>
          <a:chOff x="0" y="0"/>
          <a:chExt cx="0" cy="0"/>
        </a:xfrm>
      </p:grpSpPr>
      <p:sp>
        <p:nvSpPr>
          <p:cNvPr id="254" name="Google Shape;254;p8"/>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Workflows and agents</a:t>
            </a:r>
            <a:endParaRPr sz="2200" b="0" i="0" u="none" strike="noStrike" cap="none">
              <a:solidFill>
                <a:schemeClr val="dk1"/>
              </a:solidFill>
              <a:latin typeface="Calibri"/>
              <a:ea typeface="Calibri"/>
              <a:cs typeface="Calibri"/>
              <a:sym typeface="Calibri"/>
            </a:endParaRPr>
          </a:p>
        </p:txBody>
      </p:sp>
      <p:sp>
        <p:nvSpPr>
          <p:cNvPr id="257" name="Google Shape;257;p8"/>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How agents remember within a run</a:t>
            </a:r>
            <a:endParaRPr sz="1000" b="0" i="0" u="none" strike="noStrike" cap="none">
              <a:solidFill>
                <a:schemeClr val="dk1"/>
              </a:solidFill>
              <a:latin typeface="Calibri"/>
              <a:ea typeface="Calibri"/>
              <a:cs typeface="Calibri"/>
              <a:sym typeface="Calibri"/>
            </a:endParaRPr>
          </a:p>
        </p:txBody>
      </p:sp>
      <p:sp>
        <p:nvSpPr>
          <p:cNvPr id="258" name="Google Shape;258;p8"/>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2: What — Building Blocks</a:t>
            </a:r>
            <a:endParaRPr sz="950" b="0" i="0" u="none" strike="noStrike" cap="none">
              <a:solidFill>
                <a:schemeClr val="dk1"/>
              </a:solidFill>
              <a:latin typeface="Calibri"/>
              <a:ea typeface="Calibri"/>
              <a:cs typeface="Calibri"/>
              <a:sym typeface="Calibri"/>
            </a:endParaRPr>
          </a:p>
        </p:txBody>
      </p:sp>
      <p:sp>
        <p:nvSpPr>
          <p:cNvPr id="260" name="Google Shape;260;p8"/>
          <p:cNvSpPr/>
          <p:nvPr/>
        </p:nvSpPr>
        <p:spPr>
          <a:xfrm>
            <a:off x="256032" y="969264"/>
            <a:ext cx="8631900" cy="402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Workflows have predetermined code paths and are designed to operate in a certain order.</a:t>
            </a:r>
            <a:endParaRPr sz="1200">
              <a:solidFill>
                <a:srgbClr val="475569"/>
              </a:solidFill>
              <a:latin typeface="Calibri"/>
              <a:ea typeface="Calibri"/>
              <a:cs typeface="Calibri"/>
              <a:sym typeface="Calibri"/>
            </a:endParaRPr>
          </a:p>
          <a:p>
            <a:pPr marL="0" marR="0" lvl="0" indent="0" algn="l" rtl="0">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Agents are dynamic and define their own processes and tool usage.</a:t>
            </a:r>
            <a:endParaRPr sz="1200">
              <a:solidFill>
                <a:srgbClr val="475569"/>
              </a:solidFill>
              <a:latin typeface="Calibri"/>
              <a:ea typeface="Calibri"/>
              <a:cs typeface="Calibri"/>
              <a:sym typeface="Calibri"/>
            </a:endParaRPr>
          </a:p>
        </p:txBody>
      </p:sp>
      <p:pic>
        <p:nvPicPr>
          <p:cNvPr id="261" name="Google Shape;261;p8"/>
          <p:cNvPicPr preferRelativeResize="0"/>
          <p:nvPr/>
        </p:nvPicPr>
        <p:blipFill>
          <a:blip r:embed="rId3">
            <a:alphaModFix/>
          </a:blip>
          <a:stretch>
            <a:fillRect/>
          </a:stretch>
        </p:blipFill>
        <p:spPr>
          <a:xfrm>
            <a:off x="737988" y="1481164"/>
            <a:ext cx="7741235" cy="34671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266"/>
        <p:cNvGrpSpPr/>
        <p:nvPr/>
      </p:nvGrpSpPr>
      <p:grpSpPr>
        <a:xfrm>
          <a:off x="0" y="0"/>
          <a:ext cx="0" cy="0"/>
          <a:chOff x="0" y="0"/>
          <a:chExt cx="0" cy="0"/>
        </a:xfrm>
      </p:grpSpPr>
      <p:sp>
        <p:nvSpPr>
          <p:cNvPr id="267" name="Google Shape;267;p9"/>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9"/>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9"/>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Memory: Short-term</a:t>
            </a:r>
            <a:endParaRPr sz="2200" b="0" i="0" u="none" strike="noStrike" cap="none">
              <a:solidFill>
                <a:schemeClr val="dk1"/>
              </a:solidFill>
              <a:latin typeface="Calibri"/>
              <a:ea typeface="Calibri"/>
              <a:cs typeface="Calibri"/>
              <a:sym typeface="Calibri"/>
            </a:endParaRPr>
          </a:p>
        </p:txBody>
      </p:sp>
      <p:sp>
        <p:nvSpPr>
          <p:cNvPr id="270" name="Google Shape;270;p9"/>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State, Checkpointers &amp; Context Management</a:t>
            </a:r>
            <a:endParaRPr sz="1000" b="0" i="0" u="none" strike="noStrike" cap="none">
              <a:solidFill>
                <a:schemeClr val="dk1"/>
              </a:solidFill>
              <a:latin typeface="Calibri"/>
              <a:ea typeface="Calibri"/>
              <a:cs typeface="Calibri"/>
              <a:sym typeface="Calibri"/>
            </a:endParaRPr>
          </a:p>
        </p:txBody>
      </p:sp>
      <p:sp>
        <p:nvSpPr>
          <p:cNvPr id="271" name="Google Shape;271;p9"/>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9"/>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 — Memory</a:t>
            </a:r>
            <a:endParaRPr sz="950" b="0" i="0" u="none" strike="noStrike" cap="none">
              <a:solidFill>
                <a:schemeClr val="dk1"/>
              </a:solidFill>
              <a:latin typeface="Calibri"/>
              <a:ea typeface="Calibri"/>
              <a:cs typeface="Calibri"/>
              <a:sym typeface="Calibri"/>
            </a:endParaRPr>
          </a:p>
        </p:txBody>
      </p:sp>
      <p:sp>
        <p:nvSpPr>
          <p:cNvPr id="273" name="Google Shape;273;p9"/>
          <p:cNvSpPr/>
          <p:nvPr/>
        </p:nvSpPr>
        <p:spPr>
          <a:xfrm>
            <a:off x="256032" y="969264"/>
            <a:ext cx="86319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b="0" i="0" u="none" strike="noStrike" cap="none">
                <a:solidFill>
                  <a:srgbClr val="475569"/>
                </a:solidFill>
                <a:latin typeface="Calibri"/>
                <a:ea typeface="Calibri"/>
                <a:cs typeface="Calibri"/>
                <a:sym typeface="Calibri"/>
              </a:rPr>
              <a:t>Short-term memory is the state that lives within a single conversation thread. LangGraph implements it through the State object and persists it via Checkpointers.</a:t>
            </a:r>
            <a:endParaRPr sz="1200" b="0" i="0" u="none" strike="noStrike" cap="none">
              <a:solidFill>
                <a:schemeClr val="dk1"/>
              </a:solidFill>
              <a:latin typeface="Calibri"/>
              <a:ea typeface="Calibri"/>
              <a:cs typeface="Calibri"/>
              <a:sym typeface="Calibri"/>
            </a:endParaRPr>
          </a:p>
        </p:txBody>
      </p:sp>
      <p:sp>
        <p:nvSpPr>
          <p:cNvPr id="274" name="Google Shape;274;p9"/>
          <p:cNvSpPr/>
          <p:nvPr/>
        </p:nvSpPr>
        <p:spPr>
          <a:xfrm>
            <a:off x="256032" y="1444752"/>
            <a:ext cx="4133088" cy="3547872"/>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9"/>
          <p:cNvSpPr/>
          <p:nvPr/>
        </p:nvSpPr>
        <p:spPr>
          <a:xfrm>
            <a:off x="256032" y="1444752"/>
            <a:ext cx="4133088" cy="402336"/>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9"/>
          <p:cNvSpPr/>
          <p:nvPr/>
        </p:nvSpPr>
        <p:spPr>
          <a:xfrm>
            <a:off x="256032" y="1444752"/>
            <a:ext cx="4133088"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How Short-term Memory Works</a:t>
            </a:r>
            <a:endParaRPr sz="1300" b="0" i="0" u="none" strike="noStrike" cap="none">
              <a:solidFill>
                <a:schemeClr val="dk1"/>
              </a:solidFill>
              <a:latin typeface="Calibri"/>
              <a:ea typeface="Calibri"/>
              <a:cs typeface="Calibri"/>
              <a:sym typeface="Calibri"/>
            </a:endParaRPr>
          </a:p>
        </p:txBody>
      </p:sp>
      <p:sp>
        <p:nvSpPr>
          <p:cNvPr id="277" name="Google Shape;277;p9"/>
          <p:cNvSpPr/>
          <p:nvPr/>
        </p:nvSpPr>
        <p:spPr>
          <a:xfrm>
            <a:off x="329184" y="1920240"/>
            <a:ext cx="3986784" cy="713232"/>
          </a:xfrm>
          <a:prstGeom prst="rect">
            <a:avLst/>
          </a:prstGeom>
          <a:solidFill>
            <a:srgbClr val="F4F6F9"/>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9"/>
          <p:cNvSpPr/>
          <p:nvPr/>
        </p:nvSpPr>
        <p:spPr>
          <a:xfrm>
            <a:off x="329184" y="1920240"/>
            <a:ext cx="512064" cy="713232"/>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9"/>
          <p:cNvSpPr/>
          <p:nvPr/>
        </p:nvSpPr>
        <p:spPr>
          <a:xfrm>
            <a:off x="329184" y="1920240"/>
            <a:ext cx="512064" cy="713232"/>
          </a:xfrm>
          <a:prstGeom prst="rect">
            <a:avLst/>
          </a:prstGeom>
          <a:noFill/>
          <a:ln>
            <a:noFill/>
          </a:ln>
        </p:spPr>
        <p:txBody>
          <a:bodyPr spcFirstLastPara="1" wrap="square" lIns="500" tIns="500" rIns="500" bIns="5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1. State schema</a:t>
            </a:r>
            <a:endParaRPr sz="800" b="0" i="0" u="none" strike="noStrike" cap="none">
              <a:solidFill>
                <a:schemeClr val="dk1"/>
              </a:solidFill>
              <a:latin typeface="Calibri"/>
              <a:ea typeface="Calibri"/>
              <a:cs typeface="Calibri"/>
              <a:sym typeface="Calibri"/>
            </a:endParaRPr>
          </a:p>
        </p:txBody>
      </p:sp>
      <p:sp>
        <p:nvSpPr>
          <p:cNvPr id="280" name="Google Shape;280;p9"/>
          <p:cNvSpPr/>
          <p:nvPr/>
        </p:nvSpPr>
        <p:spPr>
          <a:xfrm>
            <a:off x="896112" y="1975104"/>
            <a:ext cx="3346704"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Define a TypedDict with fields and reducers. The add_messages reducer appends messages instead of overwriting.</a:t>
            </a:r>
            <a:endParaRPr sz="1050" b="0" i="0" u="none" strike="noStrike" cap="none">
              <a:solidFill>
                <a:schemeClr val="dk1"/>
              </a:solidFill>
              <a:latin typeface="Calibri"/>
              <a:ea typeface="Calibri"/>
              <a:cs typeface="Calibri"/>
              <a:sym typeface="Calibri"/>
            </a:endParaRPr>
          </a:p>
        </p:txBody>
      </p:sp>
      <p:sp>
        <p:nvSpPr>
          <p:cNvPr id="281" name="Google Shape;281;p9"/>
          <p:cNvSpPr/>
          <p:nvPr/>
        </p:nvSpPr>
        <p:spPr>
          <a:xfrm>
            <a:off x="329184" y="2706624"/>
            <a:ext cx="3986784" cy="713232"/>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9"/>
          <p:cNvSpPr/>
          <p:nvPr/>
        </p:nvSpPr>
        <p:spPr>
          <a:xfrm>
            <a:off x="329184" y="2706624"/>
            <a:ext cx="512064" cy="713232"/>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9"/>
          <p:cNvSpPr/>
          <p:nvPr/>
        </p:nvSpPr>
        <p:spPr>
          <a:xfrm>
            <a:off x="329184" y="2706624"/>
            <a:ext cx="512064" cy="713232"/>
          </a:xfrm>
          <a:prstGeom prst="rect">
            <a:avLst/>
          </a:prstGeom>
          <a:noFill/>
          <a:ln>
            <a:noFill/>
          </a:ln>
        </p:spPr>
        <p:txBody>
          <a:bodyPr spcFirstLastPara="1" wrap="square" lIns="500" tIns="500" rIns="500" bIns="5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2. Checkpointer</a:t>
            </a:r>
            <a:endParaRPr sz="800" b="0" i="0" u="none" strike="noStrike" cap="none">
              <a:solidFill>
                <a:schemeClr val="dk1"/>
              </a:solidFill>
              <a:latin typeface="Calibri"/>
              <a:ea typeface="Calibri"/>
              <a:cs typeface="Calibri"/>
              <a:sym typeface="Calibri"/>
            </a:endParaRPr>
          </a:p>
        </p:txBody>
      </p:sp>
      <p:sp>
        <p:nvSpPr>
          <p:cNvPr id="284" name="Google Shape;284;p9"/>
          <p:cNvSpPr/>
          <p:nvPr/>
        </p:nvSpPr>
        <p:spPr>
          <a:xfrm>
            <a:off x="896112" y="2761488"/>
            <a:ext cx="3346704"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Compile the graph with a checkpointer. LangGraph auto-saves state after every super-step.</a:t>
            </a:r>
            <a:endParaRPr sz="1050" b="0" i="0" u="none" strike="noStrike" cap="none">
              <a:solidFill>
                <a:schemeClr val="dk1"/>
              </a:solidFill>
              <a:latin typeface="Calibri"/>
              <a:ea typeface="Calibri"/>
              <a:cs typeface="Calibri"/>
              <a:sym typeface="Calibri"/>
            </a:endParaRPr>
          </a:p>
        </p:txBody>
      </p:sp>
      <p:sp>
        <p:nvSpPr>
          <p:cNvPr id="285" name="Google Shape;285;p9"/>
          <p:cNvSpPr/>
          <p:nvPr/>
        </p:nvSpPr>
        <p:spPr>
          <a:xfrm>
            <a:off x="329184" y="3493008"/>
            <a:ext cx="3986784" cy="713232"/>
          </a:xfrm>
          <a:prstGeom prst="rect">
            <a:avLst/>
          </a:prstGeom>
          <a:solidFill>
            <a:srgbClr val="F4F6F9"/>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9"/>
          <p:cNvSpPr/>
          <p:nvPr/>
        </p:nvSpPr>
        <p:spPr>
          <a:xfrm>
            <a:off x="329184" y="3493008"/>
            <a:ext cx="512064" cy="713232"/>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9"/>
          <p:cNvSpPr/>
          <p:nvPr/>
        </p:nvSpPr>
        <p:spPr>
          <a:xfrm>
            <a:off x="329184" y="3493008"/>
            <a:ext cx="512064" cy="713232"/>
          </a:xfrm>
          <a:prstGeom prst="rect">
            <a:avLst/>
          </a:prstGeom>
          <a:noFill/>
          <a:ln>
            <a:noFill/>
          </a:ln>
        </p:spPr>
        <p:txBody>
          <a:bodyPr spcFirstLastPara="1" wrap="square" lIns="500" tIns="500" rIns="500" bIns="5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3. Thread ID</a:t>
            </a:r>
            <a:endParaRPr sz="800" b="0" i="0" u="none" strike="noStrike" cap="none">
              <a:solidFill>
                <a:schemeClr val="dk1"/>
              </a:solidFill>
              <a:latin typeface="Calibri"/>
              <a:ea typeface="Calibri"/>
              <a:cs typeface="Calibri"/>
              <a:sym typeface="Calibri"/>
            </a:endParaRPr>
          </a:p>
        </p:txBody>
      </p:sp>
      <p:sp>
        <p:nvSpPr>
          <p:cNvPr id="288" name="Google Shape;288;p9"/>
          <p:cNvSpPr/>
          <p:nvPr/>
        </p:nvSpPr>
        <p:spPr>
          <a:xfrm>
            <a:off x="896112" y="3547872"/>
            <a:ext cx="3346704"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Every conversation gets a unique thread_id. State is scoped to that thread — different users stay isolated.</a:t>
            </a:r>
            <a:endParaRPr sz="1050" b="0" i="0" u="none" strike="noStrike" cap="none">
              <a:solidFill>
                <a:schemeClr val="dk1"/>
              </a:solidFill>
              <a:latin typeface="Calibri"/>
              <a:ea typeface="Calibri"/>
              <a:cs typeface="Calibri"/>
              <a:sym typeface="Calibri"/>
            </a:endParaRPr>
          </a:p>
        </p:txBody>
      </p:sp>
      <p:sp>
        <p:nvSpPr>
          <p:cNvPr id="289" name="Google Shape;289;p9"/>
          <p:cNvSpPr/>
          <p:nvPr/>
        </p:nvSpPr>
        <p:spPr>
          <a:xfrm>
            <a:off x="329184" y="4279392"/>
            <a:ext cx="3986784" cy="713232"/>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9"/>
          <p:cNvSpPr/>
          <p:nvPr/>
        </p:nvSpPr>
        <p:spPr>
          <a:xfrm>
            <a:off x="329184" y="4279392"/>
            <a:ext cx="512064" cy="713232"/>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9"/>
          <p:cNvSpPr/>
          <p:nvPr/>
        </p:nvSpPr>
        <p:spPr>
          <a:xfrm>
            <a:off x="329184" y="4279392"/>
            <a:ext cx="512064" cy="713232"/>
          </a:xfrm>
          <a:prstGeom prst="rect">
            <a:avLst/>
          </a:prstGeom>
          <a:noFill/>
          <a:ln>
            <a:noFill/>
          </a:ln>
        </p:spPr>
        <p:txBody>
          <a:bodyPr spcFirstLastPara="1" wrap="square" lIns="500" tIns="500" rIns="500" bIns="5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4. Resume</a:t>
            </a:r>
            <a:endParaRPr sz="800" b="0" i="0" u="none" strike="noStrike" cap="none">
              <a:solidFill>
                <a:schemeClr val="dk1"/>
              </a:solidFill>
              <a:latin typeface="Calibri"/>
              <a:ea typeface="Calibri"/>
              <a:cs typeface="Calibri"/>
              <a:sym typeface="Calibri"/>
            </a:endParaRPr>
          </a:p>
        </p:txBody>
      </p:sp>
      <p:sp>
        <p:nvSpPr>
          <p:cNvPr id="292" name="Google Shape;292;p9"/>
          <p:cNvSpPr/>
          <p:nvPr/>
        </p:nvSpPr>
        <p:spPr>
          <a:xfrm>
            <a:off x="896112" y="4334256"/>
            <a:ext cx="3346704"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Provide the same thread_id on the next call. The graph resumes from the last saved checkpoint.</a:t>
            </a:r>
            <a:endParaRPr sz="1050" b="0" i="0" u="none" strike="noStrike" cap="none">
              <a:solidFill>
                <a:schemeClr val="dk1"/>
              </a:solidFill>
              <a:latin typeface="Calibri"/>
              <a:ea typeface="Calibri"/>
              <a:cs typeface="Calibri"/>
              <a:sym typeface="Calibri"/>
            </a:endParaRPr>
          </a:p>
        </p:txBody>
      </p:sp>
      <p:sp>
        <p:nvSpPr>
          <p:cNvPr id="293" name="Google Shape;293;p9"/>
          <p:cNvSpPr/>
          <p:nvPr/>
        </p:nvSpPr>
        <p:spPr>
          <a:xfrm>
            <a:off x="4572000" y="1444752"/>
            <a:ext cx="4315968" cy="3547872"/>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9"/>
          <p:cNvSpPr/>
          <p:nvPr/>
        </p:nvSpPr>
        <p:spPr>
          <a:xfrm>
            <a:off x="4572000" y="1444752"/>
            <a:ext cx="4315968" cy="402336"/>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9"/>
          <p:cNvSpPr/>
          <p:nvPr/>
        </p:nvSpPr>
        <p:spPr>
          <a:xfrm>
            <a:off x="4572000" y="1444752"/>
            <a:ext cx="4315968"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Managing Context Window Growth</a:t>
            </a:r>
            <a:endParaRPr sz="1300" b="0" i="0" u="none" strike="noStrike" cap="none">
              <a:solidFill>
                <a:schemeClr val="dk1"/>
              </a:solidFill>
              <a:latin typeface="Calibri"/>
              <a:ea typeface="Calibri"/>
              <a:cs typeface="Calibri"/>
              <a:sym typeface="Calibri"/>
            </a:endParaRPr>
          </a:p>
        </p:txBody>
      </p:sp>
      <p:sp>
        <p:nvSpPr>
          <p:cNvPr id="296" name="Google Shape;296;p9"/>
          <p:cNvSpPr/>
          <p:nvPr/>
        </p:nvSpPr>
        <p:spPr>
          <a:xfrm>
            <a:off x="4663440" y="1883664"/>
            <a:ext cx="413308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Long conversations can exceed the LLM's context window. LangGraph provides built-in strategies to keep state lean:</a:t>
            </a:r>
            <a:endParaRPr sz="1100" b="0" i="0" u="none" strike="noStrike" cap="none">
              <a:solidFill>
                <a:schemeClr val="dk1"/>
              </a:solidFill>
              <a:latin typeface="Calibri"/>
              <a:ea typeface="Calibri"/>
              <a:cs typeface="Calibri"/>
              <a:sym typeface="Calibri"/>
            </a:endParaRPr>
          </a:p>
        </p:txBody>
      </p:sp>
      <p:sp>
        <p:nvSpPr>
          <p:cNvPr id="297" name="Google Shape;297;p9"/>
          <p:cNvSpPr/>
          <p:nvPr/>
        </p:nvSpPr>
        <p:spPr>
          <a:xfrm>
            <a:off x="4645152" y="2432304"/>
            <a:ext cx="4169664" cy="804672"/>
          </a:xfrm>
          <a:prstGeom prst="rect">
            <a:avLst/>
          </a:prstGeom>
          <a:solidFill>
            <a:srgbClr val="F4F6F9"/>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p:nvPr/>
        </p:nvSpPr>
        <p:spPr>
          <a:xfrm>
            <a:off x="4645152" y="2432304"/>
            <a:ext cx="54864" cy="804672"/>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9"/>
          <p:cNvSpPr/>
          <p:nvPr/>
        </p:nvSpPr>
        <p:spPr>
          <a:xfrm>
            <a:off x="4754880" y="2487168"/>
            <a:ext cx="3931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50"/>
              <a:buFont typeface="Calibri"/>
              <a:buNone/>
            </a:pPr>
            <a:r>
              <a:rPr lang="en-US" sz="1150" b="1" i="0" u="none" strike="noStrike" cap="none">
                <a:solidFill>
                  <a:srgbClr val="1E293B"/>
                </a:solidFill>
                <a:latin typeface="Calibri"/>
                <a:ea typeface="Calibri"/>
                <a:cs typeface="Calibri"/>
                <a:sym typeface="Calibri"/>
              </a:rPr>
              <a:t>Message Trimming</a:t>
            </a:r>
            <a:endParaRPr sz="1150" b="0" i="0" u="none" strike="noStrike" cap="none">
              <a:solidFill>
                <a:schemeClr val="dk1"/>
              </a:solidFill>
              <a:latin typeface="Calibri"/>
              <a:ea typeface="Calibri"/>
              <a:cs typeface="Calibri"/>
              <a:sym typeface="Calibri"/>
            </a:endParaRPr>
          </a:p>
        </p:txBody>
      </p:sp>
      <p:sp>
        <p:nvSpPr>
          <p:cNvPr id="300" name="Google Shape;300;p9"/>
          <p:cNvSpPr/>
          <p:nvPr/>
        </p:nvSpPr>
        <p:spPr>
          <a:xfrm>
            <a:off x="4754880" y="2779776"/>
            <a:ext cx="393192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Keep only the last N messages. Older messages are discarded. Fast and simple but loses older context. Best for real-time chatbots.</a:t>
            </a:r>
            <a:endParaRPr sz="1000" b="0" i="0" u="none" strike="noStrike" cap="none">
              <a:solidFill>
                <a:schemeClr val="dk1"/>
              </a:solidFill>
              <a:latin typeface="Calibri"/>
              <a:ea typeface="Calibri"/>
              <a:cs typeface="Calibri"/>
              <a:sym typeface="Calibri"/>
            </a:endParaRPr>
          </a:p>
        </p:txBody>
      </p:sp>
      <p:sp>
        <p:nvSpPr>
          <p:cNvPr id="301" name="Google Shape;301;p9"/>
          <p:cNvSpPr/>
          <p:nvPr/>
        </p:nvSpPr>
        <p:spPr>
          <a:xfrm>
            <a:off x="4645152" y="3310128"/>
            <a:ext cx="4169664" cy="804672"/>
          </a:xfrm>
          <a:prstGeom prst="rect">
            <a:avLst/>
          </a:prstGeom>
          <a:solidFill>
            <a:srgbClr val="E8EDF5"/>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p:nvPr/>
        </p:nvSpPr>
        <p:spPr>
          <a:xfrm>
            <a:off x="4645152" y="3310128"/>
            <a:ext cx="54864" cy="804672"/>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9"/>
          <p:cNvSpPr/>
          <p:nvPr/>
        </p:nvSpPr>
        <p:spPr>
          <a:xfrm>
            <a:off x="4754880" y="3364992"/>
            <a:ext cx="3931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50"/>
              <a:buFont typeface="Calibri"/>
              <a:buNone/>
            </a:pPr>
            <a:r>
              <a:rPr lang="en-US" sz="1150" b="1" i="0" u="none" strike="noStrike" cap="none">
                <a:solidFill>
                  <a:srgbClr val="1E293B"/>
                </a:solidFill>
                <a:latin typeface="Calibri"/>
                <a:ea typeface="Calibri"/>
                <a:cs typeface="Calibri"/>
                <a:sym typeface="Calibri"/>
              </a:rPr>
              <a:t>Summarisation</a:t>
            </a:r>
            <a:endParaRPr sz="1150" b="0" i="0" u="none" strike="noStrike" cap="none">
              <a:solidFill>
                <a:schemeClr val="dk1"/>
              </a:solidFill>
              <a:latin typeface="Calibri"/>
              <a:ea typeface="Calibri"/>
              <a:cs typeface="Calibri"/>
              <a:sym typeface="Calibri"/>
            </a:endParaRPr>
          </a:p>
        </p:txBody>
      </p:sp>
      <p:sp>
        <p:nvSpPr>
          <p:cNvPr id="304" name="Google Shape;304;p9"/>
          <p:cNvSpPr/>
          <p:nvPr/>
        </p:nvSpPr>
        <p:spPr>
          <a:xfrm>
            <a:off x="4754880" y="3657600"/>
            <a:ext cx="393192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An LLM compresses older messages into a concise summary that replaces them. Preserves meaning while reducing tokens. Best for long tasks.</a:t>
            </a:r>
            <a:endParaRPr sz="1000" b="0" i="0" u="none" strike="noStrike" cap="none">
              <a:solidFill>
                <a:schemeClr val="dk1"/>
              </a:solidFill>
              <a:latin typeface="Calibri"/>
              <a:ea typeface="Calibri"/>
              <a:cs typeface="Calibri"/>
              <a:sym typeface="Calibri"/>
            </a:endParaRPr>
          </a:p>
        </p:txBody>
      </p:sp>
      <p:sp>
        <p:nvSpPr>
          <p:cNvPr id="305" name="Google Shape;305;p9"/>
          <p:cNvSpPr/>
          <p:nvPr/>
        </p:nvSpPr>
        <p:spPr>
          <a:xfrm>
            <a:off x="4645152" y="4187952"/>
            <a:ext cx="4169664" cy="804672"/>
          </a:xfrm>
          <a:prstGeom prst="rect">
            <a:avLst/>
          </a:prstGeom>
          <a:solidFill>
            <a:srgbClr val="F4F6F9"/>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a:off x="4645152" y="4187952"/>
            <a:ext cx="54864" cy="804672"/>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a:off x="4754880" y="4242816"/>
            <a:ext cx="3931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50"/>
              <a:buFont typeface="Calibri"/>
              <a:buNone/>
            </a:pPr>
            <a:r>
              <a:rPr lang="en-US" sz="1150" b="1" i="0" u="none" strike="noStrike" cap="none">
                <a:solidFill>
                  <a:srgbClr val="1E293B"/>
                </a:solidFill>
                <a:latin typeface="Calibri"/>
                <a:ea typeface="Calibri"/>
                <a:cs typeface="Calibri"/>
                <a:sym typeface="Calibri"/>
              </a:rPr>
              <a:t>Selective Retention</a:t>
            </a:r>
            <a:endParaRPr sz="1150" b="0" i="0" u="none" strike="noStrike" cap="none">
              <a:solidFill>
                <a:schemeClr val="dk1"/>
              </a:solidFill>
              <a:latin typeface="Calibri"/>
              <a:ea typeface="Calibri"/>
              <a:cs typeface="Calibri"/>
              <a:sym typeface="Calibri"/>
            </a:endParaRPr>
          </a:p>
        </p:txBody>
      </p:sp>
      <p:sp>
        <p:nvSpPr>
          <p:cNvPr id="308" name="Google Shape;308;p9"/>
          <p:cNvSpPr/>
          <p:nvPr/>
        </p:nvSpPr>
        <p:spPr>
          <a:xfrm>
            <a:off x="4754880" y="4535424"/>
            <a:ext cx="393192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The agent decides which facts are important enough to keep and explicitly stores them. Everything else can be dropped.</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313"/>
        <p:cNvGrpSpPr/>
        <p:nvPr/>
      </p:nvGrpSpPr>
      <p:grpSpPr>
        <a:xfrm>
          <a:off x="0" y="0"/>
          <a:ext cx="0" cy="0"/>
          <a:chOff x="0" y="0"/>
          <a:chExt cx="0" cy="0"/>
        </a:xfrm>
      </p:grpSpPr>
      <p:sp>
        <p:nvSpPr>
          <p:cNvPr id="314" name="Google Shape;314;p10"/>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0"/>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0"/>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Memory: Long-term</a:t>
            </a:r>
            <a:endParaRPr sz="2200" b="0" i="0" u="none" strike="noStrike" cap="none">
              <a:solidFill>
                <a:schemeClr val="dk1"/>
              </a:solidFill>
              <a:latin typeface="Calibri"/>
              <a:ea typeface="Calibri"/>
              <a:cs typeface="Calibri"/>
              <a:sym typeface="Calibri"/>
            </a:endParaRPr>
          </a:p>
        </p:txBody>
      </p:sp>
      <p:sp>
        <p:nvSpPr>
          <p:cNvPr id="317" name="Google Shape;317;p10"/>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Semantic · Episodic · Procedural — across sessions</a:t>
            </a:r>
            <a:endParaRPr sz="1000" b="0" i="0" u="none" strike="noStrike" cap="none">
              <a:solidFill>
                <a:schemeClr val="dk1"/>
              </a:solidFill>
              <a:latin typeface="Calibri"/>
              <a:ea typeface="Calibri"/>
              <a:cs typeface="Calibri"/>
              <a:sym typeface="Calibri"/>
            </a:endParaRPr>
          </a:p>
        </p:txBody>
      </p:sp>
      <p:sp>
        <p:nvSpPr>
          <p:cNvPr id="318" name="Google Shape;318;p10"/>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0"/>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 — Memory</a:t>
            </a:r>
            <a:endParaRPr sz="950" b="0" i="0" u="none" strike="noStrike" cap="none">
              <a:solidFill>
                <a:schemeClr val="dk1"/>
              </a:solidFill>
              <a:latin typeface="Calibri"/>
              <a:ea typeface="Calibri"/>
              <a:cs typeface="Calibri"/>
              <a:sym typeface="Calibri"/>
            </a:endParaRPr>
          </a:p>
        </p:txBody>
      </p:sp>
      <p:sp>
        <p:nvSpPr>
          <p:cNvPr id="320" name="Google Shape;320;p10"/>
          <p:cNvSpPr/>
          <p:nvPr/>
        </p:nvSpPr>
        <p:spPr>
          <a:xfrm>
            <a:off x="256032" y="969264"/>
            <a:ext cx="86319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b="0" i="0" u="none" strike="noStrike" cap="none">
                <a:solidFill>
                  <a:srgbClr val="475569"/>
                </a:solidFill>
                <a:latin typeface="Calibri"/>
                <a:ea typeface="Calibri"/>
                <a:cs typeface="Calibri"/>
                <a:sym typeface="Calibri"/>
              </a:rPr>
              <a:t>Long-term memory persists across sessions using the LangGraph Store — a namespaced key-value database. It mirrors three types of human memory from cognitive science.</a:t>
            </a:r>
            <a:endParaRPr sz="1200" b="0" i="0" u="none" strike="noStrike" cap="none">
              <a:solidFill>
                <a:schemeClr val="dk1"/>
              </a:solidFill>
              <a:latin typeface="Calibri"/>
              <a:ea typeface="Calibri"/>
              <a:cs typeface="Calibri"/>
              <a:sym typeface="Calibri"/>
            </a:endParaRPr>
          </a:p>
        </p:txBody>
      </p:sp>
      <p:sp>
        <p:nvSpPr>
          <p:cNvPr id="321" name="Google Shape;321;p10"/>
          <p:cNvSpPr/>
          <p:nvPr/>
        </p:nvSpPr>
        <p:spPr>
          <a:xfrm>
            <a:off x="256032" y="1444752"/>
            <a:ext cx="2816352" cy="36576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0"/>
          <p:cNvSpPr/>
          <p:nvPr/>
        </p:nvSpPr>
        <p:spPr>
          <a:xfrm>
            <a:off x="256032" y="1444752"/>
            <a:ext cx="2816352" cy="457200"/>
          </a:xfrm>
          <a:prstGeom prst="rect">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0"/>
          <p:cNvSpPr/>
          <p:nvPr/>
        </p:nvSpPr>
        <p:spPr>
          <a:xfrm>
            <a:off x="256032" y="1444752"/>
            <a:ext cx="281635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Semantic </a:t>
            </a:r>
            <a:endParaRPr sz="1200" b="0" i="0" u="none" strike="noStrike" cap="none">
              <a:solidFill>
                <a:schemeClr val="dk1"/>
              </a:solidFill>
              <a:latin typeface="Calibri"/>
              <a:ea typeface="Calibri"/>
              <a:cs typeface="Calibri"/>
              <a:sym typeface="Calibri"/>
            </a:endParaRPr>
          </a:p>
        </p:txBody>
      </p:sp>
      <p:sp>
        <p:nvSpPr>
          <p:cNvPr id="324" name="Google Shape;324;p10"/>
          <p:cNvSpPr/>
          <p:nvPr/>
        </p:nvSpPr>
        <p:spPr>
          <a:xfrm>
            <a:off x="347472" y="1956816"/>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000"/>
              <a:buFont typeface="Calibri"/>
              <a:buNone/>
            </a:pPr>
            <a:r>
              <a:rPr lang="en-US" sz="1000" b="1" i="0" u="none" strike="noStrike" cap="none">
                <a:solidFill>
                  <a:srgbClr val="1D4ED8"/>
                </a:solidFill>
                <a:latin typeface="Calibri"/>
                <a:ea typeface="Calibri"/>
                <a:cs typeface="Calibri"/>
                <a:sym typeface="Calibri"/>
              </a:rPr>
              <a:t>What:</a:t>
            </a:r>
            <a:endParaRPr sz="1000" b="0" i="0" u="none" strike="noStrike" cap="none">
              <a:solidFill>
                <a:schemeClr val="dk1"/>
              </a:solidFill>
              <a:latin typeface="Calibri"/>
              <a:ea typeface="Calibri"/>
              <a:cs typeface="Calibri"/>
              <a:sym typeface="Calibri"/>
            </a:endParaRPr>
          </a:p>
        </p:txBody>
      </p:sp>
      <p:sp>
        <p:nvSpPr>
          <p:cNvPr id="325" name="Google Shape;325;p10"/>
          <p:cNvSpPr/>
          <p:nvPr/>
        </p:nvSpPr>
        <p:spPr>
          <a:xfrm>
            <a:off x="347472" y="2139696"/>
            <a:ext cx="267919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Stores facts, concepts, and knowledge about users or domains.</a:t>
            </a:r>
            <a:endParaRPr sz="1050" b="0" i="0" u="none" strike="noStrike" cap="none">
              <a:solidFill>
                <a:schemeClr val="dk1"/>
              </a:solidFill>
              <a:latin typeface="Calibri"/>
              <a:ea typeface="Calibri"/>
              <a:cs typeface="Calibri"/>
              <a:sym typeface="Calibri"/>
            </a:endParaRPr>
          </a:p>
        </p:txBody>
      </p:sp>
      <p:sp>
        <p:nvSpPr>
          <p:cNvPr id="326" name="Google Shape;326;p10"/>
          <p:cNvSpPr/>
          <p:nvPr/>
        </p:nvSpPr>
        <p:spPr>
          <a:xfrm>
            <a:off x="347472" y="2505456"/>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000"/>
              <a:buFont typeface="Calibri"/>
              <a:buNone/>
            </a:pPr>
            <a:r>
              <a:rPr lang="en-US" sz="1000" b="1" i="0" u="none" strike="noStrike" cap="none">
                <a:solidFill>
                  <a:srgbClr val="1D4ED8"/>
                </a:solidFill>
                <a:latin typeface="Calibri"/>
                <a:ea typeface="Calibri"/>
                <a:cs typeface="Calibri"/>
                <a:sym typeface="Calibri"/>
              </a:rPr>
              <a:t>Examples:</a:t>
            </a:r>
            <a:endParaRPr sz="1000" b="0" i="0" u="none" strike="noStrike" cap="none">
              <a:solidFill>
                <a:schemeClr val="dk1"/>
              </a:solidFill>
              <a:latin typeface="Calibri"/>
              <a:ea typeface="Calibri"/>
              <a:cs typeface="Calibri"/>
              <a:sym typeface="Calibri"/>
            </a:endParaRPr>
          </a:p>
        </p:txBody>
      </p:sp>
      <p:sp>
        <p:nvSpPr>
          <p:cNvPr id="327" name="Google Shape;327;p10"/>
          <p:cNvSpPr/>
          <p:nvPr/>
        </p:nvSpPr>
        <p:spPr>
          <a:xfrm>
            <a:off x="365760" y="2715768"/>
            <a:ext cx="91440" cy="91440"/>
          </a:xfrm>
          <a:prstGeom prst="ellipse">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a:off x="512064" y="2697480"/>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User preferences &amp; profile</a:t>
            </a:r>
            <a:endParaRPr sz="1000" b="0" i="0" u="none" strike="noStrike" cap="none">
              <a:solidFill>
                <a:schemeClr val="dk1"/>
              </a:solidFill>
              <a:latin typeface="Calibri"/>
              <a:ea typeface="Calibri"/>
              <a:cs typeface="Calibri"/>
              <a:sym typeface="Calibri"/>
            </a:endParaRPr>
          </a:p>
        </p:txBody>
      </p:sp>
      <p:sp>
        <p:nvSpPr>
          <p:cNvPr id="329" name="Google Shape;329;p10"/>
          <p:cNvSpPr/>
          <p:nvPr/>
        </p:nvSpPr>
        <p:spPr>
          <a:xfrm>
            <a:off x="365760" y="2971800"/>
            <a:ext cx="91440" cy="91440"/>
          </a:xfrm>
          <a:prstGeom prst="ellipse">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p:nvPr/>
        </p:nvSpPr>
        <p:spPr>
          <a:xfrm>
            <a:off x="512064" y="2953512"/>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Company-specific knowledge</a:t>
            </a:r>
            <a:endParaRPr sz="1000" b="0" i="0" u="none" strike="noStrike" cap="none">
              <a:solidFill>
                <a:schemeClr val="dk1"/>
              </a:solidFill>
              <a:latin typeface="Calibri"/>
              <a:ea typeface="Calibri"/>
              <a:cs typeface="Calibri"/>
              <a:sym typeface="Calibri"/>
            </a:endParaRPr>
          </a:p>
        </p:txBody>
      </p:sp>
      <p:sp>
        <p:nvSpPr>
          <p:cNvPr id="331" name="Google Shape;331;p10"/>
          <p:cNvSpPr/>
          <p:nvPr/>
        </p:nvSpPr>
        <p:spPr>
          <a:xfrm>
            <a:off x="365760" y="3227832"/>
            <a:ext cx="91440" cy="91440"/>
          </a:xfrm>
          <a:prstGeom prst="ellipse">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0"/>
          <p:cNvSpPr/>
          <p:nvPr/>
        </p:nvSpPr>
        <p:spPr>
          <a:xfrm>
            <a:off x="512064" y="3209544"/>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Domain facts &amp; entity data</a:t>
            </a:r>
            <a:endParaRPr sz="1000" b="0" i="0" u="none" strike="noStrike" cap="none">
              <a:solidFill>
                <a:schemeClr val="dk1"/>
              </a:solidFill>
              <a:latin typeface="Calibri"/>
              <a:ea typeface="Calibri"/>
              <a:cs typeface="Calibri"/>
              <a:sym typeface="Calibri"/>
            </a:endParaRPr>
          </a:p>
        </p:txBody>
      </p:sp>
      <p:sp>
        <p:nvSpPr>
          <p:cNvPr id="333" name="Google Shape;333;p10"/>
          <p:cNvSpPr/>
          <p:nvPr/>
        </p:nvSpPr>
        <p:spPr>
          <a:xfrm>
            <a:off x="347472" y="3493008"/>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4ED8"/>
              </a:buClr>
              <a:buSzPts val="1000"/>
              <a:buFont typeface="Calibri"/>
              <a:buNone/>
            </a:pPr>
            <a:r>
              <a:rPr lang="en-US" sz="1000" b="1" i="0" u="none" strike="noStrike" cap="none">
                <a:solidFill>
                  <a:srgbClr val="1D4ED8"/>
                </a:solidFill>
                <a:latin typeface="Calibri"/>
                <a:ea typeface="Calibri"/>
                <a:cs typeface="Calibri"/>
                <a:sym typeface="Calibri"/>
              </a:rPr>
              <a:t>How stored:</a:t>
            </a:r>
            <a:endParaRPr sz="1000" b="0" i="0" u="none" strike="noStrike" cap="none">
              <a:solidFill>
                <a:schemeClr val="dk1"/>
              </a:solidFill>
              <a:latin typeface="Calibri"/>
              <a:ea typeface="Calibri"/>
              <a:cs typeface="Calibri"/>
              <a:sym typeface="Calibri"/>
            </a:endParaRPr>
          </a:p>
        </p:txBody>
      </p:sp>
      <p:sp>
        <p:nvSpPr>
          <p:cNvPr id="334" name="Google Shape;334;p10"/>
          <p:cNvSpPr/>
          <p:nvPr/>
        </p:nvSpPr>
        <p:spPr>
          <a:xfrm>
            <a:off x="347472" y="3675888"/>
            <a:ext cx="267919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b="0" i="0" u="none" strike="noStrike" cap="none">
                <a:solidFill>
                  <a:srgbClr val="475569"/>
                </a:solidFill>
                <a:latin typeface="Calibri"/>
                <a:ea typeface="Calibri"/>
                <a:cs typeface="Calibri"/>
                <a:sym typeface="Calibri"/>
              </a:rPr>
              <a:t>Stored as a Profile (single JSON updated over time) or a Collection (many independent documents retrieved by semantic search).</a:t>
            </a:r>
            <a:endParaRPr sz="950" b="0" i="0" u="none" strike="noStrike" cap="none">
              <a:solidFill>
                <a:schemeClr val="dk1"/>
              </a:solidFill>
              <a:latin typeface="Calibri"/>
              <a:ea typeface="Calibri"/>
              <a:cs typeface="Calibri"/>
              <a:sym typeface="Calibri"/>
            </a:endParaRPr>
          </a:p>
        </p:txBody>
      </p:sp>
      <p:sp>
        <p:nvSpPr>
          <p:cNvPr id="335" name="Google Shape;335;p10"/>
          <p:cNvSpPr/>
          <p:nvPr/>
        </p:nvSpPr>
        <p:spPr>
          <a:xfrm>
            <a:off x="256032" y="4773168"/>
            <a:ext cx="2816352" cy="292608"/>
          </a:xfrm>
          <a:prstGeom prst="rect">
            <a:avLst/>
          </a:prstGeom>
          <a:solidFill>
            <a:srgbClr val="1D4ED8">
              <a:alpha val="1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0"/>
          <p:cNvSpPr/>
          <p:nvPr/>
        </p:nvSpPr>
        <p:spPr>
          <a:xfrm>
            <a:off x="329184" y="4773168"/>
            <a:ext cx="272491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US" sz="900" b="0" i="1" u="none" strike="noStrike" cap="none">
                <a:solidFill>
                  <a:srgbClr val="1E293B"/>
                </a:solidFill>
                <a:latin typeface="Calibri"/>
                <a:ea typeface="Calibri"/>
                <a:cs typeface="Calibri"/>
                <a:sym typeface="Calibri"/>
              </a:rPr>
              <a:t>Like remembering 'Paris is the capital of France'</a:t>
            </a:r>
            <a:endParaRPr sz="900" b="0" i="0" u="none" strike="noStrike" cap="none">
              <a:solidFill>
                <a:schemeClr val="dk1"/>
              </a:solidFill>
              <a:latin typeface="Calibri"/>
              <a:ea typeface="Calibri"/>
              <a:cs typeface="Calibri"/>
              <a:sym typeface="Calibri"/>
            </a:endParaRPr>
          </a:p>
        </p:txBody>
      </p:sp>
      <p:sp>
        <p:nvSpPr>
          <p:cNvPr id="337" name="Google Shape;337;p10"/>
          <p:cNvSpPr/>
          <p:nvPr/>
        </p:nvSpPr>
        <p:spPr>
          <a:xfrm>
            <a:off x="3145536" y="1444752"/>
            <a:ext cx="2816352" cy="36576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0"/>
          <p:cNvSpPr/>
          <p:nvPr/>
        </p:nvSpPr>
        <p:spPr>
          <a:xfrm>
            <a:off x="3145536" y="1444752"/>
            <a:ext cx="2816352" cy="457200"/>
          </a:xfrm>
          <a:prstGeom prst="rect">
            <a:avLst/>
          </a:prstGeom>
          <a:solidFill>
            <a:srgbClr val="C24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0"/>
          <p:cNvSpPr/>
          <p:nvPr/>
        </p:nvSpPr>
        <p:spPr>
          <a:xfrm>
            <a:off x="3145536" y="1444752"/>
            <a:ext cx="281635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Episodic </a:t>
            </a:r>
            <a:endParaRPr sz="1200" b="0" i="0" u="none" strike="noStrike" cap="none">
              <a:solidFill>
                <a:schemeClr val="dk1"/>
              </a:solidFill>
              <a:latin typeface="Calibri"/>
              <a:ea typeface="Calibri"/>
              <a:cs typeface="Calibri"/>
              <a:sym typeface="Calibri"/>
            </a:endParaRPr>
          </a:p>
        </p:txBody>
      </p:sp>
      <p:sp>
        <p:nvSpPr>
          <p:cNvPr id="340" name="Google Shape;340;p10"/>
          <p:cNvSpPr/>
          <p:nvPr/>
        </p:nvSpPr>
        <p:spPr>
          <a:xfrm>
            <a:off x="3236976" y="1956816"/>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2410C"/>
              </a:buClr>
              <a:buSzPts val="1000"/>
              <a:buFont typeface="Calibri"/>
              <a:buNone/>
            </a:pPr>
            <a:r>
              <a:rPr lang="en-US" sz="1000" b="1" i="0" u="none" strike="noStrike" cap="none">
                <a:solidFill>
                  <a:srgbClr val="C2410C"/>
                </a:solidFill>
                <a:latin typeface="Calibri"/>
                <a:ea typeface="Calibri"/>
                <a:cs typeface="Calibri"/>
                <a:sym typeface="Calibri"/>
              </a:rPr>
              <a:t>What:</a:t>
            </a:r>
            <a:endParaRPr sz="1000" b="0" i="0" u="none" strike="noStrike" cap="none">
              <a:solidFill>
                <a:schemeClr val="dk1"/>
              </a:solidFill>
              <a:latin typeface="Calibri"/>
              <a:ea typeface="Calibri"/>
              <a:cs typeface="Calibri"/>
              <a:sym typeface="Calibri"/>
            </a:endParaRPr>
          </a:p>
        </p:txBody>
      </p:sp>
      <p:sp>
        <p:nvSpPr>
          <p:cNvPr id="341" name="Google Shape;341;p10"/>
          <p:cNvSpPr/>
          <p:nvPr/>
        </p:nvSpPr>
        <p:spPr>
          <a:xfrm>
            <a:off x="3236976" y="2139696"/>
            <a:ext cx="267919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Stores records of past experiences, actions, and task executions.</a:t>
            </a:r>
            <a:endParaRPr sz="1050" b="0" i="0" u="none" strike="noStrike" cap="none">
              <a:solidFill>
                <a:schemeClr val="dk1"/>
              </a:solidFill>
              <a:latin typeface="Calibri"/>
              <a:ea typeface="Calibri"/>
              <a:cs typeface="Calibri"/>
              <a:sym typeface="Calibri"/>
            </a:endParaRPr>
          </a:p>
        </p:txBody>
      </p:sp>
      <p:sp>
        <p:nvSpPr>
          <p:cNvPr id="342" name="Google Shape;342;p10"/>
          <p:cNvSpPr/>
          <p:nvPr/>
        </p:nvSpPr>
        <p:spPr>
          <a:xfrm>
            <a:off x="3236976" y="2505456"/>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2410C"/>
              </a:buClr>
              <a:buSzPts val="1000"/>
              <a:buFont typeface="Calibri"/>
              <a:buNone/>
            </a:pPr>
            <a:r>
              <a:rPr lang="en-US" sz="1000" b="1" i="0" u="none" strike="noStrike" cap="none">
                <a:solidFill>
                  <a:srgbClr val="C2410C"/>
                </a:solidFill>
                <a:latin typeface="Calibri"/>
                <a:ea typeface="Calibri"/>
                <a:cs typeface="Calibri"/>
                <a:sym typeface="Calibri"/>
              </a:rPr>
              <a:t>Examples:</a:t>
            </a:r>
            <a:endParaRPr sz="1000" b="0" i="0" u="none" strike="noStrike" cap="none">
              <a:solidFill>
                <a:schemeClr val="dk1"/>
              </a:solidFill>
              <a:latin typeface="Calibri"/>
              <a:ea typeface="Calibri"/>
              <a:cs typeface="Calibri"/>
              <a:sym typeface="Calibri"/>
            </a:endParaRPr>
          </a:p>
        </p:txBody>
      </p:sp>
      <p:sp>
        <p:nvSpPr>
          <p:cNvPr id="343" name="Google Shape;343;p10"/>
          <p:cNvSpPr/>
          <p:nvPr/>
        </p:nvSpPr>
        <p:spPr>
          <a:xfrm>
            <a:off x="3255264" y="2715768"/>
            <a:ext cx="91440" cy="91440"/>
          </a:xfrm>
          <a:prstGeom prst="ellipse">
            <a:avLst/>
          </a:prstGeom>
          <a:solidFill>
            <a:srgbClr val="C24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0"/>
          <p:cNvSpPr/>
          <p:nvPr/>
        </p:nvSpPr>
        <p:spPr>
          <a:xfrm>
            <a:off x="3401568" y="2697480"/>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Past agent task history</a:t>
            </a:r>
            <a:endParaRPr sz="1000" b="0" i="0" u="none" strike="noStrike" cap="none">
              <a:solidFill>
                <a:schemeClr val="dk1"/>
              </a:solidFill>
              <a:latin typeface="Calibri"/>
              <a:ea typeface="Calibri"/>
              <a:cs typeface="Calibri"/>
              <a:sym typeface="Calibri"/>
            </a:endParaRPr>
          </a:p>
        </p:txBody>
      </p:sp>
      <p:sp>
        <p:nvSpPr>
          <p:cNvPr id="345" name="Google Shape;345;p10"/>
          <p:cNvSpPr/>
          <p:nvPr/>
        </p:nvSpPr>
        <p:spPr>
          <a:xfrm>
            <a:off x="3255264" y="2971800"/>
            <a:ext cx="91440" cy="91440"/>
          </a:xfrm>
          <a:prstGeom prst="ellipse">
            <a:avLst/>
          </a:prstGeom>
          <a:solidFill>
            <a:srgbClr val="C24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0"/>
          <p:cNvSpPr/>
          <p:nvPr/>
        </p:nvSpPr>
        <p:spPr>
          <a:xfrm>
            <a:off x="3401568" y="2953512"/>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Few-shot success examples</a:t>
            </a:r>
            <a:endParaRPr sz="1000" b="0" i="0" u="none" strike="noStrike" cap="none">
              <a:solidFill>
                <a:schemeClr val="dk1"/>
              </a:solidFill>
              <a:latin typeface="Calibri"/>
              <a:ea typeface="Calibri"/>
              <a:cs typeface="Calibri"/>
              <a:sym typeface="Calibri"/>
            </a:endParaRPr>
          </a:p>
        </p:txBody>
      </p:sp>
      <p:sp>
        <p:nvSpPr>
          <p:cNvPr id="347" name="Google Shape;347;p10"/>
          <p:cNvSpPr/>
          <p:nvPr/>
        </p:nvSpPr>
        <p:spPr>
          <a:xfrm>
            <a:off x="3255264" y="3227832"/>
            <a:ext cx="91440" cy="91440"/>
          </a:xfrm>
          <a:prstGeom prst="ellipse">
            <a:avLst/>
          </a:prstGeom>
          <a:solidFill>
            <a:srgbClr val="C24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0"/>
          <p:cNvSpPr/>
          <p:nvPr/>
        </p:nvSpPr>
        <p:spPr>
          <a:xfrm>
            <a:off x="3401568" y="3209544"/>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How similar problems were solved</a:t>
            </a:r>
            <a:endParaRPr sz="1000" b="0" i="0" u="none" strike="noStrike" cap="none">
              <a:solidFill>
                <a:schemeClr val="dk1"/>
              </a:solidFill>
              <a:latin typeface="Calibri"/>
              <a:ea typeface="Calibri"/>
              <a:cs typeface="Calibri"/>
              <a:sym typeface="Calibri"/>
            </a:endParaRPr>
          </a:p>
        </p:txBody>
      </p:sp>
      <p:sp>
        <p:nvSpPr>
          <p:cNvPr id="349" name="Google Shape;349;p10"/>
          <p:cNvSpPr/>
          <p:nvPr/>
        </p:nvSpPr>
        <p:spPr>
          <a:xfrm>
            <a:off x="3236976" y="3493008"/>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2410C"/>
              </a:buClr>
              <a:buSzPts val="1000"/>
              <a:buFont typeface="Calibri"/>
              <a:buNone/>
            </a:pPr>
            <a:r>
              <a:rPr lang="en-US" sz="1000" b="1" i="0" u="none" strike="noStrike" cap="none">
                <a:solidFill>
                  <a:srgbClr val="C2410C"/>
                </a:solidFill>
                <a:latin typeface="Calibri"/>
                <a:ea typeface="Calibri"/>
                <a:cs typeface="Calibri"/>
                <a:sym typeface="Calibri"/>
              </a:rPr>
              <a:t>How stored:</a:t>
            </a:r>
            <a:endParaRPr sz="1000" b="0" i="0" u="none" strike="noStrike" cap="none">
              <a:solidFill>
                <a:schemeClr val="dk1"/>
              </a:solidFill>
              <a:latin typeface="Calibri"/>
              <a:ea typeface="Calibri"/>
              <a:cs typeface="Calibri"/>
              <a:sym typeface="Calibri"/>
            </a:endParaRPr>
          </a:p>
        </p:txBody>
      </p:sp>
      <p:sp>
        <p:nvSpPr>
          <p:cNvPr id="350" name="Google Shape;350;p10"/>
          <p:cNvSpPr/>
          <p:nvPr/>
        </p:nvSpPr>
        <p:spPr>
          <a:xfrm>
            <a:off x="3236976" y="3675888"/>
            <a:ext cx="267919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b="0" i="0" u="none" strike="noStrike" cap="none">
                <a:solidFill>
                  <a:srgbClr val="475569"/>
                </a:solidFill>
                <a:latin typeface="Calibri"/>
                <a:ea typeface="Calibri"/>
                <a:cs typeface="Calibri"/>
                <a:sym typeface="Calibri"/>
              </a:rPr>
              <a:t>Stored as examples that the agent retrieves and uses as few-shot prompts to guide future behaviour.</a:t>
            </a:r>
            <a:endParaRPr sz="950" b="0" i="0" u="none" strike="noStrike" cap="none">
              <a:solidFill>
                <a:schemeClr val="dk1"/>
              </a:solidFill>
              <a:latin typeface="Calibri"/>
              <a:ea typeface="Calibri"/>
              <a:cs typeface="Calibri"/>
              <a:sym typeface="Calibri"/>
            </a:endParaRPr>
          </a:p>
        </p:txBody>
      </p:sp>
      <p:sp>
        <p:nvSpPr>
          <p:cNvPr id="351" name="Google Shape;351;p10"/>
          <p:cNvSpPr/>
          <p:nvPr/>
        </p:nvSpPr>
        <p:spPr>
          <a:xfrm>
            <a:off x="3145536" y="4773168"/>
            <a:ext cx="2816352" cy="292608"/>
          </a:xfrm>
          <a:prstGeom prst="rect">
            <a:avLst/>
          </a:prstGeom>
          <a:solidFill>
            <a:srgbClr val="C2410C">
              <a:alpha val="1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0"/>
          <p:cNvSpPr/>
          <p:nvPr/>
        </p:nvSpPr>
        <p:spPr>
          <a:xfrm>
            <a:off x="3218688" y="4773168"/>
            <a:ext cx="272491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US" sz="900" b="0" i="1" u="none" strike="noStrike" cap="none">
                <a:solidFill>
                  <a:srgbClr val="1E293B"/>
                </a:solidFill>
                <a:latin typeface="Calibri"/>
                <a:ea typeface="Calibri"/>
                <a:cs typeface="Calibri"/>
                <a:sym typeface="Calibri"/>
              </a:rPr>
              <a:t>Like remembering 'last time I did X, Y happened'</a:t>
            </a:r>
            <a:endParaRPr sz="900" b="0" i="0" u="none" strike="noStrike" cap="none">
              <a:solidFill>
                <a:schemeClr val="dk1"/>
              </a:solidFill>
              <a:latin typeface="Calibri"/>
              <a:ea typeface="Calibri"/>
              <a:cs typeface="Calibri"/>
              <a:sym typeface="Calibri"/>
            </a:endParaRPr>
          </a:p>
        </p:txBody>
      </p:sp>
      <p:sp>
        <p:nvSpPr>
          <p:cNvPr id="353" name="Google Shape;353;p10"/>
          <p:cNvSpPr/>
          <p:nvPr/>
        </p:nvSpPr>
        <p:spPr>
          <a:xfrm>
            <a:off x="6035040" y="1444752"/>
            <a:ext cx="2816352" cy="36576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0"/>
          <p:cNvSpPr/>
          <p:nvPr/>
        </p:nvSpPr>
        <p:spPr>
          <a:xfrm>
            <a:off x="6035040" y="1444752"/>
            <a:ext cx="2816352" cy="457200"/>
          </a:xfrm>
          <a:prstGeom prst="rect">
            <a:avLst/>
          </a:prstGeom>
          <a:solidFill>
            <a:srgbClr val="9240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0"/>
          <p:cNvSpPr/>
          <p:nvPr/>
        </p:nvSpPr>
        <p:spPr>
          <a:xfrm>
            <a:off x="6035040" y="1444752"/>
            <a:ext cx="2816352"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Procedural </a:t>
            </a:r>
            <a:endParaRPr sz="1200" b="0" i="0" u="none" strike="noStrike" cap="none">
              <a:solidFill>
                <a:schemeClr val="dk1"/>
              </a:solidFill>
              <a:latin typeface="Calibri"/>
              <a:ea typeface="Calibri"/>
              <a:cs typeface="Calibri"/>
              <a:sym typeface="Calibri"/>
            </a:endParaRPr>
          </a:p>
        </p:txBody>
      </p:sp>
      <p:sp>
        <p:nvSpPr>
          <p:cNvPr id="356" name="Google Shape;356;p10"/>
          <p:cNvSpPr/>
          <p:nvPr/>
        </p:nvSpPr>
        <p:spPr>
          <a:xfrm>
            <a:off x="6126480" y="1956816"/>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2400E"/>
              </a:buClr>
              <a:buSzPts val="1000"/>
              <a:buFont typeface="Calibri"/>
              <a:buNone/>
            </a:pPr>
            <a:r>
              <a:rPr lang="en-US" sz="1000" b="1" i="0" u="none" strike="noStrike" cap="none">
                <a:solidFill>
                  <a:srgbClr val="92400E"/>
                </a:solidFill>
                <a:latin typeface="Calibri"/>
                <a:ea typeface="Calibri"/>
                <a:cs typeface="Calibri"/>
                <a:sym typeface="Calibri"/>
              </a:rPr>
              <a:t>What:</a:t>
            </a:r>
            <a:endParaRPr sz="1000" b="0" i="0" u="none" strike="noStrike" cap="none">
              <a:solidFill>
                <a:schemeClr val="dk1"/>
              </a:solidFill>
              <a:latin typeface="Calibri"/>
              <a:ea typeface="Calibri"/>
              <a:cs typeface="Calibri"/>
              <a:sym typeface="Calibri"/>
            </a:endParaRPr>
          </a:p>
        </p:txBody>
      </p:sp>
      <p:sp>
        <p:nvSpPr>
          <p:cNvPr id="357" name="Google Shape;357;p10"/>
          <p:cNvSpPr/>
          <p:nvPr/>
        </p:nvSpPr>
        <p:spPr>
          <a:xfrm>
            <a:off x="6126480" y="2139696"/>
            <a:ext cx="267919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Stores the rules, instructions, and guidelines that govern agent behaviour.</a:t>
            </a:r>
            <a:endParaRPr sz="1050" b="0" i="0" u="none" strike="noStrike" cap="none">
              <a:solidFill>
                <a:schemeClr val="dk1"/>
              </a:solidFill>
              <a:latin typeface="Calibri"/>
              <a:ea typeface="Calibri"/>
              <a:cs typeface="Calibri"/>
              <a:sym typeface="Calibri"/>
            </a:endParaRPr>
          </a:p>
        </p:txBody>
      </p:sp>
      <p:sp>
        <p:nvSpPr>
          <p:cNvPr id="358" name="Google Shape;358;p10"/>
          <p:cNvSpPr/>
          <p:nvPr/>
        </p:nvSpPr>
        <p:spPr>
          <a:xfrm>
            <a:off x="6126480" y="2505456"/>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2400E"/>
              </a:buClr>
              <a:buSzPts val="1000"/>
              <a:buFont typeface="Calibri"/>
              <a:buNone/>
            </a:pPr>
            <a:r>
              <a:rPr lang="en-US" sz="1000" b="1" i="0" u="none" strike="noStrike" cap="none">
                <a:solidFill>
                  <a:srgbClr val="92400E"/>
                </a:solidFill>
                <a:latin typeface="Calibri"/>
                <a:ea typeface="Calibri"/>
                <a:cs typeface="Calibri"/>
                <a:sym typeface="Calibri"/>
              </a:rPr>
              <a:t>Examples:</a:t>
            </a:r>
            <a:endParaRPr sz="1000" b="0" i="0" u="none" strike="noStrike" cap="none">
              <a:solidFill>
                <a:schemeClr val="dk1"/>
              </a:solidFill>
              <a:latin typeface="Calibri"/>
              <a:ea typeface="Calibri"/>
              <a:cs typeface="Calibri"/>
              <a:sym typeface="Calibri"/>
            </a:endParaRPr>
          </a:p>
        </p:txBody>
      </p:sp>
      <p:sp>
        <p:nvSpPr>
          <p:cNvPr id="359" name="Google Shape;359;p10"/>
          <p:cNvSpPr/>
          <p:nvPr/>
        </p:nvSpPr>
        <p:spPr>
          <a:xfrm>
            <a:off x="6144768" y="2715768"/>
            <a:ext cx="91440" cy="91440"/>
          </a:xfrm>
          <a:prstGeom prst="ellipse">
            <a:avLst/>
          </a:prstGeom>
          <a:solidFill>
            <a:srgbClr val="9240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0"/>
          <p:cNvSpPr/>
          <p:nvPr/>
        </p:nvSpPr>
        <p:spPr>
          <a:xfrm>
            <a:off x="6291072" y="2697480"/>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System prompt / persona</a:t>
            </a:r>
            <a:endParaRPr sz="1000" b="0" i="0" u="none" strike="noStrike" cap="none">
              <a:solidFill>
                <a:schemeClr val="dk1"/>
              </a:solidFill>
              <a:latin typeface="Calibri"/>
              <a:ea typeface="Calibri"/>
              <a:cs typeface="Calibri"/>
              <a:sym typeface="Calibri"/>
            </a:endParaRPr>
          </a:p>
        </p:txBody>
      </p:sp>
      <p:sp>
        <p:nvSpPr>
          <p:cNvPr id="361" name="Google Shape;361;p10"/>
          <p:cNvSpPr/>
          <p:nvPr/>
        </p:nvSpPr>
        <p:spPr>
          <a:xfrm>
            <a:off x="6144768" y="2971800"/>
            <a:ext cx="91440" cy="91440"/>
          </a:xfrm>
          <a:prstGeom prst="ellipse">
            <a:avLst/>
          </a:prstGeom>
          <a:solidFill>
            <a:srgbClr val="9240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0"/>
          <p:cNvSpPr/>
          <p:nvPr/>
        </p:nvSpPr>
        <p:spPr>
          <a:xfrm>
            <a:off x="6291072" y="2953512"/>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Self-updated via Reflection</a:t>
            </a:r>
            <a:endParaRPr sz="1000" b="0" i="0" u="none" strike="noStrike" cap="none">
              <a:solidFill>
                <a:schemeClr val="dk1"/>
              </a:solidFill>
              <a:latin typeface="Calibri"/>
              <a:ea typeface="Calibri"/>
              <a:cs typeface="Calibri"/>
              <a:sym typeface="Calibri"/>
            </a:endParaRPr>
          </a:p>
        </p:txBody>
      </p:sp>
      <p:sp>
        <p:nvSpPr>
          <p:cNvPr id="363" name="Google Shape;363;p10"/>
          <p:cNvSpPr/>
          <p:nvPr/>
        </p:nvSpPr>
        <p:spPr>
          <a:xfrm>
            <a:off x="6144768" y="3227832"/>
            <a:ext cx="91440" cy="91440"/>
          </a:xfrm>
          <a:prstGeom prst="ellipse">
            <a:avLst/>
          </a:prstGeom>
          <a:solidFill>
            <a:srgbClr val="9240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0"/>
          <p:cNvSpPr/>
          <p:nvPr/>
        </p:nvSpPr>
        <p:spPr>
          <a:xfrm>
            <a:off x="6291072" y="3209544"/>
            <a:ext cx="2487168"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Tone &amp; format rules</a:t>
            </a:r>
            <a:endParaRPr sz="1000" b="0" i="0" u="none" strike="noStrike" cap="none">
              <a:solidFill>
                <a:schemeClr val="dk1"/>
              </a:solidFill>
              <a:latin typeface="Calibri"/>
              <a:ea typeface="Calibri"/>
              <a:cs typeface="Calibri"/>
              <a:sym typeface="Calibri"/>
            </a:endParaRPr>
          </a:p>
        </p:txBody>
      </p:sp>
      <p:sp>
        <p:nvSpPr>
          <p:cNvPr id="365" name="Google Shape;365;p10"/>
          <p:cNvSpPr/>
          <p:nvPr/>
        </p:nvSpPr>
        <p:spPr>
          <a:xfrm>
            <a:off x="6126480" y="3493008"/>
            <a:ext cx="267919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2400E"/>
              </a:buClr>
              <a:buSzPts val="1000"/>
              <a:buFont typeface="Calibri"/>
              <a:buNone/>
            </a:pPr>
            <a:r>
              <a:rPr lang="en-US" sz="1000" b="1" i="0" u="none" strike="noStrike" cap="none">
                <a:solidFill>
                  <a:srgbClr val="92400E"/>
                </a:solidFill>
                <a:latin typeface="Calibri"/>
                <a:ea typeface="Calibri"/>
                <a:cs typeface="Calibri"/>
                <a:sym typeface="Calibri"/>
              </a:rPr>
              <a:t>How stored:</a:t>
            </a:r>
            <a:endParaRPr sz="1000" b="0" i="0" u="none" strike="noStrike" cap="none">
              <a:solidFill>
                <a:schemeClr val="dk1"/>
              </a:solidFill>
              <a:latin typeface="Calibri"/>
              <a:ea typeface="Calibri"/>
              <a:cs typeface="Calibri"/>
              <a:sym typeface="Calibri"/>
            </a:endParaRPr>
          </a:p>
        </p:txBody>
      </p:sp>
      <p:sp>
        <p:nvSpPr>
          <p:cNvPr id="366" name="Google Shape;366;p10"/>
          <p:cNvSpPr/>
          <p:nvPr/>
        </p:nvSpPr>
        <p:spPr>
          <a:xfrm>
            <a:off x="6126480" y="3675888"/>
            <a:ext cx="2679192"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50"/>
              <a:buFont typeface="Calibri"/>
              <a:buNone/>
            </a:pPr>
            <a:r>
              <a:rPr lang="en-US" sz="950" b="0" i="0" u="none" strike="noStrike" cap="none">
                <a:solidFill>
                  <a:srgbClr val="475569"/>
                </a:solidFill>
                <a:latin typeface="Calibri"/>
                <a:ea typeface="Calibri"/>
                <a:cs typeface="Calibri"/>
                <a:sym typeface="Calibri"/>
              </a:rPr>
              <a:t>Stored in the LangGraph Store as an updatable prompt. The agent can rewrite its own instructions based on feedback — called Reflection.</a:t>
            </a:r>
            <a:endParaRPr sz="950" b="0" i="0" u="none" strike="noStrike" cap="none">
              <a:solidFill>
                <a:schemeClr val="dk1"/>
              </a:solidFill>
              <a:latin typeface="Calibri"/>
              <a:ea typeface="Calibri"/>
              <a:cs typeface="Calibri"/>
              <a:sym typeface="Calibri"/>
            </a:endParaRPr>
          </a:p>
        </p:txBody>
      </p:sp>
      <p:sp>
        <p:nvSpPr>
          <p:cNvPr id="367" name="Google Shape;367;p10"/>
          <p:cNvSpPr/>
          <p:nvPr/>
        </p:nvSpPr>
        <p:spPr>
          <a:xfrm>
            <a:off x="6035040" y="4773168"/>
            <a:ext cx="2816352" cy="292608"/>
          </a:xfrm>
          <a:prstGeom prst="rect">
            <a:avLst/>
          </a:prstGeom>
          <a:solidFill>
            <a:srgbClr val="92400E">
              <a:alpha val="1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0"/>
          <p:cNvSpPr/>
          <p:nvPr/>
        </p:nvSpPr>
        <p:spPr>
          <a:xfrm>
            <a:off x="6108192" y="4773168"/>
            <a:ext cx="2724912"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US" sz="900" b="0" i="1" u="none" strike="noStrike" cap="none">
                <a:solidFill>
                  <a:srgbClr val="1E293B"/>
                </a:solidFill>
                <a:latin typeface="Calibri"/>
                <a:ea typeface="Calibri"/>
                <a:cs typeface="Calibri"/>
                <a:sym typeface="Calibri"/>
              </a:rPr>
              <a:t>Like muscle memory — knowing HOW to do something</a:t>
            </a:r>
            <a:endParaRPr sz="900" b="0" i="0" u="none" strike="noStrike" cap="none">
              <a:solidFill>
                <a:schemeClr val="dk1"/>
              </a:solidFill>
              <a:latin typeface="Calibri"/>
              <a:ea typeface="Calibri"/>
              <a:cs typeface="Calibri"/>
              <a:sym typeface="Calibri"/>
            </a:endParaRPr>
          </a:p>
        </p:txBody>
      </p:sp>
      <p:sp>
        <p:nvSpPr>
          <p:cNvPr id="369" name="Google Shape;369;p10"/>
          <p:cNvSpPr/>
          <p:nvPr/>
        </p:nvSpPr>
        <p:spPr>
          <a:xfrm>
            <a:off x="256032" y="5084064"/>
            <a:ext cx="8631936" cy="164592"/>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0"/>
          <p:cNvSpPr/>
          <p:nvPr/>
        </p:nvSpPr>
        <p:spPr>
          <a:xfrm>
            <a:off x="329184" y="5084064"/>
            <a:ext cx="8485632"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75569"/>
              </a:buClr>
              <a:buSzPts val="950"/>
              <a:buFont typeface="Calibri"/>
              <a:buNone/>
            </a:pPr>
            <a:r>
              <a:rPr lang="en-US" sz="950" b="0" i="0" u="none" strike="noStrike" cap="none">
                <a:solidFill>
                  <a:srgbClr val="475569"/>
                </a:solidFill>
                <a:latin typeface="Calibri"/>
                <a:ea typeface="Calibri"/>
                <a:cs typeface="Calibri"/>
                <a:sym typeface="Calibri"/>
              </a:rPr>
              <a:t>Write timing:  🔴 In the hot path — updated during the agent run (immediate, adds latency)   ·   🟢 In the background — async after the run (no latency impact, slight delay)</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375"/>
        <p:cNvGrpSpPr/>
        <p:nvPr/>
      </p:nvGrpSpPr>
      <p:grpSpPr>
        <a:xfrm>
          <a:off x="0" y="0"/>
          <a:ext cx="0" cy="0"/>
          <a:chOff x="0" y="0"/>
          <a:chExt cx="0" cy="0"/>
        </a:xfrm>
      </p:grpSpPr>
      <p:sp>
        <p:nvSpPr>
          <p:cNvPr id="376" name="Google Shape;376;p11"/>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1"/>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1"/>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Persistence &amp; </a:t>
            </a:r>
            <a:r>
              <a:rPr lang="en-US" sz="2300" b="1">
                <a:solidFill>
                  <a:schemeClr val="lt1"/>
                </a:solidFill>
                <a:latin typeface="Calibri"/>
                <a:ea typeface="Calibri"/>
                <a:cs typeface="Calibri"/>
                <a:sym typeface="Calibri"/>
              </a:rPr>
              <a:t>Durable Execution</a:t>
            </a:r>
            <a:endParaRPr sz="2200" b="0" i="0" u="none" strike="noStrike" cap="none">
              <a:solidFill>
                <a:schemeClr val="dk1"/>
              </a:solidFill>
              <a:latin typeface="Calibri"/>
              <a:ea typeface="Calibri"/>
              <a:cs typeface="Calibri"/>
              <a:sym typeface="Calibri"/>
            </a:endParaRPr>
          </a:p>
        </p:txBody>
      </p:sp>
      <p:sp>
        <p:nvSpPr>
          <p:cNvPr id="379" name="Google Shape;379;p11"/>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Checkpointer Backends · Threads · Fault Tolerance</a:t>
            </a:r>
            <a:endParaRPr sz="1000" b="0" i="0" u="none" strike="noStrike" cap="none">
              <a:solidFill>
                <a:schemeClr val="dk1"/>
              </a:solidFill>
              <a:latin typeface="Calibri"/>
              <a:ea typeface="Calibri"/>
              <a:cs typeface="Calibri"/>
              <a:sym typeface="Calibri"/>
            </a:endParaRPr>
          </a:p>
        </p:txBody>
      </p:sp>
      <p:sp>
        <p:nvSpPr>
          <p:cNvPr id="380" name="Google Shape;380;p11"/>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1"/>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sp>
        <p:nvSpPr>
          <p:cNvPr id="382" name="Google Shape;382;p11"/>
          <p:cNvSpPr/>
          <p:nvPr/>
        </p:nvSpPr>
        <p:spPr>
          <a:xfrm>
            <a:off x="256025" y="969281"/>
            <a:ext cx="8631900" cy="614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a:solidFill>
                  <a:srgbClr val="475569"/>
                </a:solidFill>
                <a:latin typeface="Calibri"/>
                <a:ea typeface="Calibri"/>
                <a:cs typeface="Calibri"/>
                <a:sym typeface="Calibri"/>
              </a:rPr>
              <a:t>LangGraph has a built-in persistence layer that saves graph state as checkpoints. When you compile a graph with a checkpointer, a snapshot of the graph state is saved at every step of execution, organized into threads. This enables human-in-the-loop workflows, conversational memory, time travel debugging, and fault-tolerant execution.</a:t>
            </a:r>
            <a:endParaRPr sz="1200" b="0" i="0" u="none" strike="noStrike" cap="none">
              <a:solidFill>
                <a:schemeClr val="dk1"/>
              </a:solidFill>
              <a:latin typeface="Calibri"/>
              <a:ea typeface="Calibri"/>
              <a:cs typeface="Calibri"/>
              <a:sym typeface="Calibri"/>
            </a:endParaRPr>
          </a:p>
        </p:txBody>
      </p:sp>
      <p:pic>
        <p:nvPicPr>
          <p:cNvPr id="383" name="Google Shape;383;p11"/>
          <p:cNvPicPr preferRelativeResize="0"/>
          <p:nvPr/>
        </p:nvPicPr>
        <p:blipFill>
          <a:blip r:embed="rId3">
            <a:alphaModFix/>
          </a:blip>
          <a:stretch>
            <a:fillRect/>
          </a:stretch>
        </p:blipFill>
        <p:spPr>
          <a:xfrm>
            <a:off x="152400" y="1727906"/>
            <a:ext cx="8839204" cy="28528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388"/>
        <p:cNvGrpSpPr/>
        <p:nvPr/>
      </p:nvGrpSpPr>
      <p:grpSpPr>
        <a:xfrm>
          <a:off x="0" y="0"/>
          <a:ext cx="0" cy="0"/>
          <a:chOff x="0" y="0"/>
          <a:chExt cx="0" cy="0"/>
        </a:xfrm>
      </p:grpSpPr>
      <p:sp>
        <p:nvSpPr>
          <p:cNvPr id="389" name="Google Shape;389;p12"/>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2"/>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2"/>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Persistence &amp; </a:t>
            </a:r>
            <a:r>
              <a:rPr lang="en-US" sz="2300" b="1">
                <a:solidFill>
                  <a:schemeClr val="lt1"/>
                </a:solidFill>
                <a:latin typeface="Calibri"/>
                <a:ea typeface="Calibri"/>
                <a:cs typeface="Calibri"/>
                <a:sym typeface="Calibri"/>
              </a:rPr>
              <a:t>Durable Execution</a:t>
            </a:r>
            <a:endParaRPr sz="2200" b="0" i="0" u="none" strike="noStrike" cap="none">
              <a:solidFill>
                <a:schemeClr val="dk1"/>
              </a:solidFill>
              <a:latin typeface="Calibri"/>
              <a:ea typeface="Calibri"/>
              <a:cs typeface="Calibri"/>
              <a:sym typeface="Calibri"/>
            </a:endParaRPr>
          </a:p>
        </p:txBody>
      </p:sp>
      <p:sp>
        <p:nvSpPr>
          <p:cNvPr id="392" name="Google Shape;392;p12"/>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Checkpointer Backends · Threads · Fault Tolerance</a:t>
            </a:r>
            <a:endParaRPr sz="1000" b="0" i="0" u="none" strike="noStrike" cap="none">
              <a:solidFill>
                <a:schemeClr val="dk1"/>
              </a:solidFill>
              <a:latin typeface="Calibri"/>
              <a:ea typeface="Calibri"/>
              <a:cs typeface="Calibri"/>
              <a:sym typeface="Calibri"/>
            </a:endParaRPr>
          </a:p>
        </p:txBody>
      </p:sp>
      <p:sp>
        <p:nvSpPr>
          <p:cNvPr id="393" name="Google Shape;393;p12"/>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2"/>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pic>
        <p:nvPicPr>
          <p:cNvPr id="395" name="Google Shape;395;p12"/>
          <p:cNvPicPr preferRelativeResize="0"/>
          <p:nvPr/>
        </p:nvPicPr>
        <p:blipFill>
          <a:blip r:embed="rId3">
            <a:alphaModFix/>
          </a:blip>
          <a:stretch>
            <a:fillRect/>
          </a:stretch>
        </p:blipFill>
        <p:spPr>
          <a:xfrm>
            <a:off x="0" y="859675"/>
            <a:ext cx="6218707" cy="4283826"/>
          </a:xfrm>
          <a:prstGeom prst="rect">
            <a:avLst/>
          </a:prstGeom>
          <a:noFill/>
          <a:ln>
            <a:noFill/>
          </a:ln>
        </p:spPr>
      </p:pic>
      <p:sp>
        <p:nvSpPr>
          <p:cNvPr id="396" name="Google Shape;396;p12"/>
          <p:cNvSpPr/>
          <p:nvPr/>
        </p:nvSpPr>
        <p:spPr>
          <a:xfrm>
            <a:off x="6341357" y="1892827"/>
            <a:ext cx="2816400" cy="20847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2"/>
          <p:cNvSpPr/>
          <p:nvPr/>
        </p:nvSpPr>
        <p:spPr>
          <a:xfrm>
            <a:off x="6341357" y="1892827"/>
            <a:ext cx="2816400" cy="4023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2"/>
          <p:cNvSpPr/>
          <p:nvPr/>
        </p:nvSpPr>
        <p:spPr>
          <a:xfrm>
            <a:off x="6341357" y="1892827"/>
            <a:ext cx="2816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Checkpoints</a:t>
            </a:r>
            <a:endParaRPr sz="1300" b="0" i="0" u="none" strike="noStrike" cap="none">
              <a:solidFill>
                <a:schemeClr val="dk1"/>
              </a:solidFill>
              <a:latin typeface="Calibri"/>
              <a:ea typeface="Calibri"/>
              <a:cs typeface="Calibri"/>
              <a:sym typeface="Calibri"/>
            </a:endParaRPr>
          </a:p>
        </p:txBody>
      </p:sp>
      <p:sp>
        <p:nvSpPr>
          <p:cNvPr id="399" name="Google Shape;399;p12"/>
          <p:cNvSpPr/>
          <p:nvPr/>
        </p:nvSpPr>
        <p:spPr>
          <a:xfrm>
            <a:off x="6451085" y="2350027"/>
            <a:ext cx="2596800" cy="1554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State snapshot saved to DB (SQLite / PostgreSQL) after every super-step. Agent can fail, restart, and resume from the exact point of failure using thread ID.</a:t>
            </a:r>
            <a:endParaRPr sz="1100" b="0" i="0" u="none" strike="noStrike" cap="none">
              <a:solidFill>
                <a:schemeClr val="dk1"/>
              </a:solidFill>
              <a:latin typeface="Calibri"/>
              <a:ea typeface="Calibri"/>
              <a:cs typeface="Calibri"/>
              <a:sym typeface="Calibri"/>
            </a:endParaRPr>
          </a:p>
        </p:txBody>
      </p:sp>
      <p:sp>
        <p:nvSpPr>
          <p:cNvPr id="400" name="Google Shape;400;p12"/>
          <p:cNvSpPr/>
          <p:nvPr/>
        </p:nvSpPr>
        <p:spPr>
          <a:xfrm>
            <a:off x="-2" y="1025066"/>
            <a:ext cx="45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100"/>
              <a:buFont typeface="Calibri"/>
              <a:buNone/>
            </a:pPr>
            <a:r>
              <a:rPr lang="en-US" sz="1100" b="1" i="0" u="none" strike="noStrike" cap="none">
                <a:solidFill>
                  <a:srgbClr val="1E3A5F"/>
                </a:solidFill>
                <a:latin typeface="Calibri"/>
                <a:ea typeface="Calibri"/>
                <a:cs typeface="Calibri"/>
                <a:sym typeface="Calibri"/>
              </a:rPr>
              <a:t>Thread  (thread_id = 'user-abc-123')</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405"/>
        <p:cNvGrpSpPr/>
        <p:nvPr/>
      </p:nvGrpSpPr>
      <p:grpSpPr>
        <a:xfrm>
          <a:off x="0" y="0"/>
          <a:ext cx="0" cy="0"/>
          <a:chOff x="0" y="0"/>
          <a:chExt cx="0" cy="0"/>
        </a:xfrm>
      </p:grpSpPr>
      <p:sp>
        <p:nvSpPr>
          <p:cNvPr id="406" name="Google Shape;406;p13"/>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3"/>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3"/>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2200"/>
              <a:buFont typeface="Calibri"/>
              <a:buNone/>
            </a:pPr>
            <a:r>
              <a:rPr lang="en-US" sz="2200" b="1">
                <a:solidFill>
                  <a:schemeClr val="lt1"/>
                </a:solidFill>
                <a:latin typeface="Calibri"/>
                <a:ea typeface="Calibri"/>
                <a:cs typeface="Calibri"/>
                <a:sym typeface="Calibri"/>
              </a:rPr>
              <a:t>Persistence &amp; </a:t>
            </a:r>
            <a:r>
              <a:rPr lang="en-US" sz="2300" b="1">
                <a:solidFill>
                  <a:schemeClr val="lt1"/>
                </a:solidFill>
                <a:latin typeface="Calibri"/>
                <a:ea typeface="Calibri"/>
                <a:cs typeface="Calibri"/>
                <a:sym typeface="Calibri"/>
              </a:rPr>
              <a:t>Durable Execution</a:t>
            </a:r>
            <a:endParaRPr sz="2200" b="0" i="0" u="none" strike="noStrike" cap="none">
              <a:solidFill>
                <a:schemeClr val="dk1"/>
              </a:solidFill>
              <a:latin typeface="Calibri"/>
              <a:ea typeface="Calibri"/>
              <a:cs typeface="Calibri"/>
              <a:sym typeface="Calibri"/>
            </a:endParaRPr>
          </a:p>
        </p:txBody>
      </p:sp>
      <p:sp>
        <p:nvSpPr>
          <p:cNvPr id="409" name="Google Shape;409;p13"/>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Checkpointer Backends · Threads · Fault Tolerance</a:t>
            </a:r>
            <a:endParaRPr sz="1000" b="0" i="0" u="none" strike="noStrike" cap="none">
              <a:solidFill>
                <a:schemeClr val="dk1"/>
              </a:solidFill>
              <a:latin typeface="Calibri"/>
              <a:ea typeface="Calibri"/>
              <a:cs typeface="Calibri"/>
              <a:sym typeface="Calibri"/>
            </a:endParaRPr>
          </a:p>
        </p:txBody>
      </p:sp>
      <p:sp>
        <p:nvSpPr>
          <p:cNvPr id="410" name="Google Shape;410;p13"/>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3"/>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sp>
        <p:nvSpPr>
          <p:cNvPr id="412" name="Google Shape;412;p13"/>
          <p:cNvSpPr/>
          <p:nvPr/>
        </p:nvSpPr>
        <p:spPr>
          <a:xfrm>
            <a:off x="256057" y="1590662"/>
            <a:ext cx="8631900" cy="2559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3"/>
          <p:cNvSpPr/>
          <p:nvPr/>
        </p:nvSpPr>
        <p:spPr>
          <a:xfrm>
            <a:off x="347497" y="1590662"/>
            <a:ext cx="84492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100"/>
              <a:buFont typeface="Calibri"/>
              <a:buNone/>
            </a:pPr>
            <a:r>
              <a:rPr lang="en-US" sz="1100" b="1" i="0" u="none" strike="noStrike" cap="none">
                <a:solidFill>
                  <a:srgbClr val="1E3A5F"/>
                </a:solidFill>
                <a:latin typeface="Calibri"/>
                <a:ea typeface="Calibri"/>
                <a:cs typeface="Calibri"/>
                <a:sym typeface="Calibri"/>
              </a:rPr>
              <a:t>Checkpointer backends — choose based on your environment:</a:t>
            </a:r>
            <a:endParaRPr sz="1100" b="0" i="0" u="none" strike="noStrike" cap="none">
              <a:solidFill>
                <a:schemeClr val="dk1"/>
              </a:solidFill>
              <a:latin typeface="Calibri"/>
              <a:ea typeface="Calibri"/>
              <a:cs typeface="Calibri"/>
              <a:sym typeface="Calibri"/>
            </a:endParaRPr>
          </a:p>
        </p:txBody>
      </p:sp>
      <p:sp>
        <p:nvSpPr>
          <p:cNvPr id="414" name="Google Shape;414;p13"/>
          <p:cNvSpPr/>
          <p:nvPr/>
        </p:nvSpPr>
        <p:spPr>
          <a:xfrm>
            <a:off x="256057" y="1883270"/>
            <a:ext cx="2084700" cy="19935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3"/>
          <p:cNvSpPr/>
          <p:nvPr/>
        </p:nvSpPr>
        <p:spPr>
          <a:xfrm>
            <a:off x="256057" y="1883270"/>
            <a:ext cx="2084700" cy="384000"/>
          </a:xfrm>
          <a:prstGeom prst="rect">
            <a:avLst/>
          </a:prstGeom>
          <a:solidFill>
            <a:srgbClr val="94A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3"/>
          <p:cNvSpPr/>
          <p:nvPr/>
        </p:nvSpPr>
        <p:spPr>
          <a:xfrm>
            <a:off x="256057" y="1883270"/>
            <a:ext cx="20847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MemorySaver</a:t>
            </a:r>
            <a:endParaRPr sz="1200" b="0" i="0" u="none" strike="noStrike" cap="none">
              <a:solidFill>
                <a:schemeClr val="dk1"/>
              </a:solidFill>
              <a:latin typeface="Calibri"/>
              <a:ea typeface="Calibri"/>
              <a:cs typeface="Calibri"/>
              <a:sym typeface="Calibri"/>
            </a:endParaRPr>
          </a:p>
        </p:txBody>
      </p:sp>
      <p:sp>
        <p:nvSpPr>
          <p:cNvPr id="417" name="Google Shape;417;p13"/>
          <p:cNvSpPr/>
          <p:nvPr/>
        </p:nvSpPr>
        <p:spPr>
          <a:xfrm>
            <a:off x="256057" y="2121014"/>
            <a:ext cx="2084700" cy="146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Development / Testing</a:t>
            </a:r>
            <a:endParaRPr sz="900" b="0" i="0" u="none" strike="noStrike" cap="none">
              <a:solidFill>
                <a:schemeClr val="dk1"/>
              </a:solidFill>
              <a:latin typeface="Calibri"/>
              <a:ea typeface="Calibri"/>
              <a:cs typeface="Calibri"/>
              <a:sym typeface="Calibri"/>
            </a:endParaRPr>
          </a:p>
        </p:txBody>
      </p:sp>
      <p:sp>
        <p:nvSpPr>
          <p:cNvPr id="418" name="Google Shape;418;p13"/>
          <p:cNvSpPr/>
          <p:nvPr/>
        </p:nvSpPr>
        <p:spPr>
          <a:xfrm>
            <a:off x="347497" y="2322182"/>
            <a:ext cx="1938600" cy="8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In-memory only. No setup needed. State is lost on restart. Use for quick prototyping and unit tests.</a:t>
            </a:r>
            <a:endParaRPr sz="1000" b="0" i="0" u="none" strike="noStrike" cap="none">
              <a:solidFill>
                <a:schemeClr val="dk1"/>
              </a:solidFill>
              <a:latin typeface="Calibri"/>
              <a:ea typeface="Calibri"/>
              <a:cs typeface="Calibri"/>
              <a:sym typeface="Calibri"/>
            </a:endParaRPr>
          </a:p>
        </p:txBody>
      </p:sp>
      <p:sp>
        <p:nvSpPr>
          <p:cNvPr id="419" name="Google Shape;419;p13"/>
          <p:cNvSpPr/>
          <p:nvPr/>
        </p:nvSpPr>
        <p:spPr>
          <a:xfrm>
            <a:off x="256057" y="3181718"/>
            <a:ext cx="20847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3"/>
          <p:cNvSpPr/>
          <p:nvPr/>
        </p:nvSpPr>
        <p:spPr>
          <a:xfrm>
            <a:off x="347497" y="3181718"/>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1" i="0" u="none" strike="noStrike" cap="none">
                <a:solidFill>
                  <a:srgbClr val="94A3B8"/>
                </a:solidFill>
                <a:latin typeface="Calibri"/>
                <a:ea typeface="Calibri"/>
                <a:cs typeface="Calibri"/>
                <a:sym typeface="Calibri"/>
              </a:rPr>
              <a:t>DB: RAM</a:t>
            </a:r>
            <a:endParaRPr sz="950" b="0" i="0" u="none" strike="noStrike" cap="none">
              <a:solidFill>
                <a:schemeClr val="dk1"/>
              </a:solidFill>
              <a:latin typeface="Calibri"/>
              <a:ea typeface="Calibri"/>
              <a:cs typeface="Calibri"/>
              <a:sym typeface="Calibri"/>
            </a:endParaRPr>
          </a:p>
        </p:txBody>
      </p:sp>
      <p:sp>
        <p:nvSpPr>
          <p:cNvPr id="421" name="Google Shape;421;p13"/>
          <p:cNvSpPr/>
          <p:nvPr/>
        </p:nvSpPr>
        <p:spPr>
          <a:xfrm>
            <a:off x="347497" y="3382886"/>
            <a:ext cx="1938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6534"/>
              </a:buClr>
              <a:buSzPts val="900"/>
              <a:buFont typeface="Calibri"/>
              <a:buNone/>
            </a:pPr>
            <a:r>
              <a:rPr lang="en-US" sz="900" b="0" i="0" u="none" strike="noStrike" cap="none">
                <a:solidFill>
                  <a:srgbClr val="166534"/>
                </a:solidFill>
                <a:latin typeface="Calibri"/>
                <a:ea typeface="Calibri"/>
                <a:cs typeface="Calibri"/>
                <a:sym typeface="Calibri"/>
              </a:rPr>
              <a:t>✓ Zero setup</a:t>
            </a:r>
            <a:endParaRPr sz="900" b="0" i="0" u="none" strike="noStrike" cap="none">
              <a:solidFill>
                <a:schemeClr val="dk1"/>
              </a:solidFill>
              <a:latin typeface="Calibri"/>
              <a:ea typeface="Calibri"/>
              <a:cs typeface="Calibri"/>
              <a:sym typeface="Calibri"/>
            </a:endParaRPr>
          </a:p>
        </p:txBody>
      </p:sp>
      <p:sp>
        <p:nvSpPr>
          <p:cNvPr id="422" name="Google Shape;422;p13"/>
          <p:cNvSpPr/>
          <p:nvPr/>
        </p:nvSpPr>
        <p:spPr>
          <a:xfrm>
            <a:off x="347497" y="3602342"/>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900"/>
              <a:buFont typeface="Calibri"/>
              <a:buNone/>
            </a:pPr>
            <a:r>
              <a:rPr lang="en-US" sz="900" b="0" i="0" u="none" strike="noStrike" cap="none">
                <a:solidFill>
                  <a:srgbClr val="991B1B"/>
                </a:solidFill>
                <a:latin typeface="Calibri"/>
                <a:ea typeface="Calibri"/>
                <a:cs typeface="Calibri"/>
                <a:sym typeface="Calibri"/>
              </a:rPr>
              <a:t>✗ Lost on restart</a:t>
            </a:r>
            <a:endParaRPr sz="900" b="0" i="0" u="none" strike="noStrike" cap="none">
              <a:solidFill>
                <a:schemeClr val="dk1"/>
              </a:solidFill>
              <a:latin typeface="Calibri"/>
              <a:ea typeface="Calibri"/>
              <a:cs typeface="Calibri"/>
              <a:sym typeface="Calibri"/>
            </a:endParaRPr>
          </a:p>
        </p:txBody>
      </p:sp>
      <p:sp>
        <p:nvSpPr>
          <p:cNvPr id="423" name="Google Shape;423;p13"/>
          <p:cNvSpPr/>
          <p:nvPr/>
        </p:nvSpPr>
        <p:spPr>
          <a:xfrm>
            <a:off x="2432329" y="1883270"/>
            <a:ext cx="2084700" cy="19935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3"/>
          <p:cNvSpPr/>
          <p:nvPr/>
        </p:nvSpPr>
        <p:spPr>
          <a:xfrm>
            <a:off x="2432329" y="1883270"/>
            <a:ext cx="2084700" cy="384000"/>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3"/>
          <p:cNvSpPr/>
          <p:nvPr/>
        </p:nvSpPr>
        <p:spPr>
          <a:xfrm>
            <a:off x="2432329" y="1883270"/>
            <a:ext cx="20847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SqliteSaver</a:t>
            </a:r>
            <a:endParaRPr sz="1200" b="0" i="0" u="none" strike="noStrike" cap="none">
              <a:solidFill>
                <a:schemeClr val="dk1"/>
              </a:solidFill>
              <a:latin typeface="Calibri"/>
              <a:ea typeface="Calibri"/>
              <a:cs typeface="Calibri"/>
              <a:sym typeface="Calibri"/>
            </a:endParaRPr>
          </a:p>
        </p:txBody>
      </p:sp>
      <p:sp>
        <p:nvSpPr>
          <p:cNvPr id="426" name="Google Shape;426;p13"/>
          <p:cNvSpPr/>
          <p:nvPr/>
        </p:nvSpPr>
        <p:spPr>
          <a:xfrm>
            <a:off x="2432329" y="2121014"/>
            <a:ext cx="2084700" cy="146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Local / Prototype</a:t>
            </a:r>
            <a:endParaRPr sz="900" b="0" i="0" u="none" strike="noStrike" cap="none">
              <a:solidFill>
                <a:schemeClr val="dk1"/>
              </a:solidFill>
              <a:latin typeface="Calibri"/>
              <a:ea typeface="Calibri"/>
              <a:cs typeface="Calibri"/>
              <a:sym typeface="Calibri"/>
            </a:endParaRPr>
          </a:p>
        </p:txBody>
      </p:sp>
      <p:sp>
        <p:nvSpPr>
          <p:cNvPr id="427" name="Google Shape;427;p13"/>
          <p:cNvSpPr/>
          <p:nvPr/>
        </p:nvSpPr>
        <p:spPr>
          <a:xfrm>
            <a:off x="2523769" y="2322182"/>
            <a:ext cx="1938600" cy="8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Persists to a local SQLite file. Survives restarts. Simple, no external service. Not suitable for high traffic.</a:t>
            </a:r>
            <a:endParaRPr sz="1000" b="0" i="0" u="none" strike="noStrike" cap="none">
              <a:solidFill>
                <a:schemeClr val="dk1"/>
              </a:solidFill>
              <a:latin typeface="Calibri"/>
              <a:ea typeface="Calibri"/>
              <a:cs typeface="Calibri"/>
              <a:sym typeface="Calibri"/>
            </a:endParaRPr>
          </a:p>
        </p:txBody>
      </p:sp>
      <p:sp>
        <p:nvSpPr>
          <p:cNvPr id="428" name="Google Shape;428;p13"/>
          <p:cNvSpPr/>
          <p:nvPr/>
        </p:nvSpPr>
        <p:spPr>
          <a:xfrm>
            <a:off x="2432329" y="3181718"/>
            <a:ext cx="20847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3"/>
          <p:cNvSpPr/>
          <p:nvPr/>
        </p:nvSpPr>
        <p:spPr>
          <a:xfrm>
            <a:off x="2523769" y="3181718"/>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7490"/>
              </a:buClr>
              <a:buSzPts val="950"/>
              <a:buFont typeface="Calibri"/>
              <a:buNone/>
            </a:pPr>
            <a:r>
              <a:rPr lang="en-US" sz="950" b="1" i="0" u="none" strike="noStrike" cap="none">
                <a:solidFill>
                  <a:srgbClr val="0F7490"/>
                </a:solidFill>
                <a:latin typeface="Calibri"/>
                <a:ea typeface="Calibri"/>
                <a:cs typeface="Calibri"/>
                <a:sym typeface="Calibri"/>
              </a:rPr>
              <a:t>DB: SQLite file</a:t>
            </a:r>
            <a:endParaRPr sz="950" b="0" i="0" u="none" strike="noStrike" cap="none">
              <a:solidFill>
                <a:schemeClr val="dk1"/>
              </a:solidFill>
              <a:latin typeface="Calibri"/>
              <a:ea typeface="Calibri"/>
              <a:cs typeface="Calibri"/>
              <a:sym typeface="Calibri"/>
            </a:endParaRPr>
          </a:p>
        </p:txBody>
      </p:sp>
      <p:sp>
        <p:nvSpPr>
          <p:cNvPr id="430" name="Google Shape;430;p13"/>
          <p:cNvSpPr/>
          <p:nvPr/>
        </p:nvSpPr>
        <p:spPr>
          <a:xfrm>
            <a:off x="2523769" y="3382886"/>
            <a:ext cx="1938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6534"/>
              </a:buClr>
              <a:buSzPts val="900"/>
              <a:buFont typeface="Calibri"/>
              <a:buNone/>
            </a:pPr>
            <a:r>
              <a:rPr lang="en-US" sz="900" b="0" i="0" u="none" strike="noStrike" cap="none">
                <a:solidFill>
                  <a:srgbClr val="166534"/>
                </a:solidFill>
                <a:latin typeface="Calibri"/>
                <a:ea typeface="Calibri"/>
                <a:cs typeface="Calibri"/>
                <a:sym typeface="Calibri"/>
              </a:rPr>
              <a:t>✓ Simple · Survives restarts</a:t>
            </a:r>
            <a:endParaRPr sz="900" b="0" i="0" u="none" strike="noStrike" cap="none">
              <a:solidFill>
                <a:schemeClr val="dk1"/>
              </a:solidFill>
              <a:latin typeface="Calibri"/>
              <a:ea typeface="Calibri"/>
              <a:cs typeface="Calibri"/>
              <a:sym typeface="Calibri"/>
            </a:endParaRPr>
          </a:p>
        </p:txBody>
      </p:sp>
      <p:sp>
        <p:nvSpPr>
          <p:cNvPr id="431" name="Google Shape;431;p13"/>
          <p:cNvSpPr/>
          <p:nvPr/>
        </p:nvSpPr>
        <p:spPr>
          <a:xfrm>
            <a:off x="2523769" y="3602342"/>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900"/>
              <a:buFont typeface="Calibri"/>
              <a:buNone/>
            </a:pPr>
            <a:r>
              <a:rPr lang="en-US" sz="900" b="0" i="0" u="none" strike="noStrike" cap="none">
                <a:solidFill>
                  <a:srgbClr val="991B1B"/>
                </a:solidFill>
                <a:latin typeface="Calibri"/>
                <a:ea typeface="Calibri"/>
                <a:cs typeface="Calibri"/>
                <a:sym typeface="Calibri"/>
              </a:rPr>
              <a:t>✗ Not scalable</a:t>
            </a:r>
            <a:endParaRPr sz="900" b="0" i="0" u="none" strike="noStrike" cap="none">
              <a:solidFill>
                <a:schemeClr val="dk1"/>
              </a:solidFill>
              <a:latin typeface="Calibri"/>
              <a:ea typeface="Calibri"/>
              <a:cs typeface="Calibri"/>
              <a:sym typeface="Calibri"/>
            </a:endParaRPr>
          </a:p>
        </p:txBody>
      </p:sp>
      <p:sp>
        <p:nvSpPr>
          <p:cNvPr id="432" name="Google Shape;432;p13"/>
          <p:cNvSpPr/>
          <p:nvPr/>
        </p:nvSpPr>
        <p:spPr>
          <a:xfrm>
            <a:off x="4608601" y="1883270"/>
            <a:ext cx="2084700" cy="19935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3"/>
          <p:cNvSpPr/>
          <p:nvPr/>
        </p:nvSpPr>
        <p:spPr>
          <a:xfrm>
            <a:off x="4608601" y="1883270"/>
            <a:ext cx="2084700" cy="3840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3"/>
          <p:cNvSpPr/>
          <p:nvPr/>
        </p:nvSpPr>
        <p:spPr>
          <a:xfrm>
            <a:off x="4608601" y="1883270"/>
            <a:ext cx="20847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PostgresSaver</a:t>
            </a:r>
            <a:endParaRPr sz="1200" b="0" i="0" u="none" strike="noStrike" cap="none">
              <a:solidFill>
                <a:schemeClr val="dk1"/>
              </a:solidFill>
              <a:latin typeface="Calibri"/>
              <a:ea typeface="Calibri"/>
              <a:cs typeface="Calibri"/>
              <a:sym typeface="Calibri"/>
            </a:endParaRPr>
          </a:p>
        </p:txBody>
      </p:sp>
      <p:sp>
        <p:nvSpPr>
          <p:cNvPr id="435" name="Google Shape;435;p13"/>
          <p:cNvSpPr/>
          <p:nvPr/>
        </p:nvSpPr>
        <p:spPr>
          <a:xfrm>
            <a:off x="4608601" y="2121014"/>
            <a:ext cx="2084700" cy="146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Production</a:t>
            </a:r>
            <a:endParaRPr sz="900" b="0" i="0" u="none" strike="noStrike" cap="none">
              <a:solidFill>
                <a:schemeClr val="dk1"/>
              </a:solidFill>
              <a:latin typeface="Calibri"/>
              <a:ea typeface="Calibri"/>
              <a:cs typeface="Calibri"/>
              <a:sym typeface="Calibri"/>
            </a:endParaRPr>
          </a:p>
        </p:txBody>
      </p:sp>
      <p:sp>
        <p:nvSpPr>
          <p:cNvPr id="436" name="Google Shape;436;p13"/>
          <p:cNvSpPr/>
          <p:nvPr/>
        </p:nvSpPr>
        <p:spPr>
          <a:xfrm>
            <a:off x="4700041" y="2322182"/>
            <a:ext cx="1938600" cy="8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Enterprise-grade. ACID transactions, concurrent users, horizontal scaling. Used in LangSmith itself.</a:t>
            </a:r>
            <a:endParaRPr sz="1000" b="0" i="0" u="none" strike="noStrike" cap="none">
              <a:solidFill>
                <a:schemeClr val="dk1"/>
              </a:solidFill>
              <a:latin typeface="Calibri"/>
              <a:ea typeface="Calibri"/>
              <a:cs typeface="Calibri"/>
              <a:sym typeface="Calibri"/>
            </a:endParaRPr>
          </a:p>
        </p:txBody>
      </p:sp>
      <p:sp>
        <p:nvSpPr>
          <p:cNvPr id="437" name="Google Shape;437;p13"/>
          <p:cNvSpPr/>
          <p:nvPr/>
        </p:nvSpPr>
        <p:spPr>
          <a:xfrm>
            <a:off x="4608601" y="3181718"/>
            <a:ext cx="20847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3"/>
          <p:cNvSpPr/>
          <p:nvPr/>
        </p:nvSpPr>
        <p:spPr>
          <a:xfrm>
            <a:off x="4700041" y="3181718"/>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950"/>
              <a:buFont typeface="Calibri"/>
              <a:buNone/>
            </a:pPr>
            <a:r>
              <a:rPr lang="en-US" sz="950" b="1" i="0" u="none" strike="noStrike" cap="none">
                <a:solidFill>
                  <a:srgbClr val="1E3A5F"/>
                </a:solidFill>
                <a:latin typeface="Calibri"/>
                <a:ea typeface="Calibri"/>
                <a:cs typeface="Calibri"/>
                <a:sym typeface="Calibri"/>
              </a:rPr>
              <a:t>DB: PostgreSQL</a:t>
            </a:r>
            <a:endParaRPr sz="950" b="0" i="0" u="none" strike="noStrike" cap="none">
              <a:solidFill>
                <a:schemeClr val="dk1"/>
              </a:solidFill>
              <a:latin typeface="Calibri"/>
              <a:ea typeface="Calibri"/>
              <a:cs typeface="Calibri"/>
              <a:sym typeface="Calibri"/>
            </a:endParaRPr>
          </a:p>
        </p:txBody>
      </p:sp>
      <p:sp>
        <p:nvSpPr>
          <p:cNvPr id="439" name="Google Shape;439;p13"/>
          <p:cNvSpPr/>
          <p:nvPr/>
        </p:nvSpPr>
        <p:spPr>
          <a:xfrm>
            <a:off x="4700041" y="3382886"/>
            <a:ext cx="1938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6534"/>
              </a:buClr>
              <a:buSzPts val="900"/>
              <a:buFont typeface="Calibri"/>
              <a:buNone/>
            </a:pPr>
            <a:r>
              <a:rPr lang="en-US" sz="900" b="0" i="0" u="none" strike="noStrike" cap="none">
                <a:solidFill>
                  <a:srgbClr val="166534"/>
                </a:solidFill>
                <a:latin typeface="Calibri"/>
                <a:ea typeface="Calibri"/>
                <a:cs typeface="Calibri"/>
                <a:sym typeface="Calibri"/>
              </a:rPr>
              <a:t>✓ Durable · Scalable · Queryable</a:t>
            </a:r>
            <a:endParaRPr sz="900" b="0" i="0" u="none" strike="noStrike" cap="none">
              <a:solidFill>
                <a:schemeClr val="dk1"/>
              </a:solidFill>
              <a:latin typeface="Calibri"/>
              <a:ea typeface="Calibri"/>
              <a:cs typeface="Calibri"/>
              <a:sym typeface="Calibri"/>
            </a:endParaRPr>
          </a:p>
        </p:txBody>
      </p:sp>
      <p:sp>
        <p:nvSpPr>
          <p:cNvPr id="440" name="Google Shape;440;p13"/>
          <p:cNvSpPr/>
          <p:nvPr/>
        </p:nvSpPr>
        <p:spPr>
          <a:xfrm>
            <a:off x="4700041" y="3602342"/>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900"/>
              <a:buFont typeface="Calibri"/>
              <a:buNone/>
            </a:pPr>
            <a:r>
              <a:rPr lang="en-US" sz="900" b="0" i="0" u="none" strike="noStrike" cap="none">
                <a:solidFill>
                  <a:srgbClr val="991B1B"/>
                </a:solidFill>
                <a:latin typeface="Calibri"/>
                <a:ea typeface="Calibri"/>
                <a:cs typeface="Calibri"/>
                <a:sym typeface="Calibri"/>
              </a:rPr>
              <a:t>✗ Requires Postgres</a:t>
            </a:r>
            <a:endParaRPr sz="900" b="0" i="0" u="none" strike="noStrike" cap="none">
              <a:solidFill>
                <a:schemeClr val="dk1"/>
              </a:solidFill>
              <a:latin typeface="Calibri"/>
              <a:ea typeface="Calibri"/>
              <a:cs typeface="Calibri"/>
              <a:sym typeface="Calibri"/>
            </a:endParaRPr>
          </a:p>
        </p:txBody>
      </p:sp>
      <p:sp>
        <p:nvSpPr>
          <p:cNvPr id="441" name="Google Shape;441;p13"/>
          <p:cNvSpPr/>
          <p:nvPr/>
        </p:nvSpPr>
        <p:spPr>
          <a:xfrm>
            <a:off x="6784873" y="1883270"/>
            <a:ext cx="2084700" cy="19935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3"/>
          <p:cNvSpPr/>
          <p:nvPr/>
        </p:nvSpPr>
        <p:spPr>
          <a:xfrm>
            <a:off x="6784873" y="1883270"/>
            <a:ext cx="2084700" cy="3840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3"/>
          <p:cNvSpPr/>
          <p:nvPr/>
        </p:nvSpPr>
        <p:spPr>
          <a:xfrm>
            <a:off x="6784873" y="1883270"/>
            <a:ext cx="20847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RedisSaver</a:t>
            </a:r>
            <a:endParaRPr sz="1200" b="0" i="0" u="none" strike="noStrike" cap="none">
              <a:solidFill>
                <a:schemeClr val="dk1"/>
              </a:solidFill>
              <a:latin typeface="Calibri"/>
              <a:ea typeface="Calibri"/>
              <a:cs typeface="Calibri"/>
              <a:sym typeface="Calibri"/>
            </a:endParaRPr>
          </a:p>
        </p:txBody>
      </p:sp>
      <p:sp>
        <p:nvSpPr>
          <p:cNvPr id="444" name="Google Shape;444;p13"/>
          <p:cNvSpPr/>
          <p:nvPr/>
        </p:nvSpPr>
        <p:spPr>
          <a:xfrm>
            <a:off x="6784873" y="2121014"/>
            <a:ext cx="2084700" cy="146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High-Performance Production</a:t>
            </a:r>
            <a:endParaRPr sz="900" b="0" i="0" u="none" strike="noStrike" cap="none">
              <a:solidFill>
                <a:schemeClr val="dk1"/>
              </a:solidFill>
              <a:latin typeface="Calibri"/>
              <a:ea typeface="Calibri"/>
              <a:cs typeface="Calibri"/>
              <a:sym typeface="Calibri"/>
            </a:endParaRPr>
          </a:p>
        </p:txBody>
      </p:sp>
      <p:sp>
        <p:nvSpPr>
          <p:cNvPr id="445" name="Google Shape;445;p13"/>
          <p:cNvSpPr/>
          <p:nvPr/>
        </p:nvSpPr>
        <p:spPr>
          <a:xfrm>
            <a:off x="6876313" y="2322182"/>
            <a:ext cx="1938600" cy="8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000"/>
              <a:buFont typeface="Calibri"/>
              <a:buNone/>
            </a:pPr>
            <a:r>
              <a:rPr lang="en-US" sz="1000" b="0" i="0" u="none" strike="noStrike" cap="none">
                <a:solidFill>
                  <a:srgbClr val="475569"/>
                </a:solidFill>
                <a:latin typeface="Calibri"/>
                <a:ea typeface="Calibri"/>
                <a:cs typeface="Calibri"/>
                <a:sym typeface="Calibri"/>
              </a:rPr>
              <a:t>Sub-millisecond checkpoint reads. Ideal for real-time agents and session TTL. Redis 0.1.0 redesigned for LangGraph.</a:t>
            </a:r>
            <a:endParaRPr sz="1000" b="0" i="0" u="none" strike="noStrike" cap="none">
              <a:solidFill>
                <a:schemeClr val="dk1"/>
              </a:solidFill>
              <a:latin typeface="Calibri"/>
              <a:ea typeface="Calibri"/>
              <a:cs typeface="Calibri"/>
              <a:sym typeface="Calibri"/>
            </a:endParaRPr>
          </a:p>
        </p:txBody>
      </p:sp>
      <p:sp>
        <p:nvSpPr>
          <p:cNvPr id="446" name="Google Shape;446;p13"/>
          <p:cNvSpPr/>
          <p:nvPr/>
        </p:nvSpPr>
        <p:spPr>
          <a:xfrm>
            <a:off x="6784873" y="3181718"/>
            <a:ext cx="20847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3"/>
          <p:cNvSpPr/>
          <p:nvPr/>
        </p:nvSpPr>
        <p:spPr>
          <a:xfrm>
            <a:off x="6876313" y="3181718"/>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4621A"/>
              </a:buClr>
              <a:buSzPts val="950"/>
              <a:buFont typeface="Calibri"/>
              <a:buNone/>
            </a:pPr>
            <a:r>
              <a:rPr lang="en-US" sz="950" b="1" i="0" u="none" strike="noStrike" cap="none">
                <a:solidFill>
                  <a:srgbClr val="D4621A"/>
                </a:solidFill>
                <a:latin typeface="Calibri"/>
                <a:ea typeface="Calibri"/>
                <a:cs typeface="Calibri"/>
                <a:sym typeface="Calibri"/>
              </a:rPr>
              <a:t>DB: Redis</a:t>
            </a:r>
            <a:endParaRPr sz="950" b="0" i="0" u="none" strike="noStrike" cap="none">
              <a:solidFill>
                <a:schemeClr val="dk1"/>
              </a:solidFill>
              <a:latin typeface="Calibri"/>
              <a:ea typeface="Calibri"/>
              <a:cs typeface="Calibri"/>
              <a:sym typeface="Calibri"/>
            </a:endParaRPr>
          </a:p>
        </p:txBody>
      </p:sp>
      <p:sp>
        <p:nvSpPr>
          <p:cNvPr id="448" name="Google Shape;448;p13"/>
          <p:cNvSpPr/>
          <p:nvPr/>
        </p:nvSpPr>
        <p:spPr>
          <a:xfrm>
            <a:off x="6876313" y="3382886"/>
            <a:ext cx="1938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6534"/>
              </a:buClr>
              <a:buSzPts val="900"/>
              <a:buFont typeface="Calibri"/>
              <a:buNone/>
            </a:pPr>
            <a:r>
              <a:rPr lang="en-US" sz="900" b="0" i="0" u="none" strike="noStrike" cap="none">
                <a:solidFill>
                  <a:srgbClr val="166534"/>
                </a:solidFill>
                <a:latin typeface="Calibri"/>
                <a:ea typeface="Calibri"/>
                <a:cs typeface="Calibri"/>
                <a:sym typeface="Calibri"/>
              </a:rPr>
              <a:t>✓ &lt;1ms · Distributed · TTL support</a:t>
            </a:r>
            <a:endParaRPr sz="900" b="0" i="0" u="none" strike="noStrike" cap="none">
              <a:solidFill>
                <a:schemeClr val="dk1"/>
              </a:solidFill>
              <a:latin typeface="Calibri"/>
              <a:ea typeface="Calibri"/>
              <a:cs typeface="Calibri"/>
              <a:sym typeface="Calibri"/>
            </a:endParaRPr>
          </a:p>
        </p:txBody>
      </p:sp>
      <p:sp>
        <p:nvSpPr>
          <p:cNvPr id="449" name="Google Shape;449;p13"/>
          <p:cNvSpPr/>
          <p:nvPr/>
        </p:nvSpPr>
        <p:spPr>
          <a:xfrm>
            <a:off x="6876313" y="3602342"/>
            <a:ext cx="1938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1B1B"/>
              </a:buClr>
              <a:buSzPts val="900"/>
              <a:buFont typeface="Calibri"/>
              <a:buNone/>
            </a:pPr>
            <a:r>
              <a:rPr lang="en-US" sz="900" b="0" i="0" u="none" strike="noStrike" cap="none">
                <a:solidFill>
                  <a:srgbClr val="991B1B"/>
                </a:solidFill>
                <a:latin typeface="Calibri"/>
                <a:ea typeface="Calibri"/>
                <a:cs typeface="Calibri"/>
                <a:sym typeface="Calibri"/>
              </a:rPr>
              <a:t>✗ Memory cost</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454"/>
        <p:cNvGrpSpPr/>
        <p:nvPr/>
      </p:nvGrpSpPr>
      <p:grpSpPr>
        <a:xfrm>
          <a:off x="0" y="0"/>
          <a:ext cx="0" cy="0"/>
          <a:chOff x="0" y="0"/>
          <a:chExt cx="0" cy="0"/>
        </a:xfrm>
      </p:grpSpPr>
      <p:sp>
        <p:nvSpPr>
          <p:cNvPr id="455" name="Google Shape;455;p14"/>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4"/>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4"/>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Persistence </a:t>
            </a:r>
            <a:r>
              <a:rPr lang="en-US" sz="2200" b="1">
                <a:solidFill>
                  <a:schemeClr val="lt1"/>
                </a:solidFill>
                <a:latin typeface="Calibri"/>
                <a:ea typeface="Calibri"/>
                <a:cs typeface="Calibri"/>
                <a:sym typeface="Calibri"/>
              </a:rPr>
              <a:t>&amp; </a:t>
            </a:r>
            <a:r>
              <a:rPr lang="en-US" sz="2300" b="1">
                <a:solidFill>
                  <a:schemeClr val="lt1"/>
                </a:solidFill>
                <a:latin typeface="Calibri"/>
                <a:ea typeface="Calibri"/>
                <a:cs typeface="Calibri"/>
                <a:sym typeface="Calibri"/>
              </a:rPr>
              <a:t>Durable Execution</a:t>
            </a:r>
            <a:endParaRPr sz="2200" b="0" i="0" u="none" strike="noStrike" cap="none">
              <a:solidFill>
                <a:schemeClr val="dk1"/>
              </a:solidFill>
              <a:latin typeface="Calibri"/>
              <a:ea typeface="Calibri"/>
              <a:cs typeface="Calibri"/>
              <a:sym typeface="Calibri"/>
            </a:endParaRPr>
          </a:p>
        </p:txBody>
      </p:sp>
      <p:sp>
        <p:nvSpPr>
          <p:cNvPr id="458" name="Google Shape;458;p14"/>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Checkpointer Backends · Threads · Fault Tolerance</a:t>
            </a:r>
            <a:endParaRPr sz="1000" b="0" i="0" u="none" strike="noStrike" cap="none">
              <a:solidFill>
                <a:schemeClr val="dk1"/>
              </a:solidFill>
              <a:latin typeface="Calibri"/>
              <a:ea typeface="Calibri"/>
              <a:cs typeface="Calibri"/>
              <a:sym typeface="Calibri"/>
            </a:endParaRPr>
          </a:p>
        </p:txBody>
      </p:sp>
      <p:sp>
        <p:nvSpPr>
          <p:cNvPr id="459" name="Google Shape;459;p14"/>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4"/>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pic>
        <p:nvPicPr>
          <p:cNvPr id="461" name="Google Shape;461;p14"/>
          <p:cNvPicPr preferRelativeResize="0"/>
          <p:nvPr/>
        </p:nvPicPr>
        <p:blipFill>
          <a:blip r:embed="rId3">
            <a:alphaModFix/>
          </a:blip>
          <a:stretch>
            <a:fillRect/>
          </a:stretch>
        </p:blipFill>
        <p:spPr>
          <a:xfrm>
            <a:off x="6" y="859675"/>
            <a:ext cx="5068942" cy="4283826"/>
          </a:xfrm>
          <a:prstGeom prst="rect">
            <a:avLst/>
          </a:prstGeom>
          <a:noFill/>
          <a:ln>
            <a:noFill/>
          </a:ln>
        </p:spPr>
      </p:pic>
      <p:sp>
        <p:nvSpPr>
          <p:cNvPr id="462" name="Google Shape;462;p14"/>
          <p:cNvSpPr/>
          <p:nvPr/>
        </p:nvSpPr>
        <p:spPr>
          <a:xfrm>
            <a:off x="5860863" y="859664"/>
            <a:ext cx="2816400" cy="20847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4"/>
          <p:cNvSpPr/>
          <p:nvPr/>
        </p:nvSpPr>
        <p:spPr>
          <a:xfrm>
            <a:off x="5860863" y="859664"/>
            <a:ext cx="2816400" cy="402300"/>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4"/>
          <p:cNvSpPr/>
          <p:nvPr/>
        </p:nvSpPr>
        <p:spPr>
          <a:xfrm>
            <a:off x="5860863" y="859664"/>
            <a:ext cx="2816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Reducers &amp; Super-steps</a:t>
            </a:r>
            <a:endParaRPr sz="1300" b="0" i="0" u="none" strike="noStrike" cap="none">
              <a:solidFill>
                <a:schemeClr val="dk1"/>
              </a:solidFill>
              <a:latin typeface="Calibri"/>
              <a:ea typeface="Calibri"/>
              <a:cs typeface="Calibri"/>
              <a:sym typeface="Calibri"/>
            </a:endParaRPr>
          </a:p>
        </p:txBody>
      </p:sp>
      <p:sp>
        <p:nvSpPr>
          <p:cNvPr id="465" name="Google Shape;465;p14"/>
          <p:cNvSpPr/>
          <p:nvPr/>
        </p:nvSpPr>
        <p:spPr>
          <a:xfrm>
            <a:off x="5970591" y="1316864"/>
            <a:ext cx="2596800" cy="1554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When parallel nodes run simultaneously (a super-step), their outputs are merged by a Reducer — preventing collisions. Like operator.add appending to a list.</a:t>
            </a:r>
            <a:endParaRPr sz="1100" b="0" i="0" u="none" strike="noStrike" cap="none">
              <a:solidFill>
                <a:schemeClr val="dk1"/>
              </a:solidFill>
              <a:latin typeface="Calibri"/>
              <a:ea typeface="Calibri"/>
              <a:cs typeface="Calibri"/>
              <a:sym typeface="Calibri"/>
            </a:endParaRPr>
          </a:p>
        </p:txBody>
      </p:sp>
      <p:sp>
        <p:nvSpPr>
          <p:cNvPr id="466" name="Google Shape;466;p14"/>
          <p:cNvSpPr/>
          <p:nvPr/>
        </p:nvSpPr>
        <p:spPr>
          <a:xfrm>
            <a:off x="5860869" y="3026489"/>
            <a:ext cx="2816400" cy="20847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4"/>
          <p:cNvSpPr/>
          <p:nvPr/>
        </p:nvSpPr>
        <p:spPr>
          <a:xfrm>
            <a:off x="5860869" y="3026489"/>
            <a:ext cx="2816400" cy="4023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4"/>
          <p:cNvSpPr/>
          <p:nvPr/>
        </p:nvSpPr>
        <p:spPr>
          <a:xfrm>
            <a:off x="5860869" y="3026489"/>
            <a:ext cx="2816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Time Travel</a:t>
            </a:r>
            <a:endParaRPr sz="1300" b="0" i="0" u="none" strike="noStrike" cap="none">
              <a:solidFill>
                <a:schemeClr val="dk1"/>
              </a:solidFill>
              <a:latin typeface="Calibri"/>
              <a:ea typeface="Calibri"/>
              <a:cs typeface="Calibri"/>
              <a:sym typeface="Calibri"/>
            </a:endParaRPr>
          </a:p>
        </p:txBody>
      </p:sp>
      <p:sp>
        <p:nvSpPr>
          <p:cNvPr id="469" name="Google Shape;469;p14"/>
          <p:cNvSpPr/>
          <p:nvPr/>
        </p:nvSpPr>
        <p:spPr>
          <a:xfrm>
            <a:off x="5970597" y="3483689"/>
            <a:ext cx="2596800" cy="1554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Types: </a:t>
            </a:r>
            <a:endParaRPr sz="1100">
              <a:solidFill>
                <a:srgbClr val="475569"/>
              </a:solidFill>
              <a:latin typeface="Calibri"/>
              <a:ea typeface="Calibri"/>
              <a:cs typeface="Calibri"/>
              <a:sym typeface="Calibri"/>
            </a:endParaRPr>
          </a:p>
          <a:p>
            <a:pPr marL="0" marR="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Replay: Retry from a prior checkpoint.</a:t>
            </a:r>
            <a:endParaRPr sz="1100">
              <a:solidFill>
                <a:srgbClr val="475569"/>
              </a:solidFill>
              <a:latin typeface="Calibri"/>
              <a:ea typeface="Calibri"/>
              <a:cs typeface="Calibri"/>
              <a:sym typeface="Calibri"/>
            </a:endParaRPr>
          </a:p>
          <a:p>
            <a:pPr marL="0" marR="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Fork: Branch from a prior checkpoint with modified state to explore an alternative path.</a:t>
            </a:r>
            <a:endParaRPr sz="1100">
              <a:solidFill>
                <a:srgbClr val="475569"/>
              </a:solidFill>
              <a:latin typeface="Calibri"/>
              <a:ea typeface="Calibri"/>
              <a:cs typeface="Calibri"/>
              <a:sym typeface="Calibri"/>
            </a:endParaRPr>
          </a:p>
          <a:p>
            <a:pPr marL="0" marR="0" lvl="0" indent="0" algn="l" rtl="0">
              <a:spcBef>
                <a:spcPts val="0"/>
              </a:spcBef>
              <a:spcAft>
                <a:spcPts val="0"/>
              </a:spcAft>
              <a:buClr>
                <a:srgbClr val="475569"/>
              </a:buClr>
              <a:buSzPts val="1100"/>
              <a:buFont typeface="Calibri"/>
              <a:buNone/>
            </a:pP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for testing &amp; debugging.</a:t>
            </a:r>
            <a:endParaRPr sz="1100">
              <a:solidFill>
                <a:srgbClr val="475569"/>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474"/>
        <p:cNvGrpSpPr/>
        <p:nvPr/>
      </p:nvGrpSpPr>
      <p:grpSpPr>
        <a:xfrm>
          <a:off x="0" y="0"/>
          <a:ext cx="0" cy="0"/>
          <a:chOff x="0" y="0"/>
          <a:chExt cx="0" cy="0"/>
        </a:xfrm>
      </p:grpSpPr>
      <p:sp>
        <p:nvSpPr>
          <p:cNvPr id="475" name="Google Shape;475;p15"/>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5"/>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Human-in-the-Loop</a:t>
            </a:r>
            <a:r>
              <a:rPr lang="en-US" sz="2200" b="1">
                <a:solidFill>
                  <a:srgbClr val="FFFFFF"/>
                </a:solidFill>
                <a:latin typeface="Calibri"/>
                <a:ea typeface="Calibri"/>
                <a:cs typeface="Calibri"/>
                <a:sym typeface="Calibri"/>
              </a:rPr>
              <a:t>: Interrupt</a:t>
            </a:r>
            <a:endParaRPr sz="2200" b="0" i="0" u="none" strike="noStrike" cap="none">
              <a:solidFill>
                <a:schemeClr val="dk1"/>
              </a:solidFill>
              <a:latin typeface="Calibri"/>
              <a:ea typeface="Calibri"/>
              <a:cs typeface="Calibri"/>
              <a:sym typeface="Calibri"/>
            </a:endParaRPr>
          </a:p>
        </p:txBody>
      </p:sp>
      <p:sp>
        <p:nvSpPr>
          <p:cNvPr id="478" name="Google Shape;478;p15"/>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Interrupt · Approve · Time Travel · Branching</a:t>
            </a:r>
            <a:endParaRPr sz="1000" b="0" i="0" u="none" strike="noStrike" cap="none">
              <a:solidFill>
                <a:schemeClr val="dk1"/>
              </a:solidFill>
              <a:latin typeface="Calibri"/>
              <a:ea typeface="Calibri"/>
              <a:cs typeface="Calibri"/>
              <a:sym typeface="Calibri"/>
            </a:endParaRPr>
          </a:p>
        </p:txBody>
      </p:sp>
      <p:sp>
        <p:nvSpPr>
          <p:cNvPr id="479" name="Google Shape;479;p15"/>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5"/>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sp>
        <p:nvSpPr>
          <p:cNvPr id="481" name="Google Shape;481;p15"/>
          <p:cNvSpPr/>
          <p:nvPr/>
        </p:nvSpPr>
        <p:spPr>
          <a:xfrm>
            <a:off x="5230150" y="2032175"/>
            <a:ext cx="3776700" cy="2559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Interrupts pause graph execution at any point and wait for external input before continuing — enabling true Human-in-the-Loop (HITL) workflows.</a:t>
            </a: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Four main use cases: </a:t>
            </a: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getting approval before critical actions (like database writes or financial transactions), </a:t>
            </a: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letting a human review and edit LLM-generated content before it's used, </a:t>
            </a: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pausing before a tool actually executes, </a:t>
            </a:r>
            <a:endParaRPr sz="1100">
              <a:solidFill>
                <a:srgbClr val="475569"/>
              </a:solidFill>
              <a:latin typeface="Calibri"/>
              <a:ea typeface="Calibri"/>
              <a:cs typeface="Calibri"/>
              <a:sym typeface="Calibri"/>
            </a:endParaRPr>
          </a:p>
          <a:p>
            <a:pPr marL="0" lvl="0" indent="0" algn="l" rtl="0">
              <a:spcBef>
                <a:spcPts val="0"/>
              </a:spcBef>
              <a:spcAft>
                <a:spcPts val="0"/>
              </a:spcAft>
              <a:buClr>
                <a:srgbClr val="475569"/>
              </a:buClr>
              <a:buSzPts val="1100"/>
              <a:buFont typeface="Calibri"/>
              <a:buNone/>
            </a:pPr>
            <a:r>
              <a:rPr lang="en-US" sz="1100">
                <a:solidFill>
                  <a:srgbClr val="475569"/>
                </a:solidFill>
                <a:latin typeface="Calibri"/>
                <a:ea typeface="Calibri"/>
                <a:cs typeface="Calibri"/>
                <a:sym typeface="Calibri"/>
              </a:rPr>
              <a:t>collecting and validating human input in a loop.</a:t>
            </a:r>
            <a:endParaRPr sz="1100">
              <a:solidFill>
                <a:srgbClr val="475569"/>
              </a:solidFill>
              <a:latin typeface="Calibri"/>
              <a:ea typeface="Calibri"/>
              <a:cs typeface="Calibri"/>
              <a:sym typeface="Calibri"/>
            </a:endParaRPr>
          </a:p>
        </p:txBody>
      </p:sp>
      <p:pic>
        <p:nvPicPr>
          <p:cNvPr id="482" name="Google Shape;482;p15"/>
          <p:cNvPicPr preferRelativeResize="0"/>
          <p:nvPr/>
        </p:nvPicPr>
        <p:blipFill>
          <a:blip r:embed="rId3">
            <a:alphaModFix/>
          </a:blip>
          <a:stretch>
            <a:fillRect/>
          </a:stretch>
        </p:blipFill>
        <p:spPr>
          <a:xfrm>
            <a:off x="0" y="1480750"/>
            <a:ext cx="5391550" cy="3662750"/>
          </a:xfrm>
          <a:prstGeom prst="rect">
            <a:avLst/>
          </a:prstGeom>
          <a:noFill/>
          <a:ln>
            <a:noFill/>
          </a:ln>
        </p:spPr>
      </p:pic>
      <p:sp>
        <p:nvSpPr>
          <p:cNvPr id="483" name="Google Shape;483;p15"/>
          <p:cNvSpPr/>
          <p:nvPr/>
        </p:nvSpPr>
        <p:spPr>
          <a:xfrm>
            <a:off x="219448" y="1051329"/>
            <a:ext cx="45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100"/>
              <a:buFont typeface="Calibri"/>
              <a:buNone/>
            </a:pPr>
            <a:r>
              <a:rPr lang="en-US" sz="1100" b="1">
                <a:solidFill>
                  <a:schemeClr val="dk1"/>
                </a:solidFill>
              </a:rPr>
              <a:t>Static breakpoints</a:t>
            </a:r>
            <a:r>
              <a:rPr lang="en-US" sz="1100">
                <a:solidFill>
                  <a:schemeClr val="dk1"/>
                </a:solidFill>
              </a:rPr>
              <a:t> firing </a:t>
            </a:r>
            <a:r>
              <a:rPr lang="en-US" sz="1100" i="1">
                <a:solidFill>
                  <a:schemeClr val="dk1"/>
                </a:solidFill>
              </a:rPr>
              <a:t>before</a:t>
            </a:r>
            <a:r>
              <a:rPr lang="en-US" sz="1100">
                <a:solidFill>
                  <a:schemeClr val="dk1"/>
                </a:solidFill>
              </a:rPr>
              <a:t> and </a:t>
            </a:r>
            <a:r>
              <a:rPr lang="en-US" sz="1100" i="1">
                <a:solidFill>
                  <a:schemeClr val="dk1"/>
                </a:solidFill>
              </a:rPr>
              <a:t>after</a:t>
            </a:r>
            <a:r>
              <a:rPr lang="en-US" sz="1100">
                <a:solidFill>
                  <a:schemeClr val="dk1"/>
                </a:solidFill>
              </a:rPr>
              <a:t> a node boundary</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488"/>
        <p:cNvGrpSpPr/>
        <p:nvPr/>
      </p:nvGrpSpPr>
      <p:grpSpPr>
        <a:xfrm>
          <a:off x="0" y="0"/>
          <a:ext cx="0" cy="0"/>
          <a:chOff x="0" y="0"/>
          <a:chExt cx="0" cy="0"/>
        </a:xfrm>
      </p:grpSpPr>
      <p:sp>
        <p:nvSpPr>
          <p:cNvPr id="489" name="Google Shape;489;p16"/>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6"/>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6"/>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Human-in-the-Loop</a:t>
            </a:r>
            <a:r>
              <a:rPr lang="en-US" sz="2200" b="1">
                <a:solidFill>
                  <a:srgbClr val="FFFFFF"/>
                </a:solidFill>
                <a:latin typeface="Calibri"/>
                <a:ea typeface="Calibri"/>
                <a:cs typeface="Calibri"/>
                <a:sym typeface="Calibri"/>
              </a:rPr>
              <a:t>: Interrupt</a:t>
            </a:r>
            <a:endParaRPr sz="2200" b="0" i="0" u="none" strike="noStrike" cap="none">
              <a:solidFill>
                <a:schemeClr val="dk1"/>
              </a:solidFill>
              <a:latin typeface="Calibri"/>
              <a:ea typeface="Calibri"/>
              <a:cs typeface="Calibri"/>
              <a:sym typeface="Calibri"/>
            </a:endParaRPr>
          </a:p>
        </p:txBody>
      </p:sp>
      <p:sp>
        <p:nvSpPr>
          <p:cNvPr id="492" name="Google Shape;492;p16"/>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Interrupt · Approve · Time Travel · Branching</a:t>
            </a:r>
            <a:endParaRPr sz="1000" b="0" i="0" u="none" strike="noStrike" cap="none">
              <a:solidFill>
                <a:schemeClr val="dk1"/>
              </a:solidFill>
              <a:latin typeface="Calibri"/>
              <a:ea typeface="Calibri"/>
              <a:cs typeface="Calibri"/>
              <a:sym typeface="Calibri"/>
            </a:endParaRPr>
          </a:p>
        </p:txBody>
      </p:sp>
      <p:sp>
        <p:nvSpPr>
          <p:cNvPr id="493" name="Google Shape;493;p16"/>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6"/>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sp>
        <p:nvSpPr>
          <p:cNvPr id="495" name="Google Shape;495;p16"/>
          <p:cNvSpPr/>
          <p:nvPr/>
        </p:nvSpPr>
        <p:spPr>
          <a:xfrm>
            <a:off x="219448" y="1051329"/>
            <a:ext cx="45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100"/>
              <a:buFont typeface="Calibri"/>
              <a:buNone/>
            </a:pPr>
            <a:r>
              <a:rPr lang="en-US" sz="1100" b="1">
                <a:solidFill>
                  <a:schemeClr val="dk1"/>
                </a:solidFill>
              </a:rPr>
              <a:t>Dynamic </a:t>
            </a:r>
            <a:r>
              <a:rPr lang="en-US" sz="1100" b="1">
                <a:solidFill>
                  <a:srgbClr val="188038"/>
                </a:solidFill>
                <a:latin typeface="Roboto Mono"/>
                <a:ea typeface="Roboto Mono"/>
                <a:cs typeface="Roboto Mono"/>
                <a:sym typeface="Roboto Mono"/>
              </a:rPr>
              <a:t>interrupt()</a:t>
            </a:r>
            <a:r>
              <a:rPr lang="en-US" sz="1100">
                <a:solidFill>
                  <a:schemeClr val="dk1"/>
                </a:solidFill>
              </a:rPr>
              <a:t> firing </a:t>
            </a:r>
            <a:r>
              <a:rPr lang="en-US" sz="1100" i="1">
                <a:solidFill>
                  <a:schemeClr val="dk1"/>
                </a:solidFill>
              </a:rPr>
              <a:t>inside</a:t>
            </a:r>
            <a:r>
              <a:rPr lang="en-US" sz="1100">
                <a:solidFill>
                  <a:schemeClr val="dk1"/>
                </a:solidFill>
              </a:rPr>
              <a:t> a node (mid-execution)</a:t>
            </a:r>
            <a:endParaRPr sz="1100" b="0" i="0" u="none" strike="noStrike" cap="none">
              <a:solidFill>
                <a:schemeClr val="dk1"/>
              </a:solidFill>
              <a:latin typeface="Calibri"/>
              <a:ea typeface="Calibri"/>
              <a:cs typeface="Calibri"/>
              <a:sym typeface="Calibri"/>
            </a:endParaRPr>
          </a:p>
        </p:txBody>
      </p:sp>
      <p:pic>
        <p:nvPicPr>
          <p:cNvPr id="496" name="Google Shape;496;p16"/>
          <p:cNvPicPr preferRelativeResize="0"/>
          <p:nvPr/>
        </p:nvPicPr>
        <p:blipFill>
          <a:blip r:embed="rId3">
            <a:alphaModFix/>
          </a:blip>
          <a:stretch>
            <a:fillRect/>
          </a:stretch>
        </p:blipFill>
        <p:spPr>
          <a:xfrm>
            <a:off x="152400" y="1441329"/>
            <a:ext cx="4665412" cy="3549770"/>
          </a:xfrm>
          <a:prstGeom prst="rect">
            <a:avLst/>
          </a:prstGeom>
          <a:noFill/>
          <a:ln>
            <a:noFill/>
          </a:ln>
        </p:spPr>
      </p:pic>
      <p:pic>
        <p:nvPicPr>
          <p:cNvPr id="497" name="Google Shape;497;p16"/>
          <p:cNvPicPr preferRelativeResize="0"/>
          <p:nvPr/>
        </p:nvPicPr>
        <p:blipFill>
          <a:blip r:embed="rId4">
            <a:alphaModFix/>
          </a:blip>
          <a:stretch>
            <a:fillRect/>
          </a:stretch>
        </p:blipFill>
        <p:spPr>
          <a:xfrm>
            <a:off x="5048962" y="1634318"/>
            <a:ext cx="4021390" cy="21855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502"/>
        <p:cNvGrpSpPr/>
        <p:nvPr/>
      </p:nvGrpSpPr>
      <p:grpSpPr>
        <a:xfrm>
          <a:off x="0" y="0"/>
          <a:ext cx="0" cy="0"/>
          <a:chOff x="0" y="0"/>
          <a:chExt cx="0" cy="0"/>
        </a:xfrm>
      </p:grpSpPr>
      <p:sp>
        <p:nvSpPr>
          <p:cNvPr id="503" name="Google Shape;503;p17"/>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7"/>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7"/>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Streaming </a:t>
            </a:r>
            <a:endParaRPr sz="2200" b="0" i="0" u="none" strike="noStrike" cap="none">
              <a:solidFill>
                <a:schemeClr val="dk1"/>
              </a:solidFill>
              <a:latin typeface="Calibri"/>
              <a:ea typeface="Calibri"/>
              <a:cs typeface="Calibri"/>
              <a:sym typeface="Calibri"/>
            </a:endParaRPr>
          </a:p>
        </p:txBody>
      </p:sp>
      <p:sp>
        <p:nvSpPr>
          <p:cNvPr id="506" name="Google Shape;506;p17"/>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Interrupt · Approve · Time Travel · Branching</a:t>
            </a:r>
            <a:endParaRPr sz="1000" b="0" i="0" u="none" strike="noStrike" cap="none">
              <a:solidFill>
                <a:schemeClr val="dk1"/>
              </a:solidFill>
              <a:latin typeface="Calibri"/>
              <a:ea typeface="Calibri"/>
              <a:cs typeface="Calibri"/>
              <a:sym typeface="Calibri"/>
            </a:endParaRPr>
          </a:p>
        </p:txBody>
      </p:sp>
      <p:sp>
        <p:nvSpPr>
          <p:cNvPr id="507" name="Google Shape;507;p17"/>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7"/>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pic>
        <p:nvPicPr>
          <p:cNvPr id="509" name="Google Shape;509;p17" descr="🔥 Building an AI product or feature? Let's talk → https://openslate.ai/ 🏗 Want to master AI Engineering? Check this out: https://harishneel.com/ai-engineering-accelerator ❤ Subscribe for more: https://www.youtube.com/@harish_neel 📩 Email: contact@harishcode.com  In this beginner-friendly playlist, I’ll show you how to use LangGraph to build powerful AI-agents from scratch  Prev: https://youtu.be/EmRgJ1R7FXs Next: https://youtu.be/5suw20B4SMc  Get Github Repo Here: https://academy.harishneel.com/l/9029799027  Playlist Link: https://www.youtube.com/watch?v=WPgG_PlOsYs&amp;list=PLNIQLFWpQMRXmns-7UarmPIR6DN7bgEzZ&amp;index=2  🚩 Subscribe  ➜ https://bit.ly/45IwoxJ  👇 Follow Me On Social Media:  Github: https://github.com/harishneel1 LinkedIn: https://www.linkedin.com/in/harishneel/ Instagram: https://www.instagram.com/harish_neel?igsh=MXEwNXA2ejYxNno4cg==  Was this video on the LangGraph series helpful? Let me know your thoughts in the comments.  #python #artificialintelligence #langgraph" title="LangGraph Crash Course #40 - Streaming - Deep-dive">
            <a:hlinkClick r:id="rId3"/>
          </p:cNvPr>
          <p:cNvPicPr preferRelativeResize="0"/>
          <p:nvPr/>
        </p:nvPicPr>
        <p:blipFill>
          <a:blip r:embed="rId4">
            <a:alphaModFix/>
          </a:blip>
          <a:stretch>
            <a:fillRect/>
          </a:stretch>
        </p:blipFill>
        <p:spPr>
          <a:xfrm>
            <a:off x="1212287" y="1093301"/>
            <a:ext cx="6587325" cy="3705375"/>
          </a:xfrm>
          <a:prstGeom prst="rect">
            <a:avLst/>
          </a:prstGeom>
          <a:noFill/>
          <a:ln>
            <a:noFill/>
          </a:ln>
          <a:effectLst>
            <a:outerShdw blurRad="57150" dist="19050" dir="5400000" algn="bl" rotWithShape="0">
              <a:srgbClr val="000000">
                <a:alpha val="5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animEffect transition="in" filter="fade">
                                      <p:cBhvr>
                                        <p:cTn id="7" dur="1000"/>
                                        <p:tgtEl>
                                          <p:spTgt spid="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514"/>
        <p:cNvGrpSpPr/>
        <p:nvPr/>
      </p:nvGrpSpPr>
      <p:grpSpPr>
        <a:xfrm>
          <a:off x="0" y="0"/>
          <a:ext cx="0" cy="0"/>
          <a:chOff x="0" y="0"/>
          <a:chExt cx="0" cy="0"/>
        </a:xfrm>
      </p:grpSpPr>
      <p:sp>
        <p:nvSpPr>
          <p:cNvPr id="515" name="Google Shape;515;p18"/>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8"/>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8"/>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Subgraphs</a:t>
            </a:r>
            <a:endParaRPr sz="2200" b="0" i="0" u="none" strike="noStrike" cap="none">
              <a:solidFill>
                <a:schemeClr val="dk1"/>
              </a:solidFill>
              <a:latin typeface="Calibri"/>
              <a:ea typeface="Calibri"/>
              <a:cs typeface="Calibri"/>
              <a:sym typeface="Calibri"/>
            </a:endParaRPr>
          </a:p>
        </p:txBody>
      </p:sp>
      <p:sp>
        <p:nvSpPr>
          <p:cNvPr id="518" name="Google Shape;518;p18"/>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519" name="Google Shape;519;p18"/>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8"/>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sp>
        <p:nvSpPr>
          <p:cNvPr id="521" name="Google Shape;521;p18"/>
          <p:cNvSpPr/>
          <p:nvPr/>
        </p:nvSpPr>
        <p:spPr>
          <a:xfrm>
            <a:off x="219450" y="985700"/>
            <a:ext cx="8468700" cy="176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3A5F"/>
              </a:buClr>
              <a:buSzPts val="1100"/>
              <a:buFont typeface="Calibri"/>
              <a:buNone/>
            </a:pPr>
            <a:r>
              <a:rPr lang="en-US" sz="1100">
                <a:solidFill>
                  <a:schemeClr val="dk1"/>
                </a:solidFill>
              </a:rPr>
              <a:t>A subgraph is simply a graph used as a node inside another (parent) graph.</a:t>
            </a:r>
            <a:endParaRPr sz="1100">
              <a:solidFill>
                <a:schemeClr val="dk1"/>
              </a:solidFill>
            </a:endParaRPr>
          </a:p>
          <a:p>
            <a:pPr marL="0" marR="0" lvl="0" indent="0" algn="l" rtl="0">
              <a:spcBef>
                <a:spcPts val="0"/>
              </a:spcBef>
              <a:spcAft>
                <a:spcPts val="0"/>
              </a:spcAft>
              <a:buClr>
                <a:srgbClr val="1E3A5F"/>
              </a:buClr>
              <a:buSzPts val="1100"/>
              <a:buFont typeface="Calibri"/>
              <a:buNone/>
            </a:pPr>
            <a:endParaRPr sz="1100">
              <a:solidFill>
                <a:schemeClr val="dk1"/>
              </a:solidFill>
            </a:endParaRPr>
          </a:p>
          <a:p>
            <a:pPr marL="0" marR="0" lvl="0" indent="0" algn="l" rtl="0">
              <a:spcBef>
                <a:spcPts val="0"/>
              </a:spcBef>
              <a:spcAft>
                <a:spcPts val="0"/>
              </a:spcAft>
              <a:buClr>
                <a:srgbClr val="1E3A5F"/>
              </a:buClr>
              <a:buSzPts val="1100"/>
              <a:buFont typeface="Calibri"/>
              <a:buNone/>
            </a:pPr>
            <a:r>
              <a:rPr lang="en-US" sz="1100">
                <a:solidFill>
                  <a:schemeClr val="dk1"/>
                </a:solidFill>
              </a:rPr>
              <a:t>Subgraphs are useful for:</a:t>
            </a:r>
            <a:endParaRPr sz="1100">
              <a:solidFill>
                <a:schemeClr val="dk1"/>
              </a:solidFill>
            </a:endParaRPr>
          </a:p>
          <a:p>
            <a:pPr marL="457200" marR="0" lvl="0" indent="-298450" algn="l" rtl="0">
              <a:spcBef>
                <a:spcPts val="0"/>
              </a:spcBef>
              <a:spcAft>
                <a:spcPts val="0"/>
              </a:spcAft>
              <a:buClr>
                <a:schemeClr val="dk1"/>
              </a:buClr>
              <a:buSzPts val="1100"/>
              <a:buChar char="●"/>
            </a:pPr>
            <a:r>
              <a:rPr lang="en-US" sz="1100">
                <a:solidFill>
                  <a:schemeClr val="dk1"/>
                </a:solidFill>
              </a:rPr>
              <a:t>Building multi-agent systems</a:t>
            </a:r>
            <a:endParaRPr sz="1100">
              <a:solidFill>
                <a:schemeClr val="dk1"/>
              </a:solidFill>
            </a:endParaRPr>
          </a:p>
          <a:p>
            <a:pPr marL="457200" marR="0" lvl="0" indent="-298450" algn="l" rtl="0">
              <a:spcBef>
                <a:spcPts val="0"/>
              </a:spcBef>
              <a:spcAft>
                <a:spcPts val="0"/>
              </a:spcAft>
              <a:buClr>
                <a:schemeClr val="dk1"/>
              </a:buClr>
              <a:buSzPts val="1100"/>
              <a:buChar char="●"/>
            </a:pPr>
            <a:r>
              <a:rPr lang="en-US" sz="1100">
                <a:solidFill>
                  <a:schemeClr val="dk1"/>
                </a:solidFill>
              </a:rPr>
              <a:t>Reusing a set of nodes in multiple graphs</a:t>
            </a:r>
            <a:endParaRPr sz="1100">
              <a:solidFill>
                <a:schemeClr val="dk1"/>
              </a:solidFill>
            </a:endParaRPr>
          </a:p>
          <a:p>
            <a:pPr marL="457200" marR="0" lvl="0" indent="-298450" algn="l" rtl="0">
              <a:spcBef>
                <a:spcPts val="0"/>
              </a:spcBef>
              <a:spcAft>
                <a:spcPts val="0"/>
              </a:spcAft>
              <a:buClr>
                <a:schemeClr val="dk1"/>
              </a:buClr>
              <a:buSzPts val="1100"/>
              <a:buChar char="●"/>
            </a:pPr>
            <a:r>
              <a:rPr lang="en-US" sz="1100">
                <a:solidFill>
                  <a:schemeClr val="dk1"/>
                </a:solidFill>
              </a:rPr>
              <a:t>Distributing development: when you want different teams to work on different parts of the graph independently, you can define each part as a subgraph, and as long as the subgraph interface (the input and output schemas) is respected, the parent graph can be built without knowing any details of the subgraph</a:t>
            </a:r>
            <a:endParaRPr sz="1100">
              <a:solidFill>
                <a:schemeClr val="dk1"/>
              </a:solidFill>
            </a:endParaRPr>
          </a:p>
        </p:txBody>
      </p:sp>
      <p:pic>
        <p:nvPicPr>
          <p:cNvPr id="522" name="Google Shape;522;p18"/>
          <p:cNvPicPr preferRelativeResize="0"/>
          <p:nvPr/>
        </p:nvPicPr>
        <p:blipFill>
          <a:blip r:embed="rId3">
            <a:alphaModFix/>
          </a:blip>
          <a:stretch>
            <a:fillRect/>
          </a:stretch>
        </p:blipFill>
        <p:spPr>
          <a:xfrm>
            <a:off x="2385775" y="2388772"/>
            <a:ext cx="6758224" cy="2754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527"/>
        <p:cNvGrpSpPr/>
        <p:nvPr/>
      </p:nvGrpSpPr>
      <p:grpSpPr>
        <a:xfrm>
          <a:off x="0" y="0"/>
          <a:ext cx="0" cy="0"/>
          <a:chOff x="0" y="0"/>
          <a:chExt cx="0" cy="0"/>
        </a:xfrm>
      </p:grpSpPr>
      <p:sp>
        <p:nvSpPr>
          <p:cNvPr id="528" name="Google Shape;528;p19"/>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9"/>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9"/>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Subgraphs</a:t>
            </a:r>
            <a:endParaRPr sz="2200" b="0" i="0" u="none" strike="noStrike" cap="none">
              <a:solidFill>
                <a:schemeClr val="dk1"/>
              </a:solidFill>
              <a:latin typeface="Calibri"/>
              <a:ea typeface="Calibri"/>
              <a:cs typeface="Calibri"/>
              <a:sym typeface="Calibri"/>
            </a:endParaRPr>
          </a:p>
        </p:txBody>
      </p:sp>
      <p:sp>
        <p:nvSpPr>
          <p:cNvPr id="531" name="Google Shape;531;p19"/>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532" name="Google Shape;532;p19"/>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9"/>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3: Capabilities</a:t>
            </a:r>
            <a:endParaRPr sz="950" b="0" i="0" u="none" strike="noStrike" cap="none">
              <a:solidFill>
                <a:schemeClr val="dk1"/>
              </a:solidFill>
              <a:latin typeface="Calibri"/>
              <a:ea typeface="Calibri"/>
              <a:cs typeface="Calibri"/>
              <a:sym typeface="Calibri"/>
            </a:endParaRPr>
          </a:p>
        </p:txBody>
      </p:sp>
      <p:pic>
        <p:nvPicPr>
          <p:cNvPr id="534" name="Google Shape;534;p19"/>
          <p:cNvPicPr preferRelativeResize="0"/>
          <p:nvPr/>
        </p:nvPicPr>
        <p:blipFill>
          <a:blip r:embed="rId3">
            <a:alphaModFix/>
          </a:blip>
          <a:stretch>
            <a:fillRect/>
          </a:stretch>
        </p:blipFill>
        <p:spPr>
          <a:xfrm>
            <a:off x="1643425" y="968043"/>
            <a:ext cx="5857136" cy="39790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539"/>
        <p:cNvGrpSpPr/>
        <p:nvPr/>
      </p:nvGrpSpPr>
      <p:grpSpPr>
        <a:xfrm>
          <a:off x="0" y="0"/>
          <a:ext cx="0" cy="0"/>
          <a:chOff x="0" y="0"/>
          <a:chExt cx="0" cy="0"/>
        </a:xfrm>
      </p:grpSpPr>
      <p:sp>
        <p:nvSpPr>
          <p:cNvPr id="540" name="Google Shape;540;p20"/>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Agent Chat UI</a:t>
            </a:r>
            <a:endParaRPr sz="2200" b="0" i="0" u="none" strike="noStrike" cap="none">
              <a:solidFill>
                <a:schemeClr val="dk1"/>
              </a:solidFill>
              <a:latin typeface="Calibri"/>
              <a:ea typeface="Calibri"/>
              <a:cs typeface="Calibri"/>
              <a:sym typeface="Calibri"/>
            </a:endParaRPr>
          </a:p>
        </p:txBody>
      </p:sp>
      <p:sp>
        <p:nvSpPr>
          <p:cNvPr id="543" name="Google Shape;543;p20"/>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endParaRPr sz="1000" b="0" i="0" u="none" strike="noStrike" cap="none">
              <a:solidFill>
                <a:schemeClr val="dk1"/>
              </a:solidFill>
              <a:latin typeface="Calibri"/>
              <a:ea typeface="Calibri"/>
              <a:cs typeface="Calibri"/>
              <a:sym typeface="Calibri"/>
            </a:endParaRPr>
          </a:p>
        </p:txBody>
      </p:sp>
      <p:sp>
        <p:nvSpPr>
          <p:cNvPr id="544" name="Google Shape;544;p20"/>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4: Production</a:t>
            </a:r>
            <a:endParaRPr sz="950" b="0" i="0" u="none" strike="noStrike" cap="none">
              <a:solidFill>
                <a:schemeClr val="dk1"/>
              </a:solidFill>
              <a:latin typeface="Calibri"/>
              <a:ea typeface="Calibri"/>
              <a:cs typeface="Calibri"/>
              <a:sym typeface="Calibri"/>
            </a:endParaRPr>
          </a:p>
        </p:txBody>
      </p:sp>
      <p:pic>
        <p:nvPicPr>
          <p:cNvPr id="546" name="Google Shape;546;p20" descr="Try it out here: https://agentchat.vercel.app Repository: https://github.com/langchain-ai/agent-chat-ui npx create-agent-chat-app: https://www.npmjs.com/package/create-agent-chat-app  Learn how to build with LangGraph on LangChain Academy: https://academy.langchain.com/collections/quickstart/?utm_medium=social&amp;utm_source=youtube&amp;utm_campaign=q4-2025_youtube-academy-links_aw" title="Introducing Agent Chat UI">
            <a:hlinkClick r:id="rId3"/>
          </p:cNvPr>
          <p:cNvPicPr preferRelativeResize="0"/>
          <p:nvPr/>
        </p:nvPicPr>
        <p:blipFill>
          <a:blip r:embed="rId4">
            <a:alphaModFix/>
          </a:blip>
          <a:stretch>
            <a:fillRect/>
          </a:stretch>
        </p:blipFill>
        <p:spPr>
          <a:xfrm>
            <a:off x="1532138" y="1136639"/>
            <a:ext cx="6079725" cy="3419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6"/>
                                        </p:tgtEl>
                                        <p:attrNameLst>
                                          <p:attrName>style.visibility</p:attrName>
                                        </p:attrNameLst>
                                      </p:cBhvr>
                                      <p:to>
                                        <p:strVal val="visible"/>
                                      </p:to>
                                    </p:set>
                                    <p:animEffect transition="in" filter="fade">
                                      <p:cBhvr>
                                        <p:cTn id="7" dur="1000"/>
                                        <p:tgtEl>
                                          <p:spTgt spid="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551"/>
        <p:cNvGrpSpPr/>
        <p:nvPr/>
      </p:nvGrpSpPr>
      <p:grpSpPr>
        <a:xfrm>
          <a:off x="0" y="0"/>
          <a:ext cx="0" cy="0"/>
          <a:chOff x="0" y="0"/>
          <a:chExt cx="0" cy="0"/>
        </a:xfrm>
      </p:grpSpPr>
      <p:sp>
        <p:nvSpPr>
          <p:cNvPr id="552" name="Google Shape;552;p21"/>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1"/>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1"/>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Observability &amp; Tracing</a:t>
            </a:r>
            <a:endParaRPr sz="2200" b="0" i="0" u="none" strike="noStrike" cap="none">
              <a:solidFill>
                <a:schemeClr val="dk1"/>
              </a:solidFill>
              <a:latin typeface="Calibri"/>
              <a:ea typeface="Calibri"/>
              <a:cs typeface="Calibri"/>
              <a:sym typeface="Calibri"/>
            </a:endParaRPr>
          </a:p>
        </p:txBody>
      </p:sp>
      <p:sp>
        <p:nvSpPr>
          <p:cNvPr id="555" name="Google Shape;555;p21"/>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LangSmith · Evals · Production Monitoring</a:t>
            </a:r>
            <a:endParaRPr sz="1000" b="0" i="0" u="none" strike="noStrike" cap="none">
              <a:solidFill>
                <a:schemeClr val="dk1"/>
              </a:solidFill>
              <a:latin typeface="Calibri"/>
              <a:ea typeface="Calibri"/>
              <a:cs typeface="Calibri"/>
              <a:sym typeface="Calibri"/>
            </a:endParaRPr>
          </a:p>
        </p:txBody>
      </p:sp>
      <p:sp>
        <p:nvSpPr>
          <p:cNvPr id="556" name="Google Shape;556;p21"/>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1"/>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4: Production</a:t>
            </a:r>
            <a:endParaRPr sz="950" b="0" i="0" u="none" strike="noStrike" cap="none">
              <a:solidFill>
                <a:schemeClr val="dk1"/>
              </a:solidFill>
              <a:latin typeface="Calibri"/>
              <a:ea typeface="Calibri"/>
              <a:cs typeface="Calibri"/>
              <a:sym typeface="Calibri"/>
            </a:endParaRPr>
          </a:p>
        </p:txBody>
      </p:sp>
      <p:sp>
        <p:nvSpPr>
          <p:cNvPr id="558" name="Google Shape;558;p21"/>
          <p:cNvSpPr/>
          <p:nvPr/>
        </p:nvSpPr>
        <p:spPr>
          <a:xfrm>
            <a:off x="256032" y="969264"/>
            <a:ext cx="8631900" cy="402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200"/>
              <a:buFont typeface="Calibri"/>
              <a:buNone/>
            </a:pPr>
            <a:r>
              <a:rPr lang="en-US" sz="1200" b="0" i="0" u="none" strike="noStrike" cap="none">
                <a:solidFill>
                  <a:srgbClr val="475569"/>
                </a:solidFill>
                <a:latin typeface="Calibri"/>
                <a:ea typeface="Calibri"/>
                <a:cs typeface="Calibri"/>
                <a:sym typeface="Calibri"/>
              </a:rPr>
              <a:t>You cannot manage what you cannot see. LangSmith provides full visibility into every agent step — from development debugging to production monitoring.</a:t>
            </a:r>
            <a:endParaRPr sz="1200" b="0" i="0" u="none" strike="noStrike" cap="none">
              <a:solidFill>
                <a:schemeClr val="dk1"/>
              </a:solidFill>
              <a:latin typeface="Calibri"/>
              <a:ea typeface="Calibri"/>
              <a:cs typeface="Calibri"/>
              <a:sym typeface="Calibri"/>
            </a:endParaRPr>
          </a:p>
        </p:txBody>
      </p:sp>
      <p:sp>
        <p:nvSpPr>
          <p:cNvPr id="559" name="Google Shape;559;p21"/>
          <p:cNvSpPr/>
          <p:nvPr/>
        </p:nvSpPr>
        <p:spPr>
          <a:xfrm>
            <a:off x="256032" y="1444752"/>
            <a:ext cx="2816400" cy="35478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1"/>
          <p:cNvSpPr/>
          <p:nvPr/>
        </p:nvSpPr>
        <p:spPr>
          <a:xfrm>
            <a:off x="256032" y="1444752"/>
            <a:ext cx="2816400" cy="4023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1"/>
          <p:cNvSpPr/>
          <p:nvPr/>
        </p:nvSpPr>
        <p:spPr>
          <a:xfrm>
            <a:off x="256032" y="1444752"/>
            <a:ext cx="2816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Execution Tracing</a:t>
            </a:r>
            <a:endParaRPr sz="1300" b="0" i="0" u="none" strike="noStrike" cap="none">
              <a:solidFill>
                <a:schemeClr val="dk1"/>
              </a:solidFill>
              <a:latin typeface="Calibri"/>
              <a:ea typeface="Calibri"/>
              <a:cs typeface="Calibri"/>
              <a:sym typeface="Calibri"/>
            </a:endParaRPr>
          </a:p>
        </p:txBody>
      </p:sp>
      <p:sp>
        <p:nvSpPr>
          <p:cNvPr id="562" name="Google Shape;562;p21"/>
          <p:cNvSpPr/>
          <p:nvPr/>
        </p:nvSpPr>
        <p:spPr>
          <a:xfrm>
            <a:off x="384048" y="1975104"/>
            <a:ext cx="91500" cy="91500"/>
          </a:xfrm>
          <a:prstGeom prst="ellipse">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1"/>
          <p:cNvSpPr/>
          <p:nvPr/>
        </p:nvSpPr>
        <p:spPr>
          <a:xfrm>
            <a:off x="530352" y="192024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Visualise the exact path taken through the graph</a:t>
            </a:r>
            <a:endParaRPr sz="1050" b="0" i="0" u="none" strike="noStrike" cap="none">
              <a:solidFill>
                <a:schemeClr val="dk1"/>
              </a:solidFill>
              <a:latin typeface="Calibri"/>
              <a:ea typeface="Calibri"/>
              <a:cs typeface="Calibri"/>
              <a:sym typeface="Calibri"/>
            </a:endParaRPr>
          </a:p>
        </p:txBody>
      </p:sp>
      <p:sp>
        <p:nvSpPr>
          <p:cNvPr id="564" name="Google Shape;564;p21"/>
          <p:cNvSpPr/>
          <p:nvPr/>
        </p:nvSpPr>
        <p:spPr>
          <a:xfrm>
            <a:off x="384048" y="2523744"/>
            <a:ext cx="91500" cy="91500"/>
          </a:xfrm>
          <a:prstGeom prst="ellipse">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1"/>
          <p:cNvSpPr/>
          <p:nvPr/>
        </p:nvSpPr>
        <p:spPr>
          <a:xfrm>
            <a:off x="530352" y="246888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Inspect every node's input and output state</a:t>
            </a:r>
            <a:endParaRPr sz="1050" b="0" i="0" u="none" strike="noStrike" cap="none">
              <a:solidFill>
                <a:schemeClr val="dk1"/>
              </a:solidFill>
              <a:latin typeface="Calibri"/>
              <a:ea typeface="Calibri"/>
              <a:cs typeface="Calibri"/>
              <a:sym typeface="Calibri"/>
            </a:endParaRPr>
          </a:p>
        </p:txBody>
      </p:sp>
      <p:sp>
        <p:nvSpPr>
          <p:cNvPr id="566" name="Google Shape;566;p21"/>
          <p:cNvSpPr/>
          <p:nvPr/>
        </p:nvSpPr>
        <p:spPr>
          <a:xfrm>
            <a:off x="384048" y="3072384"/>
            <a:ext cx="91500" cy="91500"/>
          </a:xfrm>
          <a:prstGeom prst="ellipse">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1"/>
          <p:cNvSpPr/>
          <p:nvPr/>
        </p:nvSpPr>
        <p:spPr>
          <a:xfrm>
            <a:off x="530352" y="301752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Measure latency and token count per step</a:t>
            </a:r>
            <a:endParaRPr sz="1050" b="0" i="0" u="none" strike="noStrike" cap="none">
              <a:solidFill>
                <a:schemeClr val="dk1"/>
              </a:solidFill>
              <a:latin typeface="Calibri"/>
              <a:ea typeface="Calibri"/>
              <a:cs typeface="Calibri"/>
              <a:sym typeface="Calibri"/>
            </a:endParaRPr>
          </a:p>
        </p:txBody>
      </p:sp>
      <p:sp>
        <p:nvSpPr>
          <p:cNvPr id="568" name="Google Shape;568;p21"/>
          <p:cNvSpPr/>
          <p:nvPr/>
        </p:nvSpPr>
        <p:spPr>
          <a:xfrm>
            <a:off x="384048" y="3621024"/>
            <a:ext cx="91500" cy="91500"/>
          </a:xfrm>
          <a:prstGeom prst="ellipse">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1"/>
          <p:cNvSpPr/>
          <p:nvPr/>
        </p:nvSpPr>
        <p:spPr>
          <a:xfrm>
            <a:off x="530352" y="356616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Identify where loops occur and why they triggered</a:t>
            </a:r>
            <a:endParaRPr sz="1050" b="0" i="0" u="none" strike="noStrike" cap="none">
              <a:solidFill>
                <a:schemeClr val="dk1"/>
              </a:solidFill>
              <a:latin typeface="Calibri"/>
              <a:ea typeface="Calibri"/>
              <a:cs typeface="Calibri"/>
              <a:sym typeface="Calibri"/>
            </a:endParaRPr>
          </a:p>
        </p:txBody>
      </p:sp>
      <p:sp>
        <p:nvSpPr>
          <p:cNvPr id="570" name="Google Shape;570;p21"/>
          <p:cNvSpPr/>
          <p:nvPr/>
        </p:nvSpPr>
        <p:spPr>
          <a:xfrm>
            <a:off x="384048" y="4169664"/>
            <a:ext cx="91500" cy="91500"/>
          </a:xfrm>
          <a:prstGeom prst="ellipse">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1"/>
          <p:cNvSpPr/>
          <p:nvPr/>
        </p:nvSpPr>
        <p:spPr>
          <a:xfrm>
            <a:off x="530352" y="411480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Replay any historical run from its checkpoint</a:t>
            </a:r>
            <a:endParaRPr sz="1050" b="0" i="0" u="none" strike="noStrike" cap="none">
              <a:solidFill>
                <a:schemeClr val="dk1"/>
              </a:solidFill>
              <a:latin typeface="Calibri"/>
              <a:ea typeface="Calibri"/>
              <a:cs typeface="Calibri"/>
              <a:sym typeface="Calibri"/>
            </a:endParaRPr>
          </a:p>
        </p:txBody>
      </p:sp>
      <p:sp>
        <p:nvSpPr>
          <p:cNvPr id="572" name="Google Shape;572;p21"/>
          <p:cNvSpPr/>
          <p:nvPr/>
        </p:nvSpPr>
        <p:spPr>
          <a:xfrm>
            <a:off x="3218688" y="1444752"/>
            <a:ext cx="2816400" cy="35478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1"/>
          <p:cNvSpPr/>
          <p:nvPr/>
        </p:nvSpPr>
        <p:spPr>
          <a:xfrm>
            <a:off x="3218688" y="1444752"/>
            <a:ext cx="2816400" cy="402300"/>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1"/>
          <p:cNvSpPr/>
          <p:nvPr/>
        </p:nvSpPr>
        <p:spPr>
          <a:xfrm>
            <a:off x="3218688" y="1444752"/>
            <a:ext cx="2816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Automated Evals</a:t>
            </a:r>
            <a:endParaRPr sz="1300" b="0" i="0" u="none" strike="noStrike" cap="none">
              <a:solidFill>
                <a:schemeClr val="dk1"/>
              </a:solidFill>
              <a:latin typeface="Calibri"/>
              <a:ea typeface="Calibri"/>
              <a:cs typeface="Calibri"/>
              <a:sym typeface="Calibri"/>
            </a:endParaRPr>
          </a:p>
        </p:txBody>
      </p:sp>
      <p:sp>
        <p:nvSpPr>
          <p:cNvPr id="575" name="Google Shape;575;p21"/>
          <p:cNvSpPr/>
          <p:nvPr/>
        </p:nvSpPr>
        <p:spPr>
          <a:xfrm>
            <a:off x="3346704" y="1975104"/>
            <a:ext cx="91500" cy="91500"/>
          </a:xfrm>
          <a:prstGeom prst="ellipse">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1"/>
          <p:cNvSpPr/>
          <p:nvPr/>
        </p:nvSpPr>
        <p:spPr>
          <a:xfrm>
            <a:off x="3493008" y="192024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Action advancement: did the agent make progress?</a:t>
            </a:r>
            <a:endParaRPr sz="1050" b="0" i="0" u="none" strike="noStrike" cap="none">
              <a:solidFill>
                <a:schemeClr val="dk1"/>
              </a:solidFill>
              <a:latin typeface="Calibri"/>
              <a:ea typeface="Calibri"/>
              <a:cs typeface="Calibri"/>
              <a:sym typeface="Calibri"/>
            </a:endParaRPr>
          </a:p>
        </p:txBody>
      </p:sp>
      <p:sp>
        <p:nvSpPr>
          <p:cNvPr id="577" name="Google Shape;577;p21"/>
          <p:cNvSpPr/>
          <p:nvPr/>
        </p:nvSpPr>
        <p:spPr>
          <a:xfrm>
            <a:off x="3346704" y="2523744"/>
            <a:ext cx="91500" cy="91500"/>
          </a:xfrm>
          <a:prstGeom prst="ellipse">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1"/>
          <p:cNvSpPr/>
          <p:nvPr/>
        </p:nvSpPr>
        <p:spPr>
          <a:xfrm>
            <a:off x="3493008" y="246888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Context adherence: did it stay on-topic?</a:t>
            </a:r>
            <a:endParaRPr sz="1050" b="0" i="0" u="none" strike="noStrike" cap="none">
              <a:solidFill>
                <a:schemeClr val="dk1"/>
              </a:solidFill>
              <a:latin typeface="Calibri"/>
              <a:ea typeface="Calibri"/>
              <a:cs typeface="Calibri"/>
              <a:sym typeface="Calibri"/>
            </a:endParaRPr>
          </a:p>
        </p:txBody>
      </p:sp>
      <p:sp>
        <p:nvSpPr>
          <p:cNvPr id="579" name="Google Shape;579;p21"/>
          <p:cNvSpPr/>
          <p:nvPr/>
        </p:nvSpPr>
        <p:spPr>
          <a:xfrm>
            <a:off x="3346704" y="3072384"/>
            <a:ext cx="91500" cy="91500"/>
          </a:xfrm>
          <a:prstGeom prst="ellipse">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1"/>
          <p:cNvSpPr/>
          <p:nvPr/>
        </p:nvSpPr>
        <p:spPr>
          <a:xfrm>
            <a:off x="3493008" y="301752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Hallucination check: did it fabricate facts?</a:t>
            </a:r>
            <a:endParaRPr sz="1050" b="0" i="0" u="none" strike="noStrike" cap="none">
              <a:solidFill>
                <a:schemeClr val="dk1"/>
              </a:solidFill>
              <a:latin typeface="Calibri"/>
              <a:ea typeface="Calibri"/>
              <a:cs typeface="Calibri"/>
              <a:sym typeface="Calibri"/>
            </a:endParaRPr>
          </a:p>
        </p:txBody>
      </p:sp>
      <p:sp>
        <p:nvSpPr>
          <p:cNvPr id="581" name="Google Shape;581;p21"/>
          <p:cNvSpPr/>
          <p:nvPr/>
        </p:nvSpPr>
        <p:spPr>
          <a:xfrm>
            <a:off x="3346704" y="3621024"/>
            <a:ext cx="91500" cy="91500"/>
          </a:xfrm>
          <a:prstGeom prst="ellipse">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1"/>
          <p:cNvSpPr/>
          <p:nvPr/>
        </p:nvSpPr>
        <p:spPr>
          <a:xfrm>
            <a:off x="3493008" y="356616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Detect infinite loops before hitting production</a:t>
            </a:r>
            <a:endParaRPr sz="1050" b="0" i="0" u="none" strike="noStrike" cap="none">
              <a:solidFill>
                <a:schemeClr val="dk1"/>
              </a:solidFill>
              <a:latin typeface="Calibri"/>
              <a:ea typeface="Calibri"/>
              <a:cs typeface="Calibri"/>
              <a:sym typeface="Calibri"/>
            </a:endParaRPr>
          </a:p>
        </p:txBody>
      </p:sp>
      <p:sp>
        <p:nvSpPr>
          <p:cNvPr id="583" name="Google Shape;583;p21"/>
          <p:cNvSpPr/>
          <p:nvPr/>
        </p:nvSpPr>
        <p:spPr>
          <a:xfrm>
            <a:off x="3346704" y="4169664"/>
            <a:ext cx="91500" cy="91500"/>
          </a:xfrm>
          <a:prstGeom prst="ellipse">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1"/>
          <p:cNvSpPr/>
          <p:nvPr/>
        </p:nvSpPr>
        <p:spPr>
          <a:xfrm>
            <a:off x="3493008" y="411480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Run evaluations automatically on every deployment</a:t>
            </a:r>
            <a:endParaRPr sz="1050" b="0" i="0" u="none" strike="noStrike" cap="none">
              <a:solidFill>
                <a:schemeClr val="dk1"/>
              </a:solidFill>
              <a:latin typeface="Calibri"/>
              <a:ea typeface="Calibri"/>
              <a:cs typeface="Calibri"/>
              <a:sym typeface="Calibri"/>
            </a:endParaRPr>
          </a:p>
        </p:txBody>
      </p:sp>
      <p:sp>
        <p:nvSpPr>
          <p:cNvPr id="585" name="Google Shape;585;p21"/>
          <p:cNvSpPr/>
          <p:nvPr/>
        </p:nvSpPr>
        <p:spPr>
          <a:xfrm>
            <a:off x="6181344" y="1444752"/>
            <a:ext cx="2816400" cy="354780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1"/>
          <p:cNvSpPr/>
          <p:nvPr/>
        </p:nvSpPr>
        <p:spPr>
          <a:xfrm>
            <a:off x="6181344" y="1444752"/>
            <a:ext cx="2816400" cy="4023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1"/>
          <p:cNvSpPr/>
          <p:nvPr/>
        </p:nvSpPr>
        <p:spPr>
          <a:xfrm>
            <a:off x="6181344" y="1444752"/>
            <a:ext cx="28164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Production Monitoring</a:t>
            </a:r>
            <a:endParaRPr sz="1300" b="0" i="0" u="none" strike="noStrike" cap="none">
              <a:solidFill>
                <a:schemeClr val="dk1"/>
              </a:solidFill>
              <a:latin typeface="Calibri"/>
              <a:ea typeface="Calibri"/>
              <a:cs typeface="Calibri"/>
              <a:sym typeface="Calibri"/>
            </a:endParaRPr>
          </a:p>
        </p:txBody>
      </p:sp>
      <p:sp>
        <p:nvSpPr>
          <p:cNvPr id="588" name="Google Shape;588;p21"/>
          <p:cNvSpPr/>
          <p:nvPr/>
        </p:nvSpPr>
        <p:spPr>
          <a:xfrm>
            <a:off x="6309360" y="1975104"/>
            <a:ext cx="91500" cy="9150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1"/>
          <p:cNvSpPr/>
          <p:nvPr/>
        </p:nvSpPr>
        <p:spPr>
          <a:xfrm>
            <a:off x="6455664" y="192024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Track agent performance over time with dashboards</a:t>
            </a:r>
            <a:endParaRPr sz="1050" b="0" i="0" u="none" strike="noStrike" cap="none">
              <a:solidFill>
                <a:schemeClr val="dk1"/>
              </a:solidFill>
              <a:latin typeface="Calibri"/>
              <a:ea typeface="Calibri"/>
              <a:cs typeface="Calibri"/>
              <a:sym typeface="Calibri"/>
            </a:endParaRPr>
          </a:p>
        </p:txBody>
      </p:sp>
      <p:sp>
        <p:nvSpPr>
          <p:cNvPr id="590" name="Google Shape;590;p21"/>
          <p:cNvSpPr/>
          <p:nvPr/>
        </p:nvSpPr>
        <p:spPr>
          <a:xfrm>
            <a:off x="6309360" y="2523744"/>
            <a:ext cx="91500" cy="9150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1"/>
          <p:cNvSpPr/>
          <p:nvPr/>
        </p:nvSpPr>
        <p:spPr>
          <a:xfrm>
            <a:off x="6455664" y="246888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Alert instantly on quality or cost regressions</a:t>
            </a:r>
            <a:endParaRPr sz="1050" b="0" i="0" u="none" strike="noStrike" cap="none">
              <a:solidFill>
                <a:schemeClr val="dk1"/>
              </a:solidFill>
              <a:latin typeface="Calibri"/>
              <a:ea typeface="Calibri"/>
              <a:cs typeface="Calibri"/>
              <a:sym typeface="Calibri"/>
            </a:endParaRPr>
          </a:p>
        </p:txBody>
      </p:sp>
      <p:sp>
        <p:nvSpPr>
          <p:cNvPr id="592" name="Google Shape;592;p21"/>
          <p:cNvSpPr/>
          <p:nvPr/>
        </p:nvSpPr>
        <p:spPr>
          <a:xfrm>
            <a:off x="6309360" y="3072384"/>
            <a:ext cx="91500" cy="9150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1"/>
          <p:cNvSpPr/>
          <p:nvPr/>
        </p:nvSpPr>
        <p:spPr>
          <a:xfrm>
            <a:off x="6455664" y="301752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A/B test different graph configurations safely</a:t>
            </a:r>
            <a:endParaRPr sz="1050" b="0" i="0" u="none" strike="noStrike" cap="none">
              <a:solidFill>
                <a:schemeClr val="dk1"/>
              </a:solidFill>
              <a:latin typeface="Calibri"/>
              <a:ea typeface="Calibri"/>
              <a:cs typeface="Calibri"/>
              <a:sym typeface="Calibri"/>
            </a:endParaRPr>
          </a:p>
        </p:txBody>
      </p:sp>
      <p:sp>
        <p:nvSpPr>
          <p:cNvPr id="594" name="Google Shape;594;p21"/>
          <p:cNvSpPr/>
          <p:nvPr/>
        </p:nvSpPr>
        <p:spPr>
          <a:xfrm>
            <a:off x="6309360" y="3621024"/>
            <a:ext cx="91500" cy="9150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1"/>
          <p:cNvSpPr/>
          <p:nvPr/>
        </p:nvSpPr>
        <p:spPr>
          <a:xfrm>
            <a:off x="6455664" y="356616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Monitor token cost per run across all users</a:t>
            </a:r>
            <a:endParaRPr sz="1050" b="0" i="0" u="none" strike="noStrike" cap="none">
              <a:solidFill>
                <a:schemeClr val="dk1"/>
              </a:solidFill>
              <a:latin typeface="Calibri"/>
              <a:ea typeface="Calibri"/>
              <a:cs typeface="Calibri"/>
              <a:sym typeface="Calibri"/>
            </a:endParaRPr>
          </a:p>
        </p:txBody>
      </p:sp>
      <p:sp>
        <p:nvSpPr>
          <p:cNvPr id="596" name="Google Shape;596;p21"/>
          <p:cNvSpPr/>
          <p:nvPr/>
        </p:nvSpPr>
        <p:spPr>
          <a:xfrm>
            <a:off x="6309360" y="4169664"/>
            <a:ext cx="91500" cy="91500"/>
          </a:xfrm>
          <a:prstGeom prst="ellipse">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1"/>
          <p:cNvSpPr/>
          <p:nvPr/>
        </p:nvSpPr>
        <p:spPr>
          <a:xfrm>
            <a:off x="6455664" y="4114800"/>
            <a:ext cx="2469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050"/>
              <a:buFont typeface="Calibri"/>
              <a:buNone/>
            </a:pPr>
            <a:r>
              <a:rPr lang="en-US" sz="1050" b="0" i="0" u="none" strike="noStrike" cap="none">
                <a:solidFill>
                  <a:srgbClr val="475569"/>
                </a:solidFill>
                <a:latin typeface="Calibri"/>
                <a:ea typeface="Calibri"/>
                <a:cs typeface="Calibri"/>
                <a:sym typeface="Calibri"/>
              </a:rPr>
              <a:t>Collect user feedback ratings to drive improvement</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602"/>
        <p:cNvGrpSpPr/>
        <p:nvPr/>
      </p:nvGrpSpPr>
      <p:grpSpPr>
        <a:xfrm>
          <a:off x="0" y="0"/>
          <a:ext cx="0" cy="0"/>
          <a:chOff x="0" y="0"/>
          <a:chExt cx="0" cy="0"/>
        </a:xfrm>
      </p:grpSpPr>
      <p:sp>
        <p:nvSpPr>
          <p:cNvPr id="603" name="Google Shape;603;p22"/>
          <p:cNvSpPr/>
          <p:nvPr/>
        </p:nvSpPr>
        <p:spPr>
          <a:xfrm>
            <a:off x="0" y="0"/>
            <a:ext cx="9144000" cy="658368"/>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2"/>
          <p:cNvSpPr/>
          <p:nvPr/>
        </p:nvSpPr>
        <p:spPr>
          <a:xfrm>
            <a:off x="0" y="0"/>
            <a:ext cx="128016" cy="658368"/>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2"/>
          <p:cNvSpPr/>
          <p:nvPr/>
        </p:nvSpPr>
        <p:spPr>
          <a:xfrm>
            <a:off x="219456" y="0"/>
            <a:ext cx="62179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Key Takeaways</a:t>
            </a:r>
            <a:endParaRPr sz="2200" b="0" i="0" u="none" strike="noStrike" cap="none">
              <a:solidFill>
                <a:schemeClr val="dk1"/>
              </a:solidFill>
              <a:latin typeface="Calibri"/>
              <a:ea typeface="Calibri"/>
              <a:cs typeface="Calibri"/>
              <a:sym typeface="Calibri"/>
            </a:endParaRPr>
          </a:p>
        </p:txBody>
      </p:sp>
      <p:sp>
        <p:nvSpPr>
          <p:cNvPr id="606" name="Google Shape;606;p22"/>
          <p:cNvSpPr/>
          <p:nvPr/>
        </p:nvSpPr>
        <p:spPr>
          <a:xfrm>
            <a:off x="6492240" y="0"/>
            <a:ext cx="2514600" cy="6583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The complete picture</a:t>
            </a:r>
            <a:endParaRPr sz="1000" b="0" i="0" u="none" strike="noStrike" cap="none">
              <a:solidFill>
                <a:schemeClr val="dk1"/>
              </a:solidFill>
              <a:latin typeface="Calibri"/>
              <a:ea typeface="Calibri"/>
              <a:cs typeface="Calibri"/>
              <a:sym typeface="Calibri"/>
            </a:endParaRPr>
          </a:p>
        </p:txBody>
      </p:sp>
      <p:sp>
        <p:nvSpPr>
          <p:cNvPr id="607" name="Google Shape;607;p22"/>
          <p:cNvSpPr/>
          <p:nvPr/>
        </p:nvSpPr>
        <p:spPr>
          <a:xfrm>
            <a:off x="0" y="658368"/>
            <a:ext cx="9144000" cy="201168"/>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2"/>
          <p:cNvSpPr/>
          <p:nvPr/>
        </p:nvSpPr>
        <p:spPr>
          <a:xfrm>
            <a:off x="219456" y="658368"/>
            <a:ext cx="8778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4: Production</a:t>
            </a:r>
            <a:endParaRPr sz="950" b="0" i="0" u="none" strike="noStrike" cap="none">
              <a:solidFill>
                <a:schemeClr val="dk1"/>
              </a:solidFill>
              <a:latin typeface="Calibri"/>
              <a:ea typeface="Calibri"/>
              <a:cs typeface="Calibri"/>
              <a:sym typeface="Calibri"/>
            </a:endParaRPr>
          </a:p>
        </p:txBody>
      </p:sp>
      <p:sp>
        <p:nvSpPr>
          <p:cNvPr id="609" name="Google Shape;609;p22"/>
          <p:cNvSpPr/>
          <p:nvPr/>
        </p:nvSpPr>
        <p:spPr>
          <a:xfrm>
            <a:off x="256032" y="822960"/>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2"/>
          <p:cNvSpPr/>
          <p:nvPr/>
        </p:nvSpPr>
        <p:spPr>
          <a:xfrm>
            <a:off x="256032" y="822960"/>
            <a:ext cx="1828800" cy="548640"/>
          </a:xfrm>
          <a:prstGeom prst="rect">
            <a:avLst/>
          </a:prstGeom>
          <a:solidFill>
            <a:srgbClr val="D4621A">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2"/>
          <p:cNvSpPr/>
          <p:nvPr/>
        </p:nvSpPr>
        <p:spPr>
          <a:xfrm>
            <a:off x="256032" y="822960"/>
            <a:ext cx="73152" cy="54864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2"/>
          <p:cNvSpPr/>
          <p:nvPr/>
        </p:nvSpPr>
        <p:spPr>
          <a:xfrm>
            <a:off x="384048" y="822960"/>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D4621A"/>
              </a:buClr>
              <a:buSzPts val="1100"/>
              <a:buFont typeface="Calibri"/>
              <a:buNone/>
            </a:pPr>
            <a:r>
              <a:rPr lang="en-US" sz="1100" b="1" i="0" u="none" strike="noStrike" cap="none">
                <a:solidFill>
                  <a:srgbClr val="D4621A"/>
                </a:solidFill>
                <a:latin typeface="Calibri"/>
                <a:ea typeface="Calibri"/>
                <a:cs typeface="Calibri"/>
                <a:sym typeface="Calibri"/>
              </a:rPr>
              <a:t>Graphs beat chains</a:t>
            </a:r>
            <a:endParaRPr sz="1100" b="0" i="0" u="none" strike="noStrike" cap="none">
              <a:solidFill>
                <a:schemeClr val="dk1"/>
              </a:solidFill>
              <a:latin typeface="Calibri"/>
              <a:ea typeface="Calibri"/>
              <a:cs typeface="Calibri"/>
              <a:sym typeface="Calibri"/>
            </a:endParaRPr>
          </a:p>
        </p:txBody>
      </p:sp>
      <p:sp>
        <p:nvSpPr>
          <p:cNvPr id="613" name="Google Shape;613;p22"/>
          <p:cNvSpPr/>
          <p:nvPr/>
        </p:nvSpPr>
        <p:spPr>
          <a:xfrm>
            <a:off x="2157984" y="896112"/>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Cyclic graphs replace linear pipelines — enabling loops, branching, and self-correction. This is the foundational shift.</a:t>
            </a:r>
            <a:endParaRPr sz="1100" b="0" i="0" u="none" strike="noStrike" cap="none">
              <a:solidFill>
                <a:schemeClr val="dk1"/>
              </a:solidFill>
              <a:latin typeface="Calibri"/>
              <a:ea typeface="Calibri"/>
              <a:cs typeface="Calibri"/>
              <a:sym typeface="Calibri"/>
            </a:endParaRPr>
          </a:p>
        </p:txBody>
      </p:sp>
      <p:sp>
        <p:nvSpPr>
          <p:cNvPr id="614" name="Google Shape;614;p22"/>
          <p:cNvSpPr/>
          <p:nvPr/>
        </p:nvSpPr>
        <p:spPr>
          <a:xfrm>
            <a:off x="256032" y="1444752"/>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2"/>
          <p:cNvSpPr/>
          <p:nvPr/>
        </p:nvSpPr>
        <p:spPr>
          <a:xfrm>
            <a:off x="256032" y="1444752"/>
            <a:ext cx="1828800" cy="548640"/>
          </a:xfrm>
          <a:prstGeom prst="rect">
            <a:avLst/>
          </a:prstGeom>
          <a:solidFill>
            <a:srgbClr val="1E3A5F">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2"/>
          <p:cNvSpPr/>
          <p:nvPr/>
        </p:nvSpPr>
        <p:spPr>
          <a:xfrm>
            <a:off x="256032" y="1444752"/>
            <a:ext cx="73152" cy="54864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2"/>
          <p:cNvSpPr/>
          <p:nvPr/>
        </p:nvSpPr>
        <p:spPr>
          <a:xfrm>
            <a:off x="384048" y="1444752"/>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1E3A5F"/>
              </a:buClr>
              <a:buSzPts val="1100"/>
              <a:buFont typeface="Calibri"/>
              <a:buNone/>
            </a:pPr>
            <a:r>
              <a:rPr lang="en-US" sz="1100" b="1" i="0" u="none" strike="noStrike" cap="none">
                <a:solidFill>
                  <a:srgbClr val="1E3A5F"/>
                </a:solidFill>
                <a:latin typeface="Calibri"/>
                <a:ea typeface="Calibri"/>
                <a:cs typeface="Calibri"/>
                <a:sym typeface="Calibri"/>
              </a:rPr>
              <a:t>Three building blocks</a:t>
            </a:r>
            <a:endParaRPr sz="1100" b="0" i="0" u="none" strike="noStrike" cap="none">
              <a:solidFill>
                <a:schemeClr val="dk1"/>
              </a:solidFill>
              <a:latin typeface="Calibri"/>
              <a:ea typeface="Calibri"/>
              <a:cs typeface="Calibri"/>
              <a:sym typeface="Calibri"/>
            </a:endParaRPr>
          </a:p>
        </p:txBody>
      </p:sp>
      <p:sp>
        <p:nvSpPr>
          <p:cNvPr id="618" name="Google Shape;618;p22"/>
          <p:cNvSpPr/>
          <p:nvPr/>
        </p:nvSpPr>
        <p:spPr>
          <a:xfrm>
            <a:off x="2157984" y="1517904"/>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Every workflow: Nodes (actors) + Edges (logic) + State (memory). Reducers define how parallel updates merge safely.</a:t>
            </a:r>
            <a:endParaRPr sz="1100" b="0" i="0" u="none" strike="noStrike" cap="none">
              <a:solidFill>
                <a:schemeClr val="dk1"/>
              </a:solidFill>
              <a:latin typeface="Calibri"/>
              <a:ea typeface="Calibri"/>
              <a:cs typeface="Calibri"/>
              <a:sym typeface="Calibri"/>
            </a:endParaRPr>
          </a:p>
        </p:txBody>
      </p:sp>
      <p:sp>
        <p:nvSpPr>
          <p:cNvPr id="619" name="Google Shape;619;p22"/>
          <p:cNvSpPr/>
          <p:nvPr/>
        </p:nvSpPr>
        <p:spPr>
          <a:xfrm>
            <a:off x="256032" y="2066544"/>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2"/>
          <p:cNvSpPr/>
          <p:nvPr/>
        </p:nvSpPr>
        <p:spPr>
          <a:xfrm>
            <a:off x="256032" y="2066544"/>
            <a:ext cx="1828800" cy="548640"/>
          </a:xfrm>
          <a:prstGeom prst="rect">
            <a:avLst/>
          </a:prstGeom>
          <a:solidFill>
            <a:srgbClr val="0F7490">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2"/>
          <p:cNvSpPr/>
          <p:nvPr/>
        </p:nvSpPr>
        <p:spPr>
          <a:xfrm>
            <a:off x="256032" y="2066544"/>
            <a:ext cx="73152" cy="548640"/>
          </a:xfrm>
          <a:prstGeom prst="rect">
            <a:avLst/>
          </a:prstGeom>
          <a:solidFill>
            <a:srgbClr val="0F74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2"/>
          <p:cNvSpPr/>
          <p:nvPr/>
        </p:nvSpPr>
        <p:spPr>
          <a:xfrm>
            <a:off x="384048" y="2066544"/>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0F7490"/>
              </a:buClr>
              <a:buSzPts val="1100"/>
              <a:buFont typeface="Calibri"/>
              <a:buNone/>
            </a:pPr>
            <a:r>
              <a:rPr lang="en-US" sz="1100" b="1" i="0" u="none" strike="noStrike" cap="none">
                <a:solidFill>
                  <a:srgbClr val="0F7490"/>
                </a:solidFill>
                <a:latin typeface="Calibri"/>
                <a:ea typeface="Calibri"/>
                <a:cs typeface="Calibri"/>
                <a:sym typeface="Calibri"/>
              </a:rPr>
              <a:t>Decision Making</a:t>
            </a:r>
            <a:endParaRPr sz="1100" b="0" i="0" u="none" strike="noStrike" cap="none">
              <a:solidFill>
                <a:schemeClr val="dk1"/>
              </a:solidFill>
              <a:latin typeface="Calibri"/>
              <a:ea typeface="Calibri"/>
              <a:cs typeface="Calibri"/>
              <a:sym typeface="Calibri"/>
            </a:endParaRPr>
          </a:p>
        </p:txBody>
      </p:sp>
      <p:sp>
        <p:nvSpPr>
          <p:cNvPr id="623" name="Google Shape;623;p22"/>
          <p:cNvSpPr/>
          <p:nvPr/>
        </p:nvSpPr>
        <p:spPr>
          <a:xfrm>
            <a:off x="2157984" y="2139696"/>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Conditional edges and Intent Routing let a single graph handle branching logic and LLM-powered classification at runtime.</a:t>
            </a:r>
            <a:endParaRPr sz="1100" b="0" i="0" u="none" strike="noStrike" cap="none">
              <a:solidFill>
                <a:schemeClr val="dk1"/>
              </a:solidFill>
              <a:latin typeface="Calibri"/>
              <a:ea typeface="Calibri"/>
              <a:cs typeface="Calibri"/>
              <a:sym typeface="Calibri"/>
            </a:endParaRPr>
          </a:p>
        </p:txBody>
      </p:sp>
      <p:sp>
        <p:nvSpPr>
          <p:cNvPr id="624" name="Google Shape;624;p22"/>
          <p:cNvSpPr/>
          <p:nvPr/>
        </p:nvSpPr>
        <p:spPr>
          <a:xfrm>
            <a:off x="256032" y="2688336"/>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2"/>
          <p:cNvSpPr/>
          <p:nvPr/>
        </p:nvSpPr>
        <p:spPr>
          <a:xfrm>
            <a:off x="256032" y="2688336"/>
            <a:ext cx="1828800" cy="548640"/>
          </a:xfrm>
          <a:prstGeom prst="rect">
            <a:avLst/>
          </a:prstGeom>
          <a:solidFill>
            <a:srgbClr val="5B21B6">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2"/>
          <p:cNvSpPr/>
          <p:nvPr/>
        </p:nvSpPr>
        <p:spPr>
          <a:xfrm>
            <a:off x="256032" y="2688336"/>
            <a:ext cx="73152" cy="548640"/>
          </a:xfrm>
          <a:prstGeom prst="rect">
            <a:avLst/>
          </a:prstGeom>
          <a:solidFill>
            <a:srgbClr val="5B2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2"/>
          <p:cNvSpPr/>
          <p:nvPr/>
        </p:nvSpPr>
        <p:spPr>
          <a:xfrm>
            <a:off x="384048" y="2688336"/>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5B21B6"/>
              </a:buClr>
              <a:buSzPts val="1100"/>
              <a:buFont typeface="Calibri"/>
              <a:buNone/>
            </a:pPr>
            <a:r>
              <a:rPr lang="en-US" sz="1100" b="1" i="0" u="none" strike="noStrike" cap="none">
                <a:solidFill>
                  <a:srgbClr val="5B21B6"/>
                </a:solidFill>
                <a:latin typeface="Calibri"/>
                <a:ea typeface="Calibri"/>
                <a:cs typeface="Calibri"/>
                <a:sym typeface="Calibri"/>
              </a:rPr>
              <a:t>Multi-agent = scale</a:t>
            </a:r>
            <a:endParaRPr sz="1100" b="0" i="0" u="none" strike="noStrike" cap="none">
              <a:solidFill>
                <a:schemeClr val="dk1"/>
              </a:solidFill>
              <a:latin typeface="Calibri"/>
              <a:ea typeface="Calibri"/>
              <a:cs typeface="Calibri"/>
              <a:sym typeface="Calibri"/>
            </a:endParaRPr>
          </a:p>
        </p:txBody>
      </p:sp>
      <p:sp>
        <p:nvSpPr>
          <p:cNvPr id="628" name="Google Shape;628;p22"/>
          <p:cNvSpPr/>
          <p:nvPr/>
        </p:nvSpPr>
        <p:spPr>
          <a:xfrm>
            <a:off x="2157984" y="2761488"/>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Supervisor, Handoff, and Parallel Swarm each offer different control/speed/cost trade-offs for orchestrating specialist agents.</a:t>
            </a:r>
            <a:endParaRPr sz="1100" b="0" i="0" u="none" strike="noStrike" cap="none">
              <a:solidFill>
                <a:schemeClr val="dk1"/>
              </a:solidFill>
              <a:latin typeface="Calibri"/>
              <a:ea typeface="Calibri"/>
              <a:cs typeface="Calibri"/>
              <a:sym typeface="Calibri"/>
            </a:endParaRPr>
          </a:p>
        </p:txBody>
      </p:sp>
      <p:sp>
        <p:nvSpPr>
          <p:cNvPr id="629" name="Google Shape;629;p22"/>
          <p:cNvSpPr/>
          <p:nvPr/>
        </p:nvSpPr>
        <p:spPr>
          <a:xfrm>
            <a:off x="256032" y="3310128"/>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2"/>
          <p:cNvSpPr/>
          <p:nvPr/>
        </p:nvSpPr>
        <p:spPr>
          <a:xfrm>
            <a:off x="256032" y="3310128"/>
            <a:ext cx="1828800" cy="548640"/>
          </a:xfrm>
          <a:prstGeom prst="rect">
            <a:avLst/>
          </a:prstGeom>
          <a:solidFill>
            <a:srgbClr val="1D4ED8">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2"/>
          <p:cNvSpPr/>
          <p:nvPr/>
        </p:nvSpPr>
        <p:spPr>
          <a:xfrm>
            <a:off x="256032" y="3310128"/>
            <a:ext cx="73152" cy="548640"/>
          </a:xfrm>
          <a:prstGeom prst="rect">
            <a:avLst/>
          </a:prstGeom>
          <a:solidFill>
            <a:srgbClr val="1D4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2"/>
          <p:cNvSpPr/>
          <p:nvPr/>
        </p:nvSpPr>
        <p:spPr>
          <a:xfrm>
            <a:off x="384048" y="3310128"/>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1D4ED8"/>
              </a:buClr>
              <a:buSzPts val="1100"/>
              <a:buFont typeface="Calibri"/>
              <a:buNone/>
            </a:pPr>
            <a:r>
              <a:rPr lang="en-US" sz="1100" b="1" i="0" u="none" strike="noStrike" cap="none">
                <a:solidFill>
                  <a:srgbClr val="1D4ED8"/>
                </a:solidFill>
                <a:latin typeface="Calibri"/>
                <a:ea typeface="Calibri"/>
                <a:cs typeface="Calibri"/>
                <a:sym typeface="Calibri"/>
              </a:rPr>
              <a:t>Two tiers of memory</a:t>
            </a:r>
            <a:endParaRPr sz="1100" b="0" i="0" u="none" strike="noStrike" cap="none">
              <a:solidFill>
                <a:schemeClr val="dk1"/>
              </a:solidFill>
              <a:latin typeface="Calibri"/>
              <a:ea typeface="Calibri"/>
              <a:cs typeface="Calibri"/>
              <a:sym typeface="Calibri"/>
            </a:endParaRPr>
          </a:p>
        </p:txBody>
      </p:sp>
      <p:sp>
        <p:nvSpPr>
          <p:cNvPr id="633" name="Google Shape;633;p22"/>
          <p:cNvSpPr/>
          <p:nvPr/>
        </p:nvSpPr>
        <p:spPr>
          <a:xfrm>
            <a:off x="2157984" y="3383280"/>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Short-term: State + Checkpointers (within thread). Long-term: Store + vector DBs (across sessions) — Semantic, Episodic, Procedural.</a:t>
            </a:r>
            <a:endParaRPr sz="1100" b="0" i="0" u="none" strike="noStrike" cap="none">
              <a:solidFill>
                <a:schemeClr val="dk1"/>
              </a:solidFill>
              <a:latin typeface="Calibri"/>
              <a:ea typeface="Calibri"/>
              <a:cs typeface="Calibri"/>
              <a:sym typeface="Calibri"/>
            </a:endParaRPr>
          </a:p>
        </p:txBody>
      </p:sp>
      <p:sp>
        <p:nvSpPr>
          <p:cNvPr id="634" name="Google Shape;634;p22"/>
          <p:cNvSpPr/>
          <p:nvPr/>
        </p:nvSpPr>
        <p:spPr>
          <a:xfrm>
            <a:off x="256032" y="3931920"/>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2"/>
          <p:cNvSpPr/>
          <p:nvPr/>
        </p:nvSpPr>
        <p:spPr>
          <a:xfrm>
            <a:off x="256032" y="3931920"/>
            <a:ext cx="1828800" cy="548640"/>
          </a:xfrm>
          <a:prstGeom prst="rect">
            <a:avLst/>
          </a:prstGeom>
          <a:solidFill>
            <a:srgbClr val="C2410C">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2"/>
          <p:cNvSpPr/>
          <p:nvPr/>
        </p:nvSpPr>
        <p:spPr>
          <a:xfrm>
            <a:off x="256032" y="3931920"/>
            <a:ext cx="73152" cy="548640"/>
          </a:xfrm>
          <a:prstGeom prst="rect">
            <a:avLst/>
          </a:prstGeom>
          <a:solidFill>
            <a:srgbClr val="C24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2"/>
          <p:cNvSpPr/>
          <p:nvPr/>
        </p:nvSpPr>
        <p:spPr>
          <a:xfrm>
            <a:off x="384048" y="3931920"/>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C2410C"/>
              </a:buClr>
              <a:buSzPts val="1100"/>
              <a:buFont typeface="Calibri"/>
              <a:buNone/>
            </a:pPr>
            <a:r>
              <a:rPr lang="en-US" sz="1100" b="1" i="0" u="none" strike="noStrike" cap="none">
                <a:solidFill>
                  <a:srgbClr val="C2410C"/>
                </a:solidFill>
                <a:latin typeface="Calibri"/>
                <a:ea typeface="Calibri"/>
                <a:cs typeface="Calibri"/>
                <a:sym typeface="Calibri"/>
              </a:rPr>
              <a:t>Durability requires a backend</a:t>
            </a:r>
            <a:endParaRPr sz="1100" b="0" i="0" u="none" strike="noStrike" cap="none">
              <a:solidFill>
                <a:schemeClr val="dk1"/>
              </a:solidFill>
              <a:latin typeface="Calibri"/>
              <a:ea typeface="Calibri"/>
              <a:cs typeface="Calibri"/>
              <a:sym typeface="Calibri"/>
            </a:endParaRPr>
          </a:p>
        </p:txBody>
      </p:sp>
      <p:sp>
        <p:nvSpPr>
          <p:cNvPr id="638" name="Google Shape;638;p22"/>
          <p:cNvSpPr/>
          <p:nvPr/>
        </p:nvSpPr>
        <p:spPr>
          <a:xfrm>
            <a:off x="2157984" y="4005072"/>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MemorySaver → SQLite → PostgreSQL → Redis: choose your checkpointer based on scale and latency requirements.</a:t>
            </a:r>
            <a:endParaRPr sz="1100" b="0" i="0" u="none" strike="noStrike" cap="none">
              <a:solidFill>
                <a:schemeClr val="dk1"/>
              </a:solidFill>
              <a:latin typeface="Calibri"/>
              <a:ea typeface="Calibri"/>
              <a:cs typeface="Calibri"/>
              <a:sym typeface="Calibri"/>
            </a:endParaRPr>
          </a:p>
        </p:txBody>
      </p:sp>
      <p:sp>
        <p:nvSpPr>
          <p:cNvPr id="639" name="Google Shape;639;p22"/>
          <p:cNvSpPr/>
          <p:nvPr/>
        </p:nvSpPr>
        <p:spPr>
          <a:xfrm>
            <a:off x="256032" y="4553712"/>
            <a:ext cx="8631936" cy="548640"/>
          </a:xfrm>
          <a:prstGeom prst="rect">
            <a:avLst/>
          </a:prstGeom>
          <a:solidFill>
            <a:srgbClr val="FFFFFF"/>
          </a:solidFill>
          <a:ln w="9525" cap="flat" cmpd="sng">
            <a:solidFill>
              <a:srgbClr val="C8D4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2"/>
          <p:cNvSpPr/>
          <p:nvPr/>
        </p:nvSpPr>
        <p:spPr>
          <a:xfrm>
            <a:off x="256032" y="4553712"/>
            <a:ext cx="1828800" cy="548640"/>
          </a:xfrm>
          <a:prstGeom prst="rect">
            <a:avLst/>
          </a:prstGeom>
          <a:solidFill>
            <a:srgbClr val="166534">
              <a:alpha val="8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2"/>
          <p:cNvSpPr/>
          <p:nvPr/>
        </p:nvSpPr>
        <p:spPr>
          <a:xfrm>
            <a:off x="256032" y="4553712"/>
            <a:ext cx="73152" cy="548640"/>
          </a:xfrm>
          <a:prstGeom prst="rect">
            <a:avLst/>
          </a:prstGeom>
          <a:solidFill>
            <a:srgbClr val="1665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2"/>
          <p:cNvSpPr/>
          <p:nvPr/>
        </p:nvSpPr>
        <p:spPr>
          <a:xfrm>
            <a:off x="384048" y="4553712"/>
            <a:ext cx="1664208" cy="548640"/>
          </a:xfrm>
          <a:prstGeom prst="rect">
            <a:avLst/>
          </a:prstGeom>
          <a:noFill/>
          <a:ln>
            <a:noFill/>
          </a:ln>
        </p:spPr>
        <p:txBody>
          <a:bodyPr spcFirstLastPara="1" wrap="square" lIns="500" tIns="500" rIns="500" bIns="500" anchor="ctr" anchorCtr="0">
            <a:noAutofit/>
          </a:bodyPr>
          <a:lstStyle/>
          <a:p>
            <a:pPr marL="0" marR="0" lvl="0" indent="0" algn="l" rtl="0">
              <a:spcBef>
                <a:spcPts val="0"/>
              </a:spcBef>
              <a:spcAft>
                <a:spcPts val="0"/>
              </a:spcAft>
              <a:buClr>
                <a:srgbClr val="166534"/>
              </a:buClr>
              <a:buSzPts val="1100"/>
              <a:buFont typeface="Calibri"/>
              <a:buNone/>
            </a:pPr>
            <a:r>
              <a:rPr lang="en-US" sz="1100" b="1" i="0" u="none" strike="noStrike" cap="none">
                <a:solidFill>
                  <a:srgbClr val="166534"/>
                </a:solidFill>
                <a:latin typeface="Calibri"/>
                <a:ea typeface="Calibri"/>
                <a:cs typeface="Calibri"/>
                <a:sym typeface="Calibri"/>
              </a:rPr>
              <a:t>Humans stay in control</a:t>
            </a:r>
            <a:endParaRPr sz="1100" b="0" i="0" u="none" strike="noStrike" cap="none">
              <a:solidFill>
                <a:schemeClr val="dk1"/>
              </a:solidFill>
              <a:latin typeface="Calibri"/>
              <a:ea typeface="Calibri"/>
              <a:cs typeface="Calibri"/>
              <a:sym typeface="Calibri"/>
            </a:endParaRPr>
          </a:p>
        </p:txBody>
      </p:sp>
      <p:sp>
        <p:nvSpPr>
          <p:cNvPr id="643" name="Google Shape;643;p22"/>
          <p:cNvSpPr/>
          <p:nvPr/>
        </p:nvSpPr>
        <p:spPr>
          <a:xfrm>
            <a:off x="2157984" y="4626864"/>
            <a:ext cx="660196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1100"/>
              <a:buFont typeface="Calibri"/>
              <a:buNone/>
            </a:pPr>
            <a:r>
              <a:rPr lang="en-US" sz="1100" b="0" i="0" u="none" strike="noStrike" cap="none">
                <a:solidFill>
                  <a:srgbClr val="475569"/>
                </a:solidFill>
                <a:latin typeface="Calibri"/>
                <a:ea typeface="Calibri"/>
                <a:cs typeface="Calibri"/>
                <a:sym typeface="Calibri"/>
              </a:rPr>
              <a:t>Interrupt points pause agents before high-stakes actions. Time Travel lets anyone rewind to any checkpoint and fork alternatives.</a:t>
            </a:r>
            <a:endParaRPr sz="1100" b="0" i="0" u="none" strike="noStrike" cap="none">
              <a:solidFill>
                <a:schemeClr val="dk1"/>
              </a:solidFill>
              <a:latin typeface="Calibri"/>
              <a:ea typeface="Calibri"/>
              <a:cs typeface="Calibri"/>
              <a:sym typeface="Calibri"/>
            </a:endParaRPr>
          </a:p>
        </p:txBody>
      </p:sp>
      <p:sp>
        <p:nvSpPr>
          <p:cNvPr id="644" name="Google Shape;644;p22"/>
          <p:cNvSpPr/>
          <p:nvPr/>
        </p:nvSpPr>
        <p:spPr>
          <a:xfrm>
            <a:off x="256032" y="5120640"/>
            <a:ext cx="8631936" cy="18288"/>
          </a:xfrm>
          <a:prstGeom prst="rect">
            <a:avLst/>
          </a:prstGeom>
          <a:solidFill>
            <a:srgbClr val="C8D4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2"/>
          <p:cNvSpPr/>
          <p:nvPr/>
        </p:nvSpPr>
        <p:spPr>
          <a:xfrm>
            <a:off x="256032" y="5157216"/>
            <a:ext cx="8631936"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50"/>
              <a:buFont typeface="Calibri"/>
              <a:buNone/>
            </a:pPr>
            <a:r>
              <a:rPr lang="en-US" sz="850" b="0" i="1" u="none" strike="noStrike" cap="none">
                <a:solidFill>
                  <a:srgbClr val="94A3B8"/>
                </a:solidFill>
                <a:latin typeface="Calibri"/>
                <a:ea typeface="Calibri"/>
                <a:cs typeface="Calibri"/>
                <a:sym typeface="Calibri"/>
              </a:rPr>
              <a:t>docs.langchain.com/oss/python/concepts/memory  ·  Architecting the Graph-Powered Enterprise (NotebookLM)  ·  langchain-ai.github.io/langgraph</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650"/>
        <p:cNvGrpSpPr/>
        <p:nvPr/>
      </p:nvGrpSpPr>
      <p:grpSpPr>
        <a:xfrm>
          <a:off x="0" y="0"/>
          <a:ext cx="0" cy="0"/>
          <a:chOff x="0" y="0"/>
          <a:chExt cx="0" cy="0"/>
        </a:xfrm>
      </p:grpSpPr>
      <p:sp>
        <p:nvSpPr>
          <p:cNvPr id="651" name="Google Shape;651;p23"/>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3"/>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3"/>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Comparison between ADK &amp; Langgraph </a:t>
            </a:r>
            <a:endParaRPr sz="2200" b="0" i="0" u="none" strike="noStrike" cap="none">
              <a:solidFill>
                <a:schemeClr val="dk1"/>
              </a:solidFill>
              <a:latin typeface="Calibri"/>
              <a:ea typeface="Calibri"/>
              <a:cs typeface="Calibri"/>
              <a:sym typeface="Calibri"/>
            </a:endParaRPr>
          </a:p>
        </p:txBody>
      </p:sp>
      <p:sp>
        <p:nvSpPr>
          <p:cNvPr id="654" name="Google Shape;654;p23"/>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LangSmith · Evals · Production Monitoring</a:t>
            </a:r>
            <a:endParaRPr sz="1000" b="0" i="0" u="none" strike="noStrike" cap="none">
              <a:solidFill>
                <a:schemeClr val="dk1"/>
              </a:solidFill>
              <a:latin typeface="Calibri"/>
              <a:ea typeface="Calibri"/>
              <a:cs typeface="Calibri"/>
              <a:sym typeface="Calibri"/>
            </a:endParaRPr>
          </a:p>
        </p:txBody>
      </p:sp>
      <p:sp>
        <p:nvSpPr>
          <p:cNvPr id="655" name="Google Shape;655;p23"/>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3"/>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a:t>
            </a:r>
            <a:r>
              <a:rPr lang="en-US" sz="950">
                <a:solidFill>
                  <a:srgbClr val="94A3B8"/>
                </a:solidFill>
                <a:latin typeface="Calibri"/>
                <a:ea typeface="Calibri"/>
                <a:cs typeface="Calibri"/>
                <a:sym typeface="Calibri"/>
              </a:rPr>
              <a:t>5</a:t>
            </a:r>
            <a:r>
              <a:rPr lang="en-US" sz="950" b="0" i="0" u="none" strike="noStrike" cap="none">
                <a:solidFill>
                  <a:srgbClr val="94A3B8"/>
                </a:solidFill>
                <a:latin typeface="Calibri"/>
                <a:ea typeface="Calibri"/>
                <a:cs typeface="Calibri"/>
                <a:sym typeface="Calibri"/>
              </a:rPr>
              <a:t>: </a:t>
            </a:r>
            <a:r>
              <a:rPr lang="en-US" sz="950">
                <a:solidFill>
                  <a:srgbClr val="94A3B8"/>
                </a:solidFill>
                <a:latin typeface="Calibri"/>
                <a:ea typeface="Calibri"/>
                <a:cs typeface="Calibri"/>
                <a:sym typeface="Calibri"/>
              </a:rPr>
              <a:t>Comparison</a:t>
            </a:r>
            <a:endParaRPr sz="950" b="0" i="0" u="none" strike="noStrike" cap="none">
              <a:solidFill>
                <a:schemeClr val="dk1"/>
              </a:solidFill>
              <a:latin typeface="Calibri"/>
              <a:ea typeface="Calibri"/>
              <a:cs typeface="Calibri"/>
              <a:sym typeface="Calibri"/>
            </a:endParaRPr>
          </a:p>
        </p:txBody>
      </p:sp>
      <p:pic>
        <p:nvPicPr>
          <p:cNvPr id="657" name="Google Shape;657;p23"/>
          <p:cNvPicPr preferRelativeResize="0"/>
          <p:nvPr/>
        </p:nvPicPr>
        <p:blipFill rotWithShape="1">
          <a:blip r:embed="rId3">
            <a:alphaModFix/>
          </a:blip>
          <a:srcRect b="61073"/>
          <a:stretch/>
        </p:blipFill>
        <p:spPr>
          <a:xfrm>
            <a:off x="1605800" y="859675"/>
            <a:ext cx="5943251" cy="2398976"/>
          </a:xfrm>
          <a:prstGeom prst="rect">
            <a:avLst/>
          </a:prstGeom>
          <a:noFill/>
          <a:ln>
            <a:noFill/>
          </a:ln>
        </p:spPr>
      </p:pic>
      <p:pic>
        <p:nvPicPr>
          <p:cNvPr id="658" name="Google Shape;658;p23"/>
          <p:cNvPicPr preferRelativeResize="0"/>
          <p:nvPr/>
        </p:nvPicPr>
        <p:blipFill rotWithShape="1">
          <a:blip r:embed="rId3">
            <a:alphaModFix/>
          </a:blip>
          <a:srcRect t="65400" r="-6758"/>
          <a:stretch/>
        </p:blipFill>
        <p:spPr>
          <a:xfrm>
            <a:off x="1605788" y="3258650"/>
            <a:ext cx="6344926" cy="21322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Shape 663"/>
        <p:cNvGrpSpPr/>
        <p:nvPr/>
      </p:nvGrpSpPr>
      <p:grpSpPr>
        <a:xfrm>
          <a:off x="0" y="0"/>
          <a:ext cx="0" cy="0"/>
          <a:chOff x="0" y="0"/>
          <a:chExt cx="0" cy="0"/>
        </a:xfrm>
      </p:grpSpPr>
      <p:sp>
        <p:nvSpPr>
          <p:cNvPr id="664" name="Google Shape;664;p24"/>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4"/>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4"/>
          <p:cNvSpPr/>
          <p:nvPr/>
        </p:nvSpPr>
        <p:spPr>
          <a:xfrm>
            <a:off x="219456" y="0"/>
            <a:ext cx="62178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Comparison between ADK &amp; Langgraph </a:t>
            </a:r>
            <a:endParaRPr sz="2200" b="0" i="0" u="none" strike="noStrike" cap="none">
              <a:solidFill>
                <a:schemeClr val="dk1"/>
              </a:solidFill>
              <a:latin typeface="Calibri"/>
              <a:ea typeface="Calibri"/>
              <a:cs typeface="Calibri"/>
              <a:sym typeface="Calibri"/>
            </a:endParaRPr>
          </a:p>
        </p:txBody>
      </p:sp>
      <p:sp>
        <p:nvSpPr>
          <p:cNvPr id="667" name="Google Shape;667;p24"/>
          <p:cNvSpPr/>
          <p:nvPr/>
        </p:nvSpPr>
        <p:spPr>
          <a:xfrm>
            <a:off x="6492240" y="0"/>
            <a:ext cx="2514600" cy="65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4621A"/>
              </a:buClr>
              <a:buSzPts val="1000"/>
              <a:buFont typeface="Calibri"/>
              <a:buNone/>
            </a:pPr>
            <a:r>
              <a:rPr lang="en-US" sz="1000" b="0" i="0" u="none" strike="noStrike" cap="none">
                <a:solidFill>
                  <a:srgbClr val="D4621A"/>
                </a:solidFill>
                <a:latin typeface="Calibri"/>
                <a:ea typeface="Calibri"/>
                <a:cs typeface="Calibri"/>
                <a:sym typeface="Calibri"/>
              </a:rPr>
              <a:t>LangSmith · Evals · Production Monitoring</a:t>
            </a:r>
            <a:endParaRPr sz="1000" b="0" i="0" u="none" strike="noStrike" cap="none">
              <a:solidFill>
                <a:schemeClr val="dk1"/>
              </a:solidFill>
              <a:latin typeface="Calibri"/>
              <a:ea typeface="Calibri"/>
              <a:cs typeface="Calibri"/>
              <a:sym typeface="Calibri"/>
            </a:endParaRPr>
          </a:p>
        </p:txBody>
      </p:sp>
      <p:sp>
        <p:nvSpPr>
          <p:cNvPr id="668" name="Google Shape;668;p24"/>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4"/>
          <p:cNvSpPr/>
          <p:nvPr/>
        </p:nvSpPr>
        <p:spPr>
          <a:xfrm>
            <a:off x="219456" y="658368"/>
            <a:ext cx="87783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950"/>
              <a:buFont typeface="Calibri"/>
              <a:buNone/>
            </a:pPr>
            <a:r>
              <a:rPr lang="en-US" sz="950" b="0" i="0" u="none" strike="noStrike" cap="none">
                <a:solidFill>
                  <a:srgbClr val="94A3B8"/>
                </a:solidFill>
                <a:latin typeface="Calibri"/>
                <a:ea typeface="Calibri"/>
                <a:cs typeface="Calibri"/>
                <a:sym typeface="Calibri"/>
              </a:rPr>
              <a:t>Part </a:t>
            </a:r>
            <a:r>
              <a:rPr lang="en-US" sz="950">
                <a:solidFill>
                  <a:srgbClr val="94A3B8"/>
                </a:solidFill>
                <a:latin typeface="Calibri"/>
                <a:ea typeface="Calibri"/>
                <a:cs typeface="Calibri"/>
                <a:sym typeface="Calibri"/>
              </a:rPr>
              <a:t>5</a:t>
            </a:r>
            <a:r>
              <a:rPr lang="en-US" sz="950" b="0" i="0" u="none" strike="noStrike" cap="none">
                <a:solidFill>
                  <a:srgbClr val="94A3B8"/>
                </a:solidFill>
                <a:latin typeface="Calibri"/>
                <a:ea typeface="Calibri"/>
                <a:cs typeface="Calibri"/>
                <a:sym typeface="Calibri"/>
              </a:rPr>
              <a:t>: </a:t>
            </a:r>
            <a:r>
              <a:rPr lang="en-US" sz="950">
                <a:solidFill>
                  <a:srgbClr val="94A3B8"/>
                </a:solidFill>
                <a:latin typeface="Calibri"/>
                <a:ea typeface="Calibri"/>
                <a:cs typeface="Calibri"/>
                <a:sym typeface="Calibri"/>
              </a:rPr>
              <a:t>Comparison</a:t>
            </a:r>
            <a:endParaRPr sz="950" b="0" i="0" u="none" strike="noStrike" cap="none">
              <a:solidFill>
                <a:schemeClr val="dk1"/>
              </a:solidFill>
              <a:latin typeface="Calibri"/>
              <a:ea typeface="Calibri"/>
              <a:cs typeface="Calibri"/>
              <a:sym typeface="Calibri"/>
            </a:endParaRPr>
          </a:p>
        </p:txBody>
      </p:sp>
      <p:pic>
        <p:nvPicPr>
          <p:cNvPr id="670" name="Google Shape;670;p24"/>
          <p:cNvPicPr preferRelativeResize="0"/>
          <p:nvPr/>
        </p:nvPicPr>
        <p:blipFill>
          <a:blip r:embed="rId3">
            <a:alphaModFix/>
          </a:blip>
          <a:stretch>
            <a:fillRect/>
          </a:stretch>
        </p:blipFill>
        <p:spPr>
          <a:xfrm>
            <a:off x="2196725" y="859675"/>
            <a:ext cx="4823749" cy="4939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Grp"/>
        <p:cNvGrpSpPr/>
        <p:nvPr/>
      </p:nvGrpSpPr>
      <p:grpSpPr>
        <a:xfrm>
          <a:off x="0" y="0"/>
          <a:ext cx="0" cy="0"/>
          <a:chOff x="0" y="0"/>
          <a:chExt cx="0" cy="0"/>
        </a:xfrm>
      </p:grpSpPr>
      <p:sp>
        <p:nvSpPr>
          <p:cNvPr id="100" name="S100"/>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a:buNone/>
            </a:pPr>
            <a:endParaRPr/>
          </a:p>
        </p:txBody>
      </p:sp>
      <p:sp>
        <p:nvSpPr>
          <p:cNvPr id="101" name="S101"/>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a:buNone/>
            </a:pPr>
            <a:endParaRPr/>
          </a:p>
        </p:txBody>
      </p:sp>
      <p:sp>
        <p:nvSpPr>
          <p:cNvPr id="102" name="S102"/>
          <p:cNvSpPr/>
          <p:nvPr/>
        </p:nvSpPr>
        <p:spPr>
          <a:xfrm>
            <a:off x="219456" y="0"/>
            <a:ext cx="6217800" cy="6585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200" b="1" i="0" u="none" strike="noStrike" cap="none">
                <a:solidFill>
                  <a:srgbClr val="FFFFFF"/>
                </a:solidFill>
                <a:latin typeface="Calibri"/>
              </a:rPr>
              <a:t>Context Injection: RAG as a Subgraph</a:t>
            </a:r>
          </a:p>
        </p:txBody>
      </p:sp>
      <p:sp>
        <p:nvSpPr>
          <p:cNvPr id="103" name="S103"/>
          <p:cNvSpPr/>
          <p:nvPr/>
        </p:nvSpPr>
        <p:spPr>
          <a:xfrm>
            <a:off x="6492240" y="0"/>
            <a:ext cx="2514600" cy="658500"/>
          </a:xfrm>
          <a:prstGeom prst="rect">
            <a:avLst/>
          </a:prstGeom>
          <a:noFill/>
          <a:ln>
            <a:noFill/>
          </a:ln>
        </p:spPr>
        <p:txBody>
          <a:bodyPr spcFirstLastPara="1" wrap="square" lIns="91425" tIns="91425" rIns="91425" bIns="91425" anchor="ctr" anchorCtr="0">
            <a:noAutofit/>
          </a:bodyPr>
          <a:lstStyle/>
          <a:p>
            <a:pPr marL="0" marR="0" lvl="0" indent="0" algn="r" rtl="0">
              <a:spcBef>
                <a:spcPts val="0"/>
              </a:spcBef>
              <a:spcAft>
                <a:spcPts val="0"/>
              </a:spcAft>
              <a:buNone/>
            </a:pPr>
            <a:r>
              <a:rPr lang="en-US" sz="1000" b="0" i="0" u="none" strike="noStrike" cap="none">
                <a:solidFill>
                  <a:srgbClr val="D4621A"/>
                </a:solidFill>
                <a:latin typeface="Calibri"/>
              </a:rPr>
              <a:t>Part 3: Capabilities</a:t>
            </a:r>
          </a:p>
        </p:txBody>
      </p:sp>
      <p:sp>
        <p:nvSpPr>
          <p:cNvPr id="104" name="S104"/>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a:buNone/>
            </a:pPr>
            <a:endParaRPr/>
          </a:p>
        </p:txBody>
      </p:sp>
      <p:sp>
        <p:nvSpPr>
          <p:cNvPr id="105" name="S105"/>
          <p:cNvSpPr/>
          <p:nvPr/>
        </p:nvSpPr>
        <p:spPr>
          <a:xfrm>
            <a:off x="256032" y="676656"/>
            <a:ext cx="8631936" cy="183024"/>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0" i="0" u="none" strike="noStrike" cap="none">
                <a:solidFill>
                  <a:srgbClr val="475569"/>
                </a:solidFill>
                <a:latin typeface="Calibri"/>
              </a:rPr>
              <a:t>Retrieval is not a step — it is a self-correcting loop nested as a subgraph. Poor results re-query before the LLM sees any context.</a:t>
            </a:r>
          </a:p>
        </p:txBody>
      </p:sp>
      <p:sp>
        <p:nvSpPr>
          <p:cNvPr id="110" name="S110"/>
          <p:cNvSpPr/>
          <p:nvPr/>
        </p:nvSpPr>
        <p:spPr>
          <a:xfrm>
            <a:off x="256032" y="932400"/>
            <a:ext cx="4300000" cy="4000000"/>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111" name="S111"/>
          <p:cNvSpPr/>
          <p:nvPr/>
        </p:nvSpPr>
        <p:spPr>
          <a:xfrm>
            <a:off x="256032" y="932400"/>
            <a:ext cx="4300000" cy="420000"/>
          </a:xfrm>
          <a:prstGeom prst="rect">
            <a:avLst/>
          </a:prstGeom>
          <a:solidFill>
            <a:srgbClr val="0F7490"/>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100" b="1" i="0" u="none" strike="noStrike" cap="none" dirty="0">
                <a:solidFill>
                  <a:srgbClr val="FFFFFF"/>
                </a:solidFill>
                <a:latin typeface="Calibri"/>
              </a:rPr>
              <a:t>Corrective RAG — subgraph flow</a:t>
            </a:r>
          </a:p>
        </p:txBody>
      </p:sp>
      <p:sp>
        <p:nvSpPr>
          <p:cNvPr id="120" name="S120"/>
          <p:cNvSpPr/>
          <p:nvPr/>
        </p:nvSpPr>
        <p:spPr>
          <a:xfrm>
            <a:off x="1100000" y="1470000"/>
            <a:ext cx="2000000" cy="292608"/>
          </a:xfrm>
          <a:prstGeom prst="roundRect">
            <a:avLst>
              <a:gd name="adj" fmla="val 16667"/>
            </a:avLst>
          </a:prstGeom>
          <a:solidFill>
            <a:srgbClr val="1E3A5F"/>
          </a:solidFill>
          <a:ln>
            <a:noFill/>
          </a:ln>
        </p:spPr>
        <p:txBody>
          <a:bodyPr spcFirstLastPara="1" wrap="square" lIns="91425" tIns="45720" rIns="91425" bIns="45720" anchor="ctr" anchorCtr="0">
            <a:noAutofit/>
          </a:bodyPr>
          <a:lstStyle/>
          <a:p>
            <a:pPr algn="ctr">
              <a:buNone/>
            </a:pPr>
            <a:r>
              <a:rPr lang="en-US" sz="950" b="1" strike="noStrike">
                <a:solidFill>
                  <a:srgbClr val="FFFFFF"/>
                </a:solidFill>
                <a:latin typeface="Calibri"/>
              </a:rPr>
              <a:t>1. User Query</a:t>
            </a:r>
          </a:p>
        </p:txBody>
      </p:sp>
      <p:sp>
        <p:nvSpPr>
          <p:cNvPr id="121" name="S121"/>
          <p:cNvSpPr/>
          <p:nvPr/>
        </p:nvSpPr>
        <p:spPr>
          <a:xfrm>
            <a:off x="2008560" y="1780000"/>
            <a:ext cx="182880" cy="201168"/>
          </a:xfrm>
          <a:prstGeom prst="downArrow">
            <a:avLst>
              <a:gd name="adj1" fmla="val 50000"/>
              <a:gd name="adj2" fmla="val 50000"/>
            </a:avLst>
          </a:prstGeom>
          <a:solidFill>
            <a:srgbClr val="94A3B8"/>
          </a:solidFill>
          <a:ln>
            <a:noFill/>
          </a:ln>
        </p:spPr>
        <p:txBody>
          <a:bodyPr/>
          <a:lstStyle/>
          <a:p>
            <a:endParaRPr/>
          </a:p>
        </p:txBody>
      </p:sp>
      <p:sp>
        <p:nvSpPr>
          <p:cNvPr id="122" name="S122"/>
          <p:cNvSpPr/>
          <p:nvPr/>
        </p:nvSpPr>
        <p:spPr>
          <a:xfrm>
            <a:off x="1100000" y="2000000"/>
            <a:ext cx="2000000" cy="292608"/>
          </a:xfrm>
          <a:prstGeom prst="roundRect">
            <a:avLst>
              <a:gd name="adj" fmla="val 16667"/>
            </a:avLst>
          </a:prstGeom>
          <a:solidFill>
            <a:srgbClr val="0F7490"/>
          </a:solidFill>
          <a:ln>
            <a:noFill/>
          </a:ln>
        </p:spPr>
        <p:txBody>
          <a:bodyPr spcFirstLastPara="1" wrap="square" lIns="91425" tIns="45720" rIns="91425" bIns="45720" anchor="ctr" anchorCtr="0">
            <a:noAutofit/>
          </a:bodyPr>
          <a:lstStyle/>
          <a:p>
            <a:pPr algn="ctr">
              <a:buNone/>
            </a:pPr>
            <a:r>
              <a:rPr lang="en-US" sz="950" b="1" strike="noStrike">
                <a:solidFill>
                  <a:srgbClr val="FFFFFF"/>
                </a:solidFill>
                <a:latin typeface="Calibri"/>
              </a:rPr>
              <a:t>2. Retrieve  (vector DB)</a:t>
            </a:r>
          </a:p>
        </p:txBody>
      </p:sp>
      <p:sp>
        <p:nvSpPr>
          <p:cNvPr id="123" name="S123"/>
          <p:cNvSpPr/>
          <p:nvPr/>
        </p:nvSpPr>
        <p:spPr>
          <a:xfrm>
            <a:off x="2008560" y="2310000"/>
            <a:ext cx="182880" cy="201168"/>
          </a:xfrm>
          <a:prstGeom prst="downArrow">
            <a:avLst>
              <a:gd name="adj1" fmla="val 50000"/>
              <a:gd name="adj2" fmla="val 50000"/>
            </a:avLst>
          </a:prstGeom>
          <a:solidFill>
            <a:srgbClr val="94A3B8"/>
          </a:solidFill>
          <a:ln>
            <a:noFill/>
          </a:ln>
        </p:spPr>
        <p:txBody>
          <a:bodyPr/>
          <a:lstStyle/>
          <a:p>
            <a:endParaRPr/>
          </a:p>
        </p:txBody>
      </p:sp>
      <p:sp>
        <p:nvSpPr>
          <p:cNvPr id="124" name="S124"/>
          <p:cNvSpPr/>
          <p:nvPr/>
        </p:nvSpPr>
        <p:spPr>
          <a:xfrm>
            <a:off x="1100000" y="2530000"/>
            <a:ext cx="2000000" cy="292608"/>
          </a:xfrm>
          <a:prstGeom prst="roundRect">
            <a:avLst>
              <a:gd name="adj" fmla="val 16667"/>
            </a:avLst>
          </a:prstGeom>
          <a:solidFill>
            <a:srgbClr val="92400E"/>
          </a:solidFill>
          <a:ln>
            <a:noFill/>
          </a:ln>
        </p:spPr>
        <p:txBody>
          <a:bodyPr spcFirstLastPara="1" wrap="square" lIns="91425" tIns="45720" rIns="91425" bIns="45720" anchor="ctr" anchorCtr="0">
            <a:noAutofit/>
          </a:bodyPr>
          <a:lstStyle/>
          <a:p>
            <a:pPr algn="ctr">
              <a:buNone/>
            </a:pPr>
            <a:r>
              <a:rPr lang="en-US" sz="950" b="1" strike="noStrike">
                <a:solidFill>
                  <a:srgbClr val="FFFFFF"/>
                </a:solidFill>
                <a:latin typeface="Calibri"/>
              </a:rPr>
              <a:t>3. Grade Relevance</a:t>
            </a:r>
          </a:p>
        </p:txBody>
      </p:sp>
      <p:sp>
        <p:nvSpPr>
          <p:cNvPr id="125" name="S125"/>
          <p:cNvSpPr/>
          <p:nvPr/>
        </p:nvSpPr>
        <p:spPr>
          <a:xfrm>
            <a:off x="2200000" y="2570000"/>
            <a:ext cx="1100000" cy="18288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850" b="0" i="0" u="none" strike="noStrike" cap="none">
                <a:solidFill>
                  <a:srgbClr val="166534"/>
                </a:solidFill>
                <a:latin typeface="Calibri"/>
              </a:rPr>
              <a:t>relevant ↓</a:t>
            </a:r>
          </a:p>
        </p:txBody>
      </p:sp>
      <p:sp>
        <p:nvSpPr>
          <p:cNvPr id="126" name="S126"/>
          <p:cNvSpPr/>
          <p:nvPr/>
        </p:nvSpPr>
        <p:spPr>
          <a:xfrm>
            <a:off x="256032" y="2640000"/>
            <a:ext cx="1400000" cy="18288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850" b="0" i="0" u="none" strike="noStrike" cap="none">
                <a:solidFill>
                  <a:srgbClr val="991B1B"/>
                </a:solidFill>
                <a:latin typeface="Calibri"/>
              </a:rPr>
              <a:t>← not relevant: re-query</a:t>
            </a:r>
          </a:p>
        </p:txBody>
      </p:sp>
      <p:sp>
        <p:nvSpPr>
          <p:cNvPr id="127" name="S127"/>
          <p:cNvSpPr/>
          <p:nvPr/>
        </p:nvSpPr>
        <p:spPr>
          <a:xfrm>
            <a:off x="2008560" y="2840000"/>
            <a:ext cx="182880" cy="201168"/>
          </a:xfrm>
          <a:prstGeom prst="downArrow">
            <a:avLst>
              <a:gd name="adj1" fmla="val 50000"/>
              <a:gd name="adj2" fmla="val 50000"/>
            </a:avLst>
          </a:prstGeom>
          <a:solidFill>
            <a:srgbClr val="94A3B8"/>
          </a:solidFill>
          <a:ln>
            <a:noFill/>
          </a:ln>
        </p:spPr>
        <p:txBody>
          <a:bodyPr/>
          <a:lstStyle/>
          <a:p>
            <a:endParaRPr/>
          </a:p>
        </p:txBody>
      </p:sp>
      <p:sp>
        <p:nvSpPr>
          <p:cNvPr id="128" name="S128"/>
          <p:cNvSpPr/>
          <p:nvPr/>
        </p:nvSpPr>
        <p:spPr>
          <a:xfrm>
            <a:off x="1100000" y="3060000"/>
            <a:ext cx="2000000" cy="292608"/>
          </a:xfrm>
          <a:prstGeom prst="roundRect">
            <a:avLst>
              <a:gd name="adj" fmla="val 16667"/>
            </a:avLst>
          </a:prstGeom>
          <a:solidFill>
            <a:srgbClr val="166534"/>
          </a:solidFill>
          <a:ln>
            <a:noFill/>
          </a:ln>
        </p:spPr>
        <p:txBody>
          <a:bodyPr spcFirstLastPara="1" wrap="square" lIns="91425" tIns="45720" rIns="91425" bIns="45720" anchor="ctr" anchorCtr="0">
            <a:noAutofit/>
          </a:bodyPr>
          <a:lstStyle/>
          <a:p>
            <a:pPr algn="ctr">
              <a:buNone/>
            </a:pPr>
            <a:r>
              <a:rPr lang="en-US" sz="950" b="1" strike="noStrike">
                <a:solidFill>
                  <a:srgbClr val="FFFFFF"/>
                </a:solidFill>
                <a:latin typeface="Calibri"/>
              </a:rPr>
              <a:t>4. Inject into State</a:t>
            </a:r>
          </a:p>
        </p:txBody>
      </p:sp>
      <p:sp>
        <p:nvSpPr>
          <p:cNvPr id="129" name="S129"/>
          <p:cNvSpPr/>
          <p:nvPr/>
        </p:nvSpPr>
        <p:spPr>
          <a:xfrm>
            <a:off x="2008560" y="3370000"/>
            <a:ext cx="182880" cy="201168"/>
          </a:xfrm>
          <a:prstGeom prst="downArrow">
            <a:avLst>
              <a:gd name="adj1" fmla="val 50000"/>
              <a:gd name="adj2" fmla="val 50000"/>
            </a:avLst>
          </a:prstGeom>
          <a:solidFill>
            <a:srgbClr val="94A3B8"/>
          </a:solidFill>
          <a:ln>
            <a:noFill/>
          </a:ln>
        </p:spPr>
        <p:txBody>
          <a:bodyPr/>
          <a:lstStyle/>
          <a:p>
            <a:endParaRPr/>
          </a:p>
        </p:txBody>
      </p:sp>
      <p:sp>
        <p:nvSpPr>
          <p:cNvPr id="130" name="S130"/>
          <p:cNvSpPr/>
          <p:nvPr/>
        </p:nvSpPr>
        <p:spPr>
          <a:xfrm>
            <a:off x="1100000" y="3590000"/>
            <a:ext cx="2000000" cy="292608"/>
          </a:xfrm>
          <a:prstGeom prst="roundRect">
            <a:avLst>
              <a:gd name="adj" fmla="val 16667"/>
            </a:avLst>
          </a:prstGeom>
          <a:solidFill>
            <a:srgbClr val="1D4ED8"/>
          </a:solidFill>
          <a:ln>
            <a:noFill/>
          </a:ln>
        </p:spPr>
        <p:txBody>
          <a:bodyPr spcFirstLastPara="1" wrap="square" lIns="91425" tIns="45720" rIns="91425" bIns="45720" anchor="ctr" anchorCtr="0">
            <a:noAutofit/>
          </a:bodyPr>
          <a:lstStyle/>
          <a:p>
            <a:pPr algn="ctr">
              <a:buNone/>
            </a:pPr>
            <a:r>
              <a:rPr lang="en-US" sz="950" b="1" strike="noStrike">
                <a:solidFill>
                  <a:srgbClr val="FFFFFF"/>
                </a:solidFill>
                <a:latin typeface="Calibri"/>
              </a:rPr>
              <a:t>5. LLM Generate</a:t>
            </a:r>
          </a:p>
        </p:txBody>
      </p:sp>
      <p:sp>
        <p:nvSpPr>
          <p:cNvPr id="131" name="S131"/>
          <p:cNvSpPr/>
          <p:nvPr/>
        </p:nvSpPr>
        <p:spPr>
          <a:xfrm>
            <a:off x="256032" y="4000000"/>
            <a:ext cx="4300000" cy="200000"/>
          </a:xfrm>
          <a:prstGeom prst="rect">
            <a:avLst/>
          </a:prstGeom>
          <a:solidFill>
            <a:srgbClr val="E8F4F8"/>
          </a:solidFill>
          <a:ln w="9525">
            <a:solidFill>
              <a:srgbClr val="0F7490"/>
            </a:solid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900" b="1" i="0" u="none" strike="noStrike" cap="none">
                <a:solidFill>
                  <a:srgbClr val="0F7490"/>
                </a:solidFill>
                <a:latin typeface="Calibri"/>
              </a:rPr>
              <a:t>Steps 2-4 = self-contained RAG subgraph — reusable in any parent agent</a:t>
            </a:r>
          </a:p>
        </p:txBody>
      </p:sp>
      <p:sp>
        <p:nvSpPr>
          <p:cNvPr id="140" name="S140"/>
          <p:cNvSpPr/>
          <p:nvPr/>
        </p:nvSpPr>
        <p:spPr>
          <a:xfrm>
            <a:off x="4730000" y="932400"/>
            <a:ext cx="4160000" cy="1220000"/>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141" name="S141"/>
          <p:cNvSpPr/>
          <p:nvPr/>
        </p:nvSpPr>
        <p:spPr>
          <a:xfrm>
            <a:off x="4730000" y="932400"/>
            <a:ext cx="4160000" cy="365760"/>
          </a:xfrm>
          <a:prstGeom prst="rect">
            <a:avLst/>
          </a:prstGeom>
          <a:solidFill>
            <a:srgbClr val="0F7490"/>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Vector DB is external to LangGraph</a:t>
            </a:r>
          </a:p>
        </p:txBody>
      </p:sp>
      <p:sp>
        <p:nvSpPr>
          <p:cNvPr id="142" name="S142"/>
          <p:cNvSpPr/>
          <p:nvPr/>
        </p:nvSpPr>
        <p:spPr>
          <a:xfrm>
            <a:off x="4821440" y="1352400"/>
            <a:ext cx="3977120" cy="79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50" b="0" i="0" u="none" strike="noStrike" cap="none">
                <a:solidFill>
                  <a:srgbClr val="475569"/>
                </a:solidFill>
                <a:latin typeface="Calibri"/>
              </a:rPr>
              <a:t>LangGraph Store is key-value only. You bring Pinecone, pgvector, or Weaviate and wire it in as a tool node. LangGraph manages state around your retriever.</a:t>
            </a:r>
          </a:p>
        </p:txBody>
      </p:sp>
      <p:sp>
        <p:nvSpPr>
          <p:cNvPr id="150" name="S150"/>
          <p:cNvSpPr/>
          <p:nvPr/>
        </p:nvSpPr>
        <p:spPr>
          <a:xfrm>
            <a:off x="4730000" y="2200000"/>
            <a:ext cx="4160000" cy="1220000"/>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151" name="S151"/>
          <p:cNvSpPr/>
          <p:nvPr/>
        </p:nvSpPr>
        <p:spPr>
          <a:xfrm>
            <a:off x="4730000" y="2200000"/>
            <a:ext cx="4160000" cy="365760"/>
          </a:xfrm>
          <a:prstGeom prst="rect">
            <a:avLst/>
          </a:prstGeom>
          <a:solidFill>
            <a:srgbClr val="166534"/>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Write timing matters for latency</a:t>
            </a:r>
          </a:p>
        </p:txBody>
      </p:sp>
      <p:sp>
        <p:nvSpPr>
          <p:cNvPr id="152" name="S152"/>
          <p:cNvSpPr/>
          <p:nvPr/>
        </p:nvSpPr>
        <p:spPr>
          <a:xfrm>
            <a:off x="4821440" y="2620000"/>
            <a:ext cx="3977120" cy="79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50" b="0" i="0" u="none" strike="noStrike" cap="none">
                <a:solidFill>
                  <a:srgbClr val="475569"/>
                </a:solidFill>
                <a:latin typeface="Calibri"/>
              </a:rPr>
              <a:t>Injecting docs into state in the hot path adds latency. For background indexing or post-run memory updates, use async writes to the LangGraph Store instead.</a:t>
            </a:r>
          </a:p>
        </p:txBody>
      </p:sp>
      <p:sp>
        <p:nvSpPr>
          <p:cNvPr id="160" name="S160"/>
          <p:cNvSpPr/>
          <p:nvPr/>
        </p:nvSpPr>
        <p:spPr>
          <a:xfrm>
            <a:off x="4730000" y="3470000"/>
            <a:ext cx="4160000" cy="1220000"/>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161" name="S161"/>
          <p:cNvSpPr/>
          <p:nvPr/>
        </p:nvSpPr>
        <p:spPr>
          <a:xfrm>
            <a:off x="4730000" y="3470000"/>
            <a:ext cx="4160000" cy="365760"/>
          </a:xfrm>
          <a:prstGeom prst="rect">
            <a:avLst/>
          </a:prstGeom>
          <a:solidFill>
            <a:srgbClr val="1D4ED8"/>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Subgraph = reusable retriever module</a:t>
            </a:r>
          </a:p>
        </p:txBody>
      </p:sp>
      <p:sp>
        <p:nvSpPr>
          <p:cNvPr id="162" name="S162"/>
          <p:cNvSpPr/>
          <p:nvPr/>
        </p:nvSpPr>
        <p:spPr>
          <a:xfrm>
            <a:off x="4821440" y="3890000"/>
            <a:ext cx="3977120" cy="79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50" b="0" i="0" u="none" strike="noStrike" cap="none">
                <a:solidFill>
                  <a:srgbClr val="475569"/>
                </a:solidFill>
                <a:latin typeface="Calibri"/>
              </a:rPr>
              <a:t>Package retrieve-grade-inject as a subgraph. Any parent agent (task, notification, or chat) nests it as one node — same interface, swappable data sources.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Grp"/>
        <p:cNvGrpSpPr/>
        <p:nvPr/>
      </p:nvGrpSpPr>
      <p:grpSpPr>
        <a:xfrm>
          <a:off x="0" y="0"/>
          <a:ext cx="0" cy="0"/>
          <a:chOff x="0" y="0"/>
          <a:chExt cx="0" cy="0"/>
        </a:xfrm>
      </p:grpSpPr>
      <p:sp>
        <p:nvSpPr>
          <p:cNvPr id="200" name="S200"/>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a:buNone/>
            </a:pPr>
            <a:endParaRPr/>
          </a:p>
        </p:txBody>
      </p:sp>
      <p:sp>
        <p:nvSpPr>
          <p:cNvPr id="201" name="S201"/>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a:buNone/>
            </a:pPr>
            <a:endParaRPr/>
          </a:p>
        </p:txBody>
      </p:sp>
      <p:sp>
        <p:nvSpPr>
          <p:cNvPr id="202" name="S202"/>
          <p:cNvSpPr/>
          <p:nvPr/>
        </p:nvSpPr>
        <p:spPr>
          <a:xfrm>
            <a:off x="219456" y="0"/>
            <a:ext cx="6217800" cy="6585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200" b="1" i="0" u="none" strike="noStrike" cap="none">
                <a:solidFill>
                  <a:srgbClr val="FFFFFF"/>
                </a:solidFill>
                <a:latin typeface="Calibri"/>
              </a:rPr>
              <a:t>Trigger &amp; Runtime: What Fires the Graph</a:t>
            </a:r>
          </a:p>
        </p:txBody>
      </p:sp>
      <p:sp>
        <p:nvSpPr>
          <p:cNvPr id="203" name="S203"/>
          <p:cNvSpPr/>
          <p:nvPr/>
        </p:nvSpPr>
        <p:spPr>
          <a:xfrm>
            <a:off x="6492240" y="0"/>
            <a:ext cx="2514600" cy="658500"/>
          </a:xfrm>
          <a:prstGeom prst="rect">
            <a:avLst/>
          </a:prstGeom>
          <a:noFill/>
          <a:ln>
            <a:noFill/>
          </a:ln>
        </p:spPr>
        <p:txBody>
          <a:bodyPr spcFirstLastPara="1" wrap="square" lIns="91425" tIns="91425" rIns="91425" bIns="91425" anchor="ctr" anchorCtr="0">
            <a:noAutofit/>
          </a:bodyPr>
          <a:lstStyle/>
          <a:p>
            <a:pPr marL="0" marR="0" lvl="0" indent="0" algn="r" rtl="0">
              <a:spcBef>
                <a:spcPts val="0"/>
              </a:spcBef>
              <a:spcAft>
                <a:spcPts val="0"/>
              </a:spcAft>
              <a:buNone/>
            </a:pPr>
            <a:r>
              <a:rPr lang="en-US" sz="1000" b="0" i="0" u="none" strike="noStrike" cap="none">
                <a:solidFill>
                  <a:srgbClr val="D4621A"/>
                </a:solidFill>
                <a:latin typeface="Calibri"/>
              </a:rPr>
              <a:t>Part 4: Production</a:t>
            </a:r>
          </a:p>
        </p:txBody>
      </p:sp>
      <p:sp>
        <p:nvSpPr>
          <p:cNvPr id="204" name="S204"/>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a:buNone/>
            </a:pPr>
            <a:endParaRPr/>
          </a:p>
        </p:txBody>
      </p:sp>
      <p:sp>
        <p:nvSpPr>
          <p:cNvPr id="205" name="S205"/>
          <p:cNvSpPr/>
          <p:nvPr/>
        </p:nvSpPr>
        <p:spPr>
          <a:xfrm>
            <a:off x="256032" y="676656"/>
            <a:ext cx="8631936" cy="183024"/>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0" i="0" u="none" strike="noStrike" cap="none">
                <a:solidFill>
                  <a:srgbClr val="475569"/>
                </a:solidFill>
                <a:latin typeface="Calibri"/>
              </a:rPr>
              <a:t>LangGraph defines what happens inside a run. These are the systems that start it, host it, and route its output.</a:t>
            </a:r>
          </a:p>
        </p:txBody>
      </p:sp>
      <p:sp>
        <p:nvSpPr>
          <p:cNvPr id="210" name="S210"/>
          <p:cNvSpPr/>
          <p:nvPr/>
        </p:nvSpPr>
        <p:spPr>
          <a:xfrm>
            <a:off x="256032" y="932400"/>
            <a:ext cx="4200000" cy="22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200" b="1" i="0" u="none" strike="noStrike" cap="none">
                <a:solidFill>
                  <a:srgbClr val="1E3A5F"/>
                </a:solidFill>
                <a:latin typeface="Calibri"/>
              </a:rPr>
              <a:t>What triggers a graph run</a:t>
            </a:r>
          </a:p>
        </p:txBody>
      </p:sp>
      <p:sp>
        <p:nvSpPr>
          <p:cNvPr id="220" name="S220"/>
          <p:cNvSpPr/>
          <p:nvPr/>
        </p:nvSpPr>
        <p:spPr>
          <a:xfrm>
            <a:off x="256032" y="1200000"/>
            <a:ext cx="2000000" cy="1318092"/>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21" name="S221"/>
          <p:cNvSpPr/>
          <p:nvPr/>
        </p:nvSpPr>
        <p:spPr>
          <a:xfrm>
            <a:off x="256032" y="1200000"/>
            <a:ext cx="2000000" cy="365760"/>
          </a:xfrm>
          <a:prstGeom prst="rect">
            <a:avLst/>
          </a:prstGeom>
          <a:solidFill>
            <a:srgbClr val="1D4ED8"/>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HTTP / API call</a:t>
            </a:r>
          </a:p>
        </p:txBody>
      </p:sp>
      <p:sp>
        <p:nvSpPr>
          <p:cNvPr id="222" name="S222"/>
          <p:cNvSpPr/>
          <p:nvPr/>
        </p:nvSpPr>
        <p:spPr>
          <a:xfrm>
            <a:off x="347472" y="1620000"/>
            <a:ext cx="1817120" cy="37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dirty="0">
                <a:solidFill>
                  <a:srgbClr val="475569"/>
                </a:solidFill>
                <a:latin typeface="Calibri"/>
              </a:rPr>
              <a:t>A REST endpoint invokes the graph directly. The request payload becomes the initial state. Typical for chat agents and on-demand task execution.</a:t>
            </a:r>
          </a:p>
        </p:txBody>
      </p:sp>
      <p:sp>
        <p:nvSpPr>
          <p:cNvPr id="223" name="S223"/>
          <p:cNvSpPr/>
          <p:nvPr/>
        </p:nvSpPr>
        <p:spPr>
          <a:xfrm>
            <a:off x="2356032" y="1200000"/>
            <a:ext cx="2000000" cy="1318092"/>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24" name="S224"/>
          <p:cNvSpPr/>
          <p:nvPr/>
        </p:nvSpPr>
        <p:spPr>
          <a:xfrm>
            <a:off x="2356032" y="1200000"/>
            <a:ext cx="2000000" cy="365760"/>
          </a:xfrm>
          <a:prstGeom prst="rect">
            <a:avLst/>
          </a:prstGeom>
          <a:solidFill>
            <a:srgbClr val="0F7490"/>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Webhook / Event</a:t>
            </a:r>
          </a:p>
        </p:txBody>
      </p:sp>
      <p:sp>
        <p:nvSpPr>
          <p:cNvPr id="225" name="S225"/>
          <p:cNvSpPr/>
          <p:nvPr/>
        </p:nvSpPr>
        <p:spPr>
          <a:xfrm>
            <a:off x="2447472" y="1620000"/>
            <a:ext cx="1817120" cy="37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External systems (GitHub, Stripe, Slack) POST an event. A lightweight receiver maps it to graph input. Drives notification agents and reactive workflows.</a:t>
            </a:r>
          </a:p>
        </p:txBody>
      </p:sp>
      <p:sp>
        <p:nvSpPr>
          <p:cNvPr id="226" name="S226"/>
          <p:cNvSpPr/>
          <p:nvPr/>
        </p:nvSpPr>
        <p:spPr>
          <a:xfrm>
            <a:off x="310312" y="2625407"/>
            <a:ext cx="2000000" cy="1258499"/>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27" name="S227"/>
          <p:cNvSpPr/>
          <p:nvPr/>
        </p:nvSpPr>
        <p:spPr>
          <a:xfrm>
            <a:off x="310312" y="2625408"/>
            <a:ext cx="2000000" cy="365760"/>
          </a:xfrm>
          <a:prstGeom prst="rect">
            <a:avLst/>
          </a:prstGeom>
          <a:solidFill>
            <a:srgbClr val="166534"/>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dirty="0">
                <a:solidFill>
                  <a:srgbClr val="FFFFFF"/>
                </a:solidFill>
                <a:latin typeface="Calibri"/>
              </a:rPr>
              <a:t>Message Queue</a:t>
            </a:r>
          </a:p>
        </p:txBody>
      </p:sp>
      <p:sp>
        <p:nvSpPr>
          <p:cNvPr id="228" name="S228"/>
          <p:cNvSpPr/>
          <p:nvPr/>
        </p:nvSpPr>
        <p:spPr>
          <a:xfrm>
            <a:off x="347472" y="3035408"/>
            <a:ext cx="1817120" cy="37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dirty="0">
                <a:solidFill>
                  <a:srgbClr val="475569"/>
                </a:solidFill>
                <a:latin typeface="Calibri"/>
              </a:rPr>
              <a:t>Kafka, SQS, or RabbitMQ delivers a job. Workers pull messages and invoke graph runs. Best for high-volume, async task agents with back-pressure.</a:t>
            </a:r>
          </a:p>
        </p:txBody>
      </p:sp>
      <p:sp>
        <p:nvSpPr>
          <p:cNvPr id="229" name="S229"/>
          <p:cNvSpPr/>
          <p:nvPr/>
        </p:nvSpPr>
        <p:spPr>
          <a:xfrm>
            <a:off x="2356032" y="2624308"/>
            <a:ext cx="2000000" cy="1259599"/>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30" name="S230"/>
          <p:cNvSpPr/>
          <p:nvPr/>
        </p:nvSpPr>
        <p:spPr>
          <a:xfrm>
            <a:off x="2356032" y="2624309"/>
            <a:ext cx="2000000" cy="365760"/>
          </a:xfrm>
          <a:prstGeom prst="rect">
            <a:avLst/>
          </a:prstGeom>
          <a:solidFill>
            <a:srgbClr val="92400E"/>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dirty="0">
                <a:solidFill>
                  <a:srgbClr val="FFFFFF"/>
                </a:solidFill>
                <a:latin typeface="Calibri"/>
              </a:rPr>
              <a:t>Cron / Schedule</a:t>
            </a:r>
          </a:p>
        </p:txBody>
      </p:sp>
      <p:sp>
        <p:nvSpPr>
          <p:cNvPr id="231" name="S231"/>
          <p:cNvSpPr/>
          <p:nvPr/>
        </p:nvSpPr>
        <p:spPr>
          <a:xfrm>
            <a:off x="2447472" y="3044309"/>
            <a:ext cx="1817120" cy="37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dirty="0">
                <a:solidFill>
                  <a:srgbClr val="475569"/>
                </a:solidFill>
                <a:latin typeface="Calibri"/>
              </a:rPr>
              <a:t>A scheduler fires the graph on a timer. Used for digest emails, periodic RAG re-indexing, and proactive notification agents.</a:t>
            </a:r>
          </a:p>
        </p:txBody>
      </p:sp>
      <p:sp>
        <p:nvSpPr>
          <p:cNvPr id="240" name="S240"/>
          <p:cNvSpPr/>
          <p:nvPr/>
        </p:nvSpPr>
        <p:spPr>
          <a:xfrm>
            <a:off x="4730000" y="932400"/>
            <a:ext cx="9525" cy="3200000"/>
          </a:xfrm>
          <a:prstGeom prst="rect">
            <a:avLst/>
          </a:prstGeom>
          <a:solidFill>
            <a:srgbClr val="C8D4E8"/>
          </a:solidFill>
          <a:ln>
            <a:noFill/>
          </a:ln>
        </p:spPr>
        <p:txBody>
          <a:bodyPr spcFirstLastPara="1" wrap="square" lIns="91425" tIns="91425" rIns="91425" bIns="91425" anchor="ctr" anchorCtr="0">
            <a:noAutofit/>
          </a:bodyPr>
          <a:lstStyle/>
          <a:p>
            <a:pPr>
              <a:buNone/>
            </a:pPr>
            <a:endParaRPr/>
          </a:p>
        </p:txBody>
      </p:sp>
      <p:sp>
        <p:nvSpPr>
          <p:cNvPr id="241" name="S241"/>
          <p:cNvSpPr/>
          <p:nvPr/>
        </p:nvSpPr>
        <p:spPr>
          <a:xfrm>
            <a:off x="4820000" y="932400"/>
            <a:ext cx="4100000" cy="22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200" b="1" i="0" u="none" strike="noStrike" cap="none">
                <a:solidFill>
                  <a:srgbClr val="1E3A5F"/>
                </a:solidFill>
                <a:latin typeface="Calibri"/>
              </a:rPr>
              <a:t>Where the graph runs</a:t>
            </a:r>
          </a:p>
        </p:txBody>
      </p:sp>
      <p:sp>
        <p:nvSpPr>
          <p:cNvPr id="250" name="S250"/>
          <p:cNvSpPr/>
          <p:nvPr/>
        </p:nvSpPr>
        <p:spPr>
          <a:xfrm>
            <a:off x="4820000" y="1199999"/>
            <a:ext cx="4100000" cy="859661"/>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51" name="S251"/>
          <p:cNvSpPr/>
          <p:nvPr/>
        </p:nvSpPr>
        <p:spPr>
          <a:xfrm>
            <a:off x="4820000" y="1200000"/>
            <a:ext cx="4100000" cy="365760"/>
          </a:xfrm>
          <a:prstGeom prst="rect">
            <a:avLst/>
          </a:prstGeom>
          <a:solidFill>
            <a:srgbClr val="1E3A5F"/>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Lambda / Serverless</a:t>
            </a:r>
          </a:p>
        </p:txBody>
      </p:sp>
      <p:sp>
        <p:nvSpPr>
          <p:cNvPr id="252" name="S252"/>
          <p:cNvSpPr/>
          <p:nvPr/>
        </p:nvSpPr>
        <p:spPr>
          <a:xfrm>
            <a:off x="4911440" y="1585760"/>
            <a:ext cx="3917120" cy="25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880" b="0" i="0" u="none" strike="noStrike" cap="none">
                <a:solidFill>
                  <a:srgbClr val="475569"/>
                </a:solidFill>
                <a:latin typeface="Calibri"/>
              </a:rPr>
              <a:t>One graph run per invocation. No long-lived state in memory. Requires PostgreSQL or Redis checkpointer for durability. Cold-start can add 200-500ms.</a:t>
            </a:r>
          </a:p>
        </p:txBody>
      </p:sp>
      <p:sp>
        <p:nvSpPr>
          <p:cNvPr id="253" name="S253"/>
          <p:cNvSpPr/>
          <p:nvPr/>
        </p:nvSpPr>
        <p:spPr>
          <a:xfrm>
            <a:off x="4820000" y="2172880"/>
            <a:ext cx="4100000" cy="779520"/>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54" name="S254"/>
          <p:cNvSpPr/>
          <p:nvPr/>
        </p:nvSpPr>
        <p:spPr>
          <a:xfrm>
            <a:off x="4820000" y="2185759"/>
            <a:ext cx="4100000" cy="365760"/>
          </a:xfrm>
          <a:prstGeom prst="rect">
            <a:avLst/>
          </a:prstGeom>
          <a:solidFill>
            <a:srgbClr val="0F7490"/>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a:solidFill>
                  <a:srgbClr val="FFFFFF"/>
                </a:solidFill>
                <a:latin typeface="Calibri"/>
              </a:rPr>
              <a:t>Long-lived Worker</a:t>
            </a:r>
          </a:p>
        </p:txBody>
      </p:sp>
      <p:sp>
        <p:nvSpPr>
          <p:cNvPr id="255" name="S255"/>
          <p:cNvSpPr/>
          <p:nvPr/>
        </p:nvSpPr>
        <p:spPr>
          <a:xfrm>
            <a:off x="4915420" y="2514249"/>
            <a:ext cx="3917120" cy="517261"/>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880" b="0" i="0" u="none" strike="noStrike" cap="none" dirty="0">
                <a:solidFill>
                  <a:srgbClr val="475569"/>
                </a:solidFill>
                <a:latin typeface="Calibri"/>
              </a:rPr>
              <a:t>A persistent process hosts the graph. </a:t>
            </a:r>
            <a:r>
              <a:rPr lang="en-US" sz="880" b="0" i="0" u="none" strike="noStrike" cap="none" dirty="0" err="1">
                <a:solidFill>
                  <a:srgbClr val="475569"/>
                </a:solidFill>
                <a:latin typeface="Calibri"/>
              </a:rPr>
              <a:t>MemorySaver</a:t>
            </a:r>
            <a:r>
              <a:rPr lang="en-US" sz="880" b="0" i="0" u="none" strike="noStrike" cap="none" dirty="0">
                <a:solidFill>
                  <a:srgbClr val="475569"/>
                </a:solidFill>
                <a:latin typeface="Calibri"/>
              </a:rPr>
              <a:t> is viable for low-traffic agents. Simpler, but vertical scaling only.</a:t>
            </a:r>
          </a:p>
        </p:txBody>
      </p:sp>
      <p:sp>
        <p:nvSpPr>
          <p:cNvPr id="256" name="S256"/>
          <p:cNvSpPr/>
          <p:nvPr/>
        </p:nvSpPr>
        <p:spPr>
          <a:xfrm>
            <a:off x="4820000" y="3052641"/>
            <a:ext cx="4100000" cy="726287"/>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57" name="S257"/>
          <p:cNvSpPr/>
          <p:nvPr/>
        </p:nvSpPr>
        <p:spPr>
          <a:xfrm>
            <a:off x="4820000" y="3052642"/>
            <a:ext cx="4100000" cy="365760"/>
          </a:xfrm>
          <a:prstGeom prst="rect">
            <a:avLst/>
          </a:prstGeom>
          <a:solidFill>
            <a:srgbClr val="1D4ED8"/>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dirty="0" err="1">
                <a:solidFill>
                  <a:srgbClr val="FFFFFF"/>
                </a:solidFill>
                <a:latin typeface="Calibri"/>
              </a:rPr>
              <a:t>LangGraph</a:t>
            </a:r>
            <a:r>
              <a:rPr lang="en-US" sz="1050" b="1" i="0" u="none" strike="noStrike" cap="none" dirty="0">
                <a:solidFill>
                  <a:srgbClr val="FFFFFF"/>
                </a:solidFill>
                <a:latin typeface="Calibri"/>
              </a:rPr>
              <a:t> Cloud</a:t>
            </a:r>
          </a:p>
        </p:txBody>
      </p:sp>
      <p:sp>
        <p:nvSpPr>
          <p:cNvPr id="258" name="S258"/>
          <p:cNvSpPr/>
          <p:nvPr/>
        </p:nvSpPr>
        <p:spPr>
          <a:xfrm>
            <a:off x="4939584" y="3352860"/>
            <a:ext cx="3917120" cy="25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880" b="0" i="0" u="none" strike="noStrike" cap="none" dirty="0">
                <a:solidFill>
                  <a:srgbClr val="475569"/>
                </a:solidFill>
                <a:latin typeface="Calibri"/>
              </a:rPr>
              <a:t>Managed runtime from </a:t>
            </a:r>
            <a:r>
              <a:rPr lang="en-US" sz="880" b="0" i="0" u="none" strike="noStrike" cap="none" dirty="0" err="1">
                <a:solidFill>
                  <a:srgbClr val="475569"/>
                </a:solidFill>
                <a:latin typeface="Calibri"/>
              </a:rPr>
              <a:t>LangChain</a:t>
            </a:r>
            <a:r>
              <a:rPr lang="en-US" sz="880" b="0" i="0" u="none" strike="noStrike" cap="none" dirty="0">
                <a:solidFill>
                  <a:srgbClr val="475569"/>
                </a:solidFill>
                <a:latin typeface="Calibri"/>
              </a:rPr>
              <a:t>. Handles deployment, scaling, and checkpointing. Built-in streaming and API endpoints. Reduces infra overhead.</a:t>
            </a:r>
          </a:p>
        </p:txBody>
      </p:sp>
      <p:sp>
        <p:nvSpPr>
          <p:cNvPr id="259" name="S259"/>
          <p:cNvSpPr/>
          <p:nvPr/>
        </p:nvSpPr>
        <p:spPr>
          <a:xfrm>
            <a:off x="4787968" y="4129551"/>
            <a:ext cx="4100000" cy="479498"/>
          </a:xfrm>
          <a:prstGeom prst="rect">
            <a:avLst/>
          </a:prstGeom>
          <a:solidFill>
            <a:srgbClr val="FFFFFF"/>
          </a:solidFill>
          <a:ln w="9525">
            <a:solidFill>
              <a:srgbClr val="C8D4E8"/>
            </a:solidFill>
          </a:ln>
        </p:spPr>
        <p:txBody>
          <a:bodyPr spcFirstLastPara="1" wrap="square" lIns="91425" tIns="91425" rIns="91425" bIns="91425" anchor="ctr" anchorCtr="0">
            <a:noAutofit/>
          </a:bodyPr>
          <a:lstStyle/>
          <a:p>
            <a:pPr>
              <a:buNone/>
            </a:pPr>
            <a:endParaRPr/>
          </a:p>
        </p:txBody>
      </p:sp>
      <p:sp>
        <p:nvSpPr>
          <p:cNvPr id="260" name="S260"/>
          <p:cNvSpPr/>
          <p:nvPr/>
        </p:nvSpPr>
        <p:spPr>
          <a:xfrm>
            <a:off x="4820000" y="3869963"/>
            <a:ext cx="4100000" cy="365760"/>
          </a:xfrm>
          <a:prstGeom prst="rect">
            <a:avLst/>
          </a:prstGeom>
          <a:solidFill>
            <a:srgbClr val="166534"/>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1" i="0" u="none" strike="noStrike" cap="none" dirty="0">
                <a:solidFill>
                  <a:srgbClr val="FFFFFF"/>
                </a:solidFill>
                <a:latin typeface="Calibri"/>
              </a:rPr>
              <a:t>Kubernetes Job / Pod</a:t>
            </a:r>
          </a:p>
        </p:txBody>
      </p:sp>
      <p:sp>
        <p:nvSpPr>
          <p:cNvPr id="261" name="S261"/>
          <p:cNvSpPr/>
          <p:nvPr/>
        </p:nvSpPr>
        <p:spPr>
          <a:xfrm>
            <a:off x="4879408" y="4182431"/>
            <a:ext cx="3917120" cy="25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880" b="0" i="0" u="none" strike="noStrike" cap="none" dirty="0">
                <a:solidFill>
                  <a:srgbClr val="475569"/>
                </a:solidFill>
                <a:latin typeface="Calibri"/>
              </a:rPr>
              <a:t>Full control over scaling and isolation. Each tenant or task type gets its own pod. Combine with </a:t>
            </a:r>
            <a:r>
              <a:rPr lang="en-US" sz="880" b="0" i="0" u="none" strike="noStrike" cap="none" dirty="0" err="1">
                <a:solidFill>
                  <a:srgbClr val="475569"/>
                </a:solidFill>
                <a:latin typeface="Calibri"/>
              </a:rPr>
              <a:t>PostgresSaver</a:t>
            </a:r>
            <a:r>
              <a:rPr lang="en-US" sz="880" b="0" i="0" u="none" strike="noStrike" cap="none" dirty="0">
                <a:solidFill>
                  <a:srgbClr val="475569"/>
                </a:solidFill>
                <a:latin typeface="Calibri"/>
              </a:rPr>
              <a:t> for production durability.</a:t>
            </a:r>
          </a:p>
        </p:txBody>
      </p:sp>
      <p:sp>
        <p:nvSpPr>
          <p:cNvPr id="270" name="S270"/>
          <p:cNvSpPr/>
          <p:nvPr/>
        </p:nvSpPr>
        <p:spPr>
          <a:xfrm>
            <a:off x="256032" y="4791168"/>
            <a:ext cx="8631936" cy="200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900" b="0" i="0" u="none" strike="noStrike" cap="none">
                <a:solidFill>
                  <a:srgbClr val="94A3B8"/>
                </a:solidFill>
                <a:latin typeface="Calibri"/>
              </a:rPr>
              <a:t>The checkpointer backend you choose (SQLite / PostgreSQL / Redis) must match your runtime: serverless needs external DB; long-lived workers can use in-memory.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Grp"/>
        <p:cNvGrpSpPr/>
        <p:nvPr/>
      </p:nvGrpSpPr>
      <p:grpSpPr>
        <a:xfrm>
          <a:off x="0" y="0"/>
          <a:ext cx="0" cy="0"/>
          <a:chOff x="0" y="0"/>
          <a:chExt cx="0" cy="0"/>
        </a:xfrm>
      </p:grpSpPr>
      <p:sp>
        <p:nvSpPr>
          <p:cNvPr id="300" name="S300"/>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a:buNone/>
            </a:pPr>
            <a:endParaRPr/>
          </a:p>
        </p:txBody>
      </p:sp>
      <p:sp>
        <p:nvSpPr>
          <p:cNvPr id="301" name="S301"/>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a:buNone/>
            </a:pPr>
            <a:endParaRPr/>
          </a:p>
        </p:txBody>
      </p:sp>
      <p:sp>
        <p:nvSpPr>
          <p:cNvPr id="302" name="S302"/>
          <p:cNvSpPr/>
          <p:nvPr/>
        </p:nvSpPr>
        <p:spPr>
          <a:xfrm>
            <a:off x="219456" y="0"/>
            <a:ext cx="6217800" cy="6585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200" b="1" i="0" u="none" strike="noStrike" cap="none">
                <a:solidFill>
                  <a:srgbClr val="FFFFFF"/>
                </a:solidFill>
                <a:latin typeface="Calibri"/>
              </a:rPr>
              <a:t>Google ADK vs LangGraph: Where One Ends, One Begins</a:t>
            </a:r>
          </a:p>
        </p:txBody>
      </p:sp>
      <p:sp>
        <p:nvSpPr>
          <p:cNvPr id="303" name="S303"/>
          <p:cNvSpPr/>
          <p:nvPr/>
        </p:nvSpPr>
        <p:spPr>
          <a:xfrm>
            <a:off x="6492240" y="0"/>
            <a:ext cx="2514600" cy="658500"/>
          </a:xfrm>
          <a:prstGeom prst="rect">
            <a:avLst/>
          </a:prstGeom>
          <a:noFill/>
          <a:ln>
            <a:noFill/>
          </a:ln>
        </p:spPr>
        <p:txBody>
          <a:bodyPr spcFirstLastPara="1" wrap="square" lIns="91425" tIns="91425" rIns="91425" bIns="91425" anchor="ctr" anchorCtr="0">
            <a:noAutofit/>
          </a:bodyPr>
          <a:lstStyle/>
          <a:p>
            <a:pPr marL="0" marR="0" lvl="0" indent="0" algn="r" rtl="0">
              <a:spcBef>
                <a:spcPts val="0"/>
              </a:spcBef>
              <a:spcAft>
                <a:spcPts val="0"/>
              </a:spcAft>
              <a:buNone/>
            </a:pPr>
            <a:r>
              <a:rPr lang="en-US" sz="1000" b="0" i="0" u="none" strike="noStrike" cap="none">
                <a:solidFill>
                  <a:srgbClr val="D4621A"/>
                </a:solidFill>
                <a:latin typeface="Calibri"/>
              </a:rPr>
              <a:t>Part 5: Comparison</a:t>
            </a:r>
          </a:p>
        </p:txBody>
      </p:sp>
      <p:sp>
        <p:nvSpPr>
          <p:cNvPr id="304" name="S304"/>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a:buNone/>
            </a:pPr>
            <a:endParaRPr/>
          </a:p>
        </p:txBody>
      </p:sp>
      <p:sp>
        <p:nvSpPr>
          <p:cNvPr id="305" name="S305"/>
          <p:cNvSpPr/>
          <p:nvPr/>
        </p:nvSpPr>
        <p:spPr>
          <a:xfrm>
            <a:off x="256032" y="676656"/>
            <a:ext cx="8631936" cy="183024"/>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0" i="0" u="none" strike="noStrike" cap="none">
                <a:solidFill>
                  <a:srgbClr val="475569"/>
                </a:solidFill>
                <a:latin typeface="Calibri"/>
              </a:rPr>
              <a:t>ADK trades control for speed. LangGraph trades speed for control. Most production systems need both zones.</a:t>
            </a:r>
          </a:p>
        </p:txBody>
      </p:sp>
      <p:sp>
        <p:nvSpPr>
          <p:cNvPr id="310" name="S310"/>
          <p:cNvSpPr/>
          <p:nvPr/>
        </p:nvSpPr>
        <p:spPr>
          <a:xfrm>
            <a:off x="256032" y="940000"/>
            <a:ext cx="3950000" cy="3700000"/>
          </a:xfrm>
          <a:prstGeom prst="rect">
            <a:avLst/>
          </a:prstGeom>
          <a:solidFill>
            <a:srgbClr val="E8F4F8"/>
          </a:solidFill>
          <a:ln w="9525">
            <a:solidFill>
              <a:srgbClr val="0F7490"/>
            </a:solidFill>
          </a:ln>
        </p:spPr>
        <p:txBody>
          <a:bodyPr spcFirstLastPara="1" wrap="square" lIns="91425" tIns="91425" rIns="91425" bIns="91425" anchor="ctr" anchorCtr="0">
            <a:noAutofit/>
          </a:bodyPr>
          <a:lstStyle/>
          <a:p>
            <a:pPr>
              <a:buNone/>
            </a:pPr>
            <a:endParaRPr/>
          </a:p>
        </p:txBody>
      </p:sp>
      <p:sp>
        <p:nvSpPr>
          <p:cNvPr id="311" name="S311"/>
          <p:cNvSpPr/>
          <p:nvPr/>
        </p:nvSpPr>
        <p:spPr>
          <a:xfrm>
            <a:off x="256032" y="940000"/>
            <a:ext cx="3950000" cy="400000"/>
          </a:xfrm>
          <a:prstGeom prst="rect">
            <a:avLst/>
          </a:prstGeom>
          <a:solidFill>
            <a:srgbClr val="0F7490"/>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150" b="1" i="0" u="none" strike="noStrike" cap="none">
                <a:solidFill>
                  <a:srgbClr val="FFFFFF"/>
                </a:solidFill>
                <a:latin typeface="Calibri"/>
              </a:rPr>
              <a:t>Google ADK  —  Opinionated &amp; Managed</a:t>
            </a:r>
          </a:p>
        </p:txBody>
      </p:sp>
      <p:sp>
        <p:nvSpPr>
          <p:cNvPr id="320" name="S320"/>
          <p:cNvSpPr/>
          <p:nvPr/>
        </p:nvSpPr>
        <p:spPr>
          <a:xfrm>
            <a:off x="330000" y="142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Fast start</a:t>
            </a:r>
          </a:p>
        </p:txBody>
      </p:sp>
      <p:sp>
        <p:nvSpPr>
          <p:cNvPr id="321" name="S321"/>
          <p:cNvSpPr/>
          <p:nvPr/>
        </p:nvSpPr>
        <p:spPr>
          <a:xfrm>
            <a:off x="330000" y="160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Agents, tools, and sessions in &lt;50 lines. Built-in agent types (LlmAgent, SequentialAgent) handle 80% of patterns.</a:t>
            </a:r>
          </a:p>
        </p:txBody>
      </p:sp>
      <p:sp>
        <p:nvSpPr>
          <p:cNvPr id="323" name="S323"/>
          <p:cNvSpPr/>
          <p:nvPr/>
        </p:nvSpPr>
        <p:spPr>
          <a:xfrm>
            <a:off x="330000" y="204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Google Cloud native</a:t>
            </a:r>
          </a:p>
        </p:txBody>
      </p:sp>
      <p:sp>
        <p:nvSpPr>
          <p:cNvPr id="324" name="S324"/>
          <p:cNvSpPr/>
          <p:nvPr/>
        </p:nvSpPr>
        <p:spPr>
          <a:xfrm>
            <a:off x="330000" y="222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Vertex AI models, Agent Engine deployment, Cloud Run scaling. No infra decisions.</a:t>
            </a:r>
          </a:p>
        </p:txBody>
      </p:sp>
      <p:sp>
        <p:nvSpPr>
          <p:cNvPr id="326" name="S326"/>
          <p:cNvSpPr/>
          <p:nvPr/>
        </p:nvSpPr>
        <p:spPr>
          <a:xfrm>
            <a:off x="330000" y="266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Built-in eval</a:t>
            </a:r>
          </a:p>
        </p:txBody>
      </p:sp>
      <p:sp>
        <p:nvSpPr>
          <p:cNvPr id="327" name="S327"/>
          <p:cNvSpPr/>
          <p:nvPr/>
        </p:nvSpPr>
        <p:spPr>
          <a:xfrm>
            <a:off x="330000" y="284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Agent Evaluation framework baked in. Auto-grades tool use, quality, and safety.</a:t>
            </a:r>
          </a:p>
        </p:txBody>
      </p:sp>
      <p:sp>
        <p:nvSpPr>
          <p:cNvPr id="329" name="S329"/>
          <p:cNvSpPr/>
          <p:nvPr/>
        </p:nvSpPr>
        <p:spPr>
          <a:xfrm>
            <a:off x="330000" y="328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Opinionated memory</a:t>
            </a:r>
          </a:p>
        </p:txBody>
      </p:sp>
      <p:sp>
        <p:nvSpPr>
          <p:cNvPr id="330" name="S330"/>
          <p:cNvSpPr/>
          <p:nvPr/>
        </p:nvSpPr>
        <p:spPr>
          <a:xfrm>
            <a:off x="330000" y="346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Session service + memory service provided. Less flexible, zero setup.</a:t>
            </a:r>
          </a:p>
        </p:txBody>
      </p:sp>
      <p:sp>
        <p:nvSpPr>
          <p:cNvPr id="332" name="S332"/>
          <p:cNvSpPr/>
          <p:nvPr/>
        </p:nvSpPr>
        <p:spPr>
          <a:xfrm>
            <a:off x="330000" y="390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991B1B"/>
                </a:solidFill>
                <a:latin typeface="Calibri"/>
              </a:rPr>
              <a:t>ADK stops here</a:t>
            </a:r>
          </a:p>
        </p:txBody>
      </p:sp>
      <p:sp>
        <p:nvSpPr>
          <p:cNvPr id="333" name="S333"/>
          <p:cNvSpPr/>
          <p:nvPr/>
        </p:nvSpPr>
        <p:spPr>
          <a:xfrm>
            <a:off x="330000" y="408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Custom graph topology, non-Google LLMs, bring-your-own DB, complex HITL, fine-grained reducer control — not supported.</a:t>
            </a:r>
          </a:p>
        </p:txBody>
      </p:sp>
      <p:sp>
        <p:nvSpPr>
          <p:cNvPr id="340" name="S340"/>
          <p:cNvSpPr/>
          <p:nvPr/>
        </p:nvSpPr>
        <p:spPr>
          <a:xfrm>
            <a:off x="4260000" y="2400000"/>
            <a:ext cx="620000" cy="400000"/>
          </a:xfrm>
          <a:prstGeom prst="rect">
            <a:avLst/>
          </a:prstGeom>
          <a:solidFill>
            <a:srgbClr val="1E3A5F"/>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1100" b="1" i="0" u="none" strike="noStrike" cap="none">
                <a:solidFill>
                  <a:srgbClr val="FFFFFF"/>
                </a:solidFill>
                <a:latin typeface="Calibri"/>
              </a:rPr>
              <a:t>→ extend</a:t>
            </a:r>
          </a:p>
        </p:txBody>
      </p:sp>
      <p:sp>
        <p:nvSpPr>
          <p:cNvPr id="350" name="S350"/>
          <p:cNvSpPr/>
          <p:nvPr/>
        </p:nvSpPr>
        <p:spPr>
          <a:xfrm>
            <a:off x="4930000" y="940000"/>
            <a:ext cx="3960000" cy="3700000"/>
          </a:xfrm>
          <a:prstGeom prst="rect">
            <a:avLst/>
          </a:prstGeom>
          <a:solidFill>
            <a:srgbClr val="F0F4FF"/>
          </a:solidFill>
          <a:ln w="9525">
            <a:solidFill>
              <a:srgbClr val="1D4ED8"/>
            </a:solidFill>
          </a:ln>
        </p:spPr>
        <p:txBody>
          <a:bodyPr spcFirstLastPara="1" wrap="square" lIns="91425" tIns="91425" rIns="91425" bIns="91425" anchor="ctr" anchorCtr="0">
            <a:noAutofit/>
          </a:bodyPr>
          <a:lstStyle/>
          <a:p>
            <a:pPr>
              <a:buNone/>
            </a:pPr>
            <a:endParaRPr/>
          </a:p>
        </p:txBody>
      </p:sp>
      <p:sp>
        <p:nvSpPr>
          <p:cNvPr id="351" name="S351"/>
          <p:cNvSpPr/>
          <p:nvPr/>
        </p:nvSpPr>
        <p:spPr>
          <a:xfrm>
            <a:off x="4930000" y="940000"/>
            <a:ext cx="3960000" cy="400000"/>
          </a:xfrm>
          <a:prstGeom prst="rect">
            <a:avLst/>
          </a:prstGeom>
          <a:solidFill>
            <a:srgbClr val="1D4ED8"/>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150" b="1" i="0" u="none" strike="noStrike" cap="none">
                <a:solidFill>
                  <a:srgbClr val="FFFFFF"/>
                </a:solidFill>
                <a:latin typeface="Calibri"/>
              </a:rPr>
              <a:t>LangGraph  —  Flexible &amp; Code-first</a:t>
            </a:r>
          </a:p>
        </p:txBody>
      </p:sp>
      <p:sp>
        <p:nvSpPr>
          <p:cNvPr id="360" name="S360"/>
          <p:cNvSpPr/>
          <p:nvPr/>
        </p:nvSpPr>
        <p:spPr>
          <a:xfrm>
            <a:off x="5020000" y="142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Full graph control</a:t>
            </a:r>
          </a:p>
        </p:txBody>
      </p:sp>
      <p:sp>
        <p:nvSpPr>
          <p:cNvPr id="361" name="S361"/>
          <p:cNvSpPr/>
          <p:nvPr/>
        </p:nvSpPr>
        <p:spPr>
          <a:xfrm>
            <a:off x="5020000" y="160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Any topology: cyclic, parallel, nested subgraphs. You define every edge and reducer. Nothing is hidden.</a:t>
            </a:r>
          </a:p>
        </p:txBody>
      </p:sp>
      <p:sp>
        <p:nvSpPr>
          <p:cNvPr id="363" name="S363"/>
          <p:cNvSpPr/>
          <p:nvPr/>
        </p:nvSpPr>
        <p:spPr>
          <a:xfrm>
            <a:off x="5020000" y="204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Any LLM / any cloud</a:t>
            </a:r>
          </a:p>
        </p:txBody>
      </p:sp>
      <p:sp>
        <p:nvSpPr>
          <p:cNvPr id="364" name="S364"/>
          <p:cNvSpPr/>
          <p:nvPr/>
        </p:nvSpPr>
        <p:spPr>
          <a:xfrm>
            <a:off x="5020000" y="222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OpenAI, Anthropic, Mistral, local models. Not locked to Google. Mix models per node.</a:t>
            </a:r>
          </a:p>
        </p:txBody>
      </p:sp>
      <p:sp>
        <p:nvSpPr>
          <p:cNvPr id="366" name="S366"/>
          <p:cNvSpPr/>
          <p:nvPr/>
        </p:nvSpPr>
        <p:spPr>
          <a:xfrm>
            <a:off x="5020000" y="266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Custom memory backends</a:t>
            </a:r>
          </a:p>
        </p:txBody>
      </p:sp>
      <p:sp>
        <p:nvSpPr>
          <p:cNvPr id="367" name="S367"/>
          <p:cNvSpPr/>
          <p:nvPr/>
        </p:nvSpPr>
        <p:spPr>
          <a:xfrm>
            <a:off x="5020000" y="284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Bring Pinecone, pgvector, Redis, or Postgres. Wire them into the Store or as tool nodes.</a:t>
            </a:r>
          </a:p>
        </p:txBody>
      </p:sp>
      <p:sp>
        <p:nvSpPr>
          <p:cNvPr id="369" name="S369"/>
          <p:cNvSpPr/>
          <p:nvPr/>
        </p:nvSpPr>
        <p:spPr>
          <a:xfrm>
            <a:off x="5020000" y="328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Production HITL</a:t>
            </a:r>
          </a:p>
        </p:txBody>
      </p:sp>
      <p:sp>
        <p:nvSpPr>
          <p:cNvPr id="370" name="S370"/>
          <p:cNvSpPr/>
          <p:nvPr/>
        </p:nvSpPr>
        <p:spPr>
          <a:xfrm>
            <a:off x="5020000" y="346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interrupt() anywhere. Time Travel to any checkpoint. Fork runs for A/B testing.</a:t>
            </a:r>
          </a:p>
        </p:txBody>
      </p:sp>
      <p:sp>
        <p:nvSpPr>
          <p:cNvPr id="372" name="S372"/>
          <p:cNvSpPr/>
          <p:nvPr/>
        </p:nvSpPr>
        <p:spPr>
          <a:xfrm>
            <a:off x="5020000" y="3900000"/>
            <a:ext cx="3600000" cy="18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66534"/>
                </a:solidFill>
                <a:latin typeface="Calibri"/>
              </a:rPr>
              <a:t>LangGraph starts here</a:t>
            </a:r>
          </a:p>
        </p:txBody>
      </p:sp>
      <p:sp>
        <p:nvSpPr>
          <p:cNvPr id="373" name="S373"/>
          <p:cNvSpPr/>
          <p:nvPr/>
        </p:nvSpPr>
        <p:spPr>
          <a:xfrm>
            <a:off x="5020000" y="4085000"/>
            <a:ext cx="3600000" cy="38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You build the trigger layer, the output sinks, the auth model, the observability stack. More power, more decisions.</a:t>
            </a:r>
          </a:p>
        </p:txBody>
      </p:sp>
      <p:sp>
        <p:nvSpPr>
          <p:cNvPr id="380" name="S380"/>
          <p:cNvSpPr/>
          <p:nvPr/>
        </p:nvSpPr>
        <p:spPr>
          <a:xfrm>
            <a:off x="256032" y="4710000"/>
            <a:ext cx="8631936" cy="280000"/>
          </a:xfrm>
          <a:prstGeom prst="rect">
            <a:avLst/>
          </a:prstGeom>
          <a:solidFill>
            <a:srgbClr val="1E3A5F"/>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950" b="0" i="0" u="none" strike="noStrike" cap="none">
                <a:solidFill>
                  <a:srgbClr val="FFFFFF"/>
                </a:solidFill>
                <a:latin typeface="Calibri"/>
              </a:rPr>
              <a:t>Use ADK for: quick prototypes, Google-native stacks, internal tooling.   Use LangGraph for: production agents, complex memory, multi-cloud, full customisation.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Grp"/>
        <p:cNvGrpSpPr/>
        <p:nvPr/>
      </p:nvGrpSpPr>
      <p:grpSpPr>
        <a:xfrm>
          <a:off x="0" y="0"/>
          <a:ext cx="0" cy="0"/>
          <a:chOff x="0" y="0"/>
          <a:chExt cx="0" cy="0"/>
        </a:xfrm>
      </p:grpSpPr>
      <p:sp>
        <p:nvSpPr>
          <p:cNvPr id="400" name="S400"/>
          <p:cNvSpPr/>
          <p:nvPr/>
        </p:nvSpPr>
        <p:spPr>
          <a:xfrm>
            <a:off x="0" y="0"/>
            <a:ext cx="9144000" cy="658500"/>
          </a:xfrm>
          <a:prstGeom prst="rect">
            <a:avLst/>
          </a:prstGeom>
          <a:solidFill>
            <a:srgbClr val="1E3A5F"/>
          </a:solidFill>
          <a:ln>
            <a:noFill/>
          </a:ln>
        </p:spPr>
        <p:txBody>
          <a:bodyPr spcFirstLastPara="1" wrap="square" lIns="91425" tIns="91425" rIns="91425" bIns="91425" anchor="ctr" anchorCtr="0">
            <a:noAutofit/>
          </a:bodyPr>
          <a:lstStyle/>
          <a:p>
            <a:pPr>
              <a:buNone/>
            </a:pPr>
            <a:endParaRPr/>
          </a:p>
        </p:txBody>
      </p:sp>
      <p:sp>
        <p:nvSpPr>
          <p:cNvPr id="401" name="S401"/>
          <p:cNvSpPr/>
          <p:nvPr/>
        </p:nvSpPr>
        <p:spPr>
          <a:xfrm>
            <a:off x="0" y="0"/>
            <a:ext cx="128100" cy="658500"/>
          </a:xfrm>
          <a:prstGeom prst="rect">
            <a:avLst/>
          </a:prstGeom>
          <a:solidFill>
            <a:srgbClr val="D4621A"/>
          </a:solidFill>
          <a:ln>
            <a:noFill/>
          </a:ln>
        </p:spPr>
        <p:txBody>
          <a:bodyPr spcFirstLastPara="1" wrap="square" lIns="91425" tIns="91425" rIns="91425" bIns="91425" anchor="ctr" anchorCtr="0">
            <a:noAutofit/>
          </a:bodyPr>
          <a:lstStyle/>
          <a:p>
            <a:pPr>
              <a:buNone/>
            </a:pPr>
            <a:endParaRPr/>
          </a:p>
        </p:txBody>
      </p:sp>
      <p:sp>
        <p:nvSpPr>
          <p:cNvPr id="402" name="S402"/>
          <p:cNvSpPr/>
          <p:nvPr/>
        </p:nvSpPr>
        <p:spPr>
          <a:xfrm>
            <a:off x="219456" y="0"/>
            <a:ext cx="6217800" cy="6585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2200" b="1" i="0" u="none" strike="noStrike" cap="none">
                <a:solidFill>
                  <a:srgbClr val="FFFFFF"/>
                </a:solidFill>
                <a:latin typeface="Calibri"/>
              </a:rPr>
              <a:t>Observability: LangSmith vs Langfuse</a:t>
            </a:r>
          </a:p>
        </p:txBody>
      </p:sp>
      <p:sp>
        <p:nvSpPr>
          <p:cNvPr id="403" name="S403"/>
          <p:cNvSpPr/>
          <p:nvPr/>
        </p:nvSpPr>
        <p:spPr>
          <a:xfrm>
            <a:off x="6492240" y="0"/>
            <a:ext cx="2514600" cy="658500"/>
          </a:xfrm>
          <a:prstGeom prst="rect">
            <a:avLst/>
          </a:prstGeom>
          <a:noFill/>
          <a:ln>
            <a:noFill/>
          </a:ln>
        </p:spPr>
        <p:txBody>
          <a:bodyPr spcFirstLastPara="1" wrap="square" lIns="91425" tIns="91425" rIns="91425" bIns="91425" anchor="ctr" anchorCtr="0">
            <a:noAutofit/>
          </a:bodyPr>
          <a:lstStyle/>
          <a:p>
            <a:pPr marL="0" marR="0" lvl="0" indent="0" algn="r" rtl="0">
              <a:spcBef>
                <a:spcPts val="0"/>
              </a:spcBef>
              <a:spcAft>
                <a:spcPts val="0"/>
              </a:spcAft>
              <a:buNone/>
            </a:pPr>
            <a:r>
              <a:rPr lang="en-US" sz="1000" b="0" i="0" u="none" strike="noStrike" cap="none">
                <a:solidFill>
                  <a:srgbClr val="D4621A"/>
                </a:solidFill>
                <a:latin typeface="Calibri"/>
              </a:rPr>
              <a:t>Part 4: Production</a:t>
            </a:r>
          </a:p>
        </p:txBody>
      </p:sp>
      <p:sp>
        <p:nvSpPr>
          <p:cNvPr id="404" name="S404"/>
          <p:cNvSpPr/>
          <p:nvPr/>
        </p:nvSpPr>
        <p:spPr>
          <a:xfrm>
            <a:off x="0" y="658368"/>
            <a:ext cx="9144000" cy="201300"/>
          </a:xfrm>
          <a:prstGeom prst="rect">
            <a:avLst/>
          </a:prstGeom>
          <a:solidFill>
            <a:srgbClr val="E8EDF5"/>
          </a:solidFill>
          <a:ln>
            <a:noFill/>
          </a:ln>
        </p:spPr>
        <p:txBody>
          <a:bodyPr spcFirstLastPara="1" wrap="square" lIns="91425" tIns="91425" rIns="91425" bIns="91425" anchor="ctr" anchorCtr="0">
            <a:noAutofit/>
          </a:bodyPr>
          <a:lstStyle/>
          <a:p>
            <a:pPr>
              <a:buNone/>
            </a:pPr>
            <a:endParaRPr/>
          </a:p>
        </p:txBody>
      </p:sp>
      <p:sp>
        <p:nvSpPr>
          <p:cNvPr id="405" name="S405"/>
          <p:cNvSpPr/>
          <p:nvPr/>
        </p:nvSpPr>
        <p:spPr>
          <a:xfrm>
            <a:off x="256032" y="676656"/>
            <a:ext cx="8631936" cy="183024"/>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0" i="0" u="none" strike="noStrike" cap="none">
                <a:solidFill>
                  <a:srgbClr val="475569"/>
                </a:solidFill>
                <a:latin typeface="Calibri"/>
              </a:rPr>
              <a:t>You cannot manage what you cannot see. </a:t>
            </a:r>
            <a:r>
              <a:rPr lang="en-US" sz="1000" b="0" i="0" u="none" strike="noStrike" cap="none" dirty="0">
                <a:solidFill>
                  <a:srgbClr val="475569"/>
                </a:solidFill>
                <a:latin typeface="Calibri"/>
              </a:rPr>
              <a:t>Choose your observability stack based on control, cost, and vendor lock-in.</a:t>
            </a:r>
          </a:p>
        </p:txBody>
      </p:sp>
      <p:sp>
        <p:nvSpPr>
          <p:cNvPr id="410" name="S410"/>
          <p:cNvSpPr/>
          <p:nvPr/>
        </p:nvSpPr>
        <p:spPr>
          <a:xfrm>
            <a:off x="256032" y="932400"/>
            <a:ext cx="8631936" cy="220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50" b="0" i="0" u="none" strike="noStrike" cap="none">
                <a:solidFill>
                  <a:srgbClr val="475569"/>
                </a:solidFill>
                <a:latin typeface="Calibri"/>
              </a:rPr>
              <a:t>Both trace every node, log state, and surface latency. The difference is in deployment, cost, and ecosystem.</a:t>
            </a:r>
          </a:p>
        </p:txBody>
      </p:sp>
      <p:sp>
        <p:nvSpPr>
          <p:cNvPr id="420" name="S420"/>
          <p:cNvSpPr/>
          <p:nvPr/>
        </p:nvSpPr>
        <p:spPr>
          <a:xfrm>
            <a:off x="256032" y="1200000"/>
            <a:ext cx="4100000" cy="400000"/>
          </a:xfrm>
          <a:prstGeom prst="rect">
            <a:avLst/>
          </a:prstGeom>
          <a:solidFill>
            <a:srgbClr val="D4621A"/>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400" b="1" i="0" u="none" strike="noStrike" cap="none" dirty="0" err="1">
                <a:solidFill>
                  <a:srgbClr val="FFFFFF"/>
                </a:solidFill>
                <a:latin typeface="Calibri"/>
              </a:rPr>
              <a:t>LangSmith</a:t>
            </a:r>
            <a:r>
              <a:rPr lang="en-US" sz="1400" b="1" i="0" u="none" strike="noStrike" cap="none" dirty="0">
                <a:solidFill>
                  <a:srgbClr val="FFFFFF"/>
                </a:solidFill>
                <a:latin typeface="Calibri"/>
              </a:rPr>
              <a:t>  (</a:t>
            </a:r>
            <a:r>
              <a:rPr lang="en-US" sz="1400" b="1" i="0" u="none" strike="noStrike" cap="none" dirty="0" err="1">
                <a:solidFill>
                  <a:srgbClr val="FFFFFF"/>
                </a:solidFill>
                <a:latin typeface="Calibri"/>
              </a:rPr>
              <a:t>LangChain</a:t>
            </a:r>
            <a:r>
              <a:rPr lang="en-US" sz="1400" b="1" i="0" u="none" strike="noStrike" cap="none" dirty="0">
                <a:solidFill>
                  <a:srgbClr val="FFFFFF"/>
                </a:solidFill>
                <a:latin typeface="Calibri"/>
              </a:rPr>
              <a:t>)</a:t>
            </a:r>
          </a:p>
        </p:txBody>
      </p:sp>
      <p:sp>
        <p:nvSpPr>
          <p:cNvPr id="430" name="S430"/>
          <p:cNvSpPr/>
          <p:nvPr/>
        </p:nvSpPr>
        <p:spPr>
          <a:xfrm>
            <a:off x="330000" y="166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Managed SaaS</a:t>
            </a:r>
          </a:p>
        </p:txBody>
      </p:sp>
      <p:sp>
        <p:nvSpPr>
          <p:cNvPr id="431" name="S431"/>
          <p:cNvSpPr/>
          <p:nvPr/>
        </p:nvSpPr>
        <p:spPr>
          <a:xfrm>
            <a:off x="330000" y="185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Hosted by LangChain. Zero infra setup. Usage-based pricing — free tier available, costs scale with trace volume.</a:t>
            </a:r>
          </a:p>
        </p:txBody>
      </p:sp>
      <p:sp>
        <p:nvSpPr>
          <p:cNvPr id="433" name="S433"/>
          <p:cNvSpPr/>
          <p:nvPr/>
        </p:nvSpPr>
        <p:spPr>
          <a:xfrm>
            <a:off x="330000" y="229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Native LangGraph integration</a:t>
            </a:r>
          </a:p>
        </p:txBody>
      </p:sp>
      <p:sp>
        <p:nvSpPr>
          <p:cNvPr id="434" name="S434"/>
          <p:cNvSpPr/>
          <p:nvPr/>
        </p:nvSpPr>
        <p:spPr>
          <a:xfrm>
            <a:off x="330000" y="248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One-line setup: set LANGCHAIN_TRACING_V2=true. Auto-traces every node, edge, and state mutation without code changes.</a:t>
            </a:r>
          </a:p>
        </p:txBody>
      </p:sp>
      <p:sp>
        <p:nvSpPr>
          <p:cNvPr id="436" name="S436"/>
          <p:cNvSpPr/>
          <p:nvPr/>
        </p:nvSpPr>
        <p:spPr>
          <a:xfrm>
            <a:off x="330000" y="292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Dataset &amp; eval suite</a:t>
            </a:r>
          </a:p>
        </p:txBody>
      </p:sp>
      <p:sp>
        <p:nvSpPr>
          <p:cNvPr id="437" name="S437"/>
          <p:cNvSpPr/>
          <p:nvPr/>
        </p:nvSpPr>
        <p:spPr>
          <a:xfrm>
            <a:off x="330000" y="311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Built-in tools to build eval datasets from prod traces. Run LLM-graded evals (hallucination, quality) automatically on every deploy.</a:t>
            </a:r>
          </a:p>
        </p:txBody>
      </p:sp>
      <p:sp>
        <p:nvSpPr>
          <p:cNvPr id="439" name="S439"/>
          <p:cNvSpPr/>
          <p:nvPr/>
        </p:nvSpPr>
        <p:spPr>
          <a:xfrm>
            <a:off x="330000" y="355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Prompt playground</a:t>
            </a:r>
          </a:p>
        </p:txBody>
      </p:sp>
      <p:sp>
        <p:nvSpPr>
          <p:cNvPr id="440" name="S440"/>
          <p:cNvSpPr/>
          <p:nvPr/>
        </p:nvSpPr>
        <p:spPr>
          <a:xfrm>
            <a:off x="330000" y="374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Edit and test prompts against captured traces. Tight feedback loop from prod observation to prompt iteration.</a:t>
            </a:r>
          </a:p>
        </p:txBody>
      </p:sp>
      <p:sp>
        <p:nvSpPr>
          <p:cNvPr id="442" name="S442"/>
          <p:cNvSpPr/>
          <p:nvPr/>
        </p:nvSpPr>
        <p:spPr>
          <a:xfrm>
            <a:off x="330000" y="418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991B1B"/>
                </a:solidFill>
                <a:latin typeface="Calibri"/>
              </a:rPr>
              <a:t>Vendor lock-in</a:t>
            </a:r>
          </a:p>
        </p:txBody>
      </p:sp>
      <p:sp>
        <p:nvSpPr>
          <p:cNvPr id="443" name="S443"/>
          <p:cNvSpPr/>
          <p:nvPr/>
        </p:nvSpPr>
        <p:spPr>
          <a:xfrm>
            <a:off x="330000" y="437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Deeply tied to LangChain ecosystem. Proprietary data format. Switching costs are real if you later move off LangChain.</a:t>
            </a:r>
          </a:p>
        </p:txBody>
      </p:sp>
      <p:sp>
        <p:nvSpPr>
          <p:cNvPr id="450" name="S450"/>
          <p:cNvSpPr/>
          <p:nvPr/>
        </p:nvSpPr>
        <p:spPr>
          <a:xfrm>
            <a:off x="4500000" y="1200000"/>
            <a:ext cx="9525" cy="3500000"/>
          </a:xfrm>
          <a:prstGeom prst="rect">
            <a:avLst/>
          </a:prstGeom>
          <a:solidFill>
            <a:srgbClr val="C8D4E8"/>
          </a:solidFill>
          <a:ln>
            <a:noFill/>
          </a:ln>
        </p:spPr>
        <p:txBody>
          <a:bodyPr spcFirstLastPara="1" wrap="square" lIns="91425" tIns="91425" rIns="91425" bIns="91425" anchor="ctr" anchorCtr="0">
            <a:noAutofit/>
          </a:bodyPr>
          <a:lstStyle/>
          <a:p>
            <a:pPr>
              <a:buNone/>
            </a:pPr>
            <a:endParaRPr/>
          </a:p>
        </p:txBody>
      </p:sp>
      <p:sp>
        <p:nvSpPr>
          <p:cNvPr id="460" name="S460"/>
          <p:cNvSpPr/>
          <p:nvPr/>
        </p:nvSpPr>
        <p:spPr>
          <a:xfrm>
            <a:off x="4720000" y="1200000"/>
            <a:ext cx="4100000" cy="400000"/>
          </a:xfrm>
          <a:prstGeom prst="rect">
            <a:avLst/>
          </a:prstGeom>
          <a:solidFill>
            <a:srgbClr val="166534"/>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400" b="1" i="0" u="none" strike="noStrike" cap="none">
                <a:solidFill>
                  <a:srgbClr val="FFFFFF"/>
                </a:solidFill>
                <a:latin typeface="Calibri"/>
              </a:rPr>
              <a:t>Langfuse  (Open Source)</a:t>
            </a:r>
          </a:p>
        </p:txBody>
      </p:sp>
      <p:sp>
        <p:nvSpPr>
          <p:cNvPr id="470" name="S470"/>
          <p:cNvSpPr/>
          <p:nvPr/>
        </p:nvSpPr>
        <p:spPr>
          <a:xfrm>
            <a:off x="4810000" y="166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Self-host or cloud</a:t>
            </a:r>
          </a:p>
        </p:txBody>
      </p:sp>
      <p:sp>
        <p:nvSpPr>
          <p:cNvPr id="471" name="S471"/>
          <p:cNvSpPr/>
          <p:nvPr/>
        </p:nvSpPr>
        <p:spPr>
          <a:xfrm>
            <a:off x="4810000" y="185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Open source (MIT). Run on your own infra for full data control. Cloud hosted option available. No per-trace pricing on self-hosted.</a:t>
            </a:r>
          </a:p>
        </p:txBody>
      </p:sp>
      <p:sp>
        <p:nvSpPr>
          <p:cNvPr id="473" name="S473"/>
          <p:cNvSpPr/>
          <p:nvPr/>
        </p:nvSpPr>
        <p:spPr>
          <a:xfrm>
            <a:off x="4810000" y="229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Framework-agnostic</a:t>
            </a:r>
          </a:p>
        </p:txBody>
      </p:sp>
      <p:sp>
        <p:nvSpPr>
          <p:cNvPr id="474" name="S474"/>
          <p:cNvSpPr/>
          <p:nvPr/>
        </p:nvSpPr>
        <p:spPr>
          <a:xfrm>
            <a:off x="4810000" y="248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Works with LangGraph, OpenAI SDK, LlamaIndex, and raw API calls. Not locked to any framework. Single SDK across your stack.</a:t>
            </a:r>
          </a:p>
        </p:txBody>
      </p:sp>
      <p:sp>
        <p:nvSpPr>
          <p:cNvPr id="476" name="S476"/>
          <p:cNvSpPr/>
          <p:nvPr/>
        </p:nvSpPr>
        <p:spPr>
          <a:xfrm>
            <a:off x="4810000" y="292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Scores &amp; human feedback</a:t>
            </a:r>
          </a:p>
        </p:txBody>
      </p:sp>
      <p:sp>
        <p:nvSpPr>
          <p:cNvPr id="477" name="S477"/>
          <p:cNvSpPr/>
          <p:nvPr/>
        </p:nvSpPr>
        <p:spPr>
          <a:xfrm>
            <a:off x="4810000" y="311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First-class support for capturing human ratings on traces. Feed scores back into prompt versioning and dataset creation.</a:t>
            </a:r>
          </a:p>
        </p:txBody>
      </p:sp>
      <p:sp>
        <p:nvSpPr>
          <p:cNvPr id="479" name="S479"/>
          <p:cNvSpPr/>
          <p:nvPr/>
        </p:nvSpPr>
        <p:spPr>
          <a:xfrm>
            <a:off x="4810000" y="355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1E3A5F"/>
                </a:solidFill>
                <a:latin typeface="Calibri"/>
              </a:rPr>
              <a:t>Prompt management</a:t>
            </a:r>
          </a:p>
        </p:txBody>
      </p:sp>
      <p:sp>
        <p:nvSpPr>
          <p:cNvPr id="480" name="S480"/>
          <p:cNvSpPr/>
          <p:nvPr/>
        </p:nvSpPr>
        <p:spPr>
          <a:xfrm>
            <a:off x="4810000" y="374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Version-controlled prompt registry with A/B deployment. Decouple prompt changes from code deploys.</a:t>
            </a:r>
          </a:p>
        </p:txBody>
      </p:sp>
      <p:sp>
        <p:nvSpPr>
          <p:cNvPr id="482" name="S482"/>
          <p:cNvSpPr/>
          <p:nvPr/>
        </p:nvSpPr>
        <p:spPr>
          <a:xfrm>
            <a:off x="4810000" y="4180000"/>
            <a:ext cx="3800000" cy="1850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1000" b="1" i="0" u="none" strike="noStrike" cap="none">
                <a:solidFill>
                  <a:srgbClr val="991B1B"/>
                </a:solidFill>
                <a:latin typeface="Calibri"/>
              </a:rPr>
              <a:t>Manual LangGraph setup</a:t>
            </a:r>
          </a:p>
        </p:txBody>
      </p:sp>
      <p:sp>
        <p:nvSpPr>
          <p:cNvPr id="483" name="S483"/>
          <p:cNvSpPr/>
          <p:nvPr/>
        </p:nvSpPr>
        <p:spPr>
          <a:xfrm>
            <a:off x="4810000" y="4370000"/>
            <a:ext cx="3800000" cy="4000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100"/>
              </a:spcAft>
              <a:buNone/>
            </a:pPr>
            <a:r>
              <a:rPr lang="en-US" sz="900" b="0" i="0" u="none" strike="noStrike" cap="none">
                <a:solidFill>
                  <a:srgbClr val="475569"/>
                </a:solidFill>
                <a:latin typeface="Calibri"/>
              </a:rPr>
              <a:t>Requires explicit callback integration. Auto-tracing is less seamless than LangSmith. More setup work upfront.</a:t>
            </a:r>
          </a:p>
        </p:txBody>
      </p:sp>
      <p:sp>
        <p:nvSpPr>
          <p:cNvPr id="490" name="S490"/>
          <p:cNvSpPr/>
          <p:nvPr/>
        </p:nvSpPr>
        <p:spPr>
          <a:xfrm>
            <a:off x="256032" y="4791168"/>
            <a:ext cx="8631936" cy="280000"/>
          </a:xfrm>
          <a:prstGeom prst="rect">
            <a:avLst/>
          </a:prstGeom>
          <a:solidFill>
            <a:srgbClr val="1E3A5F"/>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US" sz="950" b="0" i="0" u="none" strike="noStrike" cap="none">
                <a:solidFill>
                  <a:srgbClr val="FFFFFF"/>
                </a:solidFill>
                <a:latin typeface="Calibri"/>
              </a:rPr>
              <a:t>Choose LangSmith for: fastest LangGraph setup, managed eval pipelines.   Choose Langfuse for: data sovereignty, multi-framework stacks, cost control at scale.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3335</Words>
  <Application>Microsoft Macintosh PowerPoint</Application>
  <PresentationFormat>On-screen Show (16:9)</PresentationFormat>
  <Paragraphs>405</Paragraphs>
  <Slides>26</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Roboto Mono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Ramsey Wise</cp:lastModifiedBy>
  <cp:revision>1</cp:revision>
  <dcterms:modified xsi:type="dcterms:W3CDTF">2026-04-24T08:48:19Z</dcterms:modified>
</cp:coreProperties>
</file>