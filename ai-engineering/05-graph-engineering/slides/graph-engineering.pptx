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five. The loop from last time is good at one job. Today we take a review loop, ask when it has truly outgrown itself, build the graph it needs, and then watch that graph fail in production. The second half turns to knowledge graphs, a different thing with the same name, and ends where the two join.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decision, because the most expensive mistake in this pillar is building a graph you did not need. By the end of this part you should be able to say no to one,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review loop. It drafts a change summary, checks it, and tries again. It keeps passing bad work, and someone on the team says we need a multi-agent graph. Before agreeing, notice what they are proposing. The loop is already a graph with one cycle. The real question is which extra nodes earn their cost.</a:t>
            </a:r>
          </a:p>
          <a:p/>
          <a:p>
            <a:r>
              <a:t>Source: notes/01-graph-vs-loop.md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are the workflow shapes you have seen, on the right the agent loop. Most real systems put a couple of those loops inside a fixed shape. One lesson from LangChain matters here: an agent must go from A to B, find B failed, and come back. A DAG cannot say that. Anything that forbids cycles is a workflow engine, not an agent framework.</a:t>
            </a:r>
          </a:p>
          <a:p/>
          <a:p>
            <a:r>
              <a:t>Source: notes/01-graph-vs-loop.md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our review loop against this list. Does it need parallel work? Different models? If nothing applies, stop. And beware the name. Raieli and Iuculano's travel planner has four agents, but a controller calls them in a fixed order and no edge is conditional. That is a pipeline, and it is better for being one.</a:t>
            </a:r>
          </a:p>
          <a:p/>
          <a:p>
            <a:r>
              <a:t>Source: notes/01-graph-vs-loop.md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would do with our review loop first. One judge is being asked about correctness, style, safety and completeness at once. Split it, make the mechanical parts code, and measure. The sketch is a shape and not a library. Either the loop recovers, or you now know exactly which node to add.</a:t>
            </a:r>
          </a:p>
          <a:p/>
          <a:p>
            <a:r>
              <a:t>Source: notes/06-when-not-to-build-a-graph.md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 and colleagues matched compute and ran 260 configurations. Finance Agent splits into parallel subtasks, and a centralized team scored 80.8 percent higher. In PlanCraft each step constrains the next, and every variant lost. The mean is close to zero with an enormous interval. So check how your task decomposes, and whether a single agent already does well.</a:t>
            </a:r>
          </a:p>
          <a:p/>
          <a:p>
            <a:r>
              <a:t>Source: notes/06-when-not-to-build-a-graph.md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sources and one shape. The first figure is first party, the second controlled, the third a vendor estimate, so treat that one as something to test. The logic is sound: when most cycles fail and get redone, you pay fan-out for work you throw away. Run the same tasks both ways and record tokens, wall-clock time and pass rate.</a:t>
            </a:r>
          </a:p>
          <a:p/>
          <a:p>
            <a:r>
              <a:t>Source: notes/06-when-not-to-build-a-graph.md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review loop did earn a graph, because it needs one reviewer per changed file. This order keeps you honest. Every node brings a prompt to maintain, state to synchronise and another place a wrong answer could come from. Next we build the smallest version, and see what each primitive buys.</a:t>
            </a:r>
          </a:p>
          <a:p/>
          <a:p>
            <a:r>
              <a:t>Source: notes/06-when-not-to-build-a-graph.md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build it. Three problems drive this part. The checker must stay independent. Many reviewers must write at once without losing work. And the run must be able to stop, wait for a person and come 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needs set the agenda. The checker gives us nodes and edges. The per-file reviewers give us state and reducers. The human before publish gives us checkpoints. We will add them one at a time, to the same review graph.</a:t>
            </a:r>
          </a:p>
          <a:p/>
          <a:p>
            <a:r>
              <a:t>Source: notes/02-graph-primitives.md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orders architectures by who decides: the output, the next step, the available steps. Moving down gives the model more freedom and costs you predictability. In our review graph, parsing the diff is code, summarising a file is one call, and almost nothing needs to be a full agent.</a:t>
            </a:r>
          </a:p>
          <a:p/>
          <a:p>
            <a:r>
              <a:t>Source: notes/02-graph-primitives.md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here is an LLM until you put one in a node. The router is a plain function. That matters, since routing you can read is routing you can test. The last edge makes the cycle, and the rest of this part fills in what state carries.</a:t>
            </a:r>
          </a:p>
          <a:p/>
          <a:p>
            <a:r>
              <a:t>Source: notes/02-graph-primitives.md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our review graph starts: two nodes and a bounded back-edge. Keep two things straight. The critique travels back to the generator, but the reasoning never travels forward to the verifier. If it did, the verifier would inherit the framing and find the argument convincing.</a:t>
            </a:r>
          </a:p>
          <a:p/>
          <a:p>
            <a:r>
              <a:t>Source: notes/02-graph-primitives.md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is what the nodes coordinate through, so the type is the design. Read this class as a writing policy. The task is set once. The draft belongs to the generator. Findings have many writers, so they need a reducer. And the counter is here because a router can only read what is in state.</a:t>
            </a:r>
          </a:p>
          <a:p/>
          <a:p>
            <a:r>
              <a:t>Source: notes/03-state-and-reducers.md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reducer, the checkpoint in the figure holds both writes merged before C runs. Without one, LangGraph raises an error and you are lucky, because you find out. A hand-rolled system has the same race and no error. You just lose a reviewer's findings on the occasional run, and nobody notices.</a:t>
            </a:r>
          </a:p>
          <a:p/>
          <a:p>
            <a:r>
              <a:t>Source: notes/03-state-and-reducers.md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know how many files changed until the run begins, so static edges cannot express this. Send decides at runtime. Files do not read each other's reviews, so those edges were incidental and can fan out. The synthesis does read them, so that edge is real.</a:t>
            </a:r>
          </a:p>
          <a:p/>
          <a:p>
            <a:r>
              <a:t>Source: notes/03-state-and-reducers.md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loop lives in a call stack, so when the process dies, the state dies with it. Writing state out after each super-step solves three problems at once. Choose the thread ID deliberately, because it decides what counts as the same conversation. Ours is review-42.</a:t>
            </a:r>
          </a:p>
          <a:p/>
          <a:p>
            <a:r>
              <a:t>Source: notes/04-durable-execution-and-interrupts.md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last piece of our review graph. The first invoke pauses inside publish. The second one, perhaps a day later, resumes it. The trap is that resume does not continue from the interrupt line. It runs the node again, so a send placed above the interrupt would send twice. Put the interrupt inside a tool and the gate travels with the tool.</a:t>
            </a:r>
          </a:p>
          <a:p/>
          <a:p>
            <a:r>
              <a:t>Source: notes/04-durable-execution-and-interrupts.md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graph is now complete: generate, verify, one reviewer per file, a gate before publish. It has one gate, because of what too many gates do to the humans behind them. Look through your own graph on Monday, and find the single edge you could not take back.</a:t>
            </a:r>
          </a:p>
          <a:p/>
          <a:p>
            <a:r>
              <a:t>Source: notes/04-durable-execution-and-interrupts.md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graph now works in a demo. This part is about what happens next: more shapes to choose from, a harder test for adding agents, the failures only graphs have, and how to find out what a run actually did.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loop has one identity and one bill. A graph has neither. With Send and conditional edges, the graph that ran is not even the graph you drew. We will come back to attribution at the end of this part, once we have seen the failures that make it matter.</a:t>
            </a:r>
          </a:p>
          <a:p/>
          <a:p>
            <a:r>
              <a:t>Source: notes/08-governance-and-production.md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review graph already combines two of these, generate-then-verify and fan-out. Read the last column most carefully. You can also search for a topology: Meta Agent Search in ADAS writes agents as code and scores them, but its evaluator runs model-written code in your process, so sandbox it.</a:t>
            </a:r>
          </a:p>
          <a:p/>
          <a:p>
            <a:r>
              <a:t>Source: notes/05-topology-patterns.md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 analogy is threads against processes. Our verifier must be isolated by design. Our per-file reviewers can be too, since each needs only a brief. Agents pass meaning and not bytes, and a message can be misread, so every interface needs a contract the receiver can check.</a:t>
            </a:r>
          </a:p>
          <a:p/>
          <a:p>
            <a:r>
              <a:t>Source: notes/05-topology-patterns.md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data-processing argument: recombining the same information cannot add any. It has a boundary. With 70 percent of the context masked, a sequential pipeline beat the single agent, which is a context problem and not new information. So give our reviewer the test runner.</a:t>
            </a:r>
          </a:p>
          <a:p/>
          <a:p>
            <a:r>
              <a:t>Source: notes/05-topology-patterns.md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friendly failures, since something visibly goes wrong. Our review graph could hit several. A reviewer that errors without writing its key leaves the join waiting forever, so route errors to a node that still writes. The harder ones are coming.</a:t>
            </a:r>
          </a:p>
          <a:p/>
          <a:p>
            <a:r>
              <a:t>Source: notes/07-failure-modes-at-scale.md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pre-flight check as code. The numbers are mine, chosen for illustration, so pick yours from your traces. Notice the escalate route. When attempts run out, the honest outcome is to say so and not to publish the last draft.</a:t>
            </a:r>
          </a:p>
          <a:p/>
          <a:p>
            <a:r>
              <a:t>Source: notes/07-failure-modes-at-scale.md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book's translation lab the glossary agent mistranslated reasoning. The translator applied it faithfully, and the proofreader, checking against the glossary, saw perfect consistency. Every stage did its job and the error survived all of them. Hence the fix: a reviewer who reads the output against the source. The 17.2 and 4.4 are error counts relative to a single agent, and Kim et al. read them as descriptive, since amplification did not predict success in their regression.</a:t>
            </a:r>
          </a:p>
          <a:p/>
          <a:p>
            <a:r>
              <a:t>Source: notes/07-failure-modes-at-scale.md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reading comes from Eigent, a vendor blog, though each failure has an older name in control theory. The danger is that nothing looks wrong: every loop agrees with every other loop, and they are all wrong. An anchor made tunable is an anchor that will eventually be tuned.</a:t>
            </a:r>
          </a:p>
          <a:p/>
          <a:p>
            <a:r>
              <a:t>Source: notes/07-failure-modes-at-scale.md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opening question. With node_id on every call you learn why a run was expensive, and not just that it was. The tenant level is the one a run-scoped framework can't enforce alone, since the limit has to hold across concurrent runs, so it usually lives in a gateway.</a:t>
            </a:r>
          </a:p>
          <a:p/>
          <a:p>
            <a:r>
              <a:t>Source: notes/08-governance-and-production.md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 covered appears here. Specialisation is prompt-only, on the same model. Compaction triggers at 150K in a 200K window, and the workflow itself is capped at 30K tokens, so the agent can't fill its context with the thing it is editing. That closes the execution graph. Now, the other graph.</a:t>
            </a:r>
          </a:p>
          <a:p/>
          <a:p>
            <a:r>
              <a:t>Source: notes/08-governance-and-production.md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problem, new example. We leave the review graph and turn to SEC filings from the Neo4j course. Here a graph is data and not execution. We will see why vector search needs it, how to build one you can trust, and how to query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near-identical scores, and two of those chunks never name the person we asked about. Vector retrieval is doing its job. It finds text with similar overall meaning. Facts split across chunks, aggregate questions and exact entities all need something else.</a:t>
            </a:r>
          </a:p>
          <a:p/>
          <a:p>
            <a:r>
              <a:t>Source: notes/11-kg-rag-and-text-to-cypher.md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was the left column. From here on we are in the right column, so a node is an entity like a company or a fund manager. The two meet in the final part of the talk, where a knowledge graph becomes the state that agents coordinate through.</a:t>
            </a:r>
          </a:p>
          <a:p/>
          <a:p>
            <a:r>
              <a:t>Source: notes/01-graph-vs-loop.md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 graph we will build. Evidence often belongs on the edge. In the book's rare-disease graph, each disease and phenotype link carries its reference and frequency as properties, and that single fact is why the chapter picks a property graph over RDF. Type 1 diabetes keeps two IDs, disease and phenotype, because its role depends on context.</a:t>
            </a:r>
          </a:p>
          <a:p/>
          <a:p>
            <a:r>
              <a:t>Source: notes/09-kg-fundamentals-and-cypher.md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first query aloud and you have read the picture: a person, acted in, a movie, acted in by someone else. The second half matters more for us, because the pipeline we build next will reload data many times, and it must not create duplicates when it does.</a:t>
            </a:r>
          </a:p>
          <a:p/>
          <a:p>
            <a:r>
              <a:t>Source: notes/09-kg-fundamentals-and-cypher.md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arithmetic first, and the pipeline explains itself. If each hop can be wrong, deep traversal multiplies the risk. Most per-hop errors are resolution errors: two entities merged, or one split. Hence the separate stage, the stronger model, and an evaluation that can block the load.</a:t>
            </a:r>
          </a:p>
          <a:p/>
          <a:p>
            <a:r>
              <a:t>Source: notes/10-building-kgs-with-llms.md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schema has three layers. Mentions record what the text said, evidence records why two mentions might be the same, and canonicals are the current belief. If a merge turns out wrong, you undo the last layer and lose nothing. A merge in place has no such exit.</a:t>
            </a:r>
          </a:p>
          <a:p/>
          <a:p>
            <a:r>
              <a:t>Source: notes/10-building-kgs-with-llms.md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SEC graph. Notice the order. Text first, because it is what you can search. Then structure, so chunks know their neighbours. Then a second source joined by key, where a manager owns stock in a company. The quarter sits on the relationship key, so each quarter gets its own edge.</a:t>
            </a:r>
          </a:p>
          <a:p/>
          <a:p>
            <a:r>
              <a:t>Source: notes/10-building-kgs-with-llms.md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colleagues at Microsoft Research pre-summarise communities in an entity graph. The judge was an LLM, with no ground truth accuracy. You may also meet a 53.4 versus 42.9 figure for multi-hop accuracy. That is a vendor post with no dataset or method, so do not quote it. Write your own test set.</a:t>
            </a:r>
          </a:p>
          <a:p/>
          <a:p>
            <a:r>
              <a:t>Source: notes/11-kg-rag-and-text-to-cypher.md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is about risk. A canned traversal can't invent a relationship. Text-to-Cypher can, so it comes last and with a validator. In the course, widening each vector hit with its NEXT neighbours also surfaced NetApp's ONTAP software, which the plain retriever's answer left out. That is hybrid at its smallest.</a:t>
            </a:r>
          </a:p>
          <a:p/>
          <a:p>
            <a:r>
              <a:t>Source: notes/11-kg-rag-and-text-to-cypher.md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the two graphs touch for the first time: a knowledge graph queried by an execution graph. The back-edge carries the database error to the next attempt. The typed state doubles as an audit trail, and a free dataset of failures. If you try one thing Monday, put EXPLAIN in front of execution.</a:t>
            </a:r>
          </a:p>
          <a:p/>
          <a:p>
            <a:r>
              <a:t>Source: notes/11-kg-rag-and-text-to-cypher.md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Parallel agents repeat each other's work because each run starts fresh. What if the knowledge graph were their shared state? It works, and it makes mistakes permanent, so most of this part is about the write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 state lives for one thread, and only the graph's own nodes read it. A knowledge graph lives across runs, for any agent and for people too. That lifetime is the appeal. It is also the risk, since nothing throws the mistakes away for you.</a:t>
            </a:r>
          </a:p>
          <a:p/>
          <a:p>
            <a:r>
              <a:t>Source: notes/12-kg-as-shared-agent-memory.md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move, three times. Autoresearch moves judgement into a fixed metric. A swarm moves search into parallel workers, and it creates redundancy. A graph moves shared facts into something that outlives them. Shared-graph workers can also spread a correlated error further, which is why the write path comes next.</a:t>
            </a:r>
          </a:p>
          <a:p/>
          <a:p>
            <a:r>
              <a:t>Source: notes/12-kg-as-shared-agent-memory.md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reducer from our review graph: many writers, one rule for merging. This is the same idea with a longer lifetime. No worker gets a database connection. Each hands over a typed update, and the publisher checks schema and provenance before anything is stored.</a:t>
            </a:r>
          </a:p>
          <a:p/>
          <a:p>
            <a:r>
              <a:t>Source: notes/12-kg-as-shared-agent-memory.md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anti-pattern is the chat transcript becoming the database. If a run's only durable record is its conversation log, you can't query it, can't roll it back, and the next agent can't read it without reading everything. These three properties are what make a graph more than a bigger transcript.</a:t>
            </a:r>
          </a:p>
          <a:p/>
          <a:p>
            <a:r>
              <a:t>Source: notes/12-kg-as-shared-agent-memory.md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Connected nodes tend to be alike, so encoding that by hand beat an untuned embedding on the book's small example, where the test set is 14 members, so read the numbers small. Compute it from training labels only, or the test nodes leak answers. The figure shows message passing, where a GNN learns the same kind of thing. If such a model writes to the shared graph, it goes through the write path like any other agent.</a:t>
            </a:r>
          </a:p>
          <a:p/>
          <a:p>
            <a:r>
              <a:t>Source: notes/13-graph-ml-and-gnns.md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pillar in four steps. Evaluate by layer: extraction F1, false-merge rate, path validity and redundant findings. Each has a misreading, and a right answer through a wrong path is luck. We began by asking if you need a graph. This is the same question, asked four more times.</a:t>
            </a:r>
          </a:p>
          <a:p/>
          <a:p>
            <a:r>
              <a:t>Source: notes/12-kg-as-shared-agent-memory.md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six things, make them these. Each came from a failure we walked through today, from the verifier that ratified a draft to the graph that agreed with itself while drifting away from reality.</a:t>
            </a:r>
          </a:p>
          <a:p/>
          <a:p>
            <a:r>
              <a:t>Source: notes/01-graph-vs-loop.md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walks you through a graph with real code. Next pillar is evaluation, which asks the question we kept postponing today: how do you know the whole system is right? Thank you.</a:t>
            </a:r>
          </a:p>
          <a:p/>
          <a:p>
            <a:r>
              <a:t>Source: notes/06-when-not-to-build-a-graph.md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Graph Engineering</a:t>
            </a:r>
          </a:p>
        </p:txBody>
      </p:sp>
      <p:sp>
        <p:nvSpPr>
          <p:cNvPr id="7" name="TextBox 6"/>
          <p:cNvSpPr txBox="1"/>
          <p:nvPr/>
        </p:nvSpPr>
        <p:spPr>
          <a:xfrm>
            <a:off x="548640" y="3063240"/>
            <a:ext cx="4937760" cy="1298448"/>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Which nodes exist, which transitions are permitted, what state they carry</a:t>
            </a:r>
          </a:p>
        </p:txBody>
      </p:sp>
      <p:sp>
        <p:nvSpPr>
          <p:cNvPr id="8" name="Rectangle 7"/>
          <p:cNvSpPr/>
          <p:nvPr/>
        </p:nvSpPr>
        <p:spPr>
          <a:xfrm>
            <a:off x="548640" y="4590288"/>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10327"/>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One review loop that outgrows itself: when to add a node, how to run the graph, and how it fails.</a:t>
            </a:r>
          </a:p>
          <a:p>
            <a:pPr algn="l">
              <a:lnSpc>
                <a:spcPct val="125000"/>
              </a:lnSpc>
            </a:pPr>
            <a:r>
              <a:rPr sz="1500" i="0" b="0">
                <a:solidFill>
                  <a:srgbClr val="94A3B8"/>
                </a:solidFill>
                <a:latin typeface="Helvetica Neue"/>
              </a:rPr>
              <a:t>Then the other kind of graph, and the point where the two meet.</a:t>
            </a:r>
          </a:p>
        </p:txBody>
      </p:sp>
      <p:sp>
        <p:nvSpPr>
          <p:cNvPr id="10" name="Rectangle 9"/>
          <p:cNvSpPr/>
          <p:nvPr/>
        </p:nvSpPr>
        <p:spPr>
          <a:xfrm>
            <a:off x="6492240" y="822960"/>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88148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Do you need a graph at all</a:t>
            </a:r>
          </a:p>
        </p:txBody>
      </p:sp>
      <p:sp>
        <p:nvSpPr>
          <p:cNvPr id="13" name="TextBox 12"/>
          <p:cNvSpPr txBox="1"/>
          <p:nvPr/>
        </p:nvSpPr>
        <p:spPr>
          <a:xfrm>
            <a:off x="6766560" y="1264031"/>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Loop or graph · Signals that justify a node · What fan-out costs</a:t>
            </a:r>
          </a:p>
        </p:txBody>
      </p:sp>
      <p:sp>
        <p:nvSpPr>
          <p:cNvPr id="14" name="Rectangle 13"/>
          <p:cNvSpPr/>
          <p:nvPr/>
        </p:nvSpPr>
        <p:spPr>
          <a:xfrm>
            <a:off x="6492240" y="190560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905609"/>
            <a:ext cx="91440" cy="88148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03362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Building the first graph</a:t>
            </a:r>
          </a:p>
        </p:txBody>
      </p:sp>
      <p:sp>
        <p:nvSpPr>
          <p:cNvPr id="17" name="TextBox 16"/>
          <p:cNvSpPr txBox="1"/>
          <p:nvPr/>
        </p:nvSpPr>
        <p:spPr>
          <a:xfrm>
            <a:off x="6766560" y="234668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Nodes and edges · State and reducers · Pausing for a human</a:t>
            </a:r>
          </a:p>
        </p:txBody>
      </p:sp>
      <p:sp>
        <p:nvSpPr>
          <p:cNvPr id="18" name="Rectangle 17"/>
          <p:cNvSpPr/>
          <p:nvPr/>
        </p:nvSpPr>
        <p:spPr>
          <a:xfrm>
            <a:off x="6492240" y="298825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988259"/>
            <a:ext cx="91440" cy="88148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11627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Running it in production</a:t>
            </a:r>
          </a:p>
        </p:txBody>
      </p:sp>
      <p:sp>
        <p:nvSpPr>
          <p:cNvPr id="21" name="TextBox 20"/>
          <p:cNvSpPr txBox="1"/>
          <p:nvPr/>
        </p:nvSpPr>
        <p:spPr>
          <a:xfrm>
            <a:off x="6766560" y="342933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Topologies · Who adds information · Failures · Who pays</a:t>
            </a:r>
          </a:p>
        </p:txBody>
      </p:sp>
      <p:sp>
        <p:nvSpPr>
          <p:cNvPr id="22" name="Rectangle 21"/>
          <p:cNvSpPr/>
          <p:nvPr/>
        </p:nvSpPr>
        <p:spPr>
          <a:xfrm>
            <a:off x="6492240" y="407090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070908"/>
            <a:ext cx="91440" cy="881481"/>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19892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The other kind of graph</a:t>
            </a:r>
          </a:p>
        </p:txBody>
      </p:sp>
      <p:sp>
        <p:nvSpPr>
          <p:cNvPr id="25" name="TextBox 24"/>
          <p:cNvSpPr txBox="1"/>
          <p:nvPr/>
        </p:nvSpPr>
        <p:spPr>
          <a:xfrm>
            <a:off x="6766560" y="451197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Knowledge graphs · Building one with LLMs · Retrieval and text-to-Cypher</a:t>
            </a:r>
          </a:p>
        </p:txBody>
      </p:sp>
      <p:sp>
        <p:nvSpPr>
          <p:cNvPr id="26" name="Rectangle 25"/>
          <p:cNvSpPr/>
          <p:nvPr/>
        </p:nvSpPr>
        <p:spPr>
          <a:xfrm>
            <a:off x="6492240" y="515355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5153558"/>
            <a:ext cx="91440" cy="88148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28157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5: Where the graphs meet</a:t>
            </a:r>
          </a:p>
        </p:txBody>
      </p:sp>
      <p:sp>
        <p:nvSpPr>
          <p:cNvPr id="29" name="TextBox 28"/>
          <p:cNvSpPr txBox="1"/>
          <p:nvPr/>
        </p:nvSpPr>
        <p:spPr>
          <a:xfrm>
            <a:off x="6766560" y="559462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Shared memory · The write path · Learning on graphs</a:t>
            </a:r>
          </a:p>
        </p:txBody>
      </p:sp>
      <p:sp>
        <p:nvSpPr>
          <p:cNvPr id="30" name="TextBox 29"/>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ai-engineering/05-graph-engineering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Do you need a graph at all</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Loop or graph · Signals that justify a node · What fan-out costs</a:t>
            </a:r>
          </a:p>
        </p:txBody>
      </p:sp>
      <p:cxnSp>
        <p:nvCxnSpPr>
          <p:cNvPr id="6" name="Connector 5"/>
          <p:cNvCxnSpPr/>
          <p:nvPr/>
        </p:nvCxnSpPr>
        <p:spPr>
          <a:xfrm>
            <a:off x="6446520" y="1550670"/>
            <a:ext cx="0" cy="37566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550670"/>
            <a:ext cx="4693615" cy="39395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Our review loop keeps failing. Is it time for a graph?</a:t>
            </a:r>
          </a:p>
          <a:p>
            <a:pPr algn="l">
              <a:lnSpc>
                <a:spcPct val="100000"/>
              </a:lnSpc>
              <a:spcBef>
                <a:spcPts val="1189"/>
              </a:spcBef>
            </a:pPr>
            <a:r>
              <a:rPr sz="1700" i="0" b="0">
                <a:solidFill>
                  <a:srgbClr val="CBD5E1"/>
                </a:solidFill>
                <a:latin typeface="Helvetica Neue"/>
              </a:rPr>
              <a:t>Workflows are graphs, and agents are loops inside them</a:t>
            </a:r>
          </a:p>
          <a:p>
            <a:pPr algn="l">
              <a:lnSpc>
                <a:spcPct val="100000"/>
              </a:lnSpc>
              <a:spcBef>
                <a:spcPts val="1189"/>
              </a:spcBef>
            </a:pPr>
            <a:r>
              <a:rPr sz="1700" i="0" b="0">
                <a:solidFill>
                  <a:srgbClr val="CBD5E1"/>
                </a:solidFill>
                <a:latin typeface="Helvetica Neue"/>
              </a:rPr>
              <a:t>Five signals that justify a node</a:t>
            </a:r>
          </a:p>
          <a:p>
            <a:pPr algn="l">
              <a:lnSpc>
                <a:spcPct val="100000"/>
              </a:lnSpc>
              <a:spcBef>
                <a:spcPts val="1189"/>
              </a:spcBef>
            </a:pPr>
            <a:r>
              <a:rPr sz="1700" i="0" b="0">
                <a:solidFill>
                  <a:srgbClr val="CBD5E1"/>
                </a:solidFill>
                <a:latin typeface="Helvetica Neue"/>
              </a:rPr>
              <a:t>Split the verifier before you split the system</a:t>
            </a:r>
          </a:p>
          <a:p>
            <a:pPr algn="l">
              <a:lnSpc>
                <a:spcPct val="100000"/>
              </a:lnSpc>
              <a:spcBef>
                <a:spcPts val="1189"/>
              </a:spcBef>
            </a:pPr>
            <a:r>
              <a:rPr sz="1700" i="0" b="0">
                <a:solidFill>
                  <a:srgbClr val="CBD5E1"/>
                </a:solidFill>
                <a:latin typeface="Helvetica Neue"/>
              </a:rPr>
              <a:t>Adding agents averaged out to nothing</a:t>
            </a:r>
          </a:p>
          <a:p>
            <a:pPr algn="l">
              <a:lnSpc>
                <a:spcPct val="100000"/>
              </a:lnSpc>
              <a:spcBef>
                <a:spcPts val="1189"/>
              </a:spcBef>
            </a:pPr>
            <a:r>
              <a:rPr sz="1700" i="0" b="0">
                <a:solidFill>
                  <a:srgbClr val="CBD5E1"/>
                </a:solidFill>
                <a:latin typeface="Helvetica Neue"/>
              </a:rPr>
              <a:t>Fan-out costs tokens whether it helps or not</a:t>
            </a:r>
          </a:p>
          <a:p>
            <a:pPr algn="l">
              <a:lnSpc>
                <a:spcPct val="100000"/>
              </a:lnSpc>
              <a:spcBef>
                <a:spcPts val="1189"/>
              </a:spcBef>
            </a:pPr>
            <a:r>
              <a:rPr sz="1700" i="0" b="0">
                <a:solidFill>
                  <a:srgbClr val="CBD5E1"/>
                </a:solidFill>
                <a:latin typeface="Helvetica Neue"/>
              </a:rPr>
              <a:t>If you do need one, grow it in this order</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Our review loop keeps failing. Is it time for a graph?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notes/01-graph-vs-loop.md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loop is already a directed cyclic graph, so moving to a graph means adding nodes and edges, each with a price.</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Graph engineering is designing which nodes exist, which transitions are permitted, and what state they carry.</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 loop is just a directed, cyclic graph." (LangChain, 3 years of LangGraph)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Workflows are graphs, and agents are loops inside them</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Two shapes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notes/01-graph-vs-loop.md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Graph engineering for agents means cyclic graphs, because retrying and revising need a way back.</a:t>
            </a:r>
          </a:p>
        </p:txBody>
      </p:sp>
      <p:sp>
        <p:nvSpPr>
          <p:cNvPr id="13" name="Rectangle 12"/>
          <p:cNvSpPr/>
          <p:nvPr/>
        </p:nvSpPr>
        <p:spPr>
          <a:xfrm>
            <a:off x="448055" y="1417320"/>
            <a:ext cx="6261948" cy="28651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angchain-langgraph-docs-workflows-vs-agent-5773793843898208957.jpg"/>
          <p:cNvPicPr>
            <a:picLocks noChangeAspect="1"/>
          </p:cNvPicPr>
          <p:nvPr/>
        </p:nvPicPr>
        <p:blipFill>
          <a:blip r:embed="rId2"/>
          <a:stretch>
            <a:fillRect/>
          </a:stretch>
        </p:blipFill>
        <p:spPr>
          <a:xfrm>
            <a:off x="502919" y="1472184"/>
            <a:ext cx="6152220" cy="2755448"/>
          </a:xfrm>
          <a:prstGeom prst="rect">
            <a:avLst/>
          </a:prstGeom>
        </p:spPr>
      </p:pic>
      <p:sp>
        <p:nvSpPr>
          <p:cNvPr id="15" name="TextBox 14"/>
          <p:cNvSpPr txBox="1"/>
          <p:nvPr/>
        </p:nvSpPr>
        <p:spPr>
          <a:xfrm>
            <a:off x="502920" y="4364792"/>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LangGraph docs, "Workflows and agents", after Anthropic (2024)</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Workflow:</a:t>
            </a:r>
            <a:r>
              <a:rPr sz="1800" i="0" b="0">
                <a:solidFill>
                  <a:srgbClr val="1E293B"/>
                </a:solidFill>
                <a:latin typeface="Helvetica Neue"/>
              </a:rPr>
              <a:t> predefined code paths</a:t>
            </a:r>
          </a:p>
        </p:txBody>
      </p:sp>
      <p:sp>
        <p:nvSpPr>
          <p:cNvPr id="18" name="Rectangle 17"/>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Agent:</a:t>
            </a:r>
            <a:r>
              <a:rPr sz="1800" i="0" b="0">
                <a:solidFill>
                  <a:srgbClr val="1E293B"/>
                </a:solidFill>
                <a:latin typeface="Helvetica Neue"/>
              </a:rPr>
              <a:t> the model directs its own process</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Production graphs are mostly fixed shapes with </a:t>
            </a:r>
            <a:r>
              <a:rPr sz="1800" i="0" b="1">
                <a:solidFill>
                  <a:srgbClr val="1E293B"/>
                </a:solidFill>
                <a:latin typeface="Helvetica Neue"/>
              </a:rPr>
              <a:t>one or two agent nodes</a:t>
            </a:r>
          </a:p>
        </p:txBody>
      </p:sp>
      <p:sp>
        <p:nvSpPr>
          <p:cNvPr id="22" name="Rectangle 21"/>
          <p:cNvSpPr/>
          <p:nvPr/>
        </p:nvSpPr>
        <p:spPr>
          <a:xfrm>
            <a:off x="7020900" y="3479291"/>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392423"/>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Production agents retry and revise, so they </a:t>
            </a:r>
            <a:r>
              <a:rPr sz="1800" i="0" b="1">
                <a:solidFill>
                  <a:srgbClr val="1E293B"/>
                </a:solidFill>
                <a:latin typeface="Helvetica Neue"/>
              </a:rPr>
              <a:t>need cycles</a:t>
            </a:r>
            <a:r>
              <a:rPr sz="1800" i="0" b="0">
                <a:solidFill>
                  <a:srgbClr val="1E293B"/>
                </a:solidFill>
                <a:latin typeface="Helvetica Neue"/>
              </a:rPr>
              <a:t>, which a DAG forbids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Five signals that justify a node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test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notes/01-graph-vs-loop.md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Start with a loop. Add a node only when one of these forces it.</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Escalating to a graph is a cost you justify with a specific signal, and not a maturity level you graduate to.</a:t>
            </a:r>
          </a:p>
        </p:txBody>
      </p:sp>
      <p:graphicFrame>
        <p:nvGraphicFramePr>
          <p:cNvPr id="14" name="Table 13"/>
          <p:cNvGraphicFramePr>
            <a:graphicFrameLocks noGrp="1"/>
          </p:cNvGraphicFramePr>
          <p:nvPr/>
        </p:nvGraphicFramePr>
        <p:xfrm>
          <a:off x="502920" y="1985772"/>
          <a:ext cx="11185854" cy="3209544"/>
        </p:xfrm>
        <a:graphic>
          <a:graphicData uri="http://schemas.openxmlformats.org/drawingml/2006/table">
            <a:tbl>
              <a:tblPr firstRow="1" bandRow="1">
                <a:tableStyleId>{5940675A-B579-460E-94D1-54222C63F5DA}</a:tableStyleId>
              </a:tblPr>
              <a:tblGrid>
                <a:gridCol w="5592927"/>
                <a:gridCol w="5592927"/>
              </a:tblGrid>
              <a:tr h="405384">
                <a:tc>
                  <a:txBody>
                    <a:bodyPr wrap="square"/>
                    <a:lstStyle/>
                    <a:p>
                      <a:pPr>
                        <a:lnSpc>
                          <a:spcPct val="100000"/>
                        </a:lnSpc>
                      </a:pPr>
                      <a:r>
                        <a:rPr sz="1700" i="0" b="1">
                          <a:solidFill>
                            <a:srgbClr val="FFFFFF"/>
                          </a:solidFill>
                          <a:latin typeface="Helvetica Neue"/>
                        </a:rPr>
                        <a:t>Signal</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Why the loop fails</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Distinct specialties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One agent carries each role's baggage into the next</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Parallel fan-out and join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loop is sequential, so wall-clock cost is unnecessary</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Per-step model or tool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One agent enforces one model and one tool policy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Auditable control flow</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Emergent loop paths are hard to reconstruct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Overloaded verifier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dedicated reviewer removes criteria confusion</a:t>
                      </a:r>
                    </a:p>
                  </a:txBody>
                  <a:tcPr marL="109728" marR="109728" marT="54864" marB="54864"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Split the verifier before you split the system</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notes/06-when-not-to-build-a-graph.md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The most common "we need a graph" is really an overloaded verifier, which you can split inside the existing loop.</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sketch: before, one call judges everything</a:t>
            </a:r>
          </a:p>
          <a:p>
            <a:pPr algn="l">
              <a:lnSpc>
                <a:spcPct val="100000"/>
              </a:lnSpc>
            </a:pPr>
            <a:r>
              <a:rPr sz="1600" i="0" b="0">
                <a:solidFill>
                  <a:srgbClr val="E2E8F0"/>
                </a:solidFill>
                <a:latin typeface="Menlo"/>
              </a:rPr>
              <a:t>ok = llm_judge(draft, "correct, safe, complete?")</a:t>
            </a:r>
          </a:p>
          <a:p>
            <a:pPr algn="l">
              <a:lnSpc>
                <a:spcPct val="100000"/>
              </a:lnSpc>
            </a:pPr>
          </a:p>
          <a:p>
            <a:pPr algn="l">
              <a:lnSpc>
                <a:spcPct val="100000"/>
              </a:lnSpc>
            </a:pPr>
            <a:r>
              <a:rPr sz="1600" i="0" b="0">
                <a:solidFill>
                  <a:srgbClr val="E2E8F0"/>
                </a:solidFill>
                <a:latin typeface="Menlo"/>
              </a:rPr>
              <a:t># after: one check per criterion, in the same loop</a:t>
            </a:r>
          </a:p>
          <a:p>
            <a:pPr algn="l">
              <a:lnSpc>
                <a:spcPct val="100000"/>
              </a:lnSpc>
            </a:pPr>
            <a:r>
              <a:rPr sz="1600" i="0" b="0">
                <a:solidFill>
                  <a:srgbClr val="E2E8F0"/>
                </a:solidFill>
                <a:latin typeface="Menlo"/>
              </a:rPr>
              <a:t>checks = {</a:t>
            </a:r>
          </a:p>
          <a:p>
            <a:pPr algn="l">
              <a:lnSpc>
                <a:spcPct val="100000"/>
              </a:lnSpc>
            </a:pPr>
            <a:r>
              <a:rPr sz="1600" i="0" b="0">
                <a:solidFill>
                  <a:srgbClr val="E2E8F0"/>
                </a:solidFill>
                <a:latin typeface="Menlo"/>
              </a:rPr>
              <a:t>    "tests":  run_tests(),            # code</a:t>
            </a:r>
          </a:p>
          <a:p>
            <a:pPr algn="l">
              <a:lnSpc>
                <a:spcPct val="100000"/>
              </a:lnSpc>
            </a:pPr>
            <a:r>
              <a:rPr sz="1600" i="0" b="0">
                <a:solidFill>
                  <a:srgbClr val="E2E8F0"/>
                </a:solidFill>
                <a:latin typeface="Menlo"/>
              </a:rPr>
              <a:t>    "schema": valid_schema(draft),    # code</a:t>
            </a:r>
          </a:p>
          <a:p>
            <a:pPr algn="l">
              <a:lnSpc>
                <a:spcPct val="100000"/>
              </a:lnSpc>
            </a:pPr>
            <a:r>
              <a:rPr sz="1600" i="0" b="0">
                <a:solidFill>
                  <a:srgbClr val="E2E8F0"/>
                </a:solidFill>
                <a:latin typeface="Menlo"/>
              </a:rPr>
              <a:t>    "safety": llm_judge(draft, RULE), # model</a:t>
            </a:r>
          </a:p>
          <a:p>
            <a:pPr algn="l">
              <a:lnSpc>
                <a:spcPct val="100000"/>
              </a:lnSpc>
            </a:pPr>
            <a:r>
              <a:rPr sz="1600" i="0" b="0">
                <a:solidFill>
                  <a:srgbClr val="E2E8F0"/>
                </a:solidFill>
                <a:latin typeface="Menlo"/>
              </a:rPr>
              <a:t>}</a:t>
            </a:r>
          </a:p>
          <a:p>
            <a:pPr algn="l">
              <a:lnSpc>
                <a:spcPct val="100000"/>
              </a:lnSpc>
            </a:pPr>
            <a:r>
              <a:rPr sz="1600" i="0" b="0">
                <a:solidFill>
                  <a:srgbClr val="E2E8F0"/>
                </a:solidFill>
                <a:latin typeface="Menlo"/>
              </a:rPr>
              <a:t>failing = [k for k, ok in checks.items()</a:t>
            </a:r>
          </a:p>
          <a:p>
            <a:pPr algn="l">
              <a:lnSpc>
                <a:spcPct val="100000"/>
              </a:lnSpc>
            </a:pPr>
            <a:r>
              <a:rPr sz="1600" i="0" b="0">
                <a:solidFill>
                  <a:srgbClr val="E2E8F0"/>
                </a:solidFill>
                <a:latin typeface="Menlo"/>
              </a:rPr>
              <a:t>           if not ok]</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check judging four things </a:t>
            </a:r>
            <a:r>
              <a:rPr sz="1800" i="0" b="1">
                <a:solidFill>
                  <a:srgbClr val="1E293B"/>
                </a:solidFill>
                <a:latin typeface="Helvetica Neue"/>
              </a:rPr>
              <a:t>does all four badly</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Turn what you can into code</a:t>
            </a:r>
          </a:p>
        </p:txBody>
      </p:sp>
      <p:sp>
        <p:nvSpPr>
          <p:cNvPr id="20" name="Rectangle 19"/>
          <p:cNvSpPr/>
          <p:nvPr/>
        </p:nvSpPr>
        <p:spPr>
          <a:xfrm>
            <a:off x="7580193" y="278434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697480"/>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Measure again; if the pass rate recovers, </a:t>
            </a:r>
            <a:r>
              <a:rPr sz="1800" i="0" b="1">
                <a:solidFill>
                  <a:srgbClr val="1E293B"/>
                </a:solidFill>
                <a:latin typeface="Helvetica Neue"/>
              </a:rPr>
              <a:t>ship the loop</a:t>
            </a:r>
          </a:p>
        </p:txBody>
      </p:sp>
      <p:sp>
        <p:nvSpPr>
          <p:cNvPr id="22" name="Rectangle 21"/>
          <p:cNvSpPr/>
          <p:nvPr/>
        </p:nvSpPr>
        <p:spPr>
          <a:xfrm>
            <a:off x="7580193" y="352501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43814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If one criterion still fails, it has earned its own node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Adding agents averaged out to nothing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notes/06-when-not-to-build-a-graph.md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Across 260 controlled configurations the mean multi-agent gain was −0.3%, so the task shape decides.</a:t>
            </a:r>
          </a:p>
        </p:txBody>
      </p:sp>
      <p:sp>
        <p:nvSpPr>
          <p:cNvPr id="13" name="Rectangle 12"/>
          <p:cNvSpPr/>
          <p:nvPr/>
        </p:nvSpPr>
        <p:spPr>
          <a:xfrm>
            <a:off x="1878471" y="1417320"/>
            <a:ext cx="3401116"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kim-2025-scaling-agent-systems-fig2-6468166244238961163.jpg"/>
          <p:cNvPicPr>
            <a:picLocks noChangeAspect="1"/>
          </p:cNvPicPr>
          <p:nvPr/>
        </p:nvPicPr>
        <p:blipFill>
          <a:blip r:embed="rId2"/>
          <a:stretch>
            <a:fillRect/>
          </a:stretch>
        </p:blipFill>
        <p:spPr>
          <a:xfrm>
            <a:off x="1933335" y="1472184"/>
            <a:ext cx="3291388"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Kim et al., Towards a Science of Scaling Agent Systems (2025), Fig. 2</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260 configurations, six benchmarks, compute matched</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Finance Agent: centralized team </a:t>
            </a:r>
            <a:r>
              <a:rPr sz="1800" i="0" b="1">
                <a:solidFill>
                  <a:srgbClr val="1E293B"/>
                </a:solidFill>
                <a:latin typeface="Helvetica Neue"/>
              </a:rPr>
              <a:t>+80.8%</a:t>
            </a:r>
            <a:r>
              <a:rPr sz="1800" i="0" b="0">
                <a:solidFill>
                  <a:srgbClr val="1E293B"/>
                </a:solidFill>
                <a:latin typeface="Helvetica Neue"/>
              </a:rPr>
              <a:t>; PlanCraft: every variant lost </a:t>
            </a:r>
            <a:r>
              <a:rPr sz="1800" i="0" b="1">
                <a:solidFill>
                  <a:srgbClr val="1E293B"/>
                </a:solidFill>
                <a:latin typeface="Helvetica Neue"/>
              </a:rPr>
              <a:t>39–70%</a:t>
            </a:r>
          </a:p>
        </p:txBody>
      </p:sp>
      <p:sp>
        <p:nvSpPr>
          <p:cNvPr id="20" name="Rectangle 19"/>
          <p:cNvSpPr/>
          <p:nvPr/>
        </p:nvSpPr>
        <p:spPr>
          <a:xfrm>
            <a:off x="7020900" y="334213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25526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Mean change </a:t>
            </a:r>
            <a:r>
              <a:rPr sz="1800" i="0" b="1">
                <a:solidFill>
                  <a:srgbClr val="1E293B"/>
                </a:solidFill>
                <a:latin typeface="Helvetica Neue"/>
              </a:rPr>
              <a:t>−0.3%</a:t>
            </a:r>
            <a:r>
              <a:rPr sz="1800" i="0" b="0">
                <a:solidFill>
                  <a:srgbClr val="1E293B"/>
                </a:solidFill>
                <a:latin typeface="Helvetica Neue"/>
              </a:rPr>
              <a:t>, 95% CI −58.7% to +77.2%</a:t>
            </a:r>
          </a:p>
        </p:txBody>
      </p:sp>
      <p:sp>
        <p:nvSpPr>
          <p:cNvPr id="22" name="Rectangle 21"/>
          <p:cNvSpPr/>
          <p:nvPr/>
        </p:nvSpPr>
        <p:spPr>
          <a:xfrm>
            <a:off x="7020900" y="40827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Above about </a:t>
            </a:r>
            <a:r>
              <a:rPr sz="1800" i="0" b="1">
                <a:solidFill>
                  <a:srgbClr val="1E293B"/>
                </a:solidFill>
                <a:latin typeface="Helvetica Neue"/>
              </a:rPr>
              <a:t>45%</a:t>
            </a:r>
            <a:r>
              <a:rPr sz="1800" i="0" b="0">
                <a:solidFill>
                  <a:srgbClr val="1E293B"/>
                </a:solidFill>
                <a:latin typeface="Helvetica Neue"/>
              </a:rPr>
              <a:t> single-agent score, more agents had negative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Fan-out costs tokens whether it helps or not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bill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notes/06-when-not-to-build-a-graph.md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Fan-out pays only for high-value work whose branches are truly independent, so measure your own break-even.</a:t>
            </a:r>
          </a:p>
        </p:txBody>
      </p:sp>
      <p:sp>
        <p:nvSpPr>
          <p:cNvPr id="13" name="Rectangle 12"/>
          <p:cNvSpPr/>
          <p:nvPr/>
        </p:nvSpPr>
        <p:spPr>
          <a:xfrm>
            <a:off x="502920"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88340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Anthropic's research system</a:t>
            </a:r>
          </a:p>
        </p:txBody>
      </p:sp>
      <p:sp>
        <p:nvSpPr>
          <p:cNvPr id="16" name="TextBox 15"/>
          <p:cNvSpPr txBox="1"/>
          <p:nvPr/>
        </p:nvSpPr>
        <p:spPr>
          <a:xfrm>
            <a:off x="777240" y="2356104"/>
            <a:ext cx="2087803" cy="1816608"/>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Agents use about </a:t>
            </a:r>
            <a:r>
              <a:rPr sz="1800" i="0" b="1">
                <a:solidFill>
                  <a:srgbClr val="1E293B"/>
                </a:solidFill>
                <a:latin typeface="Helvetica Neue"/>
              </a:rPr>
              <a:t>4×</a:t>
            </a:r>
            <a:r>
              <a:rPr sz="1800" i="0" b="0">
                <a:solidFill>
                  <a:srgbClr val="475569"/>
                </a:solidFill>
                <a:latin typeface="Helvetica Neue"/>
              </a:rPr>
              <a:t> a chat's tokens; multi-agent systems about </a:t>
            </a:r>
            <a:r>
              <a:rPr sz="1800" i="0" b="1">
                <a:solidFill>
                  <a:srgbClr val="1E293B"/>
                </a:solidFill>
                <a:latin typeface="Helvetica Neue"/>
              </a:rPr>
              <a:t>15×</a:t>
            </a:r>
          </a:p>
        </p:txBody>
      </p:sp>
      <p:sp>
        <p:nvSpPr>
          <p:cNvPr id="17" name="Rectangle 16"/>
          <p:cNvSpPr/>
          <p:nvPr/>
        </p:nvSpPr>
        <p:spPr>
          <a:xfrm>
            <a:off x="3367963"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28834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Controlled runs</a:t>
            </a:r>
          </a:p>
        </p:txBody>
      </p:sp>
      <p:sp>
        <p:nvSpPr>
          <p:cNvPr id="20" name="TextBox 19"/>
          <p:cNvSpPr txBox="1"/>
          <p:nvPr/>
        </p:nvSpPr>
        <p:spPr>
          <a:xfrm>
            <a:off x="3642283"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Kim et al. saw </a:t>
            </a:r>
            <a:r>
              <a:rPr sz="1800" i="0" b="1">
                <a:solidFill>
                  <a:srgbClr val="1E293B"/>
                </a:solidFill>
                <a:latin typeface="Helvetica Neue"/>
              </a:rPr>
              <a:t>1.6–6.2×</a:t>
            </a:r>
            <a:r>
              <a:rPr sz="1800" i="0" b="0">
                <a:solidFill>
                  <a:srgbClr val="475569"/>
                </a:solidFill>
                <a:latin typeface="Helvetica Neue"/>
              </a:rPr>
              <a:t> a single agent's tokens at matched performance</a:t>
            </a:r>
          </a:p>
        </p:txBody>
      </p:sp>
      <p:sp>
        <p:nvSpPr>
          <p:cNvPr id="21" name="Rectangle 20"/>
          <p:cNvSpPr/>
          <p:nvPr/>
        </p:nvSpPr>
        <p:spPr>
          <a:xfrm>
            <a:off x="6233007"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288340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Vendor estimate</a:t>
            </a:r>
          </a:p>
        </p:txBody>
      </p:sp>
      <p:sp>
        <p:nvSpPr>
          <p:cNvPr id="24" name="TextBox 23"/>
          <p:cNvSpPr txBox="1"/>
          <p:nvPr/>
        </p:nvSpPr>
        <p:spPr>
          <a:xfrm>
            <a:off x="6507327"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About </a:t>
            </a:r>
            <a:r>
              <a:rPr sz="1800" i="0" b="1">
                <a:solidFill>
                  <a:srgbClr val="1E293B"/>
                </a:solidFill>
                <a:latin typeface="Helvetica Neue"/>
              </a:rPr>
              <a:t>3×</a:t>
            </a:r>
            <a:r>
              <a:rPr sz="1800" i="0" b="0">
                <a:solidFill>
                  <a:srgbClr val="475569"/>
                </a:solidFill>
                <a:latin typeface="Helvetica Neue"/>
              </a:rPr>
              <a:t> tokens per cycle, break-even near a </a:t>
            </a:r>
            <a:r>
              <a:rPr sz="1800" i="0" b="1">
                <a:solidFill>
                  <a:srgbClr val="1E293B"/>
                </a:solidFill>
                <a:latin typeface="Helvetica Neue"/>
              </a:rPr>
              <a:t>50%</a:t>
            </a:r>
            <a:r>
              <a:rPr sz="1800" i="0" b="0">
                <a:solidFill>
                  <a:srgbClr val="475569"/>
                </a:solidFill>
                <a:latin typeface="Helvetica Neue"/>
              </a:rPr>
              <a:t> pass rate (flowtivity); test it</a:t>
            </a:r>
          </a:p>
        </p:txBody>
      </p:sp>
      <p:sp>
        <p:nvSpPr>
          <p:cNvPr id="25" name="Rectangle 24"/>
          <p:cNvSpPr/>
          <p:nvPr/>
        </p:nvSpPr>
        <p:spPr>
          <a:xfrm>
            <a:off x="9098051"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288340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Poor fit</a:t>
            </a:r>
          </a:p>
        </p:txBody>
      </p:sp>
      <p:sp>
        <p:nvSpPr>
          <p:cNvPr id="28" name="TextBox 27"/>
          <p:cNvSpPr txBox="1"/>
          <p:nvPr/>
        </p:nvSpPr>
        <p:spPr>
          <a:xfrm>
            <a:off x="9372371"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Every agent needs the same context, or the agents depend on each 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If you do need one, grow it in this order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Do you need a graph at all</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notes/06-when-not-to-build-a-graph.md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Adopt a graph by finding real edges, sketching 3 to 5 nodes, and adding nodes one at a time against a baseline.</a:t>
            </a:r>
          </a:p>
        </p:txBody>
      </p:sp>
      <p:sp>
        <p:nvSpPr>
          <p:cNvPr id="13" name="Rectangle 12"/>
          <p:cNvSpPr/>
          <p:nvPr/>
        </p:nvSpPr>
        <p:spPr>
          <a:xfrm>
            <a:off x="1645920" y="1472184"/>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2468879" y="1472184"/>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Bottleneck</a:t>
            </a:r>
            <a:r>
              <a:rPr sz="1800" i="0" b="0">
                <a:solidFill>
                  <a:srgbClr val="475569"/>
                </a:solidFill>
                <a:latin typeface="Helvetica Neue"/>
              </a:rPr>
              <a:t> — Write down the workflow and where it stalls</a:t>
            </a:r>
          </a:p>
        </p:txBody>
      </p:sp>
      <p:sp>
        <p:nvSpPr>
          <p:cNvPr id="17" name="Rectangle 16"/>
          <p:cNvSpPr/>
          <p:nvPr/>
        </p:nvSpPr>
        <p:spPr>
          <a:xfrm>
            <a:off x="1645920" y="2296972"/>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2468879" y="2296972"/>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Real edges</a:t>
            </a:r>
            <a:r>
              <a:rPr sz="1800" i="0" b="0">
                <a:solidFill>
                  <a:srgbClr val="475569"/>
                </a:solidFill>
                <a:latin typeface="Helvetica Neue"/>
              </a:rPr>
              <a:t> — Mark each step: reads the previous output, or incidental</a:t>
            </a:r>
          </a:p>
        </p:txBody>
      </p:sp>
      <p:sp>
        <p:nvSpPr>
          <p:cNvPr id="21" name="Rectangle 20"/>
          <p:cNvSpPr/>
          <p:nvPr/>
        </p:nvSpPr>
        <p:spPr>
          <a:xfrm>
            <a:off x="1645920" y="3121761"/>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2468879" y="3121761"/>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3–5 nodes</a:t>
            </a:r>
            <a:r>
              <a:rPr sz="1800" i="0" b="0">
                <a:solidFill>
                  <a:srgbClr val="475569"/>
                </a:solidFill>
                <a:latin typeface="Helvetica Neue"/>
              </a:rPr>
              <a:t> — Sketch a few. Not twelve</a:t>
            </a:r>
          </a:p>
        </p:txBody>
      </p:sp>
      <p:sp>
        <p:nvSpPr>
          <p:cNvPr id="25" name="Rectangle 24"/>
          <p:cNvSpPr/>
          <p:nvPr/>
        </p:nvSpPr>
        <p:spPr>
          <a:xfrm>
            <a:off x="1645920" y="3946550"/>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2468879" y="3946550"/>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Baseline</a:t>
            </a:r>
            <a:r>
              <a:rPr sz="1800" i="0" b="0">
                <a:solidFill>
                  <a:srgbClr val="475569"/>
                </a:solidFill>
                <a:latin typeface="Helvetica Neue"/>
              </a:rPr>
              <a:t> — Loop against graph: tokens, wall-clock, pass rate</a:t>
            </a:r>
          </a:p>
        </p:txBody>
      </p:sp>
      <p:sp>
        <p:nvSpPr>
          <p:cNvPr id="29" name="Rectangle 28"/>
          <p:cNvSpPr/>
          <p:nvPr/>
        </p:nvSpPr>
        <p:spPr>
          <a:xfrm>
            <a:off x="1645920" y="4771339"/>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10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10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2468879" y="4771339"/>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One at a time</a:t>
            </a:r>
            <a:r>
              <a:rPr sz="1800" i="0" b="0">
                <a:solidFill>
                  <a:srgbClr val="475569"/>
                </a:solidFill>
                <a:latin typeface="Helvetica Neue"/>
              </a:rPr>
              <a:t> — Each node justified by a signal</a:t>
            </a:r>
          </a:p>
        </p:txBody>
      </p:sp>
      <p:sp>
        <p:nvSpPr>
          <p:cNvPr id="33" name="TextBox 32"/>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adopt incrementally</a:t>
            </a:r>
          </a:p>
        </p:txBody>
      </p:sp>
      <p:cxnSp>
        <p:nvCxnSpPr>
          <p:cNvPr id="34" name="Connector 33"/>
          <p:cNvCxnSpPr/>
          <p:nvPr/>
        </p:nvCxnSpPr>
        <p:spPr>
          <a:xfrm>
            <a:off x="1005840" y="2066544"/>
            <a:ext cx="0" cy="332841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Building the first graph</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Nodes and edges · State and reducers · Pausing for a human</a:t>
            </a:r>
          </a:p>
        </p:txBody>
      </p:sp>
      <p:cxnSp>
        <p:nvCxnSpPr>
          <p:cNvPr id="6" name="Connector 5"/>
          <p:cNvCxnSpPr/>
          <p:nvPr/>
        </p:nvCxnSpPr>
        <p:spPr>
          <a:xfrm>
            <a:off x="6446520" y="1343025"/>
            <a:ext cx="0" cy="41719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43025"/>
            <a:ext cx="4693615" cy="4354830"/>
          </a:xfrm>
          <a:prstGeom prst="rect">
            <a:avLst/>
          </a:prstGeom>
          <a:noFill/>
        </p:spPr>
        <p:txBody>
          <a:bodyPr wrap="square" lIns="0" rIns="0" tIns="0" bIns="0" anchor="t">
            <a:noAutofit/>
          </a:bodyPr>
          <a:lstStyle/>
          <a:p>
            <a:pPr algn="l">
              <a:lnSpc>
                <a:spcPct val="100000"/>
              </a:lnSpc>
            </a:pPr>
            <a:r>
              <a:rPr sz="1500" i="0" b="0">
                <a:solidFill>
                  <a:srgbClr val="CBD5E1"/>
                </a:solidFill>
                <a:latin typeface="Helvetica Neue"/>
              </a:rPr>
              <a:t>A loop can't do what our reviewer now needs</a:t>
            </a:r>
          </a:p>
          <a:p>
            <a:pPr algn="l">
              <a:lnSpc>
                <a:spcPct val="100000"/>
              </a:lnSpc>
              <a:spcBef>
                <a:spcPts val="1050"/>
              </a:spcBef>
            </a:pPr>
            <a:r>
              <a:rPr sz="1500" i="0" b="0">
                <a:solidFill>
                  <a:srgbClr val="CBD5E1"/>
                </a:solidFill>
                <a:latin typeface="Helvetica Neue"/>
              </a:rPr>
              <a:t>Spend agency per node, as if it costs money</a:t>
            </a:r>
          </a:p>
          <a:p>
            <a:pPr algn="l">
              <a:lnSpc>
                <a:spcPct val="100000"/>
              </a:lnSpc>
              <a:spcBef>
                <a:spcPts val="1050"/>
              </a:spcBef>
            </a:pPr>
            <a:r>
              <a:rPr sz="1500" i="0" b="0">
                <a:solidFill>
                  <a:srgbClr val="CBD5E1"/>
                </a:solidFill>
                <a:latin typeface="Helvetica Neue"/>
              </a:rPr>
              <a:t>The whole program fits on a slide</a:t>
            </a:r>
          </a:p>
          <a:p>
            <a:pPr algn="l">
              <a:lnSpc>
                <a:spcPct val="100000"/>
              </a:lnSpc>
              <a:spcBef>
                <a:spcPts val="1050"/>
              </a:spcBef>
            </a:pPr>
            <a:r>
              <a:rPr sz="1500" i="0" b="0">
                <a:solidFill>
                  <a:srgbClr val="CBD5E1"/>
                </a:solidFill>
                <a:latin typeface="Helvetica Neue"/>
              </a:rPr>
              <a:t>The highest-yield first graph is generate, then verify</a:t>
            </a:r>
          </a:p>
          <a:p>
            <a:pPr algn="l">
              <a:lnSpc>
                <a:spcPct val="100000"/>
              </a:lnSpc>
              <a:spcBef>
                <a:spcPts val="1050"/>
              </a:spcBef>
            </a:pPr>
            <a:r>
              <a:rPr sz="1500" i="0" b="0">
                <a:solidFill>
                  <a:srgbClr val="CBD5E1"/>
                </a:solidFill>
                <a:latin typeface="Helvetica Neue"/>
              </a:rPr>
              <a:t>Every key has one writer or a reducer</a:t>
            </a:r>
          </a:p>
          <a:p>
            <a:pPr algn="l">
              <a:lnSpc>
                <a:spcPct val="100000"/>
              </a:lnSpc>
              <a:spcBef>
                <a:spcPts val="1050"/>
              </a:spcBef>
            </a:pPr>
            <a:r>
              <a:rPr sz="1500" i="0" b="0">
                <a:solidFill>
                  <a:srgbClr val="CBD5E1"/>
                </a:solidFill>
                <a:latin typeface="Helvetica Neue"/>
              </a:rPr>
              <a:t>Parallel writes without a reducer fail</a:t>
            </a:r>
          </a:p>
          <a:p>
            <a:pPr algn="l">
              <a:lnSpc>
                <a:spcPct val="100000"/>
              </a:lnSpc>
              <a:spcBef>
                <a:spcPts val="1050"/>
              </a:spcBef>
            </a:pPr>
            <a:r>
              <a:rPr sz="1500" i="0" b="0">
                <a:solidFill>
                  <a:srgbClr val="CBD5E1"/>
                </a:solidFill>
                <a:latin typeface="Helvetica Neue"/>
              </a:rPr>
              <a:t>One reviewer per changed file, decided at runtime</a:t>
            </a:r>
          </a:p>
          <a:p>
            <a:pPr algn="l">
              <a:lnSpc>
                <a:spcPct val="100000"/>
              </a:lnSpc>
              <a:spcBef>
                <a:spcPts val="1050"/>
              </a:spcBef>
            </a:pPr>
            <a:r>
              <a:rPr sz="1500" i="0" b="0">
                <a:solidFill>
                  <a:srgbClr val="CBD5E1"/>
                </a:solidFill>
                <a:latin typeface="Helvetica Neue"/>
              </a:rPr>
              <a:t>Checkpoints give you pause, resume and time travel</a:t>
            </a:r>
          </a:p>
          <a:p>
            <a:pPr algn="l">
              <a:lnSpc>
                <a:spcPct val="100000"/>
              </a:lnSpc>
              <a:spcBef>
                <a:spcPts val="1050"/>
              </a:spcBef>
            </a:pPr>
            <a:r>
              <a:rPr sz="1500" i="0" b="0">
                <a:solidFill>
                  <a:srgbClr val="CBD5E1"/>
                </a:solidFill>
                <a:latin typeface="Helvetica Neue"/>
              </a:rPr>
              <a:t>Publishing waits for a person</a:t>
            </a:r>
          </a:p>
          <a:p>
            <a:pPr algn="l">
              <a:lnSpc>
                <a:spcPct val="100000"/>
              </a:lnSpc>
              <a:spcBef>
                <a:spcPts val="1050"/>
              </a:spcBef>
            </a:pPr>
            <a:r>
              <a:rPr sz="1500" i="0" b="0">
                <a:solidFill>
                  <a:srgbClr val="CBD5E1"/>
                </a:solidFill>
                <a:latin typeface="Helvetica Neue"/>
              </a:rPr>
              <a:t>Gate the edges where consequence concentrates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A loop can't do what our reviewer now needs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notes/02-graph-primitives.md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graph earns its place when work needs independent checking, parallel workers or a pause, which one loop can't express.</a:t>
            </a:r>
          </a:p>
        </p:txBody>
      </p:sp>
      <p:sp>
        <p:nvSpPr>
          <p:cNvPr id="13" name="Rectangle 12"/>
          <p:cNvSpPr/>
          <p:nvPr/>
        </p:nvSpPr>
        <p:spPr>
          <a:xfrm>
            <a:off x="777240" y="1997964"/>
            <a:ext cx="109728" cy="25054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We need an independent checker, one reviewer per changed file, and a human before publish. A single loop expresses none of them cleanly.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Spend agency per node, as if it costs money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Nodes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notes/02-graph-primitives.md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Use code where you can, one LLM call where you must, and an agent only where the path is unknown.</a:t>
            </a:r>
          </a:p>
        </p:txBody>
      </p:sp>
      <p:sp>
        <p:nvSpPr>
          <p:cNvPr id="13" name="Rectangle 12"/>
          <p:cNvSpPr/>
          <p:nvPr/>
        </p:nvSpPr>
        <p:spPr>
          <a:xfrm>
            <a:off x="448056" y="1417320"/>
            <a:ext cx="6261948" cy="34421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earning-langchain-fig5-1.png"/>
          <p:cNvPicPr>
            <a:picLocks noChangeAspect="1"/>
          </p:cNvPicPr>
          <p:nvPr/>
        </p:nvPicPr>
        <p:blipFill>
          <a:blip r:embed="rId2"/>
          <a:stretch>
            <a:fillRect/>
          </a:stretch>
        </p:blipFill>
        <p:spPr>
          <a:xfrm>
            <a:off x="502920" y="1472184"/>
            <a:ext cx="6152220" cy="3332452"/>
          </a:xfrm>
          <a:prstGeom prst="rect">
            <a:avLst/>
          </a:prstGeom>
        </p:spPr>
      </p:pic>
      <p:sp>
        <p:nvSpPr>
          <p:cNvPr id="15" name="TextBox 14"/>
          <p:cNvSpPr txBox="1"/>
          <p:nvPr/>
        </p:nvSpPr>
        <p:spPr>
          <a:xfrm>
            <a:off x="502920" y="4941796"/>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Oshin &amp; Campos, Learning LangChain (O'Reilly, 2025), Fig. 5-1</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Code:</a:t>
            </a:r>
            <a:r>
              <a:rPr sz="1800" i="0" b="0">
                <a:solidFill>
                  <a:srgbClr val="1E293B"/>
                </a:solidFill>
                <a:latin typeface="Helvetica Neue"/>
              </a:rPr>
              <a:t> parsing, validation, API calls</a:t>
            </a:r>
          </a:p>
        </p:txBody>
      </p:sp>
      <p:sp>
        <p:nvSpPr>
          <p:cNvPr id="18" name="Rectangle 17"/>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Router or one LLM call:</a:t>
            </a:r>
            <a:r>
              <a:rPr sz="1800" i="0" b="0">
                <a:solidFill>
                  <a:srgbClr val="1E293B"/>
                </a:solidFill>
                <a:latin typeface="Helvetica Neue"/>
              </a:rPr>
              <a:t> classify, summarise, draft</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Agent:</a:t>
            </a:r>
            <a:r>
              <a:rPr sz="1800" i="0" b="0">
                <a:solidFill>
                  <a:srgbClr val="1E293B"/>
                </a:solidFill>
                <a:latin typeface="Helvetica Neue"/>
              </a:rPr>
              <a:t> open-ended reasoning, many variable calls</a:t>
            </a:r>
          </a:p>
        </p:txBody>
      </p:sp>
      <p:sp>
        <p:nvSpPr>
          <p:cNvPr id="22" name="Rectangle 21"/>
          <p:cNvSpPr/>
          <p:nvPr/>
        </p:nvSpPr>
        <p:spPr>
          <a:xfrm>
            <a:off x="7020900" y="3479291"/>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392423"/>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Human checkpoint:</a:t>
            </a:r>
            <a:r>
              <a:rPr sz="1800" i="0" b="0">
                <a:solidFill>
                  <a:srgbClr val="1E293B"/>
                </a:solidFill>
                <a:latin typeface="Helvetica Neue"/>
              </a:rPr>
              <a:t> approval, paid for in latency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whole program fits on a slide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Edges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notes/02-graph-primitives.md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graph program is nodes that return changed keys, plus routers that are ordinary code choosing the next node.</a:t>
            </a:r>
          </a:p>
        </p:txBody>
      </p:sp>
      <p:sp>
        <p:nvSpPr>
          <p:cNvPr id="13" name="Rounded Rectangle 12"/>
          <p:cNvSpPr/>
          <p:nvPr/>
        </p:nvSpPr>
        <p:spPr>
          <a:xfrm>
            <a:off x="502920" y="1472184"/>
            <a:ext cx="6711513" cy="3855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215640"/>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builder = StateGraph(MessagesState)</a:t>
            </a:r>
          </a:p>
          <a:p>
            <a:pPr algn="l">
              <a:lnSpc>
                <a:spcPct val="100000"/>
              </a:lnSpc>
            </a:pPr>
            <a:r>
              <a:rPr sz="1600" i="0" b="0">
                <a:solidFill>
                  <a:srgbClr val="E2E8F0"/>
                </a:solidFill>
                <a:latin typeface="Menlo"/>
              </a:rPr>
              <a:t>builder.add_node("node_a", node_a)</a:t>
            </a:r>
          </a:p>
          <a:p>
            <a:pPr algn="l">
              <a:lnSpc>
                <a:spcPct val="100000"/>
              </a:lnSpc>
            </a:pPr>
            <a:r>
              <a:rPr sz="1600" i="0" b="0">
                <a:solidFill>
                  <a:srgbClr val="E2E8F0"/>
                </a:solidFill>
                <a:latin typeface="Menlo"/>
              </a:rPr>
              <a:t>builder.add_node("node_b", node_b)</a:t>
            </a:r>
          </a:p>
          <a:p>
            <a:pPr algn="l">
              <a:lnSpc>
                <a:spcPct val="100000"/>
              </a:lnSpc>
            </a:pPr>
            <a:r>
              <a:rPr sz="1600" i="0" b="0">
                <a:solidFill>
                  <a:srgbClr val="E2E8F0"/>
                </a:solidFill>
                <a:latin typeface="Menlo"/>
              </a:rPr>
              <a:t>builder.add_edge(START, "node_a")</a:t>
            </a:r>
          </a:p>
          <a:p>
            <a:pPr algn="l">
              <a:lnSpc>
                <a:spcPct val="100000"/>
              </a:lnSpc>
            </a:pPr>
            <a:r>
              <a:rPr sz="1600" i="0" b="0">
                <a:solidFill>
                  <a:srgbClr val="E2E8F0"/>
                </a:solidFill>
                <a:latin typeface="Menlo"/>
              </a:rPr>
              <a:t>builder.add_conditional_edges("node_a", router)</a:t>
            </a:r>
          </a:p>
          <a:p>
            <a:pPr algn="l">
              <a:lnSpc>
                <a:spcPct val="100000"/>
              </a:lnSpc>
            </a:pPr>
            <a:r>
              <a:rPr sz="1600" i="0" b="0">
                <a:solidFill>
                  <a:srgbClr val="E2E8F0"/>
                </a:solidFill>
                <a:latin typeface="Menlo"/>
              </a:rPr>
              <a:t>builder.add_edge("node_b", "node_a")  # cycle</a:t>
            </a:r>
          </a:p>
          <a:p>
            <a:pPr algn="l">
              <a:lnSpc>
                <a:spcPct val="100000"/>
              </a:lnSpc>
            </a:pPr>
            <a:r>
              <a:rPr sz="1600" i="0" b="0">
                <a:solidFill>
                  <a:srgbClr val="E2E8F0"/>
                </a:solidFill>
                <a:latin typeface="Menlo"/>
              </a:rPr>
              <a:t>graph = builder.compile()</a:t>
            </a:r>
          </a:p>
          <a:p>
            <a:pPr algn="l">
              <a:lnSpc>
                <a:spcPct val="100000"/>
              </a:lnSpc>
            </a:pPr>
          </a:p>
          <a:p>
            <a:pPr algn="l">
              <a:lnSpc>
                <a:spcPct val="100000"/>
              </a:lnSpc>
            </a:pPr>
            <a:r>
              <a:rPr sz="1600" i="0" b="0">
                <a:solidFill>
                  <a:srgbClr val="E2E8F0"/>
                </a:solidFill>
                <a:latin typeface="Menlo"/>
              </a:rPr>
              <a:t>def router(state) -&gt; str:</a:t>
            </a:r>
          </a:p>
          <a:p>
            <a:pPr algn="l">
              <a:lnSpc>
                <a:spcPct val="100000"/>
              </a:lnSpc>
            </a:pPr>
            <a:r>
              <a:rPr sz="1600" i="0" b="0">
                <a:solidFill>
                  <a:srgbClr val="E2E8F0"/>
                </a:solidFill>
                <a:latin typeface="Menlo"/>
              </a:rPr>
              <a:t>    # ordinary code over state</a:t>
            </a:r>
          </a:p>
          <a:p>
            <a:pPr algn="l">
              <a:lnSpc>
                <a:spcPct val="100000"/>
              </a:lnSpc>
            </a:pPr>
            <a:r>
              <a:rPr sz="1600" i="0" b="0">
                <a:solidFill>
                  <a:srgbClr val="E2E8F0"/>
                </a:solidFill>
                <a:latin typeface="Menlo"/>
              </a:rPr>
              <a:t>    if needs_more(state):</a:t>
            </a:r>
          </a:p>
          <a:p>
            <a:pPr algn="l">
              <a:lnSpc>
                <a:spcPct val="100000"/>
              </a:lnSpc>
            </a:pPr>
            <a:r>
              <a:rPr sz="1600" i="0" b="0">
                <a:solidFill>
                  <a:srgbClr val="E2E8F0"/>
                </a:solidFill>
                <a:latin typeface="Menlo"/>
              </a:rPr>
              <a:t>        return "node_b"</a:t>
            </a:r>
          </a:p>
          <a:p>
            <a:pPr algn="l">
              <a:lnSpc>
                <a:spcPct val="100000"/>
              </a:lnSpc>
            </a:pPr>
            <a:r>
              <a:rPr sz="1600" i="0" b="0">
                <a:solidFill>
                  <a:srgbClr val="E2E8F0"/>
                </a:solidFill>
                <a:latin typeface="Menlo"/>
              </a:rPr>
              <a:t>    return END</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Nodes</a:t>
            </a:r>
            <a:r>
              <a:rPr sz="1800" i="0" b="0">
                <a:solidFill>
                  <a:srgbClr val="1E293B"/>
                </a:solidFill>
                <a:latin typeface="Helvetica Neue"/>
              </a:rPr>
              <a:t> read state and return only changed keys</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router</a:t>
            </a:r>
            <a:r>
              <a:rPr sz="1800" i="0" b="0">
                <a:solidFill>
                  <a:srgbClr val="1E293B"/>
                </a:solidFill>
                <a:latin typeface="Helvetica Neue"/>
              </a:rPr>
              <a:t> is plain code naming the next node</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Conditional edges</a:t>
            </a:r>
            <a:r>
              <a:rPr sz="1800" i="0" b="0">
                <a:solidFill>
                  <a:srgbClr val="1E293B"/>
                </a:solidFill>
                <a:latin typeface="Helvetica Neue"/>
              </a:rPr>
              <a:t> give branches, gates, cycles and early exit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The highest-yield first graph is generate, then verify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first shape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notes/02-graph-primitives.md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verifier that sees only the task and the output stays independent, and an attempt counter bounds the back-edge.</a:t>
            </a:r>
          </a:p>
        </p:txBody>
      </p:sp>
      <p:sp>
        <p:nvSpPr>
          <p:cNvPr id="13" name="Rounded Rectangle 12"/>
          <p:cNvSpPr/>
          <p:nvPr/>
        </p:nvSpPr>
        <p:spPr>
          <a:xfrm>
            <a:off x="202676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39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Generate</a:t>
            </a:r>
          </a:p>
          <a:p>
            <a:pPr algn="ctr">
              <a:lnSpc>
                <a:spcPct val="110000"/>
              </a:lnSpc>
            </a:pPr>
            <a:r>
              <a:rPr sz="1300" i="0" b="0">
                <a:solidFill>
                  <a:srgbClr val="E8F4F8"/>
                </a:solidFill>
                <a:latin typeface="Helvetica Neue"/>
              </a:rPr>
              <a:t>produces a draft</a:t>
            </a:r>
          </a:p>
        </p:txBody>
      </p:sp>
      <p:cxnSp>
        <p:nvCxnSpPr>
          <p:cNvPr id="15" name="Connector 14"/>
          <p:cNvCxnSpPr/>
          <p:nvPr/>
        </p:nvCxnSpPr>
        <p:spPr>
          <a:xfrm>
            <a:off x="445907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712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428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Verify</a:t>
            </a:r>
          </a:p>
          <a:p>
            <a:pPr algn="ctr">
              <a:lnSpc>
                <a:spcPct val="110000"/>
              </a:lnSpc>
            </a:pPr>
            <a:r>
              <a:rPr sz="1300" i="0" b="0">
                <a:solidFill>
                  <a:srgbClr val="E8F4F8"/>
                </a:solidFill>
                <a:latin typeface="Helvetica Neue"/>
              </a:rPr>
              <a:t>tests, schema, rubric</a:t>
            </a:r>
          </a:p>
        </p:txBody>
      </p:sp>
      <p:cxnSp>
        <p:nvCxnSpPr>
          <p:cNvPr id="18" name="Connector 17"/>
          <p:cNvCxnSpPr/>
          <p:nvPr/>
        </p:nvCxnSpPr>
        <p:spPr>
          <a:xfrm>
            <a:off x="733943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8748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46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Done</a:t>
            </a:r>
          </a:p>
          <a:p>
            <a:pPr algn="ctr">
              <a:lnSpc>
                <a:spcPct val="110000"/>
              </a:lnSpc>
            </a:pPr>
            <a:r>
              <a:rPr sz="1300" i="0" b="0">
                <a:solidFill>
                  <a:srgbClr val="E8F4F8"/>
                </a:solidFill>
                <a:latin typeface="Helvetica Neue"/>
              </a:rPr>
              <a:t>passes or attempts exhausted</a:t>
            </a:r>
          </a:p>
        </p:txBody>
      </p:sp>
      <p:cxnSp>
        <p:nvCxnSpPr>
          <p:cNvPr id="21" name="Connector 20"/>
          <p:cNvCxnSpPr/>
          <p:nvPr/>
        </p:nvCxnSpPr>
        <p:spPr>
          <a:xfrm>
            <a:off x="8976207" y="2769108"/>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15487" y="3180588"/>
            <a:ext cx="576072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15487" y="2805684"/>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15487" y="3217164"/>
            <a:ext cx="576072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back-edge with the critique, bounded by an attempt counter</a:t>
            </a:r>
          </a:p>
        </p:txBody>
      </p:sp>
      <p:sp>
        <p:nvSpPr>
          <p:cNvPr id="25" name="Rectangle 24"/>
          <p:cNvSpPr/>
          <p:nvPr/>
        </p:nvSpPr>
        <p:spPr>
          <a:xfrm>
            <a:off x="502920" y="4003801"/>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91210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verifier sees the task and the output, </a:t>
            </a:r>
            <a:r>
              <a:rPr sz="1900" i="0" b="1">
                <a:solidFill>
                  <a:srgbClr val="1E293B"/>
                </a:solidFill>
                <a:latin typeface="Helvetica Neue"/>
              </a:rPr>
              <a:t>never the generator's reasoning</a:t>
            </a:r>
          </a:p>
        </p:txBody>
      </p:sp>
      <p:sp>
        <p:nvSpPr>
          <p:cNvPr id="27" name="Rectangle 26"/>
          <p:cNvSpPr/>
          <p:nvPr/>
        </p:nvSpPr>
        <p:spPr>
          <a:xfrm>
            <a:off x="502920" y="4467098"/>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37540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back-edge carries the critique into the next attempt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key has one writer or a reducer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State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notes/03-state-and-reducers.md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Decide up front who writes each state key, and give any key with several writers a reducer.</a:t>
            </a:r>
          </a:p>
        </p:txBody>
      </p:sp>
      <p:sp>
        <p:nvSpPr>
          <p:cNvPr id="13" name="Rounded Rectangle 12"/>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class ReviewState(TypedDict):</a:t>
            </a:r>
          </a:p>
          <a:p>
            <a:pPr algn="l">
              <a:lnSpc>
                <a:spcPct val="100000"/>
              </a:lnSpc>
            </a:pPr>
            <a:r>
              <a:rPr sz="1600" i="0" b="0">
                <a:solidFill>
                  <a:srgbClr val="E2E8F0"/>
                </a:solidFill>
                <a:latin typeface="Menlo"/>
              </a:rPr>
              <a:t>    task: str     # set once, read by all</a:t>
            </a:r>
          </a:p>
          <a:p>
            <a:pPr algn="l">
              <a:lnSpc>
                <a:spcPct val="100000"/>
              </a:lnSpc>
            </a:pPr>
            <a:r>
              <a:rPr sz="1600" i="0" b="0">
                <a:solidFill>
                  <a:srgbClr val="E2E8F0"/>
                </a:solidFill>
                <a:latin typeface="Menlo"/>
              </a:rPr>
              <a:t>    draft: str    # one writer: generator</a:t>
            </a:r>
          </a:p>
          <a:p>
            <a:pPr algn="l">
              <a:lnSpc>
                <a:spcPct val="100000"/>
              </a:lnSpc>
            </a:pPr>
            <a:r>
              <a:rPr sz="1600" i="0" b="0">
                <a:solidFill>
                  <a:srgbClr val="E2E8F0"/>
                </a:solidFill>
                <a:latin typeface="Menlo"/>
              </a:rPr>
              <a:t>    findings: Annotated[list[str],</a:t>
            </a:r>
          </a:p>
          <a:p>
            <a:pPr algn="l">
              <a:lnSpc>
                <a:spcPct val="100000"/>
              </a:lnSpc>
            </a:pPr>
            <a:r>
              <a:rPr sz="1600" i="0" b="0">
                <a:solidFill>
                  <a:srgbClr val="E2E8F0"/>
                </a:solidFill>
                <a:latin typeface="Menlo"/>
              </a:rPr>
              <a:t>                        operator.add]</a:t>
            </a:r>
          </a:p>
          <a:p>
            <a:pPr algn="l">
              <a:lnSpc>
                <a:spcPct val="100000"/>
              </a:lnSpc>
            </a:pPr>
            <a:r>
              <a:rPr sz="1600" i="0" b="0">
                <a:solidFill>
                  <a:srgbClr val="E2E8F0"/>
                </a:solidFill>
                <a:latin typeface="Menlo"/>
              </a:rPr>
              <a:t>                  # many writers: reducer</a:t>
            </a:r>
          </a:p>
          <a:p>
            <a:pPr algn="l">
              <a:lnSpc>
                <a:spcPct val="100000"/>
              </a:lnSpc>
            </a:pPr>
            <a:r>
              <a:rPr sz="1600" i="0" b="0">
                <a:solidFill>
                  <a:srgbClr val="E2E8F0"/>
                </a:solidFill>
                <a:latin typeface="Menlo"/>
              </a:rPr>
              <a:t>    attempts: int # the bound on the cycle</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operator.add</a:t>
            </a:r>
            <a:r>
              <a:rPr sz="1800" i="0" b="0">
                <a:solidFill>
                  <a:srgbClr val="1E293B"/>
                </a:solidFill>
                <a:latin typeface="Helvetica Neue"/>
              </a:rPr>
              <a:t> concatenates parallel writes</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Custom reducers can dedupe</a:t>
            </a:r>
          </a:p>
        </p:txBody>
      </p:sp>
      <p:sp>
        <p:nvSpPr>
          <p:cNvPr id="20" name="Rectangle 19"/>
          <p:cNvSpPr/>
          <p:nvPr/>
        </p:nvSpPr>
        <p:spPr>
          <a:xfrm>
            <a:off x="7580193" y="278434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697480"/>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attempts</a:t>
            </a:r>
            <a:r>
              <a:rPr sz="1800" i="0" b="0">
                <a:solidFill>
                  <a:srgbClr val="1E293B"/>
                </a:solidFill>
                <a:latin typeface="Helvetica Neue"/>
              </a:rPr>
              <a:t> lives in state so the router can bound the cycle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Parallel writes without a reducer fail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What breaks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notes/03-state-and-reducers.md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Branches in one super-step that write one key with no reducer raise an error in LangGraph and lose work elsewhere.</a:t>
            </a:r>
          </a:p>
        </p:txBody>
      </p:sp>
      <p:sp>
        <p:nvSpPr>
          <p:cNvPr id="13" name="Rectangle 12"/>
          <p:cNvSpPr/>
          <p:nvPr/>
        </p:nvSpPr>
        <p:spPr>
          <a:xfrm>
            <a:off x="1392643" y="1417320"/>
            <a:ext cx="4372772"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angchain-langgraph-docs-parallel-super-step.png"/>
          <p:cNvPicPr>
            <a:picLocks noChangeAspect="1"/>
          </p:cNvPicPr>
          <p:nvPr/>
        </p:nvPicPr>
        <p:blipFill>
          <a:blip r:embed="rId2"/>
          <a:stretch>
            <a:fillRect/>
          </a:stretch>
        </p:blipFill>
        <p:spPr>
          <a:xfrm>
            <a:off x="1447507" y="1472184"/>
            <a:ext cx="4263044"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LangGraph docs (LangChain), via sources/langgraph_extended.pptx</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Branches A and B run in </a:t>
            </a:r>
            <a:r>
              <a:rPr sz="1800" i="0" b="1">
                <a:solidFill>
                  <a:srgbClr val="1E293B"/>
                </a:solidFill>
                <a:latin typeface="Helvetica Neue"/>
              </a:rPr>
              <a:t>one super-step</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No checkpoint falls between them</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Same key, no reducer gives </a:t>
            </a:r>
            <a:r>
              <a:rPr sz="1620" i="0" b="1">
                <a:solidFill>
                  <a:srgbClr val="0F7490"/>
                </a:solidFill>
                <a:latin typeface="Menlo"/>
              </a:rPr>
              <a:t>InvalidUpdateError</a:t>
            </a:r>
          </a:p>
        </p:txBody>
      </p:sp>
      <p:sp>
        <p:nvSpPr>
          <p:cNvPr id="22" name="Rectangle 21"/>
          <p:cNvSpPr/>
          <p:nvPr/>
        </p:nvSpPr>
        <p:spPr>
          <a:xfrm>
            <a:off x="7020900" y="3479291"/>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392423"/>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Outside LangGraph the same race silently loses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One reviewer per changed file, decided at runtime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Fan-out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notes/03-state-and-reducers.md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To tell a real edge from an incidental one, ask whether the next step reads the previous output. If not, fan out.</a:t>
            </a:r>
          </a:p>
        </p:txBody>
      </p:sp>
      <p:sp>
        <p:nvSpPr>
          <p:cNvPr id="13" name="Rounded Rectangle 12"/>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fan_out(state) -&gt; list[Send]:</a:t>
            </a:r>
          </a:p>
          <a:p>
            <a:pPr algn="l">
              <a:lnSpc>
                <a:spcPct val="100000"/>
              </a:lnSpc>
            </a:pPr>
            <a:r>
              <a:rPr sz="1600" i="0" b="0">
                <a:solidFill>
                  <a:srgbClr val="E2E8F0"/>
                </a:solidFill>
                <a:latin typeface="Menlo"/>
              </a:rPr>
              <a:t>    return [Send("review_file",</a:t>
            </a:r>
          </a:p>
          <a:p>
            <a:pPr algn="l">
              <a:lnSpc>
                <a:spcPct val="100000"/>
              </a:lnSpc>
            </a:pPr>
            <a:r>
              <a:rPr sz="1600" i="0" b="0">
                <a:solidFill>
                  <a:srgbClr val="E2E8F0"/>
                </a:solidFill>
                <a:latin typeface="Menlo"/>
              </a:rPr>
              <a:t>                 {"path": p,</a:t>
            </a:r>
          </a:p>
          <a:p>
            <a:pPr algn="l">
              <a:lnSpc>
                <a:spcPct val="100000"/>
              </a:lnSpc>
            </a:pPr>
            <a:r>
              <a:rPr sz="1600" i="0" b="0">
                <a:solidFill>
                  <a:srgbClr val="E2E8F0"/>
                </a:solidFill>
                <a:latin typeface="Menlo"/>
              </a:rPr>
              <a:t>                  "task": state["task"]})</a:t>
            </a:r>
          </a:p>
          <a:p>
            <a:pPr algn="l">
              <a:lnSpc>
                <a:spcPct val="100000"/>
              </a:lnSpc>
            </a:pPr>
            <a:r>
              <a:rPr sz="1600" i="0" b="0">
                <a:solidFill>
                  <a:srgbClr val="E2E8F0"/>
                </a:solidFill>
                <a:latin typeface="Menlo"/>
              </a:rPr>
              <a:t>            for p in state["changed_files"]]</a:t>
            </a:r>
          </a:p>
          <a:p>
            <a:pPr algn="l">
              <a:lnSpc>
                <a:spcPct val="100000"/>
              </a:lnSpc>
            </a:pPr>
          </a:p>
          <a:p>
            <a:pPr algn="l">
              <a:lnSpc>
                <a:spcPct val="100000"/>
              </a:lnSpc>
            </a:pPr>
            <a:r>
              <a:rPr sz="1600" i="0" b="0">
                <a:solidFill>
                  <a:srgbClr val="E2E8F0"/>
                </a:solidFill>
                <a:latin typeface="Menlo"/>
              </a:rPr>
              <a:t>builder.add_conditional_edges(</a:t>
            </a:r>
          </a:p>
          <a:p>
            <a:pPr algn="l">
              <a:lnSpc>
                <a:spcPct val="100000"/>
              </a:lnSpc>
            </a:pPr>
            <a:r>
              <a:rPr sz="1600" i="0" b="0">
                <a:solidFill>
                  <a:srgbClr val="E2E8F0"/>
                </a:solidFill>
                <a:latin typeface="Menlo"/>
              </a:rPr>
              <a:t>    "plan", fan_out, ["review_file"])</a:t>
            </a:r>
          </a:p>
          <a:p>
            <a:pPr algn="l">
              <a:lnSpc>
                <a:spcPct val="100000"/>
              </a:lnSpc>
            </a:pPr>
            <a:r>
              <a:rPr sz="1600" i="0" b="0">
                <a:solidFill>
                  <a:srgbClr val="E2E8F0"/>
                </a:solidFill>
                <a:latin typeface="Menlo"/>
              </a:rPr>
              <a:t>builder.add_edge("review_file", "synthesize")</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Each </a:t>
            </a:r>
            <a:r>
              <a:rPr sz="1620" i="0" b="0">
                <a:solidFill>
                  <a:srgbClr val="0F7490"/>
                </a:solidFill>
                <a:latin typeface="Menlo"/>
              </a:rPr>
              <a:t>Send</a:t>
            </a:r>
            <a:r>
              <a:rPr sz="1800" i="0" b="0">
                <a:solidFill>
                  <a:srgbClr val="1E293B"/>
                </a:solidFill>
                <a:latin typeface="Helvetica Neue"/>
              </a:rPr>
              <a:t> carries its own private input</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Results merge through the reducer</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Cap N</a:t>
            </a:r>
            <a:r>
              <a:rPr sz="1800" i="0" b="0">
                <a:solidFill>
                  <a:srgbClr val="1E293B"/>
                </a:solidFill>
                <a:latin typeface="Helvetica Neue"/>
              </a:rPr>
              <a:t>: unbounded fan-out is a cost bug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Checkpoints give you pause, resume and time travel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Pausing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notes/04-durable-execution-and-interrupts.md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Saving state after every super-step gives one mechanism for human approval, crash recovery and time travel.</a:t>
            </a:r>
          </a:p>
        </p:txBody>
      </p:sp>
      <p:sp>
        <p:nvSpPr>
          <p:cNvPr id="13" name="Rectangle 12"/>
          <p:cNvSpPr/>
          <p:nvPr/>
        </p:nvSpPr>
        <p:spPr>
          <a:xfrm>
            <a:off x="448056" y="1417320"/>
            <a:ext cx="6261948" cy="20953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angchain-langgraph-docs-checkpoints-and-threads.png"/>
          <p:cNvPicPr>
            <a:picLocks noChangeAspect="1"/>
          </p:cNvPicPr>
          <p:nvPr/>
        </p:nvPicPr>
        <p:blipFill>
          <a:blip r:embed="rId2"/>
          <a:stretch>
            <a:fillRect/>
          </a:stretch>
        </p:blipFill>
        <p:spPr>
          <a:xfrm>
            <a:off x="502920" y="1472184"/>
            <a:ext cx="6152220" cy="1985653"/>
          </a:xfrm>
          <a:prstGeom prst="rect">
            <a:avLst/>
          </a:prstGeom>
        </p:spPr>
      </p:pic>
      <p:sp>
        <p:nvSpPr>
          <p:cNvPr id="15" name="TextBox 14"/>
          <p:cNvSpPr txBox="1"/>
          <p:nvPr/>
        </p:nvSpPr>
        <p:spPr>
          <a:xfrm>
            <a:off x="502920" y="3594997"/>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LangGraph docs, persistence (LangChain), via sources/langgraph_extended.pptx</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a:t>
            </a:r>
            <a:r>
              <a:rPr sz="1800" i="0" b="1">
                <a:solidFill>
                  <a:srgbClr val="1E293B"/>
                </a:solidFill>
                <a:latin typeface="Helvetica Neue"/>
              </a:rPr>
              <a:t>checkpoint</a:t>
            </a:r>
            <a:r>
              <a:rPr sz="1800" i="0" b="0">
                <a:solidFill>
                  <a:srgbClr val="1E293B"/>
                </a:solidFill>
                <a:latin typeface="Helvetica Neue"/>
              </a:rPr>
              <a:t> after every super-step</a:t>
            </a:r>
          </a:p>
        </p:txBody>
      </p:sp>
      <p:sp>
        <p:nvSpPr>
          <p:cNvPr id="18" name="Rectangle 17"/>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a:t>
            </a:r>
            <a:r>
              <a:rPr sz="1800" i="0" b="1">
                <a:solidFill>
                  <a:srgbClr val="1E293B"/>
                </a:solidFill>
                <a:latin typeface="Helvetica Neue"/>
              </a:rPr>
              <a:t>thread</a:t>
            </a:r>
            <a:r>
              <a:rPr sz="1800" i="0" b="0">
                <a:solidFill>
                  <a:srgbClr val="1E293B"/>
                </a:solidFill>
                <a:latin typeface="Helvetica Neue"/>
              </a:rPr>
              <a:t> collects them under one </a:t>
            </a:r>
            <a:r>
              <a:rPr sz="1620" i="0" b="0">
                <a:solidFill>
                  <a:srgbClr val="0F7490"/>
                </a:solidFill>
                <a:latin typeface="Menlo"/>
              </a:rPr>
              <a:t>thread_id</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Human-in-the-loop, crash resume and time travel share one mechanism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Publishing waits for a person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notes/04-durable-execution-and-interrupts.md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On resume a node reruns from its first line, so any side effect belongs after the interrupt.</a:t>
            </a:r>
          </a:p>
        </p:txBody>
      </p:sp>
      <p:sp>
        <p:nvSpPr>
          <p:cNvPr id="13" name="Rounded Rectangle 12"/>
          <p:cNvSpPr/>
          <p:nvPr/>
        </p:nvSpPr>
        <p:spPr>
          <a:xfrm>
            <a:off x="502920" y="1472184"/>
            <a:ext cx="6711513" cy="3886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2461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graph = builder.compile(checkpointer=saver)</a:t>
            </a:r>
          </a:p>
          <a:p>
            <a:pPr algn="l">
              <a:lnSpc>
                <a:spcPct val="100000"/>
              </a:lnSpc>
            </a:pPr>
            <a:r>
              <a:rPr sz="1500" i="0" b="0">
                <a:solidFill>
                  <a:srgbClr val="E2E8F0"/>
                </a:solidFill>
                <a:latin typeface="Menlo"/>
              </a:rPr>
              <a:t>config = {"configurable":</a:t>
            </a:r>
          </a:p>
          <a:p>
            <a:pPr algn="l">
              <a:lnSpc>
                <a:spcPct val="100000"/>
              </a:lnSpc>
            </a:pPr>
            <a:r>
              <a:rPr sz="1500" i="0" b="0">
                <a:solidFill>
                  <a:srgbClr val="E2E8F0"/>
                </a:solidFill>
                <a:latin typeface="Menlo"/>
              </a:rPr>
              <a:t>          {"thread_id": "review-42"}}</a:t>
            </a:r>
          </a:p>
          <a:p>
            <a:pPr algn="l">
              <a:lnSpc>
                <a:spcPct val="100000"/>
              </a:lnSpc>
            </a:pPr>
          </a:p>
          <a:p>
            <a:pPr algn="l">
              <a:lnSpc>
                <a:spcPct val="100000"/>
              </a:lnSpc>
            </a:pPr>
            <a:r>
              <a:rPr sz="1500" i="0" b="0">
                <a:solidFill>
                  <a:srgbClr val="E2E8F0"/>
                </a:solidFill>
                <a:latin typeface="Menlo"/>
              </a:rPr>
              <a:t>def publish(state):</a:t>
            </a:r>
          </a:p>
          <a:p>
            <a:pPr algn="l">
              <a:lnSpc>
                <a:spcPct val="100000"/>
              </a:lnSpc>
            </a:pPr>
            <a:r>
              <a:rPr sz="1500" i="0" b="0">
                <a:solidFill>
                  <a:srgbClr val="E2E8F0"/>
                </a:solidFill>
                <a:latin typeface="Menlo"/>
              </a:rPr>
              <a:t>    decision = interrupt(</a:t>
            </a:r>
          </a:p>
          <a:p>
            <a:pPr algn="l">
              <a:lnSpc>
                <a:spcPct val="100000"/>
              </a:lnSpc>
            </a:pPr>
            <a:r>
              <a:rPr sz="1500" i="0" b="0">
                <a:solidFill>
                  <a:srgbClr val="E2E8F0"/>
                </a:solidFill>
                <a:latin typeface="Menlo"/>
              </a:rPr>
              <a:t>        {"draft": state["draft"]})</a:t>
            </a:r>
          </a:p>
          <a:p>
            <a:pPr algn="l">
              <a:lnSpc>
                <a:spcPct val="100000"/>
              </a:lnSpc>
            </a:pPr>
            <a:r>
              <a:rPr sz="1500" i="0" b="0">
                <a:solidFill>
                  <a:srgbClr val="E2E8F0"/>
                </a:solidFill>
                <a:latin typeface="Menlo"/>
              </a:rPr>
              <a:t>    if decision != "approve":</a:t>
            </a:r>
          </a:p>
          <a:p>
            <a:pPr algn="l">
              <a:lnSpc>
                <a:spcPct val="100000"/>
              </a:lnSpc>
            </a:pPr>
            <a:r>
              <a:rPr sz="1500" i="0" b="0">
                <a:solidFill>
                  <a:srgbClr val="E2E8F0"/>
                </a:solidFill>
                <a:latin typeface="Menlo"/>
              </a:rPr>
              <a:t>        return {"status": "rejected"}</a:t>
            </a:r>
          </a:p>
          <a:p>
            <a:pPr algn="l">
              <a:lnSpc>
                <a:spcPct val="100000"/>
              </a:lnSpc>
            </a:pPr>
            <a:r>
              <a:rPr sz="1500" i="0" b="0">
                <a:solidFill>
                  <a:srgbClr val="E2E8F0"/>
                </a:solidFill>
                <a:latin typeface="Menlo"/>
              </a:rPr>
              <a:t>    send_to_cms(state["draft"])  # after</a:t>
            </a:r>
          </a:p>
          <a:p>
            <a:pPr algn="l">
              <a:lnSpc>
                <a:spcPct val="100000"/>
              </a:lnSpc>
            </a:pPr>
            <a:r>
              <a:rPr sz="1500" i="0" b="0">
                <a:solidFill>
                  <a:srgbClr val="E2E8F0"/>
                </a:solidFill>
                <a:latin typeface="Menlo"/>
              </a:rPr>
              <a:t>    return {"status": "published"}</a:t>
            </a:r>
          </a:p>
          <a:p>
            <a:pPr algn="l">
              <a:lnSpc>
                <a:spcPct val="100000"/>
              </a:lnSpc>
            </a:pPr>
          </a:p>
          <a:p>
            <a:pPr algn="l">
              <a:lnSpc>
                <a:spcPct val="100000"/>
              </a:lnSpc>
            </a:pPr>
            <a:r>
              <a:rPr sz="1500" i="0" b="0">
                <a:solidFill>
                  <a:srgbClr val="E2E8F0"/>
                </a:solidFill>
                <a:latin typeface="Menlo"/>
              </a:rPr>
              <a:t>graph.invoke({"task": "..."}, config)  # pauses</a:t>
            </a:r>
          </a:p>
          <a:p>
            <a:pPr algn="l">
              <a:lnSpc>
                <a:spcPct val="100000"/>
              </a:lnSpc>
            </a:pPr>
            <a:r>
              <a:rPr sz="1500" i="0" b="0">
                <a:solidFill>
                  <a:srgbClr val="E2E8F0"/>
                </a:solidFill>
                <a:latin typeface="Menlo"/>
              </a:rPr>
              <a:t>graph.invoke(Command(resume="approve"), config)</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interrupt()</a:t>
            </a:r>
            <a:r>
              <a:rPr sz="1800" i="0" b="0">
                <a:solidFill>
                  <a:srgbClr val="1E293B"/>
                </a:solidFill>
                <a:latin typeface="Helvetica Neue"/>
              </a:rPr>
              <a:t> passes the human what they need</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Gotcha: the node </a:t>
            </a:r>
            <a:r>
              <a:rPr sz="1800" i="0" b="1">
                <a:solidFill>
                  <a:srgbClr val="1E293B"/>
                </a:solidFill>
                <a:latin typeface="Helvetica Neue"/>
              </a:rPr>
              <a:t>reruns from line 1</a:t>
            </a:r>
            <a:r>
              <a:rPr sz="1800" i="0" b="0">
                <a:solidFill>
                  <a:srgbClr val="1E293B"/>
                </a:solidFill>
                <a:latin typeface="Helvetica Neue"/>
              </a:rPr>
              <a:t> on resume</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So keep side effects </a:t>
            </a:r>
            <a:r>
              <a:rPr sz="1800" i="0" b="1">
                <a:solidFill>
                  <a:srgbClr val="1E293B"/>
                </a:solidFill>
                <a:latin typeface="Helvetica Neue"/>
              </a:rPr>
              <a:t>after</a:t>
            </a:r>
            <a:r>
              <a:rPr sz="1800" i="0" b="0">
                <a:solidFill>
                  <a:srgbClr val="1E293B"/>
                </a:solidFill>
                <a:latin typeface="Helvetica Neue"/>
              </a:rPr>
              <a:t> the interrupt</a:t>
            </a:r>
          </a:p>
        </p:txBody>
      </p:sp>
      <p:sp>
        <p:nvSpPr>
          <p:cNvPr id="22" name="Rectangle 21"/>
          <p:cNvSpPr/>
          <p:nvPr/>
        </p:nvSpPr>
        <p:spPr>
          <a:xfrm>
            <a:off x="7580193" y="3826763"/>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739896"/>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interrupt_before/after</a:t>
            </a:r>
            <a:r>
              <a:rPr sz="1800" i="0" b="0">
                <a:solidFill>
                  <a:srgbClr val="1E293B"/>
                </a:solidFill>
                <a:latin typeface="Helvetica Neue"/>
              </a:rPr>
              <a:t> are for debugging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Gate the edges where consequence concentrates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Building the first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notes/04-durable-execution-and-interrupts.md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"Human approval checkpoints ... at exactly the edges where consequence concentrates." (TrueFoundry)</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gate on every node trains people to approve without reading, so gate only where consequence concentrates.</a:t>
            </a:r>
          </a:p>
        </p:txBody>
      </p:sp>
      <p:graphicFrame>
        <p:nvGraphicFramePr>
          <p:cNvPr id="14" name="Table 13"/>
          <p:cNvGraphicFramePr>
            <a:graphicFrameLocks noGrp="1"/>
          </p:cNvGraphicFramePr>
          <p:nvPr/>
        </p:nvGraphicFramePr>
        <p:xfrm>
          <a:off x="502920" y="1985772"/>
          <a:ext cx="11185854" cy="2286000"/>
        </p:xfrm>
        <a:graphic>
          <a:graphicData uri="http://schemas.openxmlformats.org/drawingml/2006/table">
            <a:tbl>
              <a:tblPr firstRow="1" bandRow="1">
                <a:tableStyleId>{5940675A-B579-460E-94D1-54222C63F5DA}</a:tableStyleId>
              </a:tblPr>
              <a:tblGrid>
                <a:gridCol w="5592927"/>
                <a:gridCol w="5592927"/>
              </a:tblGrid>
              <a:tr h="405384">
                <a:tc>
                  <a:txBody>
                    <a:bodyPr wrap="square"/>
                    <a:lstStyle/>
                    <a:p>
                      <a:pPr>
                        <a:lnSpc>
                          <a:spcPct val="100000"/>
                        </a:lnSpc>
                      </a:pPr>
                      <a:r>
                        <a:rPr sz="1700" i="0" b="1">
                          <a:solidFill>
                            <a:srgbClr val="FFFFFF"/>
                          </a:solidFill>
                          <a:latin typeface="Helvetica Neue"/>
                        </a:rPr>
                        <a:t>Gate before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Why</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Irreversible actions: send, pay, delete, deploy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Can't be undone, so check first</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Crossing a trust boundary: external API, other tenant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Someone else bears the cost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Low-confidence router decisions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Cheap for a human, expensive to mis-route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After the plan, before the build (n8n)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plan is the cheapest thing to correct</a:t>
                      </a:r>
                    </a:p>
                  </a:txBody>
                  <a:tcPr marL="109728" marR="109728" marT="54864" marB="54864" anchor="ct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Running it in production</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Topologies · Who adds information · Failures · Who pays</a:t>
            </a:r>
          </a:p>
        </p:txBody>
      </p:sp>
      <p:cxnSp>
        <p:nvCxnSpPr>
          <p:cNvPr id="6" name="Connector 5"/>
          <p:cNvCxnSpPr/>
          <p:nvPr/>
        </p:nvCxnSpPr>
        <p:spPr>
          <a:xfrm>
            <a:off x="6446520" y="1457325"/>
            <a:ext cx="0" cy="39433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57325"/>
            <a:ext cx="4693615" cy="4126230"/>
          </a:xfrm>
          <a:prstGeom prst="rect">
            <a:avLst/>
          </a:prstGeom>
          <a:noFill/>
        </p:spPr>
        <p:txBody>
          <a:bodyPr wrap="square" lIns="0" rIns="0" tIns="0" bIns="0" anchor="t">
            <a:noAutofit/>
          </a:bodyPr>
          <a:lstStyle/>
          <a:p>
            <a:pPr algn="l">
              <a:lnSpc>
                <a:spcPct val="100000"/>
              </a:lnSpc>
            </a:pPr>
            <a:r>
              <a:rPr sz="1500" i="0" b="0">
                <a:solidFill>
                  <a:srgbClr val="CBD5E1"/>
                </a:solidFill>
                <a:latin typeface="Helvetica Neue"/>
              </a:rPr>
              <a:t>Fifty nodes ran and one broke production. Which?</a:t>
            </a:r>
          </a:p>
          <a:p>
            <a:pPr algn="l">
              <a:lnSpc>
                <a:spcPct val="100000"/>
              </a:lnSpc>
              <a:spcBef>
                <a:spcPts val="1050"/>
              </a:spcBef>
            </a:pPr>
            <a:r>
              <a:rPr sz="1500" i="0" b="0">
                <a:solidFill>
                  <a:srgbClr val="CBD5E1"/>
                </a:solidFill>
                <a:latin typeface="Helvetica Neue"/>
              </a:rPr>
              <a:t>Five topologies recur</a:t>
            </a:r>
          </a:p>
          <a:p>
            <a:pPr algn="l">
              <a:lnSpc>
                <a:spcPct val="100000"/>
              </a:lnSpc>
              <a:spcBef>
                <a:spcPts val="1050"/>
              </a:spcBef>
            </a:pPr>
            <a:r>
              <a:rPr sz="1500" i="0" b="0">
                <a:solidFill>
                  <a:srgbClr val="CBD5E1"/>
                </a:solidFill>
                <a:latin typeface="Helvetica Neue"/>
              </a:rPr>
              <a:t>Should the agents share a context?</a:t>
            </a:r>
          </a:p>
          <a:p>
            <a:pPr algn="l">
              <a:lnSpc>
                <a:spcPct val="100000"/>
              </a:lnSpc>
              <a:spcBef>
                <a:spcPts val="1050"/>
              </a:spcBef>
            </a:pPr>
            <a:r>
              <a:rPr sz="1500" i="0" b="0">
                <a:solidFill>
                  <a:srgbClr val="CBD5E1"/>
                </a:solidFill>
                <a:latin typeface="Helvetica Neue"/>
              </a:rPr>
              <a:t>A second agent helps only if it adds information</a:t>
            </a:r>
          </a:p>
          <a:p>
            <a:pPr algn="l">
              <a:lnSpc>
                <a:spcPct val="100000"/>
              </a:lnSpc>
              <a:spcBef>
                <a:spcPts val="1050"/>
              </a:spcBef>
            </a:pPr>
            <a:r>
              <a:rPr sz="1500" i="0" b="0">
                <a:solidFill>
                  <a:srgbClr val="CBD5E1"/>
                </a:solidFill>
                <a:latin typeface="Helvetica Neue"/>
              </a:rPr>
              <a:t>Mechanical failures come from the wiring</a:t>
            </a:r>
          </a:p>
          <a:p>
            <a:pPr algn="l">
              <a:lnSpc>
                <a:spcPct val="100000"/>
              </a:lnSpc>
              <a:spcBef>
                <a:spcPts val="1050"/>
              </a:spcBef>
            </a:pPr>
            <a:r>
              <a:rPr sz="1500" i="0" b="0">
                <a:solidFill>
                  <a:srgbClr val="CBD5E1"/>
                </a:solidFill>
                <a:latin typeface="Helvetica Neue"/>
              </a:rPr>
              <a:t>Bounds belong in the wiring</a:t>
            </a:r>
          </a:p>
          <a:p>
            <a:pPr algn="l">
              <a:lnSpc>
                <a:spcPct val="100000"/>
              </a:lnSpc>
              <a:spcBef>
                <a:spcPts val="1050"/>
              </a:spcBef>
            </a:pPr>
            <a:r>
              <a:rPr sz="1500" i="0" b="0">
                <a:solidFill>
                  <a:srgbClr val="CBD5E1"/>
                </a:solidFill>
                <a:latin typeface="Helvetica Neue"/>
              </a:rPr>
              <a:t>Swarms fail in ways single agents don't</a:t>
            </a:r>
          </a:p>
          <a:p>
            <a:pPr algn="l">
              <a:lnSpc>
                <a:spcPct val="100000"/>
              </a:lnSpc>
              <a:spcBef>
                <a:spcPts val="1050"/>
              </a:spcBef>
            </a:pPr>
            <a:r>
              <a:rPr sz="1500" i="0" b="0">
                <a:solidFill>
                  <a:srgbClr val="CBD5E1"/>
                </a:solidFill>
                <a:latin typeface="Helvetica Neue"/>
              </a:rPr>
              <a:t>Coupled loops drift together, so keep an anchor</a:t>
            </a:r>
          </a:p>
          <a:p>
            <a:pPr algn="l">
              <a:lnSpc>
                <a:spcPct val="100000"/>
              </a:lnSpc>
              <a:spcBef>
                <a:spcPts val="1050"/>
              </a:spcBef>
            </a:pPr>
            <a:r>
              <a:rPr sz="1500" i="0" b="0">
                <a:solidFill>
                  <a:srgbClr val="CBD5E1"/>
                </a:solidFill>
                <a:latin typeface="Helvetica Neue"/>
              </a:rPr>
              <a:t>Operate the graph, don't just demo it</a:t>
            </a:r>
          </a:p>
          <a:p>
            <a:pPr algn="l">
              <a:lnSpc>
                <a:spcPct val="100000"/>
              </a:lnSpc>
              <a:spcBef>
                <a:spcPts val="1050"/>
              </a:spcBef>
            </a:pPr>
            <a:r>
              <a:rPr sz="1500" i="0" b="0">
                <a:solidFill>
                  <a:srgbClr val="CBD5E1"/>
                </a:solidFill>
                <a:latin typeface="Helvetica Neue"/>
              </a:rPr>
              <a:t>n8n's workflow builder: every loop has a bound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Fifty nodes ran and one broke production. Which?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notes/08-governance-and-production.md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Graphs spread cost and decisions across many nodes, so every model and tool call has to carry its node's identity.</a:t>
            </a:r>
          </a:p>
        </p:txBody>
      </p:sp>
      <p:sp>
        <p:nvSpPr>
          <p:cNvPr id="13" name="Rectangle 12"/>
          <p:cNvSpPr/>
          <p:nvPr/>
        </p:nvSpPr>
        <p:spPr>
          <a:xfrm>
            <a:off x="777240" y="1997964"/>
            <a:ext cx="109728" cy="25054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graph run can spawn fifty nodes, each calling models and tools. Without attribution you can't say which one spent the money or made the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Five topologies recur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catalogue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notes/05-topology-patterns.md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Five shapes cover most graphs, and each has a named failure, so choosing a shape also chooses what to watch.</a:t>
            </a:r>
          </a:p>
        </p:txBody>
      </p:sp>
      <p:graphicFrame>
        <p:nvGraphicFramePr>
          <p:cNvPr id="13" name="Table 12"/>
          <p:cNvGraphicFramePr>
            <a:graphicFrameLocks noGrp="1"/>
          </p:cNvGraphicFramePr>
          <p:nvPr/>
        </p:nvGraphicFramePr>
        <p:xfrm>
          <a:off x="502920" y="1472184"/>
          <a:ext cx="11185852" cy="3727704"/>
        </p:xfrm>
        <a:graphic>
          <a:graphicData uri="http://schemas.openxmlformats.org/drawingml/2006/table">
            <a:tbl>
              <a:tblPr firstRow="1" bandRow="1">
                <a:tableStyleId>{5940675A-B579-460E-94D1-54222C63F5DA}</a:tableStyleId>
              </a:tblPr>
              <a:tblGrid>
                <a:gridCol w="2033791"/>
                <a:gridCol w="3050687"/>
                <a:gridCol w="3050687"/>
                <a:gridCol w="3050687"/>
              </a:tblGrid>
              <a:tr h="405384">
                <a:tc>
                  <a:txBody>
                    <a:bodyPr wrap="square"/>
                    <a:lstStyle/>
                    <a:p>
                      <a:pPr>
                        <a:lnSpc>
                          <a:spcPct val="100000"/>
                        </a:lnSpc>
                      </a:pPr>
                      <a:r>
                        <a:rPr sz="1700" i="0" b="1">
                          <a:solidFill>
                            <a:srgbClr val="FFFFFF"/>
                          </a:solidFill>
                          <a:latin typeface="Helvetica Neue"/>
                        </a:rPr>
                        <a:t>Pattern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Shape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Use when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Fails by</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Generate-then-verify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produce, check, back-edge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Produce and check split cleanly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Checker sees producer's reasoning</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Supervisor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router, specialists, router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Work arrives in several kinds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Mis-routing, bottleneck</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Fan-out and fan-in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split, N workers, merge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Many independent items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Missing reducer, correlated errors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Hierarchical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subgraph as one node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Reused or team-owned sub-topology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Failures hidden inside</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Handoff</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status key read by an edge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Agents shouldn't know each other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Status values drift</a:t>
                      </a:r>
                    </a:p>
                  </a:txBody>
                  <a:tcPr marL="109728" marR="109728" marT="54864" marB="54864"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Should the agents share a context?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A design dimension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notes/05-topology-patterns.md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Isolate contexts if the cumulative trajectory would pass about half the window; share if no information can be lost.</a:t>
            </a:r>
          </a:p>
        </p:txBody>
      </p:sp>
      <p:sp>
        <p:nvSpPr>
          <p:cNvPr id="13" name="Rectangle 12"/>
          <p:cNvSpPr/>
          <p:nvPr/>
        </p:nvSpPr>
        <p:spPr>
          <a:xfrm>
            <a:off x="823464" y="1417320"/>
            <a:ext cx="5511131"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ai-agents-in-depth-fig10-1-4090164658217113067-4208216384343912543.jpg"/>
          <p:cNvPicPr>
            <a:picLocks noChangeAspect="1"/>
          </p:cNvPicPr>
          <p:nvPr/>
        </p:nvPicPr>
        <p:blipFill>
          <a:blip r:embed="rId2"/>
          <a:stretch>
            <a:fillRect/>
          </a:stretch>
        </p:blipFill>
        <p:spPr>
          <a:xfrm>
            <a:off x="878328" y="1472184"/>
            <a:ext cx="5401403" cy="3602735"/>
          </a:xfrm>
          <a:prstGeom prst="rect">
            <a:avLst/>
          </a:prstGeom>
        </p:spPr>
      </p:pic>
      <p:sp>
        <p:nvSpPr>
          <p:cNvPr id="15" name="TextBox 14"/>
          <p:cNvSpPr txBox="1"/>
          <p:nvPr/>
        </p:nvSpPr>
        <p:spPr>
          <a:xfrm>
            <a:off x="502920" y="521207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ch. 10, Fig. 10-1 (Apache-2.0)</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Shared:</a:t>
            </a:r>
            <a:r>
              <a:rPr sz="1800" i="0" b="0">
                <a:solidFill>
                  <a:srgbClr val="1E293B"/>
                </a:solidFill>
                <a:latin typeface="Helvetica Neue"/>
              </a:rPr>
              <a:t> one trajectory, like threads; nothing lost, everything accumulates</a:t>
            </a:r>
          </a:p>
        </p:txBody>
      </p:sp>
      <p:sp>
        <p:nvSpPr>
          <p:cNvPr id="18" name="Rectangle 17"/>
          <p:cNvSpPr/>
          <p:nvPr/>
        </p:nvSpPr>
        <p:spPr>
          <a:xfrm>
            <a:off x="7020900" y="260146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514600"/>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Isolated:</a:t>
            </a:r>
            <a:r>
              <a:rPr sz="1800" i="0" b="0">
                <a:solidFill>
                  <a:srgbClr val="1E293B"/>
                </a:solidFill>
                <a:latin typeface="Helvetica Neue"/>
              </a:rPr>
              <a:t> own window, like processes; only what is passed</a:t>
            </a:r>
          </a:p>
        </p:txBody>
      </p:sp>
      <p:sp>
        <p:nvSpPr>
          <p:cNvPr id="20" name="Rectangle 19"/>
          <p:cNvSpPr/>
          <p:nvPr/>
        </p:nvSpPr>
        <p:spPr>
          <a:xfrm>
            <a:off x="7020900" y="334213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25526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Isolation keeps a verifier independent</a:t>
            </a:r>
          </a:p>
        </p:txBody>
      </p:sp>
      <p:sp>
        <p:nvSpPr>
          <p:cNvPr id="22" name="Rectangle 21"/>
          <p:cNvSpPr/>
          <p:nvPr/>
        </p:nvSpPr>
        <p:spPr>
          <a:xfrm>
            <a:off x="7020900" y="408279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Pass file paths, </a:t>
            </a:r>
            <a:r>
              <a:rPr sz="1800" i="0" b="1">
                <a:solidFill>
                  <a:srgbClr val="1E293B"/>
                </a:solidFill>
                <a:latin typeface="Helvetica Neue"/>
              </a:rPr>
              <a:t>not file contents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A second agent helps only if it adds information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A harder test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notes/05-topology-patterns.md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reviewer that only rereads text is the same model a second time; it earns a node when it can run something.</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Same information</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Self-review with no tools is often neutral or harmful</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946404"/>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Debate among copies: a single agent was best or tied above 100 thinking tokens (Tran &amp; Kiela)</a:t>
            </a:r>
          </a:p>
        </p:txBody>
      </p:sp>
      <p:sp>
        <p:nvSpPr>
          <p:cNvPr id="20" name="Rectangle 19"/>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Recombining adds nothing</a:t>
            </a:r>
          </a:p>
        </p:txBody>
      </p:sp>
      <p:sp>
        <p:nvSpPr>
          <p:cNvPr id="22" name="Rectangle 21"/>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New information</a:t>
            </a:r>
          </a:p>
        </p:txBody>
      </p:sp>
      <p:sp>
        <p:nvSpPr>
          <p:cNvPr id="25" name="Rectangle 24"/>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Execution, tool or visual feedback</a:t>
            </a:r>
          </a:p>
        </p:txBody>
      </p:sp>
      <p:sp>
        <p:nvSpPr>
          <p:cNvPr id="27" name="Rectangle 26"/>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WebGen-Agent screenshots took Claude 3.5 Sonnet from </a:t>
            </a:r>
            <a:r>
              <a:rPr sz="1700" i="0" b="1">
                <a:solidFill>
                  <a:srgbClr val="1E293B"/>
                </a:solidFill>
                <a:latin typeface="Helvetica Neue"/>
              </a:rPr>
              <a:t>26.4% to 51.9%</a:t>
            </a:r>
          </a:p>
        </p:txBody>
      </p:sp>
      <p:sp>
        <p:nvSpPr>
          <p:cNvPr id="29" name="Rectangle 28"/>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34518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reviewer earns its node when it can </a:t>
            </a:r>
            <a:r>
              <a:rPr sz="1700" i="0" b="1">
                <a:solidFill>
                  <a:srgbClr val="1E293B"/>
                </a:solidFill>
                <a:latin typeface="Helvetica Neue"/>
              </a:rPr>
              <a:t>run something</a:t>
            </a:r>
          </a:p>
        </p:txBody>
      </p:sp>
      <p:sp>
        <p:nvSpPr>
          <p:cNvPr id="31" name="Rectangle 30"/>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Tests, browser, search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Mechanical failures come from the wiring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What breaks first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notes/07-failure-modes-at-scale.md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Wiring failures such as cycles, deadlocks and races have mechanical detectors and fixes, if you let the framework report them.</a:t>
            </a:r>
          </a:p>
        </p:txBody>
      </p:sp>
      <p:graphicFrame>
        <p:nvGraphicFramePr>
          <p:cNvPr id="13" name="Table 12"/>
          <p:cNvGraphicFramePr>
            <a:graphicFrameLocks noGrp="1"/>
          </p:cNvGraphicFramePr>
          <p:nvPr/>
        </p:nvGraphicFramePr>
        <p:xfrm>
          <a:off x="502920" y="1472184"/>
          <a:ext cx="11185855" cy="3874008"/>
        </p:xfrm>
        <a:graphic>
          <a:graphicData uri="http://schemas.openxmlformats.org/drawingml/2006/table">
            <a:tbl>
              <a:tblPr firstRow="1" bandRow="1">
                <a:tableStyleId>{5940675A-B579-460E-94D1-54222C63F5DA}</a:tableStyleId>
              </a:tblPr>
              <a:tblGrid>
                <a:gridCol w="2237171"/>
                <a:gridCol w="4474342"/>
                <a:gridCol w="4474342"/>
              </a:tblGrid>
              <a:tr h="405384">
                <a:tc>
                  <a:txBody>
                    <a:bodyPr wrap="square"/>
                    <a:lstStyle/>
                    <a:p>
                      <a:pPr>
                        <a:lnSpc>
                          <a:spcPct val="100000"/>
                        </a:lnSpc>
                      </a:pPr>
                      <a:r>
                        <a:rPr sz="1700" i="0" b="1">
                          <a:solidFill>
                            <a:srgbClr val="FFFFFF"/>
                          </a:solidFill>
                          <a:latin typeface="Helvetica Neue"/>
                        </a:rPr>
                        <a:t>Failure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Detect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Fix</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Infinite cycle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GraphRecursionError</a:t>
                      </a:r>
                      <a:r>
                        <a:rPr sz="1700" i="0" b="0">
                          <a:solidFill>
                            <a:srgbClr val="475569"/>
                          </a:solidFill>
                          <a:latin typeface="Helvetica Neue"/>
                        </a:rPr>
                        <a:t> (</a:t>
                      </a:r>
                      <a:r>
                        <a:rPr sz="1530" i="0" b="0">
                          <a:solidFill>
                            <a:srgbClr val="0F7490"/>
                          </a:solidFill>
                          <a:latin typeface="Menlo"/>
                        </a:rPr>
                        <a:t>recursion_limit</a:t>
                      </a:r>
                      <a:r>
                        <a:rPr sz="1700" i="0" b="0">
                          <a:solidFill>
                            <a:srgbClr val="475569"/>
                          </a:solidFill>
                          <a:latin typeface="Helvetica Neue"/>
                        </a:rPr>
                        <a:t>, default </a:t>
                      </a:r>
                      <a:r>
                        <a:rPr sz="1700" i="0" b="1">
                          <a:solidFill>
                            <a:srgbClr val="1E293B"/>
                          </a:solidFill>
                          <a:latin typeface="Helvetica Neue"/>
                        </a:rPr>
                        <a:t>25</a:t>
                      </a:r>
                      <a:r>
                        <a:rPr sz="1700" i="0" b="0">
                          <a:solidFill>
                            <a:srgbClr val="475569"/>
                          </a:solidFill>
                          <a:latin typeface="Helvetica Neue"/>
                        </a:rPr>
                        <a: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Attempt counter in state, bound per node</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Deadlock</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Run idle at a join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Explicit join inputs; error nodes still write the key</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Race on shared state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InvalidUpdateError</a:t>
                      </a:r>
                      <a:r>
                        <a:rPr sz="1700" i="0" b="0">
                          <a:solidFill>
                            <a:srgbClr val="475569"/>
                          </a:solidFill>
                          <a:latin typeface="Helvetica Neue"/>
                        </a:rPr>
                        <a:t>, or silent loss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reducer or one writer per key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Unbounded fan-out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Token spend spikes, rate limits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Cap N; budget per run and per node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Mis-routing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Route distribution in traces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Test the router as a classifier</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File-space collision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Diffs match no single worker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One worktree per worker</a:t>
                      </a:r>
                    </a:p>
                  </a:txBody>
                  <a:tcPr marL="109728" marR="109728" marT="54864" marB="54864" anchor="ctr">
                    <a:solidFill>
                      <a:srgbClr val="F8FAFC"/>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Bounds belong in the wiring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notes/07-failure-modes-at-scale.md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Before running unattended, give every back-edge a counter, every Send a cap, and recursion_limit a chosen value.</a:t>
            </a:r>
          </a:p>
        </p:txBody>
      </p:sp>
      <p:sp>
        <p:nvSpPr>
          <p:cNvPr id="13" name="Rounded Rectangle 12"/>
          <p:cNvSpPr/>
          <p:nvPr/>
        </p:nvSpPr>
        <p:spPr>
          <a:xfrm>
            <a:off x="502920" y="1472184"/>
            <a:ext cx="6711513" cy="3855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215640"/>
          </a:xfrm>
          <a:prstGeom prst="rect">
            <a:avLst/>
          </a:prstGeom>
          <a:noFill/>
        </p:spPr>
        <p:txBody>
          <a:bodyPr wrap="square" lIns="0" rIns="0" tIns="0" bIns="0" anchor="t">
            <a:noAutofit/>
          </a:bodyPr>
          <a:lstStyle/>
          <a:p>
            <a:pPr algn="l">
              <a:lnSpc>
                <a:spcPct val="100000"/>
              </a:lnSpc>
            </a:pPr>
            <a:r>
              <a:rPr sz="1300" i="0" b="0">
                <a:solidFill>
                  <a:srgbClr val="E2E8F0"/>
                </a:solidFill>
                <a:latin typeface="Menlo"/>
              </a:rPr>
              <a:t># sketch: three bounds on the review graph</a:t>
            </a:r>
          </a:p>
          <a:p>
            <a:pPr algn="l">
              <a:lnSpc>
                <a:spcPct val="100000"/>
              </a:lnSpc>
            </a:pPr>
            <a:r>
              <a:rPr sz="1300" i="0" b="0">
                <a:solidFill>
                  <a:srgbClr val="E2E8F0"/>
                </a:solidFill>
                <a:latin typeface="Menlo"/>
              </a:rPr>
              <a:t>MAX_ATTEMPTS, MAX_FILES = 3, 20</a:t>
            </a:r>
          </a:p>
          <a:p>
            <a:pPr algn="l">
              <a:lnSpc>
                <a:spcPct val="100000"/>
              </a:lnSpc>
            </a:pPr>
          </a:p>
          <a:p>
            <a:pPr algn="l">
              <a:lnSpc>
                <a:spcPct val="100000"/>
              </a:lnSpc>
            </a:pPr>
            <a:r>
              <a:rPr sz="1300" i="0" b="0">
                <a:solidFill>
                  <a:srgbClr val="E2E8F0"/>
                </a:solidFill>
                <a:latin typeface="Menlo"/>
              </a:rPr>
              <a:t>def route_after_verify(state) -&gt; str:</a:t>
            </a:r>
          </a:p>
          <a:p>
            <a:pPr algn="l">
              <a:lnSpc>
                <a:spcPct val="100000"/>
              </a:lnSpc>
            </a:pPr>
            <a:r>
              <a:rPr sz="1300" i="0" b="0">
                <a:solidFill>
                  <a:srgbClr val="E2E8F0"/>
                </a:solidFill>
                <a:latin typeface="Menlo"/>
              </a:rPr>
              <a:t>    if state["passed"]:</a:t>
            </a:r>
          </a:p>
          <a:p>
            <a:pPr algn="l">
              <a:lnSpc>
                <a:spcPct val="100000"/>
              </a:lnSpc>
            </a:pPr>
            <a:r>
              <a:rPr sz="1300" i="0" b="0">
                <a:solidFill>
                  <a:srgbClr val="E2E8F0"/>
                </a:solidFill>
                <a:latin typeface="Menlo"/>
              </a:rPr>
              <a:t>        return "publish"</a:t>
            </a:r>
          </a:p>
          <a:p>
            <a:pPr algn="l">
              <a:lnSpc>
                <a:spcPct val="100000"/>
              </a:lnSpc>
            </a:pPr>
            <a:r>
              <a:rPr sz="1300" i="0" b="0">
                <a:solidFill>
                  <a:srgbClr val="E2E8F0"/>
                </a:solidFill>
                <a:latin typeface="Menlo"/>
              </a:rPr>
              <a:t>    if state["attempts"] &gt;= MAX_ATTEMPTS:</a:t>
            </a:r>
          </a:p>
          <a:p>
            <a:pPr algn="l">
              <a:lnSpc>
                <a:spcPct val="100000"/>
              </a:lnSpc>
            </a:pPr>
            <a:r>
              <a:rPr sz="1300" i="0" b="0">
                <a:solidFill>
                  <a:srgbClr val="E2E8F0"/>
                </a:solidFill>
                <a:latin typeface="Menlo"/>
              </a:rPr>
              <a:t>        return "escalate"</a:t>
            </a:r>
          </a:p>
          <a:p>
            <a:pPr algn="l">
              <a:lnSpc>
                <a:spcPct val="100000"/>
              </a:lnSpc>
            </a:pPr>
            <a:r>
              <a:rPr sz="1300" i="0" b="0">
                <a:solidFill>
                  <a:srgbClr val="E2E8F0"/>
                </a:solidFill>
                <a:latin typeface="Menlo"/>
              </a:rPr>
              <a:t>    return "generate"</a:t>
            </a:r>
          </a:p>
          <a:p>
            <a:pPr algn="l">
              <a:lnSpc>
                <a:spcPct val="100000"/>
              </a:lnSpc>
            </a:pPr>
          </a:p>
          <a:p>
            <a:pPr algn="l">
              <a:lnSpc>
                <a:spcPct val="100000"/>
              </a:lnSpc>
            </a:pPr>
            <a:r>
              <a:rPr sz="1300" i="0" b="0">
                <a:solidFill>
                  <a:srgbClr val="E2E8F0"/>
                </a:solidFill>
                <a:latin typeface="Menlo"/>
              </a:rPr>
              <a:t>def fan_out(state) -&gt; list[Send]:</a:t>
            </a:r>
          </a:p>
          <a:p>
            <a:pPr algn="l">
              <a:lnSpc>
                <a:spcPct val="100000"/>
              </a:lnSpc>
            </a:pPr>
            <a:r>
              <a:rPr sz="1300" i="0" b="0">
                <a:solidFill>
                  <a:srgbClr val="E2E8F0"/>
                </a:solidFill>
                <a:latin typeface="Menlo"/>
              </a:rPr>
              <a:t>    files = state["changed_files"][:MAX_FILES]</a:t>
            </a:r>
          </a:p>
          <a:p>
            <a:pPr algn="l">
              <a:lnSpc>
                <a:spcPct val="100000"/>
              </a:lnSpc>
            </a:pPr>
            <a:r>
              <a:rPr sz="1300" i="0" b="0">
                <a:solidFill>
                  <a:srgbClr val="E2E8F0"/>
                </a:solidFill>
                <a:latin typeface="Menlo"/>
              </a:rPr>
              <a:t>    return [Send("review_file", {"path": p})</a:t>
            </a:r>
          </a:p>
          <a:p>
            <a:pPr algn="l">
              <a:lnSpc>
                <a:spcPct val="100000"/>
              </a:lnSpc>
            </a:pPr>
            <a:r>
              <a:rPr sz="1300" i="0" b="0">
                <a:solidFill>
                  <a:srgbClr val="E2E8F0"/>
                </a:solidFill>
                <a:latin typeface="Menlo"/>
              </a:rPr>
              <a:t>            for p in files]</a:t>
            </a:r>
          </a:p>
          <a:p>
            <a:pPr algn="l">
              <a:lnSpc>
                <a:spcPct val="100000"/>
              </a:lnSpc>
            </a:pPr>
          </a:p>
          <a:p>
            <a:pPr algn="l">
              <a:lnSpc>
                <a:spcPct val="100000"/>
              </a:lnSpc>
            </a:pPr>
            <a:r>
              <a:rPr sz="1300" i="0" b="0">
                <a:solidFill>
                  <a:srgbClr val="E2E8F0"/>
                </a:solidFill>
                <a:latin typeface="Menlo"/>
              </a:rPr>
              <a:t>graph.invoke(inputs, {"recursion_limit": 40})</a:t>
            </a:r>
          </a:p>
        </p:txBody>
      </p:sp>
      <p:sp>
        <p:nvSpPr>
          <p:cNvPr id="16" name="Rectangle 15"/>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Every back-edge has a counter</a:t>
            </a:r>
          </a:p>
        </p:txBody>
      </p:sp>
      <p:sp>
        <p:nvSpPr>
          <p:cNvPr id="18" name="Rectangle 17"/>
          <p:cNvSpPr/>
          <p:nvPr/>
        </p:nvSpPr>
        <p:spPr>
          <a:xfrm>
            <a:off x="7580193" y="204368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Every </a:t>
            </a:r>
            <a:r>
              <a:rPr sz="1620" i="0" b="0">
                <a:solidFill>
                  <a:srgbClr val="0F7490"/>
                </a:solidFill>
                <a:latin typeface="Menlo"/>
              </a:rPr>
              <a:t>Send</a:t>
            </a:r>
            <a:r>
              <a:rPr sz="1800" i="0" b="0">
                <a:solidFill>
                  <a:srgbClr val="1E293B"/>
                </a:solidFill>
                <a:latin typeface="Helvetica Neue"/>
              </a:rPr>
              <a:t> has a cap on N</a:t>
            </a:r>
          </a:p>
        </p:txBody>
      </p:sp>
      <p:sp>
        <p:nvSpPr>
          <p:cNvPr id="20" name="Rectangle 19"/>
          <p:cNvSpPr/>
          <p:nvPr/>
        </p:nvSpPr>
        <p:spPr>
          <a:xfrm>
            <a:off x="7580193" y="248259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395728"/>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recursion_limit</a:t>
            </a:r>
            <a:r>
              <a:rPr sz="1800" i="0" b="0">
                <a:solidFill>
                  <a:srgbClr val="1E293B"/>
                </a:solidFill>
                <a:latin typeface="Helvetica Neue"/>
              </a:rPr>
              <a:t> is set deliberately</a:t>
            </a:r>
          </a:p>
        </p:txBody>
      </p:sp>
      <p:sp>
        <p:nvSpPr>
          <p:cNvPr id="22" name="Rectangle 21"/>
          <p:cNvSpPr/>
          <p:nvPr/>
        </p:nvSpPr>
        <p:spPr>
          <a:xfrm>
            <a:off x="7580193" y="322326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13639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limits here are illustrative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Swarms fail in ways single agents don't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What breaks at scale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notes/07-failure-modes-at-scale.md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Most multi-agent failures are structural, so fix topology and verification before you reword prompts.</a:t>
            </a:r>
          </a:p>
        </p:txBody>
      </p:sp>
      <p:sp>
        <p:nvSpPr>
          <p:cNvPr id="13" name="Rectangle 12"/>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Correlated errors</a:t>
            </a:r>
          </a:p>
        </p:txBody>
      </p:sp>
      <p:sp>
        <p:nvSpPr>
          <p:cNvPr id="16" name="TextBox 15"/>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Shared model, prompt and index, so N agreeing workers are not N independent ones</a:t>
            </a:r>
          </a:p>
        </p:txBody>
      </p:sp>
      <p:sp>
        <p:nvSpPr>
          <p:cNvPr id="17" name="Rectangle 16"/>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Byzantine faults</a:t>
            </a:r>
          </a:p>
        </p:txBody>
      </p:sp>
      <p:sp>
        <p:nvSpPr>
          <p:cNvPr id="20" name="TextBox 19"/>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Agents fail by being confidently wrong; timeouts can't catch that</a:t>
            </a:r>
          </a:p>
        </p:txBody>
      </p:sp>
      <p:sp>
        <p:nvSpPr>
          <p:cNvPr id="21" name="Rectangle 20"/>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Semantic conflicts</a:t>
            </a:r>
          </a:p>
        </p:txBody>
      </p:sp>
      <p:sp>
        <p:nvSpPr>
          <p:cNvPr id="24" name="TextBox 23"/>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Both writes succeed and the result is still wrong; reducers don't help</a:t>
            </a:r>
          </a:p>
        </p:txBody>
      </p:sp>
      <p:sp>
        <p:nvSpPr>
          <p:cNvPr id="25" name="Rectangle 24"/>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Cascading amplification</a:t>
            </a:r>
          </a:p>
        </p:txBody>
      </p:sp>
      <p:sp>
        <p:nvSpPr>
          <p:cNvPr id="28" name="TextBox 27"/>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Merged unchecked, errors grew </a:t>
            </a:r>
            <a:r>
              <a:rPr sz="1600" i="0" b="1">
                <a:solidFill>
                  <a:srgbClr val="1E293B"/>
                </a:solidFill>
                <a:latin typeface="Helvetica Neue"/>
              </a:rPr>
              <a:t>17.2×</a:t>
            </a:r>
            <a:r>
              <a:rPr sz="1600" i="0" b="0">
                <a:solidFill>
                  <a:srgbClr val="475569"/>
                </a:solidFill>
                <a:latin typeface="Helvetica Neue"/>
              </a:rPr>
              <a:t>; an orchestrator held them to </a:t>
            </a:r>
            <a:r>
              <a:rPr sz="1600" i="0" b="1">
                <a:solidFill>
                  <a:srgbClr val="1E293B"/>
                </a:solidFill>
                <a:latin typeface="Helvetica Neue"/>
              </a:rPr>
              <a:t>4.4×</a:t>
            </a:r>
            <a:r>
              <a:rPr sz="1600" i="0" b="0">
                <a:solidFill>
                  <a:srgbClr val="475569"/>
                </a:solidFill>
                <a:latin typeface="Helvetica Neue"/>
              </a:rPr>
              <a:t> (Kim et al.)</a:t>
            </a:r>
          </a:p>
        </p:txBody>
      </p:sp>
      <p:sp>
        <p:nvSpPr>
          <p:cNvPr id="29" name="Rectangle 28"/>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2978" y="3616452"/>
            <a:ext cx="82296" cy="18699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MAST</a:t>
            </a:r>
          </a:p>
        </p:txBody>
      </p:sp>
      <p:sp>
        <p:nvSpPr>
          <p:cNvPr id="32" name="TextBox 31"/>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14</a:t>
            </a:r>
            <a:r>
              <a:rPr sz="1600" i="0" b="0">
                <a:solidFill>
                  <a:srgbClr val="475569"/>
                </a:solidFill>
                <a:latin typeface="Helvetica Neue"/>
              </a:rPr>
              <a:t> failure modes in three groups, κ = </a:t>
            </a:r>
            <a:r>
              <a:rPr sz="1600" i="0" b="1">
                <a:solidFill>
                  <a:srgbClr val="1E293B"/>
                </a:solidFill>
                <a:latin typeface="Helvetica Neue"/>
              </a:rPr>
              <a:t>0.88</a:t>
            </a:r>
          </a:p>
        </p:txBody>
      </p:sp>
      <p:sp>
        <p:nvSpPr>
          <p:cNvPr id="33" name="Rectangle 32"/>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43036" y="3616452"/>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Structure beats wording</a:t>
            </a:r>
          </a:p>
        </p:txBody>
      </p:sp>
      <p:sp>
        <p:nvSpPr>
          <p:cNvPr id="36" name="TextBox 35"/>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Better prompts and roles improved ChatDev by only </a:t>
            </a:r>
            <a:r>
              <a:rPr sz="1600" i="0" b="1">
                <a:solidFill>
                  <a:srgbClr val="1E293B"/>
                </a:solidFill>
                <a:latin typeface="Helvetica Neue"/>
              </a:rPr>
              <a:t>+15.6%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Coupled loops drift together, so keep an anchor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What breaks last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notes/07-failure-modes-at-scale.md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Without an anchor the graph can't edit, it stays perfectly self-consistent while drifting far from reality.</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Control failures</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Goodhart:</a:t>
            </a:r>
            <a:r>
              <a:rPr sz="1700" i="0" b="0">
                <a:solidFill>
                  <a:srgbClr val="1E293B"/>
                </a:solidFill>
                <a:latin typeface="Helvetica Neue"/>
              </a:rPr>
              <a:t> the metric detaches from its meaning</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Upward blindness:</a:t>
            </a:r>
            <a:r>
              <a:rPr sz="1700" i="0" b="0">
                <a:solidFill>
                  <a:srgbClr val="1E293B"/>
                </a:solidFill>
                <a:latin typeface="Helvetica Neue"/>
              </a:rPr>
              <a:t> a loop can't question its target</a:t>
            </a:r>
          </a:p>
        </p:txBody>
      </p:sp>
      <p:sp>
        <p:nvSpPr>
          <p:cNvPr id="20" name="Rectangle 19"/>
          <p:cNvSpPr/>
          <p:nvPr/>
        </p:nvSpPr>
        <p:spPr>
          <a:xfrm>
            <a:off x="731520" y="37122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630168"/>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Inter-loop conflict:</a:t>
            </a:r>
            <a:r>
              <a:rPr sz="1700" i="0" b="0">
                <a:solidFill>
                  <a:srgbClr val="1E293B"/>
                </a:solidFill>
                <a:latin typeface="Helvetica Neue"/>
              </a:rPr>
              <a:t> loops fight each other</a:t>
            </a:r>
          </a:p>
        </p:txBody>
      </p:sp>
      <p:sp>
        <p:nvSpPr>
          <p:cNvPr id="22" name="Rectangle 21"/>
          <p:cNvSpPr/>
          <p:nvPr/>
        </p:nvSpPr>
        <p:spPr>
          <a:xfrm>
            <a:off x="731520" y="441172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4329684"/>
            <a:ext cx="4587087" cy="376428"/>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Measurement decay:</a:t>
            </a:r>
            <a:r>
              <a:rPr sz="1700" i="0" b="0">
                <a:solidFill>
                  <a:srgbClr val="1E293B"/>
                </a:solidFill>
                <a:latin typeface="Helvetica Neue"/>
              </a:rPr>
              <a:t> the gauge gets tuned</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answer to each</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Paired metrics, with a counter-metric</a:t>
            </a:r>
          </a:p>
        </p:txBody>
      </p:sp>
      <p:sp>
        <p:nvSpPr>
          <p:cNvPr id="29" name="Rectangle 28"/>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Owned references, held by slower loops</a:t>
            </a:r>
          </a:p>
        </p:txBody>
      </p:sp>
      <p:sp>
        <p:nvSpPr>
          <p:cNvPr id="31" name="Rectangle 30"/>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Separated cadences, where fast loops escalate</a:t>
            </a:r>
          </a:p>
        </p:txBody>
      </p:sp>
      <p:sp>
        <p:nvSpPr>
          <p:cNvPr id="33" name="Rectangle 32"/>
          <p:cNvSpPr/>
          <p:nvPr/>
        </p:nvSpPr>
        <p:spPr>
          <a:xfrm>
            <a:off x="6507327" y="384175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7367" y="3759708"/>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Frozen nodes:</a:t>
            </a:r>
            <a:r>
              <a:rPr sz="1700" i="0" b="0">
                <a:solidFill>
                  <a:srgbClr val="1E293B"/>
                </a:solidFill>
                <a:latin typeface="Helvetica Neue"/>
              </a:rPr>
              <a:t> anchors the graph can't edit</a:t>
            </a:r>
          </a:p>
        </p:txBody>
      </p:sp>
      <p:sp>
        <p:nvSpPr>
          <p:cNvPr id="35" name="Rectangle 3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Held-out tests, banked revenue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Operate the graph, don't just demo 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Back to attribution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notes/08-governance-and-production.md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Carry graph, run and node IDs on every call, and budget per node, per run and per tenant.</a:t>
            </a:r>
          </a:p>
        </p:txBody>
      </p:sp>
      <p:sp>
        <p:nvSpPr>
          <p:cNvPr id="13" name="Rectangle 12"/>
          <p:cNvSpPr/>
          <p:nvPr/>
        </p:nvSpPr>
        <p:spPr>
          <a:xfrm>
            <a:off x="502920" y="1472184"/>
            <a:ext cx="3545738"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4014215"/>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Identity</a:t>
            </a:r>
          </a:p>
        </p:txBody>
      </p:sp>
      <p:sp>
        <p:nvSpPr>
          <p:cNvPr id="16" name="Rectangle 15"/>
          <p:cNvSpPr/>
          <p:nvPr/>
        </p:nvSpPr>
        <p:spPr>
          <a:xfrm>
            <a:off x="777240" y="2184400"/>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087880"/>
            <a:ext cx="2722778" cy="76200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graph_id</a:t>
            </a:r>
            <a:r>
              <a:rPr sz="2000" i="0" b="0">
                <a:solidFill>
                  <a:srgbClr val="1E293B"/>
                </a:solidFill>
                <a:latin typeface="Helvetica Neue"/>
              </a:rPr>
              <a:t>: topology and version</a:t>
            </a:r>
          </a:p>
        </p:txBody>
      </p:sp>
      <p:sp>
        <p:nvSpPr>
          <p:cNvPr id="18" name="Rectangle 17"/>
          <p:cNvSpPr/>
          <p:nvPr/>
        </p:nvSpPr>
        <p:spPr>
          <a:xfrm>
            <a:off x="777240" y="3007360"/>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2910840"/>
            <a:ext cx="2722778" cy="76200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run_id</a:t>
            </a:r>
            <a:r>
              <a:rPr sz="2000" i="0" b="0">
                <a:solidFill>
                  <a:srgbClr val="1E293B"/>
                </a:solidFill>
                <a:latin typeface="Helvetica Neue"/>
              </a:rPr>
              <a:t> / </a:t>
            </a:r>
            <a:r>
              <a:rPr sz="1800" i="0" b="0">
                <a:solidFill>
                  <a:srgbClr val="0F7490"/>
                </a:solidFill>
                <a:latin typeface="Menlo"/>
              </a:rPr>
              <a:t>thread_id</a:t>
            </a:r>
            <a:r>
              <a:rPr sz="2000" i="0" b="0">
                <a:solidFill>
                  <a:srgbClr val="1E293B"/>
                </a:solidFill>
                <a:latin typeface="Helvetica Neue"/>
              </a:rPr>
              <a:t>: one execution</a:t>
            </a:r>
          </a:p>
        </p:txBody>
      </p:sp>
      <p:sp>
        <p:nvSpPr>
          <p:cNvPr id="20" name="Rectangle 19"/>
          <p:cNvSpPr/>
          <p:nvPr/>
        </p:nvSpPr>
        <p:spPr>
          <a:xfrm>
            <a:off x="777240" y="3830320"/>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3733800"/>
            <a:ext cx="2722778" cy="76200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node_id</a:t>
            </a:r>
            <a:r>
              <a:rPr sz="2000" i="0" b="0">
                <a:solidFill>
                  <a:srgbClr val="1E293B"/>
                </a:solidFill>
                <a:latin typeface="Helvetica Neue"/>
              </a:rPr>
              <a:t>: cost and errors per node</a:t>
            </a:r>
          </a:p>
        </p:txBody>
      </p:sp>
      <p:sp>
        <p:nvSpPr>
          <p:cNvPr id="22" name="Rectangle 21"/>
          <p:cNvSpPr/>
          <p:nvPr/>
        </p:nvSpPr>
        <p:spPr>
          <a:xfrm>
            <a:off x="4322978" y="1472184"/>
            <a:ext cx="3545738"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22978" y="1472184"/>
            <a:ext cx="82296" cy="4014215"/>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Budgets</a:t>
            </a:r>
          </a:p>
        </p:txBody>
      </p:sp>
      <p:sp>
        <p:nvSpPr>
          <p:cNvPr id="25" name="Rectangle 24"/>
          <p:cNvSpPr/>
          <p:nvPr/>
        </p:nvSpPr>
        <p:spPr>
          <a:xfrm>
            <a:off x="4597298" y="2184400"/>
            <a:ext cx="106680" cy="106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17338" y="2087880"/>
            <a:ext cx="272277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Per node:</a:t>
            </a:r>
            <a:r>
              <a:rPr sz="2000" i="0" b="0">
                <a:solidFill>
                  <a:srgbClr val="1E293B"/>
                </a:solidFill>
                <a:latin typeface="Helvetica Neue"/>
              </a:rPr>
              <a:t> one node looping</a:t>
            </a:r>
          </a:p>
        </p:txBody>
      </p:sp>
      <p:sp>
        <p:nvSpPr>
          <p:cNvPr id="27" name="Rectangle 26"/>
          <p:cNvSpPr/>
          <p:nvPr/>
        </p:nvSpPr>
        <p:spPr>
          <a:xfrm>
            <a:off x="4597298" y="3007360"/>
            <a:ext cx="106680" cy="106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17338" y="2910840"/>
            <a:ext cx="272277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Per run:</a:t>
            </a:r>
            <a:r>
              <a:rPr sz="2000" i="0" b="0">
                <a:solidFill>
                  <a:srgbClr val="1E293B"/>
                </a:solidFill>
                <a:latin typeface="Helvetica Neue"/>
              </a:rPr>
              <a:t> a whole run going wrong</a:t>
            </a:r>
          </a:p>
        </p:txBody>
      </p:sp>
      <p:sp>
        <p:nvSpPr>
          <p:cNvPr id="29" name="Rectangle 28"/>
          <p:cNvSpPr/>
          <p:nvPr/>
        </p:nvSpPr>
        <p:spPr>
          <a:xfrm>
            <a:off x="4597298" y="3830320"/>
            <a:ext cx="106680" cy="106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17338" y="3733800"/>
            <a:ext cx="272277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Per tenant:</a:t>
            </a:r>
            <a:r>
              <a:rPr sz="2000" i="0" b="0">
                <a:solidFill>
                  <a:srgbClr val="1E293B"/>
                </a:solidFill>
                <a:latin typeface="Helvetica Neue"/>
              </a:rPr>
              <a:t> one customer draining the pool</a:t>
            </a:r>
          </a:p>
        </p:txBody>
      </p:sp>
      <p:sp>
        <p:nvSpPr>
          <p:cNvPr id="31" name="Rectangle 30"/>
          <p:cNvSpPr/>
          <p:nvPr/>
        </p:nvSpPr>
        <p:spPr>
          <a:xfrm>
            <a:off x="8143036" y="1472184"/>
            <a:ext cx="3545738"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43036" y="1472184"/>
            <a:ext cx="82296" cy="4014215"/>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Records</a:t>
            </a:r>
          </a:p>
        </p:txBody>
      </p:sp>
      <p:sp>
        <p:nvSpPr>
          <p:cNvPr id="34" name="Rectangle 33"/>
          <p:cNvSpPr/>
          <p:nvPr/>
        </p:nvSpPr>
        <p:spPr>
          <a:xfrm>
            <a:off x="8417356" y="2184400"/>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37396" y="2087880"/>
            <a:ext cx="2722778" cy="109728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The actual runtime graph, not the declared one</a:t>
            </a:r>
          </a:p>
        </p:txBody>
      </p:sp>
      <p:sp>
        <p:nvSpPr>
          <p:cNvPr id="36" name="Rectangle 35"/>
          <p:cNvSpPr/>
          <p:nvPr/>
        </p:nvSpPr>
        <p:spPr>
          <a:xfrm>
            <a:off x="8417356" y="3342640"/>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37396" y="3246120"/>
            <a:ext cx="2722778" cy="143256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Model calls through a named alias, so rollback is a config change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n8n's workflow builder: every loop has a bound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Case study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Running it in production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notes/08-governance-and-production.md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From a third-party teardown (Rathod), not n8n itself. Check the repository before relying on the constants.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n8n's reported design: per-node bounds, one gate after planning, and a 30K cap on the artifact under construction.</a:t>
            </a:r>
          </a:p>
        </p:txBody>
      </p:sp>
      <p:graphicFrame>
        <p:nvGraphicFramePr>
          <p:cNvPr id="14" name="Table 13"/>
          <p:cNvGraphicFramePr>
            <a:graphicFrameLocks noGrp="1"/>
          </p:cNvGraphicFramePr>
          <p:nvPr/>
        </p:nvGraphicFramePr>
        <p:xfrm>
          <a:off x="502920" y="2270760"/>
          <a:ext cx="11185854" cy="2837688"/>
        </p:xfrm>
        <a:graphic>
          <a:graphicData uri="http://schemas.openxmlformats.org/drawingml/2006/table">
            <a:tbl>
              <a:tblPr firstRow="1" bandRow="1">
                <a:tableStyleId>{5940675A-B579-460E-94D1-54222C63F5DA}</a:tableStyleId>
              </a:tblPr>
              <a:tblGrid>
                <a:gridCol w="2485745"/>
                <a:gridCol w="6214364"/>
                <a:gridCol w="2485745"/>
              </a:tblGrid>
              <a:tr h="405384">
                <a:tc>
                  <a:txBody>
                    <a:bodyPr wrap="square"/>
                    <a:lstStyle/>
                    <a:p>
                      <a:pPr>
                        <a:lnSpc>
                          <a:spcPct val="100000"/>
                        </a:lnSpc>
                      </a:pPr>
                      <a:r>
                        <a:rPr sz="1700" i="0" b="1">
                          <a:solidFill>
                            <a:srgbClr val="FFFFFF"/>
                          </a:solidFill>
                          <a:latin typeface="Helvetica Neue"/>
                        </a:rPr>
                        <a:t>Node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Role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Bound</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Supervisor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Routes each message to a subgraph</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Discovery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Explores the node registry</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50</a:t>
                      </a:r>
                      <a:r>
                        <a:rPr sz="1700" i="0" b="0">
                          <a:solidFill>
                            <a:srgbClr val="475569"/>
                          </a:solidFill>
                          <a:latin typeface="Helvetica Neue"/>
                        </a:rPr>
                        <a:t> iterations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Planner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Builds a plan, then </a:t>
                      </a:r>
                      <a:r>
                        <a:rPr sz="1700" i="0" b="1">
                          <a:solidFill>
                            <a:srgbClr val="1E293B"/>
                          </a:solidFill>
                          <a:latin typeface="Helvetica Neue"/>
                        </a:rPr>
                        <a:t>pauses for approval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Builder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Executes tool calls</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100</a:t>
                      </a:r>
                      <a:r>
                        <a:rPr sz="1700" i="0" b="0">
                          <a:solidFill>
                            <a:srgbClr val="475569"/>
                          </a:solidFill>
                          <a:latin typeface="Helvetica Neue"/>
                        </a:rPr>
                        <a:t> per session</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Responder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Renders the user-facing reply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Parameter Updater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Surgical edits to node parameters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8FAFC"/>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other kind of graph</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Knowledge graphs · Building one with LLMs · Retrieval and text-to-Cypher</a:t>
            </a:r>
          </a:p>
        </p:txBody>
      </p:sp>
      <p:cxnSp>
        <p:nvCxnSpPr>
          <p:cNvPr id="6" name="Connector 5"/>
          <p:cNvCxnSpPr/>
          <p:nvPr/>
        </p:nvCxnSpPr>
        <p:spPr>
          <a:xfrm>
            <a:off x="6446520" y="1325880"/>
            <a:ext cx="0" cy="42062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25880"/>
            <a:ext cx="4693615" cy="438912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The top vector hits didn't mention the entity</a:t>
            </a:r>
          </a:p>
          <a:p>
            <a:pPr algn="l">
              <a:lnSpc>
                <a:spcPct val="100000"/>
              </a:lnSpc>
              <a:spcBef>
                <a:spcPts val="1120"/>
              </a:spcBef>
            </a:pPr>
            <a:r>
              <a:rPr sz="1600" i="0" b="0">
                <a:solidFill>
                  <a:srgbClr val="CBD5E1"/>
                </a:solidFill>
                <a:latin typeface="Helvetica Neue"/>
              </a:rPr>
              <a:t>Two things are called "graph"</a:t>
            </a:r>
          </a:p>
          <a:p>
            <a:pPr algn="l">
              <a:lnSpc>
                <a:spcPct val="100000"/>
              </a:lnSpc>
              <a:spcBef>
                <a:spcPts val="1120"/>
              </a:spcBef>
            </a:pPr>
            <a:r>
              <a:rPr sz="1600" i="0" b="0">
                <a:solidFill>
                  <a:srgbClr val="CBD5E1"/>
                </a:solidFill>
                <a:latin typeface="Helvetica Neue"/>
              </a:rPr>
              <a:t>Entities, and relationships that carry facts</a:t>
            </a:r>
          </a:p>
          <a:p>
            <a:pPr algn="l">
              <a:lnSpc>
                <a:spcPct val="100000"/>
              </a:lnSpc>
              <a:spcBef>
                <a:spcPts val="1120"/>
              </a:spcBef>
            </a:pPr>
            <a:r>
              <a:rPr sz="1600" i="0" b="0">
                <a:solidFill>
                  <a:srgbClr val="CBD5E1"/>
                </a:solidFill>
                <a:latin typeface="Helvetica Neue"/>
              </a:rPr>
              <a:t>Cypher lets you draw the pattern you want</a:t>
            </a:r>
          </a:p>
          <a:p>
            <a:pPr algn="l">
              <a:lnSpc>
                <a:spcPct val="100000"/>
              </a:lnSpc>
              <a:spcBef>
                <a:spcPts val="1120"/>
              </a:spcBef>
            </a:pPr>
            <a:r>
              <a:rPr sz="1600" i="0" b="0">
                <a:solidFill>
                  <a:srgbClr val="CBD5E1"/>
                </a:solidFill>
                <a:latin typeface="Helvetica Neue"/>
              </a:rPr>
              <a:t>From text to a graph you can trust</a:t>
            </a:r>
          </a:p>
          <a:p>
            <a:pPr algn="l">
              <a:lnSpc>
                <a:spcPct val="100000"/>
              </a:lnSpc>
              <a:spcBef>
                <a:spcPts val="1120"/>
              </a:spcBef>
            </a:pPr>
            <a:r>
              <a:rPr sz="1600" i="0" b="0">
                <a:solidFill>
                  <a:srgbClr val="CBD5E1"/>
                </a:solidFill>
                <a:latin typeface="Helvetica Neue"/>
              </a:rPr>
              <a:t>Keep mentions, and never merge at extraction time</a:t>
            </a:r>
          </a:p>
          <a:p>
            <a:pPr algn="l">
              <a:lnSpc>
                <a:spcPct val="100000"/>
              </a:lnSpc>
              <a:spcBef>
                <a:spcPts val="1120"/>
              </a:spcBef>
            </a:pPr>
            <a:r>
              <a:rPr sz="1600" i="0" b="0">
                <a:solidFill>
                  <a:srgbClr val="CBD5E1"/>
                </a:solidFill>
                <a:latin typeface="Helvetica Neue"/>
              </a:rPr>
              <a:t>Extract, enhance, expand</a:t>
            </a:r>
          </a:p>
          <a:p>
            <a:pPr algn="l">
              <a:lnSpc>
                <a:spcPct val="100000"/>
              </a:lnSpc>
              <a:spcBef>
                <a:spcPts val="1120"/>
              </a:spcBef>
            </a:pPr>
            <a:r>
              <a:rPr sz="1600" i="0" b="0">
                <a:solidFill>
                  <a:srgbClr val="CBD5E1"/>
                </a:solidFill>
                <a:latin typeface="Helvetica Neue"/>
              </a:rPr>
              <a:t>What GraphRAG actually showed</a:t>
            </a:r>
          </a:p>
          <a:p>
            <a:pPr algn="l">
              <a:lnSpc>
                <a:spcPct val="100000"/>
              </a:lnSpc>
              <a:spcBef>
                <a:spcPts val="1120"/>
              </a:spcBef>
            </a:pPr>
            <a:r>
              <a:rPr sz="1600" i="0" b="0">
                <a:solidFill>
                  <a:srgbClr val="CBD5E1"/>
                </a:solidFill>
                <a:latin typeface="Helvetica Neue"/>
              </a:rPr>
              <a:t>Five ways to retrieve, tried in order</a:t>
            </a:r>
          </a:p>
          <a:p>
            <a:pPr algn="l">
              <a:lnSpc>
                <a:spcPct val="100000"/>
              </a:lnSpc>
              <a:spcBef>
                <a:spcPts val="1120"/>
              </a:spcBef>
            </a:pPr>
            <a:r>
              <a:rPr sz="1600" i="0" b="0">
                <a:solidFill>
                  <a:srgbClr val="CBD5E1"/>
                </a:solidFill>
                <a:latin typeface="Helvetica Neue"/>
              </a:rPr>
              <a:t>The QA agent is generate-then-verify again</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The top vector hits didn't mention the entity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notes/11-kg-rag-and-text-to-cypher.md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Embeddings encode overall meaning and don't guarantee a named entity is present, so high scores can miss the entity.</a:t>
            </a:r>
          </a:p>
        </p:txBody>
      </p:sp>
      <p:sp>
        <p:nvSpPr>
          <p:cNvPr id="13" name="Rectangle 12"/>
          <p:cNvSpPr/>
          <p:nvPr/>
        </p:nvSpPr>
        <p:spPr>
          <a:xfrm>
            <a:off x="777240" y="1997964"/>
            <a:ext cx="109728" cy="2962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"How is Lauritsen related to cyclotron research?" The top three chunks scored 0.906, 0.903 and 0.902. Only the first mentioned Lauritsen.</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KG &amp; LLMs in Action, ch. 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Two things are called "graph"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A warning about the word</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notes/01-graph-vs-loop.md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An agent graph is execution topology and a knowledge graph is a data structure; they share only a name until agents share memory.</a:t>
            </a:r>
          </a:p>
        </p:txBody>
      </p:sp>
      <p:graphicFrame>
        <p:nvGraphicFramePr>
          <p:cNvPr id="13" name="Table 12"/>
          <p:cNvGraphicFramePr>
            <a:graphicFrameLocks noGrp="1"/>
          </p:cNvGraphicFramePr>
          <p:nvPr/>
        </p:nvGraphicFramePr>
        <p:xfrm>
          <a:off x="502920" y="1472184"/>
          <a:ext cx="11185854" cy="2026920"/>
        </p:xfrm>
        <a:graphic>
          <a:graphicData uri="http://schemas.openxmlformats.org/drawingml/2006/table">
            <a:tbl>
              <a:tblPr firstRow="1" bandRow="1">
                <a:tableStyleId>{5940675A-B579-460E-94D1-54222C63F5DA}</a:tableStyleId>
              </a:tblPr>
              <a:tblGrid>
                <a:gridCol w="3728618"/>
                <a:gridCol w="3728618"/>
                <a:gridCol w="3728618"/>
              </a:tblGrid>
              <a:tr h="405384">
                <a:tc>
                  <a:txBody>
                    <a:bodyPr wrap="square"/>
                    <a:lstStyle/>
                    <a:p>
                      <a:pPr>
                        <a:lnSpc>
                          <a:spcPct val="100000"/>
                        </a:lnSpc>
                      </a:pP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Agent graph</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Knowledge graph</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Nodes are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Units of computation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Entities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Edges are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Permitted transitions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Typed relationships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The graph is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Execution topology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Data structure for retrieval</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Runtime concern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Routing, state, cost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Traversal, entity resolution</a:t>
                      </a:r>
                    </a:p>
                  </a:txBody>
                  <a:tcPr marL="109728" marR="109728" marT="54864" marB="54864" anchor="ctr">
                    <a:solidFill>
                      <a:srgbClr val="F8FAFC"/>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Entities, and relationships that carry facts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data model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notes/09-kg-fundamentals-and-cypher.md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graph whose edges are all RELATED_TO says that things connect but not how, so the edge type holds the knowledge.</a:t>
            </a:r>
          </a:p>
        </p:txBody>
      </p:sp>
      <p:sp>
        <p:nvSpPr>
          <p:cNvPr id="13" name="Rectangle 12"/>
          <p:cNvSpPr/>
          <p:nvPr/>
        </p:nvSpPr>
        <p:spPr>
          <a:xfrm>
            <a:off x="1030318" y="1417320"/>
            <a:ext cx="5097423"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kollegger-knowledge-graphs-for-rag-sec-graph-schema-2054565072574611712.jpg"/>
          <p:cNvPicPr>
            <a:picLocks noChangeAspect="1"/>
          </p:cNvPicPr>
          <p:nvPr/>
        </p:nvPicPr>
        <p:blipFill>
          <a:blip r:embed="rId2"/>
          <a:stretch>
            <a:fillRect/>
          </a:stretch>
        </p:blipFill>
        <p:spPr>
          <a:xfrm>
            <a:off x="1085182" y="1472184"/>
            <a:ext cx="4987695" cy="3602735"/>
          </a:xfrm>
          <a:prstGeom prst="rect">
            <a:avLst/>
          </a:prstGeom>
        </p:spPr>
      </p:pic>
      <p:sp>
        <p:nvSpPr>
          <p:cNvPr id="15" name="TextBox 14"/>
          <p:cNvSpPr txBox="1"/>
          <p:nvPr/>
        </p:nvSpPr>
        <p:spPr>
          <a:xfrm>
            <a:off x="502920" y="521207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Knowledge Graphs for RAG, DeepLearning.AI and Neo4j (Kollegger, 2024)</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Nodes</a:t>
            </a:r>
            <a:r>
              <a:rPr sz="1800" i="0" b="0">
                <a:solidFill>
                  <a:srgbClr val="1E293B"/>
                </a:solidFill>
                <a:latin typeface="Helvetica Neue"/>
              </a:rPr>
              <a:t> carry labels and properties</a:t>
            </a:r>
          </a:p>
        </p:txBody>
      </p:sp>
      <p:sp>
        <p:nvSpPr>
          <p:cNvPr id="18" name="Rectangle 17"/>
          <p:cNvSpPr/>
          <p:nvPr/>
        </p:nvSpPr>
        <p:spPr>
          <a:xfrm>
            <a:off x="7020900" y="199796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Relationships</a:t>
            </a:r>
            <a:r>
              <a:rPr sz="1800" i="0" b="0">
                <a:solidFill>
                  <a:srgbClr val="1E293B"/>
                </a:solidFill>
                <a:latin typeface="Helvetica Neue"/>
              </a:rPr>
              <a:t> are typed and directed, and carry properties: </a:t>
            </a:r>
            <a:r>
              <a:rPr sz="1620" i="0" b="0">
                <a:solidFill>
                  <a:srgbClr val="0F7490"/>
                </a:solidFill>
                <a:latin typeface="Menlo"/>
              </a:rPr>
              <a:t>value</a:t>
            </a:r>
            <a:r>
              <a:rPr sz="1800" i="0" b="0">
                <a:solidFill>
                  <a:srgbClr val="1E293B"/>
                </a:solidFill>
                <a:latin typeface="Helvetica Neue"/>
              </a:rPr>
              <a:t> sits on </a:t>
            </a:r>
            <a:r>
              <a:rPr sz="1620" i="0" b="0">
                <a:solidFill>
                  <a:srgbClr val="0F7490"/>
                </a:solidFill>
                <a:latin typeface="Menlo"/>
              </a:rPr>
              <a:t>OWNS_STOCK_IN</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LPG</a:t>
            </a:r>
            <a:r>
              <a:rPr sz="1800" i="0" b="0">
                <a:solidFill>
                  <a:srgbClr val="1E293B"/>
                </a:solidFill>
                <a:latin typeface="Helvetica Neue"/>
              </a:rPr>
              <a:t> (Neo4j): properties on edges, Cypher</a:t>
            </a:r>
          </a:p>
        </p:txBody>
      </p:sp>
      <p:sp>
        <p:nvSpPr>
          <p:cNvPr id="22" name="Rectangle 21"/>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RDF:</a:t>
            </a:r>
            <a:r>
              <a:rPr sz="1800" i="0" b="0">
                <a:solidFill>
                  <a:srgbClr val="1E293B"/>
                </a:solidFill>
                <a:latin typeface="Helvetica Neue"/>
              </a:rPr>
              <a:t> triples, SPARQL, ontologies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Cypher lets you draw the pattern you want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query language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notes/09-kg-fundamentals-and-cypher.md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Cypher draws graph patterns in ASCII, and MERGE with a uniqueness constraint makes data loads idempotent.</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CYPHER</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co-actors of a person</a:t>
            </a:r>
          </a:p>
          <a:p>
            <a:pPr algn="l">
              <a:lnSpc>
                <a:spcPct val="100000"/>
              </a:lnSpc>
            </a:pPr>
            <a:r>
              <a:rPr sz="1600" i="0" b="0">
                <a:solidFill>
                  <a:srgbClr val="E2E8F0"/>
                </a:solidFill>
                <a:latin typeface="Menlo"/>
              </a:rPr>
              <a:t>MATCH (p:Person {name: $name})</a:t>
            </a:r>
          </a:p>
          <a:p>
            <a:pPr algn="l">
              <a:lnSpc>
                <a:spcPct val="100000"/>
              </a:lnSpc>
            </a:pPr>
            <a:r>
              <a:rPr sz="1600" i="0" b="0">
                <a:solidFill>
                  <a:srgbClr val="E2E8F0"/>
                </a:solidFill>
                <a:latin typeface="Menlo"/>
              </a:rPr>
              <a:t>      -[:ACTED_IN]-&gt;(m:Movie)</a:t>
            </a:r>
          </a:p>
          <a:p>
            <a:pPr algn="l">
              <a:lnSpc>
                <a:spcPct val="100000"/>
              </a:lnSpc>
            </a:pPr>
            <a:r>
              <a:rPr sz="1600" i="0" b="0">
                <a:solidFill>
                  <a:srgbClr val="E2E8F0"/>
                </a:solidFill>
                <a:latin typeface="Menlo"/>
              </a:rPr>
              <a:t>      &lt;-[:ACTED_IN]-(co:Person)</a:t>
            </a:r>
          </a:p>
          <a:p>
            <a:pPr algn="l">
              <a:lnSpc>
                <a:spcPct val="100000"/>
              </a:lnSpc>
            </a:pPr>
            <a:r>
              <a:rPr sz="1600" i="0" b="0">
                <a:solidFill>
                  <a:srgbClr val="E2E8F0"/>
                </a:solidFill>
                <a:latin typeface="Menlo"/>
              </a:rPr>
              <a:t>RETURN co.name, collect(m.title) AS movies</a:t>
            </a:r>
          </a:p>
          <a:p>
            <a:pPr algn="l">
              <a:lnSpc>
                <a:spcPct val="100000"/>
              </a:lnSpc>
            </a:pPr>
          </a:p>
          <a:p>
            <a:pPr algn="l">
              <a:lnSpc>
                <a:spcPct val="100000"/>
              </a:lnSpc>
            </a:pPr>
            <a:r>
              <a:rPr sz="1600" i="0" b="0">
                <a:solidFill>
                  <a:srgbClr val="E2E8F0"/>
                </a:solidFill>
                <a:latin typeface="Menlo"/>
              </a:rPr>
              <a:t>// idempotent load: constraint + MERGE</a:t>
            </a:r>
          </a:p>
          <a:p>
            <a:pPr algn="l">
              <a:lnSpc>
                <a:spcPct val="100000"/>
              </a:lnSpc>
            </a:pPr>
            <a:r>
              <a:rPr sz="1600" i="0" b="0">
                <a:solidFill>
                  <a:srgbClr val="E2E8F0"/>
                </a:solidFill>
                <a:latin typeface="Menlo"/>
              </a:rPr>
              <a:t>CREATE CONSTRAINT unique_chunk IF NOT EXISTS</a:t>
            </a:r>
          </a:p>
          <a:p>
            <a:pPr algn="l">
              <a:lnSpc>
                <a:spcPct val="100000"/>
              </a:lnSpc>
            </a:pPr>
            <a:r>
              <a:rPr sz="1600" i="0" b="0">
                <a:solidFill>
                  <a:srgbClr val="E2E8F0"/>
                </a:solidFill>
                <a:latin typeface="Menlo"/>
              </a:rPr>
              <a:t>  FOR (c:Chunk) REQUIRE c.chunkId IS UNIQUE;</a:t>
            </a:r>
          </a:p>
          <a:p>
            <a:pPr algn="l">
              <a:lnSpc>
                <a:spcPct val="100000"/>
              </a:lnSpc>
            </a:pPr>
            <a:r>
              <a:rPr sz="1600" i="0" b="0">
                <a:solidFill>
                  <a:srgbClr val="E2E8F0"/>
                </a:solidFill>
                <a:latin typeface="Menlo"/>
              </a:rPr>
              <a:t>MERGE (c:Chunk {chunkId: $id})</a:t>
            </a:r>
          </a:p>
          <a:p>
            <a:pPr algn="l">
              <a:lnSpc>
                <a:spcPct val="100000"/>
              </a:lnSpc>
            </a:pPr>
            <a:r>
              <a:rPr sz="1600" i="0" b="0">
                <a:solidFill>
                  <a:srgbClr val="E2E8F0"/>
                </a:solidFill>
                <a:latin typeface="Menlo"/>
              </a:rPr>
              <a:t>  ON CREATE SET c.text = $text</a:t>
            </a:r>
          </a:p>
        </p:txBody>
      </p:sp>
      <p:sp>
        <p:nvSpPr>
          <p:cNvPr id="16" name="Rectangle 15"/>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a:t>
            </a:r>
            <a:r>
              <a:rPr sz="1800" i="0" b="0">
                <a:solidFill>
                  <a:srgbClr val="1E293B"/>
                </a:solidFill>
                <a:latin typeface="Helvetica Neue"/>
              </a:rPr>
              <a:t> nodes, </a:t>
            </a:r>
            <a:r>
              <a:rPr sz="1620" i="0" b="0">
                <a:solidFill>
                  <a:srgbClr val="0F7490"/>
                </a:solidFill>
                <a:latin typeface="Menlo"/>
              </a:rPr>
              <a:t>-[]-&gt;</a:t>
            </a:r>
            <a:r>
              <a:rPr sz="1800" i="0" b="0">
                <a:solidFill>
                  <a:srgbClr val="1E293B"/>
                </a:solidFill>
                <a:latin typeface="Helvetica Neue"/>
              </a:rPr>
              <a:t> relationships</a:t>
            </a:r>
          </a:p>
        </p:txBody>
      </p:sp>
      <p:sp>
        <p:nvSpPr>
          <p:cNvPr id="18" name="Rectangle 17"/>
          <p:cNvSpPr/>
          <p:nvPr/>
        </p:nvSpPr>
        <p:spPr>
          <a:xfrm>
            <a:off x="7580193" y="204368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MERGE</a:t>
            </a:r>
            <a:r>
              <a:rPr sz="1800" i="0" b="0">
                <a:solidFill>
                  <a:srgbClr val="1E293B"/>
                </a:solidFill>
                <a:latin typeface="Helvetica Neue"/>
              </a:rPr>
              <a:t> matches or creates</a:t>
            </a:r>
          </a:p>
        </p:txBody>
      </p:sp>
      <p:sp>
        <p:nvSpPr>
          <p:cNvPr id="20" name="Rectangle 19"/>
          <p:cNvSpPr/>
          <p:nvPr/>
        </p:nvSpPr>
        <p:spPr>
          <a:xfrm>
            <a:off x="7580193" y="248259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39572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uniqueness constraint makes reloads safe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From text to a graph you can trust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Building one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notes/10-building-kgs-with-llms.md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Errors compound per hop, so 85% per hop gives 44% over five, which makes entity resolution the load-bearing step.</a:t>
            </a:r>
          </a:p>
        </p:txBody>
      </p:sp>
      <p:sp>
        <p:nvSpPr>
          <p:cNvPr id="13" name="Rounded Rectangle 12"/>
          <p:cNvSpPr/>
          <p:nvPr/>
        </p:nvSpPr>
        <p:spPr>
          <a:xfrm>
            <a:off x="502920" y="1563624"/>
            <a:ext cx="1834835"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Chunk</a:t>
            </a:r>
          </a:p>
          <a:p>
            <a:pPr algn="ctr">
              <a:lnSpc>
                <a:spcPct val="110000"/>
              </a:lnSpc>
            </a:pPr>
            <a:r>
              <a:rPr sz="1300" i="0" b="0">
                <a:solidFill>
                  <a:srgbClr val="E8F4F8"/>
                </a:solidFill>
                <a:latin typeface="Helvetica Neue"/>
              </a:rPr>
              <a:t>keep doc, page, offset</a:t>
            </a:r>
          </a:p>
        </p:txBody>
      </p:sp>
      <p:cxnSp>
        <p:nvCxnSpPr>
          <p:cNvPr id="15" name="Connector 14"/>
          <p:cNvCxnSpPr/>
          <p:nvPr/>
        </p:nvCxnSpPr>
        <p:spPr>
          <a:xfrm>
            <a:off x="239261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40675" y="1563624"/>
            <a:ext cx="1834835"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783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Extract</a:t>
            </a:r>
          </a:p>
          <a:p>
            <a:pPr algn="ctr">
              <a:lnSpc>
                <a:spcPct val="110000"/>
              </a:lnSpc>
            </a:pPr>
            <a:r>
              <a:rPr sz="1300" i="0" b="0">
                <a:solidFill>
                  <a:srgbClr val="E8F4F8"/>
                </a:solidFill>
                <a:latin typeface="Helvetica Neue"/>
              </a:rPr>
              <a:t>small model gives mentions</a:t>
            </a:r>
          </a:p>
        </p:txBody>
      </p:sp>
      <p:cxnSp>
        <p:nvCxnSpPr>
          <p:cNvPr id="18" name="Connector 17"/>
          <p:cNvCxnSpPr/>
          <p:nvPr/>
        </p:nvCxnSpPr>
        <p:spPr>
          <a:xfrm>
            <a:off x="473037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78430" y="1563624"/>
            <a:ext cx="1834835"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559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Resolve</a:t>
            </a:r>
          </a:p>
          <a:p>
            <a:pPr algn="ctr">
              <a:lnSpc>
                <a:spcPct val="110000"/>
              </a:lnSpc>
            </a:pPr>
            <a:r>
              <a:rPr sz="1300" i="0" b="0">
                <a:solidFill>
                  <a:srgbClr val="E8F4F8"/>
                </a:solidFill>
                <a:latin typeface="Helvetica Neue"/>
              </a:rPr>
              <a:t>stronger model and graph signals</a:t>
            </a:r>
          </a:p>
        </p:txBody>
      </p:sp>
      <p:cxnSp>
        <p:nvCxnSpPr>
          <p:cNvPr id="21" name="Connector 20"/>
          <p:cNvCxnSpPr/>
          <p:nvPr/>
        </p:nvCxnSpPr>
        <p:spPr>
          <a:xfrm>
            <a:off x="706812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516185" y="1563624"/>
            <a:ext cx="1834835" cy="120548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334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Assemble</a:t>
            </a:r>
          </a:p>
          <a:p>
            <a:pPr algn="ctr">
              <a:lnSpc>
                <a:spcPct val="110000"/>
              </a:lnSpc>
            </a:pPr>
            <a:r>
              <a:rPr sz="1300" i="0" b="0">
                <a:solidFill>
                  <a:srgbClr val="E8F4F8"/>
                </a:solidFill>
                <a:latin typeface="Helvetica Neue"/>
              </a:rPr>
              <a:t>MERGE with provenance</a:t>
            </a:r>
          </a:p>
        </p:txBody>
      </p:sp>
      <p:cxnSp>
        <p:nvCxnSpPr>
          <p:cNvPr id="24" name="Connector 23"/>
          <p:cNvCxnSpPr/>
          <p:nvPr/>
        </p:nvCxnSpPr>
        <p:spPr>
          <a:xfrm>
            <a:off x="940588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853940" y="1563624"/>
            <a:ext cx="1834835"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9110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Evaluate</a:t>
            </a:r>
          </a:p>
          <a:p>
            <a:pPr algn="ctr">
              <a:lnSpc>
                <a:spcPct val="110000"/>
              </a:lnSpc>
            </a:pPr>
            <a:r>
              <a:rPr sz="1300" i="0" b="0">
                <a:solidFill>
                  <a:srgbClr val="E8F4F8"/>
                </a:solidFill>
                <a:latin typeface="Helvetica Neue"/>
              </a:rPr>
              <a:t>false-merge rate blocks the load</a:t>
            </a:r>
          </a:p>
        </p:txBody>
      </p:sp>
      <p:sp>
        <p:nvSpPr>
          <p:cNvPr id="27" name="Rectangle 26"/>
          <p:cNvSpPr/>
          <p:nvPr/>
        </p:nvSpPr>
        <p:spPr>
          <a:xfrm>
            <a:off x="502920" y="3180842"/>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An n-hop answer is right with probability pⁿ: </a:t>
            </a:r>
            <a:r>
              <a:rPr sz="1900" i="0" b="1">
                <a:solidFill>
                  <a:srgbClr val="1E293B"/>
                </a:solidFill>
                <a:latin typeface="Helvetica Neue"/>
              </a:rPr>
              <a:t>85%</a:t>
            </a:r>
            <a:r>
              <a:rPr sz="1900" i="0" b="0">
                <a:solidFill>
                  <a:srgbClr val="1E293B"/>
                </a:solidFill>
                <a:latin typeface="Helvetica Neue"/>
              </a:rPr>
              <a:t> per hop is </a:t>
            </a:r>
            <a:r>
              <a:rPr sz="1900" i="0" b="1">
                <a:solidFill>
                  <a:srgbClr val="1E293B"/>
                </a:solidFill>
                <a:latin typeface="Helvetica Neue"/>
              </a:rPr>
              <a:t>44%</a:t>
            </a:r>
            <a:r>
              <a:rPr sz="1900" i="0" b="0">
                <a:solidFill>
                  <a:srgbClr val="1E293B"/>
                </a:solidFill>
                <a:latin typeface="Helvetica Neue"/>
              </a:rPr>
              <a:t> over five hops</a:t>
            </a:r>
          </a:p>
        </p:txBody>
      </p:sp>
      <p:sp>
        <p:nvSpPr>
          <p:cNvPr id="29" name="Rectangle 28"/>
          <p:cNvSpPr/>
          <p:nvPr/>
        </p:nvSpPr>
        <p:spPr>
          <a:xfrm>
            <a:off x="502920" y="3644138"/>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That is arithmetic and not a measurement, but errors compound with depth</a:t>
            </a:r>
          </a:p>
        </p:txBody>
      </p:sp>
      <p:sp>
        <p:nvSpPr>
          <p:cNvPr id="31" name="Rectangle 30"/>
          <p:cNvSpPr/>
          <p:nvPr/>
        </p:nvSpPr>
        <p:spPr>
          <a:xfrm>
            <a:off x="502920" y="4107433"/>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01574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Use the model only where judgement is needed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Keep mentions, and never merge at extraction time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notes/10-building-kgs-with-llms.md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Storing mentions and resolution evidence separately keeps merges reversible, and a false merge corrupts every path through it.</a:t>
            </a:r>
          </a:p>
        </p:txBody>
      </p:sp>
      <p:sp>
        <p:nvSpPr>
          <p:cNvPr id="13" name="Rounded Rectangle 12"/>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CYPHER</a:t>
            </a:r>
          </a:p>
        </p:txBody>
      </p:sp>
      <p:sp>
        <p:nvSpPr>
          <p:cNvPr id="15" name="TextBox 14"/>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raw mentions</a:t>
            </a:r>
          </a:p>
          <a:p>
            <a:pPr algn="l">
              <a:lnSpc>
                <a:spcPct val="100000"/>
              </a:lnSpc>
            </a:pPr>
            <a:r>
              <a:rPr sz="1600" i="0" b="0">
                <a:solidFill>
                  <a:srgbClr val="E2E8F0"/>
                </a:solidFill>
                <a:latin typeface="Menlo"/>
              </a:rPr>
              <a:t>(:Document)-[:HAS_PAGE]-&gt;(:Page)</a:t>
            </a:r>
          </a:p>
          <a:p>
            <a:pPr algn="l">
              <a:lnSpc>
                <a:spcPct val="100000"/>
              </a:lnSpc>
            </a:pPr>
            <a:r>
              <a:rPr sz="1600" i="0" b="0">
                <a:solidFill>
                  <a:srgbClr val="E2E8F0"/>
                </a:solidFill>
                <a:latin typeface="Menlo"/>
              </a:rPr>
              <a:t>  -[:MENTIONS]-&gt;(:Entity)</a:t>
            </a:r>
          </a:p>
          <a:p>
            <a:pPr algn="l">
              <a:lnSpc>
                <a:spcPct val="100000"/>
              </a:lnSpc>
            </a:pPr>
            <a:r>
              <a:rPr sz="1600" i="0" b="0">
                <a:solidFill>
                  <a:srgbClr val="E2E8F0"/>
                </a:solidFill>
                <a:latin typeface="Menlo"/>
              </a:rPr>
              <a:t>// resolution evidence</a:t>
            </a:r>
          </a:p>
          <a:p>
            <a:pPr algn="l">
              <a:lnSpc>
                <a:spcPct val="100000"/>
              </a:lnSpc>
            </a:pPr>
            <a:r>
              <a:rPr sz="1600" i="0" b="0">
                <a:solidFill>
                  <a:srgbClr val="E2E8F0"/>
                </a:solidFill>
                <a:latin typeface="Menlo"/>
              </a:rPr>
              <a:t>(:Entity)-[:META_SIMILAR]-&gt;(:Entity)</a:t>
            </a:r>
          </a:p>
          <a:p>
            <a:pPr algn="l">
              <a:lnSpc>
                <a:spcPct val="100000"/>
              </a:lnSpc>
            </a:pPr>
            <a:r>
              <a:rPr sz="1600" i="0" b="0">
                <a:solidFill>
                  <a:srgbClr val="E2E8F0"/>
                </a:solidFill>
                <a:latin typeface="Menlo"/>
              </a:rPr>
              <a:t>// the KG proper</a:t>
            </a:r>
          </a:p>
          <a:p>
            <a:pPr algn="l">
              <a:lnSpc>
                <a:spcPct val="100000"/>
              </a:lnSpc>
            </a:pPr>
            <a:r>
              <a:rPr sz="1600" i="0" b="0">
                <a:solidFill>
                  <a:srgbClr val="E2E8F0"/>
                </a:solidFill>
                <a:latin typeface="Menlo"/>
              </a:rPr>
              <a:t>(:Entity)-[:RESOLVES_TO]-&gt;(:Canonical)</a:t>
            </a:r>
          </a:p>
          <a:p>
            <a:pPr algn="l">
              <a:lnSpc>
                <a:spcPct val="100000"/>
              </a:lnSpc>
            </a:pPr>
          </a:p>
          <a:p>
            <a:pPr algn="l">
              <a:lnSpc>
                <a:spcPct val="100000"/>
              </a:lnSpc>
            </a:pPr>
            <a:r>
              <a:rPr sz="1600" i="0" b="0">
                <a:solidFill>
                  <a:srgbClr val="E2E8F0"/>
                </a:solidFill>
                <a:latin typeface="Menlo"/>
              </a:rPr>
              <a:t>// graph-based resolution: weakly connected</a:t>
            </a:r>
          </a:p>
          <a:p>
            <a:pPr algn="l">
              <a:lnSpc>
                <a:spcPct val="100000"/>
              </a:lnSpc>
            </a:pPr>
            <a:r>
              <a:rPr sz="1600" i="0" b="0">
                <a:solidFill>
                  <a:srgbClr val="E2E8F0"/>
                </a:solidFill>
                <a:latin typeface="Menlo"/>
              </a:rPr>
              <a:t>// components over META_SIMILAR, one canonical</a:t>
            </a:r>
          </a:p>
        </p:txBody>
      </p:sp>
      <p:sp>
        <p:nvSpPr>
          <p:cNvPr id="16" name="Rectangle 15"/>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metagraph keeps resolution </a:t>
            </a:r>
            <a:r>
              <a:rPr sz="1800" i="0" b="1">
                <a:solidFill>
                  <a:srgbClr val="1E293B"/>
                </a:solidFill>
                <a:latin typeface="Helvetica Neue"/>
              </a:rPr>
              <a:t>reversible</a:t>
            </a:r>
          </a:p>
        </p:txBody>
      </p:sp>
      <p:sp>
        <p:nvSpPr>
          <p:cNvPr id="18" name="Rectangle 17"/>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Weight </a:t>
            </a:r>
            <a:r>
              <a:rPr sz="1800" i="0" b="1">
                <a:solidFill>
                  <a:srgbClr val="1E293B"/>
                </a:solidFill>
                <a:latin typeface="Helvetica Neue"/>
              </a:rPr>
              <a:t>false merges</a:t>
            </a:r>
            <a:r>
              <a:rPr sz="1800" i="0" b="0">
                <a:solidFill>
                  <a:srgbClr val="1E293B"/>
                </a:solidFill>
                <a:latin typeface="Helvetica Neue"/>
              </a:rPr>
              <a:t> above missed merges</a:t>
            </a:r>
          </a:p>
        </p:txBody>
      </p:sp>
      <p:sp>
        <p:nvSpPr>
          <p:cNvPr id="20" name="Rectangle 19"/>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high compression ratio rewards over-merging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Extract, enhance, expand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course's graph</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notes/10-building-kgs-with-llms.md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Start with a minimum viable graph, add document structure, then fuse structured data onto the same entities.</a:t>
            </a:r>
          </a:p>
        </p:txBody>
      </p:sp>
      <p:sp>
        <p:nvSpPr>
          <p:cNvPr id="13" name="Rectangle 12"/>
          <p:cNvSpPr/>
          <p:nvPr/>
        </p:nvSpPr>
        <p:spPr>
          <a:xfrm>
            <a:off x="448056" y="1417320"/>
            <a:ext cx="6261948" cy="313009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kollegger-knowledge-graphs-for-rag-extract-enhance-expand-3183134450415555640.jpg"/>
          <p:cNvPicPr>
            <a:picLocks noChangeAspect="1"/>
          </p:cNvPicPr>
          <p:nvPr/>
        </p:nvPicPr>
        <p:blipFill>
          <a:blip r:embed="rId2"/>
          <a:stretch>
            <a:fillRect/>
          </a:stretch>
        </p:blipFill>
        <p:spPr>
          <a:xfrm>
            <a:off x="502920" y="1472184"/>
            <a:ext cx="6152220" cy="3020365"/>
          </a:xfrm>
          <a:prstGeom prst="rect">
            <a:avLst/>
          </a:prstGeom>
        </p:spPr>
      </p:pic>
      <p:sp>
        <p:nvSpPr>
          <p:cNvPr id="15" name="TextBox 14"/>
          <p:cNvSpPr txBox="1"/>
          <p:nvPr/>
        </p:nvSpPr>
        <p:spPr>
          <a:xfrm>
            <a:off x="502920" y="462970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Knowledge Graphs for RAG, DeepLearning.AI and Neo4j (Kollegger, 2024)</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Extract:</a:t>
            </a:r>
            <a:r>
              <a:rPr sz="1800" i="0" b="0">
                <a:solidFill>
                  <a:srgbClr val="1E293B"/>
                </a:solidFill>
                <a:latin typeface="Helvetica Neue"/>
              </a:rPr>
              <a:t> 10-K text into </a:t>
            </a:r>
            <a:r>
              <a:rPr sz="1620" i="0" b="0">
                <a:solidFill>
                  <a:srgbClr val="0F7490"/>
                </a:solidFill>
                <a:latin typeface="Menlo"/>
              </a:rPr>
              <a:t>Chunk</a:t>
            </a:r>
            <a:r>
              <a:rPr sz="1800" i="0" b="0">
                <a:solidFill>
                  <a:srgbClr val="1E293B"/>
                </a:solidFill>
                <a:latin typeface="Helvetica Neue"/>
              </a:rPr>
              <a:t> nodes with embeddings</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Enhance:</a:t>
            </a:r>
            <a:r>
              <a:rPr sz="1800" i="0" b="0">
                <a:solidFill>
                  <a:srgbClr val="1E293B"/>
                </a:solidFill>
                <a:latin typeface="Helvetica Neue"/>
              </a:rPr>
              <a:t> </a:t>
            </a:r>
            <a:r>
              <a:rPr sz="1620" i="0" b="0">
                <a:solidFill>
                  <a:srgbClr val="0F7490"/>
                </a:solidFill>
                <a:latin typeface="Menlo"/>
              </a:rPr>
              <a:t>NEXT</a:t>
            </a:r>
            <a:r>
              <a:rPr sz="1800" i="0" b="0">
                <a:solidFill>
                  <a:srgbClr val="1E293B"/>
                </a:solidFill>
                <a:latin typeface="Helvetica Neue"/>
              </a:rPr>
              <a:t> and </a:t>
            </a:r>
            <a:r>
              <a:rPr sz="1620" i="0" b="0">
                <a:solidFill>
                  <a:srgbClr val="0F7490"/>
                </a:solidFill>
                <a:latin typeface="Menlo"/>
              </a:rPr>
              <a:t>PART_OF</a:t>
            </a:r>
            <a:r>
              <a:rPr sz="1800" i="0" b="0">
                <a:solidFill>
                  <a:srgbClr val="1E293B"/>
                </a:solidFill>
                <a:latin typeface="Helvetica Neue"/>
              </a:rPr>
              <a:t> add document structure</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Expand:</a:t>
            </a:r>
            <a:r>
              <a:rPr sz="1800" i="0" b="0">
                <a:solidFill>
                  <a:srgbClr val="1E293B"/>
                </a:solidFill>
                <a:latin typeface="Helvetica Neue"/>
              </a:rPr>
              <a:t> fuse Form 13 managers and holdings</a:t>
            </a:r>
          </a:p>
        </p:txBody>
      </p:sp>
      <p:sp>
        <p:nvSpPr>
          <p:cNvPr id="22" name="Rectangle 21"/>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a:t>
            </a:r>
            <a:r>
              <a:rPr sz="1620" i="0" b="0">
                <a:solidFill>
                  <a:srgbClr val="0F7490"/>
                </a:solidFill>
                <a:latin typeface="Menlo"/>
              </a:rPr>
              <a:t>OWNS_STOCK_IN</a:t>
            </a:r>
            <a:r>
              <a:rPr sz="1800" i="0" b="0">
                <a:solidFill>
                  <a:srgbClr val="1E293B"/>
                </a:solidFill>
                <a:latin typeface="Helvetica Neue"/>
              </a:rPr>
              <a:t> edge </a:t>
            </a:r>
            <a:r>
              <a:rPr sz="1800" i="0" b="1">
                <a:solidFill>
                  <a:srgbClr val="1E293B"/>
                </a:solidFill>
                <a:latin typeface="Helvetica Neue"/>
              </a:rPr>
              <a:t>per quarter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GraphRAG actually showed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notes/11-kg-rag-and-text-to-cypher.md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GraphRAG's community summaries help whole-corpus questions, which falls short of showing that graphs beat vectors.</a:t>
            </a:r>
          </a:p>
        </p:txBody>
      </p:sp>
      <p:sp>
        <p:nvSpPr>
          <p:cNvPr id="13" name="Rectangle 12"/>
          <p:cNvSpPr/>
          <p:nvPr/>
        </p:nvSpPr>
        <p:spPr>
          <a:xfrm>
            <a:off x="502920"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581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Comprehensiveness</a:t>
            </a:r>
          </a:p>
        </p:txBody>
      </p:sp>
      <p:sp>
        <p:nvSpPr>
          <p:cNvPr id="16" name="TextBox 15"/>
          <p:cNvSpPr txBox="1"/>
          <p:nvPr/>
        </p:nvSpPr>
        <p:spPr>
          <a:xfrm>
            <a:off x="777240"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Win rates </a:t>
            </a:r>
            <a:r>
              <a:rPr sz="1800" i="0" b="1">
                <a:solidFill>
                  <a:srgbClr val="1E293B"/>
                </a:solidFill>
                <a:latin typeface="Helvetica Neue"/>
              </a:rPr>
              <a:t>72–83%</a:t>
            </a:r>
            <a:r>
              <a:rPr sz="1800" i="0" b="0">
                <a:solidFill>
                  <a:srgbClr val="475569"/>
                </a:solidFill>
                <a:latin typeface="Helvetica Neue"/>
              </a:rPr>
              <a:t> (podcasts), </a:t>
            </a:r>
            <a:r>
              <a:rPr sz="1800" i="0" b="1">
                <a:solidFill>
                  <a:srgbClr val="1E293B"/>
                </a:solidFill>
                <a:latin typeface="Helvetica Neue"/>
              </a:rPr>
              <a:t>72–80%</a:t>
            </a:r>
            <a:r>
              <a:rPr sz="1800" i="0" b="0">
                <a:solidFill>
                  <a:srgbClr val="475569"/>
                </a:solidFill>
                <a:latin typeface="Helvetica Neue"/>
              </a:rPr>
              <a:t> (news)</a:t>
            </a:r>
          </a:p>
        </p:txBody>
      </p:sp>
      <p:sp>
        <p:nvSpPr>
          <p:cNvPr id="17" name="Rectangle 16"/>
          <p:cNvSpPr/>
          <p:nvPr/>
        </p:nvSpPr>
        <p:spPr>
          <a:xfrm>
            <a:off x="3367963"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258165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Diversity</a:t>
            </a:r>
          </a:p>
        </p:txBody>
      </p:sp>
      <p:sp>
        <p:nvSpPr>
          <p:cNvPr id="20" name="TextBox 19"/>
          <p:cNvSpPr txBox="1"/>
          <p:nvPr/>
        </p:nvSpPr>
        <p:spPr>
          <a:xfrm>
            <a:off x="3642283"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Win rates </a:t>
            </a:r>
            <a:r>
              <a:rPr sz="1800" i="0" b="1">
                <a:solidFill>
                  <a:srgbClr val="1E293B"/>
                </a:solidFill>
                <a:latin typeface="Helvetica Neue"/>
              </a:rPr>
              <a:t>75–82%</a:t>
            </a:r>
            <a:r>
              <a:rPr sz="1800" i="0" b="0">
                <a:solidFill>
                  <a:srgbClr val="475569"/>
                </a:solidFill>
                <a:latin typeface="Helvetica Neue"/>
              </a:rPr>
              <a:t> and </a:t>
            </a:r>
            <a:r>
              <a:rPr sz="1800" i="0" b="1">
                <a:solidFill>
                  <a:srgbClr val="1E293B"/>
                </a:solidFill>
                <a:latin typeface="Helvetica Neue"/>
              </a:rPr>
              <a:t>62–71%</a:t>
            </a:r>
          </a:p>
        </p:txBody>
      </p:sp>
      <p:sp>
        <p:nvSpPr>
          <p:cNvPr id="21" name="Rectangle 20"/>
          <p:cNvSpPr/>
          <p:nvPr/>
        </p:nvSpPr>
        <p:spPr>
          <a:xfrm>
            <a:off x="6233007"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2581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Directness</a:t>
            </a:r>
          </a:p>
        </p:txBody>
      </p:sp>
      <p:sp>
        <p:nvSpPr>
          <p:cNvPr id="24" name="TextBox 23"/>
          <p:cNvSpPr txBox="1"/>
          <p:nvPr/>
        </p:nvSpPr>
        <p:spPr>
          <a:xfrm>
            <a:off x="6507327" y="2087880"/>
            <a:ext cx="2087803" cy="1783079"/>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Vector RAG wins</a:t>
            </a:r>
            <a:r>
              <a:rPr sz="1800" i="0" b="0">
                <a:solidFill>
                  <a:srgbClr val="475569"/>
                </a:solidFill>
                <a:latin typeface="Helvetica Neue"/>
              </a:rPr>
              <a:t>, with more concise answers</a:t>
            </a:r>
          </a:p>
        </p:txBody>
      </p:sp>
      <p:sp>
        <p:nvSpPr>
          <p:cNvPr id="25" name="Rectangle 24"/>
          <p:cNvSpPr/>
          <p:nvPr/>
        </p:nvSpPr>
        <p:spPr>
          <a:xfrm>
            <a:off x="9098051"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258165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The caveat</a:t>
            </a:r>
          </a:p>
        </p:txBody>
      </p:sp>
      <p:sp>
        <p:nvSpPr>
          <p:cNvPr id="28" name="TextBox 27"/>
          <p:cNvSpPr txBox="1"/>
          <p:nvPr/>
        </p:nvSpPr>
        <p:spPr>
          <a:xfrm>
            <a:off x="9372371"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LLM judge, global sensemaking questions, corpora of about 1M tokens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Five ways to retrieve, tried in order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Choosing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notes/11-kg-rag-and-text-to-cypher.md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Default to vector, then canned traversals, then text-to-Cypher with a validator for the long tail.</a:t>
            </a:r>
          </a:p>
        </p:txBody>
      </p:sp>
      <p:graphicFrame>
        <p:nvGraphicFramePr>
          <p:cNvPr id="13" name="Table 12"/>
          <p:cNvGraphicFramePr>
            <a:graphicFrameLocks noGrp="1"/>
          </p:cNvGraphicFramePr>
          <p:nvPr/>
        </p:nvGraphicFramePr>
        <p:xfrm>
          <a:off x="502920" y="1472184"/>
          <a:ext cx="11185855" cy="2950464"/>
        </p:xfrm>
        <a:graphic>
          <a:graphicData uri="http://schemas.openxmlformats.org/drawingml/2006/table">
            <a:tbl>
              <a:tblPr firstRow="1" bandRow="1">
                <a:tableStyleId>{5940675A-B579-460E-94D1-54222C63F5DA}</a:tableStyleId>
              </a:tblPr>
              <a:tblGrid>
                <a:gridCol w="2237171"/>
                <a:gridCol w="4474342"/>
                <a:gridCol w="4474342"/>
              </a:tblGrid>
              <a:tr h="405384">
                <a:tc>
                  <a:txBody>
                    <a:bodyPr wrap="square"/>
                    <a:lstStyle/>
                    <a:p>
                      <a:pPr>
                        <a:lnSpc>
                          <a:spcPct val="100000"/>
                        </a:lnSpc>
                      </a:pPr>
                      <a:r>
                        <a:rPr sz="1700" i="0" b="1">
                          <a:solidFill>
                            <a:srgbClr val="FFFFFF"/>
                          </a:solidFill>
                          <a:latin typeface="Helvetica Neue"/>
                        </a:rPr>
                        <a:t>Mode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Use when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Fails when</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Vector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Local lookups: the passage about X</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Multi-hop, aggregates, exact entities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Canned traversal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Known question shapes in production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shape you didn't template</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Text-to-Cypher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Open-ended questions over a well-named schema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Large or badly named schema, no validator</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Hybrid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Vector entry points and graph expansion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Wrong entry points make expansion worse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Global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Themes across a whole corpus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Specific lookups, high indexing cost</a:t>
                      </a:r>
                    </a:p>
                  </a:txBody>
                  <a:tcPr marL="109728" marR="109728" marT="54864" marB="54864"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The QA agent is generate-then-verify again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The other kind of graph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notes/11-kg-rag-and-text-to-cypher.md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Text-to-Cypher is a bounded generate-then-verify loop, and listing relationships first reduces invented relationship types.</a:t>
            </a:r>
          </a:p>
        </p:txBody>
      </p:sp>
      <p:sp>
        <p:nvSpPr>
          <p:cNvPr id="13" name="Rectangle 12"/>
          <p:cNvSpPr/>
          <p:nvPr/>
        </p:nvSpPr>
        <p:spPr>
          <a:xfrm>
            <a:off x="448056" y="1417320"/>
            <a:ext cx="6261948" cy="2223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negro-kg-and-llms-in-action-fig15-3.png"/>
          <p:cNvPicPr>
            <a:picLocks noChangeAspect="1"/>
          </p:cNvPicPr>
          <p:nvPr/>
        </p:nvPicPr>
        <p:blipFill>
          <a:blip r:embed="rId2"/>
          <a:stretch>
            <a:fillRect/>
          </a:stretch>
        </p:blipFill>
        <p:spPr>
          <a:xfrm>
            <a:off x="502920" y="1472184"/>
            <a:ext cx="6152220" cy="2113900"/>
          </a:xfrm>
          <a:prstGeom prst="rect">
            <a:avLst/>
          </a:prstGeom>
        </p:spPr>
      </p:pic>
      <p:sp>
        <p:nvSpPr>
          <p:cNvPr id="15" name="TextBox 14"/>
          <p:cNvSpPr txBox="1"/>
          <p:nvPr/>
        </p:nvSpPr>
        <p:spPr>
          <a:xfrm>
            <a:off x="502920" y="3723244"/>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Negro et al., Knowledge Graphs and LLMs in Action, Fig. 15.3 (2025)</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Ask for </a:t>
            </a:r>
            <a:r>
              <a:rPr sz="1620" i="0" b="0">
                <a:solidFill>
                  <a:srgbClr val="0F7490"/>
                </a:solidFill>
                <a:latin typeface="Menlo"/>
              </a:rPr>
              <a:t>relationships</a:t>
            </a:r>
            <a:r>
              <a:rPr sz="1800" i="0" b="0">
                <a:solidFill>
                  <a:srgbClr val="1E293B"/>
                </a:solidFill>
                <a:latin typeface="Helvetica Neue"/>
              </a:rPr>
              <a:t>, then </a:t>
            </a:r>
            <a:r>
              <a:rPr sz="1620" i="0" b="0">
                <a:solidFill>
                  <a:srgbClr val="0F7490"/>
                </a:solidFill>
                <a:latin typeface="Menlo"/>
              </a:rPr>
              <a:t>reasoning</a:t>
            </a:r>
            <a:r>
              <a:rPr sz="1800" i="0" b="0">
                <a:solidFill>
                  <a:srgbClr val="1E293B"/>
                </a:solidFill>
                <a:latin typeface="Helvetica Neue"/>
              </a:rPr>
              <a:t>, then </a:t>
            </a:r>
            <a:r>
              <a:rPr sz="1620" i="0" b="0">
                <a:solidFill>
                  <a:srgbClr val="0F7490"/>
                </a:solidFill>
                <a:latin typeface="Menlo"/>
              </a:rPr>
              <a:t>query</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Annotate the schema; </a:t>
            </a:r>
            <a:r>
              <a:rPr sz="1800" i="0" b="1">
                <a:solidFill>
                  <a:srgbClr val="1E293B"/>
                </a:solidFill>
                <a:latin typeface="Helvetica Neue"/>
              </a:rPr>
              <a:t>one few-shot</a:t>
            </a:r>
            <a:r>
              <a:rPr sz="1800" i="0" b="0">
                <a:solidFill>
                  <a:srgbClr val="1E293B"/>
                </a:solidFill>
                <a:latin typeface="Helvetica Neue"/>
              </a:rPr>
              <a:t> fixes </a:t>
            </a:r>
            <a:r>
              <a:rPr sz="1620" i="0" b="0">
                <a:solidFill>
                  <a:srgbClr val="0F7490"/>
                </a:solidFill>
                <a:latin typeface="Menlo"/>
              </a:rPr>
              <a:t>value</a:t>
            </a:r>
            <a:r>
              <a:rPr sz="1800" i="0" b="0">
                <a:solidFill>
                  <a:srgbClr val="1E293B"/>
                </a:solidFill>
                <a:latin typeface="Helvetica Neue"/>
              </a:rPr>
              <a:t> on </a:t>
            </a:r>
            <a:r>
              <a:rPr sz="1620" i="0" b="0">
                <a:solidFill>
                  <a:srgbClr val="0F7490"/>
                </a:solidFill>
                <a:latin typeface="Menlo"/>
              </a:rPr>
              <a:t>OWNS_STOCK_IN</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database is the verifier; retry on error is bounded</a:t>
            </a:r>
          </a:p>
        </p:txBody>
      </p:sp>
      <p:sp>
        <p:nvSpPr>
          <p:cNvPr id="22" name="Rectangle 21"/>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Missing: an </a:t>
            </a:r>
            <a:r>
              <a:rPr sz="1620" i="0" b="1">
                <a:solidFill>
                  <a:srgbClr val="0F7490"/>
                </a:solidFill>
                <a:latin typeface="Menlo"/>
              </a:rPr>
              <a:t>EXPLAIN</a:t>
            </a:r>
            <a:r>
              <a:rPr sz="1800" i="0" b="1">
                <a:solidFill>
                  <a:srgbClr val="1E293B"/>
                </a:solidFill>
                <a:latin typeface="Helvetica Neue"/>
              </a:rPr>
              <a:t> validator</a:t>
            </a:r>
            <a:r>
              <a:rPr sz="1800" i="0" b="0">
                <a:solidFill>
                  <a:srgbClr val="1E293B"/>
                </a:solidFill>
                <a:latin typeface="Helvetica Neue"/>
              </a:rPr>
              <a:t> before execution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Where the graphs meet</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Shared memory · The write path · Learning on graphs</a:t>
            </a:r>
          </a:p>
        </p:txBody>
      </p:sp>
      <p:cxnSp>
        <p:nvCxnSpPr>
          <p:cNvPr id="6" name="Connector 5"/>
          <p:cNvCxnSpPr/>
          <p:nvPr/>
        </p:nvCxnSpPr>
        <p:spPr>
          <a:xfrm>
            <a:off x="6446520" y="1885315"/>
            <a:ext cx="0" cy="30873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885315"/>
            <a:ext cx="4693615" cy="32702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swarm keeps rediscovering what it already found</a:t>
            </a:r>
          </a:p>
          <a:p>
            <a:pPr algn="l">
              <a:lnSpc>
                <a:spcPct val="100000"/>
              </a:lnSpc>
              <a:spcBef>
                <a:spcPts val="1189"/>
              </a:spcBef>
            </a:pPr>
            <a:r>
              <a:rPr sz="1700" i="0" b="0">
                <a:solidFill>
                  <a:srgbClr val="CBD5E1"/>
                </a:solidFill>
                <a:latin typeface="Helvetica Neue"/>
              </a:rPr>
              <a:t>Each step moves something out of the agent</a:t>
            </a:r>
          </a:p>
          <a:p>
            <a:pPr algn="l">
              <a:lnSpc>
                <a:spcPct val="100000"/>
              </a:lnSpc>
              <a:spcBef>
                <a:spcPts val="1189"/>
              </a:spcBef>
            </a:pPr>
            <a:r>
              <a:rPr sz="1700" i="0" b="0">
                <a:solidFill>
                  <a:srgbClr val="CBD5E1"/>
                </a:solidFill>
                <a:latin typeface="Helvetica Neue"/>
              </a:rPr>
              <a:t>All the safety lives in the write path</a:t>
            </a:r>
          </a:p>
          <a:p>
            <a:pPr algn="l">
              <a:lnSpc>
                <a:spcPct val="100000"/>
              </a:lnSpc>
              <a:spcBef>
                <a:spcPts val="1189"/>
              </a:spcBef>
            </a:pPr>
            <a:r>
              <a:rPr sz="1700" i="0" b="0">
                <a:solidFill>
                  <a:srgbClr val="CBD5E1"/>
                </a:solidFill>
                <a:latin typeface="Helvetica Neue"/>
              </a:rPr>
              <a:t>Whoever owns the schema owns the errors</a:t>
            </a:r>
          </a:p>
          <a:p>
            <a:pPr algn="l">
              <a:lnSpc>
                <a:spcPct val="100000"/>
              </a:lnSpc>
              <a:spcBef>
                <a:spcPts val="1189"/>
              </a:spcBef>
            </a:pPr>
            <a:r>
              <a:rPr sz="1700" i="0" b="0">
                <a:solidFill>
                  <a:srgbClr val="CBD5E1"/>
                </a:solidFill>
                <a:latin typeface="Helvetica Neue"/>
              </a:rPr>
              <a:t>Know the pattern? Hand-written features can win</a:t>
            </a:r>
          </a:p>
          <a:p>
            <a:pPr algn="l">
              <a:lnSpc>
                <a:spcPct val="100000"/>
              </a:lnSpc>
              <a:spcBef>
                <a:spcPts val="1189"/>
              </a:spcBef>
            </a:pPr>
            <a:r>
              <a:rPr sz="1700" i="0" b="0">
                <a:solidFill>
                  <a:srgbClr val="CBD5E1"/>
                </a:solidFill>
                <a:latin typeface="Helvetica Neue"/>
              </a:rPr>
              <a:t>Build a shared-memory swarm in four gates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A swarm keeps rediscovering what it already found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notes/12-kg-as-shared-agent-memory.md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Execution-state mistakes die with the run, while knowledge-graph mistakes persist and spread to every later reader.</a:t>
            </a:r>
          </a:p>
        </p:txBody>
      </p:sp>
      <p:sp>
        <p:nvSpPr>
          <p:cNvPr id="13" name="Rectangle 12"/>
          <p:cNvSpPr/>
          <p:nvPr/>
        </p:nvSpPr>
        <p:spPr>
          <a:xfrm>
            <a:off x="777240" y="2065020"/>
            <a:ext cx="109728" cy="2371344"/>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065020"/>
            <a:ext cx="10088575" cy="2462784"/>
          </a:xfrm>
          <a:prstGeom prst="rect">
            <a:avLst/>
          </a:prstGeom>
          <a:noFill/>
        </p:spPr>
        <p:txBody>
          <a:bodyPr wrap="square" lIns="0" rIns="0" tIns="0" bIns="0" anchor="t">
            <a:noAutofit/>
          </a:bodyPr>
          <a:lstStyle/>
          <a:p>
            <a:pPr algn="l">
              <a:lnSpc>
                <a:spcPct val="105000"/>
              </a:lnSpc>
            </a:pPr>
            <a:r>
              <a:rPr sz="3400" i="0" b="1">
                <a:solidFill>
                  <a:srgbClr val="1E3A5F"/>
                </a:solidFill>
                <a:latin typeface="Helvetica Neue"/>
              </a:rPr>
              <a:t>A swarm alone re-derives findings. A swarm writing to a shared graph accumulates them. The agent forgets; the graph does not, and that cuts both ways.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Each step moves something out of the agent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progression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notes/12-kg-as-shared-agent-memory.md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Loops externalise evaluation, swarms externalise search, and a shared graph externalises facts and provenance.</a:t>
            </a:r>
          </a:p>
        </p:txBody>
      </p:sp>
      <p:sp>
        <p:nvSpPr>
          <p:cNvPr id="13" name="Rounded Rectangle 12"/>
          <p:cNvSpPr/>
          <p:nvPr/>
        </p:nvSpPr>
        <p:spPr>
          <a:xfrm>
            <a:off x="202676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39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Loop</a:t>
            </a:r>
          </a:p>
          <a:p>
            <a:pPr algn="ctr">
              <a:lnSpc>
                <a:spcPct val="110000"/>
              </a:lnSpc>
            </a:pPr>
            <a:r>
              <a:rPr sz="1300" i="0" b="0">
                <a:solidFill>
                  <a:srgbClr val="E8F4F8"/>
                </a:solidFill>
                <a:latin typeface="Helvetica Neue"/>
              </a:rPr>
              <a:t>iteration and evaluation</a:t>
            </a:r>
          </a:p>
        </p:txBody>
      </p:sp>
      <p:cxnSp>
        <p:nvCxnSpPr>
          <p:cNvPr id="15" name="Connector 14"/>
          <p:cNvCxnSpPr/>
          <p:nvPr/>
        </p:nvCxnSpPr>
        <p:spPr>
          <a:xfrm>
            <a:off x="445907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712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428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Swarm</a:t>
            </a:r>
          </a:p>
          <a:p>
            <a:pPr algn="ctr">
              <a:lnSpc>
                <a:spcPct val="110000"/>
              </a:lnSpc>
            </a:pPr>
            <a:r>
              <a:rPr sz="1300" i="0" b="0">
                <a:solidFill>
                  <a:srgbClr val="E8F4F8"/>
                </a:solidFill>
                <a:latin typeface="Helvetica Neue"/>
              </a:rPr>
              <a:t>parallel search, with redundancy</a:t>
            </a:r>
          </a:p>
        </p:txBody>
      </p:sp>
      <p:cxnSp>
        <p:nvCxnSpPr>
          <p:cNvPr id="18" name="Connector 17"/>
          <p:cNvCxnSpPr/>
          <p:nvPr/>
        </p:nvCxnSpPr>
        <p:spPr>
          <a:xfrm>
            <a:off x="733943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8748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46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Graph</a:t>
            </a:r>
          </a:p>
          <a:p>
            <a:pPr algn="ctr">
              <a:lnSpc>
                <a:spcPct val="110000"/>
              </a:lnSpc>
            </a:pPr>
            <a:r>
              <a:rPr sz="1300" i="0" b="0">
                <a:solidFill>
                  <a:srgbClr val="E8F4F8"/>
                </a:solidFill>
                <a:latin typeface="Helvetica Neue"/>
              </a:rPr>
              <a:t>shared facts, provenance, memory</a:t>
            </a:r>
          </a:p>
        </p:txBody>
      </p:sp>
      <p:sp>
        <p:nvSpPr>
          <p:cNvPr id="21" name="Rectangle 20"/>
          <p:cNvSpPr/>
          <p:nvPr/>
        </p:nvSpPr>
        <p:spPr>
          <a:xfrm>
            <a:off x="502920" y="3180842"/>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Loop: Karpathy's autoresearch keeps a change only if the metric improves</a:t>
            </a:r>
          </a:p>
        </p:txBody>
      </p:sp>
      <p:sp>
        <p:nvSpPr>
          <p:cNvPr id="23" name="Rectangle 22"/>
          <p:cNvSpPr/>
          <p:nvPr/>
        </p:nvSpPr>
        <p:spPr>
          <a:xfrm>
            <a:off x="502920" y="3644138"/>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swarm costs real money: Anthropic reports about </a:t>
            </a:r>
            <a:r>
              <a:rPr sz="1900" i="0" b="1">
                <a:solidFill>
                  <a:srgbClr val="1E293B"/>
                </a:solidFill>
                <a:latin typeface="Helvetica Neue"/>
              </a:rPr>
              <a:t>15×</a:t>
            </a:r>
            <a:r>
              <a:rPr sz="1900" i="0" b="0">
                <a:solidFill>
                  <a:srgbClr val="1E293B"/>
                </a:solidFill>
                <a:latin typeface="Helvetica Neue"/>
              </a:rPr>
              <a:t> chat tokens</a:t>
            </a:r>
          </a:p>
        </p:txBody>
      </p:sp>
      <p:sp>
        <p:nvSpPr>
          <p:cNvPr id="25" name="Rectangle 24"/>
          <p:cNvSpPr/>
          <p:nvPr/>
        </p:nvSpPr>
        <p:spPr>
          <a:xfrm>
            <a:off x="502920" y="4107433"/>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1574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Topology makes spend </a:t>
            </a:r>
            <a:r>
              <a:rPr sz="1900" i="0" b="1">
                <a:solidFill>
                  <a:srgbClr val="1E293B"/>
                </a:solidFill>
                <a:latin typeface="Helvetica Neue"/>
              </a:rPr>
              <a:t>tractable</a:t>
            </a:r>
            <a:r>
              <a:rPr sz="1900" i="0" b="0">
                <a:solidFill>
                  <a:srgbClr val="1E293B"/>
                </a:solidFill>
                <a:latin typeface="Helvetica Neue"/>
              </a:rPr>
              <a:t>, not cheap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All the safety lives in the write path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notes/12-kg-as-shared-agent-memory.md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Workers submit updates to a validator instead of writing directly, which is the reducer idea at database scale.</a:t>
            </a:r>
          </a:p>
        </p:txBody>
      </p:sp>
      <p:sp>
        <p:nvSpPr>
          <p:cNvPr id="13" name="Rounded Rectangle 12"/>
          <p:cNvSpPr/>
          <p:nvPr/>
        </p:nvSpPr>
        <p:spPr>
          <a:xfrm>
            <a:off x="502920" y="1472184"/>
            <a:ext cx="6711513" cy="3855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215640"/>
          </a:xfrm>
          <a:prstGeom prst="rect">
            <a:avLst/>
          </a:prstGeom>
          <a:noFill/>
        </p:spPr>
        <p:txBody>
          <a:bodyPr wrap="square" lIns="0" rIns="0" tIns="0" bIns="0" anchor="t">
            <a:noAutofit/>
          </a:bodyPr>
          <a:lstStyle/>
          <a:p>
            <a:pPr algn="l">
              <a:lnSpc>
                <a:spcPct val="100000"/>
              </a:lnSpc>
            </a:pPr>
            <a:r>
              <a:rPr sz="1300" i="0" b="0">
                <a:solidFill>
                  <a:srgbClr val="E2E8F0"/>
                </a:solidFill>
                <a:latin typeface="Menlo"/>
              </a:rPr>
              <a:t>@dataclass</a:t>
            </a:r>
          </a:p>
          <a:p>
            <a:pPr algn="l">
              <a:lnSpc>
                <a:spcPct val="100000"/>
              </a:lnSpc>
            </a:pPr>
            <a:r>
              <a:rPr sz="1300" i="0" b="0">
                <a:solidFill>
                  <a:srgbClr val="E2E8F0"/>
                </a:solidFill>
                <a:latin typeface="Menlo"/>
              </a:rPr>
              <a:t>class GraphUpdate:</a:t>
            </a:r>
          </a:p>
          <a:p>
            <a:pPr algn="l">
              <a:lnSpc>
                <a:spcPct val="100000"/>
              </a:lnSpc>
            </a:pPr>
            <a:r>
              <a:rPr sz="1300" i="0" b="0">
                <a:solidFill>
                  <a:srgbClr val="E2E8F0"/>
                </a:solidFill>
                <a:latin typeface="Menlo"/>
              </a:rPr>
              <a:t>    nodes: list[dict]  # id, type, props, spans</a:t>
            </a:r>
          </a:p>
          <a:p>
            <a:pPr algn="l">
              <a:lnSpc>
                <a:spcPct val="100000"/>
              </a:lnSpc>
            </a:pPr>
            <a:r>
              <a:rPr sz="1300" i="0" b="0">
                <a:solidFill>
                  <a:srgbClr val="E2E8F0"/>
                </a:solidFill>
                <a:latin typeface="Menlo"/>
              </a:rPr>
              <a:t>    edges: list[dict]  # src, type, dst, conf</a:t>
            </a:r>
          </a:p>
          <a:p>
            <a:pPr algn="l">
              <a:lnSpc>
                <a:spcPct val="100000"/>
              </a:lnSpc>
            </a:pPr>
            <a:r>
              <a:rPr sz="1300" i="0" b="0">
                <a:solidFill>
                  <a:srgbClr val="E2E8F0"/>
                </a:solidFill>
                <a:latin typeface="Menlo"/>
              </a:rPr>
              <a:t>    run_id: str</a:t>
            </a:r>
          </a:p>
          <a:p>
            <a:pPr algn="l">
              <a:lnSpc>
                <a:spcPct val="100000"/>
              </a:lnSpc>
            </a:pPr>
            <a:r>
              <a:rPr sz="1300" i="0" b="0">
                <a:solidFill>
                  <a:srgbClr val="E2E8F0"/>
                </a:solidFill>
                <a:latin typeface="Menlo"/>
              </a:rPr>
              <a:t>    agent_id: str</a:t>
            </a:r>
          </a:p>
          <a:p>
            <a:pPr algn="l">
              <a:lnSpc>
                <a:spcPct val="100000"/>
              </a:lnSpc>
            </a:pPr>
          </a:p>
          <a:p>
            <a:pPr algn="l">
              <a:lnSpc>
                <a:spcPct val="100000"/>
              </a:lnSpc>
            </a:pPr>
            <a:r>
              <a:rPr sz="1300" i="0" b="0">
                <a:solidFill>
                  <a:srgbClr val="E2E8F0"/>
                </a:solidFill>
                <a:latin typeface="Menlo"/>
              </a:rPr>
              <a:t>def publish(update, graph, validator):</a:t>
            </a:r>
          </a:p>
          <a:p>
            <a:pPr algn="l">
              <a:lnSpc>
                <a:spcPct val="100000"/>
              </a:lnSpc>
            </a:pPr>
            <a:r>
              <a:rPr sz="1300" i="0" b="0">
                <a:solidFill>
                  <a:srgbClr val="E2E8F0"/>
                </a:solidFill>
                <a:latin typeface="Menlo"/>
              </a:rPr>
              <a:t>    validator.check_schema(update.nodes,</a:t>
            </a:r>
          </a:p>
          <a:p>
            <a:pPr algn="l">
              <a:lnSpc>
                <a:spcPct val="100000"/>
              </a:lnSpc>
            </a:pPr>
            <a:r>
              <a:rPr sz="1300" i="0" b="0">
                <a:solidFill>
                  <a:srgbClr val="E2E8F0"/>
                </a:solidFill>
                <a:latin typeface="Menlo"/>
              </a:rPr>
              <a:t>                           update.edges)</a:t>
            </a:r>
          </a:p>
          <a:p>
            <a:pPr algn="l">
              <a:lnSpc>
                <a:spcPct val="100000"/>
              </a:lnSpc>
            </a:pPr>
            <a:r>
              <a:rPr sz="1300" i="0" b="0">
                <a:solidFill>
                  <a:srgbClr val="E2E8F0"/>
                </a:solidFill>
                <a:latin typeface="Menlo"/>
              </a:rPr>
              <a:t>    validator.check_provenance(update.nodes,</a:t>
            </a:r>
          </a:p>
          <a:p>
            <a:pPr algn="l">
              <a:lnSpc>
                <a:spcPct val="100000"/>
              </a:lnSpc>
            </a:pPr>
            <a:r>
              <a:rPr sz="1300" i="0" b="0">
                <a:solidFill>
                  <a:srgbClr val="E2E8F0"/>
                </a:solidFill>
                <a:latin typeface="Menlo"/>
              </a:rPr>
              <a:t>                               update.edges)</a:t>
            </a:r>
          </a:p>
          <a:p>
            <a:pPr algn="l">
              <a:lnSpc>
                <a:spcPct val="100000"/>
              </a:lnSpc>
            </a:pPr>
            <a:r>
              <a:rPr sz="1300" i="0" b="0">
                <a:solidFill>
                  <a:srgbClr val="E2E8F0"/>
                </a:solidFill>
                <a:latin typeface="Menlo"/>
              </a:rPr>
              <a:t>    with graph.transaction() as tx:</a:t>
            </a:r>
          </a:p>
          <a:p>
            <a:pPr algn="l">
              <a:lnSpc>
                <a:spcPct val="100000"/>
              </a:lnSpc>
            </a:pPr>
            <a:r>
              <a:rPr sz="1300" i="0" b="0">
                <a:solidFill>
                  <a:srgbClr val="E2E8F0"/>
                </a:solidFill>
                <a:latin typeface="Menlo"/>
              </a:rPr>
              <a:t>        tx.upsert_versioned_nodes(update.nodes)</a:t>
            </a:r>
          </a:p>
          <a:p>
            <a:pPr algn="l">
              <a:lnSpc>
                <a:spcPct val="100000"/>
              </a:lnSpc>
            </a:pPr>
            <a:r>
              <a:rPr sz="1300" i="0" b="0">
                <a:solidFill>
                  <a:srgbClr val="E2E8F0"/>
                </a:solidFill>
                <a:latin typeface="Menlo"/>
              </a:rPr>
              <a:t>        tx.add_edges(update.edges)</a:t>
            </a:r>
          </a:p>
          <a:p>
            <a:pPr algn="l">
              <a:lnSpc>
                <a:spcPct val="100000"/>
              </a:lnSpc>
            </a:pPr>
            <a:r>
              <a:rPr sz="1300" i="0" b="0">
                <a:solidFill>
                  <a:srgbClr val="E2E8F0"/>
                </a:solidFill>
                <a:latin typeface="Menlo"/>
              </a:rPr>
              <a:t>        tx.commit()</a:t>
            </a:r>
          </a:p>
        </p:txBody>
      </p:sp>
      <p:sp>
        <p:nvSpPr>
          <p:cNvPr id="16" name="Rectangle 15"/>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Workers </a:t>
            </a:r>
            <a:r>
              <a:rPr sz="1800" i="0" b="1">
                <a:solidFill>
                  <a:srgbClr val="1E293B"/>
                </a:solidFill>
                <a:latin typeface="Helvetica Neue"/>
              </a:rPr>
              <a:t>submit</a:t>
            </a:r>
            <a:r>
              <a:rPr sz="1800" i="0" b="0">
                <a:solidFill>
                  <a:srgbClr val="1E293B"/>
                </a:solidFill>
                <a:latin typeface="Helvetica Neue"/>
              </a:rPr>
              <a:t>, never write directly</a:t>
            </a:r>
          </a:p>
        </p:txBody>
      </p:sp>
      <p:sp>
        <p:nvSpPr>
          <p:cNvPr id="18" name="Rectangle 17"/>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reducer idea, at database scale</a:t>
            </a:r>
          </a:p>
        </p:txBody>
      </p:sp>
      <p:sp>
        <p:nvSpPr>
          <p:cNvPr id="20" name="Rectangle 19"/>
          <p:cNvSpPr/>
          <p:nvPr/>
        </p:nvSpPr>
        <p:spPr>
          <a:xfrm>
            <a:off x="7580193" y="308610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Validation runs before the transaction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Whoever owns the schema owns the errors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non-negotiables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notes/12-kg-as-shared-agent-memory.md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shared graph stores claims with provenance and keeps contradictions, because no agent's write counts as truth.</a:t>
            </a:r>
          </a:p>
        </p:txBody>
      </p:sp>
      <p:sp>
        <p:nvSpPr>
          <p:cNvPr id="13" name="Rectangle 12"/>
          <p:cNvSpPr/>
          <p:nvPr/>
        </p:nvSpPr>
        <p:spPr>
          <a:xfrm>
            <a:off x="502920"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41401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Complete provenance</a:t>
            </a:r>
          </a:p>
        </p:txBody>
      </p:sp>
      <p:sp>
        <p:nvSpPr>
          <p:cNvPr id="16" name="TextBox 15"/>
          <p:cNvSpPr txBox="1"/>
          <p:nvPr/>
        </p:nvSpPr>
        <p:spPr>
          <a:xfrm>
            <a:off x="777240" y="2087880"/>
            <a:ext cx="3042818" cy="161543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Every node and edge records </a:t>
            </a:r>
            <a:r>
              <a:rPr sz="1800" i="0" b="0">
                <a:solidFill>
                  <a:srgbClr val="0F7490"/>
                </a:solidFill>
                <a:latin typeface="Menlo"/>
              </a:rPr>
              <a:t>run_id</a:t>
            </a:r>
            <a:r>
              <a:rPr sz="2000" i="0" b="0">
                <a:solidFill>
                  <a:srgbClr val="475569"/>
                </a:solidFill>
                <a:latin typeface="Helvetica Neue"/>
              </a:rPr>
              <a:t>, </a:t>
            </a:r>
            <a:r>
              <a:rPr sz="1800" i="0" b="0">
                <a:solidFill>
                  <a:srgbClr val="0F7490"/>
                </a:solidFill>
                <a:latin typeface="Menlo"/>
              </a:rPr>
              <a:t>agent_id</a:t>
            </a:r>
            <a:r>
              <a:rPr sz="2000" i="0" b="0">
                <a:solidFill>
                  <a:srgbClr val="475569"/>
                </a:solidFill>
                <a:latin typeface="Helvetica Neue"/>
              </a:rPr>
              <a:t> and a source span</a:t>
            </a:r>
          </a:p>
        </p:txBody>
      </p:sp>
      <p:sp>
        <p:nvSpPr>
          <p:cNvPr id="17" name="Rectangle 16"/>
          <p:cNvSpPr/>
          <p:nvPr/>
        </p:nvSpPr>
        <p:spPr>
          <a:xfrm>
            <a:off x="4322978"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241401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Reversible resolution</a:t>
            </a:r>
          </a:p>
        </p:txBody>
      </p:sp>
      <p:sp>
        <p:nvSpPr>
          <p:cNvPr id="20" name="TextBox 19"/>
          <p:cNvSpPr txBox="1"/>
          <p:nvPr/>
        </p:nvSpPr>
        <p:spPr>
          <a:xfrm>
            <a:off x="4597298" y="2087880"/>
            <a:ext cx="3042818" cy="1615439"/>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ALIAS_OF</a:t>
            </a:r>
            <a:r>
              <a:rPr sz="2000" i="0" b="0">
                <a:solidFill>
                  <a:srgbClr val="475569"/>
                </a:solidFill>
                <a:latin typeface="Helvetica Neue"/>
              </a:rPr>
              <a:t> or </a:t>
            </a:r>
            <a:r>
              <a:rPr sz="1800" i="0" b="0">
                <a:solidFill>
                  <a:srgbClr val="0F7490"/>
                </a:solidFill>
                <a:latin typeface="Menlo"/>
              </a:rPr>
              <a:t>RESOLVES_TO</a:t>
            </a:r>
            <a:r>
              <a:rPr sz="2000" i="0" b="0">
                <a:solidFill>
                  <a:srgbClr val="475569"/>
                </a:solidFill>
                <a:latin typeface="Helvetica Neue"/>
              </a:rPr>
              <a:t> with evidence; never merge destructively</a:t>
            </a:r>
          </a:p>
        </p:txBody>
      </p:sp>
      <p:sp>
        <p:nvSpPr>
          <p:cNvPr id="21" name="Rectangle 20"/>
          <p:cNvSpPr/>
          <p:nvPr/>
        </p:nvSpPr>
        <p:spPr>
          <a:xfrm>
            <a:off x="8143036"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241401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Claims are not truths</a:t>
            </a:r>
          </a:p>
        </p:txBody>
      </p:sp>
      <p:sp>
        <p:nvSpPr>
          <p:cNvPr id="24" name="TextBox 23"/>
          <p:cNvSpPr txBox="1"/>
          <p:nvPr/>
        </p:nvSpPr>
        <p:spPr>
          <a:xfrm>
            <a:off x="8417356" y="2087880"/>
            <a:ext cx="3042818" cy="161543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Agent A claims X, citing S. Contradictions live side by side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Know the pattern? Hand-written features can win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Learning on the graph</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notes/13-graph-ml-and-gnns.md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Features are the graph ML bottleneck, and a false predicted link does what a false merge does to every later traversal.</a:t>
            </a:r>
          </a:p>
        </p:txBody>
      </p:sp>
      <p:sp>
        <p:nvSpPr>
          <p:cNvPr id="13" name="Rectangle 12"/>
          <p:cNvSpPr/>
          <p:nvPr/>
        </p:nvSpPr>
        <p:spPr>
          <a:xfrm>
            <a:off x="448056" y="1417320"/>
            <a:ext cx="6261948" cy="22103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negro-kg-and-llms-in-action-fig11-5.png"/>
          <p:cNvPicPr>
            <a:picLocks noChangeAspect="1"/>
          </p:cNvPicPr>
          <p:nvPr/>
        </p:nvPicPr>
        <p:blipFill>
          <a:blip r:embed="rId2"/>
          <a:stretch>
            <a:fillRect/>
          </a:stretch>
        </p:blipFill>
        <p:spPr>
          <a:xfrm>
            <a:off x="502920" y="1472184"/>
            <a:ext cx="6152220" cy="2100612"/>
          </a:xfrm>
          <a:prstGeom prst="rect">
            <a:avLst/>
          </a:prstGeom>
        </p:spPr>
      </p:pic>
      <p:sp>
        <p:nvSpPr>
          <p:cNvPr id="15" name="TextBox 14"/>
          <p:cNvSpPr txBox="1"/>
          <p:nvPr/>
        </p:nvSpPr>
        <p:spPr>
          <a:xfrm>
            <a:off x="502920" y="3709956"/>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Negro et al., Knowledge Graphs and LLMs in Action, Fig. 11.5 (2025)</a:t>
            </a:r>
          </a:p>
        </p:txBody>
      </p:sp>
      <p:sp>
        <p:nvSpPr>
          <p:cNvPr id="16" name="Rectangle 15"/>
          <p:cNvSpPr/>
          <p:nvPr/>
        </p:nvSpPr>
        <p:spPr>
          <a:xfrm>
            <a:off x="7020900" y="155905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Degree only: F1 </a:t>
            </a:r>
            <a:r>
              <a:rPr sz="1800" i="0" b="1">
                <a:solidFill>
                  <a:srgbClr val="1E293B"/>
                </a:solidFill>
                <a:latin typeface="Helvetica Neue"/>
              </a:rPr>
              <a:t>0.43</a:t>
            </a:r>
            <a:r>
              <a:rPr sz="1800" i="0" b="0">
                <a:solidFill>
                  <a:srgbClr val="1E293B"/>
                </a:solidFill>
                <a:latin typeface="Helvetica Neue"/>
              </a:rPr>
              <a:t>; Node2Vec: </a:t>
            </a:r>
            <a:r>
              <a:rPr sz="1800" i="0" b="1">
                <a:solidFill>
                  <a:srgbClr val="1E293B"/>
                </a:solidFill>
                <a:latin typeface="Helvetica Neue"/>
              </a:rPr>
              <a:t>0.64</a:t>
            </a:r>
          </a:p>
        </p:txBody>
      </p:sp>
      <p:sp>
        <p:nvSpPr>
          <p:cNvPr id="18" name="Rectangle 17"/>
          <p:cNvSpPr/>
          <p:nvPr/>
        </p:nvSpPr>
        <p:spPr>
          <a:xfrm>
            <a:off x="7020900" y="1997964"/>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Degree and neighbours per faction: </a:t>
            </a:r>
            <a:r>
              <a:rPr sz="1800" i="0" b="1">
                <a:solidFill>
                  <a:srgbClr val="1E293B"/>
                </a:solidFill>
                <a:latin typeface="Helvetica Neue"/>
              </a:rPr>
              <a:t>0.93</a:t>
            </a:r>
            <a:r>
              <a:rPr sz="1800" i="0" b="0">
                <a:solidFill>
                  <a:srgbClr val="1E293B"/>
                </a:solidFill>
                <a:latin typeface="Helvetica Neue"/>
              </a:rPr>
              <a:t>, stable</a:t>
            </a:r>
          </a:p>
        </p:txBody>
      </p:sp>
      <p:sp>
        <p:nvSpPr>
          <p:cNvPr id="20" name="Rectangle 19"/>
          <p:cNvSpPr/>
          <p:nvPr/>
        </p:nvSpPr>
        <p:spPr>
          <a:xfrm>
            <a:off x="7020900" y="2738628"/>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Elliptic: SAGE caught </a:t>
            </a:r>
            <a:r>
              <a:rPr sz="1800" i="0" b="1">
                <a:solidFill>
                  <a:srgbClr val="1E293B"/>
                </a:solidFill>
                <a:latin typeface="Helvetica Neue"/>
              </a:rPr>
              <a:t>82.7%</a:t>
            </a:r>
            <a:r>
              <a:rPr sz="1800" i="0" b="0">
                <a:solidFill>
                  <a:srgbClr val="1E293B"/>
                </a:solidFill>
                <a:latin typeface="Helvetica Neue"/>
              </a:rPr>
              <a:t> of illicit nodes; GCN missed </a:t>
            </a:r>
            <a:r>
              <a:rPr sz="1800" i="0" b="1">
                <a:solidFill>
                  <a:srgbClr val="1E293B"/>
                </a:solidFill>
                <a:latin typeface="Helvetica Neue"/>
              </a:rPr>
              <a:t>32%</a:t>
            </a:r>
          </a:p>
        </p:txBody>
      </p:sp>
      <p:sp>
        <p:nvSpPr>
          <p:cNvPr id="22" name="Rectangle 21"/>
          <p:cNvSpPr/>
          <p:nvPr/>
        </p:nvSpPr>
        <p:spPr>
          <a:xfrm>
            <a:off x="7020900" y="3479291"/>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392423"/>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Predicted links are </a:t>
            </a:r>
            <a:r>
              <a:rPr sz="1800" i="0" b="1">
                <a:solidFill>
                  <a:srgbClr val="1E293B"/>
                </a:solidFill>
                <a:latin typeface="Helvetica Neue"/>
              </a:rPr>
              <a:t>claims</a:t>
            </a:r>
            <a:r>
              <a:rPr sz="1800" i="0" b="0">
                <a:solidFill>
                  <a:srgbClr val="1E293B"/>
                </a:solidFill>
                <a:latin typeface="Helvetica Neue"/>
              </a:rPr>
              <a:t>, out of default traversals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Build a shared-memory swarm in four gates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Where the graphs meet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notes/12-kg-as-shared-agent-memory.md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Build one measured loop first and add the swarm last, evaluating each layer by its own metric.</a:t>
            </a:r>
          </a:p>
        </p:txBody>
      </p:sp>
      <p:sp>
        <p:nvSpPr>
          <p:cNvPr id="13" name="Rectangle 12"/>
          <p:cNvSpPr/>
          <p:nvPr/>
        </p:nvSpPr>
        <p:spPr>
          <a:xfrm>
            <a:off x="1645920" y="1472184"/>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704213"/>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70421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2468879" y="1472184"/>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One measured loop</a:t>
            </a:r>
            <a:r>
              <a:rPr sz="1800" i="0" b="0">
                <a:solidFill>
                  <a:srgbClr val="475569"/>
                </a:solidFill>
                <a:latin typeface="Helvetica Neue"/>
              </a:rPr>
              <a:t> — A fixed metric and reversible actions</a:t>
            </a:r>
          </a:p>
        </p:txBody>
      </p:sp>
      <p:sp>
        <p:nvSpPr>
          <p:cNvPr id="17" name="Rectangle 16"/>
          <p:cNvSpPr/>
          <p:nvPr/>
        </p:nvSpPr>
        <p:spPr>
          <a:xfrm>
            <a:off x="1645920" y="2503170"/>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735199"/>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73519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2468879" y="2503170"/>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 role split</a:t>
            </a:r>
            <a:r>
              <a:rPr sz="1800" i="0" b="0">
                <a:solidFill>
                  <a:srgbClr val="475569"/>
                </a:solidFill>
                <a:latin typeface="Helvetica Neue"/>
              </a:rPr>
              <a:t> — Generator and verifier with isolated contexts</a:t>
            </a:r>
          </a:p>
        </p:txBody>
      </p:sp>
      <p:sp>
        <p:nvSpPr>
          <p:cNvPr id="21" name="Rectangle 20"/>
          <p:cNvSpPr/>
          <p:nvPr/>
        </p:nvSpPr>
        <p:spPr>
          <a:xfrm>
            <a:off x="1645920" y="3534156"/>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766185"/>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766185"/>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2468879" y="3534156"/>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 persistent graph</a:t>
            </a:r>
            <a:r>
              <a:rPr sz="1800" i="0" b="0">
                <a:solidFill>
                  <a:srgbClr val="475569"/>
                </a:solidFill>
                <a:latin typeface="Helvetica Neue"/>
              </a:rPr>
              <a:t> — Gate: do queries across sessions work?</a:t>
            </a:r>
          </a:p>
        </p:txBody>
      </p:sp>
      <p:sp>
        <p:nvSpPr>
          <p:cNvPr id="25" name="Rectangle 24"/>
          <p:cNvSpPr/>
          <p:nvPr/>
        </p:nvSpPr>
        <p:spPr>
          <a:xfrm>
            <a:off x="1645920" y="4565142"/>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797171"/>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79717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2468879" y="4565142"/>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 swarm writing to it</a:t>
            </a:r>
            <a:r>
              <a:rPr sz="1800" i="0" b="0">
                <a:solidFill>
                  <a:srgbClr val="475569"/>
                </a:solidFill>
                <a:latin typeface="Helvetica Neue"/>
              </a:rPr>
              <a:t> — Gate: wall-clock gain with </a:t>
            </a:r>
            <a:r>
              <a:rPr sz="1800" i="0" b="1">
                <a:solidFill>
                  <a:srgbClr val="1E293B"/>
                </a:solidFill>
                <a:latin typeface="Helvetica Neue"/>
              </a:rPr>
              <a:t>no loss of quality</a:t>
            </a:r>
          </a:p>
        </p:txBody>
      </p:sp>
      <p:sp>
        <p:nvSpPr>
          <p:cNvPr id="29" name="TextBox 28"/>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each step earns the next</a:t>
            </a:r>
          </a:p>
        </p:txBody>
      </p:sp>
      <p:cxnSp>
        <p:nvCxnSpPr>
          <p:cNvPr id="30" name="Connector 29"/>
          <p:cNvCxnSpPr/>
          <p:nvPr/>
        </p:nvCxnSpPr>
        <p:spPr>
          <a:xfrm>
            <a:off x="1005840" y="2066544"/>
            <a:ext cx="0" cy="332841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Keep these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notes/01-graph-vs-loop.md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Start with a loop, and add a node only when a specific signal forces it.</a:t>
            </a:r>
          </a:p>
        </p:txBody>
      </p:sp>
      <p:sp>
        <p:nvSpPr>
          <p:cNvPr id="13" name="Rectangle 12"/>
          <p:cNvSpPr/>
          <p:nvPr/>
        </p:nvSpPr>
        <p:spPr>
          <a:xfrm>
            <a:off x="502920"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First graph</a:t>
            </a:r>
          </a:p>
        </p:txBody>
      </p:sp>
      <p:sp>
        <p:nvSpPr>
          <p:cNvPr id="16" name="TextBox 15"/>
          <p:cNvSpPr txBox="1"/>
          <p:nvPr/>
        </p:nvSpPr>
        <p:spPr>
          <a:xfrm>
            <a:off x="777240"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Generate-then-verify is the highest-yield first graph</a:t>
            </a:r>
          </a:p>
        </p:txBody>
      </p:sp>
      <p:sp>
        <p:nvSpPr>
          <p:cNvPr id="17" name="Rectangle 16"/>
          <p:cNvSpPr/>
          <p:nvPr/>
        </p:nvSpPr>
        <p:spPr>
          <a:xfrm>
            <a:off x="4322978"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182727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Agency</a:t>
            </a:r>
          </a:p>
        </p:txBody>
      </p:sp>
      <p:sp>
        <p:nvSpPr>
          <p:cNvPr id="20" name="TextBox 19"/>
          <p:cNvSpPr txBox="1"/>
          <p:nvPr/>
        </p:nvSpPr>
        <p:spPr>
          <a:xfrm>
            <a:off x="4597298"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Code where you can, one LLM call where you must, an agent only where the path is unknown</a:t>
            </a:r>
          </a:p>
        </p:txBody>
      </p:sp>
      <p:sp>
        <p:nvSpPr>
          <p:cNvPr id="21" name="Rectangle 20"/>
          <p:cNvSpPr/>
          <p:nvPr/>
        </p:nvSpPr>
        <p:spPr>
          <a:xfrm>
            <a:off x="8143036"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182727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State</a:t>
            </a:r>
          </a:p>
        </p:txBody>
      </p:sp>
      <p:sp>
        <p:nvSpPr>
          <p:cNvPr id="24" name="TextBox 23"/>
          <p:cNvSpPr txBox="1"/>
          <p:nvPr/>
        </p:nvSpPr>
        <p:spPr>
          <a:xfrm>
            <a:off x="8417356"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Every shared key has one writer or a reducer</a:t>
            </a:r>
          </a:p>
        </p:txBody>
      </p:sp>
      <p:sp>
        <p:nvSpPr>
          <p:cNvPr id="25" name="Rectangle 24"/>
          <p:cNvSpPr/>
          <p:nvPr/>
        </p:nvSpPr>
        <p:spPr>
          <a:xfrm>
            <a:off x="502920"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573780"/>
            <a:ext cx="82296" cy="182727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Gates</a:t>
            </a:r>
          </a:p>
        </p:txBody>
      </p:sp>
      <p:sp>
        <p:nvSpPr>
          <p:cNvPr id="28" name="TextBox 27"/>
          <p:cNvSpPr txBox="1"/>
          <p:nvPr/>
        </p:nvSpPr>
        <p:spPr>
          <a:xfrm>
            <a:off x="777240"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Gate the edges where consequence concentrates, not every node</a:t>
            </a:r>
          </a:p>
        </p:txBody>
      </p:sp>
      <p:sp>
        <p:nvSpPr>
          <p:cNvPr id="29" name="Rectangle 28"/>
          <p:cNvSpPr/>
          <p:nvPr/>
        </p:nvSpPr>
        <p:spPr>
          <a:xfrm>
            <a:off x="4322978"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2978" y="3573780"/>
            <a:ext cx="82296" cy="182727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7298"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Verifiers</a:t>
            </a:r>
          </a:p>
        </p:txBody>
      </p:sp>
      <p:sp>
        <p:nvSpPr>
          <p:cNvPr id="32" name="TextBox 31"/>
          <p:cNvSpPr txBox="1"/>
          <p:nvPr/>
        </p:nvSpPr>
        <p:spPr>
          <a:xfrm>
            <a:off x="4597298"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See the task and the output, never the generator's reasoning</a:t>
            </a:r>
          </a:p>
        </p:txBody>
      </p:sp>
      <p:sp>
        <p:nvSpPr>
          <p:cNvPr id="33" name="Rectangle 32"/>
          <p:cNvSpPr/>
          <p:nvPr/>
        </p:nvSpPr>
        <p:spPr>
          <a:xfrm>
            <a:off x="8143036"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43036" y="3573780"/>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7356"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Anchors</a:t>
            </a:r>
          </a:p>
        </p:txBody>
      </p:sp>
      <p:sp>
        <p:nvSpPr>
          <p:cNvPr id="36" name="TextBox 35"/>
          <p:cNvSpPr txBox="1"/>
          <p:nvPr/>
        </p:nvSpPr>
        <p:spPr>
          <a:xfrm>
            <a:off x="8417356"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Keep at least one anchor the graph can't edit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Keep going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notes/06-when-not-to-build-a-graph.md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cheapest graph experiment is splitting one verifier by criterion and measuring before drawing any node.</a:t>
            </a:r>
          </a:p>
        </p:txBody>
      </p:sp>
      <p:sp>
        <p:nvSpPr>
          <p:cNvPr id="13" name="Rectangle 12"/>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 lab:</a:t>
            </a:r>
            <a:r>
              <a:rPr sz="2000" i="0" b="0">
                <a:solidFill>
                  <a:srgbClr val="1E293B"/>
                </a:solidFill>
                <a:latin typeface="Helvetica Neue"/>
              </a:rPr>
              <a:t> </a:t>
            </a:r>
            <a:r>
              <a:rPr sz="1800" i="0" b="0">
                <a:solidFill>
                  <a:srgbClr val="0F7490"/>
                </a:solidFill>
                <a:latin typeface="Menlo"/>
              </a:rPr>
              <a:t>practice/langgraph-graph</a:t>
            </a:r>
            <a:r>
              <a:rPr sz="2000" i="0" b="0">
                <a:solidFill>
                  <a:srgbClr val="1E293B"/>
                </a:solidFill>
                <a:latin typeface="Helvetica Neue"/>
              </a:rPr>
              <a:t>, in Python or TypeScript</a:t>
            </a:r>
          </a:p>
        </p:txBody>
      </p:sp>
      <p:sp>
        <p:nvSpPr>
          <p:cNvPr id="15" name="Rectangle 14"/>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Your own domain:</a:t>
            </a:r>
            <a:r>
              <a:rPr sz="2000" i="0" b="0">
                <a:solidFill>
                  <a:srgbClr val="1E293B"/>
                </a:solidFill>
                <a:latin typeface="Helvetica Neue"/>
              </a:rPr>
              <a:t> build a small graph, then a shared-memory swarm</a:t>
            </a:r>
          </a:p>
        </p:txBody>
      </p:sp>
      <p:sp>
        <p:nvSpPr>
          <p:cNvPr id="17" name="Rectangle 16"/>
          <p:cNvSpPr/>
          <p:nvPr/>
        </p:nvSpPr>
        <p:spPr>
          <a:xfrm>
            <a:off x="502920" y="32146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 notes:</a:t>
            </a:r>
            <a:r>
              <a:rPr sz="2000" i="0" b="0">
                <a:solidFill>
                  <a:srgbClr val="1E293B"/>
                </a:solidFill>
                <a:latin typeface="Helvetica Neue"/>
              </a:rPr>
              <a:t> every slide here has its code and figures in notes 01–13</a:t>
            </a:r>
          </a:p>
        </p:txBody>
      </p:sp>
      <p:sp>
        <p:nvSpPr>
          <p:cNvPr id="19" name="Rectangle 18"/>
          <p:cNvSpPr/>
          <p:nvPr/>
        </p:nvSpPr>
        <p:spPr>
          <a:xfrm>
            <a:off x="502920" y="40375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4106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Knowledge Graphs for RAG:</a:t>
            </a:r>
            <a:r>
              <a:rPr sz="2000" i="0" b="0">
                <a:solidFill>
                  <a:srgbClr val="1E293B"/>
                </a:solidFill>
                <a:latin typeface="Helvetica Neue"/>
              </a:rPr>
              <a:t> the hosted DeepLearning.AI and Neo4j course</a:t>
            </a:r>
          </a:p>
        </p:txBody>
      </p:sp>
      <p:sp>
        <p:nvSpPr>
          <p:cNvPr id="21" name="Rectangle 20"/>
          <p:cNvSpPr/>
          <p:nvPr/>
        </p:nvSpPr>
        <p:spPr>
          <a:xfrm>
            <a:off x="502920" y="48605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76402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06-eval:</a:t>
            </a:r>
            <a:r>
              <a:rPr sz="2000" i="0" b="0">
                <a:solidFill>
                  <a:srgbClr val="1E293B"/>
                </a:solidFill>
                <a:latin typeface="Helvetica Neue"/>
              </a:rPr>
              <a:t> measure whether the whole system is correct</a:t>
            </a:r>
          </a:p>
        </p:txBody>
      </p:sp>
      <p:sp>
        <p:nvSpPr>
          <p:cNvPr id="23" name="Rectangle 22"/>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132758" y="1472184"/>
            <a:ext cx="4556016"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Try this first</a:t>
            </a:r>
          </a:p>
        </p:txBody>
      </p:sp>
      <p:sp>
        <p:nvSpPr>
          <p:cNvPr id="26" name="TextBox 25"/>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Take a loop you already run, and split its verifier by criterion. Measure before you draw a single node.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