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senses of "graph" run through this talk. Parts 1–2 are agent graphs: nodes are units of computation and edges are permitted transitions. Part 3 is knowledge graphs: nodes are entities and edges are typed relationships. Part 4 is where they meet, when a knowledge graph becomes the shared memory a swarm of agents coordinates through.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01–04. When a loop becomes a graph, what a graph is made of, how nodes share state, and how a graph pauses and resumes.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engineering asks what cycle re-prompts this agent and when it quits. Graph engineering asks who may hand work to whom, under what condition, carrying what state. A loop is a graph with one node and an edge back to itself, so this layer contains loop engineering rather than replacing it. TrueFoundry calls them complementary layers.</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the left is a graph you write down in advance: prompt chaining, parallelisation, orchestrator-worker, evaluator-optimizer, routing. The box on the right is a loop. A graph is also how you mix the two: fixed paths where you know the route, an agent node where you don't.</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LangChain's most load-bearing lesson: production agents need cycles, for retrying failed tool calls, asking for missing information, revising after validation. An Airflow-style DAG is acyclic by definition, so it is a workflow engine, not an agent framework. Static edges are not enough either: the set of nodes is often only known at runtime, which is what Send is for.</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signal names something a single loop structurally cannot do. The last one is highlighted because it is the one most often misdiagnosed as needing a whole graph.</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 to any question means add a node. The last clause is the one people skip. Splitting the verifier is far cheaper than splitting the system; note 06 develops the negative case.</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apart for the next hour. The word means different things in each half.</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node is a choice of how much judgement to buy. Agent nodes are the most expensive and least predictable, so they go only where the route really can't be written down.</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LangGraph, the reference implementation. Google ADK offers workflow agents (sequential, parallel, loop) as composable topology; Claude Code offers subagents as nodes and hooks as deterministic edges.</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nodes and a bounded back-edge. It is the evaluator-optimizer workflow from Anthropic's catalogue, and it is where the lab series starts. A verifier that reads the generator's reasoning tends to agree with it.</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the contract between nodes. A reducer is the merge function the framework applies when several nodes write the same key in one step. Without one, the second write either raises or silently wins.</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Super-steps are the unit of execution: every node scheduled together runs, then the checkpoint is written. Because there is no checkpoint between parallel branches, the framework has to merge their writes, and that merge is the reducer.</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edges can't express "one reviewer per changed file". Send can. The cap matters: Send over an input with no bound is the unbounded fan-out failure from note 07. Note 03 has the runnable program with a MAX_FANOUT constant and the reducer-removal experiment.</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loop keeps progress on the call stack, so it has nowhere to put itself while it waits. A checkpointer saves the full state after every step. While paused, get_state reads it and update_state edits it, so the human can correct the work, not just approve it. Anything before interrupt() runs twice, so keep side effects after it or make them idempotent. InMemorySaver is for tests only.</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travel uses the same checkpoints: get_state_history lists them newest first; invoke with a checkpoint_id to replay, or update_state on an old one to fork. Find the step where the run went wrong, change state there, and rerun from that point.</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Consequence is not spread evenly across a graph. Gate everywhere and the gate stops working. n8n's workflow builder has a single gate, after the Planner, before any build work starts.</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05–08. The shapes that recur, the case against building a graph at all, how graphs fail at scale, and what it takes to operate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pattern has a cost: an extra node per cycle, a routing call per turn, tokens that scale with N, state mapping at the boundary, a status key in the schema. In Claude Code, a subagent is a node, the main session's spawn decision is an edge, return values are state, and a hook is a deterministic edge.</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subgraph is the hierarchical pattern. The mapping at the boundary is also where its cost hides: failures inside it are hard to see from the parent graph.</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 separates two questions the pattern catalogue blurs: does context get shared, and who decides what happens next. What each node can see is a topology decision as much as the edges are. Isolation is what makes a second opinion a second opinion.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data-processing inequality, a node that sees only what another node saw can't add information. Nodes that run code, call tools or look at a rendered page bring something new. RLEF trains on execution feedback for the same reason.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first-party anchor is Anthropic's engineering post. The flowtivity numbers are a secondary source; Lab 5 measures break-even on your own task. Open-ended research with unknowable steps is harness plus loop, not a graph: you can't draw nodes for work you can't name.</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graph is justified, adopt it incrementally: find the bottleneck; mark which edges really read the previous output; sketch 3–5 nodes, not twelve; measure a baseline with the loop, then the graph (tokens, wall-clock, pass rate); add nodes one at a time, each justified by a signal from note 01.</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failures you can find with a debugger. The router deserves its own labelled test set, because a confident wrong route looks like a right answer from the wrong specialist.</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 classifies failures from annotated traces into system design, inter-agent misalignment and missing verification. The ChatDev result is the one to remember: wording fixes buy little, because the failures live in the structure.</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Goodhart: when a measure becomes a target it ceases to be a good measure. Upward blindness: a controller can't see its own setpoint. These are older control-theory names for failures that show up once a graph wires many loops together.</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checklist has seven questions: resolved identity for every caller; stable graph, run and node IDs on every call; the actual runtime work graph recorded, not just the declared one; traces joinable with cost, policy, latency and tool records; budgets per node and per tenant; approval checkpoints on sensitive tools; model changes isolated behind an alias you can roll back.</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production graph with every bound written down. One approval gate, placed after the plan. Other published constants: 5,000-character prompts, a 400 KB frontend payload cap, a 180-second request timeout.</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09–11, with the code from the DeepLearning.AI × Neo4j course Knowledge Graphs for RAG folded in. Now nodes are entities and edges are typed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track uses the labelled property graph and Neo4j. RDF is the standards-based alternative, stronger on shared ontologies and reasoning. A KG complements an LLM: it holds exact, current, traceable facts that a model's weights hold only fuzzily.</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in MATCH reads like the picture you'd draw on a whiteboard. Always pass values as parameters. The course imports Neo4jGraph from langchain_community; that import is deprecated, use the langchain-neo4j package.</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85%-accurate extractor sounds good until a five-hop question is right less than half the time. That is why the pipeline spends its strongest model and its evaluation on resolution.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cookbook extracts with a Haiku-class model into Pydantic models, resolves and queries with a Sonnet-class model, assembles a NetworkX MultiDiGraph that keeps source docs on nodes and edges, and scores entity precision and recall against a gold set. It's the spend agency per node rule from note 02 again.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Ch6 of the Manning book: write META_SIMILAR edges where evidence is strong, run weakly connected components, name each canonical after its longest name. The alternative is LLM-based resolution or linking to an ontology (NED). Whatever you use, measure what normalisation did.</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builds the SEC filings graph in three moves. The embedding step uses genai.vector.encode, which has since been renamed; check the current Neo4j GenAI docs. The course's L4 notebook also has a slicing bug in item1_text_chunks[:20].</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sources are the cheapest facts a KG can get: no extraction, no resolution beyond the keys. Putting the quarter in the MERGE key keeps one holding edge per filing period instead of overwriting.</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Embeddings encode overall meaning; they don't guarantee a named entity is present. A graph adds multi-hop traversal, entity-exact retrieval, aggregation over the whole graph, metadata routing, traceable answers and composed retrieval.</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GraphRAG builds an entity graph, detects communities, pre-summarises them, and map-reduces over the summaries. The judge was an LLM in head-to-head comparisons, not a ground-truth accuracy measure. The often-quoted 53.4% vs 42.9% multi-hop figures come from a vendor blog with no method and are dropped.</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book's ReAct agent uses precanned Cypher tools because free-form generation fails too often, with vector search as a fallback. The agency rule from note 02 again.</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vector search finds the entry chunk; the Cypher fragment adds the graph's context. The course wires this into RetrievalQAWithSourcesChain and calls chain({...}); both are deprecated, use create_retrieval_chain or LCEL with .invoke. And from L4: the plain chain invented an answer about Apple until the prompt said "If you are unsure, say you don't know."</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expert doesn't read paragraphs; they know the schema and build a constrained traversal. Raw apoc.meta.schema output is the wrong input. Ordering the fields so the reasoning comes before the query is chain-of-thought ordering from the prompt engineering pillar, and the few-shot examples have to follow the same format. A model can't use a relationship called REL_7.</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course's few-shot example is a point.distance query for investment firms within 10 km of Santa Clara; a full-text query for Palo Alto matches the "Palo Aalto" misspelling in the data. Use .invoke, not the deprecated .run. The flag name is honest: generated Cypher runs against your database with your credentials.</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Ch15 of the book. Every Part 1 pattern shows up: generate-then-verify, a bounded cycle, typed state that keeps the reasoning and errors, a checkpointer. Adding the validator is the missing piece.</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12–13. The knowledge graph as the memory a swarm writes to, and models that learn from the graph's structure.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memory-tier terms, execution state is short-term working memory; the KG is semantic memory plus an episodic lineage of runs. The last row is the one that drives the design rules on the next slides.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progression comes from a community synthesis, a secondary source. autoresearch lets the agent edit train.py but not prepare.py, runs about five minutes of training per experiment, and git-resets otherwise. In the graph stage, the synthesiser traverses the graph instead of reading every transcript.</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writers are allowed, but they all go through one serialising, validating merge function, so no write happens unchecked. Versioned upserts mean nothing is overwritten.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bad loop iteration gets reverted and is gone. A false merge in a shared graph persists, and every later reader inherits it: merge two people and every query mixes their employers and dates. A graph amplifies its builder's ontology the way a loop amplifies its builder's objective. The reference architecture keeps five planes apart: control, execution, artifact, graph and evaluation.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reality: Anthropic's multi-agent research system used about 15× the tokens of a chat. Claude Code's reported workflow limits (16 concurrent, 1,000 per run) come from third-party write-ups; check the docs. A right answer reached through a wrong path is luck, so the query layer checks path validity, not just correctness.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map: node classification, link prediction, community detection (no training: WCC, Louvain), graph classification. Manual features are interpretable; ReFeX is semiautomated; Node2Vec and GNN embeddings are learned and opaque. DWPC discounts hubs when counting metapaths.</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link prediction on MovieLens, keep message-passing edges apart from supervision edges to avoid leakage. Graphs that grow need inductive methods. A predicted edge enters the shared graph tagged predicted, with the training run's ID, and queries opt in to it.</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table in the README adds: fan out only when the next step doesn't read the previous step's output; "we need a graph" is often an overloaded verifier; fan-out costs about 15× a chat turn, so measure break-even.</a:t>
            </a:r>
          </a:p>
          <a:p/>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 context → harness → loop → graph. Each layer presumes the one below; you can't graph-engineer well without loop-engineering fluency.</a:t>
            </a:r>
          </a:p>
          <a:p/>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Graph Engineering</a:t>
            </a:r>
          </a:p>
        </p:txBody>
      </p:sp>
      <p:sp>
        <p:nvSpPr>
          <p:cNvPr id="7" name="TextBox 6"/>
          <p:cNvSpPr txBox="1"/>
          <p:nvPr/>
        </p:nvSpPr>
        <p:spPr>
          <a:xfrm>
            <a:off x="548640" y="3063240"/>
            <a:ext cx="4937760" cy="1298448"/>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Designing the topology of multi-agent systems, and the graphs they remember with</a:t>
            </a:r>
          </a:p>
        </p:txBody>
      </p:sp>
      <p:sp>
        <p:nvSpPr>
          <p:cNvPr id="8" name="Rectangle 7"/>
          <p:cNvSpPr/>
          <p:nvPr/>
        </p:nvSpPr>
        <p:spPr>
          <a:xfrm>
            <a:off x="548640" y="4590288"/>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910327"/>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Agent graphs · Production · Knowledge graphs · Shared memory</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Agent graphs: foundations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Graph vs. loop · Primitives · State and reducers · Durable execution</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Agent graphs in production</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Topology patterns · When not to build · Failure modes · Governance</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Knowledge graphs</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Fundamentals and Cypher · Building KGs with LLMs · KG-RAG and text-to-Cypher</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Where the graphs meet</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KG as shared agent memory · Learning on graphs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ai-engineering/05-graph-engineering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foundations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Graph vs. loop · Primitives · State and reducers · Durable execution</a:t>
            </a:r>
          </a:p>
        </p:txBody>
      </p:sp>
      <p:cxnSp>
        <p:nvCxnSpPr>
          <p:cNvPr id="6" name="Connector 5"/>
          <p:cNvCxnSpPr/>
          <p:nvPr/>
        </p:nvCxnSpPr>
        <p:spPr>
          <a:xfrm>
            <a:off x="6446520" y="1134110"/>
            <a:ext cx="0" cy="45897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4110"/>
            <a:ext cx="4693615" cy="477266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The definition</a:t>
            </a:r>
          </a:p>
          <a:p>
            <a:pPr algn="l">
              <a:lnSpc>
                <a:spcPct val="100000"/>
              </a:lnSpc>
              <a:spcBef>
                <a:spcPts val="910"/>
              </a:spcBef>
            </a:pPr>
            <a:r>
              <a:rPr sz="1300" i="0" b="0">
                <a:solidFill>
                  <a:srgbClr val="CBD5E1"/>
                </a:solidFill>
                <a:latin typeface="Helvetica Neue"/>
              </a:rPr>
              <a:t>Workflows are graphs; agents are loops inside them</a:t>
            </a:r>
          </a:p>
          <a:p>
            <a:pPr algn="l">
              <a:lnSpc>
                <a:spcPct val="100000"/>
              </a:lnSpc>
              <a:spcBef>
                <a:spcPts val="910"/>
              </a:spcBef>
            </a:pPr>
            <a:r>
              <a:rPr sz="1300" i="0" b="0">
                <a:solidFill>
                  <a:srgbClr val="CBD5E1"/>
                </a:solidFill>
                <a:latin typeface="Helvetica Neue"/>
              </a:rPr>
              <a:t>Each layer fails differently</a:t>
            </a:r>
          </a:p>
          <a:p>
            <a:pPr algn="l">
              <a:lnSpc>
                <a:spcPct val="100000"/>
              </a:lnSpc>
              <a:spcBef>
                <a:spcPts val="910"/>
              </a:spcBef>
            </a:pPr>
            <a:r>
              <a:rPr sz="1300" i="0" b="0">
                <a:solidFill>
                  <a:srgbClr val="CBD5E1"/>
                </a:solidFill>
                <a:latin typeface="Helvetica Neue"/>
              </a:rPr>
              <a:t>Five signals that justify a node</a:t>
            </a:r>
          </a:p>
          <a:p>
            <a:pPr algn="l">
              <a:lnSpc>
                <a:spcPct val="100000"/>
              </a:lnSpc>
              <a:spcBef>
                <a:spcPts val="910"/>
              </a:spcBef>
            </a:pPr>
            <a:r>
              <a:rPr sz="1300" i="0" b="0">
                <a:solidFill>
                  <a:srgbClr val="CBD5E1"/>
                </a:solidFill>
                <a:latin typeface="Helvetica Neue"/>
              </a:rPr>
              <a:t>The 30-second decision tree</a:t>
            </a:r>
          </a:p>
          <a:p>
            <a:pPr algn="l">
              <a:lnSpc>
                <a:spcPct val="100000"/>
              </a:lnSpc>
              <a:spcBef>
                <a:spcPts val="910"/>
              </a:spcBef>
            </a:pPr>
            <a:r>
              <a:rPr sz="1300" i="0" b="0">
                <a:solidFill>
                  <a:srgbClr val="CBD5E1"/>
                </a:solidFill>
                <a:latin typeface="Helvetica Neue"/>
              </a:rPr>
              <a:t>Two things called "graph"</a:t>
            </a:r>
          </a:p>
          <a:p>
            <a:pPr algn="l">
              <a:lnSpc>
                <a:spcPct val="100000"/>
              </a:lnSpc>
              <a:spcBef>
                <a:spcPts val="910"/>
              </a:spcBef>
            </a:pPr>
            <a:r>
              <a:rPr sz="1300" i="0" b="0">
                <a:solidFill>
                  <a:srgbClr val="CBD5E1"/>
                </a:solidFill>
                <a:latin typeface="Helvetica Neue"/>
              </a:rPr>
              <a:t>Spend agency per node</a:t>
            </a:r>
          </a:p>
          <a:p>
            <a:pPr algn="l">
              <a:lnSpc>
                <a:spcPct val="100000"/>
              </a:lnSpc>
              <a:spcBef>
                <a:spcPts val="910"/>
              </a:spcBef>
            </a:pPr>
            <a:r>
              <a:rPr sz="1300" i="0" b="0">
                <a:solidFill>
                  <a:srgbClr val="CBD5E1"/>
                </a:solidFill>
                <a:latin typeface="Helvetica Neue"/>
              </a:rPr>
              <a:t>The minimal graph program</a:t>
            </a:r>
          </a:p>
          <a:p>
            <a:pPr algn="l">
              <a:lnSpc>
                <a:spcPct val="100000"/>
              </a:lnSpc>
              <a:spcBef>
                <a:spcPts val="910"/>
              </a:spcBef>
            </a:pPr>
            <a:r>
              <a:rPr sz="1300" i="0" b="0">
                <a:solidFill>
                  <a:srgbClr val="CBD5E1"/>
                </a:solidFill>
                <a:latin typeface="Helvetica Neue"/>
              </a:rPr>
              <a:t>The highest-yield first graph: generate-then-verify</a:t>
            </a:r>
          </a:p>
          <a:p>
            <a:pPr algn="l">
              <a:lnSpc>
                <a:spcPct val="100000"/>
              </a:lnSpc>
              <a:spcBef>
                <a:spcPts val="910"/>
              </a:spcBef>
            </a:pPr>
            <a:r>
              <a:rPr sz="1300" i="0" b="0">
                <a:solidFill>
                  <a:srgbClr val="CBD5E1"/>
                </a:solidFill>
                <a:latin typeface="Helvetica Neue"/>
              </a:rPr>
              <a:t>Typed state with a reducer</a:t>
            </a:r>
          </a:p>
          <a:p>
            <a:pPr algn="l">
              <a:lnSpc>
                <a:spcPct val="100000"/>
              </a:lnSpc>
              <a:spcBef>
                <a:spcPts val="910"/>
              </a:spcBef>
            </a:pPr>
            <a:r>
              <a:rPr sz="1300" i="0" b="0">
                <a:solidFill>
                  <a:srgbClr val="CBD5E1"/>
                </a:solidFill>
                <a:latin typeface="Helvetica Neue"/>
              </a:rPr>
              <a:t>Parallel writes without a reducer fail</a:t>
            </a:r>
          </a:p>
          <a:p>
            <a:pPr algn="l">
              <a:lnSpc>
                <a:spcPct val="100000"/>
              </a:lnSpc>
              <a:spcBef>
                <a:spcPts val="910"/>
              </a:spcBef>
            </a:pPr>
            <a:r>
              <a:rPr sz="1300" i="0" b="0">
                <a:solidFill>
                  <a:srgbClr val="CBD5E1"/>
                </a:solidFill>
                <a:latin typeface="Helvetica Neue"/>
              </a:rPr>
              <a:t>Dynamic fan-out: the Send API</a:t>
            </a:r>
          </a:p>
          <a:p>
            <a:pPr algn="l">
              <a:lnSpc>
                <a:spcPct val="100000"/>
              </a:lnSpc>
              <a:spcBef>
                <a:spcPts val="910"/>
              </a:spcBef>
            </a:pPr>
            <a:r>
              <a:rPr sz="1300" i="0" b="0">
                <a:solidFill>
                  <a:srgbClr val="CBD5E1"/>
                </a:solidFill>
                <a:latin typeface="Helvetica Neue"/>
              </a:rPr>
              <a:t>Checkpoints make a graph pausable</a:t>
            </a:r>
          </a:p>
          <a:p>
            <a:pPr algn="l">
              <a:lnSpc>
                <a:spcPct val="100000"/>
              </a:lnSpc>
              <a:spcBef>
                <a:spcPts val="910"/>
              </a:spcBef>
            </a:pPr>
            <a:r>
              <a:rPr sz="1300" i="0" b="0">
                <a:solidFill>
                  <a:srgbClr val="CBD5E1"/>
                </a:solidFill>
                <a:latin typeface="Helvetica Neue"/>
              </a:rPr>
              <a:t>Static breakpoints vs. interrupt()</a:t>
            </a:r>
          </a:p>
          <a:p>
            <a:pPr algn="l">
              <a:lnSpc>
                <a:spcPct val="100000"/>
              </a:lnSpc>
              <a:spcBef>
                <a:spcPts val="910"/>
              </a:spcBef>
            </a:pPr>
            <a:r>
              <a:rPr sz="1300" i="0" b="0">
                <a:solidFill>
                  <a:srgbClr val="CBD5E1"/>
                </a:solidFill>
                <a:latin typeface="Helvetica Neue"/>
              </a:rPr>
              <a:t>Gate the edges where consequence concentrates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definition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9" name="Rectangle 8"/>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Graph engineering is designing which nodes exist, which transitions are permitted, and what state they carry.</a:t>
            </a:r>
          </a:p>
        </p:txBody>
      </p:sp>
      <p:sp>
        <p:nvSpPr>
          <p:cNvPr id="11" name="TextBox 10"/>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 loop is just a directed, cyclic graph." (LangChain, 3 years of LangGraph)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Workflows are graphs; agents are loops inside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D4621A"/>
                </a:solidFill>
                <a:latin typeface="Helvetica Neue"/>
              </a:rPr>
              <a:t>Anthropic, Building Effective Agents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448055" y="1417320"/>
            <a:ext cx="6261948" cy="28651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ngchain-langgraph-docs-workflows-vs-agent-4699900580392058193.jpg"/>
          <p:cNvPicPr>
            <a:picLocks noChangeAspect="1"/>
          </p:cNvPicPr>
          <p:nvPr/>
        </p:nvPicPr>
        <p:blipFill>
          <a:blip r:embed="rId2"/>
          <a:stretch>
            <a:fillRect/>
          </a:stretch>
        </p:blipFill>
        <p:spPr>
          <a:xfrm>
            <a:off x="502919" y="1472184"/>
            <a:ext cx="6152220" cy="2755448"/>
          </a:xfrm>
          <a:prstGeom prst="rect">
            <a:avLst/>
          </a:prstGeom>
        </p:spPr>
      </p:pic>
      <p:sp>
        <p:nvSpPr>
          <p:cNvPr id="12" name="TextBox 11"/>
          <p:cNvSpPr txBox="1"/>
          <p:nvPr/>
        </p:nvSpPr>
        <p:spPr>
          <a:xfrm>
            <a:off x="502920" y="436479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"Workflows and agents", after Anthropic (2024)</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Workflow:</a:t>
            </a:r>
            <a:r>
              <a:rPr sz="1800" i="0" b="0">
                <a:solidFill>
                  <a:srgbClr val="1E293B"/>
                </a:solidFill>
                <a:latin typeface="Helvetica Neue"/>
              </a:rPr>
              <a:t> predefined code paths</a:t>
            </a:r>
          </a:p>
        </p:txBody>
      </p:sp>
      <p:sp>
        <p:nvSpPr>
          <p:cNvPr id="15" name="Rectangle 14"/>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Agent:</a:t>
            </a:r>
            <a:r>
              <a:rPr sz="1800" i="0" b="0">
                <a:solidFill>
                  <a:srgbClr val="1E293B"/>
                </a:solidFill>
                <a:latin typeface="Helvetica Neue"/>
              </a:rPr>
              <a:t> the model directs its own process</a:t>
            </a:r>
          </a:p>
        </p:txBody>
      </p:sp>
      <p:sp>
        <p:nvSpPr>
          <p:cNvPr id="17" name="Rectangle 16"/>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graph writes the workflow down</a:t>
            </a:r>
          </a:p>
        </p:txBody>
      </p:sp>
      <p:sp>
        <p:nvSpPr>
          <p:cNvPr id="19" name="Rectangle 18"/>
          <p:cNvSpPr/>
          <p:nvPr/>
        </p:nvSpPr>
        <p:spPr>
          <a:xfrm>
            <a:off x="7020900" y="317754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Most production graphs: fixed shapes with </a:t>
            </a:r>
            <a:r>
              <a:rPr sz="1800" i="0" b="1">
                <a:solidFill>
                  <a:srgbClr val="1E293B"/>
                </a:solidFill>
                <a:latin typeface="Helvetica Neue"/>
              </a:rPr>
              <a:t>one or two agent nodes</a:t>
            </a:r>
            <a:r>
              <a:rPr sz="1800" i="0" b="0">
                <a:solidFill>
                  <a:srgbClr val="1E293B"/>
                </a:solidFill>
                <a:latin typeface="Helvetica Neue"/>
              </a:rPr>
              <a:t>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Each layer fails differently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graph of unreliable loops inherits every loop failure, then adds coordination failures.</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Loop</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Doesn't converge</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Spins or quits early</a:t>
            </a:r>
          </a:p>
        </p:txBody>
      </p:sp>
      <p:sp>
        <p:nvSpPr>
          <p:cNvPr id="19" name="Rectangle 18"/>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Games the scorekeeper</a:t>
            </a:r>
          </a:p>
        </p:txBody>
      </p:sp>
      <p:sp>
        <p:nvSpPr>
          <p:cNvPr id="21" name="Rectangle 20"/>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Fix the loop first</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Graph</a:t>
            </a:r>
          </a:p>
        </p:txBody>
      </p:sp>
      <p:sp>
        <p:nvSpPr>
          <p:cNvPr id="26" name="Rectangle 25"/>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Mis-routes</a:t>
            </a:r>
          </a:p>
        </p:txBody>
      </p:sp>
      <p:sp>
        <p:nvSpPr>
          <p:cNvPr id="28" name="Rectangle 27"/>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Deadlocks at a join</a:t>
            </a:r>
          </a:p>
        </p:txBody>
      </p:sp>
      <p:sp>
        <p:nvSpPr>
          <p:cNvPr id="30" name="Rectangle 29"/>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Double-writes shared state</a:t>
            </a:r>
          </a:p>
        </p:txBody>
      </p:sp>
      <p:sp>
        <p:nvSpPr>
          <p:cNvPr id="32" name="Rectangle 31"/>
          <p:cNvSpPr/>
          <p:nvPr/>
        </p:nvSpPr>
        <p:spPr>
          <a:xfrm>
            <a:off x="6507327" y="3556761"/>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47472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Loses accountability for a decision</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Production agents need cycles: not DAGs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signals that justify a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one of these forces it.</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Escalation is a cost you justify, not a maturity level you graduate to.</a:t>
            </a:r>
          </a:p>
        </p:txBody>
      </p:sp>
      <p:graphicFrame>
        <p:nvGraphicFramePr>
          <p:cNvPr id="13" name="Table 12"/>
          <p:cNvGraphicFramePr>
            <a:graphicFrameLocks noGrp="1"/>
          </p:cNvGraphicFramePr>
          <p:nvPr/>
        </p:nvGraphicFramePr>
        <p:xfrm>
          <a:off x="502920" y="1985772"/>
          <a:ext cx="11185854" cy="2432304"/>
        </p:xfrm>
        <a:graphic>
          <a:graphicData uri="http://schemas.openxmlformats.org/drawingml/2006/table">
            <a:tbl>
              <a:tblPr firstRow="1" bandRow="1">
                <a:tableStyleId>{5940675A-B579-460E-94D1-54222C63F5DA}</a:tableStyleId>
              </a:tblPr>
              <a:tblGrid>
                <a:gridCol w="4194695"/>
                <a:gridCol w="6991159"/>
              </a:tblGrid>
              <a:tr h="405384">
                <a:tc>
                  <a:txBody>
                    <a:bodyPr wrap="square"/>
                    <a:lstStyle/>
                    <a:p>
                      <a:pPr>
                        <a:lnSpc>
                          <a:spcPct val="100000"/>
                        </a:lnSpc>
                      </a:pPr>
                      <a:r>
                        <a:rPr sz="1700" i="0" b="1">
                          <a:solidFill>
                            <a:srgbClr val="FFFFFF"/>
                          </a:solidFill>
                          <a:latin typeface="Helvetica Neue"/>
                        </a:rPr>
                        <a:t>Signal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 the loop fails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Distinct specialties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carries each role's baggage into the next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 fan-out +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loop is sequential; wall-clock cost is unnecessary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Per-step model or tool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enforces one model and one tool policy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Auditable control flow</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Emergent loop paths are hard to reconstruct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Overloaded verifier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dedicated reviewer removes criteria confusion</a:t>
                      </a:r>
                    </a:p>
                  </a:txBody>
                  <a:tcPr marL="109728" marR="109728" marT="54864" marB="54864" anchor="ctr">
                    <a:solidFill>
                      <a:srgbClr val="E8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30-second decision tree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most common "we need a graph" is really an overloaded verifier.</a:t>
            </a:r>
          </a:p>
        </p:txBody>
      </p:sp>
      <p:sp>
        <p:nvSpPr>
          <p:cNvPr id="12" name="Rectangle 11"/>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Specialties?</a:t>
            </a:r>
            <a:r>
              <a:rPr sz="1800" i="0" b="0">
                <a:solidFill>
                  <a:srgbClr val="475569"/>
                </a:solidFill>
                <a:latin typeface="Helvetica Neue"/>
              </a:rPr>
              <a:t> — Does the work split into distinct specialties with different needs?</a:t>
            </a:r>
          </a:p>
        </p:txBody>
      </p:sp>
      <p:sp>
        <p:nvSpPr>
          <p:cNvPr id="16" name="Rectangle 15"/>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Parallelism?</a:t>
            </a:r>
            <a:r>
              <a:rPr sz="1800" i="0" b="0">
                <a:solidFill>
                  <a:srgbClr val="475569"/>
                </a:solidFill>
                <a:latin typeface="Helvetica Neue"/>
              </a:rPr>
              <a:t> — Do you need true parallelism: fan out, then join?</a:t>
            </a:r>
          </a:p>
        </p:txBody>
      </p:sp>
      <p:sp>
        <p:nvSpPr>
          <p:cNvPr id="20" name="Rectangle 19"/>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Variation?</a:t>
            </a:r>
            <a:r>
              <a:rPr sz="1800" i="0" b="0">
                <a:solidFill>
                  <a:srgbClr val="475569"/>
                </a:solidFill>
                <a:latin typeface="Helvetica Neue"/>
              </a:rPr>
              <a:t> — Do steps need different models or tools, or auditable branching?</a:t>
            </a:r>
          </a:p>
        </p:txBody>
      </p:sp>
      <p:sp>
        <p:nvSpPr>
          <p:cNvPr id="24" name="Rectangle 23"/>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Verifier?</a:t>
            </a:r>
            <a:r>
              <a:rPr sz="1800" i="0" b="0">
                <a:solidFill>
                  <a:srgbClr val="475569"/>
                </a:solidFill>
                <a:latin typeface="Helvetica Neue"/>
              </a:rPr>
              <a:t> — Is one verifier failing because it judges too many criteria at once?</a:t>
            </a:r>
          </a:p>
        </p:txBody>
      </p:sp>
      <p:sp>
        <p:nvSpPr>
          <p:cNvPr id="28" name="Rectangle 27"/>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31" name="TextBox 30"/>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No to all</a:t>
            </a:r>
            <a:r>
              <a:rPr sz="1800" i="0" b="0">
                <a:solidFill>
                  <a:srgbClr val="475569"/>
                </a:solidFill>
                <a:latin typeface="Helvetica Neue"/>
              </a:rPr>
              <a:t> — </a:t>
            </a:r>
            <a:r>
              <a:rPr sz="1800" i="0" b="1">
                <a:solidFill>
                  <a:srgbClr val="1E293B"/>
                </a:solidFill>
                <a:latin typeface="Helvetica Neue"/>
              </a:rPr>
              <a:t>Strengthen the verifier and ship the loop.</a:t>
            </a:r>
          </a:p>
        </p:txBody>
      </p:sp>
      <p:sp>
        <p:nvSpPr>
          <p:cNvPr id="32" name="TextBox 31"/>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ask in order</a:t>
            </a:r>
          </a:p>
        </p:txBody>
      </p:sp>
      <p:cxnSp>
        <p:nvCxnSpPr>
          <p:cNvPr id="33" name="Connector 32"/>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Two things called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They meet in Part 4, where the knowledge graph is the shared state agents coordinate through.</a:t>
            </a:r>
          </a:p>
        </p:txBody>
      </p:sp>
      <p:graphicFrame>
        <p:nvGraphicFramePr>
          <p:cNvPr id="12" name="Table 11"/>
          <p:cNvGraphicFramePr>
            <a:graphicFrameLocks noGrp="1"/>
          </p:cNvGraphicFramePr>
          <p:nvPr/>
        </p:nvGraphicFramePr>
        <p:xfrm>
          <a:off x="502920" y="1472184"/>
          <a:ext cx="11185853" cy="2026920"/>
        </p:xfrm>
        <a:graphic>
          <a:graphicData uri="http://schemas.openxmlformats.org/drawingml/2006/table">
            <a:tbl>
              <a:tblPr firstRow="1" bandRow="1">
                <a:tableStyleId>{5940675A-B579-460E-94D1-54222C63F5DA}</a:tableStyleId>
              </a:tblPr>
              <a:tblGrid>
                <a:gridCol w="2412635"/>
                <a:gridCol w="4386609"/>
                <a:gridCol w="4386609"/>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Agent graph (Parts 1–2)</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 (Part 3)</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Nodes are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Units of computation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Edges are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Permitted transitions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Typed relationships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The graph is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Execution topology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Data structure for retrieval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Runtime concern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Routing, state, cost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Traversal, entity resolution</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Spend agency per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Code where you can, one LLM call where you must, an agent only where the path is unknown.</a:t>
            </a:r>
          </a:p>
        </p:txBody>
      </p:sp>
      <p:graphicFrame>
        <p:nvGraphicFramePr>
          <p:cNvPr id="12" name="Table 11"/>
          <p:cNvGraphicFramePr>
            <a:graphicFrameLocks noGrp="1"/>
          </p:cNvGraphicFramePr>
          <p:nvPr/>
        </p:nvGraphicFramePr>
        <p:xfrm>
          <a:off x="502920" y="1472184"/>
          <a:ext cx="11185852" cy="3209544"/>
        </p:xfrm>
        <a:graphic>
          <a:graphicData uri="http://schemas.openxmlformats.org/drawingml/2006/table">
            <a:tbl>
              <a:tblPr firstRow="1" bandRow="1">
                <a:tableStyleId>{5940675A-B579-460E-94D1-54222C63F5DA}</a:tableStyleId>
              </a:tblPr>
              <a:tblGrid>
                <a:gridCol w="2551159"/>
                <a:gridCol w="3924861"/>
                <a:gridCol w="2354916"/>
                <a:gridCol w="2354916"/>
              </a:tblGrid>
              <a:tr h="405384">
                <a:tc>
                  <a:txBody>
                    <a:bodyPr wrap="square"/>
                    <a:lstStyle/>
                    <a:p>
                      <a:pPr>
                        <a:lnSpc>
                          <a:spcPct val="100000"/>
                        </a:lnSpc>
                      </a:pPr>
                      <a:r>
                        <a:rPr sz="1700" i="0" b="1">
                          <a:solidFill>
                            <a:srgbClr val="FFFFFF"/>
                          </a:solidFill>
                          <a:latin typeface="Helvetica Neue"/>
                        </a:rPr>
                        <a:t>Node kind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Determinism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Deterministic function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Parsing, validation, API calls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Total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Compute only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Classify and dispatch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call at most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Single LLM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Summarise, extract, draft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call</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Agent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Open-ended reasoning with a tool loop</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Low</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Many, variable</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Human checkpoint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Approval before a consequential act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External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Latency</a:t>
                      </a:r>
                    </a:p>
                  </a:txBody>
                  <a:tcPr marL="109728" marR="109728" marT="54864" marB="5486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minimal graph program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builder = StateGraph(MessagesState)</a:t>
            </a:r>
          </a:p>
          <a:p>
            <a:pPr algn="l">
              <a:lnSpc>
                <a:spcPct val="100000"/>
              </a:lnSpc>
            </a:pPr>
            <a:r>
              <a:rPr sz="1600" i="0" b="0">
                <a:solidFill>
                  <a:srgbClr val="E2E8F0"/>
                </a:solidFill>
                <a:latin typeface="Menlo"/>
              </a:rPr>
              <a:t>builder.add_node("node_a", node_a)</a:t>
            </a:r>
          </a:p>
          <a:p>
            <a:pPr algn="l">
              <a:lnSpc>
                <a:spcPct val="100000"/>
              </a:lnSpc>
            </a:pPr>
            <a:r>
              <a:rPr sz="1600" i="0" b="0">
                <a:solidFill>
                  <a:srgbClr val="E2E8F0"/>
                </a:solidFill>
                <a:latin typeface="Menlo"/>
              </a:rPr>
              <a:t>builder.add_node("node_b", node_b)</a:t>
            </a:r>
          </a:p>
          <a:p>
            <a:pPr algn="l">
              <a:lnSpc>
                <a:spcPct val="100000"/>
              </a:lnSpc>
            </a:pPr>
            <a:r>
              <a:rPr sz="1600" i="0" b="0">
                <a:solidFill>
                  <a:srgbClr val="E2E8F0"/>
                </a:solidFill>
                <a:latin typeface="Menlo"/>
              </a:rPr>
              <a:t>builder.add_edge(START, "node_a")</a:t>
            </a:r>
          </a:p>
          <a:p>
            <a:pPr algn="l">
              <a:lnSpc>
                <a:spcPct val="100000"/>
              </a:lnSpc>
            </a:pPr>
            <a:r>
              <a:rPr sz="1600" i="0" b="0">
                <a:solidFill>
                  <a:srgbClr val="E2E8F0"/>
                </a:solidFill>
                <a:latin typeface="Menlo"/>
              </a:rPr>
              <a:t>builder.add_conditional_edges("node_a", router)</a:t>
            </a:r>
          </a:p>
          <a:p>
            <a:pPr algn="l">
              <a:lnSpc>
                <a:spcPct val="100000"/>
              </a:lnSpc>
            </a:pPr>
            <a:r>
              <a:rPr sz="1600" i="0" b="0">
                <a:solidFill>
                  <a:srgbClr val="E2E8F0"/>
                </a:solidFill>
                <a:latin typeface="Menlo"/>
              </a:rPr>
              <a:t>builder.add_edge("node_b", "node_a")  # the cycle</a:t>
            </a:r>
          </a:p>
          <a:p>
            <a:pPr algn="l">
              <a:lnSpc>
                <a:spcPct val="100000"/>
              </a:lnSpc>
            </a:pPr>
            <a:r>
              <a:rPr sz="1600" i="0" b="0">
                <a:solidFill>
                  <a:srgbClr val="E2E8F0"/>
                </a:solidFill>
                <a:latin typeface="Menlo"/>
              </a:rPr>
              <a:t>graph = builder.compile()</a:t>
            </a:r>
          </a:p>
          <a:p>
            <a:pPr algn="l">
              <a:lnSpc>
                <a:spcPct val="100000"/>
              </a:lnSpc>
            </a:pPr>
          </a:p>
          <a:p>
            <a:pPr algn="l">
              <a:lnSpc>
                <a:spcPct val="100000"/>
              </a:lnSpc>
            </a:pPr>
            <a:r>
              <a:rPr sz="1600" i="0" b="0">
                <a:solidFill>
                  <a:srgbClr val="E2E8F0"/>
                </a:solidFill>
                <a:latin typeface="Menlo"/>
              </a:rPr>
              <a:t>def router(state) -&gt; str:</a:t>
            </a:r>
          </a:p>
          <a:p>
            <a:pPr algn="l">
              <a:lnSpc>
                <a:spcPct val="100000"/>
              </a:lnSpc>
            </a:pPr>
            <a:r>
              <a:rPr sz="1600" i="0" b="0">
                <a:solidFill>
                  <a:srgbClr val="E2E8F0"/>
                </a:solidFill>
                <a:latin typeface="Menlo"/>
              </a:rPr>
              <a:t>    # ordinary code over state</a:t>
            </a:r>
          </a:p>
          <a:p>
            <a:pPr algn="l">
              <a:lnSpc>
                <a:spcPct val="100000"/>
              </a:lnSpc>
            </a:pPr>
            <a:r>
              <a:rPr sz="1600" i="0" b="0">
                <a:solidFill>
                  <a:srgbClr val="E2E8F0"/>
                </a:solidFill>
                <a:latin typeface="Menlo"/>
              </a:rPr>
              <a:t>    return "node_b" if needs_more(state) else END</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read state, return only changed keys</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a:t>
            </a:r>
            <a:r>
              <a:rPr sz="1800" i="0" b="0">
                <a:solidFill>
                  <a:srgbClr val="1E293B"/>
                </a:solidFill>
                <a:latin typeface="Helvetica Neue"/>
              </a:rPr>
              <a:t> plain code returning the next node's name</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Conditional edges</a:t>
            </a:r>
            <a:r>
              <a:rPr sz="1800" i="0" b="0">
                <a:solidFill>
                  <a:srgbClr val="1E293B"/>
                </a:solidFill>
                <a:latin typeface="Helvetica Neue"/>
              </a:rPr>
              <a:t> give branching, error paths, gates, early exit, cycles</a:t>
            </a:r>
          </a:p>
        </p:txBody>
      </p:sp>
      <p:sp>
        <p:nvSpPr>
          <p:cNvPr id="18" name="Rectangle 17"/>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Compile, then invoke with initial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highest-yield first graph: generate-then-verify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9" name="Rounded Rectangle 8"/>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produces a draft</a:t>
            </a:r>
          </a:p>
        </p:txBody>
      </p:sp>
      <p:cxnSp>
        <p:nvCxnSpPr>
          <p:cNvPr id="11" name="Connector 10"/>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Verify</a:t>
            </a:r>
          </a:p>
          <a:p>
            <a:pPr algn="ctr">
              <a:lnSpc>
                <a:spcPct val="110000"/>
              </a:lnSpc>
            </a:pPr>
            <a:r>
              <a:rPr sz="1300" i="0" b="0">
                <a:solidFill>
                  <a:srgbClr val="E8F4F8"/>
                </a:solidFill>
                <a:latin typeface="Helvetica Neue"/>
              </a:rPr>
              <a:t>independent check: tests, schema, rubric</a:t>
            </a:r>
          </a:p>
        </p:txBody>
      </p:sp>
      <p:cxnSp>
        <p:nvCxnSpPr>
          <p:cNvPr id="14" name="Connector 13"/>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Done</a:t>
            </a:r>
          </a:p>
          <a:p>
            <a:pPr algn="ctr">
              <a:lnSpc>
                <a:spcPct val="110000"/>
              </a:lnSpc>
            </a:pPr>
            <a:r>
              <a:rPr sz="1300" i="0" b="0">
                <a:solidFill>
                  <a:srgbClr val="E8F4F8"/>
                </a:solidFill>
                <a:latin typeface="Helvetica Neue"/>
              </a:rPr>
              <a:t>passes or attempts exhausted</a:t>
            </a:r>
          </a:p>
        </p:txBody>
      </p:sp>
      <p:cxnSp>
        <p:nvCxnSpPr>
          <p:cNvPr id="17" name="Connector 16"/>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back-edge with the critique, bounded by an attempt counter</a:t>
            </a:r>
          </a:p>
        </p:txBody>
      </p:sp>
      <p:sp>
        <p:nvSpPr>
          <p:cNvPr id="21" name="Rectangle 20"/>
          <p:cNvSpPr/>
          <p:nvPr/>
        </p:nvSpPr>
        <p:spPr>
          <a:xfrm>
            <a:off x="502920" y="4003801"/>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verifier sees the task and the output, </a:t>
            </a:r>
            <a:r>
              <a:rPr sz="1900" i="0" b="1">
                <a:solidFill>
                  <a:srgbClr val="1E293B"/>
                </a:solidFill>
                <a:latin typeface="Helvetica Neue"/>
              </a:rPr>
              <a:t>never the generator's reasoning</a:t>
            </a:r>
          </a:p>
        </p:txBody>
      </p:sp>
      <p:sp>
        <p:nvSpPr>
          <p:cNvPr id="23" name="Rectangle 22"/>
          <p:cNvSpPr/>
          <p:nvPr/>
        </p:nvSpPr>
        <p:spPr>
          <a:xfrm>
            <a:off x="502920" y="446709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back-edge carries the critique into the next attempt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Typed state with a reducer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9" name="Rounded Rectangle 8"/>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ReviewState(TypedDict):</a:t>
            </a:r>
          </a:p>
          <a:p>
            <a:pPr algn="l">
              <a:lnSpc>
                <a:spcPct val="100000"/>
              </a:lnSpc>
            </a:pPr>
            <a:r>
              <a:rPr sz="1600" i="0" b="0">
                <a:solidFill>
                  <a:srgbClr val="E2E8F0"/>
                </a:solidFill>
                <a:latin typeface="Menlo"/>
              </a:rPr>
              <a:t>    task: str          # set once, read by all</a:t>
            </a:r>
          </a:p>
          <a:p>
            <a:pPr algn="l">
              <a:lnSpc>
                <a:spcPct val="100000"/>
              </a:lnSpc>
            </a:pPr>
            <a:r>
              <a:rPr sz="1600" i="0" b="0">
                <a:solidFill>
                  <a:srgbClr val="E2E8F0"/>
                </a:solidFill>
                <a:latin typeface="Menlo"/>
              </a:rPr>
              <a:t>    draft: str         # one writer: generator</a:t>
            </a:r>
          </a:p>
          <a:p>
            <a:pPr algn="l">
              <a:lnSpc>
                <a:spcPct val="100000"/>
              </a:lnSpc>
            </a:pPr>
            <a:r>
              <a:rPr sz="1600" i="0" b="0">
                <a:solidFill>
                  <a:srgbClr val="E2E8F0"/>
                </a:solidFill>
                <a:latin typeface="Menlo"/>
              </a:rPr>
              <a:t>    findings: Annotated[list[str], operator.add]</a:t>
            </a:r>
          </a:p>
          <a:p>
            <a:pPr algn="l">
              <a:lnSpc>
                <a:spcPct val="100000"/>
              </a:lnSpc>
            </a:pPr>
            <a:r>
              <a:rPr sz="1600" i="0" b="0">
                <a:solidFill>
                  <a:srgbClr val="E2E8F0"/>
                </a:solidFill>
                <a:latin typeface="Menlo"/>
              </a:rPr>
              <a:t>                       # many writers: reducer</a:t>
            </a:r>
          </a:p>
          <a:p>
            <a:pPr algn="l">
              <a:lnSpc>
                <a:spcPct val="100000"/>
              </a:lnSpc>
            </a:pPr>
            <a:r>
              <a:rPr sz="1600" i="0" b="0">
                <a:solidFill>
                  <a:srgbClr val="E2E8F0"/>
                </a:solidFill>
                <a:latin typeface="Menlo"/>
              </a:rPr>
              <a:t>    attempts: int      # the bound on the cycle</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Every key has </a:t>
            </a:r>
            <a:r>
              <a:rPr sz="1800" i="0" b="1">
                <a:solidFill>
                  <a:srgbClr val="1E293B"/>
                </a:solidFill>
                <a:latin typeface="Helvetica Neue"/>
              </a:rPr>
              <a:t>one writer or a reducer</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operator.add</a:t>
            </a:r>
            <a:r>
              <a:rPr sz="1800" i="0" b="0">
                <a:solidFill>
                  <a:srgbClr val="1E293B"/>
                </a:solidFill>
                <a:latin typeface="Helvetica Neue"/>
              </a:rPr>
              <a:t> concatenates parallel writes</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Custom reducers can dedupe</a:t>
            </a:r>
          </a:p>
        </p:txBody>
      </p:sp>
      <p:sp>
        <p:nvSpPr>
          <p:cNvPr id="18" name="Rectangle 17"/>
          <p:cNvSpPr/>
          <p:nvPr/>
        </p:nvSpPr>
        <p:spPr>
          <a:xfrm>
            <a:off x="7580193" y="352501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43814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attempts</a:t>
            </a:r>
            <a:r>
              <a:rPr sz="1800" i="0" b="0">
                <a:solidFill>
                  <a:srgbClr val="1E293B"/>
                </a:solidFill>
                <a:latin typeface="Helvetica Neue"/>
              </a:rPr>
              <a:t> lives in state so the router can bound the cycle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Parallel writes without a reducer fail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shared key has one writer or a reducer.</a:t>
            </a:r>
          </a:p>
        </p:txBody>
      </p:sp>
      <p:sp>
        <p:nvSpPr>
          <p:cNvPr id="12" name="Rectangle 11"/>
          <p:cNvSpPr/>
          <p:nvPr/>
        </p:nvSpPr>
        <p:spPr>
          <a:xfrm>
            <a:off x="1392643" y="1417320"/>
            <a:ext cx="4372772"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ngchain-langgraph-docs-parallel-super-step.png"/>
          <p:cNvPicPr>
            <a:picLocks noChangeAspect="1"/>
          </p:cNvPicPr>
          <p:nvPr/>
        </p:nvPicPr>
        <p:blipFill>
          <a:blip r:embed="rId2"/>
          <a:stretch>
            <a:fillRect/>
          </a:stretch>
        </p:blipFill>
        <p:spPr>
          <a:xfrm>
            <a:off x="1447507" y="1472184"/>
            <a:ext cx="4263044"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(LangChain), via sources/langgraph_extended.pptx</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Branches A and B run in </a:t>
            </a:r>
            <a:r>
              <a:rPr sz="1800" i="0" b="1">
                <a:solidFill>
                  <a:srgbClr val="1E293B"/>
                </a:solidFill>
                <a:latin typeface="Helvetica Neue"/>
              </a:rPr>
              <a:t>one super-step</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 checkpoint between them</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write one key with no reducer → </a:t>
            </a:r>
            <a:r>
              <a:rPr sz="1620" i="0" b="1">
                <a:solidFill>
                  <a:srgbClr val="0F7490"/>
                </a:solidFill>
                <a:latin typeface="Menlo"/>
              </a:rPr>
              <a:t>InvalidUpdateError</a:t>
            </a:r>
          </a:p>
        </p:txBody>
      </p:sp>
      <p:sp>
        <p:nvSpPr>
          <p:cNvPr id="21" name="Rectangle 20"/>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Outside LangGraph the same race silently loses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Dynamic fan-out: the Send API</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Does the next step read the previous step's output? If not, fan out.</a:t>
            </a:r>
          </a:p>
        </p:txBody>
      </p:sp>
      <p:sp>
        <p:nvSpPr>
          <p:cNvPr id="12" name="Rounded Rectangle 11"/>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fan_out(state) -&gt; list[Send]:</a:t>
            </a:r>
          </a:p>
          <a:p>
            <a:pPr algn="l">
              <a:lnSpc>
                <a:spcPct val="100000"/>
              </a:lnSpc>
            </a:pPr>
            <a:r>
              <a:rPr sz="1600" i="0" b="0">
                <a:solidFill>
                  <a:srgbClr val="E2E8F0"/>
                </a:solidFill>
                <a:latin typeface="Menlo"/>
              </a:rPr>
              <a:t>    return [Send("review_file",</a:t>
            </a:r>
          </a:p>
          <a:p>
            <a:pPr algn="l">
              <a:lnSpc>
                <a:spcPct val="100000"/>
              </a:lnSpc>
            </a:pPr>
            <a:r>
              <a:rPr sz="1600" i="0" b="0">
                <a:solidFill>
                  <a:srgbClr val="E2E8F0"/>
                </a:solidFill>
                <a:latin typeface="Menlo"/>
              </a:rPr>
              <a:t>                 {"path": p, "task": state["task"]})</a:t>
            </a:r>
          </a:p>
          <a:p>
            <a:pPr algn="l">
              <a:lnSpc>
                <a:spcPct val="100000"/>
              </a:lnSpc>
            </a:pPr>
            <a:r>
              <a:rPr sz="1600" i="0" b="0">
                <a:solidFill>
                  <a:srgbClr val="E2E8F0"/>
                </a:solidFill>
                <a:latin typeface="Menlo"/>
              </a:rPr>
              <a:t>            for p in state["changed_files"]]</a:t>
            </a:r>
          </a:p>
          <a:p>
            <a:pPr algn="l">
              <a:lnSpc>
                <a:spcPct val="100000"/>
              </a:lnSpc>
            </a:pPr>
          </a:p>
          <a:p>
            <a:pPr algn="l">
              <a:lnSpc>
                <a:spcPct val="100000"/>
              </a:lnSpc>
            </a:pPr>
            <a:r>
              <a:rPr sz="1600" i="0" b="0">
                <a:solidFill>
                  <a:srgbClr val="E2E8F0"/>
                </a:solidFill>
                <a:latin typeface="Menlo"/>
              </a:rPr>
              <a:t>builder.add_conditional_edges(</a:t>
            </a:r>
          </a:p>
          <a:p>
            <a:pPr algn="l">
              <a:lnSpc>
                <a:spcPct val="100000"/>
              </a:lnSpc>
            </a:pPr>
            <a:r>
              <a:rPr sz="1600" i="0" b="0">
                <a:solidFill>
                  <a:srgbClr val="E2E8F0"/>
                </a:solidFill>
                <a:latin typeface="Menlo"/>
              </a:rPr>
              <a:t>    "plan", fan_out, ["review_file"])</a:t>
            </a:r>
          </a:p>
          <a:p>
            <a:pPr algn="l">
              <a:lnSpc>
                <a:spcPct val="100000"/>
              </a:lnSpc>
            </a:pPr>
            <a:r>
              <a:rPr sz="1600" i="0" b="0">
                <a:solidFill>
                  <a:srgbClr val="E2E8F0"/>
                </a:solidFill>
                <a:latin typeface="Menlo"/>
              </a:rPr>
              <a:t>builder.add_edge("review_file", "synthesize")</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worker per item, decided </a:t>
            </a:r>
            <a:r>
              <a:rPr sz="1800" i="0" b="1">
                <a:solidFill>
                  <a:srgbClr val="1E293B"/>
                </a:solidFill>
                <a:latin typeface="Helvetica Neue"/>
              </a:rPr>
              <a:t>at runtime</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a:t>
            </a:r>
            <a:r>
              <a:rPr sz="1620" i="0" b="0">
                <a:solidFill>
                  <a:srgbClr val="0F7490"/>
                </a:solidFill>
                <a:latin typeface="Menlo"/>
              </a:rPr>
              <a:t>Send</a:t>
            </a:r>
            <a:r>
              <a:rPr sz="1800" i="0" b="0">
                <a:solidFill>
                  <a:srgbClr val="1E293B"/>
                </a:solidFill>
                <a:latin typeface="Helvetica Neue"/>
              </a:rPr>
              <a:t> carries its own private input</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Results merge through the reducer</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Cap N</a:t>
            </a:r>
            <a:r>
              <a:rPr sz="1800" i="0" b="0">
                <a:solidFill>
                  <a:srgbClr val="1E293B"/>
                </a:solidFill>
                <a:latin typeface="Helvetica Neue"/>
              </a:rPr>
              <a:t>: unbounded fan-out is a cost bug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Checkpoints make a graph pausable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If a run can outlive its process, compile with a persistent checkpointer.</a:t>
            </a:r>
          </a:p>
        </p:txBody>
      </p:sp>
      <p:sp>
        <p:nvSpPr>
          <p:cNvPr id="12" name="Rounded Rectangle 11"/>
          <p:cNvSpPr/>
          <p:nvPr/>
        </p:nvSpPr>
        <p:spPr>
          <a:xfrm>
            <a:off x="502920" y="1472184"/>
            <a:ext cx="6711513" cy="36576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30175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graph = builder.compile(checkpointer=saver)</a:t>
            </a:r>
          </a:p>
          <a:p>
            <a:pPr algn="l">
              <a:lnSpc>
                <a:spcPct val="100000"/>
              </a:lnSpc>
            </a:pPr>
            <a:r>
              <a:rPr sz="1500" i="0" b="0">
                <a:solidFill>
                  <a:srgbClr val="E2E8F0"/>
                </a:solidFill>
                <a:latin typeface="Menlo"/>
              </a:rPr>
              <a:t>config = {"configurable": {"thread_id": "review-42"}}</a:t>
            </a:r>
          </a:p>
          <a:p>
            <a:pPr algn="l">
              <a:lnSpc>
                <a:spcPct val="100000"/>
              </a:lnSpc>
            </a:pPr>
          </a:p>
          <a:p>
            <a:pPr algn="l">
              <a:lnSpc>
                <a:spcPct val="100000"/>
              </a:lnSpc>
            </a:pPr>
            <a:r>
              <a:rPr sz="1500" i="0" b="0">
                <a:solidFill>
                  <a:srgbClr val="E2E8F0"/>
                </a:solidFill>
                <a:latin typeface="Menlo"/>
              </a:rPr>
              <a:t>def publish(state):</a:t>
            </a:r>
          </a:p>
          <a:p>
            <a:pPr algn="l">
              <a:lnSpc>
                <a:spcPct val="100000"/>
              </a:lnSpc>
            </a:pPr>
            <a:r>
              <a:rPr sz="1500" i="0" b="0">
                <a:solidFill>
                  <a:srgbClr val="E2E8F0"/>
                </a:solidFill>
                <a:latin typeface="Menlo"/>
              </a:rPr>
              <a:t>    decision = interrupt({"draft": state["draft"]})</a:t>
            </a:r>
          </a:p>
          <a:p>
            <a:pPr algn="l">
              <a:lnSpc>
                <a:spcPct val="100000"/>
              </a:lnSpc>
            </a:pPr>
            <a:r>
              <a:rPr sz="1500" i="0" b="0">
                <a:solidFill>
                  <a:srgbClr val="E2E8F0"/>
                </a:solidFill>
                <a:latin typeface="Menlo"/>
              </a:rPr>
              <a:t>    if decision != "approve":</a:t>
            </a:r>
          </a:p>
          <a:p>
            <a:pPr algn="l">
              <a:lnSpc>
                <a:spcPct val="100000"/>
              </a:lnSpc>
            </a:pPr>
            <a:r>
              <a:rPr sz="1500" i="0" b="0">
                <a:solidFill>
                  <a:srgbClr val="E2E8F0"/>
                </a:solidFill>
                <a:latin typeface="Menlo"/>
              </a:rPr>
              <a:t>        return {"status": "rejected"}</a:t>
            </a:r>
          </a:p>
          <a:p>
            <a:pPr algn="l">
              <a:lnSpc>
                <a:spcPct val="100000"/>
              </a:lnSpc>
            </a:pPr>
            <a:r>
              <a:rPr sz="1500" i="0" b="0">
                <a:solidFill>
                  <a:srgbClr val="E2E8F0"/>
                </a:solidFill>
                <a:latin typeface="Menlo"/>
              </a:rPr>
              <a:t>    send_to_cms(state["draft"])   # after the interrupt</a:t>
            </a:r>
          </a:p>
          <a:p>
            <a:pPr algn="l">
              <a:lnSpc>
                <a:spcPct val="100000"/>
              </a:lnSpc>
            </a:pPr>
            <a:r>
              <a:rPr sz="1500" i="0" b="0">
                <a:solidFill>
                  <a:srgbClr val="E2E8F0"/>
                </a:solidFill>
                <a:latin typeface="Menlo"/>
              </a:rPr>
              <a:t>    return {"status": "published"}</a:t>
            </a:r>
          </a:p>
          <a:p>
            <a:pPr algn="l">
              <a:lnSpc>
                <a:spcPct val="100000"/>
              </a:lnSpc>
            </a:pPr>
          </a:p>
          <a:p>
            <a:pPr algn="l">
              <a:lnSpc>
                <a:spcPct val="100000"/>
              </a:lnSpc>
            </a:pPr>
            <a:r>
              <a:rPr sz="1500" i="0" b="0">
                <a:solidFill>
                  <a:srgbClr val="E2E8F0"/>
                </a:solidFill>
                <a:latin typeface="Menlo"/>
              </a:rPr>
              <a:t>graph.invoke({"task": "..."}, config)       # pauses</a:t>
            </a:r>
          </a:p>
          <a:p>
            <a:pPr algn="l">
              <a:lnSpc>
                <a:spcPct val="100000"/>
              </a:lnSpc>
            </a:pPr>
            <a:r>
              <a:rPr sz="1500" i="0" b="0">
                <a:solidFill>
                  <a:srgbClr val="E2E8F0"/>
                </a:solidFill>
                <a:latin typeface="Menlo"/>
              </a:rPr>
              <a:t>graph.invoke(Command(resume="approve"), config)</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Checkpoint</a:t>
            </a:r>
            <a:r>
              <a:rPr sz="1800" i="0" b="0">
                <a:solidFill>
                  <a:srgbClr val="1E293B"/>
                </a:solidFill>
                <a:latin typeface="Helvetica Neue"/>
              </a:rPr>
              <a:t> after every super-step</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Thread</a:t>
            </a:r>
            <a:r>
              <a:rPr sz="1800" i="0" b="0">
                <a:solidFill>
                  <a:srgbClr val="1E293B"/>
                </a:solidFill>
                <a:latin typeface="Helvetica Neue"/>
              </a:rPr>
              <a:t> = </a:t>
            </a:r>
            <a:r>
              <a:rPr sz="1620" i="0" b="0">
                <a:solidFill>
                  <a:srgbClr val="0F7490"/>
                </a:solidFill>
                <a:latin typeface="Menlo"/>
              </a:rPr>
              <a:t>thread_id</a:t>
            </a:r>
            <a:r>
              <a:rPr sz="1800" i="0" b="0">
                <a:solidFill>
                  <a:srgbClr val="1E293B"/>
                </a:solidFill>
                <a:latin typeface="Helvetica Neue"/>
              </a:rPr>
              <a:t>; pick it deliberately</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Human-in-the-loop, crash resume, time travel</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Gotcha: the node </a:t>
            </a:r>
            <a:r>
              <a:rPr sz="1800" i="0" b="1">
                <a:solidFill>
                  <a:srgbClr val="1E293B"/>
                </a:solidFill>
                <a:latin typeface="Helvetica Neue"/>
              </a:rPr>
              <a:t>reruns from line 1</a:t>
            </a:r>
            <a:r>
              <a:rPr sz="1800" i="0" b="0">
                <a:solidFill>
                  <a:srgbClr val="1E293B"/>
                </a:solidFill>
                <a:latin typeface="Helvetica Neue"/>
              </a:rPr>
              <a:t> on resume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Static breakpoints vs. interrupt()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ngchain-langgraph-docs-interrupt-before-after.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human-in-the-loop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interrupt_before/after</a:t>
            </a:r>
            <a:r>
              <a:rPr sz="1800" i="0" b="0">
                <a:solidFill>
                  <a:srgbClr val="1E293B"/>
                </a:solidFill>
                <a:latin typeface="Helvetica Neue"/>
              </a:rPr>
              <a:t>: node boundaries, for </a:t>
            </a:r>
            <a:r>
              <a:rPr sz="1800" i="0" b="1">
                <a:solidFill>
                  <a:srgbClr val="1E293B"/>
                </a:solidFill>
                <a:latin typeface="Helvetica Neue"/>
              </a:rPr>
              <a:t>debugging</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a:t>
            </a:r>
            <a:r>
              <a:rPr sz="1800" i="0" b="0">
                <a:solidFill>
                  <a:srgbClr val="1E293B"/>
                </a:solidFill>
                <a:latin typeface="Helvetica Neue"/>
              </a:rPr>
              <a:t>: anywhere inside a node, for </a:t>
            </a:r>
            <a:r>
              <a:rPr sz="1800" i="0" b="1">
                <a:solidFill>
                  <a:srgbClr val="1E293B"/>
                </a:solidFill>
                <a:latin typeface="Helvetica Neue"/>
              </a:rPr>
              <a:t>production</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node passes the human exactly what they need</a:t>
            </a:r>
          </a:p>
        </p:txBody>
      </p:sp>
      <p:sp>
        <p:nvSpPr>
          <p:cNvPr id="18" name="Rectangle 17"/>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Put it inside a </a:t>
            </a:r>
            <a:r>
              <a:rPr sz="1800" i="0" b="1">
                <a:solidFill>
                  <a:srgbClr val="1E293B"/>
                </a:solidFill>
                <a:latin typeface="Helvetica Neue"/>
              </a:rPr>
              <a:t>tool</a:t>
            </a:r>
            <a:r>
              <a:rPr sz="1800" i="0" b="0">
                <a:solidFill>
                  <a:srgbClr val="1E293B"/>
                </a:solidFill>
                <a:latin typeface="Helvetica Neue"/>
              </a:rPr>
              <a:t> and the gate travels with the tool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Gate the edges where consequence concentrates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"Human approval checkpoints ... at exactly the edges where consequence concentrates." (TrueFoundry)</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gate on every node trains people to click approve without reading.</a:t>
            </a:r>
          </a:p>
        </p:txBody>
      </p:sp>
      <p:graphicFrame>
        <p:nvGraphicFramePr>
          <p:cNvPr id="13" name="Table 12"/>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Gate before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Irreversible actions: send, pay, delete, deploy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Can't be undone, so check first</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Crossing a trust boundary: external API, other tenant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Someone else bears the cost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Low-confidence router decisions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Cheap for a human, expensive to mis-route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After the plan, before the build (n8n)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plan is the cheapest thing to correct</a:t>
                      </a:r>
                    </a:p>
                  </a:txBody>
                  <a:tcPr marL="109728" marR="109728" marT="54864" marB="54864" anchor="ctr">
                    <a:solidFill>
                      <a:srgbClr val="F8FA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in production</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Topology patterns · When not to build · Failure modes · Governance</a:t>
            </a:r>
          </a:p>
        </p:txBody>
      </p:sp>
      <p:cxnSp>
        <p:nvCxnSpPr>
          <p:cNvPr id="6" name="Connector 5"/>
          <p:cNvCxnSpPr/>
          <p:nvPr/>
        </p:nvCxnSpPr>
        <p:spPr>
          <a:xfrm>
            <a:off x="6446520" y="1132840"/>
            <a:ext cx="0" cy="45923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2840"/>
            <a:ext cx="4693615" cy="47752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Five topologies that recur</a:t>
            </a:r>
          </a:p>
          <a:p>
            <a:pPr algn="l">
              <a:lnSpc>
                <a:spcPct val="100000"/>
              </a:lnSpc>
              <a:spcBef>
                <a:spcPts val="1120"/>
              </a:spcBef>
            </a:pPr>
            <a:r>
              <a:rPr sz="1600" i="0" b="0">
                <a:solidFill>
                  <a:srgbClr val="CBD5E1"/>
                </a:solidFill>
                <a:latin typeface="Helvetica Neue"/>
              </a:rPr>
              <a:t>Subgraphs: share keys, or map at the boundary</a:t>
            </a:r>
          </a:p>
          <a:p>
            <a:pPr algn="l">
              <a:lnSpc>
                <a:spcPct val="100000"/>
              </a:lnSpc>
              <a:spcBef>
                <a:spcPts val="1120"/>
              </a:spcBef>
            </a:pPr>
            <a:r>
              <a:rPr sz="1600" i="0" b="0">
                <a:solidFill>
                  <a:srgbClr val="CBD5E1"/>
                </a:solidFill>
                <a:latin typeface="Helvetica Neue"/>
              </a:rPr>
              <a:t>Shared vs. isolated context</a:t>
            </a:r>
          </a:p>
          <a:p>
            <a:pPr algn="l">
              <a:lnSpc>
                <a:spcPct val="100000"/>
              </a:lnSpc>
              <a:spcBef>
                <a:spcPts val="1120"/>
              </a:spcBef>
            </a:pPr>
            <a:r>
              <a:rPr sz="1600" i="0" b="0">
                <a:solidFill>
                  <a:srgbClr val="CBD5E1"/>
                </a:solidFill>
                <a:latin typeface="Helvetica Neue"/>
              </a:rPr>
              <a:t>A second agent helps only if it adds information</a:t>
            </a:r>
          </a:p>
          <a:p>
            <a:pPr algn="l">
              <a:lnSpc>
                <a:spcPct val="100000"/>
              </a:lnSpc>
              <a:spcBef>
                <a:spcPts val="1120"/>
              </a:spcBef>
            </a:pPr>
            <a:r>
              <a:rPr sz="1600" i="0" b="0">
                <a:solidFill>
                  <a:srgbClr val="CBD5E1"/>
                </a:solidFill>
                <a:latin typeface="Helvetica Neue"/>
              </a:rPr>
              <a:t>Fan-out is expensive</a:t>
            </a:r>
          </a:p>
          <a:p>
            <a:pPr algn="l">
              <a:lnSpc>
                <a:spcPct val="100000"/>
              </a:lnSpc>
              <a:spcBef>
                <a:spcPts val="1120"/>
              </a:spcBef>
            </a:pPr>
            <a:r>
              <a:rPr sz="1600" i="0" b="0">
                <a:solidFill>
                  <a:srgbClr val="CBD5E1"/>
                </a:solidFill>
                <a:latin typeface="Helvetica Neue"/>
              </a:rPr>
              <a:t>Loop or graph?</a:t>
            </a:r>
          </a:p>
          <a:p>
            <a:pPr algn="l">
              <a:lnSpc>
                <a:spcPct val="100000"/>
              </a:lnSpc>
              <a:spcBef>
                <a:spcPts val="1120"/>
              </a:spcBef>
            </a:pPr>
            <a:r>
              <a:rPr sz="1600" i="0" b="0">
                <a:solidFill>
                  <a:srgbClr val="CBD5E1"/>
                </a:solidFill>
                <a:latin typeface="Helvetica Neue"/>
              </a:rPr>
              <a:t>Mechanical failures come from the wiring</a:t>
            </a:r>
          </a:p>
          <a:p>
            <a:pPr algn="l">
              <a:lnSpc>
                <a:spcPct val="100000"/>
              </a:lnSpc>
              <a:spcBef>
                <a:spcPts val="1120"/>
              </a:spcBef>
            </a:pPr>
            <a:r>
              <a:rPr sz="1600" i="0" b="0">
                <a:solidFill>
                  <a:srgbClr val="CBD5E1"/>
                </a:solidFill>
                <a:latin typeface="Helvetica Neue"/>
              </a:rPr>
              <a:t>Swarms fail in ways single agents don't</a:t>
            </a:r>
          </a:p>
          <a:p>
            <a:pPr algn="l">
              <a:lnSpc>
                <a:spcPct val="100000"/>
              </a:lnSpc>
              <a:spcBef>
                <a:spcPts val="1120"/>
              </a:spcBef>
            </a:pPr>
            <a:r>
              <a:rPr sz="1600" i="0" b="0">
                <a:solidFill>
                  <a:srgbClr val="CBD5E1"/>
                </a:solidFill>
                <a:latin typeface="Helvetica Neue"/>
              </a:rPr>
              <a:t>Control failures and the four principles</a:t>
            </a:r>
          </a:p>
          <a:p>
            <a:pPr algn="l">
              <a:lnSpc>
                <a:spcPct val="100000"/>
              </a:lnSpc>
              <a:spcBef>
                <a:spcPts val="1120"/>
              </a:spcBef>
            </a:pPr>
            <a:r>
              <a:rPr sz="1600" i="0" b="0">
                <a:solidFill>
                  <a:srgbClr val="CBD5E1"/>
                </a:solidFill>
                <a:latin typeface="Helvetica Neue"/>
              </a:rPr>
              <a:t>Operate the graph, don't just demo it</a:t>
            </a:r>
          </a:p>
          <a:p>
            <a:pPr algn="l">
              <a:lnSpc>
                <a:spcPct val="100000"/>
              </a:lnSpc>
              <a:spcBef>
                <a:spcPts val="1120"/>
              </a:spcBef>
            </a:pPr>
            <a:r>
              <a:rPr sz="1600" i="0" b="0">
                <a:solidFill>
                  <a:srgbClr val="CBD5E1"/>
                </a:solidFill>
                <a:latin typeface="Helvetica Neue"/>
              </a:rPr>
              <a:t>Case study: n8n's AI workflow builder</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topologies that recur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graphicFrame>
        <p:nvGraphicFramePr>
          <p:cNvPr id="9" name="Table 8"/>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130639"/>
                <a:gridCol w="2663298"/>
                <a:gridCol w="3195958"/>
                <a:gridCol w="3195958"/>
              </a:tblGrid>
              <a:tr h="405384">
                <a:tc>
                  <a:txBody>
                    <a:bodyPr wrap="square"/>
                    <a:lstStyle/>
                    <a:p>
                      <a:pPr>
                        <a:lnSpc>
                          <a:spcPct val="100000"/>
                        </a:lnSpc>
                      </a:pPr>
                      <a:r>
                        <a:rPr sz="17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by</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Generate-then-verify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 check → back-edge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and check split cleanly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Checker sees producer's reasoning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router → specialists → 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Work arrives in several kinds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Mis-routing; bottleneck</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Fan-out / fan-in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split → N workers → merge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Many independent items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Missing reducer; correlated errors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Hierarchical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subgraph as one node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Reused or team-owned sub-topology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Failures hidden inside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Handoff</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key → edge reads 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Agents shouldn't know each other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values drift</a:t>
                      </a:r>
                    </a:p>
                  </a:txBody>
                  <a:tcPr marL="109728" marR="109728" marT="54864" marB="54864"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Subgraphs: share keys, or map at the boundary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ngchain-langgraph-docs-subgraph-state-patterns.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subgraphs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 keys:</a:t>
            </a:r>
            <a:r>
              <a:rPr sz="1800" i="0" b="0">
                <a:solidFill>
                  <a:srgbClr val="1E293B"/>
                </a:solidFill>
                <a:latin typeface="Helvetica Neue"/>
              </a:rPr>
              <a:t> add the compiled subgraph directly</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Different schemas:</a:t>
            </a:r>
            <a:r>
              <a:rPr sz="1800" i="0" b="0">
                <a:solidFill>
                  <a:srgbClr val="1E293B"/>
                </a:solidFill>
                <a:latin typeface="Helvetica Neue"/>
              </a:rPr>
              <a:t> call it inside a wrapper node</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wrapper maps parent → child input and child output → parent update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Shared vs. isolated context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 ch. 10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448056" y="1417320"/>
            <a:ext cx="6261948" cy="421325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10-1-10662228167342357.png"/>
          <p:cNvPicPr>
            <a:picLocks noChangeAspect="1"/>
          </p:cNvPicPr>
          <p:nvPr/>
        </p:nvPicPr>
        <p:blipFill>
          <a:blip r:embed="rId2"/>
          <a:stretch>
            <a:fillRect/>
          </a:stretch>
        </p:blipFill>
        <p:spPr>
          <a:xfrm>
            <a:off x="502920" y="1472184"/>
            <a:ext cx="6152220" cy="4103530"/>
          </a:xfrm>
          <a:prstGeom prst="rect">
            <a:avLst/>
          </a:prstGeom>
        </p:spPr>
      </p:pic>
      <p:sp>
        <p:nvSpPr>
          <p:cNvPr id="12" name="TextBox 11"/>
          <p:cNvSpPr txBox="1"/>
          <p:nvPr/>
        </p:nvSpPr>
        <p:spPr>
          <a:xfrm>
            <a:off x="502920" y="571287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ch. 10, Fig. 10-1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a:t>
            </a:r>
            <a:r>
              <a:rPr sz="1800" i="0" b="0">
                <a:solidFill>
                  <a:srgbClr val="1E293B"/>
                </a:solidFill>
                <a:latin typeface="Helvetica Neue"/>
              </a:rPr>
              <a:t> one trajectory, like threads; nothing lost, everything accumulates</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Isolated:</a:t>
            </a:r>
            <a:r>
              <a:rPr sz="1800" i="0" b="0">
                <a:solidFill>
                  <a:srgbClr val="1E293B"/>
                </a:solidFill>
                <a:latin typeface="Helvetica Neue"/>
              </a:rPr>
              <a:t> own window, like processes; only what is passed explicitly</a:t>
            </a:r>
          </a:p>
        </p:txBody>
      </p:sp>
      <p:sp>
        <p:nvSpPr>
          <p:cNvPr id="17" name="Rectangle 16"/>
          <p:cNvSpPr/>
          <p:nvPr/>
        </p:nvSpPr>
        <p:spPr>
          <a:xfrm>
            <a:off x="7020900" y="364388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55701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Isolation keeps a verifier independent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second agent helps only if it adds information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Recombining the same information can't add any. New signals can.</a:t>
            </a:r>
          </a:p>
        </p:txBody>
      </p:sp>
      <p:graphicFrame>
        <p:nvGraphicFramePr>
          <p:cNvPr id="12" name="Table 11"/>
          <p:cNvGraphicFramePr>
            <a:graphicFrameLocks noGrp="1"/>
          </p:cNvGraphicFramePr>
          <p:nvPr/>
        </p:nvGraphicFramePr>
        <p:xfrm>
          <a:off x="502920" y="1472184"/>
          <a:ext cx="11185853" cy="1734312"/>
        </p:xfrm>
        <a:graphic>
          <a:graphicData uri="http://schemas.openxmlformats.org/drawingml/2006/table">
            <a:tbl>
              <a:tblPr firstRow="1" bandRow="1">
                <a:tableStyleId>{5940675A-B579-460E-94D1-54222C63F5DA}</a:tableStyleId>
              </a:tblPr>
              <a:tblGrid>
                <a:gridCol w="4026907"/>
                <a:gridCol w="1566019"/>
                <a:gridCol w="5592927"/>
              </a:tblGrid>
              <a:tr h="405384">
                <a:tc>
                  <a:txBody>
                    <a:bodyPr wrap="square"/>
                    <a:lstStyle/>
                    <a:p>
                      <a:pPr>
                        <a:lnSpc>
                          <a:spcPct val="100000"/>
                        </a:lnSpc>
                      </a:pPr>
                      <a:r>
                        <a:rPr sz="1700" i="0" b="1">
                          <a:solidFill>
                            <a:srgbClr val="FFFFFF"/>
                          </a:solidFill>
                          <a:latin typeface="Helvetica Neue"/>
                        </a:rPr>
                        <a:t>Extra agent brings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Helps?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Evidence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Debate among copies of one model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Matches a single agent given the same compute (Tran &amp; Kiela)</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Execution, tool or visual feedback</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Yes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WebGen-Agent screenshots: Claude 3.5 Sonnet </a:t>
                      </a:r>
                      <a:r>
                        <a:rPr sz="1700" i="0" b="1">
                          <a:solidFill>
                            <a:srgbClr val="1E293B"/>
                          </a:solidFill>
                          <a:latin typeface="Helvetica Neue"/>
                        </a:rPr>
                        <a:t>26.4% → 51.9%</a:t>
                      </a:r>
                    </a:p>
                  </a:txBody>
                  <a:tcPr marL="109728" marR="109728" marT="54864" marB="54864" anchor="ctr">
                    <a:solidFill>
                      <a:srgbClr val="E8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Fan-out is expensive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Anthropic multi-agent research system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Fan-out pays only for high-value work that parallelises well. Measure break-even.</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Tokens</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use </a:t>
            </a:r>
            <a:r>
              <a:rPr sz="1800" i="0" b="1">
                <a:solidFill>
                  <a:srgbClr val="1E293B"/>
                </a:solidFill>
                <a:latin typeface="Helvetica Neue"/>
              </a:rPr>
              <a:t>~4×</a:t>
            </a:r>
            <a:r>
              <a:rPr sz="1800" i="0" b="0">
                <a:solidFill>
                  <a:srgbClr val="475569"/>
                </a:solidFill>
                <a:latin typeface="Helvetica Neue"/>
              </a:rPr>
              <a:t> a chat's tokens; multi-agent systems </a:t>
            </a:r>
            <a:r>
              <a:rPr sz="1800" i="0" b="1">
                <a:solidFill>
                  <a:srgbClr val="1E293B"/>
                </a:solidFill>
                <a:latin typeface="Helvetica Neue"/>
              </a:rPr>
              <a:t>~15×</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Why it works</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Token usage alone explained most of the performance variance</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Break-even</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Fan-out ~</a:t>
            </a:r>
            <a:r>
              <a:rPr sz="1800" i="0" b="1">
                <a:solidFill>
                  <a:srgbClr val="1E293B"/>
                </a:solidFill>
                <a:latin typeface="Helvetica Neue"/>
              </a:rPr>
              <a:t>3×</a:t>
            </a:r>
            <a:r>
              <a:rPr sz="1800" i="0" b="0">
                <a:solidFill>
                  <a:srgbClr val="475569"/>
                </a:solidFill>
                <a:latin typeface="Helvetica Neue"/>
              </a:rPr>
              <a:t> tokens per cycle; break-even near a </a:t>
            </a:r>
            <a:r>
              <a:rPr sz="1800" i="0" b="1">
                <a:solidFill>
                  <a:srgbClr val="1E293B"/>
                </a:solidFill>
                <a:latin typeface="Helvetica Neue"/>
              </a:rPr>
              <a:t>50%</a:t>
            </a:r>
            <a:r>
              <a:rPr sz="1800" i="0" b="0">
                <a:solidFill>
                  <a:srgbClr val="475569"/>
                </a:solidFill>
                <a:latin typeface="Helvetica Neue"/>
              </a:rPr>
              <a:t> pass rate (flowtivity)</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Poor fit</a:t>
            </a:r>
          </a:p>
        </p:txBody>
      </p:sp>
      <p:sp>
        <p:nvSpPr>
          <p:cNvPr id="28" name="TextBox 27"/>
          <p:cNvSpPr txBox="1"/>
          <p:nvPr/>
        </p:nvSpPr>
        <p:spPr>
          <a:xfrm>
            <a:off x="9372371"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context everywhere, many inter-agent dependencies, or work you can't name in advance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or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graphicFrame>
        <p:nvGraphicFramePr>
          <p:cNvPr id="9" name="Table 8"/>
          <p:cNvGraphicFramePr>
            <a:graphicFrameLocks noGrp="1"/>
          </p:cNvGraphicFramePr>
          <p:nvPr/>
        </p:nvGraphicFramePr>
        <p:xfrm>
          <a:off x="502920" y="1472184"/>
          <a:ext cx="11185855" cy="3243072"/>
        </p:xfrm>
        <a:graphic>
          <a:graphicData uri="http://schemas.openxmlformats.org/drawingml/2006/table">
            <a:tbl>
              <a:tblPr firstRow="1" bandRow="1">
                <a:tableStyleId>{5940675A-B579-460E-94D1-54222C63F5DA}</a:tableStyleId>
              </a:tblPr>
              <a:tblGrid>
                <a:gridCol w="6214364"/>
                <a:gridCol w="4971491"/>
              </a:tblGrid>
              <a:tr h="405384">
                <a:tc>
                  <a:txBody>
                    <a:bodyPr wrap="square"/>
                    <a:lstStyle/>
                    <a:p>
                      <a:pPr>
                        <a:lnSpc>
                          <a:spcPct val="100000"/>
                        </a:lnSpc>
                      </a:pPr>
                      <a:r>
                        <a:rPr sz="1700" i="0" b="1">
                          <a:solidFill>
                            <a:srgbClr val="FFFFFF"/>
                          </a:solidFill>
                          <a:latin typeface="Helvetica Neue"/>
                        </a:rPr>
                        <a:t>Situation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Single agent, tool-augmented reasoning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Open-ended research with unknowable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Harness + loop, </a:t>
                      </a:r>
                      <a:r>
                        <a:rPr sz="1700" i="0" b="1">
                          <a:solidFill>
                            <a:srgbClr val="1E293B"/>
                          </a:solidFill>
                          <a:latin typeface="Helvetica Neue"/>
                        </a:rPr>
                        <a:t>not</a:t>
                      </a:r>
                      <a:r>
                        <a:rPr sz="1700" i="0" b="0">
                          <a:solidFill>
                            <a:srgbClr val="475569"/>
                          </a:solidFill>
                          <a:latin typeface="Helvetica Neue"/>
                        </a:rPr>
                        <a:t> a graph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Simple task, low per-cycle pass rate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 fan-out cost isn't recovered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Verifier failing on several criteria</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Split the verifier first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Several agents with conditional handoffs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 independent verification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Graph (parallel review)</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Resume or human approval mid-run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 (checkpointer + interrupts)</a:t>
                      </a:r>
                    </a:p>
                  </a:txBody>
                  <a:tcPr marL="109728" marR="109728" marT="54864" marB="54864"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Mechanical failures come from the wiring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graphicFrame>
        <p:nvGraphicFramePr>
          <p:cNvPr id="9" name="Table 8"/>
          <p:cNvGraphicFramePr>
            <a:graphicFrameLocks noGrp="1"/>
          </p:cNvGraphicFramePr>
          <p:nvPr/>
        </p:nvGraphicFramePr>
        <p:xfrm>
          <a:off x="502920" y="1472184"/>
          <a:ext cx="11185853" cy="3614928"/>
        </p:xfrm>
        <a:graphic>
          <a:graphicData uri="http://schemas.openxmlformats.org/drawingml/2006/table">
            <a:tbl>
              <a:tblPr firstRow="1" bandRow="1">
                <a:tableStyleId>{5940675A-B579-460E-94D1-54222C63F5DA}</a:tableStyleId>
              </a:tblPr>
              <a:tblGrid>
                <a:gridCol w="2900036"/>
                <a:gridCol w="3935763"/>
                <a:gridCol w="4350054"/>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Detect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Infinite cycle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GraphRecursionError</a:t>
                      </a:r>
                      <a:r>
                        <a:rPr sz="1700" i="0" b="0">
                          <a:solidFill>
                            <a:srgbClr val="475569"/>
                          </a:solidFill>
                          <a:latin typeface="Helvetica Neue"/>
                        </a:rPr>
                        <a:t> (</a:t>
                      </a:r>
                      <a:r>
                        <a:rPr sz="1530" i="0" b="0">
                          <a:solidFill>
                            <a:srgbClr val="0F7490"/>
                          </a:solidFill>
                          <a:latin typeface="Menlo"/>
                        </a:rPr>
                        <a:t>recursion_limit</a:t>
                      </a:r>
                      <a:r>
                        <a:rPr sz="1700" i="0" b="0">
                          <a:solidFill>
                            <a:srgbClr val="475569"/>
                          </a:solidFill>
                          <a:latin typeface="Helvetica Neue"/>
                        </a:rPr>
                        <a:t>, default </a:t>
                      </a:r>
                      <a:r>
                        <a:rPr sz="1700" i="0" b="1">
                          <a:solidFill>
                            <a:srgbClr val="1E293B"/>
                          </a:solidFill>
                          <a:latin typeface="Helvetica Neue"/>
                        </a:rPr>
                        <a:t>25</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Attempt counter in state; per-node bound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Run idle at a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join inputs; error nodes still write the key</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Race on shared state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InvalidUpdateError</a:t>
                      </a:r>
                      <a:r>
                        <a:rPr sz="1700" i="0" b="0">
                          <a:solidFill>
                            <a:srgbClr val="475569"/>
                          </a:solidFill>
                          <a:latin typeface="Helvetica Neue"/>
                        </a:rPr>
                        <a:t>, or silent loss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reducer or one writer per key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fan-out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Token spend spikes; rate limits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Cap N; budget per run and per node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Mis-routing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 distribution in traces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Test the router as a classifier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File-space collision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Diffs match no single worker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worktree per worker</a:t>
                      </a:r>
                    </a:p>
                  </a:txBody>
                  <a:tcPr marL="109728" marR="109728" marT="54864" marB="54864" anchor="ct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Swarms fail in ways single agents don't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multi-agent failures are structural. Fix topology and verification, not wording.</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Correlated errors</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model, prompt and index: N agreeing workers ≠ N independent ones</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 isolation</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checker that sees the reasoning agrees with it</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Byzantine</a:t>
            </a:r>
          </a:p>
        </p:txBody>
      </p:sp>
      <p:sp>
        <p:nvSpPr>
          <p:cNvPr id="23" name="TextBox 22"/>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fail by being confidently wrong</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Cascading amplification</a:t>
            </a:r>
          </a:p>
        </p:txBody>
      </p:sp>
      <p:sp>
        <p:nvSpPr>
          <p:cNvPr id="27" name="TextBox 26"/>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bad output becomes every downstream input</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MAST</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14</a:t>
            </a:r>
            <a:r>
              <a:rPr sz="1800" i="0" b="0">
                <a:solidFill>
                  <a:srgbClr val="475569"/>
                </a:solidFill>
                <a:latin typeface="Helvetica Neue"/>
              </a:rPr>
              <a:t> failure modes in 3 groups, κ = </a:t>
            </a:r>
            <a:r>
              <a:rPr sz="1800" i="0" b="1">
                <a:solidFill>
                  <a:srgbClr val="1E293B"/>
                </a:solidFill>
                <a:latin typeface="Helvetica Neue"/>
              </a:rPr>
              <a:t>0.88</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Structure beats wording</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Better prompts and roles fixed ChatDev by only </a:t>
            </a:r>
            <a:r>
              <a:rPr sz="1800" i="0" b="1">
                <a:solidFill>
                  <a:srgbClr val="1E293B"/>
                </a:solidFill>
                <a:latin typeface="Helvetica Neue"/>
              </a:rPr>
              <a:t>+15.6%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Control failures and the four principles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Many feedback loops interacting fail like coupled controllers.</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Keep at least one anchor the graph can't edit.</a:t>
            </a:r>
          </a:p>
        </p:txBody>
      </p:sp>
      <p:graphicFrame>
        <p:nvGraphicFramePr>
          <p:cNvPr id="13" name="Table 12"/>
          <p:cNvGraphicFramePr>
            <a:graphicFrameLocks noGrp="1"/>
          </p:cNvGraphicFramePr>
          <p:nvPr/>
        </p:nvGraphicFramePr>
        <p:xfrm>
          <a:off x="502920" y="1985772"/>
          <a:ext cx="11185854" cy="2804160"/>
        </p:xfrm>
        <a:graphic>
          <a:graphicData uri="http://schemas.openxmlformats.org/drawingml/2006/table">
            <a:tbl>
              <a:tblPr firstRow="1" bandRow="1">
                <a:tableStyleId>{5940675A-B579-460E-94D1-54222C63F5DA}</a:tableStyleId>
              </a:tblPr>
              <a:tblGrid>
                <a:gridCol w="2954754"/>
                <a:gridCol w="2954754"/>
                <a:gridCol w="5276346"/>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Principle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How</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Goodhart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Paired metrics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 optimised metric gets a counter-metric and an anchor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Upward blindness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Owned references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Targets are owned by slower loops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Inter-loop conflict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Separated cadences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Fast loops escalate to slow ones instead of overriding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Measurement decay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Frozen nodes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 measurements are deliberately not tunable</a:t>
                      </a:r>
                    </a:p>
                  </a:txBody>
                  <a:tcPr marL="109728" marR="109728" marT="54864" marB="54864" anchor="ctr">
                    <a:solidFill>
                      <a:srgbClr val="F8FA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Operate the graph, don't just demo it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9" name="Rectangle 8"/>
          <p:cNvSpPr/>
          <p:nvPr/>
        </p:nvSpPr>
        <p:spPr>
          <a:xfrm>
            <a:off x="502920"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47457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Identity</a:t>
            </a:r>
          </a:p>
        </p:txBody>
      </p:sp>
      <p:sp>
        <p:nvSpPr>
          <p:cNvPr id="12" name="Rectangle 11"/>
          <p:cNvSpPr/>
          <p:nvPr/>
        </p:nvSpPr>
        <p:spPr>
          <a:xfrm>
            <a:off x="777240" y="218440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08788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graph_id</a:t>
            </a:r>
            <a:r>
              <a:rPr sz="2000" i="0" b="0">
                <a:solidFill>
                  <a:srgbClr val="1E293B"/>
                </a:solidFill>
                <a:latin typeface="Helvetica Neue"/>
              </a:rPr>
              <a:t>: topology + version</a:t>
            </a:r>
          </a:p>
        </p:txBody>
      </p:sp>
      <p:sp>
        <p:nvSpPr>
          <p:cNvPr id="14" name="Rectangle 13"/>
          <p:cNvSpPr/>
          <p:nvPr/>
        </p:nvSpPr>
        <p:spPr>
          <a:xfrm>
            <a:off x="777240" y="300736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1084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run_id</a:t>
            </a:r>
            <a:r>
              <a:rPr sz="2000" i="0" b="0">
                <a:solidFill>
                  <a:srgbClr val="1E293B"/>
                </a:solidFill>
                <a:latin typeface="Helvetica Neue"/>
              </a:rPr>
              <a:t> / </a:t>
            </a:r>
            <a:r>
              <a:rPr sz="1800" i="0" b="0">
                <a:solidFill>
                  <a:srgbClr val="0F7490"/>
                </a:solidFill>
                <a:latin typeface="Menlo"/>
              </a:rPr>
              <a:t>thread_id</a:t>
            </a:r>
            <a:r>
              <a:rPr sz="2000" i="0" b="0">
                <a:solidFill>
                  <a:srgbClr val="1E293B"/>
                </a:solidFill>
                <a:latin typeface="Helvetica Neue"/>
              </a:rPr>
              <a:t>: one execution</a:t>
            </a:r>
          </a:p>
        </p:txBody>
      </p:sp>
      <p:sp>
        <p:nvSpPr>
          <p:cNvPr id="16" name="Rectangle 15"/>
          <p:cNvSpPr/>
          <p:nvPr/>
        </p:nvSpPr>
        <p:spPr>
          <a:xfrm>
            <a:off x="777240" y="383032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3380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node_id</a:t>
            </a:r>
            <a:r>
              <a:rPr sz="2000" i="0" b="0">
                <a:solidFill>
                  <a:srgbClr val="1E293B"/>
                </a:solidFill>
                <a:latin typeface="Helvetica Neue"/>
              </a:rPr>
              <a:t>: per-node cost and errors</a:t>
            </a:r>
          </a:p>
        </p:txBody>
      </p:sp>
      <p:sp>
        <p:nvSpPr>
          <p:cNvPr id="18" name="Rectangle 17"/>
          <p:cNvSpPr/>
          <p:nvPr/>
        </p:nvSpPr>
        <p:spPr>
          <a:xfrm>
            <a:off x="4322978"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2978" y="1472184"/>
            <a:ext cx="82296" cy="47457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Budgets</a:t>
            </a:r>
          </a:p>
        </p:txBody>
      </p:sp>
      <p:sp>
        <p:nvSpPr>
          <p:cNvPr id="21" name="Rectangle 20"/>
          <p:cNvSpPr/>
          <p:nvPr/>
        </p:nvSpPr>
        <p:spPr>
          <a:xfrm>
            <a:off x="4597298" y="218440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7338" y="208788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node:</a:t>
            </a:r>
            <a:r>
              <a:rPr sz="2000" i="0" b="0">
                <a:solidFill>
                  <a:srgbClr val="1E293B"/>
                </a:solidFill>
                <a:latin typeface="Helvetica Neue"/>
              </a:rPr>
              <a:t> one node looping</a:t>
            </a:r>
          </a:p>
        </p:txBody>
      </p:sp>
      <p:sp>
        <p:nvSpPr>
          <p:cNvPr id="23" name="Rectangle 22"/>
          <p:cNvSpPr/>
          <p:nvPr/>
        </p:nvSpPr>
        <p:spPr>
          <a:xfrm>
            <a:off x="4597298" y="300736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17338" y="291084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run:</a:t>
            </a:r>
            <a:r>
              <a:rPr sz="2000" i="0" b="0">
                <a:solidFill>
                  <a:srgbClr val="1E293B"/>
                </a:solidFill>
                <a:latin typeface="Helvetica Neue"/>
              </a:rPr>
              <a:t> a whole run going wrong</a:t>
            </a:r>
          </a:p>
        </p:txBody>
      </p:sp>
      <p:sp>
        <p:nvSpPr>
          <p:cNvPr id="25" name="Rectangle 24"/>
          <p:cNvSpPr/>
          <p:nvPr/>
        </p:nvSpPr>
        <p:spPr>
          <a:xfrm>
            <a:off x="4597298" y="383032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17338" y="3733800"/>
            <a:ext cx="272277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tenant:</a:t>
            </a:r>
            <a:r>
              <a:rPr sz="2000" i="0" b="0">
                <a:solidFill>
                  <a:srgbClr val="1E293B"/>
                </a:solidFill>
                <a:latin typeface="Helvetica Neue"/>
              </a:rPr>
              <a:t> one customer draining the pool</a:t>
            </a:r>
          </a:p>
        </p:txBody>
      </p:sp>
      <p:sp>
        <p:nvSpPr>
          <p:cNvPr id="27" name="Rectangle 26"/>
          <p:cNvSpPr/>
          <p:nvPr/>
        </p:nvSpPr>
        <p:spPr>
          <a:xfrm>
            <a:off x="8143036"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43036" y="1472184"/>
            <a:ext cx="82296" cy="474573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Checklist</a:t>
            </a:r>
          </a:p>
        </p:txBody>
      </p:sp>
      <p:sp>
        <p:nvSpPr>
          <p:cNvPr id="30" name="Rectangle 29"/>
          <p:cNvSpPr/>
          <p:nvPr/>
        </p:nvSpPr>
        <p:spPr>
          <a:xfrm>
            <a:off x="8417356" y="218440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37396" y="208788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Resolved caller identity</a:t>
            </a:r>
          </a:p>
        </p:txBody>
      </p:sp>
      <p:sp>
        <p:nvSpPr>
          <p:cNvPr id="32" name="Rectangle 31"/>
          <p:cNvSpPr/>
          <p:nvPr/>
        </p:nvSpPr>
        <p:spPr>
          <a:xfrm>
            <a:off x="8417356" y="300736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7396" y="291084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Record the actual runtime graph</a:t>
            </a:r>
          </a:p>
        </p:txBody>
      </p:sp>
      <p:sp>
        <p:nvSpPr>
          <p:cNvPr id="34" name="Rectangle 33"/>
          <p:cNvSpPr/>
          <p:nvPr/>
        </p:nvSpPr>
        <p:spPr>
          <a:xfrm>
            <a:off x="8417356" y="383032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7396" y="373380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Join traces with cost and policy</a:t>
            </a:r>
          </a:p>
        </p:txBody>
      </p:sp>
      <p:sp>
        <p:nvSpPr>
          <p:cNvPr id="36" name="Rectangle 35"/>
          <p:cNvSpPr/>
          <p:nvPr/>
        </p:nvSpPr>
        <p:spPr>
          <a:xfrm>
            <a:off x="8417356" y="465328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37396" y="455676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Model changes behind a rollback alias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Case study: n8n's AI workflow builder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Supervisor + 5 subgraphs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Published budgets: 200K window, compact at 150K, 30K max workflow JSON.</a:t>
            </a:r>
          </a:p>
        </p:txBody>
      </p:sp>
      <p:graphicFrame>
        <p:nvGraphicFramePr>
          <p:cNvPr id="13" name="Table 12"/>
          <p:cNvGraphicFramePr>
            <a:graphicFrameLocks noGrp="1"/>
          </p:cNvGraphicFramePr>
          <p:nvPr/>
        </p:nvGraphicFramePr>
        <p:xfrm>
          <a:off x="502920" y="1472184"/>
          <a:ext cx="11185854" cy="2837688"/>
        </p:xfrm>
        <a:graphic>
          <a:graphicData uri="http://schemas.openxmlformats.org/drawingml/2006/table">
            <a:tbl>
              <a:tblPr firstRow="1" bandRow="1">
                <a:tableStyleId>{5940675A-B579-460E-94D1-54222C63F5DA}</a:tableStyleId>
              </a:tblPr>
              <a:tblGrid>
                <a:gridCol w="2743700"/>
                <a:gridCol w="5276346"/>
                <a:gridCol w="3165808"/>
              </a:tblGrid>
              <a:tr h="405384">
                <a:tc>
                  <a:txBody>
                    <a:bodyPr wrap="square"/>
                    <a:lstStyle/>
                    <a:p>
                      <a:pPr>
                        <a:lnSpc>
                          <a:spcPct val="100000"/>
                        </a:lnSpc>
                      </a:pPr>
                      <a:r>
                        <a:rPr sz="1700" i="0" b="1">
                          <a:solidFill>
                            <a:srgbClr val="FFFFFF"/>
                          </a:solidFill>
                          <a:latin typeface="Helvetica Neue"/>
                        </a:rPr>
                        <a:t>Node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Role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Bound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Routes each message to a subgraph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Discovery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Explores the node registry</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50</a:t>
                      </a:r>
                      <a:r>
                        <a:rPr sz="1700" i="0" b="0">
                          <a:solidFill>
                            <a:srgbClr val="475569"/>
                          </a:solidFill>
                          <a:latin typeface="Helvetica Neue"/>
                        </a:rPr>
                        <a:t> iterations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Planner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Builds a structured plan; </a:t>
                      </a:r>
                      <a:r>
                        <a:rPr sz="1700" i="0" b="1">
                          <a:solidFill>
                            <a:srgbClr val="1E293B"/>
                          </a:solidFill>
                          <a:latin typeface="Helvetica Neue"/>
                        </a:rPr>
                        <a:t>pauses for approval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Builder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Executes tool calls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100</a:t>
                      </a:r>
                      <a:r>
                        <a:rPr sz="1700" i="0" b="0">
                          <a:solidFill>
                            <a:srgbClr val="475569"/>
                          </a:solidFill>
                          <a:latin typeface="Helvetica Neue"/>
                        </a:rPr>
                        <a:t> per session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Responder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Renders the user-facing reply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Parameter Updater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Surgical edits to node parameters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Knowledge graphs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Fundamentals and Cypher · Building KGs with LLMs · KG-RAG and text-to-Cypher</a:t>
            </a:r>
          </a:p>
        </p:txBody>
      </p:sp>
      <p:cxnSp>
        <p:nvCxnSpPr>
          <p:cNvPr id="6" name="Connector 5"/>
          <p:cNvCxnSpPr/>
          <p:nvPr/>
        </p:nvCxnSpPr>
        <p:spPr>
          <a:xfrm>
            <a:off x="6446520" y="1290955"/>
            <a:ext cx="0" cy="42760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90955"/>
            <a:ext cx="4693615" cy="445897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A knowledge graph: entities and typed relationships</a:t>
            </a:r>
          </a:p>
          <a:p>
            <a:pPr algn="l">
              <a:lnSpc>
                <a:spcPct val="100000"/>
              </a:lnSpc>
              <a:spcBef>
                <a:spcPts val="910"/>
              </a:spcBef>
            </a:pPr>
            <a:r>
              <a:rPr sz="1300" i="0" b="0">
                <a:solidFill>
                  <a:srgbClr val="CBD5E1"/>
                </a:solidFill>
                <a:latin typeface="Helvetica Neue"/>
              </a:rPr>
              <a:t>Cypher draws patterns</a:t>
            </a:r>
          </a:p>
          <a:p>
            <a:pPr algn="l">
              <a:lnSpc>
                <a:spcPct val="100000"/>
              </a:lnSpc>
              <a:spcBef>
                <a:spcPts val="910"/>
              </a:spcBef>
            </a:pPr>
            <a:r>
              <a:rPr sz="1300" i="0" b="0">
                <a:solidFill>
                  <a:srgbClr val="CBD5E1"/>
                </a:solidFill>
                <a:latin typeface="Helvetica Neue"/>
              </a:rPr>
              <a:t>Errors compound per hop</a:t>
            </a:r>
          </a:p>
          <a:p>
            <a:pPr algn="l">
              <a:lnSpc>
                <a:spcPct val="100000"/>
              </a:lnSpc>
              <a:spcBef>
                <a:spcPts val="910"/>
              </a:spcBef>
            </a:pPr>
            <a:r>
              <a:rPr sz="1300" i="0" b="0">
                <a:solidFill>
                  <a:srgbClr val="CBD5E1"/>
                </a:solidFill>
                <a:latin typeface="Helvetica Neue"/>
              </a:rPr>
              <a:t>From text to a graph you can trust</a:t>
            </a:r>
          </a:p>
          <a:p>
            <a:pPr algn="l">
              <a:lnSpc>
                <a:spcPct val="100000"/>
              </a:lnSpc>
              <a:spcBef>
                <a:spcPts val="910"/>
              </a:spcBef>
            </a:pPr>
            <a:r>
              <a:rPr sz="1300" i="0" b="0">
                <a:solidFill>
                  <a:srgbClr val="CBD5E1"/>
                </a:solidFill>
                <a:latin typeface="Helvetica Neue"/>
              </a:rPr>
              <a:t>Keep mentions; never merge at extraction time</a:t>
            </a:r>
          </a:p>
          <a:p>
            <a:pPr algn="l">
              <a:lnSpc>
                <a:spcPct val="100000"/>
              </a:lnSpc>
              <a:spcBef>
                <a:spcPts val="910"/>
              </a:spcBef>
            </a:pPr>
            <a:r>
              <a:rPr sz="1300" i="0" b="0">
                <a:solidFill>
                  <a:srgbClr val="CBD5E1"/>
                </a:solidFill>
                <a:latin typeface="Helvetica Neue"/>
              </a:rPr>
              <a:t>Extract, enhance, expand</a:t>
            </a:r>
          </a:p>
          <a:p>
            <a:pPr algn="l">
              <a:lnSpc>
                <a:spcPct val="100000"/>
              </a:lnSpc>
              <a:spcBef>
                <a:spcPts val="910"/>
              </a:spcBef>
            </a:pPr>
            <a:r>
              <a:rPr sz="1300" i="0" b="0">
                <a:solidFill>
                  <a:srgbClr val="CBD5E1"/>
                </a:solidFill>
                <a:latin typeface="Helvetica Neue"/>
              </a:rPr>
              <a:t>Expand: fuse structured data with MERGE</a:t>
            </a:r>
          </a:p>
          <a:p>
            <a:pPr algn="l">
              <a:lnSpc>
                <a:spcPct val="100000"/>
              </a:lnSpc>
              <a:spcBef>
                <a:spcPts val="910"/>
              </a:spcBef>
            </a:pPr>
            <a:r>
              <a:rPr sz="1300" i="0" b="0">
                <a:solidFill>
                  <a:srgbClr val="CBD5E1"/>
                </a:solidFill>
                <a:latin typeface="Helvetica Neue"/>
              </a:rPr>
              <a:t>Where vector RAG breaks</a:t>
            </a:r>
          </a:p>
          <a:p>
            <a:pPr algn="l">
              <a:lnSpc>
                <a:spcPct val="100000"/>
              </a:lnSpc>
              <a:spcBef>
                <a:spcPts val="910"/>
              </a:spcBef>
            </a:pPr>
            <a:r>
              <a:rPr sz="1300" i="0" b="0">
                <a:solidFill>
                  <a:srgbClr val="CBD5E1"/>
                </a:solidFill>
                <a:latin typeface="Helvetica Neue"/>
              </a:rPr>
              <a:t>What GraphRAG actually showed</a:t>
            </a:r>
          </a:p>
          <a:p>
            <a:pPr algn="l">
              <a:lnSpc>
                <a:spcPct val="100000"/>
              </a:lnSpc>
              <a:spcBef>
                <a:spcPts val="910"/>
              </a:spcBef>
            </a:pPr>
            <a:r>
              <a:rPr sz="1300" i="0" b="0">
                <a:solidFill>
                  <a:srgbClr val="CBD5E1"/>
                </a:solidFill>
                <a:latin typeface="Helvetica Neue"/>
              </a:rPr>
              <a:t>Five retrieval modes</a:t>
            </a:r>
          </a:p>
          <a:p>
            <a:pPr algn="l">
              <a:lnSpc>
                <a:spcPct val="100000"/>
              </a:lnSpc>
              <a:spcBef>
                <a:spcPts val="910"/>
              </a:spcBef>
            </a:pPr>
            <a:r>
              <a:rPr sz="1300" i="0" b="0">
                <a:solidFill>
                  <a:srgbClr val="CBD5E1"/>
                </a:solidFill>
                <a:latin typeface="Helvetica Neue"/>
              </a:rPr>
              <a:t>Hybrid in practice: a retrieval_query</a:t>
            </a:r>
          </a:p>
          <a:p>
            <a:pPr algn="l">
              <a:lnSpc>
                <a:spcPct val="100000"/>
              </a:lnSpc>
              <a:spcBef>
                <a:spcPts val="910"/>
              </a:spcBef>
            </a:pPr>
            <a:r>
              <a:rPr sz="1300" i="0" b="0">
                <a:solidFill>
                  <a:srgbClr val="CBD5E1"/>
                </a:solidFill>
                <a:latin typeface="Helvetica Neue"/>
              </a:rPr>
              <a:t>Text-to-Cypher: think like the expert</a:t>
            </a:r>
          </a:p>
          <a:p>
            <a:pPr algn="l">
              <a:lnSpc>
                <a:spcPct val="100000"/>
              </a:lnSpc>
              <a:spcBef>
                <a:spcPts val="910"/>
              </a:spcBef>
            </a:pPr>
            <a:r>
              <a:rPr sz="1300" i="0" b="0">
                <a:solidFill>
                  <a:srgbClr val="CBD5E1"/>
                </a:solidFill>
                <a:latin typeface="Helvetica Neue"/>
              </a:rPr>
              <a:t>The failure to expect, and its one-example fix</a:t>
            </a:r>
          </a:p>
          <a:p>
            <a:pPr algn="l">
              <a:lnSpc>
                <a:spcPct val="100000"/>
              </a:lnSpc>
              <a:spcBef>
                <a:spcPts val="910"/>
              </a:spcBef>
            </a:pPr>
            <a:r>
              <a:rPr sz="1300" i="0" b="0">
                <a:solidFill>
                  <a:srgbClr val="CBD5E1"/>
                </a:solidFill>
                <a:latin typeface="Helvetica Neue"/>
              </a:rPr>
              <a:t>The QA agent as a LangGraph graph</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A knowledge graph: entities and typed relationships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448056" y="1417320"/>
            <a:ext cx="6261948" cy="41835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relationship-properties-2414446679891435919.jpg"/>
          <p:cNvPicPr>
            <a:picLocks noChangeAspect="1"/>
          </p:cNvPicPr>
          <p:nvPr/>
        </p:nvPicPr>
        <p:blipFill>
          <a:blip r:embed="rId2"/>
          <a:stretch>
            <a:fillRect/>
          </a:stretch>
        </p:blipFill>
        <p:spPr>
          <a:xfrm>
            <a:off x="502920" y="1472184"/>
            <a:ext cx="6152220" cy="4073820"/>
          </a:xfrm>
          <a:prstGeom prst="rect">
            <a:avLst/>
          </a:prstGeom>
        </p:spPr>
      </p:pic>
      <p:sp>
        <p:nvSpPr>
          <p:cNvPr id="12" name="TextBox 11"/>
          <p:cNvSpPr txBox="1"/>
          <p:nvPr/>
        </p:nvSpPr>
        <p:spPr>
          <a:xfrm>
            <a:off x="502920" y="568316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carry labels and properties</a:t>
            </a:r>
          </a:p>
        </p:txBody>
      </p:sp>
      <p:sp>
        <p:nvSpPr>
          <p:cNvPr id="15" name="Rectangle 14"/>
          <p:cNvSpPr/>
          <p:nvPr/>
        </p:nvSpPr>
        <p:spPr>
          <a:xfrm>
            <a:off x="7020900" y="199796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Relationships</a:t>
            </a:r>
            <a:r>
              <a:rPr sz="1800" i="0" b="0">
                <a:solidFill>
                  <a:srgbClr val="1E293B"/>
                </a:solidFill>
                <a:latin typeface="Helvetica Neue"/>
              </a:rPr>
              <a:t> are typed, directed and carry properties too</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LPG</a:t>
            </a:r>
            <a:r>
              <a:rPr sz="1800" i="0" b="0">
                <a:solidFill>
                  <a:srgbClr val="1E293B"/>
                </a:solidFill>
                <a:latin typeface="Helvetica Neue"/>
              </a:rPr>
              <a:t> (Neo4j): properties on edges, Cypher</a:t>
            </a:r>
          </a:p>
        </p:txBody>
      </p:sp>
      <p:sp>
        <p:nvSpPr>
          <p:cNvPr id="19" name="Rectangle 18"/>
          <p:cNvSpPr/>
          <p:nvPr/>
        </p:nvSpPr>
        <p:spPr>
          <a:xfrm>
            <a:off x="7020900" y="3479291"/>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392423"/>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RDF:</a:t>
            </a:r>
            <a:r>
              <a:rPr sz="1800" i="0" b="0">
                <a:solidFill>
                  <a:srgbClr val="1E293B"/>
                </a:solidFill>
                <a:latin typeface="Helvetica Neue"/>
              </a:rPr>
              <a:t> triples, SPARQL, ontologies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Cypher draws patterns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co-actors of a person</a:t>
            </a:r>
          </a:p>
          <a:p>
            <a:pPr algn="l">
              <a:lnSpc>
                <a:spcPct val="100000"/>
              </a:lnSpc>
            </a:pPr>
            <a:r>
              <a:rPr sz="1600" i="0" b="0">
                <a:solidFill>
                  <a:srgbClr val="E2E8F0"/>
                </a:solidFill>
                <a:latin typeface="Menlo"/>
              </a:rPr>
              <a:t>MATCH (p:Person {name: $name})</a:t>
            </a:r>
          </a:p>
          <a:p>
            <a:pPr algn="l">
              <a:lnSpc>
                <a:spcPct val="100000"/>
              </a:lnSpc>
            </a:pPr>
            <a:r>
              <a:rPr sz="1600" i="0" b="0">
                <a:solidFill>
                  <a:srgbClr val="E2E8F0"/>
                </a:solidFill>
                <a:latin typeface="Menlo"/>
              </a:rPr>
              <a:t>      -[:ACTED_IN]-&gt;(m:Movie)</a:t>
            </a:r>
          </a:p>
          <a:p>
            <a:pPr algn="l">
              <a:lnSpc>
                <a:spcPct val="100000"/>
              </a:lnSpc>
            </a:pPr>
            <a:r>
              <a:rPr sz="1600" i="0" b="0">
                <a:solidFill>
                  <a:srgbClr val="E2E8F0"/>
                </a:solidFill>
                <a:latin typeface="Menlo"/>
              </a:rPr>
              <a:t>      &lt;-[:ACTED_IN]-(co:Person)</a:t>
            </a:r>
          </a:p>
          <a:p>
            <a:pPr algn="l">
              <a:lnSpc>
                <a:spcPct val="100000"/>
              </a:lnSpc>
            </a:pPr>
            <a:r>
              <a:rPr sz="1600" i="0" b="0">
                <a:solidFill>
                  <a:srgbClr val="E2E8F0"/>
                </a:solidFill>
                <a:latin typeface="Menlo"/>
              </a:rPr>
              <a:t>RETURN co.name, collect(m.title) AS movies</a:t>
            </a:r>
          </a:p>
          <a:p>
            <a:pPr algn="l">
              <a:lnSpc>
                <a:spcPct val="100000"/>
              </a:lnSpc>
            </a:pPr>
          </a:p>
          <a:p>
            <a:pPr algn="l">
              <a:lnSpc>
                <a:spcPct val="100000"/>
              </a:lnSpc>
            </a:pPr>
            <a:r>
              <a:rPr sz="1600" i="0" b="0">
                <a:solidFill>
                  <a:srgbClr val="E2E8F0"/>
                </a:solidFill>
                <a:latin typeface="Menlo"/>
              </a:rPr>
              <a:t>// idempotent load: constraint + MERGE</a:t>
            </a:r>
          </a:p>
          <a:p>
            <a:pPr algn="l">
              <a:lnSpc>
                <a:spcPct val="100000"/>
              </a:lnSpc>
            </a:pPr>
            <a:r>
              <a:rPr sz="1600" i="0" b="0">
                <a:solidFill>
                  <a:srgbClr val="E2E8F0"/>
                </a:solidFill>
                <a:latin typeface="Menlo"/>
              </a:rPr>
              <a:t>CREATE CONSTRAINT unique_chunk IF NOT EXISTS</a:t>
            </a:r>
          </a:p>
          <a:p>
            <a:pPr algn="l">
              <a:lnSpc>
                <a:spcPct val="100000"/>
              </a:lnSpc>
            </a:pPr>
            <a:r>
              <a:rPr sz="1600" i="0" b="0">
                <a:solidFill>
                  <a:srgbClr val="E2E8F0"/>
                </a:solidFill>
                <a:latin typeface="Menlo"/>
              </a:rPr>
              <a:t>  FOR (c:Chunk) REQUIRE c.chunkId IS UNIQUE;</a:t>
            </a:r>
          </a:p>
          <a:p>
            <a:pPr algn="l">
              <a:lnSpc>
                <a:spcPct val="100000"/>
              </a:lnSpc>
            </a:pPr>
            <a:r>
              <a:rPr sz="1600" i="0" b="0">
                <a:solidFill>
                  <a:srgbClr val="E2E8F0"/>
                </a:solidFill>
                <a:latin typeface="Menlo"/>
              </a:rPr>
              <a:t>MERGE (c:Chunk {chunkId: $id})</a:t>
            </a:r>
          </a:p>
          <a:p>
            <a:pPr algn="l">
              <a:lnSpc>
                <a:spcPct val="100000"/>
              </a:lnSpc>
            </a:pPr>
            <a:r>
              <a:rPr sz="1600" i="0" b="0">
                <a:solidFill>
                  <a:srgbClr val="E2E8F0"/>
                </a:solidFill>
                <a:latin typeface="Menlo"/>
              </a:rPr>
              <a:t>  ON CREATE SET c.text = $text</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
            </a:r>
            <a:r>
              <a:rPr sz="1800" i="0" b="0">
                <a:solidFill>
                  <a:srgbClr val="1E293B"/>
                </a:solidFill>
                <a:latin typeface="Helvetica Neue"/>
              </a:rPr>
              <a:t> nodes, </a:t>
            </a:r>
            <a:r>
              <a:rPr sz="1620" i="0" b="0">
                <a:solidFill>
                  <a:srgbClr val="0F7490"/>
                </a:solidFill>
                <a:latin typeface="Menlo"/>
              </a:rPr>
              <a:t>-[]-&gt;</a:t>
            </a:r>
            <a:r>
              <a:rPr sz="1800" i="0" b="0">
                <a:solidFill>
                  <a:srgbClr val="1E293B"/>
                </a:solidFill>
                <a:latin typeface="Helvetica Neue"/>
              </a:rPr>
              <a:t> relationships</a:t>
            </a:r>
          </a:p>
        </p:txBody>
      </p:sp>
      <p:sp>
        <p:nvSpPr>
          <p:cNvPr id="14" name="Rectangle 13"/>
          <p:cNvSpPr/>
          <p:nvPr/>
        </p:nvSpPr>
        <p:spPr>
          <a:xfrm>
            <a:off x="7580193" y="204368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1956816"/>
            <a:ext cx="3788542"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MERGE</a:t>
            </a:r>
            <a:r>
              <a:rPr sz="1800" i="0" b="0">
                <a:solidFill>
                  <a:srgbClr val="1E293B"/>
                </a:solidFill>
                <a:latin typeface="Helvetica Neue"/>
              </a:rPr>
              <a:t> = match or create</a:t>
            </a:r>
          </a:p>
        </p:txBody>
      </p:sp>
      <p:sp>
        <p:nvSpPr>
          <p:cNvPr id="16" name="Rectangle 15"/>
          <p:cNvSpPr/>
          <p:nvPr/>
        </p:nvSpPr>
        <p:spPr>
          <a:xfrm>
            <a:off x="7580193" y="24825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39572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uniqueness constraint makes reloads safe</a:t>
            </a:r>
          </a:p>
        </p:txBody>
      </p:sp>
      <p:sp>
        <p:nvSpPr>
          <p:cNvPr id="18" name="Rectangle 17"/>
          <p:cNvSpPr/>
          <p:nvPr/>
        </p:nvSpPr>
        <p:spPr>
          <a:xfrm>
            <a:off x="7580193" y="322326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136392"/>
            <a:ext cx="3788542" cy="1298448"/>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Python: </a:t>
            </a:r>
            <a:r>
              <a:rPr sz="1620" i="0" b="0">
                <a:solidFill>
                  <a:srgbClr val="0F7490"/>
                </a:solidFill>
                <a:latin typeface="Menlo"/>
              </a:rPr>
              <a:t>Neo4jGraph.query(cypher, params=...)</a:t>
            </a:r>
            <a:r>
              <a:rPr sz="1800" i="0" b="0">
                <a:solidFill>
                  <a:srgbClr val="1E293B"/>
                </a:solidFill>
                <a:latin typeface="Helvetica Neue"/>
              </a:rPr>
              <a:t> from </a:t>
            </a:r>
            <a:r>
              <a:rPr sz="1620" i="0" b="0">
                <a:solidFill>
                  <a:srgbClr val="0F7490"/>
                </a:solidFill>
                <a:latin typeface="Menlo"/>
              </a:rPr>
              <a:t>langchain-neo4j</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Errors compound per hop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If each hop is right with probability p, an n-hop answer is right with pⁿ.</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Entity resolution is the load-bearing step. One false merge corrupts every path through it.</a:t>
            </a:r>
          </a:p>
        </p:txBody>
      </p:sp>
      <p:graphicFrame>
        <p:nvGraphicFramePr>
          <p:cNvPr id="13" name="Table 12"/>
          <p:cNvGraphicFramePr>
            <a:graphicFrameLocks noGrp="1"/>
          </p:cNvGraphicFramePr>
          <p:nvPr/>
        </p:nvGraphicFramePr>
        <p:xfrm>
          <a:off x="502920" y="1985772"/>
          <a:ext cx="11185853" cy="1621536"/>
        </p:xfrm>
        <a:graphic>
          <a:graphicData uri="http://schemas.openxmlformats.org/drawingml/2006/table">
            <a:tbl>
              <a:tblPr firstRow="1" bandRow="1">
                <a:tableStyleId>{5940675A-B579-460E-94D1-54222C63F5DA}</a:tableStyleId>
              </a:tblPr>
              <a:tblGrid>
                <a:gridCol w="3728618"/>
                <a:gridCol w="2485745"/>
                <a:gridCol w="2485745"/>
                <a:gridCol w="2485745"/>
              </a:tblGrid>
              <a:tr h="405384">
                <a:tc>
                  <a:txBody>
                    <a:bodyPr wrap="square"/>
                    <a:lstStyle/>
                    <a:p>
                      <a:pPr>
                        <a:lnSpc>
                          <a:spcPct val="100000"/>
                        </a:lnSpc>
                      </a:pPr>
                      <a:r>
                        <a:rPr sz="1700" i="0" b="1">
                          <a:solidFill>
                            <a:srgbClr val="FFFFFF"/>
                          </a:solidFill>
                          <a:latin typeface="Helvetica Neue"/>
                        </a:rPr>
                        <a:t>Per-hop accuracy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2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3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5 hops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95%</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86%</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85%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72%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61%</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44%</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70%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49%</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17%</a:t>
                      </a:r>
                    </a:p>
                  </a:txBody>
                  <a:tcPr marL="109728" marR="109728" marT="54864" marB="54864"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From text to a graph you can trust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9" name="Rounded Rectangle 8"/>
          <p:cNvSpPr/>
          <p:nvPr/>
        </p:nvSpPr>
        <p:spPr>
          <a:xfrm>
            <a:off x="502920" y="1563624"/>
            <a:ext cx="1834835"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Chunk</a:t>
            </a:r>
          </a:p>
          <a:p>
            <a:pPr algn="ctr">
              <a:lnSpc>
                <a:spcPct val="110000"/>
              </a:lnSpc>
            </a:pPr>
            <a:r>
              <a:rPr sz="1300" i="0" b="0">
                <a:solidFill>
                  <a:srgbClr val="E8F4F8"/>
                </a:solidFill>
                <a:latin typeface="Helvetica Neue"/>
              </a:rPr>
              <a:t>keep doc / page / offset</a:t>
            </a:r>
          </a:p>
        </p:txBody>
      </p:sp>
      <p:cxnSp>
        <p:nvCxnSpPr>
          <p:cNvPr id="11" name="Connector 10"/>
          <p:cNvCxnSpPr/>
          <p:nvPr/>
        </p:nvCxnSpPr>
        <p:spPr>
          <a:xfrm>
            <a:off x="239261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a:t>
            </a:r>
          </a:p>
          <a:p>
            <a:pPr algn="ctr">
              <a:lnSpc>
                <a:spcPct val="110000"/>
              </a:lnSpc>
            </a:pPr>
            <a:r>
              <a:rPr sz="1300" i="0" b="0">
                <a:solidFill>
                  <a:srgbClr val="E8F4F8"/>
                </a:solidFill>
                <a:latin typeface="Helvetica Neue"/>
              </a:rPr>
              <a:t>small model → </a:t>
            </a:r>
            <a:r>
              <a:rPr sz="1300" i="0" b="1">
                <a:solidFill>
                  <a:srgbClr val="E8F4F8"/>
                </a:solidFill>
                <a:latin typeface="Helvetica Neue"/>
              </a:rPr>
              <a:t>mentions</a:t>
            </a:r>
          </a:p>
        </p:txBody>
      </p:sp>
      <p:cxnSp>
        <p:nvCxnSpPr>
          <p:cNvPr id="14" name="Connector 13"/>
          <p:cNvCxnSpPr/>
          <p:nvPr/>
        </p:nvCxnSpPr>
        <p:spPr>
          <a:xfrm>
            <a:off x="473037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423416"/>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Resolve</a:t>
            </a:r>
          </a:p>
          <a:p>
            <a:pPr algn="ctr">
              <a:lnSpc>
                <a:spcPct val="110000"/>
              </a:lnSpc>
            </a:pPr>
            <a:r>
              <a:rPr sz="1300" i="0" b="0">
                <a:solidFill>
                  <a:srgbClr val="E8F4F8"/>
                </a:solidFill>
                <a:latin typeface="Helvetica Neue"/>
              </a:rPr>
              <a:t>stronger model + graph signals</a:t>
            </a:r>
          </a:p>
        </p:txBody>
      </p:sp>
      <p:cxnSp>
        <p:nvCxnSpPr>
          <p:cNvPr id="17" name="Connector 16"/>
          <p:cNvCxnSpPr/>
          <p:nvPr/>
        </p:nvCxnSpPr>
        <p:spPr>
          <a:xfrm>
            <a:off x="706812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423416"/>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Assemble</a:t>
            </a:r>
          </a:p>
          <a:p>
            <a:pPr algn="ctr">
              <a:lnSpc>
                <a:spcPct val="110000"/>
              </a:lnSpc>
            </a:pPr>
            <a:r>
              <a:rPr sz="1300" i="0" b="0">
                <a:solidFill>
                  <a:srgbClr val="E8F4F8"/>
                </a:solidFill>
                <a:latin typeface="Helvetica Neue"/>
              </a:rPr>
              <a:t>MERGE with provenance</a:t>
            </a:r>
          </a:p>
        </p:txBody>
      </p:sp>
      <p:cxnSp>
        <p:nvCxnSpPr>
          <p:cNvPr id="20" name="Connector 19"/>
          <p:cNvCxnSpPr/>
          <p:nvPr/>
        </p:nvCxnSpPr>
        <p:spPr>
          <a:xfrm>
            <a:off x="940588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Evaluate</a:t>
            </a:r>
          </a:p>
          <a:p>
            <a:pPr algn="ctr">
              <a:lnSpc>
                <a:spcPct val="110000"/>
              </a:lnSpc>
            </a:pPr>
            <a:r>
              <a:rPr sz="1300" i="0" b="0">
                <a:solidFill>
                  <a:srgbClr val="E8F4F8"/>
                </a:solidFill>
                <a:latin typeface="Helvetica Neue"/>
              </a:rPr>
              <a:t>P/R, false-merge rate; blocks the load</a:t>
            </a:r>
          </a:p>
        </p:txBody>
      </p:sp>
      <p:sp>
        <p:nvSpPr>
          <p:cNvPr id="23" name="Rectangle 22"/>
          <p:cNvSpPr/>
          <p:nvPr/>
        </p:nvSpPr>
        <p:spPr>
          <a:xfrm>
            <a:off x="502920" y="339877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Normalise (deterministic) sits between extract and resolve</a:t>
            </a:r>
          </a:p>
        </p:txBody>
      </p:sp>
      <p:sp>
        <p:nvSpPr>
          <p:cNvPr id="25" name="Rectangle 24"/>
          <p:cNvSpPr/>
          <p:nvPr/>
        </p:nvSpPr>
        <p:spPr>
          <a:xfrm>
            <a:off x="502920" y="3862069"/>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Same shape as Anthropic's KG cookbook: Haiku extracts, Sonnet resolves</a:t>
            </a:r>
          </a:p>
        </p:txBody>
      </p:sp>
      <p:sp>
        <p:nvSpPr>
          <p:cNvPr id="27" name="Rectangle 26"/>
          <p:cNvSpPr/>
          <p:nvPr/>
        </p:nvSpPr>
        <p:spPr>
          <a:xfrm>
            <a:off x="502920" y="432536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Use the model only where judgement is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Keep mentions; never merge at extraction time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9" name="Rounded Rectangle 8"/>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raw mentions</a:t>
            </a:r>
          </a:p>
          <a:p>
            <a:pPr algn="l">
              <a:lnSpc>
                <a:spcPct val="100000"/>
              </a:lnSpc>
            </a:pPr>
            <a:r>
              <a:rPr sz="1600" i="0" b="0">
                <a:solidFill>
                  <a:srgbClr val="E2E8F0"/>
                </a:solidFill>
                <a:latin typeface="Menlo"/>
              </a:rPr>
              <a:t>(:Document)-[:HAS_PAGE]-&gt;(:Page)</a:t>
            </a:r>
          </a:p>
          <a:p>
            <a:pPr algn="l">
              <a:lnSpc>
                <a:spcPct val="100000"/>
              </a:lnSpc>
            </a:pPr>
            <a:r>
              <a:rPr sz="1600" i="0" b="0">
                <a:solidFill>
                  <a:srgbClr val="E2E8F0"/>
                </a:solidFill>
                <a:latin typeface="Menlo"/>
              </a:rPr>
              <a:t>  -[:MENTIONS]-&gt;(:Entity)</a:t>
            </a:r>
          </a:p>
          <a:p>
            <a:pPr algn="l">
              <a:lnSpc>
                <a:spcPct val="100000"/>
              </a:lnSpc>
            </a:pPr>
            <a:r>
              <a:rPr sz="1600" i="0" b="0">
                <a:solidFill>
                  <a:srgbClr val="E2E8F0"/>
                </a:solidFill>
                <a:latin typeface="Menlo"/>
              </a:rPr>
              <a:t>// resolution evidence</a:t>
            </a:r>
          </a:p>
          <a:p>
            <a:pPr algn="l">
              <a:lnSpc>
                <a:spcPct val="100000"/>
              </a:lnSpc>
            </a:pPr>
            <a:r>
              <a:rPr sz="1600" i="0" b="0">
                <a:solidFill>
                  <a:srgbClr val="E2E8F0"/>
                </a:solidFill>
                <a:latin typeface="Menlo"/>
              </a:rPr>
              <a:t>(:Entity)-[:META_SIMILAR]-&gt;(:Entity)</a:t>
            </a:r>
          </a:p>
          <a:p>
            <a:pPr algn="l">
              <a:lnSpc>
                <a:spcPct val="100000"/>
              </a:lnSpc>
            </a:pPr>
            <a:r>
              <a:rPr sz="1600" i="0" b="0">
                <a:solidFill>
                  <a:srgbClr val="E2E8F0"/>
                </a:solidFill>
                <a:latin typeface="Menlo"/>
              </a:rPr>
              <a:t>// the KG proper</a:t>
            </a:r>
          </a:p>
          <a:p>
            <a:pPr algn="l">
              <a:lnSpc>
                <a:spcPct val="100000"/>
              </a:lnSpc>
            </a:pPr>
            <a:r>
              <a:rPr sz="1600" i="0" b="0">
                <a:solidFill>
                  <a:srgbClr val="E2E8F0"/>
                </a:solidFill>
                <a:latin typeface="Menlo"/>
              </a:rPr>
              <a:t>(:Entity)-[:RESOLVES_TO]-&gt;(:Canonical)</a:t>
            </a:r>
          </a:p>
          <a:p>
            <a:pPr algn="l">
              <a:lnSpc>
                <a:spcPct val="100000"/>
              </a:lnSpc>
            </a:pPr>
          </a:p>
          <a:p>
            <a:pPr algn="l">
              <a:lnSpc>
                <a:spcPct val="100000"/>
              </a:lnSpc>
            </a:pPr>
            <a:r>
              <a:rPr sz="1600" i="0" b="0">
                <a:solidFill>
                  <a:srgbClr val="E2E8F0"/>
                </a:solidFill>
                <a:latin typeface="Menlo"/>
              </a:rPr>
              <a:t>// graph-based ER: weakly connected components</a:t>
            </a:r>
          </a:p>
          <a:p>
            <a:pPr algn="l">
              <a:lnSpc>
                <a:spcPct val="100000"/>
              </a:lnSpc>
            </a:pPr>
            <a:r>
              <a:rPr sz="1600" i="0" b="0">
                <a:solidFill>
                  <a:srgbClr val="E2E8F0"/>
                </a:solidFill>
                <a:latin typeface="Menlo"/>
              </a:rPr>
              <a:t>// over META_SIMILAR → one canonical each</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metagraph keeps resolution </a:t>
            </a:r>
            <a:r>
              <a:rPr sz="1800" i="0" b="1">
                <a:solidFill>
                  <a:srgbClr val="1E293B"/>
                </a:solidFill>
                <a:latin typeface="Helvetica Neue"/>
              </a:rPr>
              <a:t>reversible</a:t>
            </a:r>
          </a:p>
        </p:txBody>
      </p:sp>
      <p:sp>
        <p:nvSpPr>
          <p:cNvPr id="14" name="Rectangle 13"/>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Weight </a:t>
            </a:r>
            <a:r>
              <a:rPr sz="1800" i="0" b="1">
                <a:solidFill>
                  <a:srgbClr val="1E293B"/>
                </a:solidFill>
                <a:latin typeface="Helvetica Neue"/>
              </a:rPr>
              <a:t>false merges</a:t>
            </a:r>
            <a:r>
              <a:rPr sz="1800" i="0" b="0">
                <a:solidFill>
                  <a:srgbClr val="1E293B"/>
                </a:solidFill>
                <a:latin typeface="Helvetica Neue"/>
              </a:rPr>
              <a:t> above missed merges</a:t>
            </a:r>
          </a:p>
        </p:txBody>
      </p:sp>
      <p:sp>
        <p:nvSpPr>
          <p:cNvPr id="16" name="Rectangle 15"/>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high compression ratio rewards over-merging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Extract, enhance, expand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L3–L6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448056" y="1417320"/>
            <a:ext cx="6261948" cy="313009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extract-enhance-expand-6728065550505099101.jpg"/>
          <p:cNvPicPr>
            <a:picLocks noChangeAspect="1"/>
          </p:cNvPicPr>
          <p:nvPr/>
        </p:nvPicPr>
        <p:blipFill>
          <a:blip r:embed="rId2"/>
          <a:stretch>
            <a:fillRect/>
          </a:stretch>
        </p:blipFill>
        <p:spPr>
          <a:xfrm>
            <a:off x="502920" y="1472184"/>
            <a:ext cx="6152220" cy="3020365"/>
          </a:xfrm>
          <a:prstGeom prst="rect">
            <a:avLst/>
          </a:prstGeom>
        </p:spPr>
      </p:pic>
      <p:sp>
        <p:nvSpPr>
          <p:cNvPr id="12" name="TextBox 11"/>
          <p:cNvSpPr txBox="1"/>
          <p:nvPr/>
        </p:nvSpPr>
        <p:spPr>
          <a:xfrm>
            <a:off x="502920" y="462970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Extract:</a:t>
            </a:r>
            <a:r>
              <a:rPr sz="1800" i="0" b="0">
                <a:solidFill>
                  <a:srgbClr val="1E293B"/>
                </a:solidFill>
                <a:latin typeface="Helvetica Neue"/>
              </a:rPr>
              <a:t> 10-K text → </a:t>
            </a:r>
            <a:r>
              <a:rPr sz="1620" i="0" b="0">
                <a:solidFill>
                  <a:srgbClr val="0F7490"/>
                </a:solidFill>
                <a:latin typeface="Menlo"/>
              </a:rPr>
              <a:t>Chunk</a:t>
            </a:r>
            <a:r>
              <a:rPr sz="1800" i="0" b="0">
                <a:solidFill>
                  <a:srgbClr val="1E293B"/>
                </a:solidFill>
                <a:latin typeface="Helvetica Neue"/>
              </a:rPr>
              <a:t> nodes with embeddings</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Enhance:</a:t>
            </a:r>
            <a:r>
              <a:rPr sz="1800" i="0" b="0">
                <a:solidFill>
                  <a:srgbClr val="1E293B"/>
                </a:solidFill>
                <a:latin typeface="Helvetica Neue"/>
              </a:rPr>
              <a:t> </a:t>
            </a:r>
            <a:r>
              <a:rPr sz="1620" i="0" b="0">
                <a:solidFill>
                  <a:srgbClr val="0F7490"/>
                </a:solidFill>
                <a:latin typeface="Menlo"/>
              </a:rPr>
              <a:t>NEXT</a:t>
            </a:r>
            <a:r>
              <a:rPr sz="1800" i="0" b="0">
                <a:solidFill>
                  <a:srgbClr val="1E293B"/>
                </a:solidFill>
                <a:latin typeface="Helvetica Neue"/>
              </a:rPr>
              <a:t> and </a:t>
            </a:r>
            <a:r>
              <a:rPr sz="1620" i="0" b="0">
                <a:solidFill>
                  <a:srgbClr val="0F7490"/>
                </a:solidFill>
                <a:latin typeface="Menlo"/>
              </a:rPr>
              <a:t>PART_OF</a:t>
            </a:r>
            <a:r>
              <a:rPr sz="1800" i="0" b="0">
                <a:solidFill>
                  <a:srgbClr val="1E293B"/>
                </a:solidFill>
                <a:latin typeface="Helvetica Neue"/>
              </a:rPr>
              <a:t> give chunks a document structure</a:t>
            </a:r>
          </a:p>
        </p:txBody>
      </p:sp>
      <p:sp>
        <p:nvSpPr>
          <p:cNvPr id="17" name="Rectangle 16"/>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Expand:</a:t>
            </a:r>
            <a:r>
              <a:rPr sz="1800" i="0" b="0">
                <a:solidFill>
                  <a:srgbClr val="1E293B"/>
                </a:solidFill>
                <a:latin typeface="Helvetica Neue"/>
              </a:rPr>
              <a:t> fuse structured Form 13 data: managers and holdings</a:t>
            </a:r>
          </a:p>
        </p:txBody>
      </p:sp>
      <p:sp>
        <p:nvSpPr>
          <p:cNvPr id="19" name="Rectangle 18"/>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with a minimum viable graph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Expand: fuse structured data with MERGE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ounded Rectangle 9"/>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CREATE CONSTRAINT unique_manager IF NOT EXISTS</a:t>
            </a:r>
          </a:p>
          <a:p>
            <a:pPr algn="l">
              <a:lnSpc>
                <a:spcPct val="100000"/>
              </a:lnSpc>
            </a:pPr>
            <a:r>
              <a:rPr sz="1600" i="0" b="0">
                <a:solidFill>
                  <a:srgbClr val="E2E8F0"/>
                </a:solidFill>
                <a:latin typeface="Menlo"/>
              </a:rPr>
              <a:t>  FOR (m:Manager) REQUIRE m.managerCik IS UNIQUE;</a:t>
            </a:r>
          </a:p>
          <a:p>
            <a:pPr algn="l">
              <a:lnSpc>
                <a:spcPct val="100000"/>
              </a:lnSpc>
            </a:pPr>
          </a:p>
          <a:p>
            <a:pPr algn="l">
              <a:lnSpc>
                <a:spcPct val="100000"/>
              </a:lnSpc>
            </a:pPr>
            <a:r>
              <a:rPr sz="1600" i="0" b="0">
                <a:solidFill>
                  <a:srgbClr val="E2E8F0"/>
                </a:solidFill>
                <a:latin typeface="Menlo"/>
              </a:rPr>
              <a:t>MERGE (com:Company {cusip6: $cusip6})</a:t>
            </a:r>
          </a:p>
          <a:p>
            <a:pPr algn="l">
              <a:lnSpc>
                <a:spcPct val="100000"/>
              </a:lnSpc>
            </a:pPr>
            <a:r>
              <a:rPr sz="1600" i="0" b="0">
                <a:solidFill>
                  <a:srgbClr val="E2E8F0"/>
                </a:solidFill>
                <a:latin typeface="Menlo"/>
              </a:rPr>
              <a:t>MERGE (mgr:Manager {managerCik: $managerCik})</a:t>
            </a:r>
          </a:p>
          <a:p>
            <a:pPr algn="l">
              <a:lnSpc>
                <a:spcPct val="100000"/>
              </a:lnSpc>
            </a:pPr>
            <a:r>
              <a:rPr sz="1600" i="0" b="0">
                <a:solidFill>
                  <a:srgbClr val="E2E8F0"/>
                </a:solidFill>
                <a:latin typeface="Menlo"/>
              </a:rPr>
              <a:t>MERGE (mgr)-[o:OWNS_STOCK_IN {</a:t>
            </a:r>
          </a:p>
          <a:p>
            <a:pPr algn="l">
              <a:lnSpc>
                <a:spcPct val="100000"/>
              </a:lnSpc>
            </a:pPr>
            <a:r>
              <a:rPr sz="1600" i="0" b="0">
                <a:solidFill>
                  <a:srgbClr val="E2E8F0"/>
                </a:solidFill>
                <a:latin typeface="Menlo"/>
              </a:rPr>
              <a:t>    reportCalendarOrQuarter: $quarter}]-&gt;(com)</a:t>
            </a:r>
          </a:p>
          <a:p>
            <a:pPr algn="l">
              <a:lnSpc>
                <a:spcPct val="100000"/>
              </a:lnSpc>
            </a:pPr>
            <a:r>
              <a:rPr sz="1600" i="0" b="0">
                <a:solidFill>
                  <a:srgbClr val="E2E8F0"/>
                </a:solidFill>
                <a:latin typeface="Menlo"/>
              </a:rPr>
              <a:t>  ON CREATE SET o.value = $value,</a:t>
            </a:r>
          </a:p>
          <a:p>
            <a:pPr algn="l">
              <a:lnSpc>
                <a:spcPct val="100000"/>
              </a:lnSpc>
            </a:pPr>
            <a:r>
              <a:rPr sz="1600" i="0" b="0">
                <a:solidFill>
                  <a:srgbClr val="E2E8F0"/>
                </a:solidFill>
                <a:latin typeface="Menlo"/>
              </a:rPr>
              <a:t>                o.shares = $shares</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edge </a:t>
            </a:r>
            <a:r>
              <a:rPr sz="1800" i="0" b="1">
                <a:solidFill>
                  <a:srgbClr val="1E293B"/>
                </a:solidFill>
                <a:latin typeface="Helvetica Neue"/>
              </a:rPr>
              <a:t>per quarter</a:t>
            </a:r>
            <a:r>
              <a:rPr sz="1800" i="0" b="0">
                <a:solidFill>
                  <a:srgbClr val="1E293B"/>
                </a:solidFill>
                <a:latin typeface="Helvetica Neue"/>
              </a:rPr>
              <a:t>: the key is on the relationship</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Constraints make the load idempotent</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full-text index on manager names handles fuzzy lookup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vector RAG breaks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"Lauritsen and cyclotrons": top 3 scored 0.906 / 0.903 / 0.902, and only one mentioned Lauritsen.</a:t>
            </a:r>
          </a:p>
        </p:txBody>
      </p:sp>
      <p:graphicFrame>
        <p:nvGraphicFramePr>
          <p:cNvPr id="12" name="Table 11"/>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Context fragmentation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fact split across chunks needs every piece retrieved near the top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Embedding compression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vector per chunk loses entity-level detail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Noise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Loosely related chunks dilute the answer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Misses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Aggregate questions ("main themes?") get partial answers</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GraphRAG actually showed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Edge et al., arXiv 2404.16130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Community summaries help whole-corpus questions. That is not "graphs beat vectors".</a:t>
            </a:r>
          </a:p>
        </p:txBody>
      </p:sp>
      <p:sp>
        <p:nvSpPr>
          <p:cNvPr id="13" name="Rectangle 12"/>
          <p:cNvSpPr/>
          <p:nvPr/>
        </p:nvSpPr>
        <p:spPr>
          <a:xfrm>
            <a:off x="502920"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Comprehensiveness</a:t>
            </a:r>
          </a:p>
        </p:txBody>
      </p:sp>
      <p:sp>
        <p:nvSpPr>
          <p:cNvPr id="16" name="TextBox 15"/>
          <p:cNvSpPr txBox="1"/>
          <p:nvPr/>
        </p:nvSpPr>
        <p:spPr>
          <a:xfrm>
            <a:off x="777240"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72–83%</a:t>
            </a:r>
            <a:r>
              <a:rPr sz="1800" i="0" b="0">
                <a:solidFill>
                  <a:srgbClr val="475569"/>
                </a:solidFill>
                <a:latin typeface="Helvetica Neue"/>
              </a:rPr>
              <a:t> (podcasts), </a:t>
            </a:r>
            <a:r>
              <a:rPr sz="1800" i="0" b="1">
                <a:solidFill>
                  <a:srgbClr val="1E293B"/>
                </a:solidFill>
                <a:latin typeface="Helvetica Neue"/>
              </a:rPr>
              <a:t>72–80%</a:t>
            </a:r>
            <a:r>
              <a:rPr sz="1800" i="0" b="0">
                <a:solidFill>
                  <a:srgbClr val="475569"/>
                </a:solidFill>
                <a:latin typeface="Helvetica Neue"/>
              </a:rPr>
              <a:t> (news)</a:t>
            </a:r>
          </a:p>
        </p:txBody>
      </p:sp>
      <p:sp>
        <p:nvSpPr>
          <p:cNvPr id="17" name="Rectangle 16"/>
          <p:cNvSpPr/>
          <p:nvPr/>
        </p:nvSpPr>
        <p:spPr>
          <a:xfrm>
            <a:off x="3367963"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27990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Diversity</a:t>
            </a:r>
          </a:p>
        </p:txBody>
      </p:sp>
      <p:sp>
        <p:nvSpPr>
          <p:cNvPr id="20" name="TextBox 19"/>
          <p:cNvSpPr txBox="1"/>
          <p:nvPr/>
        </p:nvSpPr>
        <p:spPr>
          <a:xfrm>
            <a:off x="3642283"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75–82%</a:t>
            </a:r>
            <a:r>
              <a:rPr sz="1800" i="0" b="0">
                <a:solidFill>
                  <a:srgbClr val="475569"/>
                </a:solidFill>
                <a:latin typeface="Helvetica Neue"/>
              </a:rPr>
              <a:t> and </a:t>
            </a:r>
            <a:r>
              <a:rPr sz="1800" i="0" b="1">
                <a:solidFill>
                  <a:srgbClr val="1E293B"/>
                </a:solidFill>
                <a:latin typeface="Helvetica Neue"/>
              </a:rPr>
              <a:t>62–71%</a:t>
            </a:r>
          </a:p>
        </p:txBody>
      </p:sp>
      <p:sp>
        <p:nvSpPr>
          <p:cNvPr id="21" name="Rectangle 20"/>
          <p:cNvSpPr/>
          <p:nvPr/>
        </p:nvSpPr>
        <p:spPr>
          <a:xfrm>
            <a:off x="6233007"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Directness</a:t>
            </a:r>
          </a:p>
        </p:txBody>
      </p:sp>
      <p:sp>
        <p:nvSpPr>
          <p:cNvPr id="24" name="TextBox 23"/>
          <p:cNvSpPr txBox="1"/>
          <p:nvPr/>
        </p:nvSpPr>
        <p:spPr>
          <a:xfrm>
            <a:off x="6507327" y="2087880"/>
            <a:ext cx="2087803" cy="1481327"/>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Vector RAG wins</a:t>
            </a:r>
            <a:r>
              <a:rPr sz="1800" i="0" b="0">
                <a:solidFill>
                  <a:srgbClr val="475569"/>
                </a:solidFill>
                <a:latin typeface="Helvetica Neue"/>
              </a:rPr>
              <a:t>: more concise answers</a:t>
            </a:r>
          </a:p>
        </p:txBody>
      </p:sp>
      <p:sp>
        <p:nvSpPr>
          <p:cNvPr id="25" name="Rectangle 24"/>
          <p:cNvSpPr/>
          <p:nvPr/>
        </p:nvSpPr>
        <p:spPr>
          <a:xfrm>
            <a:off x="9098051"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279904"/>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caveat</a:t>
            </a:r>
          </a:p>
        </p:txBody>
      </p:sp>
      <p:sp>
        <p:nvSpPr>
          <p:cNvPr id="28" name="TextBox 27"/>
          <p:cNvSpPr txBox="1"/>
          <p:nvPr/>
        </p:nvSpPr>
        <p:spPr>
          <a:xfrm>
            <a:off x="9372371"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judge, global sensemaking questions over ~1M tokens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retrieval modes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Default order: vector, then canned traversals, then text-to-Cypher for the long tail, with a validator.</a:t>
            </a:r>
          </a:p>
        </p:txBody>
      </p:sp>
      <p:graphicFrame>
        <p:nvGraphicFramePr>
          <p:cNvPr id="12" name="Table 11"/>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796463"/>
                <a:gridCol w="4194695"/>
                <a:gridCol w="4194695"/>
              </a:tblGrid>
              <a:tr h="405384">
                <a:tc>
                  <a:txBody>
                    <a:bodyPr wrap="square"/>
                    <a:lstStyle/>
                    <a:p>
                      <a:pPr>
                        <a:lnSpc>
                          <a:spcPct val="100000"/>
                        </a:lnSpc>
                      </a:pPr>
                      <a:r>
                        <a:rPr sz="1700" i="0" b="1">
                          <a:solidFill>
                            <a:srgbClr val="FFFFFF"/>
                          </a:solidFill>
                          <a:latin typeface="Helvetica Neue"/>
                        </a:rPr>
                        <a:t>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when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Vector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Local lookups: "the passage about X"</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Multi-hop, aggregates, exact entities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Canned traversal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Known question shapes; production paths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shape you didn't template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Text-to-Cypher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Open-ended questions over a well-named schema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Large or badly named schema; no validator</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Hybrid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Vector entry points + graph expansion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entry points make expansion worse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Global (communities)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Themes across everything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Specific lookups; high indexing cost</a:t>
                      </a:r>
                    </a:p>
                  </a:txBody>
                  <a:tcPr marL="109728" marR="109728" marT="54864" marB="5486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Hybrid in practice: a retrieval_query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node and score come from the vector index</a:t>
            </a:r>
          </a:p>
          <a:p>
            <a:pPr algn="l">
              <a:lnSpc>
                <a:spcPct val="100000"/>
              </a:lnSpc>
            </a:pPr>
            <a:r>
              <a:rPr sz="1600" i="0" b="0">
                <a:solidFill>
                  <a:srgbClr val="E2E8F0"/>
                </a:solidFill>
                <a:latin typeface="Menlo"/>
              </a:rPr>
              <a:t>MATCH window = (:Chunk)-[:NEXT*0..1]-&gt;(node)</a:t>
            </a:r>
          </a:p>
          <a:p>
            <a:pPr algn="l">
              <a:lnSpc>
                <a:spcPct val="100000"/>
              </a:lnSpc>
            </a:pPr>
            <a:r>
              <a:rPr sz="1600" i="0" b="0">
                <a:solidFill>
                  <a:srgbClr val="E2E8F0"/>
                </a:solidFill>
                <a:latin typeface="Menlo"/>
              </a:rPr>
              <a:t>               -[:NEXT*0..1]-&gt;(:Chunk)</a:t>
            </a:r>
          </a:p>
          <a:p>
            <a:pPr algn="l">
              <a:lnSpc>
                <a:spcPct val="100000"/>
              </a:lnSpc>
            </a:pPr>
            <a:r>
              <a:rPr sz="1600" i="0" b="0">
                <a:solidFill>
                  <a:srgbClr val="E2E8F0"/>
                </a:solidFill>
                <a:latin typeface="Menlo"/>
              </a:rPr>
              <a:t>WITH node, score, window</a:t>
            </a:r>
          </a:p>
          <a:p>
            <a:pPr algn="l">
              <a:lnSpc>
                <a:spcPct val="100000"/>
              </a:lnSpc>
            </a:pPr>
            <a:r>
              <a:rPr sz="1600" i="0" b="0">
                <a:solidFill>
                  <a:srgbClr val="E2E8F0"/>
                </a:solidFill>
                <a:latin typeface="Menlo"/>
              </a:rPr>
              <a:t>  ORDER BY length(window) DESC LIMIT 1</a:t>
            </a:r>
          </a:p>
          <a:p>
            <a:pPr algn="l">
              <a:lnSpc>
                <a:spcPct val="100000"/>
              </a:lnSpc>
            </a:pPr>
            <a:r>
              <a:rPr sz="1600" i="0" b="0">
                <a:solidFill>
                  <a:srgbClr val="E2E8F0"/>
                </a:solidFill>
                <a:latin typeface="Menlo"/>
              </a:rPr>
              <a:t>WITH nodes(window) AS chunks, node, score</a:t>
            </a:r>
          </a:p>
          <a:p>
            <a:pPr algn="l">
              <a:lnSpc>
                <a:spcPct val="100000"/>
              </a:lnSpc>
            </a:pPr>
            <a:r>
              <a:rPr sz="1600" i="0" b="0">
                <a:solidFill>
                  <a:srgbClr val="E2E8F0"/>
                </a:solidFill>
                <a:latin typeface="Menlo"/>
              </a:rPr>
              <a:t>UNWIND chunks AS c</a:t>
            </a:r>
          </a:p>
          <a:p>
            <a:pPr algn="l">
              <a:lnSpc>
                <a:spcPct val="100000"/>
              </a:lnSpc>
            </a:pPr>
            <a:r>
              <a:rPr sz="1600" i="0" b="0">
                <a:solidFill>
                  <a:srgbClr val="E2E8F0"/>
                </a:solidFill>
                <a:latin typeface="Menlo"/>
              </a:rPr>
              <a:t>WITH collect(c.text) AS texts, node, score</a:t>
            </a:r>
          </a:p>
          <a:p>
            <a:pPr algn="l">
              <a:lnSpc>
                <a:spcPct val="100000"/>
              </a:lnSpc>
            </a:pPr>
            <a:r>
              <a:rPr sz="1600" i="0" b="0">
                <a:solidFill>
                  <a:srgbClr val="E2E8F0"/>
                </a:solidFill>
                <a:latin typeface="Menlo"/>
              </a:rPr>
              <a:t>RETURN apoc.text.join(texts, " \n ") AS text,</a:t>
            </a:r>
          </a:p>
          <a:p>
            <a:pPr algn="l">
              <a:lnSpc>
                <a:spcPct val="100000"/>
              </a:lnSpc>
            </a:pPr>
            <a:r>
              <a:rPr sz="1600" i="0" b="0">
                <a:solidFill>
                  <a:srgbClr val="E2E8F0"/>
                </a:solidFill>
                <a:latin typeface="Menlo"/>
              </a:rPr>
              <a:t>       score, node {.source} AS metadata</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Neo4jVector</a:t>
            </a:r>
            <a:r>
              <a:rPr sz="1800" i="0" b="0">
                <a:solidFill>
                  <a:srgbClr val="1E293B"/>
                </a:solidFill>
                <a:latin typeface="Helvetica Neue"/>
              </a:rPr>
              <a:t> runs the search, then this Cypher</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Widens each hit to its </a:t>
            </a:r>
            <a:r>
              <a:rPr sz="1620" i="0" b="0">
                <a:solidFill>
                  <a:srgbClr val="0F7490"/>
                </a:solidFill>
                <a:latin typeface="Menlo"/>
              </a:rPr>
              <a:t>NEXT</a:t>
            </a:r>
            <a:r>
              <a:rPr sz="1800" i="0" b="0">
                <a:solidFill>
                  <a:srgbClr val="1E293B"/>
                </a:solidFill>
                <a:latin typeface="Helvetica Neue"/>
              </a:rPr>
              <a:t> neighbours</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L6 walks on to company and managers</a:t>
            </a:r>
          </a:p>
        </p:txBody>
      </p:sp>
      <p:sp>
        <p:nvSpPr>
          <p:cNvPr id="19" name="Rectangle 18"/>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windowed answer also named </a:t>
            </a:r>
            <a:r>
              <a:rPr sz="1800" i="0" b="1">
                <a:solidFill>
                  <a:srgbClr val="1E293B"/>
                </a:solidFill>
                <a:latin typeface="Helvetica Neue"/>
              </a:rPr>
              <a:t>ONTAP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Text-to-Cypher: think like the expert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Listing relationships first reduces invented relationship types.</a:t>
            </a:r>
          </a:p>
        </p:txBody>
      </p:sp>
      <p:sp>
        <p:nvSpPr>
          <p:cNvPr id="12" name="Rectangle 11"/>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Parse</a:t>
            </a:r>
            <a:r>
              <a:rPr sz="1800" i="0" b="0">
                <a:solidFill>
                  <a:srgbClr val="475569"/>
                </a:solidFill>
                <a:latin typeface="Helvetica Neue"/>
              </a:rPr>
              <a:t> — Entities, relationships and constraints in the question</a:t>
            </a:r>
          </a:p>
        </p:txBody>
      </p:sp>
      <p:sp>
        <p:nvSpPr>
          <p:cNvPr id="16" name="Rectangle 15"/>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Map</a:t>
            </a:r>
            <a:r>
              <a:rPr sz="1800" i="0" b="0">
                <a:solidFill>
                  <a:srgbClr val="475569"/>
                </a:solidFill>
                <a:latin typeface="Helvetica Neue"/>
              </a:rPr>
              <a:t> — Onto schema labels and relationship types</a:t>
            </a:r>
          </a:p>
        </p:txBody>
      </p:sp>
      <p:sp>
        <p:nvSpPr>
          <p:cNvPr id="20" name="Rectangle 19"/>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Annotate the schema</a:t>
            </a:r>
            <a:r>
              <a:rPr sz="1800" i="0" b="0">
                <a:solidFill>
                  <a:srgbClr val="475569"/>
                </a:solidFill>
                <a:latin typeface="Helvetica Neue"/>
              </a:rPr>
              <a:t> — Skip list, </a:t>
            </a:r>
            <a:r>
              <a:rPr sz="1620" i="0" b="0">
                <a:solidFill>
                  <a:srgbClr val="0F7490"/>
                </a:solidFill>
                <a:latin typeface="Menlo"/>
              </a:rPr>
              <a:t>/* comments */</a:t>
            </a:r>
            <a:r>
              <a:rPr sz="1800" i="0" b="0">
                <a:solidFill>
                  <a:srgbClr val="475569"/>
                </a:solidFill>
                <a:latin typeface="Helvetica Neue"/>
              </a:rPr>
              <a:t> on encodings, units, direction</a:t>
            </a:r>
          </a:p>
        </p:txBody>
      </p:sp>
      <p:sp>
        <p:nvSpPr>
          <p:cNvPr id="24" name="Rectangle 23"/>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07548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Order the output</a:t>
            </a:r>
            <a:r>
              <a:rPr sz="1800" i="0" b="0">
                <a:solidFill>
                  <a:srgbClr val="475569"/>
                </a:solidFill>
                <a:latin typeface="Helvetica Neue"/>
              </a:rPr>
              <a:t> — JSON with </a:t>
            </a:r>
            <a:r>
              <a:rPr sz="1620" i="0" b="0">
                <a:solidFill>
                  <a:srgbClr val="0F7490"/>
                </a:solidFill>
                <a:latin typeface="Menlo"/>
              </a:rPr>
              <a:t>relationships</a:t>
            </a:r>
            <a:r>
              <a:rPr sz="1800" i="0" b="0">
                <a:solidFill>
                  <a:srgbClr val="475569"/>
                </a:solidFill>
                <a:latin typeface="Helvetica Neue"/>
              </a:rPr>
              <a:t> → </a:t>
            </a:r>
            <a:r>
              <a:rPr sz="1620" i="0" b="0">
                <a:solidFill>
                  <a:srgbClr val="0F7490"/>
                </a:solidFill>
                <a:latin typeface="Menlo"/>
              </a:rPr>
              <a:t>reasoning</a:t>
            </a:r>
            <a:r>
              <a:rPr sz="1800" i="0" b="0">
                <a:solidFill>
                  <a:srgbClr val="475569"/>
                </a:solidFill>
                <a:latin typeface="Helvetica Neue"/>
              </a:rPr>
              <a:t> → </a:t>
            </a:r>
            <a:r>
              <a:rPr sz="1620" i="0" b="0">
                <a:solidFill>
                  <a:srgbClr val="0F7490"/>
                </a:solidFill>
                <a:latin typeface="Menlo"/>
              </a:rPr>
              <a:t>query</a:t>
            </a:r>
          </a:p>
        </p:txBody>
      </p:sp>
      <p:sp>
        <p:nvSpPr>
          <p:cNvPr id="28" name="Rectangle 27"/>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7512" y="4900269"/>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Validate</a:t>
            </a:r>
            <a:r>
              <a:rPr sz="1800" i="0" b="0">
                <a:solidFill>
                  <a:srgbClr val="475569"/>
                </a:solidFill>
                <a:latin typeface="Helvetica Neue"/>
              </a:rPr>
              <a:t> — </a:t>
            </a:r>
            <a:r>
              <a:rPr sz="1620" i="0" b="0">
                <a:solidFill>
                  <a:srgbClr val="0F7490"/>
                </a:solidFill>
                <a:latin typeface="Menlo"/>
              </a:rPr>
              <a:t>EXPLAIN</a:t>
            </a:r>
            <a:r>
              <a:rPr sz="1800" i="0" b="0">
                <a:solidFill>
                  <a:srgbClr val="475569"/>
                </a:solidFill>
                <a:latin typeface="Helvetica Neue"/>
              </a:rPr>
              <a:t> before execution; check labels against the schema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failure to expect, and its one-example fix</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L7</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23953" y="1417320"/>
            <a:ext cx="6110153"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sec-graph-schema-3014872221595198437.jpg"/>
          <p:cNvPicPr>
            <a:picLocks noChangeAspect="1"/>
          </p:cNvPicPr>
          <p:nvPr/>
        </p:nvPicPr>
        <p:blipFill>
          <a:blip r:embed="rId2"/>
          <a:stretch>
            <a:fillRect/>
          </a:stretch>
        </p:blipFill>
        <p:spPr>
          <a:xfrm>
            <a:off x="578817" y="1472184"/>
            <a:ext cx="6000425"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value</a:t>
            </a:r>
            <a:r>
              <a:rPr sz="1800" i="0" b="0">
                <a:solidFill>
                  <a:srgbClr val="1E293B"/>
                </a:solidFill>
                <a:latin typeface="Helvetica Neue"/>
              </a:rPr>
              <a:t> lives on </a:t>
            </a:r>
            <a:r>
              <a:rPr sz="1620" i="0" b="0">
                <a:solidFill>
                  <a:srgbClr val="0F7490"/>
                </a:solidFill>
                <a:latin typeface="Menlo"/>
              </a:rPr>
              <a:t>OWNS_STOCK_IN</a:t>
            </a:r>
            <a:r>
              <a:rPr sz="1800" i="0" b="0">
                <a:solidFill>
                  <a:srgbClr val="1E293B"/>
                </a:solidFill>
                <a:latin typeface="Helvetica Neue"/>
              </a:rPr>
              <a:t>, not on </a:t>
            </a:r>
            <a:r>
              <a:rPr sz="1620" i="0" b="0">
                <a:solidFill>
                  <a:srgbClr val="0F7490"/>
                </a:solidFill>
                <a:latin typeface="Menlo"/>
              </a:rPr>
              <a:t>Company</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model guesses wrong without help</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One few-shot example</a:t>
            </a:r>
            <a:r>
              <a:rPr sz="1800" i="0" b="0">
                <a:solidFill>
                  <a:srgbClr val="1E293B"/>
                </a:solidFill>
                <a:latin typeface="Helvetica Neue"/>
              </a:rPr>
              <a:t> fixes it</a:t>
            </a:r>
          </a:p>
        </p:txBody>
      </p:sp>
      <p:sp>
        <p:nvSpPr>
          <p:cNvPr id="19" name="Rectangle 18"/>
          <p:cNvSpPr/>
          <p:nvPr/>
        </p:nvSpPr>
        <p:spPr>
          <a:xfrm>
            <a:off x="7020900" y="317754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GraphCypherQAChain</a:t>
            </a:r>
            <a:r>
              <a:rPr sz="1800" i="0" b="0">
                <a:solidFill>
                  <a:srgbClr val="1E293B"/>
                </a:solidFill>
                <a:latin typeface="Helvetica Neue"/>
              </a:rPr>
              <a:t> needs </a:t>
            </a:r>
            <a:r>
              <a:rPr sz="1620" i="0" b="0">
                <a:solidFill>
                  <a:srgbClr val="0F7490"/>
                </a:solidFill>
                <a:latin typeface="Menlo"/>
              </a:rPr>
              <a:t>allow_dangerous_requests=True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QA agent as a LangGraph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9" name="Rounded Rectangle 8"/>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Intent</a:t>
            </a:r>
          </a:p>
          <a:p>
            <a:pPr algn="ctr">
              <a:lnSpc>
                <a:spcPct val="110000"/>
              </a:lnSpc>
            </a:pPr>
            <a:r>
              <a:rPr sz="1300" i="0" b="0">
                <a:solidFill>
                  <a:srgbClr val="E8F4F8"/>
                </a:solidFill>
                <a:latin typeface="Helvetica Neue"/>
              </a:rPr>
              <a:t>what output type?</a:t>
            </a:r>
          </a:p>
        </p:txBody>
      </p:sp>
      <p:cxnSp>
        <p:nvCxnSpPr>
          <p:cNvPr id="11" name="Connector 10"/>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Schema</a:t>
            </a:r>
          </a:p>
          <a:p>
            <a:pPr algn="ctr">
              <a:lnSpc>
                <a:spcPct val="110000"/>
              </a:lnSpc>
            </a:pPr>
            <a:r>
              <a:rPr sz="1300" i="0" b="0">
                <a:solidFill>
                  <a:srgbClr val="E8F4F8"/>
                </a:solidFill>
                <a:latin typeface="Helvetica Neue"/>
              </a:rPr>
              <a:t>annotated subset</a:t>
            </a:r>
          </a:p>
        </p:txBody>
      </p:sp>
      <p:cxnSp>
        <p:nvCxnSpPr>
          <p:cNvPr id="14" name="Connector 13"/>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Text-to-Cypher</a:t>
            </a:r>
          </a:p>
          <a:p>
            <a:pPr algn="ctr">
              <a:lnSpc>
                <a:spcPct val="110000"/>
              </a:lnSpc>
            </a:pPr>
            <a:r>
              <a:rPr sz="1300" i="0" b="0">
                <a:solidFill>
                  <a:srgbClr val="E8F4F8"/>
                </a:solidFill>
                <a:latin typeface="Helvetica Neue"/>
              </a:rPr>
              <a:t>relationships → reasoning → query</a:t>
            </a:r>
          </a:p>
        </p:txBody>
      </p:sp>
      <p:cxnSp>
        <p:nvCxnSpPr>
          <p:cNvPr id="17" name="Connector 16"/>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Execute</a:t>
            </a:r>
          </a:p>
          <a:p>
            <a:pPr algn="ctr">
              <a:lnSpc>
                <a:spcPct val="110000"/>
              </a:lnSpc>
            </a:pPr>
            <a:r>
              <a:rPr sz="1300" i="0" b="0">
                <a:solidFill>
                  <a:srgbClr val="E8F4F8"/>
                </a:solidFill>
                <a:latin typeface="Helvetica Neue"/>
              </a:rPr>
              <a:t>the database is the verifier</a:t>
            </a:r>
          </a:p>
        </p:txBody>
      </p:sp>
      <p:cxnSp>
        <p:nvCxnSpPr>
          <p:cNvPr id="20" name="Connector 19"/>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Summarise</a:t>
            </a:r>
          </a:p>
          <a:p>
            <a:pPr algn="ctr">
              <a:lnSpc>
                <a:spcPct val="110000"/>
              </a:lnSpc>
            </a:pPr>
            <a:r>
              <a:rPr sz="1300" i="0" b="0">
                <a:solidFill>
                  <a:srgbClr val="E8F4F8"/>
                </a:solidFill>
                <a:latin typeface="Helvetica Neue"/>
              </a:rPr>
              <a:t>for map or graph output</a:t>
            </a:r>
          </a:p>
        </p:txBody>
      </p:sp>
      <p:cxnSp>
        <p:nvCxnSpPr>
          <p:cNvPr id="23" name="Connector 22"/>
          <p:cNvCxnSpPr/>
          <p:nvPr/>
        </p:nvCxnSpPr>
        <p:spPr>
          <a:xfrm>
            <a:off x="1077135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420337" y="3180588"/>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42033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420337" y="3217164"/>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on error, back to Text-to-Cypher with the message, at most 3 times</a:t>
            </a:r>
          </a:p>
        </p:txBody>
      </p:sp>
      <p:sp>
        <p:nvSpPr>
          <p:cNvPr id="27" name="Rectangle 26"/>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Generate-then-verify with a </a:t>
            </a:r>
            <a:r>
              <a:rPr sz="1900" i="0" b="1">
                <a:solidFill>
                  <a:srgbClr val="1E293B"/>
                </a:solidFill>
                <a:latin typeface="Helvetica Neue"/>
              </a:rPr>
              <a:t>bounded back-edge</a:t>
            </a:r>
          </a:p>
        </p:txBody>
      </p:sp>
      <p:sp>
        <p:nvSpPr>
          <p:cNvPr id="29" name="Rectangle 28"/>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Typed state is the audit trail, and a free dataset of failures</a:t>
            </a:r>
          </a:p>
        </p:txBody>
      </p:sp>
      <p:sp>
        <p:nvSpPr>
          <p:cNvPr id="31" name="Rectangle 30"/>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Missing: an </a:t>
            </a:r>
            <a:r>
              <a:rPr sz="1710" i="0" b="1">
                <a:solidFill>
                  <a:srgbClr val="0F7490"/>
                </a:solidFill>
                <a:latin typeface="Menlo"/>
              </a:rPr>
              <a:t>EXPLAIN</a:t>
            </a:r>
            <a:r>
              <a:rPr sz="1900" i="0" b="1">
                <a:solidFill>
                  <a:srgbClr val="1E293B"/>
                </a:solidFill>
                <a:latin typeface="Helvetica Neue"/>
              </a:rPr>
              <a:t> validator</a:t>
            </a:r>
            <a:r>
              <a:rPr sz="1900" i="0" b="0">
                <a:solidFill>
                  <a:srgbClr val="1E293B"/>
                </a:solidFill>
                <a:latin typeface="Helvetica Neue"/>
              </a:rPr>
              <a:t> before execution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Where the graphs meet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KG as shared agent memory · Learning on graphs</a:t>
            </a:r>
          </a:p>
        </p:txBody>
      </p:sp>
      <p:cxnSp>
        <p:nvCxnSpPr>
          <p:cNvPr id="6" name="Connector 5"/>
          <p:cNvCxnSpPr/>
          <p:nvPr/>
        </p:nvCxnSpPr>
        <p:spPr>
          <a:xfrm>
            <a:off x="6446520" y="1939290"/>
            <a:ext cx="0" cy="29794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939290"/>
            <a:ext cx="4693615" cy="316230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Execution state vs. a knowledge graph</a:t>
            </a:r>
          </a:p>
          <a:p>
            <a:pPr algn="l">
              <a:lnSpc>
                <a:spcPct val="100000"/>
              </a:lnSpc>
              <a:spcBef>
                <a:spcPts val="1189"/>
              </a:spcBef>
            </a:pPr>
            <a:r>
              <a:rPr sz="1700" i="0" b="0">
                <a:solidFill>
                  <a:srgbClr val="CBD5E1"/>
                </a:solidFill>
                <a:latin typeface="Helvetica Neue"/>
              </a:rPr>
              <a:t>Loop → swarm → graph</a:t>
            </a:r>
          </a:p>
          <a:p>
            <a:pPr algn="l">
              <a:lnSpc>
                <a:spcPct val="100000"/>
              </a:lnSpc>
              <a:spcBef>
                <a:spcPts val="1189"/>
              </a:spcBef>
            </a:pPr>
            <a:r>
              <a:rPr sz="1700" i="0" b="0">
                <a:solidFill>
                  <a:srgbClr val="CBD5E1"/>
                </a:solidFill>
                <a:latin typeface="Helvetica Neue"/>
              </a:rPr>
              <a:t>All the safety lives in the write path</a:t>
            </a:r>
          </a:p>
          <a:p>
            <a:pPr algn="l">
              <a:lnSpc>
                <a:spcPct val="100000"/>
              </a:lnSpc>
              <a:spcBef>
                <a:spcPts val="1189"/>
              </a:spcBef>
            </a:pPr>
            <a:r>
              <a:rPr sz="1700" i="0" b="0">
                <a:solidFill>
                  <a:srgbClr val="CBD5E1"/>
                </a:solidFill>
                <a:latin typeface="Helvetica Neue"/>
              </a:rPr>
              <a:t>Three non-negotiables</a:t>
            </a:r>
          </a:p>
          <a:p>
            <a:pPr algn="l">
              <a:lnSpc>
                <a:spcPct val="100000"/>
              </a:lnSpc>
              <a:spcBef>
                <a:spcPts val="1189"/>
              </a:spcBef>
            </a:pPr>
            <a:r>
              <a:rPr sz="1700" i="0" b="0">
                <a:solidFill>
                  <a:srgbClr val="CBD5E1"/>
                </a:solidFill>
                <a:latin typeface="Helvetica Neue"/>
              </a:rPr>
              <a:t>Build path for a shared-memory swarm</a:t>
            </a:r>
          </a:p>
          <a:p>
            <a:pPr algn="l">
              <a:lnSpc>
                <a:spcPct val="100000"/>
              </a:lnSpc>
              <a:spcBef>
                <a:spcPts val="1189"/>
              </a:spcBef>
            </a:pPr>
            <a:r>
              <a:rPr sz="1700" i="0" b="0">
                <a:solidFill>
                  <a:srgbClr val="CBD5E1"/>
                </a:solidFill>
                <a:latin typeface="Helvetica Neue"/>
              </a:rPr>
              <a:t>Hand-written features can beat embeddings</a:t>
            </a:r>
          </a:p>
          <a:p>
            <a:pPr algn="l">
              <a:lnSpc>
                <a:spcPct val="100000"/>
              </a:lnSpc>
              <a:spcBef>
                <a:spcPts val="1189"/>
              </a:spcBef>
            </a:pPr>
            <a:r>
              <a:rPr sz="1700" i="0" b="0">
                <a:solidFill>
                  <a:srgbClr val="CBD5E1"/>
                </a:solidFill>
                <a:latin typeface="Helvetica Neue"/>
              </a:rPr>
              <a:t>GNNs in practice, and predictions as claims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Execution state vs. a knowledge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forgets; the graph does not. That cuts both ways.</a:t>
            </a:r>
          </a:p>
        </p:txBody>
      </p:sp>
      <p:graphicFrame>
        <p:nvGraphicFramePr>
          <p:cNvPr id="12" name="Table 11"/>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2643929"/>
                <a:gridCol w="4067583"/>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Execution-graph state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Lifetime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run (</a:t>
                      </a:r>
                      <a:r>
                        <a:rPr sz="1530" i="0" b="0">
                          <a:solidFill>
                            <a:srgbClr val="0F7490"/>
                          </a:solidFill>
                          <a:latin typeface="Menlo"/>
                        </a:rPr>
                        <a:t>thread_id</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Across runs and sessions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Readers and writers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Nodes in this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Any agent, any run, people too</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Shape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Typed dict with reducers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 claims, relations, provenance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Concurrency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Reducers; one writer per key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Validated versioned upserts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Mistakes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Die with the run</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Persist and spread</a:t>
                      </a:r>
                    </a:p>
                  </a:txBody>
                  <a:tcPr marL="109728" marR="109728" marT="54864" marB="54864" anchor="ctr">
                    <a:solidFill>
                      <a:srgbClr val="E8F4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 swarm →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9" name="Rounded Rectangle 8"/>
          <p:cNvSpPr/>
          <p:nvPr/>
        </p:nvSpPr>
        <p:spPr>
          <a:xfrm>
            <a:off x="2026767" y="1563624"/>
            <a:ext cx="2377440"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Loop</a:t>
            </a:r>
          </a:p>
          <a:p>
            <a:pPr algn="ctr">
              <a:lnSpc>
                <a:spcPct val="110000"/>
              </a:lnSpc>
            </a:pPr>
            <a:r>
              <a:rPr sz="1300" i="0" b="0">
                <a:solidFill>
                  <a:srgbClr val="E8F4F8"/>
                </a:solidFill>
                <a:latin typeface="Helvetica Neue"/>
              </a:rPr>
              <a:t>moves iteration and evaluation out of the agent</a:t>
            </a:r>
          </a:p>
        </p:txBody>
      </p:sp>
      <p:cxnSp>
        <p:nvCxnSpPr>
          <p:cNvPr id="11" name="Connector 10"/>
          <p:cNvCxnSpPr/>
          <p:nvPr/>
        </p:nvCxnSpPr>
        <p:spPr>
          <a:xfrm>
            <a:off x="445907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Swarm</a:t>
            </a:r>
          </a:p>
          <a:p>
            <a:pPr algn="ctr">
              <a:lnSpc>
                <a:spcPct val="110000"/>
              </a:lnSpc>
            </a:pPr>
            <a:r>
              <a:rPr sz="1300" i="0" b="0">
                <a:solidFill>
                  <a:srgbClr val="E8F4F8"/>
                </a:solidFill>
                <a:latin typeface="Helvetica Neue"/>
              </a:rPr>
              <a:t>moves parallel search out; creates </a:t>
            </a:r>
            <a:r>
              <a:rPr sz="1300" i="0" b="1">
                <a:solidFill>
                  <a:srgbClr val="E8F4F8"/>
                </a:solidFill>
                <a:latin typeface="Helvetica Neue"/>
              </a:rPr>
              <a:t>redundancy</a:t>
            </a:r>
          </a:p>
        </p:txBody>
      </p:sp>
      <p:cxnSp>
        <p:nvCxnSpPr>
          <p:cNvPr id="14" name="Connector 13"/>
          <p:cNvCxnSpPr/>
          <p:nvPr/>
        </p:nvCxnSpPr>
        <p:spPr>
          <a:xfrm>
            <a:off x="733943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Graph</a:t>
            </a:r>
          </a:p>
          <a:p>
            <a:pPr algn="ctr">
              <a:lnSpc>
                <a:spcPct val="110000"/>
              </a:lnSpc>
            </a:pPr>
            <a:r>
              <a:rPr sz="1300" i="0" b="0">
                <a:solidFill>
                  <a:srgbClr val="E8F4F8"/>
                </a:solidFill>
                <a:latin typeface="Helvetica Neue"/>
              </a:rPr>
              <a:t>moves shared facts, provenance and memory out</a:t>
            </a:r>
          </a:p>
        </p:txBody>
      </p:sp>
      <p:sp>
        <p:nvSpPr>
          <p:cNvPr id="17" name="Rectangle 16"/>
          <p:cNvSpPr/>
          <p:nvPr/>
        </p:nvSpPr>
        <p:spPr>
          <a:xfrm>
            <a:off x="502920" y="3398774"/>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Loop: Karpathy's autoresearch: keep a change only if val bits-per-byte improves</a:t>
            </a:r>
          </a:p>
        </p:txBody>
      </p:sp>
      <p:sp>
        <p:nvSpPr>
          <p:cNvPr id="19" name="Rectangle 18"/>
          <p:cNvSpPr/>
          <p:nvPr/>
        </p:nvSpPr>
        <p:spPr>
          <a:xfrm>
            <a:off x="502920" y="3862069"/>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alone </a:t>
            </a:r>
            <a:r>
              <a:rPr sz="1900" i="0" b="1">
                <a:solidFill>
                  <a:srgbClr val="1E293B"/>
                </a:solidFill>
                <a:latin typeface="Helvetica Neue"/>
              </a:rPr>
              <a:t>re-derives</a:t>
            </a:r>
            <a:r>
              <a:rPr sz="1900" i="0" b="0">
                <a:solidFill>
                  <a:srgbClr val="1E293B"/>
                </a:solidFill>
                <a:latin typeface="Helvetica Neue"/>
              </a:rPr>
              <a:t> findings</a:t>
            </a:r>
          </a:p>
        </p:txBody>
      </p:sp>
      <p:sp>
        <p:nvSpPr>
          <p:cNvPr id="21" name="Rectangle 20"/>
          <p:cNvSpPr/>
          <p:nvPr/>
        </p:nvSpPr>
        <p:spPr>
          <a:xfrm>
            <a:off x="502920" y="432536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writing to a shared graph </a:t>
            </a:r>
            <a:r>
              <a:rPr sz="1900" i="0" b="1">
                <a:solidFill>
                  <a:srgbClr val="1E293B"/>
                </a:solidFill>
                <a:latin typeface="Helvetica Neue"/>
              </a:rPr>
              <a:t>accumulates</a:t>
            </a:r>
            <a:r>
              <a:rPr sz="1900" i="0" b="0">
                <a:solidFill>
                  <a:srgbClr val="1E293B"/>
                </a:solidFill>
                <a:latin typeface="Helvetica Neue"/>
              </a:rPr>
              <a:t> them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All the safety lives in the write path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9" name="Rounded Rectangle 8"/>
          <p:cNvSpPr/>
          <p:nvPr/>
        </p:nvSpPr>
        <p:spPr>
          <a:xfrm>
            <a:off x="502920" y="1472184"/>
            <a:ext cx="6711513" cy="40995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345948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@dataclass</a:t>
            </a:r>
          </a:p>
          <a:p>
            <a:pPr algn="l">
              <a:lnSpc>
                <a:spcPct val="100000"/>
              </a:lnSpc>
            </a:pPr>
            <a:r>
              <a:rPr sz="1400" i="0" b="0">
                <a:solidFill>
                  <a:srgbClr val="E2E8F0"/>
                </a:solidFill>
                <a:latin typeface="Menlo"/>
              </a:rPr>
              <a:t>class GraphUpdate:</a:t>
            </a:r>
          </a:p>
          <a:p>
            <a:pPr algn="l">
              <a:lnSpc>
                <a:spcPct val="100000"/>
              </a:lnSpc>
            </a:pPr>
            <a:r>
              <a:rPr sz="1400" i="0" b="0">
                <a:solidFill>
                  <a:srgbClr val="E2E8F0"/>
                </a:solidFill>
                <a:latin typeface="Menlo"/>
              </a:rPr>
              <a:t>    nodes: list[dict]   # id, type, props, spans</a:t>
            </a:r>
          </a:p>
          <a:p>
            <a:pPr algn="l">
              <a:lnSpc>
                <a:spcPct val="100000"/>
              </a:lnSpc>
            </a:pPr>
            <a:r>
              <a:rPr sz="1400" i="0" b="0">
                <a:solidFill>
                  <a:srgbClr val="E2E8F0"/>
                </a:solidFill>
                <a:latin typeface="Menlo"/>
              </a:rPr>
              <a:t>    edges: list[dict]   # src, type, dst, conf</a:t>
            </a:r>
          </a:p>
          <a:p>
            <a:pPr algn="l">
              <a:lnSpc>
                <a:spcPct val="100000"/>
              </a:lnSpc>
            </a:pPr>
            <a:r>
              <a:rPr sz="1400" i="0" b="0">
                <a:solidFill>
                  <a:srgbClr val="E2E8F0"/>
                </a:solidFill>
                <a:latin typeface="Menlo"/>
              </a:rPr>
              <a:t>    run_id: str</a:t>
            </a:r>
          </a:p>
          <a:p>
            <a:pPr algn="l">
              <a:lnSpc>
                <a:spcPct val="100000"/>
              </a:lnSpc>
            </a:pPr>
            <a:r>
              <a:rPr sz="1400" i="0" b="0">
                <a:solidFill>
                  <a:srgbClr val="E2E8F0"/>
                </a:solidFill>
                <a:latin typeface="Menlo"/>
              </a:rPr>
              <a:t>    agent_id: str</a:t>
            </a:r>
          </a:p>
          <a:p>
            <a:pPr algn="l">
              <a:lnSpc>
                <a:spcPct val="100000"/>
              </a:lnSpc>
            </a:pPr>
          </a:p>
          <a:p>
            <a:pPr algn="l">
              <a:lnSpc>
                <a:spcPct val="100000"/>
              </a:lnSpc>
            </a:pPr>
            <a:r>
              <a:rPr sz="1400" i="0" b="0">
                <a:solidFill>
                  <a:srgbClr val="E2E8F0"/>
                </a:solidFill>
                <a:latin typeface="Menlo"/>
              </a:rPr>
              <a:t>def publish(update, graph, validator):</a:t>
            </a:r>
          </a:p>
          <a:p>
            <a:pPr algn="l">
              <a:lnSpc>
                <a:spcPct val="100000"/>
              </a:lnSpc>
            </a:pPr>
            <a:r>
              <a:rPr sz="1400" i="0" b="0">
                <a:solidFill>
                  <a:srgbClr val="E2E8F0"/>
                </a:solidFill>
                <a:latin typeface="Menlo"/>
              </a:rPr>
              <a:t>    validator.check_schema(update.nodes, update.edges)</a:t>
            </a:r>
          </a:p>
          <a:p>
            <a:pPr algn="l">
              <a:lnSpc>
                <a:spcPct val="100000"/>
              </a:lnSpc>
            </a:pPr>
            <a:r>
              <a:rPr sz="1400" i="0" b="0">
                <a:solidFill>
                  <a:srgbClr val="E2E8F0"/>
                </a:solidFill>
                <a:latin typeface="Menlo"/>
              </a:rPr>
              <a:t>    validator.check_provenance(update.nodes, update.edges)</a:t>
            </a:r>
          </a:p>
          <a:p>
            <a:pPr algn="l">
              <a:lnSpc>
                <a:spcPct val="100000"/>
              </a:lnSpc>
            </a:pPr>
            <a:r>
              <a:rPr sz="1400" i="0" b="0">
                <a:solidFill>
                  <a:srgbClr val="E2E8F0"/>
                </a:solidFill>
                <a:latin typeface="Menlo"/>
              </a:rPr>
              <a:t>    with graph.transaction() as tx:</a:t>
            </a:r>
          </a:p>
          <a:p>
            <a:pPr algn="l">
              <a:lnSpc>
                <a:spcPct val="100000"/>
              </a:lnSpc>
            </a:pPr>
            <a:r>
              <a:rPr sz="1400" i="0" b="0">
                <a:solidFill>
                  <a:srgbClr val="E2E8F0"/>
                </a:solidFill>
                <a:latin typeface="Menlo"/>
              </a:rPr>
              <a:t>        tx.upsert_versioned_nodes(update.nodes)</a:t>
            </a:r>
          </a:p>
          <a:p>
            <a:pPr algn="l">
              <a:lnSpc>
                <a:spcPct val="100000"/>
              </a:lnSpc>
            </a:pPr>
            <a:r>
              <a:rPr sz="1400" i="0" b="0">
                <a:solidFill>
                  <a:srgbClr val="E2E8F0"/>
                </a:solidFill>
                <a:latin typeface="Menlo"/>
              </a:rPr>
              <a:t>        tx.add_edges(update.edges)</a:t>
            </a:r>
          </a:p>
          <a:p>
            <a:pPr algn="l">
              <a:lnSpc>
                <a:spcPct val="100000"/>
              </a:lnSpc>
            </a:pPr>
            <a:r>
              <a:rPr sz="1400" i="0" b="0">
                <a:solidFill>
                  <a:srgbClr val="E2E8F0"/>
                </a:solidFill>
                <a:latin typeface="Menlo"/>
              </a:rPr>
              <a:t>        tx.link_run(update.run_id, update.agent_id, ...)</a:t>
            </a:r>
          </a:p>
          <a:p>
            <a:pPr algn="l">
              <a:lnSpc>
                <a:spcPct val="100000"/>
              </a:lnSpc>
            </a:pPr>
            <a:r>
              <a:rPr sz="1400" i="0" b="0">
                <a:solidFill>
                  <a:srgbClr val="E2E8F0"/>
                </a:solidFill>
                <a:latin typeface="Menlo"/>
              </a:rPr>
              <a:t>        tx.commit()</a:t>
            </a:r>
          </a:p>
        </p:txBody>
      </p:sp>
      <p:sp>
        <p:nvSpPr>
          <p:cNvPr id="12" name="Rectangle 11"/>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Workers </a:t>
            </a:r>
            <a:r>
              <a:rPr sz="1800" i="0" b="1">
                <a:solidFill>
                  <a:srgbClr val="1E293B"/>
                </a:solidFill>
                <a:latin typeface="Helvetica Neue"/>
              </a:rPr>
              <a:t>submit</a:t>
            </a:r>
            <a:r>
              <a:rPr sz="1800" i="0" b="0">
                <a:solidFill>
                  <a:srgbClr val="1E293B"/>
                </a:solidFill>
                <a:latin typeface="Helvetica Neue"/>
              </a:rPr>
              <a:t>, never write directly</a:t>
            </a:r>
          </a:p>
        </p:txBody>
      </p:sp>
      <p:sp>
        <p:nvSpPr>
          <p:cNvPr id="14" name="Rectangle 13"/>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Note 03's reducer at database scale</a:t>
            </a:r>
          </a:p>
        </p:txBody>
      </p:sp>
      <p:sp>
        <p:nvSpPr>
          <p:cNvPr id="16" name="Rectangle 15"/>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Contract: the </a:t>
            </a:r>
            <a:r>
              <a:rPr sz="1620" i="0" b="0">
                <a:solidFill>
                  <a:srgbClr val="0F7490"/>
                </a:solidFill>
                <a:latin typeface="Menlo"/>
              </a:rPr>
              <a:t>GraphUpdate</a:t>
            </a:r>
            <a:r>
              <a:rPr sz="1800" i="0" b="0">
                <a:solidFill>
                  <a:srgbClr val="1E293B"/>
                </a:solidFill>
                <a:latin typeface="Helvetica Neue"/>
              </a:rPr>
              <a:t> JSON Schema in note 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non-negotiables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Whoever owns the schema owns the errors.</a:t>
            </a:r>
          </a:p>
        </p:txBody>
      </p:sp>
      <p:sp>
        <p:nvSpPr>
          <p:cNvPr id="12" name="Rectangle 11"/>
          <p:cNvSpPr/>
          <p:nvPr/>
        </p:nvSpPr>
        <p:spPr>
          <a:xfrm>
            <a:off x="502920"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Complete provenance</a:t>
            </a:r>
          </a:p>
        </p:txBody>
      </p:sp>
      <p:sp>
        <p:nvSpPr>
          <p:cNvPr id="15" name="TextBox 14"/>
          <p:cNvSpPr txBox="1"/>
          <p:nvPr/>
        </p:nvSpPr>
        <p:spPr>
          <a:xfrm>
            <a:off x="777240"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Every node and edge records </a:t>
            </a:r>
            <a:r>
              <a:rPr sz="1800" i="0" b="0">
                <a:solidFill>
                  <a:srgbClr val="0F7490"/>
                </a:solidFill>
                <a:latin typeface="Menlo"/>
              </a:rPr>
              <a:t>run_id</a:t>
            </a:r>
            <a:r>
              <a:rPr sz="2000" i="0" b="0">
                <a:solidFill>
                  <a:srgbClr val="475569"/>
                </a:solidFill>
                <a:latin typeface="Helvetica Neue"/>
              </a:rPr>
              <a:t>, </a:t>
            </a:r>
            <a:r>
              <a:rPr sz="1800" i="0" b="0">
                <a:solidFill>
                  <a:srgbClr val="0F7490"/>
                </a:solidFill>
                <a:latin typeface="Menlo"/>
              </a:rPr>
              <a:t>agent_id</a:t>
            </a:r>
            <a:r>
              <a:rPr sz="2000" i="0" b="0">
                <a:solidFill>
                  <a:srgbClr val="475569"/>
                </a:solidFill>
                <a:latin typeface="Helvetica Neue"/>
              </a:rPr>
              <a:t> and a source span</a:t>
            </a:r>
          </a:p>
        </p:txBody>
      </p:sp>
      <p:sp>
        <p:nvSpPr>
          <p:cNvPr id="16" name="Rectangle 15"/>
          <p:cNvSpPr/>
          <p:nvPr/>
        </p:nvSpPr>
        <p:spPr>
          <a:xfrm>
            <a:off x="4322978"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241401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Reversible resolution</a:t>
            </a:r>
          </a:p>
        </p:txBody>
      </p:sp>
      <p:sp>
        <p:nvSpPr>
          <p:cNvPr id="19" name="TextBox 18"/>
          <p:cNvSpPr txBox="1"/>
          <p:nvPr/>
        </p:nvSpPr>
        <p:spPr>
          <a:xfrm>
            <a:off x="4597298" y="2087880"/>
            <a:ext cx="3042818" cy="1615439"/>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ALIAS_OF</a:t>
            </a:r>
            <a:r>
              <a:rPr sz="2000" i="0" b="0">
                <a:solidFill>
                  <a:srgbClr val="475569"/>
                </a:solidFill>
                <a:latin typeface="Helvetica Neue"/>
              </a:rPr>
              <a:t> / </a:t>
            </a:r>
            <a:r>
              <a:rPr sz="1800" i="0" b="0">
                <a:solidFill>
                  <a:srgbClr val="0F7490"/>
                </a:solidFill>
                <a:latin typeface="Menlo"/>
              </a:rPr>
              <a:t>RESOLVES_TO</a:t>
            </a:r>
            <a:r>
              <a:rPr sz="2000" i="0" b="0">
                <a:solidFill>
                  <a:srgbClr val="475569"/>
                </a:solidFill>
                <a:latin typeface="Helvetica Neue"/>
              </a:rPr>
              <a:t> with evidence; never merge destructively</a:t>
            </a:r>
          </a:p>
        </p:txBody>
      </p:sp>
      <p:sp>
        <p:nvSpPr>
          <p:cNvPr id="20" name="Rectangle 19"/>
          <p:cNvSpPr/>
          <p:nvPr/>
        </p:nvSpPr>
        <p:spPr>
          <a:xfrm>
            <a:off x="8143036"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Claims are not truths</a:t>
            </a:r>
          </a:p>
        </p:txBody>
      </p:sp>
      <p:sp>
        <p:nvSpPr>
          <p:cNvPr id="23" name="TextBox 22"/>
          <p:cNvSpPr txBox="1"/>
          <p:nvPr/>
        </p:nvSpPr>
        <p:spPr>
          <a:xfrm>
            <a:off x="8417356"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"Agent A claims X, citing S". Contradictions live side by side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Build path for a shared-memory swarm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Evaluate by layer: extraction F1, false-merge rate, path validity, redundant findings.</a:t>
            </a:r>
          </a:p>
        </p:txBody>
      </p:sp>
      <p:sp>
        <p:nvSpPr>
          <p:cNvPr id="12" name="Rectangle 11"/>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One measured loop</a:t>
            </a:r>
            <a:r>
              <a:rPr sz="1800" i="0" b="0">
                <a:solidFill>
                  <a:srgbClr val="475569"/>
                </a:solidFill>
                <a:latin typeface="Helvetica Neue"/>
              </a:rPr>
              <a:t> — A fixed metric and reversible actions</a:t>
            </a:r>
          </a:p>
        </p:txBody>
      </p:sp>
      <p:sp>
        <p:nvSpPr>
          <p:cNvPr id="16" name="Rectangle 15"/>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role split</a:t>
            </a:r>
            <a:r>
              <a:rPr sz="1800" i="0" b="0">
                <a:solidFill>
                  <a:srgbClr val="475569"/>
                </a:solidFill>
                <a:latin typeface="Helvetica Neue"/>
              </a:rPr>
              <a:t> — Generator and verifier with isolated contexts</a:t>
            </a:r>
          </a:p>
        </p:txBody>
      </p:sp>
      <p:sp>
        <p:nvSpPr>
          <p:cNvPr id="20" name="Rectangle 19"/>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persistent graph</a:t>
            </a:r>
            <a:r>
              <a:rPr sz="1800" i="0" b="0">
                <a:solidFill>
                  <a:srgbClr val="475569"/>
                </a:solidFill>
                <a:latin typeface="Helvetica Neue"/>
              </a:rPr>
              <a:t> — Gate: do queries across sessions work?</a:t>
            </a:r>
          </a:p>
        </p:txBody>
      </p:sp>
      <p:sp>
        <p:nvSpPr>
          <p:cNvPr id="24" name="Rectangle 23"/>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swarm writing to it</a:t>
            </a:r>
            <a:r>
              <a:rPr sz="1800" i="0" b="0">
                <a:solidFill>
                  <a:srgbClr val="475569"/>
                </a:solidFill>
                <a:latin typeface="Helvetica Neue"/>
              </a:rPr>
              <a:t> — Gate: wall-clock gain with </a:t>
            </a:r>
            <a:r>
              <a:rPr sz="1800" i="0" b="1">
                <a:solidFill>
                  <a:srgbClr val="1E293B"/>
                </a:solidFill>
                <a:latin typeface="Helvetica Neue"/>
              </a:rPr>
              <a:t>no loss of quality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Hand-written features can beat embeddings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Zachary's karate club</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Graph nodes aren't i.i.d.; connected nodes tend to be alike (homophily).</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Features are the bottleneck. Encode the pattern you know is there.</a:t>
            </a:r>
          </a:p>
        </p:txBody>
      </p:sp>
      <p:graphicFrame>
        <p:nvGraphicFramePr>
          <p:cNvPr id="14" name="Table 13"/>
          <p:cNvGraphicFramePr>
            <a:graphicFrameLocks noGrp="1"/>
          </p:cNvGraphicFramePr>
          <p:nvPr/>
        </p:nvGraphicFramePr>
        <p:xfrm>
          <a:off x="502920" y="1985772"/>
          <a:ext cx="11185854" cy="1621536"/>
        </p:xfrm>
        <a:graphic>
          <a:graphicData uri="http://schemas.openxmlformats.org/drawingml/2006/table">
            <a:tbl>
              <a:tblPr firstRow="1" bandRow="1">
                <a:tableStyleId>{5940675A-B579-460E-94D1-54222C63F5DA}</a:tableStyleId>
              </a:tblPr>
              <a:tblGrid>
                <a:gridCol w="7830098"/>
                <a:gridCol w="3355756"/>
              </a:tblGrid>
              <a:tr h="405384">
                <a:tc>
                  <a:txBody>
                    <a:bodyPr wrap="square"/>
                    <a:lstStyle/>
                    <a:p>
                      <a:pPr>
                        <a:lnSpc>
                          <a:spcPct val="100000"/>
                        </a:lnSpc>
                      </a:pPr>
                      <a:r>
                        <a:rPr sz="1700" i="0" b="1">
                          <a:solidFill>
                            <a:srgbClr val="FFFFFF"/>
                          </a:solidFill>
                          <a:latin typeface="Helvetica Neue"/>
                        </a:rPr>
                        <a:t>Features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F1</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Degree only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0.43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Node2Vec, 64-dim, untuned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0.65, unstable between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Degree + neighbours in faction A + in faction B</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0.93</a:t>
                      </a:r>
                      <a:r>
                        <a:rPr sz="1700" i="0" b="0">
                          <a:solidFill>
                            <a:srgbClr val="475569"/>
                          </a:solidFill>
                          <a:latin typeface="Helvetica Neue"/>
                        </a:rPr>
                        <a:t>, stable</a:t>
                      </a:r>
                    </a:p>
                  </a:txBody>
                  <a:tcPr marL="109728" marR="109728" marT="54864" marB="54864" anchor="ctr">
                    <a:solidFill>
                      <a:srgbClr val="E8F4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GNNs in practice, and predictions as claims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PyTorch Geometric (ch12)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false predicted link does what a false merge does. Watch the false-positive rate.</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Message passing</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Each layer aggregates neighbours; k layers = k-hop view. Watch </a:t>
            </a:r>
            <a:r>
              <a:rPr sz="1800" i="0" b="1">
                <a:solidFill>
                  <a:srgbClr val="1E293B"/>
                </a:solidFill>
                <a:latin typeface="Helvetica Neue"/>
              </a:rPr>
              <a:t>over-smoothing</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AML (Elliptic)</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SAGE best: caught </a:t>
            </a:r>
            <a:r>
              <a:rPr sz="1800" i="0" b="1">
                <a:solidFill>
                  <a:srgbClr val="1E293B"/>
                </a:solidFill>
                <a:latin typeface="Helvetica Neue"/>
              </a:rPr>
              <a:t>82.7%</a:t>
            </a:r>
            <a:r>
              <a:rPr sz="1800" i="0" b="0">
                <a:solidFill>
                  <a:srgbClr val="475569"/>
                </a:solidFill>
                <a:latin typeface="Helvetica Neue"/>
              </a:rPr>
              <a:t> of illicit nodes; GCN missed </a:t>
            </a:r>
            <a:r>
              <a:rPr sz="1800" i="0" b="1">
                <a:solidFill>
                  <a:srgbClr val="1E293B"/>
                </a:solidFill>
                <a:latin typeface="Helvetica Neue"/>
              </a:rPr>
              <a:t>32%</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GNN + LLM</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as predictor, as encoder of node text, or as aligner</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Predictions are claims</a:t>
            </a:r>
          </a:p>
        </p:txBody>
      </p:sp>
      <p:sp>
        <p:nvSpPr>
          <p:cNvPr id="28" name="TextBox 27"/>
          <p:cNvSpPr txBox="1"/>
          <p:nvPr/>
        </p:nvSpPr>
        <p:spPr>
          <a:xfrm>
            <a:off x="9372371" y="2356104"/>
            <a:ext cx="2087803" cy="1816608"/>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Write via </a:t>
            </a:r>
            <a:r>
              <a:rPr sz="1620" i="0" b="0">
                <a:solidFill>
                  <a:srgbClr val="0F7490"/>
                </a:solidFill>
                <a:latin typeface="Menlo"/>
              </a:rPr>
              <a:t>GraphUpdate</a:t>
            </a:r>
            <a:r>
              <a:rPr sz="1800" i="0" b="0">
                <a:solidFill>
                  <a:srgbClr val="475569"/>
                </a:solidFill>
                <a:latin typeface="Helvetica Neue"/>
              </a:rPr>
              <a:t> with </a:t>
            </a:r>
            <a:r>
              <a:rPr sz="1620" i="0" b="0">
                <a:solidFill>
                  <a:srgbClr val="0F7490"/>
                </a:solidFill>
                <a:latin typeface="Menlo"/>
              </a:rPr>
              <a:t>confidence</a:t>
            </a:r>
            <a:r>
              <a:rPr sz="1800" i="0" b="0">
                <a:solidFill>
                  <a:srgbClr val="475569"/>
                </a:solidFill>
                <a:latin typeface="Helvetica Neue"/>
              </a:rPr>
              <a:t>; keep out of default traversals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9" name="Rectangle 8"/>
          <p:cNvSpPr/>
          <p:nvPr/>
        </p:nvSpPr>
        <p:spPr>
          <a:xfrm>
            <a:off x="502920"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First graph</a:t>
            </a:r>
          </a:p>
        </p:txBody>
      </p:sp>
      <p:sp>
        <p:nvSpPr>
          <p:cNvPr id="12" name="TextBox 11"/>
          <p:cNvSpPr txBox="1"/>
          <p:nvPr/>
        </p:nvSpPr>
        <p:spPr>
          <a:xfrm>
            <a:off x="777240"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Generate-then-verify is the highest-yield first graph</a:t>
            </a:r>
          </a:p>
        </p:txBody>
      </p:sp>
      <p:sp>
        <p:nvSpPr>
          <p:cNvPr id="13" name="Rectangle 12"/>
          <p:cNvSpPr/>
          <p:nvPr/>
        </p:nvSpPr>
        <p:spPr>
          <a:xfrm>
            <a:off x="4322978"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2978" y="1472184"/>
            <a:ext cx="82296" cy="22357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Agency</a:t>
            </a:r>
          </a:p>
        </p:txBody>
      </p:sp>
      <p:sp>
        <p:nvSpPr>
          <p:cNvPr id="16" name="TextBox 15"/>
          <p:cNvSpPr txBox="1"/>
          <p:nvPr/>
        </p:nvSpPr>
        <p:spPr>
          <a:xfrm>
            <a:off x="4597298"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Code where you can, one LLM call where you must, an agent only where the path is unknown</a:t>
            </a:r>
          </a:p>
        </p:txBody>
      </p:sp>
      <p:sp>
        <p:nvSpPr>
          <p:cNvPr id="17" name="Rectangle 16"/>
          <p:cNvSpPr/>
          <p:nvPr/>
        </p:nvSpPr>
        <p:spPr>
          <a:xfrm>
            <a:off x="8143036"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43036" y="1472184"/>
            <a:ext cx="82296" cy="22357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State</a:t>
            </a:r>
          </a:p>
        </p:txBody>
      </p:sp>
      <p:sp>
        <p:nvSpPr>
          <p:cNvPr id="20" name="TextBox 19"/>
          <p:cNvSpPr txBox="1"/>
          <p:nvPr/>
        </p:nvSpPr>
        <p:spPr>
          <a:xfrm>
            <a:off x="8417356"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Every shared key has one writer or a reducer</a:t>
            </a:r>
          </a:p>
        </p:txBody>
      </p:sp>
      <p:sp>
        <p:nvSpPr>
          <p:cNvPr id="21" name="Rectangle 20"/>
          <p:cNvSpPr/>
          <p:nvPr/>
        </p:nvSpPr>
        <p:spPr>
          <a:xfrm>
            <a:off x="502920"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982211"/>
            <a:ext cx="82296" cy="223570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Gates</a:t>
            </a:r>
          </a:p>
        </p:txBody>
      </p:sp>
      <p:sp>
        <p:nvSpPr>
          <p:cNvPr id="24" name="TextBox 23"/>
          <p:cNvSpPr txBox="1"/>
          <p:nvPr/>
        </p:nvSpPr>
        <p:spPr>
          <a:xfrm>
            <a:off x="777240"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Gate the edges where consequences concentrate, not every node</a:t>
            </a:r>
          </a:p>
        </p:txBody>
      </p:sp>
      <p:sp>
        <p:nvSpPr>
          <p:cNvPr id="25" name="Rectangle 24"/>
          <p:cNvSpPr/>
          <p:nvPr/>
        </p:nvSpPr>
        <p:spPr>
          <a:xfrm>
            <a:off x="4322978"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22978" y="3982211"/>
            <a:ext cx="82296" cy="223570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97298"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Verifiers</a:t>
            </a:r>
          </a:p>
        </p:txBody>
      </p:sp>
      <p:sp>
        <p:nvSpPr>
          <p:cNvPr id="28" name="TextBox 27"/>
          <p:cNvSpPr txBox="1"/>
          <p:nvPr/>
        </p:nvSpPr>
        <p:spPr>
          <a:xfrm>
            <a:off x="4597298"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See the task and the output, never the generator's reasoning</a:t>
            </a:r>
          </a:p>
        </p:txBody>
      </p:sp>
      <p:sp>
        <p:nvSpPr>
          <p:cNvPr id="29" name="Rectangle 28"/>
          <p:cNvSpPr/>
          <p:nvPr/>
        </p:nvSpPr>
        <p:spPr>
          <a:xfrm>
            <a:off x="8143036"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43036" y="3982211"/>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7356"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Anchors</a:t>
            </a:r>
          </a:p>
        </p:txBody>
      </p:sp>
      <p:sp>
        <p:nvSpPr>
          <p:cNvPr id="32" name="TextBox 31"/>
          <p:cNvSpPr txBox="1"/>
          <p:nvPr/>
        </p:nvSpPr>
        <p:spPr>
          <a:xfrm>
            <a:off x="8417356"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Keep at least one anchor the graph can't edit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9" name="Rectangle 8"/>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Part A labs (A1–A7):</a:t>
            </a:r>
            <a:r>
              <a:rPr sz="2000" i="0" b="0">
                <a:solidFill>
                  <a:srgbClr val="1E293B"/>
                </a:solidFill>
                <a:latin typeface="Helvetica Neue"/>
              </a:rPr>
              <a:t> grow one graph through Parts 1–2 of this talk</a:t>
            </a:r>
          </a:p>
        </p:txBody>
      </p:sp>
      <p:sp>
        <p:nvSpPr>
          <p:cNvPr id="11" name="Rectangle 10"/>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Part B labs (B1–B9):</a:t>
            </a:r>
            <a:r>
              <a:rPr sz="2000" i="0" b="0">
                <a:solidFill>
                  <a:srgbClr val="1E293B"/>
                </a:solidFill>
                <a:latin typeface="Helvetica Neue"/>
              </a:rPr>
              <a:t> the Neo4j course, your own domain, a shared-memory swarm</a:t>
            </a:r>
          </a:p>
        </p:txBody>
      </p:sp>
      <p:sp>
        <p:nvSpPr>
          <p:cNvPr id="13" name="Rectangle 12"/>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 notes:</a:t>
            </a:r>
            <a:r>
              <a:rPr sz="2000" i="0" b="0">
                <a:solidFill>
                  <a:srgbClr val="1E293B"/>
                </a:solidFill>
                <a:latin typeface="Helvetica Neue"/>
              </a:rPr>
              <a:t> every slide here has its code and figures in notes 01–13</a:t>
            </a:r>
          </a:p>
        </p:txBody>
      </p:sp>
      <p:sp>
        <p:nvSpPr>
          <p:cNvPr id="15" name="Rectangle 14"/>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Knowledge Graphs for RAG:</a:t>
            </a:r>
            <a:r>
              <a:rPr sz="2000" i="0" b="0">
                <a:solidFill>
                  <a:srgbClr val="1E293B"/>
                </a:solidFill>
                <a:latin typeface="Helvetica Neue"/>
              </a:rPr>
              <a:t> the hosted DeepLearning.AI × Neo4j course</a:t>
            </a:r>
          </a:p>
        </p:txBody>
      </p:sp>
      <p:sp>
        <p:nvSpPr>
          <p:cNvPr id="17" name="Rectangle 16"/>
          <p:cNvSpPr/>
          <p:nvPr/>
        </p:nvSpPr>
        <p:spPr>
          <a:xfrm>
            <a:off x="502920" y="48605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06-eval:</a:t>
            </a:r>
            <a:r>
              <a:rPr sz="2000" i="0" b="0">
                <a:solidFill>
                  <a:srgbClr val="1E293B"/>
                </a:solidFill>
                <a:latin typeface="Helvetica Neue"/>
              </a:rPr>
              <a:t> measure whether the whole system is correct</a:t>
            </a:r>
          </a:p>
        </p:txBody>
      </p:sp>
      <p:sp>
        <p:nvSpPr>
          <p:cNvPr id="19" name="Rectangle 18"/>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758" y="1472184"/>
            <a:ext cx="4556016"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2" name="TextBox 21"/>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a specific signal forces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