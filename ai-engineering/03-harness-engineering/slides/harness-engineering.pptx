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three. Prompt sits inside context, and context sits inside the harness. We will take one small refund agent, watch it fail in the ways production agents fail, and add one piece of harness for each failure. By the end every piece you see in a serious agent will have a reason.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refund agent that works in a demo. We start with the arithmetic that breaks it, then the evidence that the fix lives outside the model, then the anatomy of what you have to build.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agent reads a refund request, looks up the order, checks the policy, issues the refund. In the demo it works. But multiply it out: 90 percent reliable, five times, lands near 60. And real runs have many more than five steps. So how do we get reliability? The instinct is a better model. The evidence says otherwise.</a:t>
            </a:r>
          </a:p>
          <a:p/>
          <a:p>
            <a:r>
              <a:t>Source: notes/01-what-a-harness-is.md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between the request and the output, except the weights, is harness. Look at the top two rows. That is the demo. The highlighted rows are what you add for production: the framework refuses a refund above the order total, a query confirms it landed, and a timeout retries on its own. Let's see what those rows look like in code.</a:t>
            </a:r>
          </a:p>
          <a:p/>
          <a:p>
            <a:r>
              <a:t>Source: notes/01-what-a-harness-is.md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illustrative, using the names from the note's refund table. The model still decides whether a refund is appropriate. But the ceiling, the retry and the confirmation are ordinary code. None of it depends on the model behaving. Is this really where the gains are? Here is the measurement.</a:t>
            </a:r>
          </a:p>
          <a:p/>
          <a:p>
            <a:r>
              <a:t>Source: notes/01-what-a-harness-is.md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Agashe and colleagues held the model and loop fixed and let only the interfaces evolve. A 27 billion parameter model went from 5.6 to 21.3 percent, above Opus 4.8 at 20.6, and the cost axis tells the rest of the story. So when our refund agent fails, what should we say about it?</a:t>
            </a:r>
          </a:p>
          <a:p/>
          <a:p>
            <a:r>
              <a:t>Source: notes/01-what-a-harness-is.md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discipline fits in this table. Each right-hand cell is a thing you can go and build, and each middle cell is a thing you can only complain about. Refusing the middle column is the habit this pillar is trying to teach. So what must any harness contain, at minimum?</a:t>
            </a:r>
          </a:p>
          <a:p/>
          <a:p>
            <a:r>
              <a:t>Source: notes/01-what-a-harness-is.md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What counts as done? What can it touch? How does it learn it was wrong? How do we undo it? For a refund, rollback is a real question, and it is the one teams most often have no answer to. The baseline is the one they fake, with a "looks good" in place of a binary check.</a:t>
            </a:r>
          </a:p>
          <a:p/>
          <a:p>
            <a:r>
              <a:t>Source: notes/01-what-a-harness-is.md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design a harness up front. You grow it. Each slip gets a home in one subsystem and a permanent check. That is why a good AGENTS.md reads like a list of past accidents. A line with no accident behind it is a guess. Which subsystems are there to choose from?</a:t>
            </a:r>
          </a:p>
          <a:p/>
          <a:p>
            <a:r>
              <a:t>Source: notes/01-what-a-harness-is.md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DeepMind's Minecraft run is a compact example because the harness is small and fully described. You can point at each of the five questions in this figure. When something fails, ask which of the five owned it. Usually it is feedback, because agents are rarely stuck. They are confidently wrong.</a:t>
            </a:r>
          </a:p>
          <a:p/>
          <a:p>
            <a:r>
              <a:t>Source: notes/02-harness-anatomy.md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start something on Monday, build these six. Note the single verification gate: one binary check is worth more than any amount of prompt polish. Nothing else in this talk needs to exist on day one. Each of the next parts opens up one row here, beginning with the tools.</a:t>
            </a:r>
          </a:p>
          <a:p/>
          <a:p>
            <a:r>
              <a:t>Source: notes/02-harness-anatomy.md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refund agent can now move money. So we have to decide what it can do, how it learns to do it, and how to stop it when it shouldn't. Most of what passes for a boundary here turns out to be a polite request.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boundary test run properly. The team plants a canary file and tries every way to delete it. The deny rule stops rm. Find with delete got past with no refusal recorded. A file-writing tool overwrote it outright. If this is what happens with a deny rule, we need to think about what the agent can do from the very beginning, starting with how it reads a tool.</a:t>
            </a:r>
          </a:p>
          <a:p/>
          <a:p>
            <a:r>
              <a:t>Source: notes/04-execution-boundaries.md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API has a reader who can look things up. An agent-computer interface has a reader who sees only a name, a description and a schema. So when `process_refund` gets called wrongly, read its description as if you knew nothing else. What should that description contain?</a:t>
            </a:r>
          </a:p>
          <a:p/>
          <a:p>
            <a:r>
              <a:t>Source: notes/03-tool-design.md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descriptions stop at the first row. The highlighted rows are the boundary between neighbouring tools, and they grow from the ratchet: every real misuse becomes a hard negative. Examples are the cheapest upgrade, moving accuracy from about 72 to 90 percent. Then, before shipping any tool, four questions.</a:t>
            </a:r>
          </a:p>
          <a:p/>
          <a:p>
            <a:r>
              <a:t>Source: notes/03-tool-design.md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process_refund through these. Reversible? Not easily, so it gets a gate. Idempotent? Not unless you make it so, and a retry on timeout could pay twice. Hence "query before mutate" in the note: check whether the first attempt landed. Now, how many tools should the agent see at once?</a:t>
            </a:r>
          </a:p>
          <a:p/>
          <a:p>
            <a:r>
              <a:t>Source: notes/03-tool-design.md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are not free. Li measures five typical MCP servers at about 55 thousand tokens, roughly thirty percent of a 200 thousand token window, before anyone has said anything. So match in two levels and append what you need at the end, so the cache survives. Skills are the same idea for procedures.</a:t>
            </a:r>
          </a:p>
          <a:p/>
          <a:p>
            <a:r>
              <a:t>Source: notes/03-tool-design.md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name and description sit in the window, and the body loads on demand. So the description is routing logic, and detail goes in the body where it costs nothing until used. So far we have helped the agent choose well. Now for what happens when it chooses badly.</a:t>
            </a:r>
          </a:p>
          <a:p/>
          <a:p>
            <a:r>
              <a:t>Source: notes/03-tool-design.md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sorts your rules into three buckets. Anything in the never bucket has no business being a sentence, because a sentence is a request. For the refund agent, the ceiling is never-bucket and a large refund is ask-first. Under the rules sits the sandbox they run in.</a:t>
            </a:r>
          </a:p>
          <a:p/>
          <a:p>
            <a:r>
              <a:t>Source: notes/04-execution-boundaries.md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row is a common mistake: a virtualenv separates dependencies and does nothing about effects. Real isolation begins with the OS, then containers, then microVMs for untrusted code. Pair each rung with quotas on CPU, memory, disk, network and wall clock. And inside the sandbox, hooks do the talking.</a:t>
            </a:r>
          </a:p>
          <a:p/>
          <a:p>
            <a:r>
              <a:t>Source: notes/04-execution-boundaries.md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output goes into the window. If every pass prints a line, the model learns to skim, and the one real failure is lost. Silent success and a verbose failure make the channel worth reading. That leaves the question of what guards the system as a whole.</a:t>
            </a:r>
          </a:p>
          <a:p/>
          <a:p>
            <a:r>
              <a:t>Source: notes/04-execution-boundaries.md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shows the simplest version, a check before the plan and a check before the user. The notes expand this to five layers. The main point is on the last bullet. A tool input was written by a model that may have read something hostile, so it gets validated like any external request. We now know what the agent may touch. Next question: when has it finished?</a:t>
            </a:r>
          </a:p>
          <a:p/>
          <a:p>
            <a:r>
              <a:t>Source: notes/04-execution-boundaries.md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stop when they feel finished. That is the core failure of this part. We make done into something a machine checks, split the checker from the builder, and put a ceiling on every recovery path.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brief, two setups. On its own, the agent stops at twenty minutes and nine dollars with the core gameplay broken, and it thinks it is finished. The full harness takes six hours and two hundred dollars and produces a working game. About twenty times the cost, for the difference between broken and working. How do we build that checker?</a:t>
            </a:r>
          </a:p>
          <a:p/>
          <a:p>
            <a:r>
              <a:t>Source: notes/05-verification-loops.md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each proving something different. For the refund agent: it parses, then the refund tool runs against a test order, then an end-to-end run confirms the money moved in the database. Run them in order, and don't count something as done with a layer skipped. But who runs the third layer?</a:t>
            </a:r>
          </a:p>
          <a:p/>
          <a:p>
            <a:r>
              <a:t>Source: notes/05-verification-loops.md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generator rates its own work well. So the evaluator is separate, and it drives the running app instead of reading the code. Look at the money in the second run: 114 dollars of building and ten of QA, and those ten dollars found features that were only presentational. Cheap checks can decide a lot.</a:t>
            </a:r>
          </a:p>
          <a:p/>
          <a:p>
            <a:r>
              <a:t>Source: notes/05-verification-loops.md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small, vivid case. An agent announces fourteen Ender Eyes banked, and then retracts. The message came from a script branch with no guard. Reports are claims. That is why our refund harness reads the database row and not the sentence that says the refund succeeded.</a:t>
            </a:r>
          </a:p>
          <a:p/>
          <a:p>
            <a:r>
              <a:t>Source: notes/05-verification-loops.md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Grading criteria beat vibes. The contract gets written before the work, so neither side can move the goalposts. Exclusions matter most, because without them the evaluator fails work for things nobody asked for. And score each dimension separately, because one score out of ten gives nothing to act on.</a:t>
            </a:r>
          </a:p>
          <a:p/>
          <a:p>
            <a:r>
              <a:t>Source: notes/05-verification-loops.md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have two scope failures: they do too much at once and they stop too soon. A feature list fixes both, if it is a real primitive. One active item at a time. Each has a behaviour, a verification and a state. And the agent doesn't own the state field: it asks for verification, and a script flips it.</a:t>
            </a:r>
          </a:p>
          <a:p/>
          <a:p>
            <a:r>
              <a:t>Source: notes/10-scope-and-done.md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Blanket retries waste money and can be dangerous. Sort by failure class. Back off on a transient error, feed the validator's message back on a schema violation, never retry a refusal. And remember the refund: retrying a timeout without checking whether the first attempt landed can pay twice.</a:t>
            </a:r>
          </a:p>
          <a:p/>
          <a:p>
            <a:r>
              <a:t>Source: notes/05-verification-loops.md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thing to add this week. Two retries, then conclude the spec is wrong. Count edits per file to spot thrashing. And set ceilings from data. Claude Code's compaction breaker trips after three consecutive failures, and before it existed one session failed over three thousand times.</a:t>
            </a:r>
          </a:p>
          <a:p/>
          <a:p>
            <a:r>
              <a:t>Source: notes/05-verification-loops.md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one session. But real work outlasts a window, so the agent has to be able to stop and start. The problem here is amnesia, and the solution is to treat the repo as memory.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 task outlasts any window. Whatever is only in the window is lost at the end. Write it to files and the window stops mattering, because any new session can read where things stand. Everything else in this part follows from that sentence.</a:t>
            </a:r>
          </a:p>
          <a:p/>
          <a:p>
            <a:r>
              <a:t>Source: notes/06-long-horizon-execution.md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survive the end of a window. Compaction drifts as summaries of summaries pile up. A reset loses anything not written down, which forces discipline. The answer depended on the model, and it keeps changing, so this is a thing to re-test at each upgrade. Either way, the handoff is what counts.</a:t>
            </a:r>
          </a:p>
          <a:p/>
          <a:p>
            <a:r>
              <a:t>Source: notes/06-long-horizon-execution.md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document a session leaves for its successor. The important split is verified against assumed. A generated summary blurs them, and then the next session trusts something that never ran. Write it at about 60 percent of the window, and exit only with a clean build.</a:t>
            </a:r>
          </a:p>
          <a:p/>
          <a:p>
            <a:r>
              <a:t>Source: notes/06-long-horizon-execution.md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near the end of a window tend to wrap up early, sometimes called context anxiety. A Ralph loop makes that harmless. A hook intercepts the exit and re-injects the original prompt, a fresh context reads the files, and work continues until the gate passes. How long can this go?</a:t>
            </a:r>
          </a:p>
          <a:p/>
          <a:p>
            <a:r>
              <a:t>Source: notes/06-long-horizon-execution.md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rare public record of a long unattended run. Four agents, twenty-seven hours, 605 deaths along the bottom of the timeline, and six restarts. What the team knew survived because it lived in shared notes and chat. The repo plays the same role for coding agents.</a:t>
            </a:r>
          </a:p>
          <a:p/>
          <a:p>
            <a:r>
              <a:t>Source: notes/06-long-horizon-execution.md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simple audit you can run today. Open a clean session and ask these five questions. Whatever the repo can't answer gets guessed, and it gets guessed again on every session. That is what makes the repo the system of record. The entry point deserves particular care.</a:t>
            </a:r>
          </a:p>
          <a:p/>
          <a:p>
            <a:r>
              <a:t>Source: notes/09-repo-as-system-of-record.md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as an index. A short overview, the commands, the hard constraints at the top where they won't get lost in the middle, and one line per topic doc saying when to read it. Audit rules like dependencies and delete the dead ones. We have one agent working for hours. When do we need several?</a:t>
            </a:r>
          </a:p>
          <a:p/>
          <a:p>
            <a:r>
              <a:t>Source: notes/09-repo-as-system-of-record.md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Multi-agent is the expensive option. This final part says when it pays, what breaks, how to tell where you stand, and why the last skill in harness engineering is removing things.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wants a team of agents. The default is one agent with good verification. There are four legitimate reasons to go further: context doesn't fit, roles need different tools or trust, you need an outside evaluator, or the branches really are independent. Without one of those, you add cost and failure modes and solve nothing.</a:t>
            </a:r>
          </a:p>
          <a:p/>
          <a:p>
            <a:r>
              <a:t>Source: notes/07-orchestration.md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reason is the firewall. Forty files of reading come back as the three that matter, and the orchestrator's window stays clean. Then size each subagent down: minimum context, minimum authority, minimum budget. What must exist before any of them can collaborate?</a:t>
            </a:r>
          </a:p>
          <a:p/>
          <a:p>
            <a:r>
              <a:t>Source: notes/07-orchestration.md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crosses a boundary is the whole design. Li's convention tags every input by source, so a subagent can tell instructions from data. The return is a typed schema including what was not done. In Rothman's engine, two agents were upgraded to return dicts and the writer still expected strings, so the pipeline broke at its last step.</a:t>
            </a:r>
          </a:p>
          <a:p/>
          <a:p>
            <a:r>
              <a:t>Source: notes/07-orchestration.md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failures to know by name. None of them is about the model. Each is a missing counter, a missing schema, a missing barrier or a missing arbiter. And if every component passes while the whole run fails, look at the handoffs.</a:t>
            </a:r>
          </a:p>
          <a:p/>
          <a:p>
            <a:r>
              <a:t>Source: notes/07-orchestration.md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shape most production multi-agent systems reduce to. A plan comes out as data, an executor runs it, and a trace records it. Because the plan is data, a human can check it before anything runs, which brings us to the most valuable gate you can add.</a:t>
            </a:r>
          </a:p>
          <a:p/>
          <a:p>
            <a:r>
              <a:t>Source: notes/07-orchestration.md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stages, with the human at stage three. A missing Approve gate is on the list of the five failure modes, because plan errors spread into a lot of fully executed work. Now, where do you stand overall?</a:t>
            </a:r>
          </a:p>
          <a:p/>
          <a:p>
            <a:r>
              <a:t>Source: notes/08-maturity-and-failure-modes.md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one makes it work, two makes it trustworthy, three makes it improvable. The failure that hides the others is claiming a stage you are not at. "We have evals" often means a notebook run by hand. So ask: can I point to the code that runs it on every task, with no human remembering to?</a:t>
            </a:r>
          </a:p>
          <a:p/>
          <a:p>
            <a:r>
              <a:t>Source: notes/08-maturity-and-failure-modes.md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habit is subtraction. Every piece we added today assumed the model couldn't do something. Models improve. So on each upgrade, disable a component and run the evals. The refund ceiling stays, because it is an external constraint. The sprint decomposition may well go.</a:t>
            </a:r>
          </a:p>
          <a:p/>
          <a:p>
            <a:r>
              <a:t>Source: notes/08-maturity-and-failure-modes.md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cards, one per decision you now own. The first is the attitude behind the other five: an agent's failure is a build task. Our refund agent ended up with a framework ceiling, a database check, a separate evaluator and a handoff file. The model did not change once.</a:t>
            </a:r>
          </a:p>
          <a:p/>
          <a:p>
            <a:r>
              <a:t>Source: notes/08-maturity-and-failure-modes.md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pillar takes this harness and asks about the loop itself: when to stop, and how it improves. Before then, run the tool server sandbox in the practice folder, and try the canary pattern on your own permissions. See what actually holds.</a:t>
            </a:r>
          </a:p>
          <a:p/>
          <a:p>
            <a:r>
              <a:t>Source: notes/08-maturity-and-failure-modes.md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Harness Engineering</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Everything around the model that makes it an agent</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One refund agent, from a demo that works once to a system that holds.</a:t>
            </a:r>
          </a:p>
          <a:p>
            <a:pPr algn="l">
              <a:lnSpc>
                <a:spcPct val="125000"/>
              </a:lnSpc>
            </a:pPr>
            <a:r>
              <a:rPr sz="1500" i="0" b="0">
                <a:solidFill>
                  <a:srgbClr val="94A3B8"/>
                </a:solidFill>
                <a:latin typeface="Helvetica Neue"/>
              </a:rPr>
              <a:t>What it may touch, how it knows it is done, how it survives hours, and when to add more agents.</a:t>
            </a:r>
          </a:p>
        </p:txBody>
      </p:sp>
      <p:sp>
        <p:nvSpPr>
          <p:cNvPr id="10" name="Rectangle 9"/>
          <p:cNvSpPr/>
          <p:nvPr/>
        </p:nvSpPr>
        <p:spPr>
          <a:xfrm>
            <a:off x="6492240" y="822960"/>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22960"/>
            <a:ext cx="91440" cy="881481"/>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50976"/>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Why the demo fails</a:t>
            </a:r>
          </a:p>
        </p:txBody>
      </p:sp>
      <p:sp>
        <p:nvSpPr>
          <p:cNvPr id="13" name="TextBox 12"/>
          <p:cNvSpPr txBox="1"/>
          <p:nvPr/>
        </p:nvSpPr>
        <p:spPr>
          <a:xfrm>
            <a:off x="6766560" y="1264031"/>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Steps compound · The model is rarely the problem · What a harness contains</a:t>
            </a:r>
          </a:p>
        </p:txBody>
      </p:sp>
      <p:sp>
        <p:nvSpPr>
          <p:cNvPr id="14" name="Rectangle 13"/>
          <p:cNvSpPr/>
          <p:nvPr/>
        </p:nvSpPr>
        <p:spPr>
          <a:xfrm>
            <a:off x="6492240" y="190560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905609"/>
            <a:ext cx="91440" cy="881481"/>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03362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What it may touch</a:t>
            </a:r>
          </a:p>
        </p:txBody>
      </p:sp>
      <p:sp>
        <p:nvSpPr>
          <p:cNvPr id="17" name="TextBox 16"/>
          <p:cNvSpPr txBox="1"/>
          <p:nvPr/>
        </p:nvSpPr>
        <p:spPr>
          <a:xfrm>
            <a:off x="6766560" y="234668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Tools written for an agent · Requests vs. rules · Test the gate</a:t>
            </a:r>
          </a:p>
        </p:txBody>
      </p:sp>
      <p:sp>
        <p:nvSpPr>
          <p:cNvPr id="18" name="Rectangle 17"/>
          <p:cNvSpPr/>
          <p:nvPr/>
        </p:nvSpPr>
        <p:spPr>
          <a:xfrm>
            <a:off x="6492240" y="298825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988259"/>
            <a:ext cx="91440" cy="881481"/>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11627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How it knows it is done</a:t>
            </a:r>
          </a:p>
        </p:txBody>
      </p:sp>
      <p:sp>
        <p:nvSpPr>
          <p:cNvPr id="21" name="TextBox 20"/>
          <p:cNvSpPr txBox="1"/>
          <p:nvPr/>
        </p:nvSpPr>
        <p:spPr>
          <a:xfrm>
            <a:off x="6766560" y="342933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Three layers of checks · A separate evaluator · One feature at a time · Ceilings</a:t>
            </a:r>
          </a:p>
        </p:txBody>
      </p:sp>
      <p:sp>
        <p:nvSpPr>
          <p:cNvPr id="22" name="Rectangle 21"/>
          <p:cNvSpPr/>
          <p:nvPr/>
        </p:nvSpPr>
        <p:spPr>
          <a:xfrm>
            <a:off x="6492240" y="407090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070908"/>
            <a:ext cx="91440" cy="881481"/>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419892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4: How it survives hours</a:t>
            </a:r>
          </a:p>
        </p:txBody>
      </p:sp>
      <p:sp>
        <p:nvSpPr>
          <p:cNvPr id="25" name="TextBox 24"/>
          <p:cNvSpPr txBox="1"/>
          <p:nvPr/>
        </p:nvSpPr>
        <p:spPr>
          <a:xfrm>
            <a:off x="6766560" y="451197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State in files · Resets and handoffs · A repo the next session can read</a:t>
            </a:r>
          </a:p>
        </p:txBody>
      </p:sp>
      <p:sp>
        <p:nvSpPr>
          <p:cNvPr id="26" name="Rectangle 25"/>
          <p:cNvSpPr/>
          <p:nvPr/>
        </p:nvSpPr>
        <p:spPr>
          <a:xfrm>
            <a:off x="6492240" y="515355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5153558"/>
            <a:ext cx="91440" cy="881481"/>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528157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5: More agents, and when to stop</a:t>
            </a:r>
          </a:p>
        </p:txBody>
      </p:sp>
      <p:sp>
        <p:nvSpPr>
          <p:cNvPr id="29" name="TextBox 28"/>
          <p:cNvSpPr txBox="1"/>
          <p:nvPr/>
        </p:nvSpPr>
        <p:spPr>
          <a:xfrm>
            <a:off x="6766560" y="559462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Subagents as firewalls · Protocols first · Maturity · Removing what you built</a:t>
            </a:r>
          </a:p>
        </p:txBody>
      </p:sp>
      <p:sp>
        <p:nvSpPr>
          <p:cNvPr id="30" name="TextBox 29"/>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ai-engineering/03-harness-engineering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Why the demo fails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Steps compound · The model is rarely the problem · What a harness contains</a:t>
            </a:r>
          </a:p>
        </p:txBody>
      </p:sp>
      <p:cxnSp>
        <p:nvCxnSpPr>
          <p:cNvPr id="6" name="Connector 5"/>
          <p:cNvCxnSpPr/>
          <p:nvPr/>
        </p:nvCxnSpPr>
        <p:spPr>
          <a:xfrm>
            <a:off x="6446520" y="1140460"/>
            <a:ext cx="0" cy="457708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140460"/>
            <a:ext cx="4693615" cy="475996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 reliable step is not a reliable agent</a:t>
            </a:r>
          </a:p>
          <a:p>
            <a:pPr algn="l">
              <a:lnSpc>
                <a:spcPct val="100000"/>
              </a:lnSpc>
              <a:spcBef>
                <a:spcPts val="1189"/>
              </a:spcBef>
            </a:pPr>
            <a:r>
              <a:rPr sz="1700" i="0" b="0">
                <a:solidFill>
                  <a:srgbClr val="CBD5E1"/>
                </a:solidFill>
                <a:latin typeface="Helvetica Neue"/>
              </a:rPr>
              <a:t>Agent equals model plus harness, on one refund</a:t>
            </a:r>
          </a:p>
          <a:p>
            <a:pPr algn="l">
              <a:lnSpc>
                <a:spcPct val="100000"/>
              </a:lnSpc>
              <a:spcBef>
                <a:spcPts val="1189"/>
              </a:spcBef>
            </a:pPr>
            <a:r>
              <a:rPr sz="1700" i="0" b="0">
                <a:solidFill>
                  <a:srgbClr val="CBD5E1"/>
                </a:solidFill>
                <a:latin typeface="Helvetica Neue"/>
              </a:rPr>
              <a:t>The harness checks what the model cannot promise</a:t>
            </a:r>
          </a:p>
          <a:p>
            <a:pPr algn="l">
              <a:lnSpc>
                <a:spcPct val="100000"/>
              </a:lnSpc>
              <a:spcBef>
                <a:spcPts val="1189"/>
              </a:spcBef>
            </a:pPr>
            <a:r>
              <a:rPr sz="1700" i="0" b="0">
                <a:solidFill>
                  <a:srgbClr val="CBD5E1"/>
                </a:solidFill>
                <a:latin typeface="Helvetica Neue"/>
              </a:rPr>
              <a:t>Better interfaces beat a better model</a:t>
            </a:r>
          </a:p>
          <a:p>
            <a:pPr algn="l">
              <a:lnSpc>
                <a:spcPct val="100000"/>
              </a:lnSpc>
              <a:spcBef>
                <a:spcPts val="1189"/>
              </a:spcBef>
            </a:pPr>
            <a:r>
              <a:rPr sz="1700" i="0" b="0">
                <a:solidFill>
                  <a:srgbClr val="CBD5E1"/>
                </a:solidFill>
                <a:latin typeface="Helvetica Neue"/>
              </a:rPr>
              <a:t>Failures are configuration, not model limits</a:t>
            </a:r>
          </a:p>
          <a:p>
            <a:pPr algn="l">
              <a:lnSpc>
                <a:spcPct val="100000"/>
              </a:lnSpc>
              <a:spcBef>
                <a:spcPts val="1189"/>
              </a:spcBef>
            </a:pPr>
            <a:r>
              <a:rPr sz="1700" i="0" b="0">
                <a:solidFill>
                  <a:srgbClr val="CBD5E1"/>
                </a:solidFill>
                <a:latin typeface="Helvetica Neue"/>
              </a:rPr>
              <a:t>Four parts every harness needs</a:t>
            </a:r>
          </a:p>
          <a:p>
            <a:pPr algn="l">
              <a:lnSpc>
                <a:spcPct val="100000"/>
              </a:lnSpc>
              <a:spcBef>
                <a:spcPts val="1189"/>
              </a:spcBef>
            </a:pPr>
            <a:r>
              <a:rPr sz="1700" i="0" b="0">
                <a:solidFill>
                  <a:srgbClr val="CBD5E1"/>
                </a:solidFill>
                <a:latin typeface="Helvetica Neue"/>
              </a:rPr>
              <a:t>Every failure tightens the ratchet</a:t>
            </a:r>
          </a:p>
          <a:p>
            <a:pPr algn="l">
              <a:lnSpc>
                <a:spcPct val="100000"/>
              </a:lnSpc>
              <a:spcBef>
                <a:spcPts val="1189"/>
              </a:spcBef>
            </a:pPr>
            <a:r>
              <a:rPr sz="1700" i="0" b="0">
                <a:solidFill>
                  <a:srgbClr val="CBD5E1"/>
                </a:solidFill>
                <a:latin typeface="Helvetica Neue"/>
              </a:rPr>
              <a:t>Five subsystems, seen in one small harness</a:t>
            </a:r>
          </a:p>
          <a:p>
            <a:pPr algn="l">
              <a:lnSpc>
                <a:spcPct val="100000"/>
              </a:lnSpc>
              <a:spcBef>
                <a:spcPts val="1189"/>
              </a:spcBef>
            </a:pPr>
            <a:r>
              <a:rPr sz="1700" i="0" b="0">
                <a:solidFill>
                  <a:srgbClr val="CBD5E1"/>
                </a:solidFill>
                <a:latin typeface="Helvetica Neue"/>
              </a:rPr>
              <a:t>Start from the minimum viable harness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reliable step is not a reliable agent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notes/01-what-a-harness-is.md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Reliability compounds downward across steps, so a demo that works once says little about a run of many steps.</a:t>
            </a:r>
          </a:p>
        </p:txBody>
      </p:sp>
      <p:sp>
        <p:nvSpPr>
          <p:cNvPr id="13" name="Rectangle 12"/>
          <p:cNvSpPr/>
          <p:nvPr/>
        </p:nvSpPr>
        <p:spPr>
          <a:xfrm>
            <a:off x="777240" y="2601468"/>
            <a:ext cx="109728" cy="17556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601468"/>
            <a:ext cx="10088575" cy="1389887"/>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step that works 90% of the time, chained five times, lands near 60%.</a:t>
            </a:r>
          </a:p>
        </p:txBody>
      </p:sp>
      <p:sp>
        <p:nvSpPr>
          <p:cNvPr id="15" name="TextBox 14"/>
          <p:cNvSpPr txBox="1"/>
          <p:nvPr/>
        </p:nvSpPr>
        <p:spPr>
          <a:xfrm>
            <a:off x="1234440" y="3945636"/>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Real tasks run far more than five steps once you count tool calls and parses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Agent equals model plus harness, on one refund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equation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notes/01-what-a-harness-is.md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Agent = LLM + [Context + Tools + Constrain + Verify + Correct]</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Context plus tools is the demo, while constrain, verify and correct make up the production harness.</a:t>
            </a:r>
          </a:p>
        </p:txBody>
      </p:sp>
      <p:graphicFrame>
        <p:nvGraphicFramePr>
          <p:cNvPr id="14" name="Table 13"/>
          <p:cNvGraphicFramePr>
            <a:graphicFrameLocks noGrp="1"/>
          </p:cNvGraphicFramePr>
          <p:nvPr/>
        </p:nvGraphicFramePr>
        <p:xfrm>
          <a:off x="502920" y="1985772"/>
          <a:ext cx="11185854" cy="2935224"/>
        </p:xfrm>
        <a:graphic>
          <a:graphicData uri="http://schemas.openxmlformats.org/drawingml/2006/table">
            <a:tbl>
              <a:tblPr firstRow="1" bandRow="1">
                <a:tableStyleId>{5940675A-B579-460E-94D1-54222C63F5DA}</a:tableStyleId>
              </a:tblPr>
              <a:tblGrid>
                <a:gridCol w="2054544"/>
                <a:gridCol w="4565655"/>
                <a:gridCol w="4565655"/>
              </a:tblGrid>
              <a:tr h="374904">
                <a:tc>
                  <a:txBody>
                    <a:bodyPr wrap="square"/>
                    <a:lstStyle/>
                    <a:p>
                      <a:pPr>
                        <a:lnSpc>
                          <a:spcPct val="100000"/>
                        </a:lnSpc>
                      </a:pPr>
                      <a:r>
                        <a:rPr sz="1500" i="0" b="1">
                          <a:solidFill>
                            <a:srgbClr val="FFFFFF"/>
                          </a:solidFill>
                          <a:latin typeface="Helvetica Neue"/>
                        </a:rPr>
                        <a:t>Function</a:t>
                      </a:r>
                    </a:p>
                  </a:txBody>
                  <a:tcPr marL="109728" marR="109728" marT="54864" marB="54864" anchor="ctr">
                    <a:solidFill>
                      <a:srgbClr val="1E3A5F"/>
                    </a:solidFill>
                  </a:tcPr>
                </a:tc>
                <a:tc>
                  <a:txBody>
                    <a:bodyPr wrap="square"/>
                    <a:lstStyle/>
                    <a:p>
                      <a:pPr>
                        <a:lnSpc>
                          <a:spcPct val="100000"/>
                        </a:lnSpc>
                      </a:pPr>
                      <a:r>
                        <a:rPr sz="1500" i="0" b="1">
                          <a:solidFill>
                            <a:srgbClr val="FFFFFF"/>
                          </a:solidFill>
                          <a:latin typeface="Helvetica Neue"/>
                        </a:rPr>
                        <a:t>In the refund example</a:t>
                      </a:r>
                    </a:p>
                  </a:txBody>
                  <a:tcPr marL="109728" marR="109728" marT="54864" marB="54864" anchor="ctr">
                    <a:solidFill>
                      <a:srgbClr val="1E3A5F"/>
                    </a:solidFill>
                  </a:tcPr>
                </a:tc>
                <a:tc>
                  <a:txBody>
                    <a:bodyPr wrap="square"/>
                    <a:lstStyle/>
                    <a:p>
                      <a:pPr>
                        <a:lnSpc>
                          <a:spcPct val="100000"/>
                        </a:lnSpc>
                      </a:pPr>
                      <a:r>
                        <a:rPr sz="1500" i="0" b="1">
                          <a:solidFill>
                            <a:srgbClr val="FFFFFF"/>
                          </a:solidFill>
                          <a:latin typeface="Helvetica Neue"/>
                        </a:rPr>
                        <a:t>Design principle</a:t>
                      </a:r>
                    </a:p>
                  </a:txBody>
                  <a:tcPr marL="109728" marR="109728" marT="54864" marB="54864" anchor="ctr">
                    <a:solidFill>
                      <a:srgbClr val="1E3A5F"/>
                    </a:solidFill>
                  </a:tcPr>
                </a:tc>
              </a:tr>
              <a:tr h="603504">
                <a:tc>
                  <a:txBody>
                    <a:bodyPr wrap="square"/>
                    <a:lstStyle/>
                    <a:p>
                      <a:pPr>
                        <a:lnSpc>
                          <a:spcPct val="100000"/>
                        </a:lnSpc>
                      </a:pPr>
                      <a:r>
                        <a:rPr sz="1500" i="0" b="1">
                          <a:solidFill>
                            <a:srgbClr val="1E293B"/>
                          </a:solidFill>
                          <a:latin typeface="Helvetica Neue"/>
                        </a:rPr>
                        <a:t>Context</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The 7-day refund policy is in the system prompt</a:t>
                      </a:r>
                    </a:p>
                  </a:txBody>
                  <a:tcPr marL="109728" marR="109728" marT="54864" marB="54864" anchor="ctr">
                    <a:solidFill>
                      <a:srgbClr val="FFFFFF"/>
                    </a:solidFill>
                  </a:tcPr>
                </a:tc>
                <a:tc>
                  <a:txBody>
                    <a:bodyPr wrap="square"/>
                    <a:lstStyle/>
                    <a:p>
                      <a:pPr>
                        <a:lnSpc>
                          <a:spcPct val="100000"/>
                        </a:lnSpc>
                      </a:pPr>
                      <a:r>
                        <a:rPr sz="1500" i="0" b="0">
                          <a:solidFill>
                            <a:srgbClr val="475569"/>
                          </a:solidFill>
                          <a:latin typeface="Helvetica Neue"/>
                        </a:rPr>
                        <a:t>Information sufficiency at every decision</a:t>
                      </a:r>
                    </a:p>
                  </a:txBody>
                  <a:tcPr marL="109728" marR="109728" marT="54864" marB="54864" anchor="ctr">
                    <a:solidFill>
                      <a:srgbClr val="FFFFFF"/>
                    </a:solidFill>
                  </a:tcPr>
                </a:tc>
              </a:tr>
              <a:tr h="603504">
                <a:tc>
                  <a:txBody>
                    <a:bodyPr wrap="square"/>
                    <a:lstStyle/>
                    <a:p>
                      <a:pPr>
                        <a:lnSpc>
                          <a:spcPct val="100000"/>
                        </a:lnSpc>
                      </a:pPr>
                      <a:r>
                        <a:rPr sz="1500" i="0" b="1">
                          <a:solidFill>
                            <a:srgbClr val="1E293B"/>
                          </a:solidFill>
                          <a:latin typeface="Helvetica Neue"/>
                        </a:rPr>
                        <a:t>Tools</a:t>
                      </a:r>
                    </a:p>
                  </a:txBody>
                  <a:tcPr marL="109728" marR="109728" marT="54864" marB="54864" anchor="ctr">
                    <a:solidFill>
                      <a:srgbClr val="F8FAFC"/>
                    </a:solidFill>
                  </a:tcPr>
                </a:tc>
                <a:tc>
                  <a:txBody>
                    <a:bodyPr wrap="square"/>
                    <a:lstStyle/>
                    <a:p>
                      <a:pPr>
                        <a:lnSpc>
                          <a:spcPct val="100000"/>
                        </a:lnSpc>
                      </a:pPr>
                      <a:r>
                        <a:rPr sz="1350" i="0" b="0">
                          <a:solidFill>
                            <a:srgbClr val="0F7490"/>
                          </a:solidFill>
                          <a:latin typeface="Menlo"/>
                        </a:rPr>
                        <a:t>query_order</a:t>
                      </a:r>
                      <a:r>
                        <a:rPr sz="1500" i="0" b="0">
                          <a:solidFill>
                            <a:srgbClr val="475569"/>
                          </a:solidFill>
                          <a:latin typeface="Helvetica Neue"/>
                        </a:rPr>
                        <a:t>, </a:t>
                      </a:r>
                      <a:r>
                        <a:rPr sz="1350" i="0" b="0">
                          <a:solidFill>
                            <a:srgbClr val="0F7490"/>
                          </a:solidFill>
                          <a:latin typeface="Menlo"/>
                        </a:rPr>
                        <a:t>process_refund</a:t>
                      </a:r>
                    </a:p>
                  </a:txBody>
                  <a:tcPr marL="109728" marR="109728" marT="54864" marB="54864" anchor="ctr">
                    <a:solidFill>
                      <a:srgbClr val="F8FAFC"/>
                    </a:solidFill>
                  </a:tcPr>
                </a:tc>
                <a:tc>
                  <a:txBody>
                    <a:bodyPr wrap="square"/>
                    <a:lstStyle/>
                    <a:p>
                      <a:pPr>
                        <a:lnSpc>
                          <a:spcPct val="100000"/>
                        </a:lnSpc>
                      </a:pPr>
                      <a:r>
                        <a:rPr sz="1500" i="0" b="0">
                          <a:solidFill>
                            <a:srgbClr val="475569"/>
                          </a:solidFill>
                          <a:latin typeface="Helvetica Neue"/>
                        </a:rPr>
                        <a:t>Clear interface: names, examples, boundaries</a:t>
                      </a:r>
                    </a:p>
                  </a:txBody>
                  <a:tcPr marL="109728" marR="109728" marT="54864" marB="54864" anchor="ctr">
                    <a:solidFill>
                      <a:srgbClr val="F8FAFC"/>
                    </a:solidFill>
                  </a:tcPr>
                </a:tc>
              </a:tr>
              <a:tr h="603504">
                <a:tc>
                  <a:txBody>
                    <a:bodyPr wrap="square"/>
                    <a:lstStyle/>
                    <a:p>
                      <a:pPr>
                        <a:lnSpc>
                          <a:spcPct val="100000"/>
                        </a:lnSpc>
                      </a:pPr>
                      <a:r>
                        <a:rPr sz="1500" i="0" b="1">
                          <a:solidFill>
                            <a:srgbClr val="1E293B"/>
                          </a:solidFill>
                          <a:latin typeface="Helvetica Neue"/>
                        </a:rPr>
                        <a:t>Constrain</a:t>
                      </a:r>
                    </a:p>
                  </a:txBody>
                  <a:tcPr marL="109728" marR="109728" marT="54864" marB="54864" anchor="ctr">
                    <a:solidFill>
                      <a:srgbClr val="E8F4F8"/>
                    </a:solidFill>
                  </a:tcPr>
                </a:tc>
                <a:tc>
                  <a:txBody>
                    <a:bodyPr wrap="square"/>
                    <a:lstStyle/>
                    <a:p>
                      <a:pPr>
                        <a:lnSpc>
                          <a:spcPct val="100000"/>
                        </a:lnSpc>
                      </a:pPr>
                      <a:r>
                        <a:rPr sz="1500" i="0" b="0">
                          <a:solidFill>
                            <a:srgbClr val="475569"/>
                          </a:solidFill>
                          <a:latin typeface="Helvetica Neue"/>
                        </a:rPr>
                        <a:t>Refund at most the order total, checked by the framework</a:t>
                      </a:r>
                    </a:p>
                  </a:txBody>
                  <a:tcPr marL="109728" marR="109728" marT="54864" marB="54864" anchor="ctr">
                    <a:solidFill>
                      <a:srgbClr val="E8F4F8"/>
                    </a:solidFill>
                  </a:tcPr>
                </a:tc>
                <a:tc>
                  <a:txBody>
                    <a:bodyPr wrap="square"/>
                    <a:lstStyle/>
                    <a:p>
                      <a:pPr>
                        <a:lnSpc>
                          <a:spcPct val="100000"/>
                        </a:lnSpc>
                      </a:pPr>
                      <a:r>
                        <a:rPr sz="1500" i="0" b="0">
                          <a:solidFill>
                            <a:srgbClr val="475569"/>
                          </a:solidFill>
                          <a:latin typeface="Helvetica Neue"/>
                        </a:rPr>
                        <a:t>Fail-safe defaults</a:t>
                      </a:r>
                    </a:p>
                  </a:txBody>
                  <a:tcPr marL="109728" marR="109728" marT="54864" marB="54864" anchor="ctr">
                    <a:solidFill>
                      <a:srgbClr val="E8F4F8"/>
                    </a:solidFill>
                  </a:tcPr>
                </a:tc>
              </a:tr>
              <a:tr h="374904">
                <a:tc>
                  <a:txBody>
                    <a:bodyPr wrap="square"/>
                    <a:lstStyle/>
                    <a:p>
                      <a:pPr>
                        <a:lnSpc>
                          <a:spcPct val="100000"/>
                        </a:lnSpc>
                      </a:pPr>
                      <a:r>
                        <a:rPr sz="1500" i="0" b="1">
                          <a:solidFill>
                            <a:srgbClr val="1E293B"/>
                          </a:solidFill>
                          <a:latin typeface="Helvetica Neue"/>
                        </a:rPr>
                        <a:t>Verify</a:t>
                      </a:r>
                    </a:p>
                  </a:txBody>
                  <a:tcPr marL="109728" marR="109728" marT="54864" marB="54864" anchor="ctr">
                    <a:solidFill>
                      <a:srgbClr val="E8F4F8"/>
                    </a:solidFill>
                  </a:tcPr>
                </a:tc>
                <a:tc>
                  <a:txBody>
                    <a:bodyPr wrap="square"/>
                    <a:lstStyle/>
                    <a:p>
                      <a:pPr>
                        <a:lnSpc>
                          <a:spcPct val="100000"/>
                        </a:lnSpc>
                      </a:pPr>
                      <a:r>
                        <a:rPr sz="1500" i="0" b="0">
                          <a:solidFill>
                            <a:srgbClr val="475569"/>
                          </a:solidFill>
                          <a:latin typeface="Helvetica Neue"/>
                        </a:rPr>
                        <a:t>Confirm in the DB that the refund landed</a:t>
                      </a:r>
                    </a:p>
                  </a:txBody>
                  <a:tcPr marL="109728" marR="109728" marT="54864" marB="54864" anchor="ctr">
                    <a:solidFill>
                      <a:srgbClr val="E8F4F8"/>
                    </a:solidFill>
                  </a:tcPr>
                </a:tc>
                <a:tc>
                  <a:txBody>
                    <a:bodyPr wrap="square"/>
                    <a:lstStyle/>
                    <a:p>
                      <a:pPr>
                        <a:lnSpc>
                          <a:spcPct val="100000"/>
                        </a:lnSpc>
                      </a:pPr>
                      <a:r>
                        <a:rPr sz="1500" i="0" b="0">
                          <a:solidFill>
                            <a:srgbClr val="475569"/>
                          </a:solidFill>
                          <a:latin typeface="Helvetica Neue"/>
                        </a:rPr>
                        <a:t>Check structured fields, never model prose</a:t>
                      </a:r>
                    </a:p>
                  </a:txBody>
                  <a:tcPr marL="109728" marR="109728" marT="54864" marB="54864" anchor="ctr">
                    <a:solidFill>
                      <a:srgbClr val="E8F4F8"/>
                    </a:solidFill>
                  </a:tcPr>
                </a:tc>
              </a:tr>
              <a:tr h="374904">
                <a:tc>
                  <a:txBody>
                    <a:bodyPr wrap="square"/>
                    <a:lstStyle/>
                    <a:p>
                      <a:pPr>
                        <a:lnSpc>
                          <a:spcPct val="100000"/>
                        </a:lnSpc>
                      </a:pPr>
                      <a:r>
                        <a:rPr sz="1500" i="0" b="1">
                          <a:solidFill>
                            <a:srgbClr val="1E293B"/>
                          </a:solidFill>
                          <a:latin typeface="Helvetica Neue"/>
                        </a:rPr>
                        <a:t>Correct</a:t>
                      </a:r>
                    </a:p>
                  </a:txBody>
                  <a:tcPr marL="109728" marR="109728" marT="54864" marB="54864" anchor="ctr">
                    <a:solidFill>
                      <a:srgbClr val="E8F4F8"/>
                    </a:solidFill>
                  </a:tcPr>
                </a:tc>
                <a:tc>
                  <a:txBody>
                    <a:bodyPr wrap="square"/>
                    <a:lstStyle/>
                    <a:p>
                      <a:pPr>
                        <a:lnSpc>
                          <a:spcPct val="100000"/>
                        </a:lnSpc>
                      </a:pPr>
                      <a:r>
                        <a:rPr sz="1500" i="0" b="0">
                          <a:solidFill>
                            <a:srgbClr val="475569"/>
                          </a:solidFill>
                          <a:latin typeface="Helvetica Neue"/>
                        </a:rPr>
                        <a:t>Retry automatically on API timeout</a:t>
                      </a:r>
                    </a:p>
                  </a:txBody>
                  <a:tcPr marL="109728" marR="109728" marT="54864" marB="54864" anchor="ctr">
                    <a:solidFill>
                      <a:srgbClr val="E8F4F8"/>
                    </a:solidFill>
                  </a:tcPr>
                </a:tc>
                <a:tc>
                  <a:txBody>
                    <a:bodyPr wrap="square"/>
                    <a:lstStyle/>
                    <a:p>
                      <a:pPr>
                        <a:lnSpc>
                          <a:spcPct val="100000"/>
                        </a:lnSpc>
                      </a:pPr>
                      <a:r>
                        <a:rPr sz="1500" i="0" b="0">
                          <a:solidFill>
                            <a:srgbClr val="475569"/>
                          </a:solidFill>
                          <a:latin typeface="Helvetica Neue"/>
                        </a:rPr>
                        <a:t>Hide intermediate state until unrecoverable</a:t>
                      </a:r>
                    </a:p>
                  </a:txBody>
                  <a:tcPr marL="109728" marR="109728" marT="54864" marB="54864" anchor="ctr">
                    <a:solidFill>
                      <a:srgbClr val="E8F4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The harness checks what the model cannot promise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notes/01-what-a-harness-is.md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Put limits, retries and confirmation in code around the tool call, where the model cannot talk its way past them.</a:t>
            </a:r>
          </a:p>
        </p:txBody>
      </p:sp>
      <p:sp>
        <p:nvSpPr>
          <p:cNvPr id="13" name="Rounded Rectangle 12"/>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illustrative: names from the refund example</a:t>
            </a:r>
          </a:p>
          <a:p>
            <a:pPr algn="l">
              <a:lnSpc>
                <a:spcPct val="100000"/>
              </a:lnSpc>
            </a:pPr>
            <a:r>
              <a:rPr sz="1600" i="0" b="0">
                <a:solidFill>
                  <a:srgbClr val="E2E8F0"/>
                </a:solidFill>
                <a:latin typeface="Menlo"/>
              </a:rPr>
              <a:t>def refund(order_id, amount):</a:t>
            </a:r>
          </a:p>
          <a:p>
            <a:pPr algn="l">
              <a:lnSpc>
                <a:spcPct val="100000"/>
              </a:lnSpc>
            </a:pPr>
            <a:r>
              <a:rPr sz="1600" i="0" b="0">
                <a:solidFill>
                  <a:srgbClr val="E2E8F0"/>
                </a:solidFill>
                <a:latin typeface="Menlo"/>
              </a:rPr>
              <a:t>    order = query_order(order_id)</a:t>
            </a:r>
          </a:p>
          <a:p>
            <a:pPr algn="l">
              <a:lnSpc>
                <a:spcPct val="100000"/>
              </a:lnSpc>
            </a:pPr>
            <a:r>
              <a:rPr sz="1600" i="0" b="0">
                <a:solidFill>
                  <a:srgbClr val="E2E8F0"/>
                </a:solidFill>
                <a:latin typeface="Menlo"/>
              </a:rPr>
              <a:t>    if amount &gt; order.total:      # constrain</a:t>
            </a:r>
          </a:p>
          <a:p>
            <a:pPr algn="l">
              <a:lnSpc>
                <a:spcPct val="100000"/>
              </a:lnSpc>
            </a:pPr>
            <a:r>
              <a:rPr sz="1600" i="0" b="0">
                <a:solidFill>
                  <a:srgbClr val="E2E8F0"/>
                </a:solidFill>
                <a:latin typeface="Menlo"/>
              </a:rPr>
              <a:t>        raise RefundExceedsTotal(order_id)</a:t>
            </a:r>
          </a:p>
          <a:p>
            <a:pPr algn="l">
              <a:lnSpc>
                <a:spcPct val="100000"/>
              </a:lnSpc>
            </a:pPr>
            <a:r>
              <a:rPr sz="1600" i="0" b="0">
                <a:solidFill>
                  <a:srgbClr val="E2E8F0"/>
                </a:solidFill>
                <a:latin typeface="Menlo"/>
              </a:rPr>
              <a:t>    for attempt in retry_on_timeout():  # correct</a:t>
            </a:r>
          </a:p>
          <a:p>
            <a:pPr algn="l">
              <a:lnSpc>
                <a:spcPct val="100000"/>
              </a:lnSpc>
            </a:pPr>
            <a:r>
              <a:rPr sz="1600" i="0" b="0">
                <a:solidFill>
                  <a:srgbClr val="E2E8F0"/>
                </a:solidFill>
                <a:latin typeface="Menlo"/>
              </a:rPr>
              <a:t>        result = process_refund(order_id, amount)</a:t>
            </a:r>
          </a:p>
          <a:p>
            <a:pPr algn="l">
              <a:lnSpc>
                <a:spcPct val="100000"/>
              </a:lnSpc>
            </a:pPr>
            <a:r>
              <a:rPr sz="1600" i="0" b="0">
                <a:solidFill>
                  <a:srgbClr val="E2E8F0"/>
                </a:solidFill>
                <a:latin typeface="Menlo"/>
              </a:rPr>
              <a:t>    landed = db.refund_for(order_id)    # verify</a:t>
            </a:r>
          </a:p>
          <a:p>
            <a:pPr algn="l">
              <a:lnSpc>
                <a:spcPct val="100000"/>
              </a:lnSpc>
            </a:pPr>
            <a:r>
              <a:rPr sz="1600" i="0" b="0">
                <a:solidFill>
                  <a:srgbClr val="E2E8F0"/>
                </a:solidFill>
                <a:latin typeface="Menlo"/>
              </a:rPr>
              <a:t>    if landed.amount != amount:</a:t>
            </a:r>
          </a:p>
          <a:p>
            <a:pPr algn="l">
              <a:lnSpc>
                <a:spcPct val="100000"/>
              </a:lnSpc>
            </a:pPr>
            <a:r>
              <a:rPr sz="1600" i="0" b="0">
                <a:solidFill>
                  <a:srgbClr val="E2E8F0"/>
                </a:solidFill>
                <a:latin typeface="Menlo"/>
              </a:rPr>
              <a:t>        raise RefundNotConfirmed(order_id)</a:t>
            </a:r>
          </a:p>
          <a:p>
            <a:pPr algn="l">
              <a:lnSpc>
                <a:spcPct val="100000"/>
              </a:lnSpc>
            </a:pPr>
            <a:r>
              <a:rPr sz="1600" i="0" b="0">
                <a:solidFill>
                  <a:srgbClr val="E2E8F0"/>
                </a:solidFill>
                <a:latin typeface="Menlo"/>
              </a:rPr>
              <a:t>    return landed</a:t>
            </a:r>
          </a:p>
        </p:txBody>
      </p:sp>
      <p:sp>
        <p:nvSpPr>
          <p:cNvPr id="16" name="Rectangle 15"/>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limit lives in code, so no prompt can argue past it</a:t>
            </a:r>
          </a:p>
        </p:txBody>
      </p:sp>
      <p:sp>
        <p:nvSpPr>
          <p:cNvPr id="18" name="Rectangle 17"/>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check reads a structured field, never the model's prose</a:t>
            </a:r>
          </a:p>
        </p:txBody>
      </p:sp>
      <p:sp>
        <p:nvSpPr>
          <p:cNvPr id="20" name="Rectangle 19"/>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model decides </a:t>
            </a:r>
            <a:r>
              <a:rPr sz="1800" i="0" b="1">
                <a:solidFill>
                  <a:srgbClr val="1E293B"/>
                </a:solidFill>
                <a:latin typeface="Helvetica Neue"/>
              </a:rPr>
              <a:t>whether</a:t>
            </a:r>
            <a:r>
              <a:rPr sz="1800" i="0" b="0">
                <a:solidFill>
                  <a:srgbClr val="1E293B"/>
                </a:solidFill>
                <a:latin typeface="Helvetica Neue"/>
              </a:rPr>
              <a:t> to refund; the harness decides </a:t>
            </a:r>
            <a:r>
              <a:rPr sz="1800" i="0" b="1">
                <a:solidFill>
                  <a:srgbClr val="1E293B"/>
                </a:solidFill>
                <a:latin typeface="Helvetica Neue"/>
              </a:rPr>
              <a:t>whether it held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Better interfaces beat a better model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notes/01-what-a-harness-is.md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Changing only the interfaces around a fixed small model can overtake frontier models, at a fraction of the cost per task.</a:t>
            </a:r>
          </a:p>
        </p:txBody>
      </p:sp>
      <p:sp>
        <p:nvSpPr>
          <p:cNvPr id="13" name="Rectangle 12"/>
          <p:cNvSpPr/>
          <p:nvPr/>
        </p:nvSpPr>
        <p:spPr>
          <a:xfrm>
            <a:off x="1049998" y="1417320"/>
            <a:ext cx="5058064"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gashe-evolving-agent-interfaces-fig2.png"/>
          <p:cNvPicPr>
            <a:picLocks noChangeAspect="1"/>
          </p:cNvPicPr>
          <p:nvPr/>
        </p:nvPicPr>
        <p:blipFill>
          <a:blip r:embed="rId2"/>
          <a:stretch>
            <a:fillRect/>
          </a:stretch>
        </p:blipFill>
        <p:spPr>
          <a:xfrm>
            <a:off x="1104862" y="1472184"/>
            <a:ext cx="4948336" cy="3602735"/>
          </a:xfrm>
          <a:prstGeom prst="rect">
            <a:avLst/>
          </a:prstGeom>
        </p:spPr>
      </p:pic>
      <p:sp>
        <p:nvSpPr>
          <p:cNvPr id="15" name="TextBox 14"/>
          <p:cNvSpPr txBox="1"/>
          <p:nvPr/>
        </p:nvSpPr>
        <p:spPr>
          <a:xfrm>
            <a:off x="502920" y="5212079"/>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OSWorld V2 binary success against cost per task (Agashe et al., 2026)</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Only the </a:t>
            </a:r>
            <a:r>
              <a:rPr sz="1800" i="0" b="1">
                <a:solidFill>
                  <a:srgbClr val="1E293B"/>
                </a:solidFill>
                <a:latin typeface="Helvetica Neue"/>
              </a:rPr>
              <a:t>interfaces</a:t>
            </a:r>
            <a:r>
              <a:rPr sz="1800" i="0" b="0">
                <a:solidFill>
                  <a:srgbClr val="1E293B"/>
                </a:solidFill>
                <a:latin typeface="Helvetica Neue"/>
              </a:rPr>
              <a:t> evolved: tools, observation formats, when-to-use notes</a:t>
            </a:r>
          </a:p>
        </p:txBody>
      </p:sp>
      <p:sp>
        <p:nvSpPr>
          <p:cNvPr id="18" name="Rectangle 17"/>
          <p:cNvSpPr/>
          <p:nvPr/>
        </p:nvSpPr>
        <p:spPr>
          <a:xfrm>
            <a:off x="7020900" y="260146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514600"/>
            <a:ext cx="4347834"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Qwen3.8-27B: </a:t>
            </a:r>
            <a:r>
              <a:rPr sz="1800" i="0" b="1">
                <a:solidFill>
                  <a:srgbClr val="1E293B"/>
                </a:solidFill>
                <a:latin typeface="Helvetica Neue"/>
              </a:rPr>
              <a:t>5.6% to 21.3%</a:t>
            </a:r>
          </a:p>
        </p:txBody>
      </p:sp>
      <p:sp>
        <p:nvSpPr>
          <p:cNvPr id="20" name="Rectangle 19"/>
          <p:cNvSpPr/>
          <p:nvPr/>
        </p:nvSpPr>
        <p:spPr>
          <a:xfrm>
            <a:off x="7020900" y="304038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Above Opus 4.8 (20.6%) and GPT-5.5 (13.0%), at about </a:t>
            </a:r>
            <a:r>
              <a:rPr sz="1800" i="0" b="1">
                <a:solidFill>
                  <a:srgbClr val="1E293B"/>
                </a:solidFill>
                <a:latin typeface="Helvetica Neue"/>
              </a:rPr>
              <a:t>1.5%</a:t>
            </a:r>
            <a:r>
              <a:rPr sz="1800" i="0" b="0">
                <a:solidFill>
                  <a:srgbClr val="1E293B"/>
                </a:solidFill>
                <a:latin typeface="Helvetica Neue"/>
              </a:rPr>
              <a:t> and </a:t>
            </a:r>
            <a:r>
              <a:rPr sz="1800" i="0" b="1">
                <a:solidFill>
                  <a:srgbClr val="1E293B"/>
                </a:solidFill>
                <a:latin typeface="Helvetica Neue"/>
              </a:rPr>
              <a:t>4.3%</a:t>
            </a:r>
            <a:r>
              <a:rPr sz="1800" i="0" b="0">
                <a:solidFill>
                  <a:srgbClr val="1E293B"/>
                </a:solidFill>
                <a:latin typeface="Helvetica Neue"/>
              </a:rPr>
              <a:t> of their cost per task</a:t>
            </a:r>
          </a:p>
        </p:txBody>
      </p:sp>
      <p:sp>
        <p:nvSpPr>
          <p:cNvPr id="22" name="Rectangle 21"/>
          <p:cNvSpPr/>
          <p:nvPr/>
        </p:nvSpPr>
        <p:spPr>
          <a:xfrm>
            <a:off x="7020900" y="408279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99592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LangChain DeepAgents, harness only: </a:t>
            </a:r>
            <a:r>
              <a:rPr sz="1800" i="0" b="1">
                <a:solidFill>
                  <a:srgbClr val="1E293B"/>
                </a:solidFill>
                <a:latin typeface="Helvetica Neue"/>
              </a:rPr>
              <a:t>52.8% to 66.5%</a:t>
            </a:r>
            <a:r>
              <a:rPr sz="1800" i="0" b="0">
                <a:solidFill>
                  <a:srgbClr val="1E293B"/>
                </a:solidFill>
                <a:latin typeface="Helvetica Neue"/>
              </a:rPr>
              <a:t> on Terminal Bench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Failures are configuration, not model limits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reframe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notes/01-what-a-harness-is.md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Every agent failure should be restated as a missing piece of harness, because that restatement is a build task.</a:t>
            </a:r>
          </a:p>
        </p:txBody>
      </p:sp>
      <p:graphicFrame>
        <p:nvGraphicFramePr>
          <p:cNvPr id="13" name="Table 12"/>
          <p:cNvGraphicFramePr>
            <a:graphicFrameLocks noGrp="1"/>
          </p:cNvGraphicFramePr>
          <p:nvPr/>
        </p:nvGraphicFramePr>
        <p:xfrm>
          <a:off x="502920" y="1472184"/>
          <a:ext cx="11185854" cy="2691384"/>
        </p:xfrm>
        <a:graphic>
          <a:graphicData uri="http://schemas.openxmlformats.org/drawingml/2006/table">
            <a:tbl>
              <a:tblPr firstRow="1" bandRow="1">
                <a:tableStyleId>{5940675A-B579-460E-94D1-54222C63F5DA}</a:tableStyleId>
              </a:tblPr>
              <a:tblGrid>
                <a:gridCol w="3355756"/>
                <a:gridCol w="3132039"/>
                <a:gridCol w="4698059"/>
              </a:tblGrid>
              <a:tr h="405384">
                <a:tc>
                  <a:txBody>
                    <a:bodyPr wrap="square"/>
                    <a:lstStyle/>
                    <a:p>
                      <a:pPr>
                        <a:lnSpc>
                          <a:spcPct val="100000"/>
                        </a:lnSpc>
                      </a:pPr>
                      <a:r>
                        <a:rPr sz="1700" i="0" b="1">
                          <a:solidFill>
                            <a:srgbClr val="FFFFFF"/>
                          </a:solidFill>
                          <a:latin typeface="Helvetica Neue"/>
                        </a:rPr>
                        <a:t>Failure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Not this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But this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Ignored a convention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model is dumb"</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convention isn't in </a:t>
                      </a:r>
                      <a:r>
                        <a:rPr sz="1530" i="0" b="0">
                          <a:solidFill>
                            <a:srgbClr val="0F7490"/>
                          </a:solidFill>
                          <a:latin typeface="Menlo"/>
                        </a:rPr>
                        <a:t>AGENTS.md</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Ran </a:t>
                      </a:r>
                      <a:r>
                        <a:rPr sz="1530" i="0" b="1">
                          <a:solidFill>
                            <a:srgbClr val="0F7490"/>
                          </a:solidFill>
                          <a:latin typeface="Menlo"/>
                        </a:rPr>
                        <a:t>rm -rf</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"The model is unsafe"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There is no blocking hook</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Lost the thread at step 40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"Window too small"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 planner/executor split, no plan file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Shipped broken code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"It can't code"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No typecheck back-pressure in the loop</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Rated its own work 9/10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"It's sycophantic"</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Generator and evaluator are the same agent</a:t>
                      </a:r>
                    </a:p>
                  </a:txBody>
                  <a:tcPr marL="109728" marR="109728" marT="54864" marB="54864"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Four parts every harness needs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minimum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notes/01-what-a-harness-is.md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system missing any of acceptance, boundary, feedback or rollback is a prompt with tools attached, not a harness.</a:t>
            </a:r>
          </a:p>
        </p:txBody>
      </p:sp>
      <p:sp>
        <p:nvSpPr>
          <p:cNvPr id="13" name="Rectangle 12"/>
          <p:cNvSpPr/>
          <p:nvPr/>
        </p:nvSpPr>
        <p:spPr>
          <a:xfrm>
            <a:off x="502920" y="1472184"/>
            <a:ext cx="2590723" cy="28498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28498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2133523"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Acceptance baseline</a:t>
            </a:r>
          </a:p>
        </p:txBody>
      </p:sp>
      <p:sp>
        <p:nvSpPr>
          <p:cNvPr id="16" name="TextBox 15"/>
          <p:cNvSpPr txBox="1"/>
          <p:nvPr/>
        </p:nvSpPr>
        <p:spPr>
          <a:xfrm>
            <a:off x="777240" y="2356104"/>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What done and correct means, checkably. The most often </a:t>
            </a:r>
            <a:r>
              <a:rPr sz="1800" i="0" b="1">
                <a:solidFill>
                  <a:srgbClr val="1E293B"/>
                </a:solidFill>
                <a:latin typeface="Helvetica Neue"/>
              </a:rPr>
              <a:t>faked</a:t>
            </a:r>
            <a:r>
              <a:rPr sz="1800" i="0" b="0">
                <a:solidFill>
                  <a:srgbClr val="475569"/>
                </a:solidFill>
                <a:latin typeface="Helvetica Neue"/>
              </a:rPr>
              <a:t> part.</a:t>
            </a:r>
          </a:p>
        </p:txBody>
      </p:sp>
      <p:sp>
        <p:nvSpPr>
          <p:cNvPr id="17" name="Rectangle 16"/>
          <p:cNvSpPr/>
          <p:nvPr/>
        </p:nvSpPr>
        <p:spPr>
          <a:xfrm>
            <a:off x="3367963" y="1472184"/>
            <a:ext cx="2590723" cy="28498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7963" y="1472184"/>
            <a:ext cx="82296" cy="28498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Execution boundary</a:t>
            </a:r>
          </a:p>
        </p:txBody>
      </p:sp>
      <p:sp>
        <p:nvSpPr>
          <p:cNvPr id="20" name="TextBox 19"/>
          <p:cNvSpPr txBox="1"/>
          <p:nvPr/>
        </p:nvSpPr>
        <p:spPr>
          <a:xfrm>
            <a:off x="3642283" y="2087880"/>
            <a:ext cx="2087803" cy="2051303"/>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Where the agent runs and what it can touch.</a:t>
            </a:r>
          </a:p>
        </p:txBody>
      </p:sp>
      <p:sp>
        <p:nvSpPr>
          <p:cNvPr id="21" name="Rectangle 20"/>
          <p:cNvSpPr/>
          <p:nvPr/>
        </p:nvSpPr>
        <p:spPr>
          <a:xfrm>
            <a:off x="6233007" y="1472184"/>
            <a:ext cx="2590723" cy="28498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3007" y="1472184"/>
            <a:ext cx="82296" cy="28498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Feedback signals</a:t>
            </a:r>
          </a:p>
        </p:txBody>
      </p:sp>
      <p:sp>
        <p:nvSpPr>
          <p:cNvPr id="24" name="TextBox 23"/>
          <p:cNvSpPr txBox="1"/>
          <p:nvPr/>
        </p:nvSpPr>
        <p:spPr>
          <a:xfrm>
            <a:off x="6507327" y="2087880"/>
            <a:ext cx="2087803" cy="2051303"/>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How the agent learns its last action was wrong.</a:t>
            </a:r>
          </a:p>
        </p:txBody>
      </p:sp>
      <p:sp>
        <p:nvSpPr>
          <p:cNvPr id="25" name="Rectangle 24"/>
          <p:cNvSpPr/>
          <p:nvPr/>
        </p:nvSpPr>
        <p:spPr>
          <a:xfrm>
            <a:off x="9098051" y="1472184"/>
            <a:ext cx="2590723" cy="28498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051" y="1472184"/>
            <a:ext cx="82296" cy="28498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Rollback</a:t>
            </a:r>
          </a:p>
        </p:txBody>
      </p:sp>
      <p:sp>
        <p:nvSpPr>
          <p:cNvPr id="28" name="TextBox 27"/>
          <p:cNvSpPr txBox="1"/>
          <p:nvPr/>
        </p:nvSpPr>
        <p:spPr>
          <a:xfrm>
            <a:off x="9372371" y="2087880"/>
            <a:ext cx="2087803" cy="2051303"/>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How a bad action gets undone. The most often </a:t>
            </a:r>
            <a:r>
              <a:rPr sz="1800" i="0" b="1">
                <a:solidFill>
                  <a:srgbClr val="1E293B"/>
                </a:solidFill>
                <a:latin typeface="Helvetica Neue"/>
              </a:rPr>
              <a:t>missing</a:t>
            </a:r>
            <a:r>
              <a:rPr sz="1800" i="0" b="0">
                <a:solidFill>
                  <a:srgbClr val="475569"/>
                </a:solidFill>
                <a:latin typeface="Helvetica Neue"/>
              </a:rPr>
              <a:t> part.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Every failure tightens the ratchet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How a harness grows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notes/01-what-a-harness-is.md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harness grows by encoding each real failure as a check, so the same failure cannot happen again.</a:t>
            </a:r>
          </a:p>
        </p:txBody>
      </p:sp>
      <p:sp>
        <p:nvSpPr>
          <p:cNvPr id="13" name="Rounded Rectangle 12"/>
          <p:cNvSpPr/>
          <p:nvPr/>
        </p:nvSpPr>
        <p:spPr>
          <a:xfrm>
            <a:off x="586587" y="1563624"/>
            <a:ext cx="2377440" cy="1272540"/>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Agent slips</a:t>
            </a:r>
          </a:p>
          <a:p>
            <a:pPr algn="ctr">
              <a:lnSpc>
                <a:spcPct val="110000"/>
              </a:lnSpc>
            </a:pPr>
            <a:r>
              <a:rPr sz="1300" i="0" b="0">
                <a:solidFill>
                  <a:srgbClr val="E8F4F8"/>
                </a:solidFill>
                <a:latin typeface="Helvetica Neue"/>
              </a:rPr>
              <a:t>a real failure</a:t>
            </a:r>
          </a:p>
        </p:txBody>
      </p:sp>
      <p:cxnSp>
        <p:nvCxnSpPr>
          <p:cNvPr id="15" name="Connector 14"/>
          <p:cNvCxnSpPr/>
          <p:nvPr/>
        </p:nvCxnSpPr>
        <p:spPr>
          <a:xfrm>
            <a:off x="301889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66947" y="1563624"/>
            <a:ext cx="2377440" cy="1272540"/>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410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Find the subsystem</a:t>
            </a:r>
          </a:p>
          <a:p>
            <a:pPr algn="ctr">
              <a:lnSpc>
                <a:spcPct val="110000"/>
              </a:lnSpc>
            </a:pPr>
            <a:r>
              <a:rPr sz="1300" i="0" b="0">
                <a:solidFill>
                  <a:srgbClr val="E8F4F8"/>
                </a:solidFill>
                <a:latin typeface="Helvetica Neue"/>
              </a:rPr>
              <a:t>where it belonged</a:t>
            </a:r>
          </a:p>
        </p:txBody>
      </p:sp>
      <p:cxnSp>
        <p:nvCxnSpPr>
          <p:cNvPr id="18" name="Connector 17"/>
          <p:cNvCxnSpPr/>
          <p:nvPr/>
        </p:nvCxnSpPr>
        <p:spPr>
          <a:xfrm>
            <a:off x="589925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47307" y="1563624"/>
            <a:ext cx="2377440" cy="1272540"/>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Encode the fix</a:t>
            </a:r>
          </a:p>
          <a:p>
            <a:pPr algn="ctr">
              <a:lnSpc>
                <a:spcPct val="110000"/>
              </a:lnSpc>
            </a:pPr>
            <a:r>
              <a:rPr sz="1300" i="0" b="0">
                <a:solidFill>
                  <a:srgbClr val="E8F4F8"/>
                </a:solidFill>
                <a:latin typeface="Helvetica Neue"/>
              </a:rPr>
              <a:t>hook, lint, gate</a:t>
            </a:r>
          </a:p>
        </p:txBody>
      </p:sp>
      <p:cxnSp>
        <p:nvCxnSpPr>
          <p:cNvPr id="21" name="Connector 20"/>
          <p:cNvCxnSpPr/>
          <p:nvPr/>
        </p:nvCxnSpPr>
        <p:spPr>
          <a:xfrm>
            <a:off x="877961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27667" y="1563624"/>
            <a:ext cx="2377440" cy="1272540"/>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Never again</a:t>
            </a:r>
          </a:p>
          <a:p>
            <a:pPr algn="ctr">
              <a:lnSpc>
                <a:spcPct val="110000"/>
              </a:lnSpc>
            </a:pPr>
            <a:r>
              <a:rPr sz="1300" i="0" b="0">
                <a:solidFill>
                  <a:srgbClr val="E8F4F8"/>
                </a:solidFill>
                <a:latin typeface="Helvetica Neue"/>
              </a:rPr>
              <a:t>the harness tightens</a:t>
            </a:r>
          </a:p>
        </p:txBody>
      </p:sp>
      <p:cxnSp>
        <p:nvCxnSpPr>
          <p:cNvPr id="24" name="Connector 23"/>
          <p:cNvCxnSpPr/>
          <p:nvPr/>
        </p:nvCxnSpPr>
        <p:spPr>
          <a:xfrm>
            <a:off x="10416387" y="2836164"/>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775307" y="3247644"/>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775307" y="2872740"/>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775307" y="3284220"/>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every failure, permanently</a:t>
            </a:r>
          </a:p>
        </p:txBody>
      </p:sp>
      <p:sp>
        <p:nvSpPr>
          <p:cNvPr id="28" name="Rectangle 27"/>
          <p:cNvSpPr/>
          <p:nvPr/>
        </p:nvSpPr>
        <p:spPr>
          <a:xfrm>
            <a:off x="502920" y="4070857"/>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979164"/>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Every line in a good </a:t>
            </a:r>
            <a:r>
              <a:rPr sz="1710" i="0" b="0">
                <a:solidFill>
                  <a:srgbClr val="0F7490"/>
                </a:solidFill>
                <a:latin typeface="Menlo"/>
              </a:rPr>
              <a:t>AGENTS.md</a:t>
            </a:r>
            <a:r>
              <a:rPr sz="1900" i="0" b="0">
                <a:solidFill>
                  <a:srgbClr val="1E293B"/>
                </a:solidFill>
                <a:latin typeface="Helvetica Neue"/>
              </a:rPr>
              <a:t> traces back to something that went wrong</a:t>
            </a:r>
          </a:p>
        </p:txBody>
      </p:sp>
      <p:sp>
        <p:nvSpPr>
          <p:cNvPr id="30" name="Rectangle 29"/>
          <p:cNvSpPr/>
          <p:nvPr/>
        </p:nvSpPr>
        <p:spPr>
          <a:xfrm>
            <a:off x="502920" y="4534154"/>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442460"/>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Keep </a:t>
            </a:r>
            <a:r>
              <a:rPr sz="1710" i="0" b="0">
                <a:solidFill>
                  <a:srgbClr val="0F7490"/>
                </a:solidFill>
                <a:latin typeface="Menlo"/>
              </a:rPr>
              <a:t>AGENTS.md</a:t>
            </a:r>
            <a:r>
              <a:rPr sz="1900" i="0" b="0">
                <a:solidFill>
                  <a:srgbClr val="1E293B"/>
                </a:solidFill>
                <a:latin typeface="Helvetica Neue"/>
              </a:rPr>
              <a:t> under about </a:t>
            </a:r>
            <a:r>
              <a:rPr sz="1900" i="0" b="1">
                <a:solidFill>
                  <a:srgbClr val="1E293B"/>
                </a:solidFill>
                <a:latin typeface="Helvetica Neue"/>
              </a:rPr>
              <a:t>60 lines</a:t>
            </a:r>
            <a:r>
              <a:rPr sz="1900" i="0" b="0">
                <a:solidFill>
                  <a:srgbClr val="1E293B"/>
                </a:solidFill>
                <a:latin typeface="Helvetica Neue"/>
              </a:rPr>
              <a:t>: a pilot's checklist, not a style guide</a:t>
            </a:r>
          </a:p>
        </p:txBody>
      </p:sp>
      <p:sp>
        <p:nvSpPr>
          <p:cNvPr id="32" name="Rectangle 31"/>
          <p:cNvSpPr/>
          <p:nvPr/>
        </p:nvSpPr>
        <p:spPr>
          <a:xfrm>
            <a:off x="502920" y="4997450"/>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905756"/>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Lines that cannot name their originating failure are speculative, so delete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Five subsystems, seen in one small harness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anatomy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notes/02-harness-anatomy.md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Agents are rarely stuck and often confidently wrong, which points at a gap in the feedback subsystem.</a:t>
            </a:r>
          </a:p>
        </p:txBody>
      </p:sp>
      <p:sp>
        <p:nvSpPr>
          <p:cNvPr id="13" name="Rectangle 12"/>
          <p:cNvSpPr/>
          <p:nvPr/>
        </p:nvSpPr>
        <p:spPr>
          <a:xfrm>
            <a:off x="448056" y="1417320"/>
            <a:ext cx="6261948" cy="2419092"/>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ldor-gemini-argon-minecraft-fig2.png"/>
          <p:cNvPicPr>
            <a:picLocks noChangeAspect="1"/>
          </p:cNvPicPr>
          <p:nvPr/>
        </p:nvPicPr>
        <p:blipFill>
          <a:blip r:embed="rId2"/>
          <a:stretch>
            <a:fillRect/>
          </a:stretch>
        </p:blipFill>
        <p:spPr>
          <a:xfrm>
            <a:off x="502920" y="1472184"/>
            <a:ext cx="6152220" cy="2309364"/>
          </a:xfrm>
          <a:prstGeom prst="rect">
            <a:avLst/>
          </a:prstGeom>
        </p:spPr>
      </p:pic>
      <p:sp>
        <p:nvSpPr>
          <p:cNvPr id="15" name="TextBox 14"/>
          <p:cNvSpPr txBox="1"/>
          <p:nvPr/>
        </p:nvSpPr>
        <p:spPr>
          <a:xfrm>
            <a:off x="502920" y="3918708"/>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Four coding agents, one shared server, a fifth Observer that never plays (Faldor et al., 2026)</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Instructions:</a:t>
            </a:r>
            <a:r>
              <a:rPr sz="1800" i="0" b="0">
                <a:solidFill>
                  <a:srgbClr val="1E293B"/>
                </a:solidFill>
                <a:latin typeface="Helvetica Neue"/>
              </a:rPr>
              <a:t> what should I do, by what rules?</a:t>
            </a:r>
          </a:p>
        </p:txBody>
      </p:sp>
      <p:sp>
        <p:nvSpPr>
          <p:cNvPr id="18" name="Rectangle 17"/>
          <p:cNvSpPr/>
          <p:nvPr/>
        </p:nvSpPr>
        <p:spPr>
          <a:xfrm>
            <a:off x="7020900" y="229971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Tools:</a:t>
            </a:r>
            <a:r>
              <a:rPr sz="1800" i="0" b="0">
                <a:solidFill>
                  <a:srgbClr val="1E293B"/>
                </a:solidFill>
                <a:latin typeface="Helvetica Neue"/>
              </a:rPr>
              <a:t> what can I act with?</a:t>
            </a:r>
          </a:p>
        </p:txBody>
      </p:sp>
      <p:sp>
        <p:nvSpPr>
          <p:cNvPr id="20" name="Rectangle 19"/>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Environment:</a:t>
            </a:r>
            <a:r>
              <a:rPr sz="1800" i="0" b="0">
                <a:solidFill>
                  <a:srgbClr val="1E293B"/>
                </a:solidFill>
                <a:latin typeface="Helvetica Neue"/>
              </a:rPr>
              <a:t> where do I run?</a:t>
            </a:r>
          </a:p>
        </p:txBody>
      </p:sp>
      <p:sp>
        <p:nvSpPr>
          <p:cNvPr id="22" name="Rectangle 21"/>
          <p:cNvSpPr/>
          <p:nvPr/>
        </p:nvSpPr>
        <p:spPr>
          <a:xfrm>
            <a:off x="7020900" y="317754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090672"/>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State:</a:t>
            </a:r>
            <a:r>
              <a:rPr sz="1800" i="0" b="0">
                <a:solidFill>
                  <a:srgbClr val="1E293B"/>
                </a:solidFill>
                <a:latin typeface="Helvetica Neue"/>
              </a:rPr>
              <a:t> what has happened so far?</a:t>
            </a:r>
          </a:p>
        </p:txBody>
      </p:sp>
      <p:sp>
        <p:nvSpPr>
          <p:cNvPr id="24" name="Rectangle 23"/>
          <p:cNvSpPr/>
          <p:nvPr/>
        </p:nvSpPr>
        <p:spPr>
          <a:xfrm>
            <a:off x="7020900" y="36164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0940" y="3529584"/>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Feedback:</a:t>
            </a:r>
            <a:r>
              <a:rPr sz="1800" i="0" b="0">
                <a:solidFill>
                  <a:srgbClr val="1E293B"/>
                </a:solidFill>
                <a:latin typeface="Helvetica Neue"/>
              </a:rPr>
              <a:t> did it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Start from the minimum viable harness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Monday morning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Why the demo fails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notes/02-harness-anatomy.md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Build capability first, then the constraints that make it survive scale, and productize last.</a:t>
            </a:r>
          </a:p>
        </p:txBody>
      </p:sp>
      <p:sp>
        <p:nvSpPr>
          <p:cNvPr id="13" name="Rectangle 12"/>
          <p:cNvSpPr/>
          <p:nvPr/>
        </p:nvSpPr>
        <p:spPr>
          <a:xfrm>
            <a:off x="502920" y="1472184"/>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532382"/>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532382"/>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Tool loop</a:t>
            </a:r>
            <a:r>
              <a:rPr sz="1800" i="0" b="0">
                <a:solidFill>
                  <a:srgbClr val="475569"/>
                </a:solidFill>
                <a:latin typeface="Helvetica Neue"/>
              </a:rPr>
              <a:t> — with typed schemas</a:t>
            </a:r>
          </a:p>
        </p:txBody>
      </p:sp>
      <p:sp>
        <p:nvSpPr>
          <p:cNvPr id="17" name="Rectangle 16"/>
          <p:cNvSpPr/>
          <p:nvPr/>
        </p:nvSpPr>
        <p:spPr>
          <a:xfrm>
            <a:off x="502920" y="2159508"/>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219706"/>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219706"/>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159508"/>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Sandbox</a:t>
            </a:r>
            <a:r>
              <a:rPr sz="1800" i="0" b="0">
                <a:solidFill>
                  <a:srgbClr val="475569"/>
                </a:solidFill>
                <a:latin typeface="Helvetica Neue"/>
              </a:rPr>
              <a:t> — even just a working-directory boundary</a:t>
            </a:r>
          </a:p>
        </p:txBody>
      </p:sp>
      <p:sp>
        <p:nvSpPr>
          <p:cNvPr id="21" name="Rectangle 20"/>
          <p:cNvSpPr/>
          <p:nvPr/>
        </p:nvSpPr>
        <p:spPr>
          <a:xfrm>
            <a:off x="502920" y="2846832"/>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2907030"/>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290703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1325880" y="2846832"/>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Filesystem</a:t>
            </a:r>
            <a:r>
              <a:rPr sz="1800" i="0" b="0">
                <a:solidFill>
                  <a:srgbClr val="475569"/>
                </a:solidFill>
                <a:latin typeface="Helvetica Neue"/>
              </a:rPr>
              <a:t> — the most foundational primitive</a:t>
            </a:r>
          </a:p>
        </p:txBody>
      </p:sp>
      <p:sp>
        <p:nvSpPr>
          <p:cNvPr id="25" name="Rectangle 24"/>
          <p:cNvSpPr/>
          <p:nvPr/>
        </p:nvSpPr>
        <p:spPr>
          <a:xfrm>
            <a:off x="502920" y="3534156"/>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3594354"/>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359435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3534156"/>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Plan file</a:t>
            </a:r>
            <a:r>
              <a:rPr sz="1800" i="0" b="0">
                <a:solidFill>
                  <a:srgbClr val="475569"/>
                </a:solidFill>
                <a:latin typeface="Helvetica Neue"/>
              </a:rPr>
              <a:t> — for anything past about 5 steps</a:t>
            </a:r>
          </a:p>
        </p:txBody>
      </p:sp>
      <p:sp>
        <p:nvSpPr>
          <p:cNvPr id="29" name="Rectangle 28"/>
          <p:cNvSpPr/>
          <p:nvPr/>
        </p:nvSpPr>
        <p:spPr>
          <a:xfrm>
            <a:off x="502920" y="4221480"/>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 y="4281677"/>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4281677"/>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1325880" y="4221480"/>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Verification gate</a:t>
            </a:r>
            <a:r>
              <a:rPr sz="1800" i="0" b="0">
                <a:solidFill>
                  <a:srgbClr val="475569"/>
                </a:solidFill>
                <a:latin typeface="Helvetica Neue"/>
              </a:rPr>
              <a:t> — one binary pass/fail check</a:t>
            </a:r>
          </a:p>
        </p:txBody>
      </p:sp>
      <p:sp>
        <p:nvSpPr>
          <p:cNvPr id="33" name="Rectangle 32"/>
          <p:cNvSpPr/>
          <p:nvPr/>
        </p:nvSpPr>
        <p:spPr>
          <a:xfrm>
            <a:off x="502920" y="4908804"/>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67512" y="4969001"/>
            <a:ext cx="457200" cy="457200"/>
          </a:xfrm>
          <a:prstGeom prst="ellipse">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96900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6</a:t>
            </a:r>
          </a:p>
        </p:txBody>
      </p:sp>
      <p:sp>
        <p:nvSpPr>
          <p:cNvPr id="36" name="TextBox 35"/>
          <p:cNvSpPr txBox="1"/>
          <p:nvPr/>
        </p:nvSpPr>
        <p:spPr>
          <a:xfrm>
            <a:off x="1325880" y="4908804"/>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Structured traces</a:t>
            </a:r>
            <a:r>
              <a:rPr sz="1800" i="0" b="0">
                <a:solidFill>
                  <a:srgbClr val="475569"/>
                </a:solidFill>
                <a:latin typeface="Helvetica Neue"/>
              </a:rPr>
              <a:t> — of every step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What it may touch</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Tools written for an agent · Requests vs. rules · Test the gate</a:t>
            </a:r>
          </a:p>
        </p:txBody>
      </p:sp>
      <p:cxnSp>
        <p:nvCxnSpPr>
          <p:cNvPr id="6" name="Connector 5"/>
          <p:cNvCxnSpPr/>
          <p:nvPr/>
        </p:nvCxnSpPr>
        <p:spPr>
          <a:xfrm>
            <a:off x="6446520" y="1203960"/>
            <a:ext cx="0" cy="445008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203960"/>
            <a:ext cx="4693615" cy="4632960"/>
          </a:xfrm>
          <a:prstGeom prst="rect">
            <a:avLst/>
          </a:prstGeom>
          <a:noFill/>
        </p:spPr>
        <p:txBody>
          <a:bodyPr wrap="square" lIns="0" rIns="0" tIns="0" bIns="0" anchor="t">
            <a:noAutofit/>
          </a:bodyPr>
          <a:lstStyle/>
          <a:p>
            <a:pPr algn="l">
              <a:lnSpc>
                <a:spcPct val="100000"/>
              </a:lnSpc>
            </a:pPr>
            <a:r>
              <a:rPr sz="1600" i="0" b="0">
                <a:solidFill>
                  <a:srgbClr val="CBD5E1"/>
                </a:solidFill>
                <a:latin typeface="Helvetica Neue"/>
              </a:rPr>
              <a:t>A deny rule on rm is not a boundary</a:t>
            </a:r>
          </a:p>
          <a:p>
            <a:pPr algn="l">
              <a:lnSpc>
                <a:spcPct val="100000"/>
              </a:lnSpc>
              <a:spcBef>
                <a:spcPts val="1120"/>
              </a:spcBef>
            </a:pPr>
            <a:r>
              <a:rPr sz="1600" i="0" b="0">
                <a:solidFill>
                  <a:srgbClr val="CBD5E1"/>
                </a:solidFill>
                <a:latin typeface="Helvetica Neue"/>
              </a:rPr>
              <a:t>Write tools for a reader with no documentation</a:t>
            </a:r>
          </a:p>
          <a:p>
            <a:pPr algn="l">
              <a:lnSpc>
                <a:spcPct val="100000"/>
              </a:lnSpc>
              <a:spcBef>
                <a:spcPts val="1120"/>
              </a:spcBef>
            </a:pPr>
            <a:r>
              <a:rPr sz="1600" i="0" b="0">
                <a:solidFill>
                  <a:srgbClr val="CBD5E1"/>
                </a:solidFill>
                <a:latin typeface="Helvetica Neue"/>
              </a:rPr>
              <a:t>Five sections make a tool description work</a:t>
            </a:r>
          </a:p>
          <a:p>
            <a:pPr algn="l">
              <a:lnSpc>
                <a:spcPct val="100000"/>
              </a:lnSpc>
              <a:spcBef>
                <a:spcPts val="1120"/>
              </a:spcBef>
            </a:pPr>
            <a:r>
              <a:rPr sz="1600" i="0" b="0">
                <a:solidFill>
                  <a:srgbClr val="CBD5E1"/>
                </a:solidFill>
                <a:latin typeface="Helvetica Neue"/>
              </a:rPr>
              <a:t>Four questions decide how a tool is gated</a:t>
            </a:r>
          </a:p>
          <a:p>
            <a:pPr algn="l">
              <a:lnSpc>
                <a:spcPct val="100000"/>
              </a:lnSpc>
              <a:spcBef>
                <a:spcPts val="1120"/>
              </a:spcBef>
            </a:pPr>
            <a:r>
              <a:rPr sz="1600" i="0" b="0">
                <a:solidFill>
                  <a:srgbClr val="CBD5E1"/>
                </a:solidFill>
                <a:latin typeface="Helvetica Neue"/>
              </a:rPr>
              <a:t>Discover tools instead of preloading them</a:t>
            </a:r>
          </a:p>
          <a:p>
            <a:pPr algn="l">
              <a:lnSpc>
                <a:spcPct val="100000"/>
              </a:lnSpc>
              <a:spcBef>
                <a:spcPts val="1120"/>
              </a:spcBef>
            </a:pPr>
            <a:r>
              <a:rPr sz="1600" i="0" b="0">
                <a:solidFill>
                  <a:srgbClr val="CBD5E1"/>
                </a:solidFill>
                <a:latin typeface="Helvetica Neue"/>
              </a:rPr>
              <a:t>A skill description is routing logic</a:t>
            </a:r>
          </a:p>
          <a:p>
            <a:pPr algn="l">
              <a:lnSpc>
                <a:spcPct val="100000"/>
              </a:lnSpc>
              <a:spcBef>
                <a:spcPts val="1120"/>
              </a:spcBef>
            </a:pPr>
            <a:r>
              <a:rPr sz="1600" i="0" b="0">
                <a:solidFill>
                  <a:srgbClr val="CBD5E1"/>
                </a:solidFill>
                <a:latin typeface="Helvetica Neue"/>
              </a:rPr>
              <a:t>Match the enforcement to the cost of being wrong</a:t>
            </a:r>
          </a:p>
          <a:p>
            <a:pPr algn="l">
              <a:lnSpc>
                <a:spcPct val="100000"/>
              </a:lnSpc>
              <a:spcBef>
                <a:spcPts val="1120"/>
              </a:spcBef>
            </a:pPr>
            <a:r>
              <a:rPr sz="1600" i="0" b="0">
                <a:solidFill>
                  <a:srgbClr val="CBD5E1"/>
                </a:solidFill>
                <a:latin typeface="Helvetica Neue"/>
              </a:rPr>
              <a:t>Climb the isolation ladder to match the risk</a:t>
            </a:r>
          </a:p>
          <a:p>
            <a:pPr algn="l">
              <a:lnSpc>
                <a:spcPct val="100000"/>
              </a:lnSpc>
              <a:spcBef>
                <a:spcPts val="1120"/>
              </a:spcBef>
            </a:pPr>
            <a:r>
              <a:rPr sz="1600" i="0" b="0">
                <a:solidFill>
                  <a:srgbClr val="CBD5E1"/>
                </a:solidFill>
                <a:latin typeface="Helvetica Neue"/>
              </a:rPr>
              <a:t>Hooks stay silent on success and loud on failure</a:t>
            </a:r>
          </a:p>
          <a:p>
            <a:pPr algn="l">
              <a:lnSpc>
                <a:spcPct val="100000"/>
              </a:lnSpc>
              <a:spcBef>
                <a:spcPts val="1120"/>
              </a:spcBef>
            </a:pPr>
            <a:r>
              <a:rPr sz="1600" i="0" b="0">
                <a:solidFill>
                  <a:srgbClr val="CBD5E1"/>
                </a:solidFill>
                <a:latin typeface="Helvetica Neue"/>
              </a:rPr>
              <a:t>Guard at each point where trust changes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deny rule on rm is not a boundary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notes/04-execution-boundaries.md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command rule covers one spelling of an effect, so enumerate effects and test each route instead of trusting the rule.</a:t>
            </a:r>
          </a:p>
        </p:txBody>
      </p:sp>
      <p:sp>
        <p:nvSpPr>
          <p:cNvPr id="13" name="Rectangle 12"/>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a:t>
            </a:r>
            <a:r>
              <a:rPr sz="3240" i="0" b="1">
                <a:solidFill>
                  <a:srgbClr val="0F7490"/>
                </a:solidFill>
                <a:latin typeface="Menlo"/>
              </a:rPr>
              <a:t>Bash(rm:*)</a:t>
            </a:r>
            <a:r>
              <a:rPr sz="3600" i="0" b="1">
                <a:solidFill>
                  <a:srgbClr val="1E3A5F"/>
                </a:solidFill>
                <a:latin typeface="Helvetica Neue"/>
              </a:rPr>
              <a:t> deny rule held against </a:t>
            </a:r>
            <a:r>
              <a:rPr sz="3240" i="0" b="1">
                <a:solidFill>
                  <a:srgbClr val="0F7490"/>
                </a:solidFill>
                <a:latin typeface="Menlo"/>
              </a:rPr>
              <a:t>rm -f</a:t>
            </a:r>
            <a:r>
              <a:rPr sz="3600" i="0" b="1">
                <a:solidFill>
                  <a:srgbClr val="1E3A5F"/>
                </a:solidFill>
                <a:latin typeface="Helvetica Neue"/>
              </a:rPr>
              <a:t>. A file-writing tool overwrote the canary anyway.</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canary pattern: destroy a file with no rules, then test each route with rules on (notes/04)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Write tools for a reader with no documentation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Tool design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notes/03-tool-design.md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When a tool is misused, check the tool description before questioning the model.</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An API's reader</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Has docs, type hints and autocomplete</a:t>
            </a:r>
          </a:p>
        </p:txBody>
      </p:sp>
      <p:sp>
        <p:nvSpPr>
          <p:cNvPr id="18" name="Rectangle 17"/>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Can ask a follow-up question</a:t>
            </a:r>
          </a:p>
        </p:txBody>
      </p:sp>
      <p:sp>
        <p:nvSpPr>
          <p:cNvPr id="20" name="Rectangle 19"/>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06019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Learns boundaries by reading the codebase</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Implicit knowledge fills the gaps</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An ACI's reader</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Sees only a name, a description and a schema</a:t>
            </a:r>
          </a:p>
        </p:txBody>
      </p:sp>
      <p:sp>
        <p:nvSpPr>
          <p:cNvPr id="29" name="Rectangle 28"/>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9306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Needs explicit boundaries between tools</a:t>
            </a:r>
          </a:p>
        </p:txBody>
      </p:sp>
      <p:sp>
        <p:nvSpPr>
          <p:cNvPr id="31" name="Rectangle 30"/>
          <p:cNvSpPr/>
          <p:nvPr/>
        </p:nvSpPr>
        <p:spPr>
          <a:xfrm>
            <a:off x="6507327" y="342722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345180"/>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Needs error-proof params: enums, absolute paths</a:t>
            </a:r>
          </a:p>
        </p:txBody>
      </p:sp>
      <p:sp>
        <p:nvSpPr>
          <p:cNvPr id="33" name="Rectangle 32"/>
          <p:cNvSpPr/>
          <p:nvPr/>
        </p:nvSpPr>
        <p:spPr>
          <a:xfrm>
            <a:off x="6507327" y="412673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27367" y="404469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Needs examples </a:t>
            </a:r>
            <a:r>
              <a:rPr sz="1700" i="0" b="1">
                <a:solidFill>
                  <a:srgbClr val="1E293B"/>
                </a:solidFill>
                <a:latin typeface="Helvetica Neue"/>
              </a:rPr>
              <a:t>inside</a:t>
            </a:r>
            <a:r>
              <a:rPr sz="1700" i="0" b="0">
                <a:solidFill>
                  <a:srgbClr val="1E293B"/>
                </a:solidFill>
                <a:latin typeface="Helvetica Neue"/>
              </a:rPr>
              <a:t> the definition</a:t>
            </a:r>
          </a:p>
        </p:txBody>
      </p:sp>
      <p:sp>
        <p:nvSpPr>
          <p:cNvPr id="35" name="Rectangle 34"/>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What it cannot see does not exist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Five sections make a tool description work</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contract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notes/03-tool-design.md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Adding one to five invocation examples moved tool-call accuracy from about 72% to 90% in Li's measurement.</a:t>
            </a:r>
          </a:p>
        </p:txBody>
      </p:sp>
      <p:graphicFrame>
        <p:nvGraphicFramePr>
          <p:cNvPr id="13" name="Table 12"/>
          <p:cNvGraphicFramePr>
            <a:graphicFrameLocks noGrp="1"/>
          </p:cNvGraphicFramePr>
          <p:nvPr/>
        </p:nvGraphicFramePr>
        <p:xfrm>
          <a:off x="502920" y="1472184"/>
          <a:ext cx="11185854" cy="2432304"/>
        </p:xfrm>
        <a:graphic>
          <a:graphicData uri="http://schemas.openxmlformats.org/drawingml/2006/table">
            <a:tbl>
              <a:tblPr firstRow="1" bandRow="1">
                <a:tableStyleId>{5940675A-B579-460E-94D1-54222C63F5DA}</a:tableStyleId>
              </a:tblPr>
              <a:tblGrid>
                <a:gridCol w="3355756"/>
                <a:gridCol w="7830098"/>
              </a:tblGrid>
              <a:tr h="405384">
                <a:tc>
                  <a:txBody>
                    <a:bodyPr wrap="square"/>
                    <a:lstStyle/>
                    <a:p>
                      <a:pPr>
                        <a:lnSpc>
                          <a:spcPct val="100000"/>
                        </a:lnSpc>
                      </a:pPr>
                      <a:r>
                        <a:rPr sz="1700" i="0" b="1">
                          <a:solidFill>
                            <a:srgbClr val="FFFFFF"/>
                          </a:solidFill>
                          <a:latin typeface="Helvetica Neue"/>
                        </a:rPr>
                        <a:t>Section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Purpose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What it does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operation, plainly</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WHEN TO USE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Positive triggers the tool owns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WHEN NOT TO USE</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Boundary cases that belong to a neighbouring tool</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DO NOT USE FOR</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Hard negatives: misuse seen in practice</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EXAMPLES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Concrete invocations with realistic arguments</a:t>
                      </a:r>
                    </a:p>
                  </a:txBody>
                  <a:tcPr marL="109728" marR="109728" marT="54864" marB="54864"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Four questions decide how a tool is gated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Before it ships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notes/03-tool-design.md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Gate only the irreversible, because gating reversible actions is the fastest way to make an agent useless.</a:t>
            </a:r>
          </a:p>
        </p:txBody>
      </p:sp>
      <p:sp>
        <p:nvSpPr>
          <p:cNvPr id="13" name="Rectangle 12"/>
          <p:cNvSpPr/>
          <p:nvPr/>
        </p:nvSpPr>
        <p:spPr>
          <a:xfrm>
            <a:off x="502920"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227990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Reversible?</a:t>
            </a:r>
          </a:p>
        </p:txBody>
      </p:sp>
      <p:sp>
        <p:nvSpPr>
          <p:cNvPr id="16" name="TextBox 15"/>
          <p:cNvSpPr txBox="1"/>
          <p:nvPr/>
        </p:nvSpPr>
        <p:spPr>
          <a:xfrm>
            <a:off x="777240"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If not, put a confirmation gate in front of it.</a:t>
            </a:r>
          </a:p>
        </p:txBody>
      </p:sp>
      <p:sp>
        <p:nvSpPr>
          <p:cNvPr id="17" name="Rectangle 16"/>
          <p:cNvSpPr/>
          <p:nvPr/>
        </p:nvSpPr>
        <p:spPr>
          <a:xfrm>
            <a:off x="3367963"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7963" y="1472184"/>
            <a:ext cx="82296" cy="227990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Idempotent?</a:t>
            </a:r>
          </a:p>
        </p:txBody>
      </p:sp>
      <p:sp>
        <p:nvSpPr>
          <p:cNvPr id="20" name="TextBox 19"/>
          <p:cNvSpPr txBox="1"/>
          <p:nvPr/>
        </p:nvSpPr>
        <p:spPr>
          <a:xfrm>
            <a:off x="3642283"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If not, never retry it without an idempotency key.</a:t>
            </a:r>
          </a:p>
        </p:txBody>
      </p:sp>
      <p:sp>
        <p:nvSpPr>
          <p:cNvPr id="21" name="Rectangle 20"/>
          <p:cNvSpPr/>
          <p:nvPr/>
        </p:nvSpPr>
        <p:spPr>
          <a:xfrm>
            <a:off x="6233007"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3007" y="1472184"/>
            <a:ext cx="82296" cy="227990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Observable?</a:t>
            </a:r>
          </a:p>
        </p:txBody>
      </p:sp>
      <p:sp>
        <p:nvSpPr>
          <p:cNvPr id="24" name="TextBox 23"/>
          <p:cNvSpPr txBox="1"/>
          <p:nvPr/>
        </p:nvSpPr>
        <p:spPr>
          <a:xfrm>
            <a:off x="6507327"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If not, it cannot be debugged, so add a trace.</a:t>
            </a:r>
          </a:p>
        </p:txBody>
      </p:sp>
      <p:sp>
        <p:nvSpPr>
          <p:cNvPr id="25" name="Rectangle 24"/>
          <p:cNvSpPr/>
          <p:nvPr/>
        </p:nvSpPr>
        <p:spPr>
          <a:xfrm>
            <a:off x="9098051"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051" y="1472184"/>
            <a:ext cx="82296" cy="2279904"/>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Parallel-safe?</a:t>
            </a:r>
          </a:p>
        </p:txBody>
      </p:sp>
      <p:sp>
        <p:nvSpPr>
          <p:cNvPr id="28" name="TextBox 27"/>
          <p:cNvSpPr txBox="1"/>
          <p:nvPr/>
        </p:nvSpPr>
        <p:spPr>
          <a:xfrm>
            <a:off x="9372371"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If not, serialize it in the orchestrator.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Discover tools instead of preloading them</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notes/03-tool-design.md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Eagerly loaded tool definitions can take a large share of the window, so discover them on demand and append new ones.</a:t>
            </a:r>
          </a:p>
        </p:txBody>
      </p:sp>
      <p:sp>
        <p:nvSpPr>
          <p:cNvPr id="13" name="Rectangle 12"/>
          <p:cNvSpPr/>
          <p:nvPr/>
        </p:nvSpPr>
        <p:spPr>
          <a:xfrm>
            <a:off x="448056" y="1417320"/>
            <a:ext cx="6261948" cy="360726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i-ai-agents-in-depth-fig4-2-4409858695487288354.png"/>
          <p:cNvPicPr>
            <a:picLocks noChangeAspect="1"/>
          </p:cNvPicPr>
          <p:nvPr/>
        </p:nvPicPr>
        <p:blipFill>
          <a:blip r:embed="rId2"/>
          <a:stretch>
            <a:fillRect/>
          </a:stretch>
        </p:blipFill>
        <p:spPr>
          <a:xfrm>
            <a:off x="502920" y="1472184"/>
            <a:ext cx="6152220" cy="3497537"/>
          </a:xfrm>
          <a:prstGeom prst="rect">
            <a:avLst/>
          </a:prstGeom>
        </p:spPr>
      </p:pic>
      <p:sp>
        <p:nvSpPr>
          <p:cNvPr id="15" name="TextBox 14"/>
          <p:cNvSpPr txBox="1"/>
          <p:nvPr/>
        </p:nvSpPr>
        <p:spPr>
          <a:xfrm>
            <a:off x="502920" y="5106881"/>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Two-level matching, server then tool (Li, AI Agents in Depth, 2026, Apache-2.0)</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Five MCP servers: about </a:t>
            </a:r>
            <a:r>
              <a:rPr sz="1800" i="0" b="1">
                <a:solidFill>
                  <a:srgbClr val="1E293B"/>
                </a:solidFill>
                <a:latin typeface="Helvetica Neue"/>
              </a:rPr>
              <a:t>55K tokens</a:t>
            </a:r>
            <a:r>
              <a:rPr sz="1800" i="0" b="0">
                <a:solidFill>
                  <a:srgbClr val="1E293B"/>
                </a:solidFill>
                <a:latin typeface="Helvetica Neue"/>
              </a:rPr>
              <a:t>, roughly 30% of a 200K window, before the first message</a:t>
            </a:r>
          </a:p>
        </p:txBody>
      </p:sp>
      <p:sp>
        <p:nvSpPr>
          <p:cNvPr id="18" name="Rectangle 17"/>
          <p:cNvSpPr/>
          <p:nvPr/>
        </p:nvSpPr>
        <p:spPr>
          <a:xfrm>
            <a:off x="7020900" y="260146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514600"/>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Match server first, then tool; append schemas at the end and leave them pinned</a:t>
            </a:r>
          </a:p>
        </p:txBody>
      </p:sp>
      <p:sp>
        <p:nvSpPr>
          <p:cNvPr id="20" name="Rectangle 19"/>
          <p:cNvSpPr/>
          <p:nvPr/>
        </p:nvSpPr>
        <p:spPr>
          <a:xfrm>
            <a:off x="7020900" y="364388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3557016"/>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Dynamic discovery: Opus 4 </a:t>
            </a:r>
            <a:r>
              <a:rPr sz="1800" i="0" b="1">
                <a:solidFill>
                  <a:srgbClr val="1E293B"/>
                </a:solidFill>
                <a:latin typeface="Helvetica Neue"/>
              </a:rPr>
              <a:t>49% to 74%</a:t>
            </a:r>
            <a:r>
              <a:rPr sz="1800" i="0" b="0">
                <a:solidFill>
                  <a:srgbClr val="1E293B"/>
                </a:solidFill>
                <a:latin typeface="Helvetica Neue"/>
              </a:rPr>
              <a:t> on tool selection</a:t>
            </a:r>
          </a:p>
        </p:txBody>
      </p:sp>
      <p:sp>
        <p:nvSpPr>
          <p:cNvPr id="22" name="Rectangle 21"/>
          <p:cNvSpPr/>
          <p:nvPr/>
        </p:nvSpPr>
        <p:spPr>
          <a:xfrm>
            <a:off x="7020900" y="438454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4297680"/>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MCP-Zero: </a:t>
            </a:r>
            <a:r>
              <a:rPr sz="1800" i="0" b="1">
                <a:solidFill>
                  <a:srgbClr val="1E293B"/>
                </a:solidFill>
                <a:latin typeface="Helvetica Neue"/>
              </a:rPr>
              <a:t>~98% fewer tokens</a:t>
            </a:r>
            <a:r>
              <a:rPr sz="1800" i="0" b="0">
                <a:solidFill>
                  <a:srgbClr val="1E293B"/>
                </a:solidFill>
                <a:latin typeface="Helvetica Neue"/>
              </a:rPr>
              <a:t> across ~2,800 tools; Cursor's tool folder: </a:t>
            </a:r>
            <a:r>
              <a:rPr sz="1800" i="0" b="1">
                <a:solidFill>
                  <a:srgbClr val="1E293B"/>
                </a:solidFill>
                <a:latin typeface="Helvetica Neue"/>
              </a:rPr>
              <a:t>46.9%</a:t>
            </a:r>
            <a:r>
              <a:rPr sz="1800" i="0" b="0">
                <a:solidFill>
                  <a:srgbClr val="1E293B"/>
                </a:solidFill>
                <a:latin typeface="Helvetica Neue"/>
              </a:rPr>
              <a:t> fewer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skill description is routing logic</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notes/03-tool-design.md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Only a skill's name and description stay resident, so the description's job is deciding when the skill fires.</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Reads like documentation</a:t>
            </a:r>
          </a:p>
        </p:txBody>
      </p:sp>
      <p:sp>
        <p:nvSpPr>
          <p:cNvPr id="16" name="Rounded Rectangle 15"/>
          <p:cNvSpPr/>
          <p:nvPr/>
        </p:nvSpPr>
        <p:spPr>
          <a:xfrm>
            <a:off x="731520" y="2231136"/>
            <a:ext cx="4907127" cy="15697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59736"/>
            <a:ext cx="4449927" cy="1112520"/>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description: |</a:t>
            </a:r>
          </a:p>
          <a:p>
            <a:pPr algn="l">
              <a:lnSpc>
                <a:spcPct val="100000"/>
              </a:lnSpc>
            </a:pPr>
            <a:r>
              <a:rPr sz="1400" i="0" b="0">
                <a:solidFill>
                  <a:srgbClr val="E2E8F0"/>
                </a:solidFill>
                <a:latin typeface="Menlo"/>
              </a:rPr>
              <a:t>  Handles the complete deployment</a:t>
            </a:r>
          </a:p>
          <a:p>
            <a:pPr algn="l">
              <a:lnSpc>
                <a:spcPct val="100000"/>
              </a:lnSpc>
            </a:pPr>
            <a:r>
              <a:rPr sz="1400" i="0" b="0">
                <a:solidFill>
                  <a:srgbClr val="E2E8F0"/>
                </a:solidFill>
                <a:latin typeface="Menlo"/>
              </a:rPr>
              <a:t>  process to production: environment</a:t>
            </a:r>
          </a:p>
          <a:p>
            <a:pPr algn="l">
              <a:lnSpc>
                <a:spcPct val="100000"/>
              </a:lnSpc>
            </a:pPr>
            <a:r>
              <a:rPr sz="1400" i="0" b="0">
                <a:solidFill>
                  <a:srgbClr val="E2E8F0"/>
                </a:solidFill>
                <a:latin typeface="Menlo"/>
              </a:rPr>
              <a:t>  checks, rollback, post-deploy</a:t>
            </a:r>
          </a:p>
          <a:p>
            <a:pPr algn="l">
              <a:lnSpc>
                <a:spcPct val="100000"/>
              </a:lnSpc>
            </a:pPr>
            <a:r>
              <a:rPr sz="1400" i="0" b="0">
                <a:solidFill>
                  <a:srgbClr val="E2E8F0"/>
                </a:solidFill>
                <a:latin typeface="Menlo"/>
              </a:rPr>
              <a:t>  verification. Use before deploying.</a:t>
            </a:r>
          </a:p>
        </p:txBody>
      </p:sp>
      <p:sp>
        <p:nvSpPr>
          <p:cNvPr id="18" name="Rectangle 17"/>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Decides when to fire</a:t>
            </a:r>
          </a:p>
        </p:txBody>
      </p:sp>
      <p:sp>
        <p:nvSpPr>
          <p:cNvPr id="21" name="Rounded Rectangle 20"/>
          <p:cNvSpPr/>
          <p:nvPr/>
        </p:nvSpPr>
        <p:spPr>
          <a:xfrm>
            <a:off x="6507327" y="2231136"/>
            <a:ext cx="4907127" cy="9296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5927" y="2459736"/>
            <a:ext cx="4449927" cy="472439"/>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description: Use when deploying</a:t>
            </a:r>
          </a:p>
          <a:p>
            <a:pPr algn="l">
              <a:lnSpc>
                <a:spcPct val="100000"/>
              </a:lnSpc>
            </a:pPr>
            <a:r>
              <a:rPr sz="1400" i="0" b="0">
                <a:solidFill>
                  <a:srgbClr val="E2E8F0"/>
                </a:solidFill>
                <a:latin typeface="Menlo"/>
              </a:rPr>
              <a:t>  to production or rolling back.</a:t>
            </a:r>
          </a:p>
        </p:txBody>
      </p:sp>
      <p:sp>
        <p:nvSpPr>
          <p:cNvPr id="23" name="Rectangle 2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Add when not to fire, and what instead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Match the enforcement to the cost of being wrong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Enforcement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notes/04-execution-boundaries.md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 </a:t>
            </a:r>
            <a:r>
              <a:rPr sz="1530" i="0" b="0">
                <a:solidFill>
                  <a:srgbClr val="0F7490"/>
                </a:solidFill>
                <a:latin typeface="Menlo"/>
              </a:rPr>
              <a:t>CLAUDE.md</a:t>
            </a:r>
            <a:r>
              <a:rPr sz="1700" i="0" b="0">
                <a:solidFill>
                  <a:srgbClr val="475569"/>
                </a:solidFill>
                <a:latin typeface="Helvetica Neue"/>
              </a:rPr>
              <a:t> line is a request the model can ignore. A pre-tool-use hook is a rule it cannot.</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An instruction is a request and a hook is a rule, so anything that must hold every time belongs in a hook or a permission.</a:t>
            </a:r>
          </a:p>
        </p:txBody>
      </p:sp>
      <p:graphicFrame>
        <p:nvGraphicFramePr>
          <p:cNvPr id="14" name="Table 13"/>
          <p:cNvGraphicFramePr>
            <a:graphicFrameLocks noGrp="1"/>
          </p:cNvGraphicFramePr>
          <p:nvPr/>
        </p:nvGraphicFramePr>
        <p:xfrm>
          <a:off x="502920" y="1985772"/>
          <a:ext cx="11185854" cy="2139696"/>
        </p:xfrm>
        <a:graphic>
          <a:graphicData uri="http://schemas.openxmlformats.org/drawingml/2006/table">
            <a:tbl>
              <a:tblPr firstRow="1" bandRow="1">
                <a:tableStyleId>{5940675A-B579-460E-94D1-54222C63F5DA}</a:tableStyleId>
              </a:tblPr>
              <a:tblGrid>
                <a:gridCol w="2237171"/>
                <a:gridCol w="4026907"/>
                <a:gridCol w="4921776"/>
              </a:tblGrid>
              <a:tr h="405384">
                <a:tc>
                  <a:txBody>
                    <a:bodyPr wrap="square"/>
                    <a:lstStyle/>
                    <a:p>
                      <a:pPr>
                        <a:lnSpc>
                          <a:spcPct val="100000"/>
                        </a:lnSpc>
                      </a:pPr>
                      <a:r>
                        <a:rPr sz="1700" i="0" b="1">
                          <a:solidFill>
                            <a:srgbClr val="FFFFFF"/>
                          </a:solidFill>
                          <a:latin typeface="Helvetica Neue"/>
                        </a:rPr>
                        <a:t>Bucket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Enforcement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Example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Always do</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Instruction in </a:t>
                      </a:r>
                      <a:r>
                        <a:rPr sz="1530" i="0" b="0">
                          <a:solidFill>
                            <a:srgbClr val="0F7490"/>
                          </a:solidFill>
                          <a:latin typeface="Menlo"/>
                        </a:rPr>
                        <a:t>AGENTS.md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Run the formatter before committing</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Ask first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Permission gate or HITL confirmation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Add a dependency, change a schema</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Never do</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Hook or permission deny, never a sentence</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Write </a:t>
                      </a:r>
                      <a:r>
                        <a:rPr sz="1530" i="0" b="0">
                          <a:solidFill>
                            <a:srgbClr val="0F7490"/>
                          </a:solidFill>
                          <a:latin typeface="Menlo"/>
                        </a:rPr>
                        <a:t>.env</a:t>
                      </a:r>
                      <a:r>
                        <a:rPr sz="1700" i="0" b="0">
                          <a:solidFill>
                            <a:srgbClr val="475569"/>
                          </a:solidFill>
                          <a:latin typeface="Helvetica Neue"/>
                        </a:rPr>
                        <a:t>, force-push</a:t>
                      </a:r>
                    </a:p>
                  </a:txBody>
                  <a:tcPr marL="109728" marR="109728" marT="54864" marB="54864" anchor="ctr">
                    <a:solidFill>
                      <a:srgbClr val="E8F4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Climb the isolation ladder to match the risk</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sandbox</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notes/04-execution-boundaries.md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 virtualenv isolates dependencies and not effects, so real isolation starts at the OS level and pairs every rung with quotas.</a:t>
            </a:r>
          </a:p>
        </p:txBody>
      </p:sp>
      <p:sp>
        <p:nvSpPr>
          <p:cNvPr id="13" name="Rectangle 12"/>
          <p:cNvSpPr/>
          <p:nvPr/>
        </p:nvSpPr>
        <p:spPr>
          <a:xfrm>
            <a:off x="1645920" y="1472184"/>
            <a:ext cx="10042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10512" y="1704213"/>
            <a:ext cx="457200" cy="457200"/>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10512" y="170421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a:t>
            </a:r>
          </a:p>
        </p:txBody>
      </p:sp>
      <p:sp>
        <p:nvSpPr>
          <p:cNvPr id="16" name="TextBox 15"/>
          <p:cNvSpPr txBox="1"/>
          <p:nvPr/>
        </p:nvSpPr>
        <p:spPr>
          <a:xfrm>
            <a:off x="2468879" y="1472184"/>
            <a:ext cx="9037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venv</a:t>
            </a:r>
            <a:r>
              <a:rPr sz="1800" i="0" b="0">
                <a:solidFill>
                  <a:srgbClr val="475569"/>
                </a:solidFill>
                <a:latin typeface="Helvetica Neue"/>
              </a:rPr>
              <a:t> — not on the ladder: isolates dependencies, not effects</a:t>
            </a:r>
          </a:p>
        </p:txBody>
      </p:sp>
      <p:sp>
        <p:nvSpPr>
          <p:cNvPr id="17" name="Rectangle 16"/>
          <p:cNvSpPr/>
          <p:nvPr/>
        </p:nvSpPr>
        <p:spPr>
          <a:xfrm>
            <a:off x="1645920" y="2503170"/>
            <a:ext cx="10042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10512" y="2735199"/>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273519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20" name="TextBox 19"/>
          <p:cNvSpPr txBox="1"/>
          <p:nvPr/>
        </p:nvSpPr>
        <p:spPr>
          <a:xfrm>
            <a:off x="2468879" y="2503170"/>
            <a:ext cx="9037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OS-level</a:t>
            </a:r>
            <a:r>
              <a:rPr sz="1800" i="0" b="0">
                <a:solidFill>
                  <a:srgbClr val="475569"/>
                </a:solidFill>
                <a:latin typeface="Helvetica Neue"/>
              </a:rPr>
              <a:t> — macOS Seatbelt, Linux seccomp or Landlock</a:t>
            </a:r>
          </a:p>
        </p:txBody>
      </p:sp>
      <p:sp>
        <p:nvSpPr>
          <p:cNvPr id="21" name="Rectangle 20"/>
          <p:cNvSpPr/>
          <p:nvPr/>
        </p:nvSpPr>
        <p:spPr>
          <a:xfrm>
            <a:off x="1645920" y="3534156"/>
            <a:ext cx="10042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10512" y="3766185"/>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0512" y="3766185"/>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4" name="TextBox 23"/>
          <p:cNvSpPr txBox="1"/>
          <p:nvPr/>
        </p:nvSpPr>
        <p:spPr>
          <a:xfrm>
            <a:off x="2468879" y="3534156"/>
            <a:ext cx="9037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Container</a:t>
            </a:r>
            <a:r>
              <a:rPr sz="1800" i="0" b="0">
                <a:solidFill>
                  <a:srgbClr val="475569"/>
                </a:solidFill>
                <a:latin typeface="Helvetica Neue"/>
              </a:rPr>
              <a:t> — process, filesystem and network namespaces</a:t>
            </a:r>
          </a:p>
        </p:txBody>
      </p:sp>
      <p:sp>
        <p:nvSpPr>
          <p:cNvPr id="25" name="Rectangle 24"/>
          <p:cNvSpPr/>
          <p:nvPr/>
        </p:nvSpPr>
        <p:spPr>
          <a:xfrm>
            <a:off x="1645920" y="4565142"/>
            <a:ext cx="10042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10512" y="4797171"/>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10512" y="479717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8" name="TextBox 27"/>
          <p:cNvSpPr txBox="1"/>
          <p:nvPr/>
        </p:nvSpPr>
        <p:spPr>
          <a:xfrm>
            <a:off x="2468879" y="4565142"/>
            <a:ext cx="9037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microVM</a:t>
            </a:r>
            <a:r>
              <a:rPr sz="1800" i="0" b="0">
                <a:solidFill>
                  <a:srgbClr val="475569"/>
                </a:solidFill>
                <a:latin typeface="Helvetica Neue"/>
              </a:rPr>
              <a:t> — Firecracker-class, for untrusted code and production agents</a:t>
            </a:r>
          </a:p>
        </p:txBody>
      </p:sp>
      <p:sp>
        <p:nvSpPr>
          <p:cNvPr id="29" name="TextBox 28"/>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stronger isolation ↓</a:t>
            </a:r>
          </a:p>
        </p:txBody>
      </p:sp>
      <p:cxnSp>
        <p:nvCxnSpPr>
          <p:cNvPr id="30" name="Connector 29"/>
          <p:cNvCxnSpPr/>
          <p:nvPr/>
        </p:nvCxnSpPr>
        <p:spPr>
          <a:xfrm>
            <a:off x="1005840" y="2066544"/>
            <a:ext cx="0" cy="332841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Hooks stay silent on success and loud on failure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Feedback</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notes/04-execution-boundaries.md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hook that speaks only on failure teaches within one step, while one that announces every pass trains the model to skim.</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Announces every pass</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Burns tokens on every edit</a:t>
            </a:r>
          </a:p>
        </p:txBody>
      </p:sp>
      <p:sp>
        <p:nvSpPr>
          <p:cNvPr id="18" name="Rectangle 17"/>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Trains the model to skim hook output</a:t>
            </a:r>
          </a:p>
        </p:txBody>
      </p:sp>
      <p:sp>
        <p:nvSpPr>
          <p:cNvPr id="20" name="Rectangle 19"/>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one real failure is lost in noise</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Low signal</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Speaks only on failure</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Full error, file and line</a:t>
            </a:r>
          </a:p>
        </p:txBody>
      </p:sp>
      <p:sp>
        <p:nvSpPr>
          <p:cNvPr id="29" name="Rectangle 28"/>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agent learns within </a:t>
            </a:r>
            <a:r>
              <a:rPr sz="1700" i="0" b="1">
                <a:solidFill>
                  <a:srgbClr val="1E293B"/>
                </a:solidFill>
                <a:latin typeface="Helvetica Neue"/>
              </a:rPr>
              <a:t>one step</a:t>
            </a:r>
          </a:p>
        </p:txBody>
      </p:sp>
      <p:sp>
        <p:nvSpPr>
          <p:cNvPr id="31" name="Rectangle 30"/>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Typecheck and lint become back-pressure</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High-signal channel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Guard at each point where trust changes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Guardrails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What it may touch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notes/04-execution-boundaries.md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Treat model-written tool inputs as semi-trusted, and validate them against the schema as you would an external request.</a:t>
            </a:r>
          </a:p>
        </p:txBody>
      </p:sp>
      <p:sp>
        <p:nvSpPr>
          <p:cNvPr id="13" name="Rectangle 12"/>
          <p:cNvSpPr/>
          <p:nvPr/>
        </p:nvSpPr>
        <p:spPr>
          <a:xfrm>
            <a:off x="1715317" y="1417320"/>
            <a:ext cx="3727425"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ntext-engineering-multi-agent-systems-fig8-2-8912167443764072630.jpg"/>
          <p:cNvPicPr>
            <a:picLocks noChangeAspect="1"/>
          </p:cNvPicPr>
          <p:nvPr/>
        </p:nvPicPr>
        <p:blipFill>
          <a:blip r:embed="rId2"/>
          <a:stretch>
            <a:fillRect/>
          </a:stretch>
        </p:blipFill>
        <p:spPr>
          <a:xfrm>
            <a:off x="1770181" y="1472184"/>
            <a:ext cx="3617697" cy="3602735"/>
          </a:xfrm>
          <a:prstGeom prst="rect">
            <a:avLst/>
          </a:prstGeom>
        </p:spPr>
      </p:pic>
      <p:sp>
        <p:nvSpPr>
          <p:cNvPr id="15" name="TextBox 14"/>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Two-stage moderation (Rothman, Context Engineering for Multi-Agent Systems, Fig. 8.2)</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Five layers: pre-input, pre-retrieval, pre-generate, post-generate, escalation</a:t>
            </a:r>
          </a:p>
        </p:txBody>
      </p:sp>
      <p:sp>
        <p:nvSpPr>
          <p:cNvPr id="18" name="Rectangle 17"/>
          <p:cNvSpPr/>
          <p:nvPr/>
        </p:nvSpPr>
        <p:spPr>
          <a:xfrm>
            <a:off x="7020900" y="260146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51460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Each guardrail lives in the component it protects</a:t>
            </a:r>
          </a:p>
        </p:txBody>
      </p:sp>
      <p:sp>
        <p:nvSpPr>
          <p:cNvPr id="20" name="Rectangle 19"/>
          <p:cNvSpPr/>
          <p:nvPr/>
        </p:nvSpPr>
        <p:spPr>
          <a:xfrm>
            <a:off x="7020900" y="334213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325526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Tool inputs are model-written, so they are </a:t>
            </a:r>
            <a:r>
              <a:rPr sz="1800" i="0" b="1">
                <a:solidFill>
                  <a:srgbClr val="1E293B"/>
                </a:solidFill>
                <a:latin typeface="Helvetica Neue"/>
              </a:rPr>
              <a:t>semi-trusted</a:t>
            </a:r>
          </a:p>
        </p:txBody>
      </p:sp>
      <p:sp>
        <p:nvSpPr>
          <p:cNvPr id="22" name="Rectangle 21"/>
          <p:cNvSpPr/>
          <p:nvPr/>
        </p:nvSpPr>
        <p:spPr>
          <a:xfrm>
            <a:off x="7020900" y="408279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0940" y="399592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Validate them against the schema like an external request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How it knows it is done</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Three layers of checks · A separate evaluator · One feature at a time · Ceilings</a:t>
            </a:r>
          </a:p>
        </p:txBody>
      </p:sp>
      <p:cxnSp>
        <p:nvCxnSpPr>
          <p:cNvPr id="6" name="Connector 5"/>
          <p:cNvCxnSpPr/>
          <p:nvPr/>
        </p:nvCxnSpPr>
        <p:spPr>
          <a:xfrm>
            <a:off x="6446520" y="1475105"/>
            <a:ext cx="0" cy="39077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475105"/>
            <a:ext cx="4693615" cy="409067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Agents grade their own work generously</a:t>
            </a:r>
          </a:p>
          <a:p>
            <a:pPr algn="l">
              <a:lnSpc>
                <a:spcPct val="100000"/>
              </a:lnSpc>
              <a:spcBef>
                <a:spcPts val="1189"/>
              </a:spcBef>
            </a:pPr>
            <a:r>
              <a:rPr sz="1700" i="0" b="0">
                <a:solidFill>
                  <a:srgbClr val="CBD5E1"/>
                </a:solidFill>
                <a:latin typeface="Helvetica Neue"/>
              </a:rPr>
              <a:t>Three layers of checks before anything is done</a:t>
            </a:r>
          </a:p>
          <a:p>
            <a:pPr algn="l">
              <a:lnSpc>
                <a:spcPct val="100000"/>
              </a:lnSpc>
              <a:spcBef>
                <a:spcPts val="1189"/>
              </a:spcBef>
            </a:pPr>
            <a:r>
              <a:rPr sz="1700" i="0" b="0">
                <a:solidFill>
                  <a:srgbClr val="CBD5E1"/>
                </a:solidFill>
                <a:latin typeface="Helvetica Neue"/>
              </a:rPr>
              <a:t>Separate the builder from the judge</a:t>
            </a:r>
          </a:p>
          <a:p>
            <a:pPr algn="l">
              <a:lnSpc>
                <a:spcPct val="100000"/>
              </a:lnSpc>
              <a:spcBef>
                <a:spcPts val="1189"/>
              </a:spcBef>
            </a:pPr>
            <a:r>
              <a:rPr sz="1700" i="0" b="0">
                <a:solidFill>
                  <a:srgbClr val="CBD5E1"/>
                </a:solidFill>
                <a:latin typeface="Helvetica Neue"/>
              </a:rPr>
              <a:t>An observer checks claims against the record</a:t>
            </a:r>
          </a:p>
          <a:p>
            <a:pPr algn="l">
              <a:lnSpc>
                <a:spcPct val="100000"/>
              </a:lnSpc>
              <a:spcBef>
                <a:spcPts val="1189"/>
              </a:spcBef>
            </a:pPr>
            <a:r>
              <a:rPr sz="1700" i="0" b="0">
                <a:solidFill>
                  <a:srgbClr val="CBD5E1"/>
                </a:solidFill>
                <a:latin typeface="Helvetica Neue"/>
              </a:rPr>
              <a:t>Write the sprint contract before the work</a:t>
            </a:r>
          </a:p>
          <a:p>
            <a:pPr algn="l">
              <a:lnSpc>
                <a:spcPct val="100000"/>
              </a:lnSpc>
              <a:spcBef>
                <a:spcPts val="1189"/>
              </a:spcBef>
            </a:pPr>
            <a:r>
              <a:rPr sz="1700" i="0" b="0">
                <a:solidFill>
                  <a:srgbClr val="CBD5E1"/>
                </a:solidFill>
                <a:latin typeface="Helvetica Neue"/>
              </a:rPr>
              <a:t>One feature at a time, passed only by evidence</a:t>
            </a:r>
          </a:p>
          <a:p>
            <a:pPr algn="l">
              <a:lnSpc>
                <a:spcPct val="100000"/>
              </a:lnSpc>
              <a:spcBef>
                <a:spcPts val="1189"/>
              </a:spcBef>
            </a:pPr>
            <a:r>
              <a:rPr sz="1700" i="0" b="0">
                <a:solidFill>
                  <a:srgbClr val="CBD5E1"/>
                </a:solidFill>
                <a:latin typeface="Helvetica Neue"/>
              </a:rPr>
              <a:t>Not every failure is worth retrying</a:t>
            </a:r>
          </a:p>
          <a:p>
            <a:pPr algn="l">
              <a:lnSpc>
                <a:spcPct val="100000"/>
              </a:lnSpc>
              <a:spcBef>
                <a:spcPts val="1189"/>
              </a:spcBef>
            </a:pPr>
            <a:r>
              <a:rPr sz="1700" i="0" b="0">
                <a:solidFill>
                  <a:srgbClr val="CBD5E1"/>
                </a:solidFill>
                <a:latin typeface="Helvetica Neue"/>
              </a:rPr>
              <a:t>Every recovery path needs a ceiling</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Agents grade their own work generously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How it knows it is done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notes/05-verification-loops.md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The harness question is rarely whether it is cheaper, since 20 times the cost can be the difference between broken and working.</a:t>
            </a:r>
          </a:p>
        </p:txBody>
      </p:sp>
      <p:sp>
        <p:nvSpPr>
          <p:cNvPr id="13" name="Rectangle 12"/>
          <p:cNvSpPr/>
          <p:nvPr/>
        </p:nvSpPr>
        <p:spPr>
          <a:xfrm>
            <a:off x="777240" y="2299716"/>
            <a:ext cx="109728" cy="235915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Solo run: 20 minutes, $9, core gameplay broken. Full harness: 6 hours, $200, a working game.</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Anthropic's generator and evaluator harness on one game brief (notes/05)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Three layers of checks before anything is done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Termination</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How it knows it is done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notes/05-verification-loops.md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Do not run a later layer while an earlier one fails, and treat skipping a required layer as not done.</a:t>
            </a:r>
          </a:p>
        </p:txBody>
      </p:sp>
      <p:sp>
        <p:nvSpPr>
          <p:cNvPr id="13" name="Rectangle 12"/>
          <p:cNvSpPr/>
          <p:nvPr/>
        </p:nvSpPr>
        <p:spPr>
          <a:xfrm>
            <a:off x="1645920" y="1472184"/>
            <a:ext cx="10042855" cy="1264919"/>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810512" y="187604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10512" y="187604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2468879" y="1472184"/>
            <a:ext cx="9037015" cy="1264919"/>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Static</a:t>
            </a:r>
            <a:r>
              <a:rPr sz="1800" i="0" b="0">
                <a:solidFill>
                  <a:srgbClr val="475569"/>
                </a:solidFill>
                <a:latin typeface="Helvetica Neue"/>
              </a:rPr>
              <a:t> — syntax, types, lint, architecture rules. It is well-formed</a:t>
            </a:r>
          </a:p>
        </p:txBody>
      </p:sp>
      <p:sp>
        <p:nvSpPr>
          <p:cNvPr id="17" name="Rectangle 16"/>
          <p:cNvSpPr/>
          <p:nvPr/>
        </p:nvSpPr>
        <p:spPr>
          <a:xfrm>
            <a:off x="1645920" y="2846832"/>
            <a:ext cx="10042855" cy="1264919"/>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10512" y="3250691"/>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2468879" y="2846832"/>
            <a:ext cx="9037015" cy="1264919"/>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Runtime</a:t>
            </a:r>
            <a:r>
              <a:rPr sz="1800" i="0" b="0">
                <a:solidFill>
                  <a:srgbClr val="475569"/>
                </a:solidFill>
                <a:latin typeface="Helvetica Neue"/>
              </a:rPr>
              <a:t> — tests run, app reaches ready, side effects correct. It runs</a:t>
            </a:r>
          </a:p>
        </p:txBody>
      </p:sp>
      <p:sp>
        <p:nvSpPr>
          <p:cNvPr id="21" name="Rectangle 20"/>
          <p:cNvSpPr/>
          <p:nvPr/>
        </p:nvSpPr>
        <p:spPr>
          <a:xfrm>
            <a:off x="1645920" y="4221480"/>
            <a:ext cx="10042855" cy="1264919"/>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10512" y="4625339"/>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0512" y="462533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4" name="TextBox 23"/>
          <p:cNvSpPr txBox="1"/>
          <p:nvPr/>
        </p:nvSpPr>
        <p:spPr>
          <a:xfrm>
            <a:off x="2468879" y="4221480"/>
            <a:ext cx="9037015" cy="1264919"/>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System</a:t>
            </a:r>
            <a:r>
              <a:rPr sz="1800" i="0" b="0">
                <a:solidFill>
                  <a:srgbClr val="475569"/>
                </a:solidFill>
                <a:latin typeface="Helvetica Neue"/>
              </a:rPr>
              <a:t> — end to end as a user drives it, real dependencies. It is correct</a:t>
            </a:r>
          </a:p>
        </p:txBody>
      </p:sp>
      <p:sp>
        <p:nvSpPr>
          <p:cNvPr id="25" name="TextBox 24"/>
          <p:cNvSpPr txBox="1"/>
          <p:nvPr/>
        </p:nvSpPr>
        <p:spPr>
          <a:xfrm>
            <a:off x="502920" y="1472184"/>
            <a:ext cx="1005840" cy="502920"/>
          </a:xfrm>
          <a:prstGeom prst="rect">
            <a:avLst/>
          </a:prstGeom>
          <a:noFill/>
        </p:spPr>
        <p:txBody>
          <a:bodyPr wrap="square" lIns="0" rIns="0" tIns="0" bIns="0" anchor="b">
            <a:noAutofit/>
          </a:bodyPr>
          <a:lstStyle/>
          <a:p>
            <a:pPr algn="ctr">
              <a:lnSpc>
                <a:spcPct val="110000"/>
              </a:lnSpc>
            </a:pPr>
            <a:r>
              <a:rPr sz="1200" i="1" b="0">
                <a:solidFill>
                  <a:srgbClr val="94A3B8"/>
                </a:solidFill>
                <a:latin typeface="Helvetica Neue"/>
              </a:rPr>
              <a:t>cheap</a:t>
            </a:r>
          </a:p>
        </p:txBody>
      </p:sp>
      <p:sp>
        <p:nvSpPr>
          <p:cNvPr id="26" name="TextBox 25"/>
          <p:cNvSpPr txBox="1"/>
          <p:nvPr/>
        </p:nvSpPr>
        <p:spPr>
          <a:xfrm>
            <a:off x="502920" y="4983480"/>
            <a:ext cx="1005840" cy="50292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convincing</a:t>
            </a:r>
          </a:p>
        </p:txBody>
      </p:sp>
      <p:cxnSp>
        <p:nvCxnSpPr>
          <p:cNvPr id="27" name="Connector 26"/>
          <p:cNvCxnSpPr/>
          <p:nvPr/>
        </p:nvCxnSpPr>
        <p:spPr>
          <a:xfrm>
            <a:off x="1005840" y="2066544"/>
            <a:ext cx="0" cy="2825496"/>
          </a:xfrm>
          <a:prstGeom prst="line">
            <a:avLst/>
          </a:prstGeom>
          <a:ln w="2857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Separate the builder from the judge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split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How it knows it is done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notes/05-verification-loops.md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generator judging itself agrees with itself, so a separate evaluator that drives the running app does the checking.</a:t>
            </a:r>
          </a:p>
        </p:txBody>
      </p:sp>
      <p:sp>
        <p:nvSpPr>
          <p:cNvPr id="13" name="Rounded Rectangle 12"/>
          <p:cNvSpPr/>
          <p:nvPr/>
        </p:nvSpPr>
        <p:spPr>
          <a:xfrm>
            <a:off x="202676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392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Planner</a:t>
            </a:r>
          </a:p>
          <a:p>
            <a:pPr algn="ctr">
              <a:lnSpc>
                <a:spcPct val="110000"/>
              </a:lnSpc>
            </a:pPr>
            <a:r>
              <a:rPr sz="1300" i="0" b="0">
                <a:solidFill>
                  <a:srgbClr val="E8F4F8"/>
                </a:solidFill>
                <a:latin typeface="Helvetica Neue"/>
              </a:rPr>
              <a:t>brief to full spec</a:t>
            </a:r>
          </a:p>
        </p:txBody>
      </p:sp>
      <p:cxnSp>
        <p:nvCxnSpPr>
          <p:cNvPr id="15" name="Connector 14"/>
          <p:cNvCxnSpPr/>
          <p:nvPr/>
        </p:nvCxnSpPr>
        <p:spPr>
          <a:xfrm>
            <a:off x="445907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0712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428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Generator</a:t>
            </a:r>
          </a:p>
          <a:p>
            <a:pPr algn="ctr">
              <a:lnSpc>
                <a:spcPct val="110000"/>
              </a:lnSpc>
            </a:pPr>
            <a:r>
              <a:rPr sz="1300" i="0" b="0">
                <a:solidFill>
                  <a:srgbClr val="E8F4F8"/>
                </a:solidFill>
                <a:latin typeface="Helvetica Neue"/>
              </a:rPr>
              <a:t>builds per feature</a:t>
            </a:r>
          </a:p>
        </p:txBody>
      </p:sp>
      <p:cxnSp>
        <p:nvCxnSpPr>
          <p:cNvPr id="18" name="Connector 17"/>
          <p:cNvCxnSpPr/>
          <p:nvPr/>
        </p:nvCxnSpPr>
        <p:spPr>
          <a:xfrm>
            <a:off x="733943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8748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464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Evaluator</a:t>
            </a:r>
          </a:p>
          <a:p>
            <a:pPr algn="ctr">
              <a:lnSpc>
                <a:spcPct val="110000"/>
              </a:lnSpc>
            </a:pPr>
            <a:r>
              <a:rPr sz="1300" i="0" b="0">
                <a:solidFill>
                  <a:srgbClr val="E8F4F8"/>
                </a:solidFill>
                <a:latin typeface="Helvetica Neue"/>
              </a:rPr>
              <a:t>drives the running app</a:t>
            </a:r>
          </a:p>
        </p:txBody>
      </p:sp>
      <p:cxnSp>
        <p:nvCxnSpPr>
          <p:cNvPr id="21" name="Connector 20"/>
          <p:cNvCxnSpPr/>
          <p:nvPr/>
        </p:nvCxnSpPr>
        <p:spPr>
          <a:xfrm>
            <a:off x="8976207" y="2551176"/>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215487" y="2962656"/>
            <a:ext cx="576072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215487" y="2587752"/>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15487" y="2999232"/>
            <a:ext cx="576072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revise until every criterion clears its bar</a:t>
            </a:r>
          </a:p>
        </p:txBody>
      </p:sp>
      <p:sp>
        <p:nvSpPr>
          <p:cNvPr id="25" name="Rectangle 24"/>
          <p:cNvSpPr/>
          <p:nvPr/>
        </p:nvSpPr>
        <p:spPr>
          <a:xfrm>
            <a:off x="502920" y="3785869"/>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694176"/>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Browser DAW: </a:t>
            </a:r>
            <a:r>
              <a:rPr sz="1900" i="0" b="1">
                <a:solidFill>
                  <a:srgbClr val="1E293B"/>
                </a:solidFill>
                <a:latin typeface="Helvetica Neue"/>
              </a:rPr>
              <a:t>$124.70</a:t>
            </a:r>
            <a:r>
              <a:rPr sz="1900" i="0" b="0">
                <a:solidFill>
                  <a:srgbClr val="1E293B"/>
                </a:solidFill>
                <a:latin typeface="Helvetica Neue"/>
              </a:rPr>
              <a:t> total, QA rounds </a:t>
            </a:r>
            <a:r>
              <a:rPr sz="1900" i="0" b="1">
                <a:solidFill>
                  <a:srgbClr val="1E293B"/>
                </a:solidFill>
                <a:latin typeface="Helvetica Neue"/>
              </a:rPr>
              <a:t>$10</a:t>
            </a:r>
            <a:r>
              <a:rPr sz="1900" i="0" b="0">
                <a:solidFill>
                  <a:srgbClr val="1E293B"/>
                </a:solidFill>
                <a:latin typeface="Helvetica Neue"/>
              </a:rPr>
              <a:t>, and QA caught presentational-only features</a:t>
            </a:r>
          </a:p>
        </p:txBody>
      </p:sp>
      <p:sp>
        <p:nvSpPr>
          <p:cNvPr id="27" name="Rectangle 26"/>
          <p:cNvSpPr/>
          <p:nvPr/>
        </p:nvSpPr>
        <p:spPr>
          <a:xfrm>
            <a:off x="502920" y="4249166"/>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157472"/>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Same model checking itself gives confident agreement, so use a separate evaluator</a:t>
            </a:r>
          </a:p>
        </p:txBody>
      </p:sp>
      <p:sp>
        <p:nvSpPr>
          <p:cNvPr id="29" name="Rectangle 28"/>
          <p:cNvSpPr/>
          <p:nvPr/>
        </p:nvSpPr>
        <p:spPr>
          <a:xfrm>
            <a:off x="502920" y="4712462"/>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620768"/>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The evaluator needs calibrating too, with hard thresholds per dimension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An observer checks claims against the record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How it knows it is done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notes/05-verification-loops.md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An agent's report is only a claim, so verification compares it against the recorded state of the world.</a:t>
            </a:r>
          </a:p>
        </p:txBody>
      </p:sp>
      <p:sp>
        <p:nvSpPr>
          <p:cNvPr id="13" name="Rectangle 12"/>
          <p:cNvSpPr/>
          <p:nvPr/>
        </p:nvSpPr>
        <p:spPr>
          <a:xfrm>
            <a:off x="448056" y="1417320"/>
            <a:ext cx="6261948" cy="160670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ldor-gemini-argon-minecraft-fig14.png"/>
          <p:cNvPicPr>
            <a:picLocks noChangeAspect="1"/>
          </p:cNvPicPr>
          <p:nvPr/>
        </p:nvPicPr>
        <p:blipFill>
          <a:blip r:embed="rId2"/>
          <a:stretch>
            <a:fillRect/>
          </a:stretch>
        </p:blipFill>
        <p:spPr>
          <a:xfrm>
            <a:off x="502920" y="1472184"/>
            <a:ext cx="6152220" cy="1496979"/>
          </a:xfrm>
          <a:prstGeom prst="rect">
            <a:avLst/>
          </a:prstGeom>
        </p:spPr>
      </p:pic>
      <p:sp>
        <p:nvSpPr>
          <p:cNvPr id="15" name="TextBox 14"/>
          <p:cNvSpPr txBox="1"/>
          <p:nvPr/>
        </p:nvSpPr>
        <p:spPr>
          <a:xfrm>
            <a:off x="502920" y="3106323"/>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A claim of 14 banked Ender Eyes, retracted when the script branch was found (Faldor et al., 2026)</a:t>
            </a:r>
          </a:p>
        </p:txBody>
      </p:sp>
      <p:sp>
        <p:nvSpPr>
          <p:cNvPr id="16" name="Rectangle 15"/>
          <p:cNvSpPr/>
          <p:nvPr/>
        </p:nvSpPr>
        <p:spPr>
          <a:xfrm>
            <a:off x="7020900" y="15590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An agent announced 14 Ender Eyes banked, then retracted</a:t>
            </a:r>
          </a:p>
        </p:txBody>
      </p:sp>
      <p:sp>
        <p:nvSpPr>
          <p:cNvPr id="18" name="Rectangle 17"/>
          <p:cNvSpPr/>
          <p:nvPr/>
        </p:nvSpPr>
        <p:spPr>
          <a:xfrm>
            <a:off x="7020900" y="229971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message came from an unguarded script branch</a:t>
            </a:r>
          </a:p>
        </p:txBody>
      </p:sp>
      <p:sp>
        <p:nvSpPr>
          <p:cNvPr id="20" name="Rectangle 19"/>
          <p:cNvSpPr/>
          <p:nvPr/>
        </p:nvSpPr>
        <p:spPr>
          <a:xfrm>
            <a:off x="7020900" y="304038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Agent prose is a claim, so check it against what actually happened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Write the sprint contract before the work</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How it knows it is done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notes/05-verification-loops.md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Agreeing scope, verification and exclusions before work starts stops both the builder and the judge from moving the goalposts.</a:t>
            </a:r>
          </a:p>
        </p:txBody>
      </p:sp>
      <p:sp>
        <p:nvSpPr>
          <p:cNvPr id="13" name="Rounded Rectangle 12"/>
          <p:cNvSpPr/>
          <p:nvPr/>
        </p:nvSpPr>
        <p:spPr>
          <a:xfrm>
            <a:off x="502920" y="1472184"/>
            <a:ext cx="6711513"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MARKDOWN</a:t>
            </a:r>
          </a:p>
        </p:txBody>
      </p:sp>
      <p:sp>
        <p:nvSpPr>
          <p:cNvPr id="15" name="TextBox 14"/>
          <p:cNvSpPr txBox="1"/>
          <p:nvPr/>
        </p:nvSpPr>
        <p:spPr>
          <a:xfrm>
            <a:off x="731520" y="1883664"/>
            <a:ext cx="6254313"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Scope</a:t>
            </a:r>
          </a:p>
          <a:p>
            <a:pPr algn="l">
              <a:lnSpc>
                <a:spcPct val="100000"/>
              </a:lnSpc>
            </a:pPr>
            <a:r>
              <a:rPr sz="1600" i="0" b="0">
                <a:solidFill>
                  <a:srgbClr val="E2E8F0"/>
                </a:solidFill>
                <a:latin typeface="Menlo"/>
              </a:rPr>
              <a:t>theme toggle, global CSS variables,</a:t>
            </a:r>
          </a:p>
          <a:p>
            <a:pPr algn="l">
              <a:lnSpc>
                <a:spcPct val="100000"/>
              </a:lnSpc>
            </a:pPr>
            <a:r>
              <a:rPr sz="1600" i="0" b="0">
                <a:solidFill>
                  <a:srgbClr val="E2E8F0"/>
                </a:solidFill>
                <a:latin typeface="Menlo"/>
              </a:rPr>
              <a:t>dark-mode test</a:t>
            </a:r>
          </a:p>
          <a:p>
            <a:pPr algn="l">
              <a:lnSpc>
                <a:spcPct val="100000"/>
              </a:lnSpc>
            </a:pPr>
            <a:r>
              <a:rPr sz="1600" i="0" b="0">
                <a:solidFill>
                  <a:srgbClr val="E2E8F0"/>
                </a:solidFill>
                <a:latin typeface="Menlo"/>
              </a:rPr>
              <a:t>## Verification</a:t>
            </a:r>
          </a:p>
          <a:p>
            <a:pPr algn="l">
              <a:lnSpc>
                <a:spcPct val="100000"/>
              </a:lnSpc>
            </a:pPr>
            <a:r>
              <a:rPr sz="1600" i="0" b="0">
                <a:solidFill>
                  <a:srgbClr val="E2E8F0"/>
                </a:solidFill>
                <a:latin typeface="Menlo"/>
              </a:rPr>
              <a:t>visual regression per component,</a:t>
            </a:r>
          </a:p>
          <a:p>
            <a:pPr algn="l">
              <a:lnSpc>
                <a:spcPct val="100000"/>
              </a:lnSpc>
            </a:pPr>
            <a:r>
              <a:rPr sz="1600" i="0" b="0">
                <a:solidFill>
                  <a:srgbClr val="E2E8F0"/>
                </a:solidFill>
                <a:latin typeface="Menlo"/>
              </a:rPr>
              <a:t>main-flow e2e pass</a:t>
            </a:r>
          </a:p>
          <a:p>
            <a:pPr algn="l">
              <a:lnSpc>
                <a:spcPct val="100000"/>
              </a:lnSpc>
            </a:pPr>
            <a:r>
              <a:rPr sz="1600" i="0" b="0">
                <a:solidFill>
                  <a:srgbClr val="E2E8F0"/>
                </a:solidFill>
                <a:latin typeface="Menlo"/>
              </a:rPr>
              <a:t>## Exclusions</a:t>
            </a:r>
          </a:p>
          <a:p>
            <a:pPr algn="l">
              <a:lnSpc>
                <a:spcPct val="100000"/>
              </a:lnSpc>
            </a:pPr>
            <a:r>
              <a:rPr sz="1600" i="0" b="0">
                <a:solidFill>
                  <a:srgbClr val="E2E8F0"/>
                </a:solidFill>
                <a:latin typeface="Menlo"/>
              </a:rPr>
              <a:t>print styles,</a:t>
            </a:r>
          </a:p>
          <a:p>
            <a:pPr algn="l">
              <a:lnSpc>
                <a:spcPct val="100000"/>
              </a:lnSpc>
            </a:pPr>
            <a:r>
              <a:rPr sz="1600" i="0" b="0">
                <a:solidFill>
                  <a:srgbClr val="E2E8F0"/>
                </a:solidFill>
                <a:latin typeface="Menlo"/>
              </a:rPr>
              <a:t>third-party component theming</a:t>
            </a:r>
          </a:p>
        </p:txBody>
      </p:sp>
      <p:sp>
        <p:nvSpPr>
          <p:cNvPr id="16" name="Rectangle 15"/>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Both sides negotiate it in writing, before code</a:t>
            </a:r>
          </a:p>
        </p:txBody>
      </p:sp>
      <p:sp>
        <p:nvSpPr>
          <p:cNvPr id="18" name="Rectangle 17"/>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evaluator cannot invent criteria afterwards</a:t>
            </a:r>
          </a:p>
        </p:txBody>
      </p:sp>
      <p:sp>
        <p:nvSpPr>
          <p:cNvPr id="20" name="Rectangle 19"/>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generator cannot redefine done</a:t>
            </a:r>
          </a:p>
        </p:txBody>
      </p:sp>
      <p:sp>
        <p:nvSpPr>
          <p:cNvPr id="22" name="Rectangle 21"/>
          <p:cNvSpPr/>
          <p:nvPr/>
        </p:nvSpPr>
        <p:spPr>
          <a:xfrm>
            <a:off x="7580193" y="3826763"/>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3739896"/>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Exclusions</a:t>
            </a:r>
            <a:r>
              <a:rPr sz="1800" i="0" b="0">
                <a:solidFill>
                  <a:srgbClr val="1E293B"/>
                </a:solidFill>
                <a:latin typeface="Helvetica Neue"/>
              </a:rPr>
              <a:t> is the section people skip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One feature at a time, passed only by evidence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Scope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How it knows it is done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notes/10-scope-and-done.md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With one active feature and a script that flips the state, an agent cannot overreach or mark its own work as passing.</a:t>
            </a:r>
          </a:p>
        </p:txBody>
      </p:sp>
      <p:sp>
        <p:nvSpPr>
          <p:cNvPr id="13" name="Rounded Rectangle 12"/>
          <p:cNvSpPr/>
          <p:nvPr/>
        </p:nvSpPr>
        <p:spPr>
          <a:xfrm>
            <a:off x="2026767" y="1563624"/>
            <a:ext cx="2377440" cy="987552"/>
          </a:xfrm>
          <a:prstGeom prst="roundRect">
            <a:avLst>
              <a:gd name="adj" fmla="val 12000"/>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392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not_started</a:t>
            </a:r>
          </a:p>
        </p:txBody>
      </p:sp>
      <p:cxnSp>
        <p:nvCxnSpPr>
          <p:cNvPr id="15" name="Connector 14"/>
          <p:cNvCxnSpPr/>
          <p:nvPr/>
        </p:nvCxnSpPr>
        <p:spPr>
          <a:xfrm>
            <a:off x="445907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0712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428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active</a:t>
            </a:r>
          </a:p>
          <a:p>
            <a:pPr algn="ctr">
              <a:lnSpc>
                <a:spcPct val="110000"/>
              </a:lnSpc>
            </a:pPr>
            <a:r>
              <a:rPr sz="1300" i="0" b="0">
                <a:solidFill>
                  <a:srgbClr val="E8F4F8"/>
                </a:solidFill>
                <a:latin typeface="Helvetica Neue"/>
              </a:rPr>
              <a:t>WIP = 1</a:t>
            </a:r>
          </a:p>
        </p:txBody>
      </p:sp>
      <p:cxnSp>
        <p:nvCxnSpPr>
          <p:cNvPr id="18" name="Connector 17"/>
          <p:cNvCxnSpPr/>
          <p:nvPr/>
        </p:nvCxnSpPr>
        <p:spPr>
          <a:xfrm>
            <a:off x="733943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8748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464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passing</a:t>
            </a:r>
          </a:p>
          <a:p>
            <a:pPr algn="ctr">
              <a:lnSpc>
                <a:spcPct val="110000"/>
              </a:lnSpc>
            </a:pPr>
            <a:r>
              <a:rPr sz="1300" i="0" b="0">
                <a:solidFill>
                  <a:srgbClr val="E8F4F8"/>
                </a:solidFill>
                <a:latin typeface="Helvetica Neue"/>
              </a:rPr>
              <a:t>via its verification run</a:t>
            </a:r>
          </a:p>
        </p:txBody>
      </p:sp>
      <p:sp>
        <p:nvSpPr>
          <p:cNvPr id="21" name="Rectangle 20"/>
          <p:cNvSpPr/>
          <p:nvPr/>
        </p:nvSpPr>
        <p:spPr>
          <a:xfrm>
            <a:off x="502920" y="2962910"/>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2871216"/>
            <a:ext cx="10865815" cy="409956"/>
          </a:xfrm>
          <a:prstGeom prst="rect">
            <a:avLst/>
          </a:prstGeom>
          <a:noFill/>
        </p:spPr>
        <p:txBody>
          <a:bodyPr wrap="square" lIns="0" rIns="0" tIns="0" bIns="0" anchor="t">
            <a:noAutofit/>
          </a:bodyPr>
          <a:lstStyle/>
          <a:p>
            <a:pPr algn="l">
              <a:lnSpc>
                <a:spcPct val="110000"/>
              </a:lnSpc>
            </a:pPr>
            <a:r>
              <a:rPr sz="1710" i="0" b="0">
                <a:solidFill>
                  <a:srgbClr val="0F7490"/>
                </a:solidFill>
                <a:latin typeface="Menlo"/>
              </a:rPr>
              <a:t>blocked</a:t>
            </a:r>
            <a:r>
              <a:rPr sz="1900" i="0" b="0">
                <a:solidFill>
                  <a:srgbClr val="1E293B"/>
                </a:solidFill>
                <a:latin typeface="Helvetica Neue"/>
              </a:rPr>
              <a:t> hangs off active, and a script flips the state</a:t>
            </a:r>
          </a:p>
        </p:txBody>
      </p:sp>
      <p:sp>
        <p:nvSpPr>
          <p:cNvPr id="23" name="Rectangle 22"/>
          <p:cNvSpPr/>
          <p:nvPr/>
        </p:nvSpPr>
        <p:spPr>
          <a:xfrm>
            <a:off x="502920" y="3426206"/>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334512"/>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The agent requests verification and never edits the field</a:t>
            </a:r>
          </a:p>
        </p:txBody>
      </p:sp>
      <p:sp>
        <p:nvSpPr>
          <p:cNvPr id="25" name="Rectangle 24"/>
          <p:cNvSpPr/>
          <p:nvPr/>
        </p:nvSpPr>
        <p:spPr>
          <a:xfrm>
            <a:off x="502920" y="3889501"/>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797808"/>
            <a:ext cx="10865815" cy="728472"/>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Verified completion rate = verified ÷ activated, which sits at </a:t>
            </a:r>
            <a:r>
              <a:rPr sz="1900" i="0" b="1">
                <a:solidFill>
                  <a:srgbClr val="1E293B"/>
                </a:solidFill>
                <a:latin typeface="Helvetica Neue"/>
              </a:rPr>
              <a:t>1.0</a:t>
            </a:r>
            <a:r>
              <a:rPr sz="1900" i="0" b="0">
                <a:solidFill>
                  <a:srgbClr val="1E293B"/>
                </a:solidFill>
                <a:latin typeface="Helvetica Neue"/>
              </a:rPr>
              <a:t> between features under WIP = 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Not every failure is worth retrying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Recovery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How it knows it is done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notes/05-verification-loops.md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Classify a failure before retrying, because a model refusal repeats itself while a transient error deserves backoff.</a:t>
            </a:r>
          </a:p>
        </p:txBody>
      </p:sp>
      <p:graphicFrame>
        <p:nvGraphicFramePr>
          <p:cNvPr id="13" name="Table 12"/>
          <p:cNvGraphicFramePr>
            <a:graphicFrameLocks noGrp="1"/>
          </p:cNvGraphicFramePr>
          <p:nvPr/>
        </p:nvGraphicFramePr>
        <p:xfrm>
          <a:off x="502920" y="1472184"/>
          <a:ext cx="11185854" cy="2837688"/>
        </p:xfrm>
        <a:graphic>
          <a:graphicData uri="http://schemas.openxmlformats.org/drawingml/2006/table">
            <a:tbl>
              <a:tblPr firstRow="1" bandRow="1">
                <a:tableStyleId>{5940675A-B579-460E-94D1-54222C63F5DA}</a:tableStyleId>
              </a:tblPr>
              <a:tblGrid>
                <a:gridCol w="3803190"/>
                <a:gridCol w="7382664"/>
              </a:tblGrid>
              <a:tr h="405384">
                <a:tc>
                  <a:txBody>
                    <a:bodyPr wrap="square"/>
                    <a:lstStyle/>
                    <a:p>
                      <a:pPr>
                        <a:lnSpc>
                          <a:spcPct val="100000"/>
                        </a:lnSpc>
                      </a:pPr>
                      <a:r>
                        <a:rPr sz="1700" i="0" b="1">
                          <a:solidFill>
                            <a:srgbClr val="FFFFFF"/>
                          </a:solidFill>
                          <a:latin typeface="Helvetica Neue"/>
                        </a:rPr>
                        <a:t>Failure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Response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Transient (network, rate limit)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Backoff 2×, jitter ±20%, max 3</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Tool error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Retry once, then escalate</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Model refusal</a:t>
                      </a:r>
                    </a:p>
                  </a:txBody>
                  <a:tcPr marL="109728" marR="109728" marT="54864" marB="54864" anchor="ctr">
                    <a:solidFill>
                      <a:srgbClr val="E8F4F8"/>
                    </a:solidFill>
                  </a:tcPr>
                </a:tc>
                <a:tc>
                  <a:txBody>
                    <a:bodyPr wrap="square"/>
                    <a:lstStyle/>
                    <a:p>
                      <a:pPr>
                        <a:lnSpc>
                          <a:spcPct val="100000"/>
                        </a:lnSpc>
                      </a:pPr>
                      <a:r>
                        <a:rPr sz="1700" i="0" b="1">
                          <a:solidFill>
                            <a:srgbClr val="1E293B"/>
                          </a:solidFill>
                          <a:latin typeface="Helvetica Neue"/>
                        </a:rPr>
                        <a:t>Never retry</a:t>
                      </a:r>
                      <a:r>
                        <a:rPr sz="1700" i="0" b="0">
                          <a:solidFill>
                            <a:srgbClr val="475569"/>
                          </a:solidFill>
                          <a:latin typeface="Helvetica Neue"/>
                        </a:rPr>
                        <a:t>: it will refuse again</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Schema violation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Retry once with the validation error in context</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Context exhaustion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Compact or reset, then resume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Fatal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Stop and surface the error</a:t>
                      </a:r>
                    </a:p>
                  </a:txBody>
                  <a:tcPr marL="109728" marR="109728" marT="54864" marB="54864" anchor="ctr">
                    <a:solidFill>
                      <a:srgbClr val="F8FAFC"/>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Every recovery path needs a ceiling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Monday morning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How it knows it is done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notes/05-verification-loops.md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Each recovery path needs a ceiling set from data, since an unbounded retry loop fails silently and expensively.</a:t>
            </a:r>
          </a:p>
        </p:txBody>
      </p:sp>
      <p:sp>
        <p:nvSpPr>
          <p:cNvPr id="13" name="Rectangle 12"/>
          <p:cNvSpPr/>
          <p:nvPr/>
        </p:nvSpPr>
        <p:spPr>
          <a:xfrm>
            <a:off x="502920" y="1472184"/>
            <a:ext cx="2590723" cy="375513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375513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Two-retry rule</a:t>
            </a:r>
          </a:p>
        </p:txBody>
      </p:sp>
      <p:sp>
        <p:nvSpPr>
          <p:cNvPr id="16" name="TextBox 15"/>
          <p:cNvSpPr txBox="1"/>
          <p:nvPr/>
        </p:nvSpPr>
        <p:spPr>
          <a:xfrm>
            <a:off x="777240" y="2087880"/>
            <a:ext cx="2087803" cy="295655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third failure on the same gate means the context or the spec is wrong, not the execution.</a:t>
            </a:r>
          </a:p>
        </p:txBody>
      </p:sp>
      <p:sp>
        <p:nvSpPr>
          <p:cNvPr id="17" name="Rectangle 16"/>
          <p:cNvSpPr/>
          <p:nvPr/>
        </p:nvSpPr>
        <p:spPr>
          <a:xfrm>
            <a:off x="3367963" y="1472184"/>
            <a:ext cx="2590723" cy="375513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7963" y="1472184"/>
            <a:ext cx="82296" cy="375513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Loop detection</a:t>
            </a:r>
          </a:p>
        </p:txBody>
      </p:sp>
      <p:sp>
        <p:nvSpPr>
          <p:cNvPr id="20" name="TextBox 19"/>
          <p:cNvSpPr txBox="1"/>
          <p:nvPr/>
        </p:nvSpPr>
        <p:spPr>
          <a:xfrm>
            <a:off x="3642283" y="2087880"/>
            <a:ext cx="2087803" cy="295655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Count edits per file. After N, force a re-plan rather than another repair.</a:t>
            </a:r>
          </a:p>
        </p:txBody>
      </p:sp>
      <p:sp>
        <p:nvSpPr>
          <p:cNvPr id="21" name="Rectangle 20"/>
          <p:cNvSpPr/>
          <p:nvPr/>
        </p:nvSpPr>
        <p:spPr>
          <a:xfrm>
            <a:off x="6233007" y="1472184"/>
            <a:ext cx="2590723" cy="375513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3007" y="1472184"/>
            <a:ext cx="82296" cy="375513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655064"/>
            <a:ext cx="2133523"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Feed the error back</a:t>
            </a:r>
          </a:p>
        </p:txBody>
      </p:sp>
      <p:sp>
        <p:nvSpPr>
          <p:cNvPr id="24" name="TextBox 23"/>
          <p:cNvSpPr txBox="1"/>
          <p:nvPr/>
        </p:nvSpPr>
        <p:spPr>
          <a:xfrm>
            <a:off x="6507327" y="2356104"/>
            <a:ext cx="2087803" cy="2688336"/>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Give the agent the error, the query and the context. PRINCE caps it at </a:t>
            </a:r>
            <a:r>
              <a:rPr sz="1800" i="0" b="1">
                <a:solidFill>
                  <a:srgbClr val="1E293B"/>
                </a:solidFill>
                <a:latin typeface="Helvetica Neue"/>
              </a:rPr>
              <a:t>3</a:t>
            </a:r>
            <a:r>
              <a:rPr sz="1800" i="0" b="0">
                <a:solidFill>
                  <a:srgbClr val="475569"/>
                </a:solidFill>
                <a:latin typeface="Helvetica Neue"/>
              </a:rPr>
              <a:t> attempts.</a:t>
            </a:r>
          </a:p>
        </p:txBody>
      </p:sp>
      <p:sp>
        <p:nvSpPr>
          <p:cNvPr id="25" name="Rectangle 24"/>
          <p:cNvSpPr/>
          <p:nvPr/>
        </p:nvSpPr>
        <p:spPr>
          <a:xfrm>
            <a:off x="9098051" y="1472184"/>
            <a:ext cx="2590723" cy="375513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051" y="1472184"/>
            <a:ext cx="82296" cy="375513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371" y="1655064"/>
            <a:ext cx="2133523"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Set ceilings from data</a:t>
            </a:r>
          </a:p>
        </p:txBody>
      </p:sp>
      <p:sp>
        <p:nvSpPr>
          <p:cNvPr id="28" name="TextBox 27"/>
          <p:cNvSpPr txBox="1"/>
          <p:nvPr/>
        </p:nvSpPr>
        <p:spPr>
          <a:xfrm>
            <a:off x="9372371" y="2356104"/>
            <a:ext cx="2087803" cy="2688336"/>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Before Claude Code's breaker (trips at </a:t>
            </a:r>
            <a:r>
              <a:rPr sz="1800" i="0" b="1">
                <a:solidFill>
                  <a:srgbClr val="1E293B"/>
                </a:solidFill>
                <a:latin typeface="Helvetica Neue"/>
              </a:rPr>
              <a:t>3</a:t>
            </a:r>
            <a:r>
              <a:rPr sz="1800" i="0" b="0">
                <a:solidFill>
                  <a:srgbClr val="475569"/>
                </a:solidFill>
                <a:latin typeface="Helvetica Neue"/>
              </a:rPr>
              <a:t>), one session failed </a:t>
            </a:r>
            <a:r>
              <a:rPr sz="1800" i="0" b="1">
                <a:solidFill>
                  <a:srgbClr val="1E293B"/>
                </a:solidFill>
                <a:latin typeface="Helvetica Neue"/>
              </a:rPr>
              <a:t>3,000+</a:t>
            </a:r>
            <a:r>
              <a:rPr sz="1800" i="0" b="0">
                <a:solidFill>
                  <a:srgbClr val="475569"/>
                </a:solidFill>
                <a:latin typeface="Helvetica Neue"/>
              </a:rPr>
              <a:t> times; futile retries cost </a:t>
            </a:r>
            <a:r>
              <a:rPr sz="1800" i="0" b="1">
                <a:solidFill>
                  <a:srgbClr val="1E293B"/>
                </a:solidFill>
                <a:latin typeface="Helvetica Neue"/>
              </a:rPr>
              <a:t>~250K</a:t>
            </a:r>
            <a:r>
              <a:rPr sz="1800" i="0" b="0">
                <a:solidFill>
                  <a:srgbClr val="475569"/>
                </a:solidFill>
                <a:latin typeface="Helvetica Neue"/>
              </a:rPr>
              <a:t> API calls a day.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How it survives hours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State in files · Resets and handoffs · A repo the next session can read</a:t>
            </a:r>
          </a:p>
        </p:txBody>
      </p:sp>
      <p:cxnSp>
        <p:nvCxnSpPr>
          <p:cNvPr id="6" name="Connector 5"/>
          <p:cNvCxnSpPr/>
          <p:nvPr/>
        </p:nvCxnSpPr>
        <p:spPr>
          <a:xfrm>
            <a:off x="6446520" y="1550670"/>
            <a:ext cx="0" cy="375666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550670"/>
            <a:ext cx="4693615" cy="393954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Every context window ends in amnesia</a:t>
            </a:r>
          </a:p>
          <a:p>
            <a:pPr algn="l">
              <a:lnSpc>
                <a:spcPct val="100000"/>
              </a:lnSpc>
              <a:spcBef>
                <a:spcPts val="1189"/>
              </a:spcBef>
            </a:pPr>
            <a:r>
              <a:rPr sz="1700" i="0" b="0">
                <a:solidFill>
                  <a:srgbClr val="CBD5E1"/>
                </a:solidFill>
                <a:latin typeface="Helvetica Neue"/>
              </a:rPr>
              <a:t>Compaction keeps a trace, a reset keeps what you wrote</a:t>
            </a:r>
          </a:p>
          <a:p>
            <a:pPr algn="l">
              <a:lnSpc>
                <a:spcPct val="100000"/>
              </a:lnSpc>
              <a:spcBef>
                <a:spcPts val="1189"/>
              </a:spcBef>
            </a:pPr>
            <a:r>
              <a:rPr sz="1700" i="0" b="0">
                <a:solidFill>
                  <a:srgbClr val="CBD5E1"/>
                </a:solidFill>
                <a:latin typeface="Helvetica Neue"/>
              </a:rPr>
              <a:t>A handoff separates verified from assumed</a:t>
            </a:r>
          </a:p>
          <a:p>
            <a:pPr algn="l">
              <a:lnSpc>
                <a:spcPct val="100000"/>
              </a:lnSpc>
              <a:spcBef>
                <a:spcPts val="1189"/>
              </a:spcBef>
            </a:pPr>
            <a:r>
              <a:rPr sz="1700" i="0" b="0">
                <a:solidFill>
                  <a:srgbClr val="CBD5E1"/>
                </a:solidFill>
                <a:latin typeface="Helvetica Neue"/>
              </a:rPr>
              <a:t>A Ralph loop makes stopping early harmless</a:t>
            </a:r>
          </a:p>
          <a:p>
            <a:pPr algn="l">
              <a:lnSpc>
                <a:spcPct val="100000"/>
              </a:lnSpc>
              <a:spcBef>
                <a:spcPts val="1189"/>
              </a:spcBef>
            </a:pPr>
            <a:r>
              <a:rPr sz="1700" i="0" b="0">
                <a:solidFill>
                  <a:srgbClr val="CBD5E1"/>
                </a:solidFill>
                <a:latin typeface="Helvetica Neue"/>
              </a:rPr>
              <a:t>State outside the window survived 605 deaths</a:t>
            </a:r>
          </a:p>
          <a:p>
            <a:pPr algn="l">
              <a:lnSpc>
                <a:spcPct val="100000"/>
              </a:lnSpc>
              <a:spcBef>
                <a:spcPts val="1189"/>
              </a:spcBef>
            </a:pPr>
            <a:r>
              <a:rPr sz="1700" i="0" b="0">
                <a:solidFill>
                  <a:srgbClr val="CBD5E1"/>
                </a:solidFill>
                <a:latin typeface="Helvetica Neue"/>
              </a:rPr>
              <a:t>Five questions a fresh session must answer alone</a:t>
            </a:r>
          </a:p>
          <a:p>
            <a:pPr algn="l">
              <a:lnSpc>
                <a:spcPct val="100000"/>
              </a:lnSpc>
              <a:spcBef>
                <a:spcPts val="1189"/>
              </a:spcBef>
            </a:pPr>
            <a:r>
              <a:rPr sz="1700" i="0" b="0">
                <a:solidFill>
                  <a:srgbClr val="CBD5E1"/>
                </a:solidFill>
                <a:latin typeface="Helvetica Neue"/>
              </a:rPr>
              <a:t>AGENTS.md is a router, not a manual</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Every context window ends in amnesia</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How it survives hours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notes/06-long-horizon-execution.md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Externalizing state turns context windows into something disposable, so any fresh session can continue the work.</a:t>
            </a:r>
          </a:p>
        </p:txBody>
      </p:sp>
      <p:sp>
        <p:nvSpPr>
          <p:cNvPr id="13" name="Rectangle 12"/>
          <p:cNvSpPr/>
          <p:nvPr/>
        </p:nvSpPr>
        <p:spPr>
          <a:xfrm>
            <a:off x="777240" y="2601468"/>
            <a:ext cx="109728" cy="17556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601468"/>
            <a:ext cx="10088575" cy="1389887"/>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Progress lives in files, not in the context window.</a:t>
            </a:r>
          </a:p>
        </p:txBody>
      </p:sp>
      <p:sp>
        <p:nvSpPr>
          <p:cNvPr id="15" name="TextBox 14"/>
          <p:cNvSpPr txBox="1"/>
          <p:nvPr/>
        </p:nvSpPr>
        <p:spPr>
          <a:xfrm>
            <a:off x="1234440" y="3945636"/>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Once state is external, any fresh context can pick up where the last one stopped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Compaction keeps a trace, a reset keeps what you wrote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choice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How it survives hours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notes/06-long-horizon-execution.md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Resets beat compaction on Sonnet 4.5 and later models need them less, so re-test the choice on each model upgrade.</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Compaction</a:t>
            </a:r>
          </a:p>
        </p:txBody>
      </p:sp>
      <p:sp>
        <p:nvSpPr>
          <p:cNvPr id="16" name="Rectangle 15"/>
          <p:cNvSpPr/>
          <p:nvPr/>
        </p:nvSpPr>
        <p:spPr>
          <a:xfrm>
            <a:off x="731520" y="2313178"/>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Summarizes earlier turns in place</a:t>
            </a:r>
          </a:p>
        </p:txBody>
      </p:sp>
      <p:sp>
        <p:nvSpPr>
          <p:cNvPr id="18" name="Rectangle 17"/>
          <p:cNvSpPr/>
          <p:nvPr/>
        </p:nvSpPr>
        <p:spPr>
          <a:xfrm>
            <a:off x="731520" y="2727706"/>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Preserves a lossy trace of everything</a:t>
            </a:r>
          </a:p>
        </p:txBody>
      </p:sp>
      <p:sp>
        <p:nvSpPr>
          <p:cNvPr id="20" name="Rectangle 19"/>
          <p:cNvSpPr/>
          <p:nvPr/>
        </p:nvSpPr>
        <p:spPr>
          <a:xfrm>
            <a:off x="731520" y="3142234"/>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Fails by summary-of-summary drift</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One long session</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Context reset</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Clears the window and hands off via files</a:t>
            </a:r>
          </a:p>
        </p:txBody>
      </p:sp>
      <p:sp>
        <p:nvSpPr>
          <p:cNvPr id="29" name="Rectangle 28"/>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9306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Preserves only what the handoff captures</a:t>
            </a:r>
          </a:p>
        </p:txBody>
      </p:sp>
      <p:sp>
        <p:nvSpPr>
          <p:cNvPr id="31" name="Rectangle 30"/>
          <p:cNvSpPr/>
          <p:nvPr/>
        </p:nvSpPr>
        <p:spPr>
          <a:xfrm>
            <a:off x="6507327" y="342722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345180"/>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Fails when something was not written down</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Multi-day work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A handoff separates verified from assumed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How it survives hours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notes/06-long-horizon-execution.md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handoff keeps verified work apart from assumptions, which a generated summary blurs together.</a:t>
            </a:r>
          </a:p>
        </p:txBody>
      </p:sp>
      <p:sp>
        <p:nvSpPr>
          <p:cNvPr id="13" name="Rounded Rectangle 12"/>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MARKDOWN</a:t>
            </a:r>
          </a:p>
        </p:txBody>
      </p:sp>
      <p:sp>
        <p:nvSpPr>
          <p:cNvPr id="15" name="TextBox 14"/>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Verified Now</a:t>
            </a:r>
          </a:p>
          <a:p>
            <a:pPr algn="l">
              <a:lnSpc>
                <a:spcPct val="100000"/>
              </a:lnSpc>
            </a:pPr>
            <a:r>
              <a:rPr sz="1600" i="0" b="0">
                <a:solidFill>
                  <a:srgbClr val="E2E8F0"/>
                </a:solidFill>
                <a:latin typeface="Menlo"/>
              </a:rPr>
              <a:t>what works, what verification actually ran</a:t>
            </a:r>
          </a:p>
          <a:p>
            <a:pPr algn="l">
              <a:lnSpc>
                <a:spcPct val="100000"/>
              </a:lnSpc>
            </a:pPr>
            <a:r>
              <a:rPr sz="1600" i="0" b="0">
                <a:solidFill>
                  <a:srgbClr val="E2E8F0"/>
                </a:solidFill>
                <a:latin typeface="Menlo"/>
              </a:rPr>
              <a:t>## Changed This Session</a:t>
            </a:r>
          </a:p>
          <a:p>
            <a:pPr algn="l">
              <a:lnSpc>
                <a:spcPct val="100000"/>
              </a:lnSpc>
            </a:pPr>
            <a:r>
              <a:rPr sz="1600" i="0" b="0">
                <a:solidFill>
                  <a:srgbClr val="E2E8F0"/>
                </a:solidFill>
                <a:latin typeface="Menlo"/>
              </a:rPr>
              <a:t>code or behaviour added, harness changes</a:t>
            </a:r>
          </a:p>
          <a:p>
            <a:pPr algn="l">
              <a:lnSpc>
                <a:spcPct val="100000"/>
              </a:lnSpc>
            </a:pPr>
            <a:r>
              <a:rPr sz="1600" i="0" b="0">
                <a:solidFill>
                  <a:srgbClr val="E2E8F0"/>
                </a:solidFill>
                <a:latin typeface="Menlo"/>
              </a:rPr>
              <a:t>## Broken Or Unverified</a:t>
            </a:r>
          </a:p>
          <a:p>
            <a:pPr algn="l">
              <a:lnSpc>
                <a:spcPct val="100000"/>
              </a:lnSpc>
            </a:pPr>
            <a:r>
              <a:rPr sz="1600" i="0" b="0">
                <a:solidFill>
                  <a:srgbClr val="E2E8F0"/>
                </a:solidFill>
                <a:latin typeface="Menlo"/>
              </a:rPr>
              <a:t>known defect, unverified path, risk</a:t>
            </a:r>
          </a:p>
          <a:p>
            <a:pPr algn="l">
              <a:lnSpc>
                <a:spcPct val="100000"/>
              </a:lnSpc>
            </a:pPr>
            <a:r>
              <a:rPr sz="1600" i="0" b="0">
                <a:solidFill>
                  <a:srgbClr val="E2E8F0"/>
                </a:solidFill>
                <a:latin typeface="Menlo"/>
              </a:rPr>
              <a:t>## Next Best Step</a:t>
            </a:r>
          </a:p>
          <a:p>
            <a:pPr algn="l">
              <a:lnSpc>
                <a:spcPct val="100000"/>
              </a:lnSpc>
            </a:pPr>
            <a:r>
              <a:rPr sz="1600" i="0" b="0">
                <a:solidFill>
                  <a:srgbClr val="E2E8F0"/>
                </a:solidFill>
                <a:latin typeface="Menlo"/>
              </a:rPr>
              <a:t>feature, why next, what counts as passing</a:t>
            </a:r>
          </a:p>
          <a:p>
            <a:pPr algn="l">
              <a:lnSpc>
                <a:spcPct val="100000"/>
              </a:lnSpc>
            </a:pPr>
            <a:r>
              <a:rPr sz="1600" i="0" b="0">
                <a:solidFill>
                  <a:srgbClr val="E2E8F0"/>
                </a:solidFill>
                <a:latin typeface="Menlo"/>
              </a:rPr>
              <a:t>## Commands</a:t>
            </a:r>
          </a:p>
          <a:p>
            <a:pPr algn="l">
              <a:lnSpc>
                <a:spcPct val="100000"/>
              </a:lnSpc>
            </a:pPr>
            <a:r>
              <a:rPr sz="1600" i="0" b="0">
                <a:solidFill>
                  <a:srgbClr val="E2E8F0"/>
                </a:solidFill>
                <a:latin typeface="Menlo"/>
              </a:rPr>
              <a:t>startup, verification, focused debug</a:t>
            </a:r>
          </a:p>
        </p:txBody>
      </p:sp>
      <p:sp>
        <p:nvSpPr>
          <p:cNvPr id="16" name="Rectangle 15"/>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Start writing it at about </a:t>
            </a:r>
            <a:r>
              <a:rPr sz="1800" i="0" b="1">
                <a:solidFill>
                  <a:srgbClr val="1E293B"/>
                </a:solidFill>
                <a:latin typeface="Helvetica Neue"/>
              </a:rPr>
              <a:t>60%</a:t>
            </a:r>
            <a:r>
              <a:rPr sz="1800" i="0" b="0">
                <a:solidFill>
                  <a:srgbClr val="1E293B"/>
                </a:solidFill>
                <a:latin typeface="Helvetica Neue"/>
              </a:rPr>
              <a:t> of the window, while there is room</a:t>
            </a:r>
          </a:p>
        </p:txBody>
      </p:sp>
      <p:sp>
        <p:nvSpPr>
          <p:cNvPr id="18" name="Rectangle 17"/>
          <p:cNvSpPr/>
          <p:nvPr/>
        </p:nvSpPr>
        <p:spPr>
          <a:xfrm>
            <a:off x="7580193" y="2647188"/>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560320"/>
            <a:ext cx="3788542" cy="996696"/>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generated summary blurs verified and assumed; this format does not</a:t>
            </a:r>
          </a:p>
        </p:txBody>
      </p:sp>
      <p:sp>
        <p:nvSpPr>
          <p:cNvPr id="20" name="Rectangle 19"/>
          <p:cNvSpPr/>
          <p:nvPr/>
        </p:nvSpPr>
        <p:spPr>
          <a:xfrm>
            <a:off x="7580193" y="3689604"/>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3602736"/>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Exit only on a clean state: build, tests, logs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A Ralph loop makes stopping early harmless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Keep going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How it survives hours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notes/06-long-horizon-execution.md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hook that re-injects the prompt on exit lets a fresh context carry on, until a verification gate says the work is done.</a:t>
            </a:r>
          </a:p>
        </p:txBody>
      </p:sp>
      <p:sp>
        <p:nvSpPr>
          <p:cNvPr id="13" name="Rounded Rectangle 12"/>
          <p:cNvSpPr/>
          <p:nvPr/>
        </p:nvSpPr>
        <p:spPr>
          <a:xfrm>
            <a:off x="58658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Agent works</a:t>
            </a:r>
          </a:p>
          <a:p>
            <a:pPr algn="ctr">
              <a:lnSpc>
                <a:spcPct val="110000"/>
              </a:lnSpc>
            </a:pPr>
            <a:r>
              <a:rPr sz="1300" i="0" b="0">
                <a:solidFill>
                  <a:srgbClr val="E8F4F8"/>
                </a:solidFill>
                <a:latin typeface="Helvetica Neue"/>
              </a:rPr>
              <a:t>state goes to files</a:t>
            </a:r>
          </a:p>
        </p:txBody>
      </p:sp>
      <p:cxnSp>
        <p:nvCxnSpPr>
          <p:cNvPr id="15" name="Connector 14"/>
          <p:cNvCxnSpPr/>
          <p:nvPr/>
        </p:nvCxnSpPr>
        <p:spPr>
          <a:xfrm>
            <a:off x="301889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66947" y="1563624"/>
            <a:ext cx="2377440" cy="98755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410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Tries to finish</a:t>
            </a:r>
          </a:p>
          <a:p>
            <a:pPr algn="ctr">
              <a:lnSpc>
                <a:spcPct val="110000"/>
              </a:lnSpc>
            </a:pPr>
            <a:r>
              <a:rPr sz="1300" i="0" b="0">
                <a:solidFill>
                  <a:srgbClr val="E8F4F8"/>
                </a:solidFill>
                <a:latin typeface="Helvetica Neue"/>
              </a:rPr>
              <a:t>maybe early</a:t>
            </a:r>
          </a:p>
        </p:txBody>
      </p:sp>
      <p:cxnSp>
        <p:nvCxnSpPr>
          <p:cNvPr id="18" name="Connector 17"/>
          <p:cNvCxnSpPr/>
          <p:nvPr/>
        </p:nvCxnSpPr>
        <p:spPr>
          <a:xfrm>
            <a:off x="589925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47307" y="1563624"/>
            <a:ext cx="2377440" cy="98755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Hook intercepts</a:t>
            </a:r>
          </a:p>
          <a:p>
            <a:pPr algn="ctr">
              <a:lnSpc>
                <a:spcPct val="110000"/>
              </a:lnSpc>
            </a:pPr>
            <a:r>
              <a:rPr sz="1300" i="0" b="0">
                <a:solidFill>
                  <a:srgbClr val="E8F4F8"/>
                </a:solidFill>
                <a:latin typeface="Helvetica Neue"/>
              </a:rPr>
              <a:t>re-injects the prompt</a:t>
            </a:r>
          </a:p>
        </p:txBody>
      </p:sp>
      <p:cxnSp>
        <p:nvCxnSpPr>
          <p:cNvPr id="21" name="Connector 20"/>
          <p:cNvCxnSpPr/>
          <p:nvPr/>
        </p:nvCxnSpPr>
        <p:spPr>
          <a:xfrm>
            <a:off x="877961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2766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1563624"/>
            <a:ext cx="2103120" cy="98755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Fresh context</a:t>
            </a:r>
          </a:p>
          <a:p>
            <a:pPr algn="ctr">
              <a:lnSpc>
                <a:spcPct val="110000"/>
              </a:lnSpc>
            </a:pPr>
            <a:r>
              <a:rPr sz="1300" i="0" b="0">
                <a:solidFill>
                  <a:srgbClr val="E8F4F8"/>
                </a:solidFill>
                <a:latin typeface="Helvetica Neue"/>
              </a:rPr>
              <a:t>reads the files</a:t>
            </a:r>
          </a:p>
        </p:txBody>
      </p:sp>
      <p:cxnSp>
        <p:nvCxnSpPr>
          <p:cNvPr id="24" name="Connector 23"/>
          <p:cNvCxnSpPr/>
          <p:nvPr/>
        </p:nvCxnSpPr>
        <p:spPr>
          <a:xfrm>
            <a:off x="10416387" y="2551176"/>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775307" y="2962656"/>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775307" y="2587752"/>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775307" y="2999232"/>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until the verification gate says done</a:t>
            </a:r>
          </a:p>
        </p:txBody>
      </p:sp>
      <p:sp>
        <p:nvSpPr>
          <p:cNvPr id="28" name="TextBox 27"/>
          <p:cNvSpPr txBox="1"/>
          <p:nvPr/>
        </p:nvSpPr>
        <p:spPr>
          <a:xfrm>
            <a:off x="502920" y="3694176"/>
            <a:ext cx="11185855" cy="1792223"/>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Premature wrap-up becomes harmless, because done opens a new window instead of ending the work.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State outside the window survived 605 deaths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evidence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How it survives hours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notes/06-long-horizon-execution.md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27-hour unattended run worked because what the team knew lived outside any single agent's context window.</a:t>
            </a:r>
          </a:p>
        </p:txBody>
      </p:sp>
      <p:sp>
        <p:nvSpPr>
          <p:cNvPr id="13" name="Rectangle 12"/>
          <p:cNvSpPr/>
          <p:nvPr/>
        </p:nvSpPr>
        <p:spPr>
          <a:xfrm>
            <a:off x="448056" y="1417320"/>
            <a:ext cx="6261948" cy="330906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ldor-gemini-argon-minecraft-fig1.png"/>
          <p:cNvPicPr>
            <a:picLocks noChangeAspect="1"/>
          </p:cNvPicPr>
          <p:nvPr/>
        </p:nvPicPr>
        <p:blipFill>
          <a:blip r:embed="rId2"/>
          <a:stretch>
            <a:fillRect/>
          </a:stretch>
        </p:blipFill>
        <p:spPr>
          <a:xfrm>
            <a:off x="502920" y="1472184"/>
            <a:ext cx="6152220" cy="3199337"/>
          </a:xfrm>
          <a:prstGeom prst="rect">
            <a:avLst/>
          </a:prstGeom>
        </p:spPr>
      </p:pic>
      <p:sp>
        <p:nvSpPr>
          <p:cNvPr id="15" name="TextBox 14"/>
          <p:cNvSpPr txBox="1"/>
          <p:nvPr/>
        </p:nvSpPr>
        <p:spPr>
          <a:xfrm>
            <a:off x="502920" y="4808681"/>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Four agents, 27 h 14 min, 605 deaths along the bottom (Faldor et al., 2026)</a:t>
            </a:r>
          </a:p>
        </p:txBody>
      </p:sp>
      <p:sp>
        <p:nvSpPr>
          <p:cNvPr id="16" name="Rectangle 15"/>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Four Gemini agents beat the Ender Dragon with no human help</a:t>
            </a:r>
          </a:p>
        </p:txBody>
      </p:sp>
      <p:sp>
        <p:nvSpPr>
          <p:cNvPr id="18" name="Rectangle 17"/>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27 h 14 min</a:t>
            </a:r>
            <a:r>
              <a:rPr sz="1800" i="0" b="0">
                <a:solidFill>
                  <a:srgbClr val="1E293B"/>
                </a:solidFill>
                <a:latin typeface="Helvetica Neue"/>
              </a:rPr>
              <a:t>, 605 deaths, 6 restarts</a:t>
            </a:r>
          </a:p>
        </p:txBody>
      </p:sp>
      <p:sp>
        <p:nvSpPr>
          <p:cNvPr id="20" name="Rectangle 19"/>
          <p:cNvSpPr/>
          <p:nvPr/>
        </p:nvSpPr>
        <p:spPr>
          <a:xfrm>
            <a:off x="7020900" y="2738628"/>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Shared notes and chat sat outside any context window</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Five questions a fresh session must answer alone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test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How it survives hours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notes/09-repo-as-system-of-record.md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38</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Open a new session with no chat history and ask.</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Every question a fresh session cannot answer gets guessed, and every new session guesses again.</a:t>
            </a:r>
          </a:p>
        </p:txBody>
      </p:sp>
      <p:graphicFrame>
        <p:nvGraphicFramePr>
          <p:cNvPr id="14" name="Table 13"/>
          <p:cNvGraphicFramePr>
            <a:graphicFrameLocks noGrp="1"/>
          </p:cNvGraphicFramePr>
          <p:nvPr/>
        </p:nvGraphicFramePr>
        <p:xfrm>
          <a:off x="502920" y="1985772"/>
          <a:ext cx="11185855" cy="2432304"/>
        </p:xfrm>
        <a:graphic>
          <a:graphicData uri="http://schemas.openxmlformats.org/drawingml/2006/table">
            <a:tbl>
              <a:tblPr firstRow="1" bandRow="1">
                <a:tableStyleId>{5940675A-B579-460E-94D1-54222C63F5DA}</a:tableStyleId>
              </a:tblPr>
              <a:tblGrid>
                <a:gridCol w="4474342"/>
                <a:gridCol w="6711513"/>
              </a:tblGrid>
              <a:tr h="405384">
                <a:tc>
                  <a:txBody>
                    <a:bodyPr wrap="square"/>
                    <a:lstStyle/>
                    <a:p>
                      <a:pPr>
                        <a:lnSpc>
                          <a:spcPct val="100000"/>
                        </a:lnSpc>
                      </a:pPr>
                      <a:r>
                        <a:rPr sz="1700" i="0" b="1">
                          <a:solidFill>
                            <a:srgbClr val="FFFFFF"/>
                          </a:solidFill>
                          <a:latin typeface="Helvetica Neue"/>
                        </a:rPr>
                        <a:t>Question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Answered by</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What is this system?</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AGENTS.md</a:t>
                      </a:r>
                      <a:r>
                        <a:rPr sz="1700" i="0" b="0">
                          <a:solidFill>
                            <a:srgbClr val="475569"/>
                          </a:solidFill>
                          <a:latin typeface="Helvetica Neue"/>
                        </a:rPr>
                        <a:t>, README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How is it organized?</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ARCHITECTURE.md</a:t>
                      </a:r>
                      <a:r>
                        <a:rPr sz="1700" i="0" b="0">
                          <a:solidFill>
                            <a:srgbClr val="475569"/>
                          </a:solidFill>
                          <a:latin typeface="Helvetica Neue"/>
                        </a:rPr>
                        <a:t>, module docs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How do I run it?</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init.sh</a:t>
                      </a:r>
                      <a:r>
                        <a:rPr sz="1700" i="0" b="0">
                          <a:solidFill>
                            <a:srgbClr val="475569"/>
                          </a:solidFill>
                          <a:latin typeface="Helvetica Neue"/>
                        </a:rPr>
                        <a:t>, Makefile, package scripts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How do I verify it?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Test, lint and check commands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Where are we now?</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Progress log, feature list, git history</a:t>
                      </a:r>
                    </a:p>
                  </a:txBody>
                  <a:tcPr marL="109728" marR="109728" marT="54864" marB="54864"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AGENTS.md is a router, not a manual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entry file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How it survives hours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notes/09-repo-as-system-of-record.md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The entry file should route to topic docs and keep hard constraints at its edges, so dead rules can be audited and deleted.</a:t>
            </a:r>
          </a:p>
        </p:txBody>
      </p:sp>
      <p:sp>
        <p:nvSpPr>
          <p:cNvPr id="13" name="Rounded Rectangle 12"/>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MARKDOWN</a:t>
            </a:r>
          </a:p>
        </p:txBody>
      </p:sp>
      <p:sp>
        <p:nvSpPr>
          <p:cNvPr id="15" name="TextBox 14"/>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Overview</a:t>
            </a:r>
          </a:p>
          <a:p>
            <a:pPr algn="l">
              <a:lnSpc>
                <a:spcPct val="100000"/>
              </a:lnSpc>
            </a:pPr>
            <a:r>
              <a:rPr sz="1600" i="0" b="0">
                <a:solidFill>
                  <a:srgbClr val="E2E8F0"/>
                </a:solidFill>
                <a:latin typeface="Menlo"/>
              </a:rPr>
              <a:t>Python 3.11 FastAPI backend, PostgreSQL 15.</a:t>
            </a:r>
          </a:p>
          <a:p>
            <a:pPr algn="l">
              <a:lnSpc>
                <a:spcPct val="100000"/>
              </a:lnSpc>
            </a:pPr>
            <a:r>
              <a:rPr sz="1600" i="0" b="0">
                <a:solidFill>
                  <a:srgbClr val="E2E8F0"/>
                </a:solidFill>
                <a:latin typeface="Menlo"/>
              </a:rPr>
              <a:t>## Quick start</a:t>
            </a:r>
          </a:p>
          <a:p>
            <a:pPr algn="l">
              <a:lnSpc>
                <a:spcPct val="100000"/>
              </a:lnSpc>
            </a:pPr>
            <a:r>
              <a:rPr sz="1600" i="0" b="0">
                <a:solidFill>
                  <a:srgbClr val="E2E8F0"/>
                </a:solidFill>
                <a:latin typeface="Menlo"/>
              </a:rPr>
              <a:t>Install: make setup. Test: make test</a:t>
            </a:r>
          </a:p>
          <a:p>
            <a:pPr algn="l">
              <a:lnSpc>
                <a:spcPct val="100000"/>
              </a:lnSpc>
            </a:pPr>
            <a:r>
              <a:rPr sz="1600" i="0" b="0">
                <a:solidFill>
                  <a:srgbClr val="E2E8F0"/>
                </a:solidFill>
                <a:latin typeface="Menlo"/>
              </a:rPr>
              <a:t>## Hard constraints</a:t>
            </a:r>
          </a:p>
          <a:p>
            <a:pPr algn="l">
              <a:lnSpc>
                <a:spcPct val="100000"/>
              </a:lnSpc>
            </a:pPr>
            <a:r>
              <a:rPr sz="1600" i="0" b="0">
                <a:solidFill>
                  <a:srgbClr val="E2E8F0"/>
                </a:solidFill>
                <a:latin typeface="Menlo"/>
              </a:rPr>
              <a:t>- All DB queries use parameterized SQLAlchemy</a:t>
            </a:r>
          </a:p>
          <a:p>
            <a:pPr algn="l">
              <a:lnSpc>
                <a:spcPct val="100000"/>
              </a:lnSpc>
            </a:pPr>
            <a:r>
              <a:rPr sz="1600" i="0" b="0">
                <a:solidFill>
                  <a:srgbClr val="E2E8F0"/>
                </a:solidFill>
                <a:latin typeface="Menlo"/>
              </a:rPr>
              <a:t>- All PRs pass pytest + mypy --strict + ruff</a:t>
            </a:r>
          </a:p>
          <a:p>
            <a:pPr algn="l">
              <a:lnSpc>
                <a:spcPct val="100000"/>
              </a:lnSpc>
            </a:pPr>
            <a:r>
              <a:rPr sz="1600" i="0" b="0">
                <a:solidFill>
                  <a:srgbClr val="E2E8F0"/>
                </a:solidFill>
                <a:latin typeface="Menlo"/>
              </a:rPr>
              <a:t>## Topic docs</a:t>
            </a:r>
          </a:p>
          <a:p>
            <a:pPr algn="l">
              <a:lnSpc>
                <a:spcPct val="100000"/>
              </a:lnSpc>
            </a:pPr>
            <a:r>
              <a:rPr sz="1600" i="0" b="0">
                <a:solidFill>
                  <a:srgbClr val="E2E8F0"/>
                </a:solidFill>
                <a:latin typeface="Menlo"/>
              </a:rPr>
              <a:t>- docs/api-patterns.md: when adding endpoints</a:t>
            </a:r>
          </a:p>
          <a:p>
            <a:pPr algn="l">
              <a:lnSpc>
                <a:spcPct val="100000"/>
              </a:lnSpc>
            </a:pPr>
            <a:r>
              <a:rPr sz="1600" i="0" b="0">
                <a:solidFill>
                  <a:srgbClr val="E2E8F0"/>
                </a:solidFill>
                <a:latin typeface="Menlo"/>
              </a:rPr>
              <a:t>- docs/database-rules.md: when touching DB code</a:t>
            </a:r>
          </a:p>
        </p:txBody>
      </p:sp>
      <p:sp>
        <p:nvSpPr>
          <p:cNvPr id="16" name="Rectangle 15"/>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Root file: start near </a:t>
            </a:r>
            <a:r>
              <a:rPr sz="1800" i="0" b="1">
                <a:solidFill>
                  <a:srgbClr val="1E293B"/>
                </a:solidFill>
                <a:latin typeface="Helvetica Neue"/>
              </a:rPr>
              <a:t>60 lines</a:t>
            </a:r>
            <a:r>
              <a:rPr sz="1800" i="0" b="0">
                <a:solidFill>
                  <a:srgbClr val="1E293B"/>
                </a:solidFill>
                <a:latin typeface="Helvetica Neue"/>
              </a:rPr>
              <a:t>, topic docs </a:t>
            </a:r>
            <a:r>
              <a:rPr sz="1800" i="0" b="1">
                <a:solidFill>
                  <a:srgbClr val="1E293B"/>
                </a:solidFill>
                <a:latin typeface="Helvetica Neue"/>
              </a:rPr>
              <a:t>50–150</a:t>
            </a:r>
          </a:p>
        </p:txBody>
      </p:sp>
      <p:sp>
        <p:nvSpPr>
          <p:cNvPr id="18" name="Rectangle 17"/>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Red lines at the top or bottom, never the middle</a:t>
            </a:r>
          </a:p>
        </p:txBody>
      </p:sp>
      <p:sp>
        <p:nvSpPr>
          <p:cNvPr id="20" name="Rectangle 19"/>
          <p:cNvSpPr/>
          <p:nvPr/>
        </p:nvSpPr>
        <p:spPr>
          <a:xfrm>
            <a:off x="7580193" y="30861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Each rule records its source, scope and expiry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5</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More agents, and when to stop</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Subagents as firewalls · Protocols first · Maturity · Removing what you built</a:t>
            </a:r>
          </a:p>
        </p:txBody>
      </p:sp>
      <p:cxnSp>
        <p:nvCxnSpPr>
          <p:cNvPr id="6" name="Connector 5"/>
          <p:cNvCxnSpPr/>
          <p:nvPr/>
        </p:nvCxnSpPr>
        <p:spPr>
          <a:xfrm>
            <a:off x="6446520" y="1475105"/>
            <a:ext cx="0" cy="39077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475105"/>
            <a:ext cx="4693615" cy="409067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Added agents multiply cost and new failures</a:t>
            </a:r>
          </a:p>
          <a:p>
            <a:pPr algn="l">
              <a:lnSpc>
                <a:spcPct val="100000"/>
              </a:lnSpc>
              <a:spcBef>
                <a:spcPts val="1189"/>
              </a:spcBef>
            </a:pPr>
            <a:r>
              <a:rPr sz="1700" i="0" b="0">
                <a:solidFill>
                  <a:srgbClr val="CBD5E1"/>
                </a:solidFill>
                <a:latin typeface="Helvetica Neue"/>
              </a:rPr>
              <a:t>A subagent is a context firewall first</a:t>
            </a:r>
          </a:p>
          <a:p>
            <a:pPr algn="l">
              <a:lnSpc>
                <a:spcPct val="100000"/>
              </a:lnSpc>
              <a:spcBef>
                <a:spcPts val="1189"/>
              </a:spcBef>
            </a:pPr>
            <a:r>
              <a:rPr sz="1700" i="0" b="0">
                <a:solidFill>
                  <a:srgbClr val="CBD5E1"/>
                </a:solidFill>
                <a:latin typeface="Helvetica Neue"/>
              </a:rPr>
              <a:t>Define interfaces for handoffs, not vibes</a:t>
            </a:r>
          </a:p>
          <a:p>
            <a:pPr algn="l">
              <a:lnSpc>
                <a:spcPct val="100000"/>
              </a:lnSpc>
              <a:spcBef>
                <a:spcPts val="1189"/>
              </a:spcBef>
            </a:pPr>
            <a:r>
              <a:rPr sz="1700" i="0" b="0">
                <a:solidFill>
                  <a:srgbClr val="CBD5E1"/>
                </a:solidFill>
                <a:latin typeface="Helvetica Neue"/>
              </a:rPr>
              <a:t>Multi-agent failures are harness bugs</a:t>
            </a:r>
          </a:p>
          <a:p>
            <a:pPr algn="l">
              <a:lnSpc>
                <a:spcPct val="100000"/>
              </a:lnSpc>
              <a:spcBef>
                <a:spcPts val="1189"/>
              </a:spcBef>
            </a:pPr>
            <a:r>
              <a:rPr sz="1700" i="0" b="0">
                <a:solidFill>
                  <a:srgbClr val="CBD5E1"/>
                </a:solidFill>
                <a:latin typeface="Helvetica Neue"/>
              </a:rPr>
              <a:t>A plan-execute engine, end to end</a:t>
            </a:r>
          </a:p>
          <a:p>
            <a:pPr algn="l">
              <a:lnSpc>
                <a:spcPct val="100000"/>
              </a:lnSpc>
              <a:spcBef>
                <a:spcPts val="1189"/>
              </a:spcBef>
            </a:pPr>
            <a:r>
              <a:rPr sz="1700" i="0" b="0">
                <a:solidFill>
                  <a:srgbClr val="CBD5E1"/>
                </a:solidFill>
                <a:latin typeface="Helvetica Neue"/>
              </a:rPr>
              <a:t>Put the human gate on the plan</a:t>
            </a:r>
          </a:p>
          <a:p>
            <a:pPr algn="l">
              <a:lnSpc>
                <a:spcPct val="100000"/>
              </a:lnSpc>
              <a:spcBef>
                <a:spcPts val="1189"/>
              </a:spcBef>
            </a:pPr>
            <a:r>
              <a:rPr sz="1700" i="0" b="0">
                <a:solidFill>
                  <a:srgbClr val="CBD5E1"/>
                </a:solidFill>
                <a:latin typeface="Helvetica Neue"/>
              </a:rPr>
              <a:t>Most teams claiming stage 3 are at stage 1</a:t>
            </a:r>
          </a:p>
          <a:p>
            <a:pPr algn="l">
              <a:lnSpc>
                <a:spcPct val="100000"/>
              </a:lnSpc>
              <a:spcBef>
                <a:spcPts val="1189"/>
              </a:spcBef>
            </a:pPr>
            <a:r>
              <a:rPr sz="1700" i="0" b="0">
                <a:solidFill>
                  <a:srgbClr val="CBD5E1"/>
                </a:solidFill>
                <a:latin typeface="Helvetica Neue"/>
              </a:rPr>
              <a:t>On every model upgrade, try removing scaffolding</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Added agents multiply cost and new failures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More agents, and when to stop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notes/07-orchestration.md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41</a:t>
            </a:r>
          </a:p>
        </p:txBody>
      </p:sp>
      <p:sp>
        <p:nvSpPr>
          <p:cNvPr id="10" name="Rectangle 9"/>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586983"/>
            <a:ext cx="73152" cy="63093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Escalate to multi-agent only when context does not fit, roles need different trust, self-evaluation blocks you, or branches are independent.</a:t>
            </a:r>
          </a:p>
        </p:txBody>
      </p:sp>
      <p:sp>
        <p:nvSpPr>
          <p:cNvPr id="13" name="Rectangle 12"/>
          <p:cNvSpPr/>
          <p:nvPr/>
        </p:nvSpPr>
        <p:spPr>
          <a:xfrm>
            <a:off x="777240" y="2235708"/>
            <a:ext cx="109728" cy="235915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35708"/>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single agent with verification is the correct default. Added agents multiply tokens and bring new ways to fail.</a:t>
            </a:r>
          </a:p>
        </p:txBody>
      </p:sp>
      <p:sp>
        <p:nvSpPr>
          <p:cNvPr id="15" name="TextBox 14"/>
          <p:cNvSpPr txBox="1"/>
          <p:nvPr/>
        </p:nvSpPr>
        <p:spPr>
          <a:xfrm>
            <a:off x="1234440" y="418338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Single agent with verification, then a two-agent supervisor, then a shared harness layer (notes/07)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subagent is a context firewall first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firewall</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More agents, and when to stop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notes/07-orchestration.md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The best reason for a subagent is to absorb exploration, returning a condensed result and not the exploration itself.</a:t>
            </a:r>
          </a:p>
        </p:txBody>
      </p:sp>
      <p:sp>
        <p:nvSpPr>
          <p:cNvPr id="13" name="Rectangle 12"/>
          <p:cNvSpPr/>
          <p:nvPr/>
        </p:nvSpPr>
        <p:spPr>
          <a:xfrm>
            <a:off x="502920" y="1568704"/>
            <a:ext cx="106680" cy="106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472184"/>
            <a:ext cx="5944038" cy="76200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A search that reads </a:t>
            </a:r>
            <a:r>
              <a:rPr sz="2000" i="0" b="1">
                <a:solidFill>
                  <a:srgbClr val="1E293B"/>
                </a:solidFill>
                <a:latin typeface="Helvetica Neue"/>
              </a:rPr>
              <a:t>40</a:t>
            </a:r>
            <a:r>
              <a:rPr sz="2000" i="0" b="0">
                <a:solidFill>
                  <a:srgbClr val="1E293B"/>
                </a:solidFill>
                <a:latin typeface="Helvetica Neue"/>
              </a:rPr>
              <a:t> files and finds </a:t>
            </a:r>
            <a:r>
              <a:rPr sz="2000" i="0" b="1">
                <a:solidFill>
                  <a:srgbClr val="1E293B"/>
                </a:solidFill>
                <a:latin typeface="Helvetica Neue"/>
              </a:rPr>
              <a:t>3</a:t>
            </a:r>
            <a:r>
              <a:rPr sz="2000" i="0" b="0">
                <a:solidFill>
                  <a:srgbClr val="1E293B"/>
                </a:solidFill>
                <a:latin typeface="Helvetica Neue"/>
              </a:rPr>
              <a:t> returns the 3, in a </a:t>
            </a:r>
            <a:r>
              <a:rPr sz="2000" i="0" b="1">
                <a:solidFill>
                  <a:srgbClr val="1E293B"/>
                </a:solidFill>
                <a:latin typeface="Helvetica Neue"/>
              </a:rPr>
              <a:t>1,000–2,000-token</a:t>
            </a:r>
            <a:r>
              <a:rPr sz="2000" i="0" b="0">
                <a:solidFill>
                  <a:srgbClr val="1E293B"/>
                </a:solidFill>
                <a:latin typeface="Helvetica Neue"/>
              </a:rPr>
              <a:t> summary</a:t>
            </a:r>
          </a:p>
        </p:txBody>
      </p:sp>
      <p:sp>
        <p:nvSpPr>
          <p:cNvPr id="15" name="Rectangle 14"/>
          <p:cNvSpPr/>
          <p:nvPr/>
        </p:nvSpPr>
        <p:spPr>
          <a:xfrm>
            <a:off x="502920" y="2391664"/>
            <a:ext cx="106680" cy="106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295144"/>
            <a:ext cx="5944038" cy="76200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Orchestrator holds the plan; subagents hold the details</a:t>
            </a:r>
          </a:p>
        </p:txBody>
      </p:sp>
      <p:sp>
        <p:nvSpPr>
          <p:cNvPr id="17" name="Rectangle 16"/>
          <p:cNvSpPr/>
          <p:nvPr/>
        </p:nvSpPr>
        <p:spPr>
          <a:xfrm>
            <a:off x="502920" y="3214624"/>
            <a:ext cx="106680" cy="106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18104"/>
            <a:ext cx="5944038" cy="76200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Deep Agents' </a:t>
            </a:r>
            <a:r>
              <a:rPr sz="1800" i="0" b="0">
                <a:solidFill>
                  <a:srgbClr val="0F7490"/>
                </a:solidFill>
                <a:latin typeface="Menlo"/>
              </a:rPr>
              <a:t>task</a:t>
            </a:r>
            <a:r>
              <a:rPr sz="2000" i="0" b="0">
                <a:solidFill>
                  <a:srgbClr val="1E293B"/>
                </a:solidFill>
                <a:latin typeface="Helvetica Neue"/>
              </a:rPr>
              <a:t> tool: fresh instance, runs to completion, </a:t>
            </a:r>
            <a:r>
              <a:rPr sz="2000" i="0" b="1">
                <a:solidFill>
                  <a:srgbClr val="1E293B"/>
                </a:solidFill>
                <a:latin typeface="Helvetica Neue"/>
              </a:rPr>
              <a:t>one</a:t>
            </a:r>
            <a:r>
              <a:rPr sz="2000" i="0" b="0">
                <a:solidFill>
                  <a:srgbClr val="1E293B"/>
                </a:solidFill>
                <a:latin typeface="Helvetica Neue"/>
              </a:rPr>
              <a:t> final report</a:t>
            </a:r>
          </a:p>
        </p:txBody>
      </p:sp>
      <p:sp>
        <p:nvSpPr>
          <p:cNvPr id="19" name="Rectangle 18"/>
          <p:cNvSpPr/>
          <p:nvPr/>
        </p:nvSpPr>
        <p:spPr>
          <a:xfrm>
            <a:off x="502920" y="4037584"/>
            <a:ext cx="106680" cy="106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41064"/>
            <a:ext cx="5944038" cy="76200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Isolation is the most expensive context lever, so use it at a real boundary</a:t>
            </a:r>
          </a:p>
        </p:txBody>
      </p:sp>
      <p:sp>
        <p:nvSpPr>
          <p:cNvPr id="21" name="Rectangle 20"/>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758" y="1472184"/>
            <a:ext cx="4556016"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sizing rule</a:t>
            </a:r>
          </a:p>
        </p:txBody>
      </p:sp>
      <p:sp>
        <p:nvSpPr>
          <p:cNvPr id="24" name="TextBox 23"/>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Give each subagent the minimum context, authority and execution budget needed to finish one clearly defined task.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Define interfaces for handoffs, not vibes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Worked example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More agents, and when to stop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notes/07-orchestration.md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 handoff needs a typed schema that labels each source and declares what was not done, because handoffs break more often than models.</a:t>
            </a:r>
          </a:p>
        </p:txBody>
      </p:sp>
      <p:sp>
        <p:nvSpPr>
          <p:cNvPr id="13" name="Rounded Rectangle 12"/>
          <p:cNvSpPr/>
          <p:nvPr/>
        </p:nvSpPr>
        <p:spPr>
          <a:xfrm>
            <a:off x="502920" y="1472184"/>
            <a:ext cx="6711513"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5" name="TextBox 14"/>
          <p:cNvSpPr txBox="1"/>
          <p:nvPr/>
        </p:nvSpPr>
        <p:spPr>
          <a:xfrm>
            <a:off x="731520" y="1883664"/>
            <a:ext cx="6254313"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[FROM_MAIN_AGENT] role and task</a:t>
            </a:r>
          </a:p>
          <a:p>
            <a:pPr algn="l">
              <a:lnSpc>
                <a:spcPct val="100000"/>
              </a:lnSpc>
            </a:pPr>
            <a:r>
              <a:rPr sz="1600" i="0" b="0">
                <a:solidFill>
                  <a:srgbClr val="E2E8F0"/>
                </a:solidFill>
                <a:latin typeface="Menlo"/>
              </a:rPr>
              <a:t>[FROM_USER]       the original request</a:t>
            </a:r>
          </a:p>
          <a:p>
            <a:pPr algn="l">
              <a:lnSpc>
                <a:spcPct val="100000"/>
              </a:lnSpc>
            </a:pPr>
            <a:r>
              <a:rPr sz="1600" i="0" b="0">
                <a:solidFill>
                  <a:srgbClr val="E2E8F0"/>
                </a:solidFill>
                <a:latin typeface="Menlo"/>
              </a:rPr>
              <a:t>[TOOL_RESULT]     data, not instructions</a:t>
            </a:r>
          </a:p>
          <a:p>
            <a:pPr algn="l">
              <a:lnSpc>
                <a:spcPct val="100000"/>
              </a:lnSpc>
            </a:pPr>
          </a:p>
          <a:p>
            <a:pPr algn="l">
              <a:lnSpc>
                <a:spcPct val="100000"/>
              </a:lnSpc>
            </a:pPr>
            <a:r>
              <a:rPr sz="1600" i="0" b="0">
                <a:solidFill>
                  <a:srgbClr val="E2E8F0"/>
                </a:solidFill>
                <a:latin typeface="Menlo"/>
              </a:rPr>
              <a:t>boundaries: what you may not touch</a:t>
            </a:r>
          </a:p>
          <a:p>
            <a:pPr algn="l">
              <a:lnSpc>
                <a:spcPct val="100000"/>
              </a:lnSpc>
            </a:pPr>
            <a:r>
              <a:rPr sz="1600" i="0" b="0">
                <a:solidFill>
                  <a:srgbClr val="E2E8F0"/>
                </a:solidFill>
                <a:latin typeface="Menlo"/>
              </a:rPr>
              <a:t>output schema (JSON):</a:t>
            </a:r>
          </a:p>
          <a:p>
            <a:pPr algn="l">
              <a:lnSpc>
                <a:spcPct val="100000"/>
              </a:lnSpc>
            </a:pPr>
            <a:r>
              <a:rPr sz="1600" i="0" b="0">
                <a:solidFill>
                  <a:srgbClr val="E2E8F0"/>
                </a:solidFill>
                <a:latin typeface="Menlo"/>
              </a:rPr>
              <a:t>  findings, files_touched, confidence,</a:t>
            </a:r>
          </a:p>
          <a:p>
            <a:pPr algn="l">
              <a:lnSpc>
                <a:spcPct val="100000"/>
              </a:lnSpc>
            </a:pPr>
            <a:r>
              <a:rPr sz="1600" i="0" b="0">
                <a:solidFill>
                  <a:srgbClr val="E2E8F0"/>
                </a:solidFill>
                <a:latin typeface="Menlo"/>
              </a:rPr>
              <a:t>  open_questions, not_done</a:t>
            </a:r>
          </a:p>
        </p:txBody>
      </p:sp>
      <p:sp>
        <p:nvSpPr>
          <p:cNvPr id="16" name="Rectangle 15"/>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Summaries, never transcripts</a:t>
            </a:r>
          </a:p>
        </p:txBody>
      </p:sp>
      <p:sp>
        <p:nvSpPr>
          <p:cNvPr id="18" name="Rectangle 17"/>
          <p:cNvSpPr/>
          <p:nvPr/>
        </p:nvSpPr>
        <p:spPr>
          <a:xfrm>
            <a:off x="7580193" y="2043684"/>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233" y="1956816"/>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State on disk, references in the message</a:t>
            </a:r>
          </a:p>
        </p:txBody>
      </p:sp>
      <p:sp>
        <p:nvSpPr>
          <p:cNvPr id="20" name="Rectangle 19"/>
          <p:cNvSpPr/>
          <p:nvPr/>
        </p:nvSpPr>
        <p:spPr>
          <a:xfrm>
            <a:off x="7580193" y="2784348"/>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0233" y="2697479"/>
            <a:ext cx="3788542" cy="393191"/>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Declare what was </a:t>
            </a:r>
            <a:r>
              <a:rPr sz="1800" i="0" b="1">
                <a:solidFill>
                  <a:srgbClr val="1E293B"/>
                </a:solidFill>
                <a:latin typeface="Helvetica Neue"/>
              </a:rPr>
              <a:t>not</a:t>
            </a:r>
            <a:r>
              <a:rPr sz="1800" i="0" b="0">
                <a:solidFill>
                  <a:srgbClr val="1E293B"/>
                </a:solidFill>
                <a:latin typeface="Helvetica Neue"/>
              </a:rPr>
              <a:t> done</a:t>
            </a:r>
          </a:p>
        </p:txBody>
      </p:sp>
      <p:sp>
        <p:nvSpPr>
          <p:cNvPr id="22" name="Rectangle 21"/>
          <p:cNvSpPr/>
          <p:nvPr/>
        </p:nvSpPr>
        <p:spPr>
          <a:xfrm>
            <a:off x="7580193" y="3223260"/>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0233" y="3136391"/>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Handoffs break more often than the models do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Multi-agent failures are harness bugs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What breaks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More agents, and when to stop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notes/07-orchestration.md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When components pass and the end-to-end run fails, suspect a handoff bug, and evaluate at both levels.</a:t>
            </a:r>
          </a:p>
        </p:txBody>
      </p:sp>
      <p:graphicFrame>
        <p:nvGraphicFramePr>
          <p:cNvPr id="13" name="Table 12"/>
          <p:cNvGraphicFramePr>
            <a:graphicFrameLocks noGrp="1"/>
          </p:cNvGraphicFramePr>
          <p:nvPr/>
        </p:nvGraphicFramePr>
        <p:xfrm>
          <a:off x="502920" y="1472184"/>
          <a:ext cx="11185853" cy="2545080"/>
        </p:xfrm>
        <a:graphic>
          <a:graphicData uri="http://schemas.openxmlformats.org/drawingml/2006/table">
            <a:tbl>
              <a:tblPr firstRow="1" bandRow="1">
                <a:tableStyleId>{5940675A-B579-460E-94D1-54222C63F5DA}</a:tableStyleId>
              </a:tblPr>
              <a:tblGrid>
                <a:gridCol w="2908322"/>
                <a:gridCol w="4250624"/>
                <a:gridCol w="4026907"/>
              </a:tblGrid>
              <a:tr h="405384">
                <a:tc>
                  <a:txBody>
                    <a:bodyPr wrap="square"/>
                    <a:lstStyle/>
                    <a:p>
                      <a:pPr>
                        <a:lnSpc>
                          <a:spcPct val="100000"/>
                        </a:lnSpc>
                      </a:pPr>
                      <a:r>
                        <a:rPr sz="1700" i="0" b="1">
                          <a:solidFill>
                            <a:srgbClr val="FFFFFF"/>
                          </a:solidFill>
                          <a:latin typeface="Helvetica Neue"/>
                        </a:rPr>
                        <a:t>Failure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Shape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Mitigation</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Loop oscillation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Two nodes bounce work forever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Counters on cyclic edges; escalate</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Context pollution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Nested flows leak state upward</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Boundary schemas; return summaries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Concurrency collision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Branches write the same state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Join barriers; key ownership</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Consensus deadlock</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Reviewers never agree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Tie-break, majority or an arbiter</a:t>
                      </a:r>
                    </a:p>
                  </a:txBody>
                  <a:tcPr marL="109728" marR="109728" marT="54864" marB="54864" anchor="ctr">
                    <a:solidFill>
                      <a:srgbClr val="F8FAFC"/>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plan-execute engine, end to end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engine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More agents, and when to stop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notes/07-orchestration.md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plan-execute engine turns a goal into a JSON plan of registered agents, then runs and traces each step in order.</a:t>
            </a:r>
          </a:p>
        </p:txBody>
      </p:sp>
      <p:sp>
        <p:nvSpPr>
          <p:cNvPr id="13" name="Rectangle 12"/>
          <p:cNvSpPr/>
          <p:nvPr/>
        </p:nvSpPr>
        <p:spPr>
          <a:xfrm>
            <a:off x="1553542" y="1417320"/>
            <a:ext cx="4050976"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ntext-engineering-multi-agent-systems-fig4-1.png"/>
          <p:cNvPicPr>
            <a:picLocks noChangeAspect="1"/>
          </p:cNvPicPr>
          <p:nvPr/>
        </p:nvPicPr>
        <p:blipFill>
          <a:blip r:embed="rId2"/>
          <a:stretch>
            <a:fillRect/>
          </a:stretch>
        </p:blipFill>
        <p:spPr>
          <a:xfrm>
            <a:off x="1608406" y="1472184"/>
            <a:ext cx="3941248" cy="3602735"/>
          </a:xfrm>
          <a:prstGeom prst="rect">
            <a:avLst/>
          </a:prstGeom>
        </p:spPr>
      </p:pic>
      <p:sp>
        <p:nvSpPr>
          <p:cNvPr id="15" name="TextBox 14"/>
          <p:cNvSpPr txBox="1"/>
          <p:nvPr/>
        </p:nvSpPr>
        <p:spPr>
          <a:xfrm>
            <a:off x="502920" y="5212079"/>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Rothman, Context Engineering for Multi-Agent Systems, Fig. 4.1</a:t>
            </a:r>
          </a:p>
        </p:txBody>
      </p:sp>
      <p:sp>
        <p:nvSpPr>
          <p:cNvPr id="16" name="Rectangle 15"/>
          <p:cNvSpPr/>
          <p:nvPr/>
        </p:nvSpPr>
        <p:spPr>
          <a:xfrm>
            <a:off x="7020900" y="155905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A Planner reads the Agent Registry and has the LLM produce a JSON plan</a:t>
            </a:r>
          </a:p>
        </p:txBody>
      </p:sp>
      <p:sp>
        <p:nvSpPr>
          <p:cNvPr id="18" name="Rectangle 17"/>
          <p:cNvSpPr/>
          <p:nvPr/>
        </p:nvSpPr>
        <p:spPr>
          <a:xfrm>
            <a:off x="7020900" y="229971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The Executor runs Librarian, Researcher and Writer steps in order</a:t>
            </a:r>
          </a:p>
        </p:txBody>
      </p:sp>
      <p:sp>
        <p:nvSpPr>
          <p:cNvPr id="20" name="Rectangle 19"/>
          <p:cNvSpPr/>
          <p:nvPr/>
        </p:nvSpPr>
        <p:spPr>
          <a:xfrm>
            <a:off x="7020900" y="3040380"/>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Each output chains into the next step, and a trace records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Put the human gate on the plan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pipeline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More agents, and when to stop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notes/08-maturity-and-failure-modes.md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Reviewing a wrong plan takes minutes while reviewing the code from a wrong plan takes an hour, so the human gate goes on the plan.</a:t>
            </a:r>
          </a:p>
        </p:txBody>
      </p:sp>
      <p:sp>
        <p:nvSpPr>
          <p:cNvPr id="13" name="Rectangle 12"/>
          <p:cNvSpPr/>
          <p:nvPr/>
        </p:nvSpPr>
        <p:spPr>
          <a:xfrm>
            <a:off x="502920" y="1472184"/>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 y="1532382"/>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1532382"/>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6" name="TextBox 15"/>
          <p:cNvSpPr txBox="1"/>
          <p:nvPr/>
        </p:nvSpPr>
        <p:spPr>
          <a:xfrm>
            <a:off x="1325880" y="1472184"/>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Preflight</a:t>
            </a:r>
            <a:r>
              <a:rPr sz="1800" i="0" b="0">
                <a:solidFill>
                  <a:srgbClr val="475569"/>
                </a:solidFill>
                <a:latin typeface="Helvetica Neue"/>
              </a:rPr>
              <a:t> — gather context and establish current state</a:t>
            </a:r>
          </a:p>
        </p:txBody>
      </p:sp>
      <p:sp>
        <p:nvSpPr>
          <p:cNvPr id="17" name="Rectangle 16"/>
          <p:cNvSpPr/>
          <p:nvPr/>
        </p:nvSpPr>
        <p:spPr>
          <a:xfrm>
            <a:off x="502920" y="2159508"/>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7512" y="2219706"/>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2219706"/>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20" name="TextBox 19"/>
          <p:cNvSpPr txBox="1"/>
          <p:nvPr/>
        </p:nvSpPr>
        <p:spPr>
          <a:xfrm>
            <a:off x="1325880" y="2159508"/>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Plan</a:t>
            </a:r>
            <a:r>
              <a:rPr sz="1800" i="0" b="0">
                <a:solidFill>
                  <a:srgbClr val="475569"/>
                </a:solidFill>
                <a:latin typeface="Helvetica Neue"/>
              </a:rPr>
              <a:t> — decompose into steps</a:t>
            </a:r>
          </a:p>
        </p:txBody>
      </p:sp>
      <p:sp>
        <p:nvSpPr>
          <p:cNvPr id="21" name="Rectangle 20"/>
          <p:cNvSpPr/>
          <p:nvPr/>
        </p:nvSpPr>
        <p:spPr>
          <a:xfrm>
            <a:off x="502920" y="2846832"/>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 y="2907030"/>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290703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a:t>
            </a:r>
          </a:p>
        </p:txBody>
      </p:sp>
      <p:sp>
        <p:nvSpPr>
          <p:cNvPr id="24" name="TextBox 23"/>
          <p:cNvSpPr txBox="1"/>
          <p:nvPr/>
        </p:nvSpPr>
        <p:spPr>
          <a:xfrm>
            <a:off x="1325880" y="2846832"/>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Approve</a:t>
            </a:r>
            <a:r>
              <a:rPr sz="1800" i="0" b="0">
                <a:solidFill>
                  <a:srgbClr val="475569"/>
                </a:solidFill>
                <a:latin typeface="Helvetica Neue"/>
              </a:rPr>
              <a:t> — a mandatory human gate on the </a:t>
            </a:r>
            <a:r>
              <a:rPr sz="1800" i="0" b="1">
                <a:solidFill>
                  <a:srgbClr val="1E293B"/>
                </a:solidFill>
                <a:latin typeface="Helvetica Neue"/>
              </a:rPr>
              <a:t>plan</a:t>
            </a:r>
          </a:p>
        </p:txBody>
      </p:sp>
      <p:sp>
        <p:nvSpPr>
          <p:cNvPr id="25" name="Rectangle 24"/>
          <p:cNvSpPr/>
          <p:nvPr/>
        </p:nvSpPr>
        <p:spPr>
          <a:xfrm>
            <a:off x="502920" y="3534156"/>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3594354"/>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359435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8" name="TextBox 27"/>
          <p:cNvSpPr txBox="1"/>
          <p:nvPr/>
        </p:nvSpPr>
        <p:spPr>
          <a:xfrm>
            <a:off x="1325880" y="3534156"/>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Tasks</a:t>
            </a:r>
            <a:r>
              <a:rPr sz="1800" i="0" b="0">
                <a:solidFill>
                  <a:srgbClr val="475569"/>
                </a:solidFill>
                <a:latin typeface="Helvetica Neue"/>
              </a:rPr>
              <a:t> — execute, documenting as you go</a:t>
            </a:r>
          </a:p>
        </p:txBody>
      </p:sp>
      <p:sp>
        <p:nvSpPr>
          <p:cNvPr id="29" name="Rectangle 28"/>
          <p:cNvSpPr/>
          <p:nvPr/>
        </p:nvSpPr>
        <p:spPr>
          <a:xfrm>
            <a:off x="502920" y="4221480"/>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 y="4281677"/>
            <a:ext cx="457200" cy="457200"/>
          </a:xfrm>
          <a:prstGeom prst="ellipse">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4281677"/>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2" name="TextBox 31"/>
          <p:cNvSpPr txBox="1"/>
          <p:nvPr/>
        </p:nvSpPr>
        <p:spPr>
          <a:xfrm>
            <a:off x="1325880" y="4221480"/>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Verify</a:t>
            </a:r>
            <a:r>
              <a:rPr sz="1800" i="0" b="0">
                <a:solidFill>
                  <a:srgbClr val="475569"/>
                </a:solidFill>
                <a:latin typeface="Helvetica Neue"/>
              </a:rPr>
              <a:t> — a binary pass/fail quality gate</a:t>
            </a:r>
          </a:p>
        </p:txBody>
      </p:sp>
      <p:sp>
        <p:nvSpPr>
          <p:cNvPr id="33" name="Rectangle 32"/>
          <p:cNvSpPr/>
          <p:nvPr/>
        </p:nvSpPr>
        <p:spPr>
          <a:xfrm>
            <a:off x="502920" y="4908804"/>
            <a:ext cx="11185855" cy="57759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67512" y="4969001"/>
            <a:ext cx="457200" cy="457200"/>
          </a:xfrm>
          <a:prstGeom prst="ellipse">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96900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6</a:t>
            </a:r>
          </a:p>
        </p:txBody>
      </p:sp>
      <p:sp>
        <p:nvSpPr>
          <p:cNvPr id="36" name="TextBox 35"/>
          <p:cNvSpPr txBox="1"/>
          <p:nvPr/>
        </p:nvSpPr>
        <p:spPr>
          <a:xfrm>
            <a:off x="1325880" y="4908804"/>
            <a:ext cx="10180015" cy="577595"/>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Finish</a:t>
            </a:r>
            <a:r>
              <a:rPr sz="1800" i="0" b="0">
                <a:solidFill>
                  <a:srgbClr val="475569"/>
                </a:solidFill>
                <a:latin typeface="Helvetica Neue"/>
              </a:rPr>
              <a:t> — export artifacts, log the outcome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Most teams claiming stage 3 are at stage 1</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Where you stand</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More agents, and when to stop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notes/08-maturity-and-failure-modes.md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The honest maturity test is whether you can point to the code that runs verification on every task without a human remembering.</a:t>
            </a:r>
          </a:p>
        </p:txBody>
      </p:sp>
      <p:graphicFrame>
        <p:nvGraphicFramePr>
          <p:cNvPr id="13" name="Table 12"/>
          <p:cNvGraphicFramePr>
            <a:graphicFrameLocks noGrp="1"/>
          </p:cNvGraphicFramePr>
          <p:nvPr/>
        </p:nvGraphicFramePr>
        <p:xfrm>
          <a:off x="502920" y="1472184"/>
          <a:ext cx="11185854" cy="2432304"/>
        </p:xfrm>
        <a:graphic>
          <a:graphicData uri="http://schemas.openxmlformats.org/drawingml/2006/table">
            <a:tbl>
              <a:tblPr firstRow="1" bandRow="1">
                <a:tableStyleId>{5940675A-B579-460E-94D1-54222C63F5DA}</a:tableStyleId>
              </a:tblPr>
              <a:tblGrid>
                <a:gridCol w="1118585"/>
                <a:gridCol w="2684605"/>
                <a:gridCol w="7382664"/>
              </a:tblGrid>
              <a:tr h="405384">
                <a:tc>
                  <a:txBody>
                    <a:bodyPr wrap="square"/>
                    <a:lstStyle/>
                    <a:p>
                      <a:pPr>
                        <a:lnSpc>
                          <a:spcPct val="100000"/>
                        </a:lnSpc>
                      </a:pPr>
                      <a:r>
                        <a:rPr sz="1700" i="0" b="1">
                          <a:solidFill>
                            <a:srgbClr val="FFFFFF"/>
                          </a:solidFill>
                          <a:latin typeface="Helvetica Neue"/>
                        </a:rPr>
                        <a:t>Stage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Name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 exists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Ad-hoc</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Scripts, manual tool calls, no registry or structured logs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1</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Basic</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Schema-first tools, a registry, unit-test verification</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2</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Verified</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CI checks, sandboxing, tracing, behavioural evals</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3</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Observability-first</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E2E tracing, LLM-judge scoring, versioned memory</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4</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Self-healing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Auto-remediation, cost-aware orchestration (emerging)</a:t>
                      </a:r>
                    </a:p>
                  </a:txBody>
                  <a:tcPr marL="109728" marR="109728" marT="54864" marB="54864"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On every model upgrade, try removing scaffolding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Monday morning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More agents, and when to stop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notes/08-maturity-and-failure-modes.md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48</a:t>
            </a:r>
          </a:p>
        </p:txBody>
      </p:sp>
      <p:sp>
        <p:nvSpPr>
          <p:cNvPr id="10" name="TextBox 9"/>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Every component encodes an assumption about what the model cannot do on its own.</a:t>
            </a:r>
          </a:p>
        </p:txBody>
      </p:sp>
      <p:sp>
        <p:nvSpPr>
          <p:cNvPr id="11" name="Rectangle 10"/>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Harness components encode assumptions about model weakness, so disable each in turn on every upgrade and delete what no longer pays.</a:t>
            </a:r>
          </a:p>
        </p:txBody>
      </p:sp>
      <p:sp>
        <p:nvSpPr>
          <p:cNvPr id="14" name="Rounded Rectangle 13"/>
          <p:cNvSpPr/>
          <p:nvPr/>
        </p:nvSpPr>
        <p:spPr>
          <a:xfrm>
            <a:off x="2026767" y="2077212"/>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3927" y="2077212"/>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List components</a:t>
            </a:r>
          </a:p>
          <a:p>
            <a:pPr algn="ctr">
              <a:lnSpc>
                <a:spcPct val="110000"/>
              </a:lnSpc>
            </a:pPr>
            <a:r>
              <a:rPr sz="1300" i="0" b="0">
                <a:solidFill>
                  <a:srgbClr val="E8F4F8"/>
                </a:solidFill>
                <a:latin typeface="Helvetica Neue"/>
              </a:rPr>
              <a:t>and the weakness of each</a:t>
            </a:r>
          </a:p>
        </p:txBody>
      </p:sp>
      <p:cxnSp>
        <p:nvCxnSpPr>
          <p:cNvPr id="16" name="Connector 15"/>
          <p:cNvCxnSpPr/>
          <p:nvPr/>
        </p:nvCxnSpPr>
        <p:spPr>
          <a:xfrm>
            <a:off x="4459071" y="267995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907127" y="2077212"/>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44287" y="2077212"/>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Disable one</a:t>
            </a:r>
          </a:p>
          <a:p>
            <a:pPr algn="ctr">
              <a:lnSpc>
                <a:spcPct val="110000"/>
              </a:lnSpc>
            </a:pPr>
            <a:r>
              <a:rPr sz="1300" i="0" b="0">
                <a:solidFill>
                  <a:srgbClr val="E8F4F8"/>
                </a:solidFill>
                <a:latin typeface="Helvetica Neue"/>
              </a:rPr>
              <a:t>run the eval suite</a:t>
            </a:r>
          </a:p>
        </p:txBody>
      </p:sp>
      <p:cxnSp>
        <p:nvCxnSpPr>
          <p:cNvPr id="19" name="Connector 18"/>
          <p:cNvCxnSpPr/>
          <p:nvPr/>
        </p:nvCxnSpPr>
        <p:spPr>
          <a:xfrm>
            <a:off x="7339431" y="267995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87487" y="2077212"/>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4647" y="2077212"/>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Decide</a:t>
            </a:r>
          </a:p>
          <a:p>
            <a:pPr algn="ctr">
              <a:lnSpc>
                <a:spcPct val="110000"/>
              </a:lnSpc>
            </a:pPr>
            <a:r>
              <a:rPr sz="1300" i="0" b="0">
                <a:solidFill>
                  <a:srgbClr val="E8F4F8"/>
                </a:solidFill>
                <a:latin typeface="Helvetica Neue"/>
              </a:rPr>
              <a:t>holds: delete. Drops: keep</a:t>
            </a:r>
          </a:p>
        </p:txBody>
      </p:sp>
      <p:cxnSp>
        <p:nvCxnSpPr>
          <p:cNvPr id="22" name="Connector 21"/>
          <p:cNvCxnSpPr/>
          <p:nvPr/>
        </p:nvCxnSpPr>
        <p:spPr>
          <a:xfrm>
            <a:off x="8976207" y="3282696"/>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215487" y="3694176"/>
            <a:ext cx="576072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215487" y="3319272"/>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215487" y="3730752"/>
            <a:ext cx="576072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on every model upgrade</a:t>
            </a:r>
          </a:p>
        </p:txBody>
      </p:sp>
      <p:sp>
        <p:nvSpPr>
          <p:cNvPr id="26" name="Rectangle 25"/>
          <p:cNvSpPr/>
          <p:nvPr/>
        </p:nvSpPr>
        <p:spPr>
          <a:xfrm>
            <a:off x="502920" y="4502912"/>
            <a:ext cx="85343" cy="85343"/>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425696"/>
            <a:ext cx="10865815" cy="359664"/>
          </a:xfrm>
          <a:prstGeom prst="rect">
            <a:avLst/>
          </a:prstGeom>
          <a:noFill/>
        </p:spPr>
        <p:txBody>
          <a:bodyPr wrap="square" lIns="0" rIns="0" tIns="0" bIns="0" anchor="t">
            <a:noAutofit/>
          </a:bodyPr>
          <a:lstStyle/>
          <a:p>
            <a:pPr algn="l">
              <a:lnSpc>
                <a:spcPct val="110000"/>
              </a:lnSpc>
            </a:pPr>
            <a:r>
              <a:rPr sz="1600" i="0" b="0">
                <a:solidFill>
                  <a:srgbClr val="1E293B"/>
                </a:solidFill>
                <a:latin typeface="Helvetica Neue"/>
              </a:rPr>
              <a:t>Opus 4.6 let Anthropic </a:t>
            </a:r>
            <a:r>
              <a:rPr sz="1600" i="0" b="1">
                <a:solidFill>
                  <a:srgbClr val="1E293B"/>
                </a:solidFill>
                <a:latin typeface="Helvetica Neue"/>
              </a:rPr>
              <a:t>remove sprint decomposition</a:t>
            </a:r>
            <a:r>
              <a:rPr sz="1600" i="0" b="0">
                <a:solidFill>
                  <a:srgbClr val="1E293B"/>
                </a:solidFill>
                <a:latin typeface="Helvetica Neue"/>
              </a:rPr>
              <a:t> with no quality loss</a:t>
            </a:r>
          </a:p>
        </p:txBody>
      </p:sp>
      <p:sp>
        <p:nvSpPr>
          <p:cNvPr id="28" name="Rectangle 27"/>
          <p:cNvSpPr/>
          <p:nvPr/>
        </p:nvSpPr>
        <p:spPr>
          <a:xfrm>
            <a:off x="502920" y="4893056"/>
            <a:ext cx="85343" cy="85343"/>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815840"/>
            <a:ext cx="10865815" cy="359664"/>
          </a:xfrm>
          <a:prstGeom prst="rect">
            <a:avLst/>
          </a:prstGeom>
          <a:noFill/>
        </p:spPr>
        <p:txBody>
          <a:bodyPr wrap="square" lIns="0" rIns="0" tIns="0" bIns="0" anchor="t">
            <a:noAutofit/>
          </a:bodyPr>
          <a:lstStyle/>
          <a:p>
            <a:pPr algn="l">
              <a:lnSpc>
                <a:spcPct val="110000"/>
              </a:lnSpc>
            </a:pPr>
            <a:r>
              <a:rPr sz="1600" i="0" b="0">
                <a:solidFill>
                  <a:srgbClr val="1E293B"/>
                </a:solidFill>
                <a:latin typeface="Helvetica Neue"/>
              </a:rPr>
              <a:t>PRINCE deleted a verifier that never paid off, with no upgrade needed</a:t>
            </a:r>
          </a:p>
        </p:txBody>
      </p:sp>
      <p:sp>
        <p:nvSpPr>
          <p:cNvPr id="30" name="Rectangle 29"/>
          <p:cNvSpPr/>
          <p:nvPr/>
        </p:nvSpPr>
        <p:spPr>
          <a:xfrm>
            <a:off x="502920" y="5283200"/>
            <a:ext cx="85343" cy="85343"/>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205984"/>
            <a:ext cx="10865815" cy="359664"/>
          </a:xfrm>
          <a:prstGeom prst="rect">
            <a:avLst/>
          </a:prstGeom>
          <a:noFill/>
        </p:spPr>
        <p:txBody>
          <a:bodyPr wrap="square" lIns="0" rIns="0" tIns="0" bIns="0" anchor="t">
            <a:noAutofit/>
          </a:bodyPr>
          <a:lstStyle/>
          <a:p>
            <a:pPr algn="l">
              <a:lnSpc>
                <a:spcPct val="110000"/>
              </a:lnSpc>
            </a:pPr>
            <a:r>
              <a:rPr sz="1600" i="0" b="0">
                <a:solidFill>
                  <a:srgbClr val="1E293B"/>
                </a:solidFill>
                <a:latin typeface="Helvetica Neue"/>
              </a:rPr>
              <a:t>Scaffolding for a model weakness expires; scaffolding for an external constraint does not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Closing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notes/08-maturity-and-failure-modes.md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When an agent fails, change the system around it, and then make sure that failure cannot happen again.</a:t>
            </a:r>
          </a:p>
        </p:txBody>
      </p:sp>
      <p:sp>
        <p:nvSpPr>
          <p:cNvPr id="13" name="Rectangle 12"/>
          <p:cNvSpPr/>
          <p:nvPr/>
        </p:nvSpPr>
        <p:spPr>
          <a:xfrm>
            <a:off x="502920" y="1472184"/>
            <a:ext cx="3545738" cy="177698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177698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Diagnose</a:t>
            </a:r>
          </a:p>
        </p:txBody>
      </p:sp>
      <p:sp>
        <p:nvSpPr>
          <p:cNvPr id="16" name="TextBox 15"/>
          <p:cNvSpPr txBox="1"/>
          <p:nvPr/>
        </p:nvSpPr>
        <p:spPr>
          <a:xfrm>
            <a:off x="777240" y="2087880"/>
            <a:ext cx="3042818" cy="978407"/>
          </a:xfrm>
          <a:prstGeom prst="rect">
            <a:avLst/>
          </a:prstGeom>
          <a:noFill/>
        </p:spPr>
        <p:txBody>
          <a:bodyPr wrap="square" lIns="0" rIns="0" tIns="0" bIns="0" anchor="t">
            <a:noAutofit/>
          </a:bodyPr>
          <a:lstStyle/>
          <a:p>
            <a:pPr algn="l">
              <a:lnSpc>
                <a:spcPct val="110000"/>
              </a:lnSpc>
            </a:pPr>
            <a:r>
              <a:rPr sz="1400" i="0" b="0">
                <a:solidFill>
                  <a:srgbClr val="475569"/>
                </a:solidFill>
                <a:latin typeface="Helvetica Neue"/>
              </a:rPr>
              <a:t>Failures are configuration. Fix the harness before blaming the model, and ratchet every fix in.</a:t>
            </a:r>
          </a:p>
        </p:txBody>
      </p:sp>
      <p:sp>
        <p:nvSpPr>
          <p:cNvPr id="17" name="Rectangle 16"/>
          <p:cNvSpPr/>
          <p:nvPr/>
        </p:nvSpPr>
        <p:spPr>
          <a:xfrm>
            <a:off x="4322978" y="1472184"/>
            <a:ext cx="3545738" cy="177698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22978" y="1472184"/>
            <a:ext cx="82296" cy="17769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Tools</a:t>
            </a:r>
          </a:p>
        </p:txBody>
      </p:sp>
      <p:sp>
        <p:nvSpPr>
          <p:cNvPr id="20" name="TextBox 19"/>
          <p:cNvSpPr txBox="1"/>
          <p:nvPr/>
        </p:nvSpPr>
        <p:spPr>
          <a:xfrm>
            <a:off x="4597298" y="2087880"/>
            <a:ext cx="3042818" cy="978407"/>
          </a:xfrm>
          <a:prstGeom prst="rect">
            <a:avLst/>
          </a:prstGeom>
          <a:noFill/>
        </p:spPr>
        <p:txBody>
          <a:bodyPr wrap="square" lIns="0" rIns="0" tIns="0" bIns="0" anchor="t">
            <a:noAutofit/>
          </a:bodyPr>
          <a:lstStyle/>
          <a:p>
            <a:pPr algn="l">
              <a:lnSpc>
                <a:spcPct val="110000"/>
              </a:lnSpc>
            </a:pPr>
            <a:r>
              <a:rPr sz="1400" i="0" b="0">
                <a:solidFill>
                  <a:srgbClr val="475569"/>
                </a:solidFill>
                <a:latin typeface="Helvetica Neue"/>
              </a:rPr>
              <a:t>Write descriptions for a reader with no docs. Gate only the irreversible.</a:t>
            </a:r>
          </a:p>
        </p:txBody>
      </p:sp>
      <p:sp>
        <p:nvSpPr>
          <p:cNvPr id="21" name="Rectangle 20"/>
          <p:cNvSpPr/>
          <p:nvPr/>
        </p:nvSpPr>
        <p:spPr>
          <a:xfrm>
            <a:off x="8143036" y="1472184"/>
            <a:ext cx="3545738" cy="177698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3036" y="1472184"/>
            <a:ext cx="82296" cy="17769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Boundaries</a:t>
            </a:r>
          </a:p>
        </p:txBody>
      </p:sp>
      <p:sp>
        <p:nvSpPr>
          <p:cNvPr id="24" name="TextBox 23"/>
          <p:cNvSpPr txBox="1"/>
          <p:nvPr/>
        </p:nvSpPr>
        <p:spPr>
          <a:xfrm>
            <a:off x="8417356" y="2087880"/>
            <a:ext cx="3042818" cy="978407"/>
          </a:xfrm>
          <a:prstGeom prst="rect">
            <a:avLst/>
          </a:prstGeom>
          <a:noFill/>
        </p:spPr>
        <p:txBody>
          <a:bodyPr wrap="square" lIns="0" rIns="0" tIns="0" bIns="0" anchor="t">
            <a:noAutofit/>
          </a:bodyPr>
          <a:lstStyle/>
          <a:p>
            <a:pPr algn="l">
              <a:lnSpc>
                <a:spcPct val="110000"/>
              </a:lnSpc>
            </a:pPr>
            <a:r>
              <a:rPr sz="1400" i="0" b="0">
                <a:solidFill>
                  <a:srgbClr val="475569"/>
                </a:solidFill>
                <a:latin typeface="Helvetica Neue"/>
              </a:rPr>
              <a:t>Must hold every time means hook, permission or schema. Test the gate; enumerate effects.</a:t>
            </a:r>
          </a:p>
        </p:txBody>
      </p:sp>
      <p:sp>
        <p:nvSpPr>
          <p:cNvPr id="25" name="Rectangle 24"/>
          <p:cNvSpPr/>
          <p:nvPr/>
        </p:nvSpPr>
        <p:spPr>
          <a:xfrm>
            <a:off x="502920" y="3523488"/>
            <a:ext cx="3545738" cy="177698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523488"/>
            <a:ext cx="82296" cy="1776984"/>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06368"/>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Verification</a:t>
            </a:r>
          </a:p>
        </p:txBody>
      </p:sp>
      <p:sp>
        <p:nvSpPr>
          <p:cNvPr id="28" name="TextBox 27"/>
          <p:cNvSpPr txBox="1"/>
          <p:nvPr/>
        </p:nvSpPr>
        <p:spPr>
          <a:xfrm>
            <a:off x="777240" y="4139183"/>
            <a:ext cx="3042818" cy="978408"/>
          </a:xfrm>
          <a:prstGeom prst="rect">
            <a:avLst/>
          </a:prstGeom>
          <a:noFill/>
        </p:spPr>
        <p:txBody>
          <a:bodyPr wrap="square" lIns="0" rIns="0" tIns="0" bIns="0" anchor="t">
            <a:noAutofit/>
          </a:bodyPr>
          <a:lstStyle/>
          <a:p>
            <a:pPr algn="l">
              <a:lnSpc>
                <a:spcPct val="110000"/>
              </a:lnSpc>
            </a:pPr>
            <a:r>
              <a:rPr sz="1400" i="0" b="0">
                <a:solidFill>
                  <a:srgbClr val="475569"/>
                </a:solidFill>
                <a:latin typeface="Helvetica Neue"/>
              </a:rPr>
              <a:t>Binary evals first. A separate evaluator. Two retries, then fix the spec.</a:t>
            </a:r>
          </a:p>
        </p:txBody>
      </p:sp>
      <p:sp>
        <p:nvSpPr>
          <p:cNvPr id="29" name="Rectangle 28"/>
          <p:cNvSpPr/>
          <p:nvPr/>
        </p:nvSpPr>
        <p:spPr>
          <a:xfrm>
            <a:off x="4322978" y="3523488"/>
            <a:ext cx="3545738" cy="177698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22978" y="3523488"/>
            <a:ext cx="82296" cy="1776984"/>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7298" y="3706368"/>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Long horizons</a:t>
            </a:r>
          </a:p>
        </p:txBody>
      </p:sp>
      <p:sp>
        <p:nvSpPr>
          <p:cNvPr id="32" name="TextBox 31"/>
          <p:cNvSpPr txBox="1"/>
          <p:nvPr/>
        </p:nvSpPr>
        <p:spPr>
          <a:xfrm>
            <a:off x="4597298" y="4139183"/>
            <a:ext cx="3042818" cy="978408"/>
          </a:xfrm>
          <a:prstGeom prst="rect">
            <a:avLst/>
          </a:prstGeom>
          <a:noFill/>
        </p:spPr>
        <p:txBody>
          <a:bodyPr wrap="square" lIns="0" rIns="0" tIns="0" bIns="0" anchor="t">
            <a:noAutofit/>
          </a:bodyPr>
          <a:lstStyle/>
          <a:p>
            <a:pPr algn="l">
              <a:lnSpc>
                <a:spcPct val="110000"/>
              </a:lnSpc>
            </a:pPr>
            <a:r>
              <a:rPr sz="1400" i="0" b="0">
                <a:solidFill>
                  <a:srgbClr val="475569"/>
                </a:solidFill>
                <a:latin typeface="Helvetica Neue"/>
              </a:rPr>
              <a:t>State in files. Handoffs separate verified from assumed. Clean state is part of done.</a:t>
            </a:r>
          </a:p>
        </p:txBody>
      </p:sp>
      <p:sp>
        <p:nvSpPr>
          <p:cNvPr id="33" name="Rectangle 32"/>
          <p:cNvSpPr/>
          <p:nvPr/>
        </p:nvSpPr>
        <p:spPr>
          <a:xfrm>
            <a:off x="8143036" y="3523488"/>
            <a:ext cx="3545738" cy="177698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43036" y="3523488"/>
            <a:ext cx="82296" cy="1776984"/>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7356" y="3706368"/>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Maturity</a:t>
            </a:r>
          </a:p>
        </p:txBody>
      </p:sp>
      <p:sp>
        <p:nvSpPr>
          <p:cNvPr id="36" name="TextBox 35"/>
          <p:cNvSpPr txBox="1"/>
          <p:nvPr/>
        </p:nvSpPr>
        <p:spPr>
          <a:xfrm>
            <a:off x="8417356" y="4139183"/>
            <a:ext cx="3042818" cy="978408"/>
          </a:xfrm>
          <a:prstGeom prst="rect">
            <a:avLst/>
          </a:prstGeom>
          <a:noFill/>
        </p:spPr>
        <p:txBody>
          <a:bodyPr wrap="square" lIns="0" rIns="0" tIns="0" bIns="0" anchor="t">
            <a:noAutofit/>
          </a:bodyPr>
          <a:lstStyle/>
          <a:p>
            <a:pPr algn="l">
              <a:lnSpc>
                <a:spcPct val="110000"/>
              </a:lnSpc>
            </a:pPr>
            <a:r>
              <a:rPr sz="1400" i="0" b="0">
                <a:solidFill>
                  <a:srgbClr val="475569"/>
                </a:solidFill>
                <a:latin typeface="Helvetica Neue"/>
              </a:rPr>
              <a:t>Approve the plan. Fewest agents the task allows. Strip scaffolding on each upgrade.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Next</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notes/08-maturity-and-failure-modes.md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The next pillar takes the harness and asks what makes the loops it runs improve over time.</a:t>
            </a:r>
          </a:p>
        </p:txBody>
      </p:sp>
      <p:sp>
        <p:nvSpPr>
          <p:cNvPr id="13" name="Rectangle 12"/>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47218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04 Loop engineering:</a:t>
            </a:r>
            <a:r>
              <a:rPr sz="2000" i="0" b="0">
                <a:solidFill>
                  <a:srgbClr val="1E293B"/>
                </a:solidFill>
                <a:latin typeface="Helvetica Neue"/>
              </a:rPr>
              <a:t> the loops the harness runs, and how they improve themselves</a:t>
            </a:r>
          </a:p>
        </p:txBody>
      </p:sp>
      <p:sp>
        <p:nvSpPr>
          <p:cNvPr id="15" name="Rectangle 14"/>
          <p:cNvSpPr/>
          <p:nvPr/>
        </p:nvSpPr>
        <p:spPr>
          <a:xfrm>
            <a:off x="502920" y="23916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29514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06 Eval:</a:t>
            </a:r>
            <a:r>
              <a:rPr sz="2000" i="0" b="0">
                <a:solidFill>
                  <a:srgbClr val="1E293B"/>
                </a:solidFill>
                <a:latin typeface="Helvetica Neue"/>
              </a:rPr>
              <a:t> graders, calibration and pass^k, which every rule here depends on</a:t>
            </a:r>
          </a:p>
        </p:txBody>
      </p:sp>
      <p:sp>
        <p:nvSpPr>
          <p:cNvPr id="17" name="Rectangle 16"/>
          <p:cNvSpPr/>
          <p:nvPr/>
        </p:nvSpPr>
        <p:spPr>
          <a:xfrm>
            <a:off x="502920" y="321462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1810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Practice:</a:t>
            </a:r>
            <a:r>
              <a:rPr sz="2000" i="0" b="0">
                <a:solidFill>
                  <a:srgbClr val="1E293B"/>
                </a:solidFill>
                <a:latin typeface="Helvetica Neue"/>
              </a:rPr>
              <a:t> </a:t>
            </a:r>
            <a:r>
              <a:rPr sz="1800" i="0" b="0">
                <a:solidFill>
                  <a:srgbClr val="0F7490"/>
                </a:solidFill>
                <a:latin typeface="Menlo"/>
              </a:rPr>
              <a:t>practice/tool-server-sandbox</a:t>
            </a:r>
            <a:r>
              <a:rPr sz="2000" i="0" b="0">
                <a:solidFill>
                  <a:srgbClr val="1E293B"/>
                </a:solidFill>
                <a:latin typeface="Helvetica Neue"/>
              </a:rPr>
              <a:t> in this pillar</a:t>
            </a:r>
          </a:p>
        </p:txBody>
      </p:sp>
      <p:sp>
        <p:nvSpPr>
          <p:cNvPr id="19" name="Rectangle 18"/>
          <p:cNvSpPr/>
          <p:nvPr/>
        </p:nvSpPr>
        <p:spPr>
          <a:xfrm>
            <a:off x="502920" y="403758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41064"/>
            <a:ext cx="5944038" cy="109728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Read:</a:t>
            </a:r>
            <a:r>
              <a:rPr sz="2000" i="0" b="0">
                <a:solidFill>
                  <a:srgbClr val="1E293B"/>
                </a:solidFill>
                <a:latin typeface="Helvetica Neue"/>
              </a:rPr>
              <a:t> Anthropic on long-running harnesses; OpenAI on harness engineering; Li, AI Agents in Depth</a:t>
            </a:r>
          </a:p>
        </p:txBody>
      </p:sp>
      <p:sp>
        <p:nvSpPr>
          <p:cNvPr id="21" name="Rectangle 20"/>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758" y="1472184"/>
            <a:ext cx="4556016"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one idea to keep</a:t>
            </a:r>
          </a:p>
        </p:txBody>
      </p:sp>
      <p:sp>
        <p:nvSpPr>
          <p:cNvPr id="24" name="TextBox 23"/>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The model holds the intelligence, and the harness makes it useful.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