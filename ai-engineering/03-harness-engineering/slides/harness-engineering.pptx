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Pillar 3 of the AI-engineering course. Prompt is inside context, and context is inside the harness. Five parts: what a harness is, the tool and boundary surface, verification and long-running work, orchestration and maturity, then applying it all to a real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raw model is a text transformer. It becomes an agent when something gives it durable state, tool execution, feedback loops and enforceable constraints. harness-engineering.ai's four verbs: a harness constrains, informs, verifies and corrects. Most incomplete harnesses have the first two and are missing the last two.</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the harness the same model gets no policy, picks no tool, invents a success message, and the user finds out later. In Claude Code most harness code is constrain/verify/correct: process-state tracking, multi-layer compaction, permission tiers, circuit breakers, rollback-and-retry.</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quality shifts per-step accuracy a few points. Harness structure changes how many steps must succeed in a row and what happens when one doesn't. Harness thickness depends on the model, so always state the model when you report a harness result.</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and harness loop were held fixed. A meta-agent reads the task agent's trajectories, without success labels, and rewrites the interface repository; validation tasks it never sees decide which versions survive. On ScienceBoard the same model went from 41.4% to 58.6%.</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 nesting. Each scope widens what the engineer controls. Graph engineering is an orchestration view across these scopes rather than a fifth one: a loop is a graph with a back edge.</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five-component checklist from harness-engineering.ai: context engineering, tool orchestration, verification loops, cost-envelope management, observability and evaluation. LangChain's product split is the same line: framework (abstractions), runtime (durable execution, HITL), harness (batteries included).</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coding agents the no-harness failures fall into five shapes: vague requirements, implicit conventions, incomplete environment, no verification, cross-session loss. Each maps to a practice note: the feature list, the repo as system of record, init.sh, termination checks, progress plus handoff.</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with agent = LLM + planning + tools + memory (Weng 2023). That framing describes what the model does. These four describe what the system around it must guarantee, and none of them appear in the classic framing.</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ratchet makes a harness an artifact rather than a config file. Its counterweight is iterative simplification in note 08: when a model upgrade makes a component unnecessary, remove it.</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LangChain lists nine components; this coarser cut is for diagnosis. Norman's gulf of execution is a tools or environment gap; the gulf of evaluation is a feedback gap. Ablation turns the table into a method: remove one subsystem at a time on a fixed task and see what breaks.</a:t>
            </a:r>
          </a:p>
          <a:p/>
          <a:p>
            <a:r>
              <a:t>Source: notes/02-harness-anatomy.md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one action, write and run a JavaScript program. Environment: programs can't start processes or write files. State: private and team-shared memory; world saved every 5 min. Feedback: text after every program, plus the Observer. Four general-purpose Gemini 4 Argon coding agents, with nothing Minecraft-specific, beat the game in 27 h 14 min. There are no pixels and no keyboard: the agent acts by writing code, which makes bash-style composition the whole action space.</a:t>
            </a:r>
          </a:p>
          <a:p/>
          <a:p>
            <a:r>
              <a:t>Source: notes/02-harness-anatomy.md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Vercel Academy's 38-lesson build order: agent loop, tool design, system prompt, sandbox (capability), then context management, subagents, sandbox lifecycle, HITL, planning and verification (constraints), then surfaces and extensibility. Teams that build orchestration before verification end up claiming Stage 2 at Stage 0.</a:t>
            </a:r>
          </a:p>
          <a:p/>
          <a:p>
            <a:r>
              <a:t>Source: notes/02-harness-anatomy.md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clarity test: if a human engineer can't say which tool fits a situation, an agent can't either. The dominant failure is bloated tool sets with overlap; LangChain's Terminal Bench gain came partly from removing tools. Selection accuracy falls off past roughly a hundred tools.</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negative sections do the heavy lifting: they disambiguate search from grep from read. Li adds concrete formats (E.164, RFC 3339), the return value and cost of the call. Keep the contract (schema + description) separate from the execution logic, because the contract gets iterated like a prompt.</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Schema rules sit alongside: snake_case verb-noun names, side effects declared in the description, typed returns, structured errors. Write operations declare their side effect and confirm before irreversible execution.</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fixes from heaviest to lightest: a retrieval pre-filter (matches once, on the opening request), proactive discovery through a resident tool_search meta-tool, and skills. Return an explicit "not found" when nothing scores above threshold. MCP solves interoperability; skills solve choice overload.</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description is the only text the agent has when it decides whether to load the skill, and it sits in every window, so it pulls between token cost and routing precision. Skills plus open network is an exfiltration path, because a skill body is instructions the agent follows.</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 to old-to-new string and return line-numbered reads so references are precise. Search runs coarse to fine: glob, grep, semantic search, LSP. The index choice weighs infrastructure and data egress against recall.</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code-level control cannot be talked out of enforcing itself. "The agent keeps doing X" is usually a hook, not a stronger paragraph, and a fourth conditional in a prompt is the sign the rule has outgrown the prompt. Declarative permissions (Deep Agents: ordered rules, first match wins) cover the file tools but not a raw shell.</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Backend independence is the rule: swap the backend, the tools don't change. Local, in-memory copy-on-write and remote cloud sandboxes sit behind one interface. Cloud sandboxes cost money while idle, so design snapshot and restore early. For always-on agents, extend the sandbox to identity: the agent gets its own accounts.</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Typical placements: after every file edit run typecheck and lint, before a bash command block destructive patterns, before a write outside the workspace deny or ask.</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survival alone proves nothing: a model that decides not to try produces the same surviving file as a real denial. Without a structured permission_denials event you observed the model's choice, not enforcement. Re-test gates after every harness upgrade; a regressed deny rule looks like a working one.</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zones: user input untrusted; retrieved content, tool inputs and outputs semi-trusted; agent state trusted. The 16-risk agentic map (behaviour, security, resilience, multi-agent collusion, human oversight) lands on the same controls. Redact PII before logging: traces are a security surface.</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Unit tests are blind by design to boundary defects: interface mismatch, state propagation, resource lifecycle, environment dependency. E2E also changes how the agent writes code, because it starts thinking about interfaces. No refactoring before the core behaviour is verified.</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Karpathy's three moves: criteria before work, a second librarian, an external signal from the system that holds ground truth. Boris Cherny, quoted: a feedback loop improves final quality 2–3×.</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evaluators can be tuned to scepticism far more easily than generators can be made self-critical. The evaluator drives the app with Playwright: reading code verifies intent, driving the app verifies behaviour. The ROI question is rarely "is it cheaper" but "does it produce a result at all".</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fifth agent, the Observer, never played; it checked claims against the game record. A restart had restored a save from after the agent's death; its inventory was empty. The success message came from an unguarded branch of its own script. Without the retraction, three agents plan around items that don't exist. The agents were told to verify each action and report honestly. An unguarded branch that prints success without checking the world is the same failure as code written and never tested. The Observer intervened only when the environment itself failed: six server restarts in 27 hours.</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acceptance baseline from note 01, made concrete per task. Anthropic's frontend criteria: design quality, originality, craft, functionality. The pillar's evaluator rubric scores six dimensions 0–2 and ends in Accept, Revise or Block.</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binary pass/fail criteria before tuning anything else. If the eval system is broken, fix it first; never steer on a distorted signal. Evaluate stages, not just the endpoint.</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tools with three retries each is fifteen attempts if the budget is per tool. Circuit-break after 5 consecutive failures with a 60 s cooldown. PRINCE retries at two levels: the call for transient noise, the node when the call succeeded but the step didn't.</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 taxonomy sorts failures by layer: API, tool, context, control flow. Fingerprint hash(tool, args) to detect no-progress loops. Silent stalls need an idle watchdog. For death spirals, disable model-invoking side effects on the error path. Above all of it sit max turns, a session budget and escalation.</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degradations show up as sessions extend: coherence decay, and context anxiety, where the model wraps up early and confidently as the window fills. An initializer agent turns the task into filesystem state; a worker runs read state → do the next thing → write state.</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 the Claude Agent SDK, LangChain Deep Agents and deep-research products all converge on these four. Deep Agents also summarizes history and offloads large tool results automatically, on top of the LangGraph runtime.</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Compaction tuning: maximize recall first, then precision. Keep decisions and unresolved issues; drop redundant tool output. Offload large tool output to files, keep head and tail, and leave the path.</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Plans are first-class artifacts: execution plans checked into the repo with progress and decision logs. The decision log records why, which is what a summary drops and a resumed session needs most.</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state externalized this runs across any number of context windows with no human in between. The verification gate from note 05 decides whether the loop actually ends. Decomposition is scaffolding around a model limit: Opus 4.6 let Anthropic remove sprint decomposition entirely.</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2,783 programs; 22% ended in error; 6 server restarts. ~24,000 model calls, 91% of input tokens cached; about $520. Shared notes outlived 605 deaths; 42 helpers reused, one in 1,519 programs. Reached The End at 13 h 33, then ~13 more hours on the last two steps. State outside the context, tools that accumulate, honest reporting. Progress is not linear: the harness has to keep a run alive through the plateau, the stretch where context anxiety would end it early. Limitations: privileged bot API, Easy difficulty, pretraining knowledge of Minecraft, a single run.</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Subagents are a context-management technique before they are an architecture. Role patterns from cheapest up: explorer/executor (read-only explorer on a cheap model), planner/executor, generator/evaluator, then a full role pipeline.</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failures of conversation-only coordination: an agent forgets its commitment, two agents own one task, work starts before its dependency, a failure is treated as done, a retry runs twice, two workers edit one file, nobody can rebuild global state after a crash.</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Spatial decomposition parallelizes well until the files depend on each other. Data-driven decomposition suits large datasets processed chunk by chunk. ADK 2.0 makes the topology declarative: agents, @node, edges, JoinNode, typed Pydantic state validated at node boundaries.</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get worse as agent count rises, which is the argument for keeping it low. Hallucinations amplify across handoffs, so cross-validate claims that cross one. Label every source in a subagent prompt and declare what was not done.</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test is "can I point to the code that runs verification on every task, without a human remembering to?" Pipelines, agents and self-improvers are parallel choices by problem fit, not a ladder: if the task shape is known, a pipeline is better.</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Approve is the gate teams skip and the one that pays best. Three gates constrain the whole pipeline: scope boundary, permissions, responsibility boundary. Incident memory makes the ratchet a persistent artifact.</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needs a binary eval; without one, subtraction is unmeasurable and nobody dares, which is how harnesses calcify. Complexity shifts rather than shrinks: removed scaffolding frees budget for new failure modes.</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failure modes: skipped harness (claiming Stage 2 at Stage 0), no Approve gate, no incident memory, symmetric verification, no binary eval.</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 is the agent's whole world: knowledge in Slack or people's heads doesn't exist for it. Four rules for the map: knowledge next to code, one entry file, minimal but complete, update with the code.</a:t>
            </a:r>
          </a:p>
          <a:p/>
          <a:p>
            <a:r>
              <a:t>Source: notes/09-repo-as-system-of-record.md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long instruction file crowds the budget, buries constraints in the middle, flattens priority and decays into contradiction. Length targets differ by source: Osmani ~60 lines, OpenAI ~100, this course 50–200. Start near 60 and grow only when a fresh session keeps guessing.</a:t>
            </a:r>
          </a:p>
          <a:p/>
          <a:p>
            <a:r>
              <a:t>Source: notes/09-repo-as-system-of-record.md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feature carries behaviour, verification and state, plus evidence once it passes. Rules for AGENTS.md: don't mark complete because code was added, don't rewrite the list to hide unfinished work, don't weaken tests, don't change verification rules mid-implementation. Session done = verification passes AND the clean-state check passes.</a:t>
            </a:r>
          </a:p>
          <a:p/>
          <a:p>
            <a:r>
              <a:t>Source: notes/10-scope-and-done.md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note 08 build checklist has the full 17 items. These six are the ones to remember.</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Harness Engineering</a:t>
            </a:r>
          </a:p>
        </p:txBody>
      </p:sp>
      <p:sp>
        <p:nvSpPr>
          <p:cNvPr id="7" name="TextBox 6"/>
          <p:cNvSpPr txBox="1"/>
          <p:nvPr/>
        </p:nvSpPr>
        <p:spPr>
          <a:xfrm>
            <a:off x="548640" y="3063240"/>
            <a:ext cx="4937760" cy="896112"/>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Everything around the model that makes it an agent</a:t>
            </a:r>
          </a:p>
        </p:txBody>
      </p:sp>
      <p:sp>
        <p:nvSpPr>
          <p:cNvPr id="8" name="Rectangle 7"/>
          <p:cNvSpPr/>
          <p:nvPr/>
        </p:nvSpPr>
        <p:spPr>
          <a:xfrm>
            <a:off x="548640" y="4187952"/>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507992"/>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Anatomy · Tools · Boundaries · Verification</a:t>
            </a:r>
          </a:p>
          <a:p>
            <a:pPr algn="l">
              <a:lnSpc>
                <a:spcPct val="125000"/>
              </a:lnSpc>
            </a:pPr>
            <a:r>
              <a:rPr sz="1500" i="0" b="0">
                <a:solidFill>
                  <a:srgbClr val="94A3B8"/>
                </a:solidFill>
                <a:latin typeface="Helvetica Neue"/>
              </a:rPr>
              <a:t>Long horizons · Orchestration · Maturity · Practice</a:t>
            </a:r>
          </a:p>
        </p:txBody>
      </p:sp>
      <p:sp>
        <p:nvSpPr>
          <p:cNvPr id="10" name="Rectangle 9"/>
          <p:cNvSpPr/>
          <p:nvPr/>
        </p:nvSpPr>
        <p:spPr>
          <a:xfrm>
            <a:off x="6492240" y="822960"/>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22960"/>
            <a:ext cx="91440" cy="881481"/>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50976"/>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Foundations</a:t>
            </a:r>
          </a:p>
        </p:txBody>
      </p:sp>
      <p:sp>
        <p:nvSpPr>
          <p:cNvPr id="13" name="TextBox 12"/>
          <p:cNvSpPr txBox="1"/>
          <p:nvPr/>
        </p:nvSpPr>
        <p:spPr>
          <a:xfrm>
            <a:off x="6766560" y="1264031"/>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What a harness is · Harness anatomy</a:t>
            </a:r>
          </a:p>
        </p:txBody>
      </p:sp>
      <p:sp>
        <p:nvSpPr>
          <p:cNvPr id="14" name="Rectangle 13"/>
          <p:cNvSpPr/>
          <p:nvPr/>
        </p:nvSpPr>
        <p:spPr>
          <a:xfrm>
            <a:off x="6492240" y="1905609"/>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1905609"/>
            <a:ext cx="91440" cy="881481"/>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033625"/>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Tools and boundaries</a:t>
            </a:r>
          </a:p>
        </p:txBody>
      </p:sp>
      <p:sp>
        <p:nvSpPr>
          <p:cNvPr id="17" name="TextBox 16"/>
          <p:cNvSpPr txBox="1"/>
          <p:nvPr/>
        </p:nvSpPr>
        <p:spPr>
          <a:xfrm>
            <a:off x="6766560" y="2346680"/>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Tool design · Execution boundaries and guardrails</a:t>
            </a:r>
          </a:p>
        </p:txBody>
      </p:sp>
      <p:sp>
        <p:nvSpPr>
          <p:cNvPr id="18" name="Rectangle 17"/>
          <p:cNvSpPr/>
          <p:nvPr/>
        </p:nvSpPr>
        <p:spPr>
          <a:xfrm>
            <a:off x="6492240" y="2988259"/>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988259"/>
            <a:ext cx="91440" cy="881481"/>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116275"/>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Verification and long horizons</a:t>
            </a:r>
          </a:p>
        </p:txBody>
      </p:sp>
      <p:sp>
        <p:nvSpPr>
          <p:cNvPr id="21" name="TextBox 20"/>
          <p:cNvSpPr txBox="1"/>
          <p:nvPr/>
        </p:nvSpPr>
        <p:spPr>
          <a:xfrm>
            <a:off x="6766560" y="3429330"/>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Verification loops · Long-horizon execution</a:t>
            </a:r>
          </a:p>
        </p:txBody>
      </p:sp>
      <p:sp>
        <p:nvSpPr>
          <p:cNvPr id="22" name="Rectangle 21"/>
          <p:cNvSpPr/>
          <p:nvPr/>
        </p:nvSpPr>
        <p:spPr>
          <a:xfrm>
            <a:off x="6492240" y="4070908"/>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070908"/>
            <a:ext cx="91440" cy="881481"/>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4198924"/>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Orchestration and maturity</a:t>
            </a:r>
          </a:p>
        </p:txBody>
      </p:sp>
      <p:sp>
        <p:nvSpPr>
          <p:cNvPr id="25" name="TextBox 24"/>
          <p:cNvSpPr txBox="1"/>
          <p:nvPr/>
        </p:nvSpPr>
        <p:spPr>
          <a:xfrm>
            <a:off x="6766560" y="4511979"/>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Multi-agent harnesses · Maturity and failure modes</a:t>
            </a:r>
          </a:p>
        </p:txBody>
      </p:sp>
      <p:sp>
        <p:nvSpPr>
          <p:cNvPr id="26" name="Rectangle 25"/>
          <p:cNvSpPr/>
          <p:nvPr/>
        </p:nvSpPr>
        <p:spPr>
          <a:xfrm>
            <a:off x="6492240" y="5153558"/>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0" y="5153558"/>
            <a:ext cx="91440" cy="881481"/>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66560" y="5281574"/>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5: Practice</a:t>
            </a:r>
          </a:p>
        </p:txBody>
      </p:sp>
      <p:sp>
        <p:nvSpPr>
          <p:cNvPr id="29" name="TextBox 28"/>
          <p:cNvSpPr txBox="1"/>
          <p:nvPr/>
        </p:nvSpPr>
        <p:spPr>
          <a:xfrm>
            <a:off x="6766560" y="5594629"/>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Repo as system of record · Session lifecycle · Scope and done</a:t>
            </a:r>
          </a:p>
        </p:txBody>
      </p:sp>
      <p:sp>
        <p:nvSpPr>
          <p:cNvPr id="30" name="TextBox 29"/>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ai-engineering/03-harness-engineering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Foundations</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What a harness is · Harness anatomy</a:t>
            </a:r>
          </a:p>
        </p:txBody>
      </p:sp>
      <p:cxnSp>
        <p:nvCxnSpPr>
          <p:cNvPr id="6" name="Connector 5"/>
          <p:cNvCxnSpPr/>
          <p:nvPr/>
        </p:nvCxnSpPr>
        <p:spPr>
          <a:xfrm>
            <a:off x="6446520" y="1183639"/>
            <a:ext cx="0" cy="4490721"/>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83639"/>
            <a:ext cx="4693615" cy="467360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The thesis</a:t>
            </a:r>
          </a:p>
          <a:p>
            <a:pPr algn="l">
              <a:lnSpc>
                <a:spcPct val="100000"/>
              </a:lnSpc>
              <a:spcBef>
                <a:spcPts val="1120"/>
              </a:spcBef>
            </a:pPr>
            <a:r>
              <a:rPr sz="1600" i="0" b="0">
                <a:solidFill>
                  <a:srgbClr val="CBD5E1"/>
                </a:solidFill>
                <a:latin typeface="Helvetica Neue"/>
              </a:rPr>
              <a:t>The expanded equation, on one refund</a:t>
            </a:r>
          </a:p>
          <a:p>
            <a:pPr algn="l">
              <a:lnSpc>
                <a:spcPct val="100000"/>
              </a:lnSpc>
              <a:spcBef>
                <a:spcPts val="1120"/>
              </a:spcBef>
            </a:pPr>
            <a:r>
              <a:rPr sz="1600" i="0" b="0">
                <a:solidFill>
                  <a:srgbClr val="CBD5E1"/>
                </a:solidFill>
                <a:latin typeface="Helvetica Neue"/>
              </a:rPr>
              <a:t>Why the harness dominates the model</a:t>
            </a:r>
          </a:p>
          <a:p>
            <a:pPr algn="l">
              <a:lnSpc>
                <a:spcPct val="100000"/>
              </a:lnSpc>
              <a:spcBef>
                <a:spcPts val="1120"/>
              </a:spcBef>
            </a:pPr>
            <a:r>
              <a:rPr sz="1600" i="0" b="0">
                <a:solidFill>
                  <a:srgbClr val="CBD5E1"/>
                </a:solidFill>
                <a:latin typeface="Helvetica Neue"/>
              </a:rPr>
              <a:t>Same model, better interfaces</a:t>
            </a:r>
          </a:p>
          <a:p>
            <a:pPr algn="l">
              <a:lnSpc>
                <a:spcPct val="100000"/>
              </a:lnSpc>
              <a:spcBef>
                <a:spcPts val="1120"/>
              </a:spcBef>
            </a:pPr>
            <a:r>
              <a:rPr sz="1600" i="0" b="0">
                <a:solidFill>
                  <a:srgbClr val="CBD5E1"/>
                </a:solidFill>
                <a:latin typeface="Helvetica Neue"/>
              </a:rPr>
              <a:t>Four nested scopes of engineering</a:t>
            </a:r>
          </a:p>
          <a:p>
            <a:pPr algn="l">
              <a:lnSpc>
                <a:spcPct val="100000"/>
              </a:lnSpc>
              <a:spcBef>
                <a:spcPts val="1120"/>
              </a:spcBef>
            </a:pPr>
            <a:r>
              <a:rPr sz="1600" i="0" b="0">
                <a:solidFill>
                  <a:srgbClr val="CBD5E1"/>
                </a:solidFill>
                <a:latin typeface="Helvetica Neue"/>
              </a:rPr>
              <a:t>Where context ends and the harness begins</a:t>
            </a:r>
          </a:p>
          <a:p>
            <a:pPr algn="l">
              <a:lnSpc>
                <a:spcPct val="100000"/>
              </a:lnSpc>
              <a:spcBef>
                <a:spcPts val="1120"/>
              </a:spcBef>
            </a:pPr>
            <a:r>
              <a:rPr sz="1600" i="0" b="0">
                <a:solidFill>
                  <a:srgbClr val="CBD5E1"/>
                </a:solidFill>
                <a:latin typeface="Helvetica Neue"/>
              </a:rPr>
              <a:t>Failures are configuration, not model limits</a:t>
            </a:r>
          </a:p>
          <a:p>
            <a:pPr algn="l">
              <a:lnSpc>
                <a:spcPct val="100000"/>
              </a:lnSpc>
              <a:spcBef>
                <a:spcPts val="1120"/>
              </a:spcBef>
            </a:pPr>
            <a:r>
              <a:rPr sz="1600" i="0" b="0">
                <a:solidFill>
                  <a:srgbClr val="CBD5E1"/>
                </a:solidFill>
                <a:latin typeface="Helvetica Neue"/>
              </a:rPr>
              <a:t>The four parts every harness needs</a:t>
            </a:r>
          </a:p>
          <a:p>
            <a:pPr algn="l">
              <a:lnSpc>
                <a:spcPct val="100000"/>
              </a:lnSpc>
              <a:spcBef>
                <a:spcPts val="1120"/>
              </a:spcBef>
            </a:pPr>
            <a:r>
              <a:rPr sz="1600" i="0" b="0">
                <a:solidFill>
                  <a:srgbClr val="CBD5E1"/>
                </a:solidFill>
                <a:latin typeface="Helvetica Neue"/>
              </a:rPr>
              <a:t>The ratchet</a:t>
            </a:r>
          </a:p>
          <a:p>
            <a:pPr algn="l">
              <a:lnSpc>
                <a:spcPct val="100000"/>
              </a:lnSpc>
              <a:spcBef>
                <a:spcPts val="1120"/>
              </a:spcBef>
            </a:pPr>
            <a:r>
              <a:rPr sz="1600" i="0" b="0">
                <a:solidFill>
                  <a:srgbClr val="CBD5E1"/>
                </a:solidFill>
                <a:latin typeface="Helvetica Neue"/>
              </a:rPr>
              <a:t>Five subsystems, one per failure</a:t>
            </a:r>
          </a:p>
          <a:p>
            <a:pPr algn="l">
              <a:lnSpc>
                <a:spcPct val="100000"/>
              </a:lnSpc>
              <a:spcBef>
                <a:spcPts val="1120"/>
              </a:spcBef>
            </a:pPr>
            <a:r>
              <a:rPr sz="1600" i="0" b="0">
                <a:solidFill>
                  <a:srgbClr val="CBD5E1"/>
                </a:solidFill>
                <a:latin typeface="Helvetica Neue"/>
              </a:rPr>
              <a:t>One small harness, all five subsystems</a:t>
            </a:r>
          </a:p>
          <a:p>
            <a:pPr algn="l">
              <a:lnSpc>
                <a:spcPct val="100000"/>
              </a:lnSpc>
              <a:spcBef>
                <a:spcPts val="1120"/>
              </a:spcBef>
            </a:pPr>
            <a:r>
              <a:rPr sz="1600" i="0" b="0">
                <a:solidFill>
                  <a:srgbClr val="CBD5E1"/>
                </a:solidFill>
                <a:latin typeface="Helvetica Neue"/>
              </a:rPr>
              <a:t>The minimum viable harness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thesis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What a harness is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777240" y="3268980"/>
            <a:ext cx="109728" cy="1152143"/>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268980"/>
            <a:ext cx="10088575" cy="786383"/>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Agent = Model + Harness.</a:t>
            </a:r>
          </a:p>
        </p:txBody>
      </p:sp>
      <p:sp>
        <p:nvSpPr>
          <p:cNvPr id="12" name="TextBox 11"/>
          <p:cNvSpPr txBox="1"/>
          <p:nvPr/>
        </p:nvSpPr>
        <p:spPr>
          <a:xfrm>
            <a:off x="1234440" y="4009644"/>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Everything between the request and the output, except the weights, is harness. A decent model with a great harness beats a great model with a bad harness.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expanded equation, on one refund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AI Agents in Depth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Agent = LLM + [Context + Tools + Constrain + Verify + Correct] = Model + Harness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Context + tools is the demo. Constrain, verify and correct are the production harness.</a:t>
            </a:r>
          </a:p>
        </p:txBody>
      </p:sp>
      <p:graphicFrame>
        <p:nvGraphicFramePr>
          <p:cNvPr id="14" name="Table 13"/>
          <p:cNvGraphicFramePr>
            <a:graphicFrameLocks noGrp="1"/>
          </p:cNvGraphicFramePr>
          <p:nvPr/>
        </p:nvGraphicFramePr>
        <p:xfrm>
          <a:off x="502920" y="1985772"/>
          <a:ext cx="11185854" cy="2935224"/>
        </p:xfrm>
        <a:graphic>
          <a:graphicData uri="http://schemas.openxmlformats.org/drawingml/2006/table">
            <a:tbl>
              <a:tblPr firstRow="1" bandRow="1">
                <a:tableStyleId>{5940675A-B579-460E-94D1-54222C63F5DA}</a:tableStyleId>
              </a:tblPr>
              <a:tblGrid>
                <a:gridCol w="2054544"/>
                <a:gridCol w="4565655"/>
                <a:gridCol w="4565655"/>
              </a:tblGrid>
              <a:tr h="374904">
                <a:tc>
                  <a:txBody>
                    <a:bodyPr wrap="square"/>
                    <a:lstStyle/>
                    <a:p>
                      <a:pPr>
                        <a:lnSpc>
                          <a:spcPct val="100000"/>
                        </a:lnSpc>
                      </a:pPr>
                      <a:r>
                        <a:rPr sz="1500" i="0" b="1">
                          <a:solidFill>
                            <a:srgbClr val="FFFFFF"/>
                          </a:solidFill>
                          <a:latin typeface="Helvetica Neue"/>
                        </a:rPr>
                        <a:t>Function</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In the refund example</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Design principle</a:t>
                      </a:r>
                    </a:p>
                  </a:txBody>
                  <a:tcPr marL="109728" marR="109728" marT="54864" marB="54864" anchor="ctr">
                    <a:solidFill>
                      <a:srgbClr val="1E3A5F"/>
                    </a:solidFill>
                  </a:tcPr>
                </a:tc>
              </a:tr>
              <a:tr h="603504">
                <a:tc>
                  <a:txBody>
                    <a:bodyPr wrap="square"/>
                    <a:lstStyle/>
                    <a:p>
                      <a:pPr>
                        <a:lnSpc>
                          <a:spcPct val="100000"/>
                        </a:lnSpc>
                      </a:pPr>
                      <a:r>
                        <a:rPr sz="1500" i="0" b="1">
                          <a:solidFill>
                            <a:srgbClr val="1E293B"/>
                          </a:solidFill>
                          <a:latin typeface="Helvetica Neue"/>
                        </a:rPr>
                        <a:t>Context</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The 7-day refund policy is in the system prompt</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Information sufficiency at every decision</a:t>
                      </a:r>
                    </a:p>
                  </a:txBody>
                  <a:tcPr marL="109728" marR="109728" marT="54864" marB="54864" anchor="ctr">
                    <a:solidFill>
                      <a:srgbClr val="FFFFFF"/>
                    </a:solidFill>
                  </a:tcPr>
                </a:tc>
              </a:tr>
              <a:tr h="603504">
                <a:tc>
                  <a:txBody>
                    <a:bodyPr wrap="square"/>
                    <a:lstStyle/>
                    <a:p>
                      <a:pPr>
                        <a:lnSpc>
                          <a:spcPct val="100000"/>
                        </a:lnSpc>
                      </a:pPr>
                      <a:r>
                        <a:rPr sz="1500" i="0" b="1">
                          <a:solidFill>
                            <a:srgbClr val="1E293B"/>
                          </a:solidFill>
                          <a:latin typeface="Helvetica Neue"/>
                        </a:rPr>
                        <a:t>Tools</a:t>
                      </a:r>
                    </a:p>
                  </a:txBody>
                  <a:tcPr marL="109728" marR="109728" marT="54864" marB="54864" anchor="ctr">
                    <a:solidFill>
                      <a:srgbClr val="F8FAFC"/>
                    </a:solidFill>
                  </a:tcPr>
                </a:tc>
                <a:tc>
                  <a:txBody>
                    <a:bodyPr wrap="square"/>
                    <a:lstStyle/>
                    <a:p>
                      <a:pPr>
                        <a:lnSpc>
                          <a:spcPct val="100000"/>
                        </a:lnSpc>
                      </a:pPr>
                      <a:r>
                        <a:rPr sz="1350" i="0" b="0">
                          <a:solidFill>
                            <a:srgbClr val="0F7490"/>
                          </a:solidFill>
                          <a:latin typeface="Menlo"/>
                        </a:rPr>
                        <a:t>query_order</a:t>
                      </a:r>
                      <a:r>
                        <a:rPr sz="1500" i="0" b="0">
                          <a:solidFill>
                            <a:srgbClr val="475569"/>
                          </a:solidFill>
                          <a:latin typeface="Helvetica Neue"/>
                        </a:rPr>
                        <a:t>, </a:t>
                      </a:r>
                      <a:r>
                        <a:rPr sz="1350" i="0" b="0">
                          <a:solidFill>
                            <a:srgbClr val="0F7490"/>
                          </a:solidFill>
                          <a:latin typeface="Menlo"/>
                        </a:rPr>
                        <a:t>process_refund</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Clear interface: names, examples, boundaries</a:t>
                      </a:r>
                    </a:p>
                  </a:txBody>
                  <a:tcPr marL="109728" marR="109728" marT="54864" marB="54864" anchor="ctr">
                    <a:solidFill>
                      <a:srgbClr val="F8FAFC"/>
                    </a:solidFill>
                  </a:tcPr>
                </a:tc>
              </a:tr>
              <a:tr h="603504">
                <a:tc>
                  <a:txBody>
                    <a:bodyPr wrap="square"/>
                    <a:lstStyle/>
                    <a:p>
                      <a:pPr>
                        <a:lnSpc>
                          <a:spcPct val="100000"/>
                        </a:lnSpc>
                      </a:pPr>
                      <a:r>
                        <a:rPr sz="1500" i="0" b="1">
                          <a:solidFill>
                            <a:srgbClr val="1E293B"/>
                          </a:solidFill>
                          <a:latin typeface="Helvetica Neue"/>
                        </a:rPr>
                        <a:t>Constrain</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Refund ≤ order total, checked by the framework</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Fail-safe defaults: off until enabled</a:t>
                      </a:r>
                    </a:p>
                  </a:txBody>
                  <a:tcPr marL="109728" marR="109728" marT="54864" marB="54864" anchor="ctr">
                    <a:solidFill>
                      <a:srgbClr val="E8F4F8"/>
                    </a:solidFill>
                  </a:tcPr>
                </a:tc>
              </a:tr>
              <a:tr h="374904">
                <a:tc>
                  <a:txBody>
                    <a:bodyPr wrap="square"/>
                    <a:lstStyle/>
                    <a:p>
                      <a:pPr>
                        <a:lnSpc>
                          <a:spcPct val="100000"/>
                        </a:lnSpc>
                      </a:pPr>
                      <a:r>
                        <a:rPr sz="1500" i="0" b="1">
                          <a:solidFill>
                            <a:srgbClr val="1E293B"/>
                          </a:solidFill>
                          <a:latin typeface="Helvetica Neue"/>
                        </a:rPr>
                        <a:t>Verify</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Confirm in the DB that the refund landed</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Check structured fields, never model prose</a:t>
                      </a:r>
                    </a:p>
                  </a:txBody>
                  <a:tcPr marL="109728" marR="109728" marT="54864" marB="54864" anchor="ctr">
                    <a:solidFill>
                      <a:srgbClr val="E8F4F8"/>
                    </a:solidFill>
                  </a:tcPr>
                </a:tc>
              </a:tr>
              <a:tr h="374904">
                <a:tc>
                  <a:txBody>
                    <a:bodyPr wrap="square"/>
                    <a:lstStyle/>
                    <a:p>
                      <a:pPr>
                        <a:lnSpc>
                          <a:spcPct val="100000"/>
                        </a:lnSpc>
                      </a:pPr>
                      <a:r>
                        <a:rPr sz="1500" i="0" b="1">
                          <a:solidFill>
                            <a:srgbClr val="1E293B"/>
                          </a:solidFill>
                          <a:latin typeface="Helvetica Neue"/>
                        </a:rPr>
                        <a:t>Correct</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Retry automatically on API timeout</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Hide intermediate state until unrecoverable</a:t>
                      </a:r>
                    </a:p>
                  </a:txBody>
                  <a:tcPr marL="109728" marR="109728" marT="54864" marB="54864" anchor="ctr">
                    <a:solidFill>
                      <a:srgbClr val="E8F4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Why the harness dominates the model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Reliability compounds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10" name="Rectangle 9"/>
          <p:cNvSpPr/>
          <p:nvPr/>
        </p:nvSpPr>
        <p:spPr>
          <a:xfrm>
            <a:off x="502920"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3486911"/>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Steps compound</a:t>
            </a:r>
          </a:p>
        </p:txBody>
      </p:sp>
      <p:sp>
        <p:nvSpPr>
          <p:cNvPr id="13" name="TextBox 12"/>
          <p:cNvSpPr txBox="1"/>
          <p:nvPr/>
        </p:nvSpPr>
        <p:spPr>
          <a:xfrm>
            <a:off x="777240" y="2087880"/>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90%-reliable step chained five times lands near </a:t>
            </a:r>
            <a:r>
              <a:rPr sz="1800" i="0" b="1">
                <a:solidFill>
                  <a:srgbClr val="1E293B"/>
                </a:solidFill>
                <a:latin typeface="Helvetica Neue"/>
              </a:rPr>
              <a:t>59%</a:t>
            </a:r>
            <a:r>
              <a:rPr sz="1800" i="0" b="0">
                <a:solidFill>
                  <a:srgbClr val="475569"/>
                </a:solidFill>
                <a:latin typeface="Helvetica Neue"/>
              </a:rPr>
              <a:t>. Real tasks run far more than five steps once you count tool calls and parses.</a:t>
            </a:r>
          </a:p>
        </p:txBody>
      </p:sp>
      <p:sp>
        <p:nvSpPr>
          <p:cNvPr id="14" name="Rectangle 13"/>
          <p:cNvSpPr/>
          <p:nvPr/>
        </p:nvSpPr>
        <p:spPr>
          <a:xfrm>
            <a:off x="3367963"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7963" y="1472184"/>
            <a:ext cx="82296" cy="3486911"/>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Harness-only gains</a:t>
            </a:r>
          </a:p>
        </p:txBody>
      </p:sp>
      <p:sp>
        <p:nvSpPr>
          <p:cNvPr id="17" name="TextBox 16"/>
          <p:cNvSpPr txBox="1"/>
          <p:nvPr/>
        </p:nvSpPr>
        <p:spPr>
          <a:xfrm>
            <a:off x="3642283" y="2087880"/>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LangChain DeepAgents: </a:t>
            </a:r>
            <a:r>
              <a:rPr sz="1800" i="0" b="1">
                <a:solidFill>
                  <a:srgbClr val="1E293B"/>
                </a:solidFill>
                <a:latin typeface="Helvetica Neue"/>
              </a:rPr>
              <a:t>52.8% → 66.5%</a:t>
            </a:r>
            <a:r>
              <a:rPr sz="1800" i="0" b="0">
                <a:solidFill>
                  <a:srgbClr val="475569"/>
                </a:solidFill>
                <a:latin typeface="Helvetica Neue"/>
              </a:rPr>
              <a:t> on Terminal Bench 2.0, rank ~30 → top five, on a fixed model.</a:t>
            </a:r>
          </a:p>
        </p:txBody>
      </p:sp>
      <p:sp>
        <p:nvSpPr>
          <p:cNvPr id="18" name="Rectangle 17"/>
          <p:cNvSpPr/>
          <p:nvPr/>
        </p:nvSpPr>
        <p:spPr>
          <a:xfrm>
            <a:off x="6233007"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1472184"/>
            <a:ext cx="82296" cy="3486911"/>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Same model, two harnesses</a:t>
            </a:r>
          </a:p>
        </p:txBody>
      </p:sp>
      <p:sp>
        <p:nvSpPr>
          <p:cNvPr id="21" name="TextBox 20"/>
          <p:cNvSpPr txBox="1"/>
          <p:nvPr/>
        </p:nvSpPr>
        <p:spPr>
          <a:xfrm>
            <a:off x="6507327" y="2356104"/>
            <a:ext cx="2087803" cy="242011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Opus 4.6 scores far below its ceiling in a loose harness and far above it with tighter tools and prompts.</a:t>
            </a:r>
          </a:p>
        </p:txBody>
      </p:sp>
      <p:sp>
        <p:nvSpPr>
          <p:cNvPr id="22" name="Rectangle 21"/>
          <p:cNvSpPr/>
          <p:nvPr/>
        </p:nvSpPr>
        <p:spPr>
          <a:xfrm>
            <a:off x="9098051"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98051" y="1472184"/>
            <a:ext cx="82296" cy="3486911"/>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a:t>
            </a:r>
          </a:p>
        </p:txBody>
      </p:sp>
      <p:sp>
        <p:nvSpPr>
          <p:cNvPr id="25" name="TextBox 24"/>
          <p:cNvSpPr txBox="1"/>
          <p:nvPr/>
        </p:nvSpPr>
        <p:spPr>
          <a:xfrm>
            <a:off x="9372371" y="2087880"/>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When an agent fails, audit orchestration first, then context. In a mature setup the model is rarely the bottleneck.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Same model, better interfaces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Agashe et al., Agent S4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10" name="Rectangle 9"/>
          <p:cNvSpPr/>
          <p:nvPr/>
        </p:nvSpPr>
        <p:spPr>
          <a:xfrm>
            <a:off x="547628" y="1417320"/>
            <a:ext cx="6062802"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gashe-evolving-agent-interfaces-fig2.png"/>
          <p:cNvPicPr>
            <a:picLocks noChangeAspect="1"/>
          </p:cNvPicPr>
          <p:nvPr/>
        </p:nvPicPr>
        <p:blipFill>
          <a:blip r:embed="rId2"/>
          <a:stretch>
            <a:fillRect/>
          </a:stretch>
        </p:blipFill>
        <p:spPr>
          <a:xfrm>
            <a:off x="602492" y="1472184"/>
            <a:ext cx="5953074"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OSWorld V2 binary success against cost per task (Agashe et al., 2026)</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Only the </a:t>
            </a:r>
            <a:r>
              <a:rPr sz="1800" i="0" b="1">
                <a:solidFill>
                  <a:srgbClr val="1E293B"/>
                </a:solidFill>
                <a:latin typeface="Helvetica Neue"/>
              </a:rPr>
              <a:t>interfaces</a:t>
            </a:r>
            <a:r>
              <a:rPr sz="1800" i="0" b="0">
                <a:solidFill>
                  <a:srgbClr val="1E293B"/>
                </a:solidFill>
                <a:latin typeface="Helvetica Neue"/>
              </a:rPr>
              <a:t> evolved: tools, observation formats, when-to-use notes</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Qwen3.8-27B: </a:t>
            </a:r>
            <a:r>
              <a:rPr sz="1800" i="0" b="1">
                <a:solidFill>
                  <a:srgbClr val="1E293B"/>
                </a:solidFill>
                <a:latin typeface="Helvetica Neue"/>
              </a:rPr>
              <a:t>5.6% → 21.3%</a:t>
            </a:r>
            <a:r>
              <a:rPr sz="1800" i="0" b="0">
                <a:solidFill>
                  <a:srgbClr val="1E293B"/>
                </a:solidFill>
                <a:latin typeface="Helvetica Neue"/>
              </a:rPr>
              <a:t> (3.8×)</a:t>
            </a:r>
          </a:p>
        </p:txBody>
      </p:sp>
      <p:sp>
        <p:nvSpPr>
          <p:cNvPr id="17" name="Rectangle 16"/>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Above Opus 4.8 (20.6%) and GPT-5.5 (13.0%)</a:t>
            </a:r>
          </a:p>
        </p:txBody>
      </p:sp>
      <p:sp>
        <p:nvSpPr>
          <p:cNvPr id="19" name="Rectangle 18"/>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At about </a:t>
            </a:r>
            <a:r>
              <a:rPr sz="1800" i="0" b="1">
                <a:solidFill>
                  <a:srgbClr val="1E293B"/>
                </a:solidFill>
                <a:latin typeface="Helvetica Neue"/>
              </a:rPr>
              <a:t>1.5%</a:t>
            </a:r>
            <a:r>
              <a:rPr sz="1800" i="0" b="0">
                <a:solidFill>
                  <a:srgbClr val="1E293B"/>
                </a:solidFill>
                <a:latin typeface="Helvetica Neue"/>
              </a:rPr>
              <a:t> and </a:t>
            </a:r>
            <a:r>
              <a:rPr sz="1800" i="0" b="1">
                <a:solidFill>
                  <a:srgbClr val="1E293B"/>
                </a:solidFill>
                <a:latin typeface="Helvetica Neue"/>
              </a:rPr>
              <a:t>4.3%</a:t>
            </a:r>
            <a:r>
              <a:rPr sz="1800" i="0" b="0">
                <a:solidFill>
                  <a:srgbClr val="1E293B"/>
                </a:solidFill>
                <a:latin typeface="Helvetica Neue"/>
              </a:rPr>
              <a:t> of their cost per task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nested scopes of engineering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prompt ⊂ context ⊂ harness ⊂ loop</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percentages are directional, not measured (harness-engineering.ai). The ordering is the point.</a:t>
            </a:r>
          </a:p>
        </p:txBody>
      </p:sp>
      <p:sp>
        <p:nvSpPr>
          <p:cNvPr id="13" name="Rectangle 12"/>
          <p:cNvSpPr/>
          <p:nvPr/>
        </p:nvSpPr>
        <p:spPr>
          <a:xfrm>
            <a:off x="1645920" y="1472184"/>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2468879" y="1472184"/>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Prompt</a:t>
            </a:r>
            <a:r>
              <a:rPr sz="1800" i="0" b="0">
                <a:solidFill>
                  <a:srgbClr val="475569"/>
                </a:solidFill>
                <a:latin typeface="Helvetica Neue"/>
              </a:rPr>
              <a:t> — The instruction. Claimed reliability impact </a:t>
            </a:r>
            <a:r>
              <a:rPr sz="1800" i="0" b="1">
                <a:solidFill>
                  <a:srgbClr val="1E293B"/>
                </a:solidFill>
                <a:latin typeface="Helvetica Neue"/>
              </a:rPr>
              <a:t>5–15%</a:t>
            </a:r>
          </a:p>
        </p:txBody>
      </p:sp>
      <p:sp>
        <p:nvSpPr>
          <p:cNvPr id="17" name="Rectangle 16"/>
          <p:cNvSpPr/>
          <p:nvPr/>
        </p:nvSpPr>
        <p:spPr>
          <a:xfrm>
            <a:off x="1645920" y="2503170"/>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2468879" y="2503170"/>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Context</a:t>
            </a:r>
            <a:r>
              <a:rPr sz="1800" i="0" b="0">
                <a:solidFill>
                  <a:srgbClr val="475569"/>
                </a:solidFill>
                <a:latin typeface="Helvetica Neue"/>
              </a:rPr>
              <a:t> — The working set on one call. Claimed impact </a:t>
            </a:r>
            <a:r>
              <a:rPr sz="1800" i="0" b="1">
                <a:solidFill>
                  <a:srgbClr val="1E293B"/>
                </a:solidFill>
                <a:latin typeface="Helvetica Neue"/>
              </a:rPr>
              <a:t>15–30%</a:t>
            </a:r>
          </a:p>
        </p:txBody>
      </p:sp>
      <p:sp>
        <p:nvSpPr>
          <p:cNvPr id="21" name="Rectangle 20"/>
          <p:cNvSpPr/>
          <p:nvPr/>
        </p:nvSpPr>
        <p:spPr>
          <a:xfrm>
            <a:off x="1645920" y="3534156"/>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766185"/>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2468879" y="3534156"/>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Harness</a:t>
            </a:r>
            <a:r>
              <a:rPr sz="1800" i="0" b="0">
                <a:solidFill>
                  <a:srgbClr val="475569"/>
                </a:solidFill>
                <a:latin typeface="Helvetica Neue"/>
              </a:rPr>
              <a:t> — The system the model runs in. Claimed impact </a:t>
            </a:r>
            <a:r>
              <a:rPr sz="1800" i="0" b="1">
                <a:solidFill>
                  <a:srgbClr val="1E293B"/>
                </a:solidFill>
                <a:latin typeface="Helvetica Neue"/>
              </a:rPr>
              <a:t>50–80%</a:t>
            </a:r>
          </a:p>
        </p:txBody>
      </p:sp>
      <p:sp>
        <p:nvSpPr>
          <p:cNvPr id="25" name="Rectangle 24"/>
          <p:cNvSpPr/>
          <p:nvPr/>
        </p:nvSpPr>
        <p:spPr>
          <a:xfrm>
            <a:off x="1645920" y="4565142"/>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797171"/>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2468879" y="4565142"/>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Loop</a:t>
            </a:r>
            <a:r>
              <a:rPr sz="1800" i="0" b="0">
                <a:solidFill>
                  <a:srgbClr val="475569"/>
                </a:solidFill>
                <a:latin typeface="Helvetica Neue"/>
              </a:rPr>
              <a:t> — Sustained operation across runs (pillar 04)</a:t>
            </a:r>
          </a:p>
        </p:txBody>
      </p:sp>
      <p:sp>
        <p:nvSpPr>
          <p:cNvPr id="29" name="TextBox 28"/>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wider scope</a:t>
            </a:r>
          </a:p>
        </p:txBody>
      </p:sp>
      <p:cxnSp>
        <p:nvCxnSpPr>
          <p:cNvPr id="30" name="Connector 29"/>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Where context ends and the harness begins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boundary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Once assembly is stateful and conditional, you have crossed from context into harness.</a:t>
            </a:r>
          </a:p>
        </p:txBody>
      </p:sp>
      <p:graphicFrame>
        <p:nvGraphicFramePr>
          <p:cNvPr id="13" name="Table 12"/>
          <p:cNvGraphicFramePr>
            <a:graphicFrameLocks noGrp="1"/>
          </p:cNvGraphicFramePr>
          <p:nvPr/>
        </p:nvGraphicFramePr>
        <p:xfrm>
          <a:off x="502920" y="1472184"/>
          <a:ext cx="11185854" cy="2286000"/>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Context engineering</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Harness engineering</a:t>
                      </a:r>
                    </a:p>
                  </a:txBody>
                  <a:tcPr marL="109728" marR="109728" marT="54864" marB="54864" anchor="ctr">
                    <a:solidFill>
                      <a:srgbClr val="1E3A5F"/>
                    </a:solidFill>
                  </a:tcPr>
                </a:tc>
              </a:tr>
              <a:tr h="405384">
                <a:tc>
                  <a:txBody>
                    <a:bodyPr wrap="square"/>
                    <a:lstStyle/>
                    <a:p>
                      <a:pPr>
                        <a:lnSpc>
                          <a:spcPct val="100000"/>
                        </a:lnSpc>
                      </a:pPr>
                      <a:r>
                        <a:rPr sz="1700" i="0" b="0">
                          <a:solidFill>
                            <a:srgbClr val="1E293B"/>
                          </a:solidFill>
                          <a:latin typeface="Helvetica Neue"/>
                        </a:rPr>
                        <a:t>What goes in the window on </a:t>
                      </a:r>
                      <a:r>
                        <a:rPr sz="1700" i="0" b="1">
                          <a:solidFill>
                            <a:srgbClr val="1E293B"/>
                          </a:solidFill>
                          <a:latin typeface="Helvetica Neue"/>
                        </a:rPr>
                        <a:t>this</a:t>
                      </a:r>
                      <a:r>
                        <a:rPr sz="1700" i="0" b="0">
                          <a:solidFill>
                            <a:srgbClr val="1E293B"/>
                          </a:solidFill>
                          <a:latin typeface="Helvetica Neue"/>
                        </a:rPr>
                        <a:t> call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loop that decides </a:t>
                      </a:r>
                      <a:r>
                        <a:rPr sz="1700" i="0" b="1">
                          <a:solidFill>
                            <a:srgbClr val="1E293B"/>
                          </a:solidFill>
                          <a:latin typeface="Helvetica Neue"/>
                        </a:rPr>
                        <a:t>whether and when</a:t>
                      </a:r>
                      <a:r>
                        <a:rPr sz="1700" i="0" b="0">
                          <a:solidFill>
                            <a:srgbClr val="475569"/>
                          </a:solidFill>
                          <a:latin typeface="Helvetica Neue"/>
                        </a:rPr>
                        <a:t> to call</a:t>
                      </a:r>
                    </a:p>
                  </a:txBody>
                  <a:tcPr marL="109728" marR="109728" marT="54864" marB="54864" anchor="ctr">
                    <a:solidFill>
                      <a:srgbClr val="FFFFFF"/>
                    </a:solidFill>
                  </a:tcPr>
                </a:tc>
              </a:tr>
              <a:tr h="405384">
                <a:tc>
                  <a:txBody>
                    <a:bodyPr wrap="square"/>
                    <a:lstStyle/>
                    <a:p>
                      <a:pPr>
                        <a:lnSpc>
                          <a:spcPct val="100000"/>
                        </a:lnSpc>
                      </a:pPr>
                      <a:r>
                        <a:rPr sz="1700" i="0" b="0">
                          <a:solidFill>
                            <a:srgbClr val="1E293B"/>
                          </a:solidFill>
                          <a:latin typeface="Helvetica Neue"/>
                        </a:rPr>
                        <a:t>Which documents, memory, tool results to inject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Which tools exist at all, and what they may do</a:t>
                      </a:r>
                    </a:p>
                  </a:txBody>
                  <a:tcPr marL="109728" marR="109728" marT="54864" marB="54864" anchor="ctr">
                    <a:solidFill>
                      <a:srgbClr val="F8FAFC"/>
                    </a:solidFill>
                  </a:tcPr>
                </a:tc>
              </a:tr>
              <a:tr h="405384">
                <a:tc>
                  <a:txBody>
                    <a:bodyPr wrap="square"/>
                    <a:lstStyle/>
                    <a:p>
                      <a:pPr>
                        <a:lnSpc>
                          <a:spcPct val="100000"/>
                        </a:lnSpc>
                      </a:pPr>
                      <a:r>
                        <a:rPr sz="1700" i="0" b="0">
                          <a:solidFill>
                            <a:srgbClr val="1E293B"/>
                          </a:solidFill>
                          <a:latin typeface="Helvetica Neue"/>
                        </a:rPr>
                        <a:t>Token budget within one assembly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Cost envelope across a whole run</a:t>
                      </a:r>
                    </a:p>
                  </a:txBody>
                  <a:tcPr marL="109728" marR="109728" marT="54864" marB="54864" anchor="ctr">
                    <a:solidFill>
                      <a:srgbClr val="FFFFFF"/>
                    </a:solidFill>
                  </a:tcPr>
                </a:tc>
              </a:tr>
              <a:tr h="664464">
                <a:tc>
                  <a:txBody>
                    <a:bodyPr wrap="square"/>
                    <a:lstStyle/>
                    <a:p>
                      <a:pPr>
                        <a:lnSpc>
                          <a:spcPct val="100000"/>
                        </a:lnSpc>
                      </a:pPr>
                      <a:r>
                        <a:rPr sz="1700" i="0" b="0">
                          <a:solidFill>
                            <a:srgbClr val="1E293B"/>
                          </a:solidFill>
                          <a:latin typeface="Helvetica Neue"/>
                        </a:rPr>
                        <a:t>Compaction as a technique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Compaction as middleware that fires on a trigger</a:t>
                      </a:r>
                    </a:p>
                  </a:txBody>
                  <a:tcPr marL="109728" marR="109728" marT="54864" marB="54864" anchor="ctr">
                    <a:solidFill>
                      <a:srgbClr val="F8FA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Failures are configuration, not model limits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HumanLayer's "skill issue"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Every right-hand cell is a build task. That is the whole discipline in one table.</a:t>
            </a:r>
          </a:p>
        </p:txBody>
      </p:sp>
      <p:graphicFrame>
        <p:nvGraphicFramePr>
          <p:cNvPr id="13" name="Table 12"/>
          <p:cNvGraphicFramePr>
            <a:graphicFrameLocks noGrp="1"/>
          </p:cNvGraphicFramePr>
          <p:nvPr/>
        </p:nvGraphicFramePr>
        <p:xfrm>
          <a:off x="502920" y="1472184"/>
          <a:ext cx="11185854" cy="2691384"/>
        </p:xfrm>
        <a:graphic>
          <a:graphicData uri="http://schemas.openxmlformats.org/drawingml/2006/table">
            <a:tbl>
              <a:tblPr firstRow="1" bandRow="1">
                <a:tableStyleId>{5940675A-B579-460E-94D1-54222C63F5DA}</a:tableStyleId>
              </a:tblPr>
              <a:tblGrid>
                <a:gridCol w="3355756"/>
                <a:gridCol w="3132039"/>
                <a:gridCol w="4698059"/>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Not this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But this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Ignored a convention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model is dumb"</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convention isn't in </a:t>
                      </a:r>
                      <a:r>
                        <a:rPr sz="1530" i="0" b="0">
                          <a:solidFill>
                            <a:srgbClr val="0F7490"/>
                          </a:solidFill>
                          <a:latin typeface="Menlo"/>
                        </a:rPr>
                        <a:t>AGENTS.md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Ran </a:t>
                      </a:r>
                      <a:r>
                        <a:rPr sz="1530" i="0" b="1">
                          <a:solidFill>
                            <a:srgbClr val="0F7490"/>
                          </a:solidFill>
                          <a:latin typeface="Menlo"/>
                        </a:rPr>
                        <a:t>rm -rf</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 model is unsafe"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There's no blocking hook</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Lost the thread at step 40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"Window too small"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 planner/executor split, no plan file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Shipped broken code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"It can't code"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No typecheck back-pressure in the loop</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Rated its own work 9/10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"It's sycophantic"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Generator and evaluator are the same agent</a:t>
                      </a:r>
                    </a:p>
                  </a:txBody>
                  <a:tcPr marL="109728" marR="109728" marT="54864" marB="54864"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four parts every harness needs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minimal decomposition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Missing any one, it is not a harness. It is a prompt with tools attached.</a:t>
            </a:r>
          </a:p>
        </p:txBody>
      </p:sp>
      <p:sp>
        <p:nvSpPr>
          <p:cNvPr id="13" name="Rectangle 12"/>
          <p:cNvSpPr/>
          <p:nvPr/>
        </p:nvSpPr>
        <p:spPr>
          <a:xfrm>
            <a:off x="502920"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8498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Acceptance baseline</a:t>
            </a:r>
          </a:p>
        </p:txBody>
      </p:sp>
      <p:sp>
        <p:nvSpPr>
          <p:cNvPr id="16" name="TextBox 15"/>
          <p:cNvSpPr txBox="1"/>
          <p:nvPr/>
        </p:nvSpPr>
        <p:spPr>
          <a:xfrm>
            <a:off x="777240" y="2356104"/>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What "done and correct" means, checkably. The most often </a:t>
            </a:r>
            <a:r>
              <a:rPr sz="1800" i="0" b="1">
                <a:solidFill>
                  <a:srgbClr val="1E293B"/>
                </a:solidFill>
                <a:latin typeface="Helvetica Neue"/>
              </a:rPr>
              <a:t>faked</a:t>
            </a:r>
            <a:r>
              <a:rPr sz="1800" i="0" b="0">
                <a:solidFill>
                  <a:srgbClr val="475569"/>
                </a:solidFill>
                <a:latin typeface="Helvetica Neue"/>
              </a:rPr>
              <a:t> part.</a:t>
            </a:r>
          </a:p>
        </p:txBody>
      </p:sp>
      <p:sp>
        <p:nvSpPr>
          <p:cNvPr id="17" name="Rectangle 16"/>
          <p:cNvSpPr/>
          <p:nvPr/>
        </p:nvSpPr>
        <p:spPr>
          <a:xfrm>
            <a:off x="3367963"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8498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Execution boundary</a:t>
            </a:r>
          </a:p>
        </p:txBody>
      </p:sp>
      <p:sp>
        <p:nvSpPr>
          <p:cNvPr id="20" name="TextBox 19"/>
          <p:cNvSpPr txBox="1"/>
          <p:nvPr/>
        </p:nvSpPr>
        <p:spPr>
          <a:xfrm>
            <a:off x="3642283" y="2087880"/>
            <a:ext cx="2087803" cy="2051303"/>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Where the agent runs and what it can touch.</a:t>
            </a:r>
          </a:p>
        </p:txBody>
      </p:sp>
      <p:sp>
        <p:nvSpPr>
          <p:cNvPr id="21" name="Rectangle 20"/>
          <p:cNvSpPr/>
          <p:nvPr/>
        </p:nvSpPr>
        <p:spPr>
          <a:xfrm>
            <a:off x="6233007"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8498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Feedback signals</a:t>
            </a:r>
          </a:p>
        </p:txBody>
      </p:sp>
      <p:sp>
        <p:nvSpPr>
          <p:cNvPr id="24" name="TextBox 23"/>
          <p:cNvSpPr txBox="1"/>
          <p:nvPr/>
        </p:nvSpPr>
        <p:spPr>
          <a:xfrm>
            <a:off x="6507327" y="2087880"/>
            <a:ext cx="2087803" cy="2051303"/>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How the agent learns its last action was wrong.</a:t>
            </a:r>
          </a:p>
        </p:txBody>
      </p:sp>
      <p:sp>
        <p:nvSpPr>
          <p:cNvPr id="25" name="Rectangle 24"/>
          <p:cNvSpPr/>
          <p:nvPr/>
        </p:nvSpPr>
        <p:spPr>
          <a:xfrm>
            <a:off x="9098051"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8498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Rollback</a:t>
            </a:r>
          </a:p>
        </p:txBody>
      </p:sp>
      <p:sp>
        <p:nvSpPr>
          <p:cNvPr id="28" name="TextBox 27"/>
          <p:cNvSpPr txBox="1"/>
          <p:nvPr/>
        </p:nvSpPr>
        <p:spPr>
          <a:xfrm>
            <a:off x="9372371" y="2087880"/>
            <a:ext cx="2087803" cy="2051303"/>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How a bad action gets undone. The most often </a:t>
            </a:r>
            <a:r>
              <a:rPr sz="1800" i="0" b="1">
                <a:solidFill>
                  <a:srgbClr val="1E293B"/>
                </a:solidFill>
                <a:latin typeface="Helvetica Neue"/>
              </a:rPr>
              <a:t>missing</a:t>
            </a:r>
            <a:r>
              <a:rPr sz="1800" i="0" b="0">
                <a:solidFill>
                  <a:srgbClr val="475569"/>
                </a:solidFill>
                <a:latin typeface="Helvetica Neue"/>
              </a:rPr>
              <a:t> part.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ratchet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Osmani</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10" name="Rounded Rectangle 9"/>
          <p:cNvSpPr/>
          <p:nvPr/>
        </p:nvSpPr>
        <p:spPr>
          <a:xfrm>
            <a:off x="586587" y="1563624"/>
            <a:ext cx="2377440" cy="149047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74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Agent slips</a:t>
            </a:r>
          </a:p>
          <a:p>
            <a:pPr algn="ctr">
              <a:lnSpc>
                <a:spcPct val="110000"/>
              </a:lnSpc>
            </a:pPr>
            <a:r>
              <a:rPr sz="1300" i="0" b="0">
                <a:solidFill>
                  <a:srgbClr val="E8F4F8"/>
                </a:solidFill>
                <a:latin typeface="Helvetica Neue"/>
              </a:rPr>
              <a:t>a real failure</a:t>
            </a:r>
          </a:p>
        </p:txBody>
      </p:sp>
      <p:cxnSp>
        <p:nvCxnSpPr>
          <p:cNvPr id="12" name="Connector 11"/>
          <p:cNvCxnSpPr/>
          <p:nvPr/>
        </p:nvCxnSpPr>
        <p:spPr>
          <a:xfrm>
            <a:off x="3018891"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66947" y="1563624"/>
            <a:ext cx="2377440" cy="149047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410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Find the subsystem</a:t>
            </a:r>
          </a:p>
          <a:p>
            <a:pPr algn="ctr">
              <a:lnSpc>
                <a:spcPct val="110000"/>
              </a:lnSpc>
            </a:pPr>
            <a:r>
              <a:rPr sz="1300" i="0" b="0">
                <a:solidFill>
                  <a:srgbClr val="E8F4F8"/>
                </a:solidFill>
                <a:latin typeface="Helvetica Neue"/>
              </a:rPr>
              <a:t>instructions · tools · env · state · feedback</a:t>
            </a:r>
          </a:p>
        </p:txBody>
      </p:sp>
      <p:cxnSp>
        <p:nvCxnSpPr>
          <p:cNvPr id="15" name="Connector 14"/>
          <p:cNvCxnSpPr/>
          <p:nvPr/>
        </p:nvCxnSpPr>
        <p:spPr>
          <a:xfrm>
            <a:off x="5899251"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47307" y="1563624"/>
            <a:ext cx="2377440" cy="149047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446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Encode the fix</a:t>
            </a:r>
          </a:p>
          <a:p>
            <a:pPr algn="ctr">
              <a:lnSpc>
                <a:spcPct val="110000"/>
              </a:lnSpc>
            </a:pPr>
            <a:r>
              <a:rPr sz="1300" i="0" b="0">
                <a:solidFill>
                  <a:srgbClr val="E8F4F8"/>
                </a:solidFill>
                <a:latin typeface="Helvetica Neue"/>
              </a:rPr>
              <a:t>hook · lint rule · AGENTS.md line · gate</a:t>
            </a:r>
          </a:p>
        </p:txBody>
      </p:sp>
      <p:cxnSp>
        <p:nvCxnSpPr>
          <p:cNvPr id="18" name="Connector 17"/>
          <p:cNvCxnSpPr/>
          <p:nvPr/>
        </p:nvCxnSpPr>
        <p:spPr>
          <a:xfrm>
            <a:off x="8779611"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227667" y="1563624"/>
            <a:ext cx="2377440" cy="149047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6482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Never again</a:t>
            </a:r>
          </a:p>
          <a:p>
            <a:pPr algn="ctr">
              <a:lnSpc>
                <a:spcPct val="110000"/>
              </a:lnSpc>
            </a:pPr>
            <a:r>
              <a:rPr sz="1300" i="0" b="0">
                <a:solidFill>
                  <a:srgbClr val="E8F4F8"/>
                </a:solidFill>
                <a:latin typeface="Helvetica Neue"/>
              </a:rPr>
              <a:t>the harness tightens</a:t>
            </a:r>
          </a:p>
        </p:txBody>
      </p:sp>
      <p:cxnSp>
        <p:nvCxnSpPr>
          <p:cNvPr id="21" name="Connector 20"/>
          <p:cNvCxnSpPr/>
          <p:nvPr/>
        </p:nvCxnSpPr>
        <p:spPr>
          <a:xfrm>
            <a:off x="10416387" y="3054096"/>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775307" y="3465576"/>
            <a:ext cx="864108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775307" y="3090672"/>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775307" y="3502152"/>
            <a:ext cx="864108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every failure, permanently</a:t>
            </a:r>
          </a:p>
        </p:txBody>
      </p:sp>
      <p:sp>
        <p:nvSpPr>
          <p:cNvPr id="25" name="Rectangle 24"/>
          <p:cNvSpPr/>
          <p:nvPr/>
        </p:nvSpPr>
        <p:spPr>
          <a:xfrm>
            <a:off x="502920" y="4288790"/>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19709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Every line in a good </a:t>
            </a:r>
            <a:r>
              <a:rPr sz="1710" i="0" b="0">
                <a:solidFill>
                  <a:srgbClr val="0F7490"/>
                </a:solidFill>
                <a:latin typeface="Menlo"/>
              </a:rPr>
              <a:t>AGENTS.md</a:t>
            </a:r>
            <a:r>
              <a:rPr sz="1900" i="0" b="0">
                <a:solidFill>
                  <a:srgbClr val="1E293B"/>
                </a:solidFill>
                <a:latin typeface="Helvetica Neue"/>
              </a:rPr>
              <a:t> traces back to something that went wrong</a:t>
            </a:r>
          </a:p>
        </p:txBody>
      </p:sp>
      <p:sp>
        <p:nvSpPr>
          <p:cNvPr id="27" name="Rectangle 26"/>
          <p:cNvSpPr/>
          <p:nvPr/>
        </p:nvSpPr>
        <p:spPr>
          <a:xfrm>
            <a:off x="502920" y="4752086"/>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66039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Keep </a:t>
            </a:r>
            <a:r>
              <a:rPr sz="1710" i="0" b="0">
                <a:solidFill>
                  <a:srgbClr val="0F7490"/>
                </a:solidFill>
                <a:latin typeface="Menlo"/>
              </a:rPr>
              <a:t>AGENTS.md</a:t>
            </a:r>
            <a:r>
              <a:rPr sz="1900" i="0" b="0">
                <a:solidFill>
                  <a:srgbClr val="1E293B"/>
                </a:solidFill>
                <a:latin typeface="Helvetica Neue"/>
              </a:rPr>
              <a:t> under </a:t>
            </a:r>
            <a:r>
              <a:rPr sz="1900" i="0" b="1">
                <a:solidFill>
                  <a:srgbClr val="1E293B"/>
                </a:solidFill>
                <a:latin typeface="Helvetica Neue"/>
              </a:rPr>
              <a:t>~60 lines</a:t>
            </a:r>
            <a:r>
              <a:rPr sz="1900" i="0" b="0">
                <a:solidFill>
                  <a:srgbClr val="1E293B"/>
                </a:solidFill>
                <a:latin typeface="Helvetica Neue"/>
              </a:rPr>
              <a:t>: a pilot's checklist, not a style guide</a:t>
            </a:r>
          </a:p>
        </p:txBody>
      </p:sp>
      <p:sp>
        <p:nvSpPr>
          <p:cNvPr id="29" name="Rectangle 28"/>
          <p:cNvSpPr/>
          <p:nvPr/>
        </p:nvSpPr>
        <p:spPr>
          <a:xfrm>
            <a:off x="502920" y="5215382"/>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12368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Lines that can't name their originating failure are speculative; delete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subsystems, one per failure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Harness anatomy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notes/02-harness-anatomy.md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Agents are rarely stuck. They are confidently wrong, which is a feedback gap.</a:t>
            </a:r>
          </a:p>
        </p:txBody>
      </p:sp>
      <p:graphicFrame>
        <p:nvGraphicFramePr>
          <p:cNvPr id="13" name="Table 12"/>
          <p:cNvGraphicFramePr>
            <a:graphicFrameLocks noGrp="1"/>
          </p:cNvGraphicFramePr>
          <p:nvPr/>
        </p:nvGraphicFramePr>
        <p:xfrm>
          <a:off x="502920" y="1472184"/>
          <a:ext cx="11185854" cy="3468624"/>
        </p:xfrm>
        <a:graphic>
          <a:graphicData uri="http://schemas.openxmlformats.org/drawingml/2006/table">
            <a:tbl>
              <a:tblPr firstRow="1" bandRow="1">
                <a:tableStyleId>{5940675A-B579-460E-94D1-54222C63F5DA}</a:tableStyleId>
              </a:tblPr>
              <a:tblGrid>
                <a:gridCol w="2460888"/>
                <a:gridCol w="4026907"/>
                <a:gridCol w="4698059"/>
              </a:tblGrid>
              <a:tr h="405384">
                <a:tc>
                  <a:txBody>
                    <a:bodyPr wrap="square"/>
                    <a:lstStyle/>
                    <a:p>
                      <a:pPr>
                        <a:lnSpc>
                          <a:spcPct val="100000"/>
                        </a:lnSpc>
                      </a:pPr>
                      <a:r>
                        <a:rPr sz="1700" i="0" b="1">
                          <a:solidFill>
                            <a:srgbClr val="FFFFFF"/>
                          </a:solidFill>
                          <a:latin typeface="Helvetica Neue"/>
                        </a:rPr>
                        <a:t>Subsystem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Question it answers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Components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Instructions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What should I do, by what rules?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System prompt / </a:t>
                      </a:r>
                      <a:r>
                        <a:rPr sz="1530" i="0" b="0">
                          <a:solidFill>
                            <a:srgbClr val="0F7490"/>
                          </a:solidFill>
                          <a:latin typeface="Menlo"/>
                        </a:rPr>
                        <a:t>AGENTS.md</a:t>
                      </a:r>
                      <a:r>
                        <a:rPr sz="1700" i="0" b="0">
                          <a:solidFill>
                            <a:srgbClr val="475569"/>
                          </a:solidFill>
                          <a:latin typeface="Helvetica Neue"/>
                        </a:rPr>
                        <a:t>, memory</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Tools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What can I act with?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Tools, skills, MCPs, bash, context tools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Environment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Where do I run, and does it start?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Filesystem, sandbox, </a:t>
                      </a:r>
                      <a:r>
                        <a:rPr sz="1530" i="0" b="0">
                          <a:solidFill>
                            <a:srgbClr val="0F7490"/>
                          </a:solidFill>
                          <a:latin typeface="Menlo"/>
                        </a:rPr>
                        <a:t>init.sh</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State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What has happened so far?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Plan file, progress log, feature list, git</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Feedback</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Did it work?</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Hooks, test runners, verification gates, traces</a:t>
                      </a:r>
                    </a:p>
                  </a:txBody>
                  <a:tcPr marL="109728" marR="109728" marT="54864" marB="54864" anchor="ctr">
                    <a:solidFill>
                      <a:srgbClr val="E8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small harness, all five subsystems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Faldor et al., Gemini in Minecraft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notes/02-harness-anatomy.md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10" name="Rectangle 9"/>
          <p:cNvSpPr/>
          <p:nvPr/>
        </p:nvSpPr>
        <p:spPr>
          <a:xfrm>
            <a:off x="448056" y="1417320"/>
            <a:ext cx="11295583" cy="430857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ldor-gemini-argon-minecraft-fig2.png"/>
          <p:cNvPicPr>
            <a:picLocks noChangeAspect="1"/>
          </p:cNvPicPr>
          <p:nvPr/>
        </p:nvPicPr>
        <p:blipFill>
          <a:blip r:embed="rId2"/>
          <a:stretch>
            <a:fillRect/>
          </a:stretch>
        </p:blipFill>
        <p:spPr>
          <a:xfrm>
            <a:off x="502920" y="1472184"/>
            <a:ext cx="11185855" cy="4198844"/>
          </a:xfrm>
          <a:prstGeom prst="rect">
            <a:avLst/>
          </a:prstGeom>
        </p:spPr>
      </p:pic>
      <p:sp>
        <p:nvSpPr>
          <p:cNvPr id="12" name="TextBox 11"/>
          <p:cNvSpPr txBox="1"/>
          <p:nvPr/>
        </p:nvSpPr>
        <p:spPr>
          <a:xfrm>
            <a:off x="502920" y="5808188"/>
            <a:ext cx="11185855"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Four coding agents, one shared server, a fifth Observer that never plays (Faldor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minimum viable harness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Six items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notes/02-harness-anatomy.md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Build capability first, then the constraints that make it survive scale, then productize.</a:t>
            </a:r>
          </a:p>
        </p:txBody>
      </p:sp>
      <p:sp>
        <p:nvSpPr>
          <p:cNvPr id="13" name="Rectangle 12"/>
          <p:cNvSpPr/>
          <p:nvPr/>
        </p:nvSpPr>
        <p:spPr>
          <a:xfrm>
            <a:off x="502920" y="147218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532382"/>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Tool loop</a:t>
            </a:r>
            <a:r>
              <a:rPr sz="1800" i="0" b="0">
                <a:solidFill>
                  <a:srgbClr val="475569"/>
                </a:solidFill>
                <a:latin typeface="Helvetica Neue"/>
              </a:rPr>
              <a:t> — with typed schemas</a:t>
            </a:r>
          </a:p>
        </p:txBody>
      </p:sp>
      <p:sp>
        <p:nvSpPr>
          <p:cNvPr id="17" name="Rectangle 16"/>
          <p:cNvSpPr/>
          <p:nvPr/>
        </p:nvSpPr>
        <p:spPr>
          <a:xfrm>
            <a:off x="502920" y="2159508"/>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21970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219706"/>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159508"/>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Sandbox</a:t>
            </a:r>
            <a:r>
              <a:rPr sz="1800" i="0" b="0">
                <a:solidFill>
                  <a:srgbClr val="475569"/>
                </a:solidFill>
                <a:latin typeface="Helvetica Neue"/>
              </a:rPr>
              <a:t> — even just a working-directory boundary</a:t>
            </a:r>
          </a:p>
        </p:txBody>
      </p:sp>
      <p:sp>
        <p:nvSpPr>
          <p:cNvPr id="21" name="Rectangle 20"/>
          <p:cNvSpPr/>
          <p:nvPr/>
        </p:nvSpPr>
        <p:spPr>
          <a:xfrm>
            <a:off x="502920" y="2846832"/>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2907030"/>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290703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2846832"/>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Filesystem</a:t>
            </a:r>
            <a:r>
              <a:rPr sz="1800" i="0" b="0">
                <a:solidFill>
                  <a:srgbClr val="475569"/>
                </a:solidFill>
                <a:latin typeface="Helvetica Neue"/>
              </a:rPr>
              <a:t> — the agent can read and write it; the most foundational primitive</a:t>
            </a:r>
          </a:p>
        </p:txBody>
      </p:sp>
      <p:sp>
        <p:nvSpPr>
          <p:cNvPr id="25" name="Rectangle 24"/>
          <p:cNvSpPr/>
          <p:nvPr/>
        </p:nvSpPr>
        <p:spPr>
          <a:xfrm>
            <a:off x="502920" y="3534156"/>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359435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534156"/>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Plan file</a:t>
            </a:r>
            <a:r>
              <a:rPr sz="1800" i="0" b="0">
                <a:solidFill>
                  <a:srgbClr val="475569"/>
                </a:solidFill>
                <a:latin typeface="Helvetica Neue"/>
              </a:rPr>
              <a:t> — for anything past ~5 steps</a:t>
            </a:r>
          </a:p>
        </p:txBody>
      </p:sp>
      <p:sp>
        <p:nvSpPr>
          <p:cNvPr id="29" name="Rectangle 28"/>
          <p:cNvSpPr/>
          <p:nvPr/>
        </p:nvSpPr>
        <p:spPr>
          <a:xfrm>
            <a:off x="502920" y="4221480"/>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281677"/>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281677"/>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221480"/>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Verification gate</a:t>
            </a:r>
            <a:r>
              <a:rPr sz="1800" i="0" b="0">
                <a:solidFill>
                  <a:srgbClr val="475569"/>
                </a:solidFill>
                <a:latin typeface="Helvetica Neue"/>
              </a:rPr>
              <a:t> — one binary pass/fail check</a:t>
            </a:r>
          </a:p>
        </p:txBody>
      </p:sp>
      <p:sp>
        <p:nvSpPr>
          <p:cNvPr id="33" name="Rectangle 32"/>
          <p:cNvSpPr/>
          <p:nvPr/>
        </p:nvSpPr>
        <p:spPr>
          <a:xfrm>
            <a:off x="502920" y="490880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67512" y="4969001"/>
            <a:ext cx="457200" cy="457200"/>
          </a:xfrm>
          <a:prstGeom prst="ellipse">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96900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6</a:t>
            </a:r>
          </a:p>
        </p:txBody>
      </p:sp>
      <p:sp>
        <p:nvSpPr>
          <p:cNvPr id="36" name="TextBox 35"/>
          <p:cNvSpPr txBox="1"/>
          <p:nvPr/>
        </p:nvSpPr>
        <p:spPr>
          <a:xfrm>
            <a:off x="1325880" y="490880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Structured traces</a:t>
            </a:r>
            <a:r>
              <a:rPr sz="1800" i="0" b="0">
                <a:solidFill>
                  <a:srgbClr val="475569"/>
                </a:solidFill>
                <a:latin typeface="Helvetica Neue"/>
              </a:rPr>
              <a:t> — of every step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Tools and boundaries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Tool design · Execution boundaries and guardrails</a:t>
            </a:r>
          </a:p>
        </p:txBody>
      </p:sp>
      <p:cxnSp>
        <p:nvCxnSpPr>
          <p:cNvPr id="6" name="Connector 5"/>
          <p:cNvCxnSpPr/>
          <p:nvPr/>
        </p:nvCxnSpPr>
        <p:spPr>
          <a:xfrm>
            <a:off x="6446520" y="1248410"/>
            <a:ext cx="0" cy="436118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248410"/>
            <a:ext cx="4693615" cy="454406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Design for an agent, not a programmer</a:t>
            </a:r>
          </a:p>
          <a:p>
            <a:pPr algn="l">
              <a:lnSpc>
                <a:spcPct val="100000"/>
              </a:lnSpc>
              <a:spcBef>
                <a:spcPts val="1189"/>
              </a:spcBef>
            </a:pPr>
            <a:r>
              <a:rPr sz="1700" i="0" b="0">
                <a:solidFill>
                  <a:srgbClr val="CBD5E1"/>
                </a:solidFill>
                <a:latin typeface="Helvetica Neue"/>
              </a:rPr>
              <a:t>The five-section tool contract</a:t>
            </a:r>
          </a:p>
          <a:p>
            <a:pPr algn="l">
              <a:lnSpc>
                <a:spcPct val="100000"/>
              </a:lnSpc>
              <a:spcBef>
                <a:spcPts val="1189"/>
              </a:spcBef>
            </a:pPr>
            <a:r>
              <a:rPr sz="1700" i="0" b="0">
                <a:solidFill>
                  <a:srgbClr val="CBD5E1"/>
                </a:solidFill>
                <a:latin typeface="Helvetica Neue"/>
              </a:rPr>
              <a:t>Four questions before a tool ships</a:t>
            </a:r>
          </a:p>
          <a:p>
            <a:pPr algn="l">
              <a:lnSpc>
                <a:spcPct val="100000"/>
              </a:lnSpc>
              <a:spcBef>
                <a:spcPts val="1189"/>
              </a:spcBef>
            </a:pPr>
            <a:r>
              <a:rPr sz="1700" i="0" b="0">
                <a:solidFill>
                  <a:srgbClr val="CBD5E1"/>
                </a:solidFill>
                <a:latin typeface="Helvetica Neue"/>
              </a:rPr>
              <a:t>Discover tools; don't preload them</a:t>
            </a:r>
          </a:p>
          <a:p>
            <a:pPr algn="l">
              <a:lnSpc>
                <a:spcPct val="100000"/>
              </a:lnSpc>
              <a:spcBef>
                <a:spcPts val="1189"/>
              </a:spcBef>
            </a:pPr>
            <a:r>
              <a:rPr sz="1700" i="0" b="0">
                <a:solidFill>
                  <a:srgbClr val="CBD5E1"/>
                </a:solidFill>
                <a:latin typeface="Helvetica Neue"/>
              </a:rPr>
              <a:t>A skill description is routing logic</a:t>
            </a:r>
          </a:p>
          <a:p>
            <a:pPr algn="l">
              <a:lnSpc>
                <a:spcPct val="100000"/>
              </a:lnSpc>
              <a:spcBef>
                <a:spcPts val="1189"/>
              </a:spcBef>
            </a:pPr>
            <a:r>
              <a:rPr sz="1700" i="0" b="0">
                <a:solidFill>
                  <a:srgbClr val="CBD5E1"/>
                </a:solidFill>
                <a:latin typeface="Helvetica Neue"/>
              </a:rPr>
              <a:t>Coding agents edit by exact match</a:t>
            </a:r>
          </a:p>
          <a:p>
            <a:pPr algn="l">
              <a:lnSpc>
                <a:spcPct val="100000"/>
              </a:lnSpc>
              <a:spcBef>
                <a:spcPts val="1189"/>
              </a:spcBef>
            </a:pPr>
            <a:r>
              <a:rPr sz="1700" i="0" b="0">
                <a:solidFill>
                  <a:srgbClr val="CBD5E1"/>
                </a:solidFill>
                <a:latin typeface="Helvetica Neue"/>
              </a:rPr>
              <a:t>Requests vs. rules</a:t>
            </a:r>
          </a:p>
          <a:p>
            <a:pPr algn="l">
              <a:lnSpc>
                <a:spcPct val="100000"/>
              </a:lnSpc>
              <a:spcBef>
                <a:spcPts val="1189"/>
              </a:spcBef>
            </a:pPr>
            <a:r>
              <a:rPr sz="1700" i="0" b="0">
                <a:solidFill>
                  <a:srgbClr val="CBD5E1"/>
                </a:solidFill>
                <a:latin typeface="Helvetica Neue"/>
              </a:rPr>
              <a:t>The isolation ladder</a:t>
            </a:r>
          </a:p>
          <a:p>
            <a:pPr algn="l">
              <a:lnSpc>
                <a:spcPct val="100000"/>
              </a:lnSpc>
              <a:spcBef>
                <a:spcPts val="1189"/>
              </a:spcBef>
            </a:pPr>
            <a:r>
              <a:rPr sz="1700" i="0" b="0">
                <a:solidFill>
                  <a:srgbClr val="CBD5E1"/>
                </a:solidFill>
                <a:latin typeface="Helvetica Neue"/>
              </a:rPr>
              <a:t>Silent success, verbose failure</a:t>
            </a:r>
          </a:p>
          <a:p>
            <a:pPr algn="l">
              <a:lnSpc>
                <a:spcPct val="100000"/>
              </a:lnSpc>
              <a:spcBef>
                <a:spcPts val="1189"/>
              </a:spcBef>
            </a:pPr>
            <a:r>
              <a:rPr sz="1700" i="0" b="0">
                <a:solidFill>
                  <a:srgbClr val="CBD5E1"/>
                </a:solidFill>
                <a:latin typeface="Helvetica Neue"/>
              </a:rPr>
              <a:t>Test the gate, not the model's mood</a:t>
            </a:r>
          </a:p>
          <a:p>
            <a:pPr algn="l">
              <a:lnSpc>
                <a:spcPct val="100000"/>
              </a:lnSpc>
              <a:spcBef>
                <a:spcPts val="1189"/>
              </a:spcBef>
            </a:pPr>
            <a:r>
              <a:rPr sz="1700" i="0" b="0">
                <a:solidFill>
                  <a:srgbClr val="CBD5E1"/>
                </a:solidFill>
                <a:latin typeface="Helvetica Neue"/>
              </a:rPr>
              <a:t>Five protection layers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Design for an agent, not a programmer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ACI, not API</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When a tool is misused, check the description before questioning the model.</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An API's reader</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Has docs, type hints and autocomplete</a:t>
            </a:r>
          </a:p>
        </p:txBody>
      </p:sp>
      <p:sp>
        <p:nvSpPr>
          <p:cNvPr id="18" name="Rectangle 17"/>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Can ask a follow-up question</a:t>
            </a:r>
          </a:p>
        </p:txBody>
      </p:sp>
      <p:sp>
        <p:nvSpPr>
          <p:cNvPr id="20" name="Rectangle 19"/>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06019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Learns boundaries by reading the codebase</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Implicit knowledge fills the gaps</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An ACI's reader</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Sees only a name, a description and a schema</a:t>
            </a:r>
          </a:p>
        </p:txBody>
      </p:sp>
      <p:sp>
        <p:nvSpPr>
          <p:cNvPr id="29" name="Rectangle 28"/>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Needs explicit boundaries between tools</a:t>
            </a:r>
          </a:p>
        </p:txBody>
      </p:sp>
      <p:sp>
        <p:nvSpPr>
          <p:cNvPr id="31" name="Rectangle 30"/>
          <p:cNvSpPr/>
          <p:nvPr/>
        </p:nvSpPr>
        <p:spPr>
          <a:xfrm>
            <a:off x="6507327" y="342722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345180"/>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Needs error-proof params: enums, absolute paths</a:t>
            </a:r>
          </a:p>
        </p:txBody>
      </p:sp>
      <p:sp>
        <p:nvSpPr>
          <p:cNvPr id="33" name="Rectangle 32"/>
          <p:cNvSpPr/>
          <p:nvPr/>
        </p:nvSpPr>
        <p:spPr>
          <a:xfrm>
            <a:off x="6507327" y="412673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367" y="404469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Needs examples </a:t>
            </a:r>
            <a:r>
              <a:rPr sz="1700" i="0" b="1">
                <a:solidFill>
                  <a:srgbClr val="1E293B"/>
                </a:solidFill>
                <a:latin typeface="Helvetica Neue"/>
              </a:rPr>
              <a:t>inside</a:t>
            </a:r>
            <a:r>
              <a:rPr sz="1700" i="0" b="0">
                <a:solidFill>
                  <a:srgbClr val="1E293B"/>
                </a:solidFill>
                <a:latin typeface="Helvetica Neue"/>
              </a:rPr>
              <a:t> the definition</a:t>
            </a:r>
          </a:p>
        </p:txBody>
      </p:sp>
      <p:sp>
        <p:nvSpPr>
          <p:cNvPr id="35" name="Rectangle 34"/>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What it can't see doesn't exist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five-section tool contract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Vercel Academy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Adding 1–5 examples moved tool-call accuracy from </a:t>
            </a:r>
            <a:r>
              <a:rPr sz="1600" i="0" b="1">
                <a:solidFill>
                  <a:srgbClr val="1E3A5F"/>
                </a:solidFill>
                <a:latin typeface="Helvetica Neue"/>
              </a:rPr>
              <a:t>~72% to 90%</a:t>
            </a:r>
            <a:r>
              <a:rPr sz="1600" i="0" b="1">
                <a:solidFill>
                  <a:srgbClr val="1E3A5F"/>
                </a:solidFill>
                <a:latin typeface="Helvetica Neue"/>
              </a:rPr>
              <a:t> (Li).</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Section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Purpose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What it does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operation, plainly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WHEN TO USE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Positive triggers the tool owns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WHEN NOT TO USE</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Boundary cases that belong to a neighbouring tool</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DO NOT USE FOR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Hard negatives: misuse seen in practice (ratchet output)</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EXAMPLES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Concrete invocations with realistic arguments</a:t>
                      </a:r>
                    </a:p>
                  </a:txBody>
                  <a:tcPr marL="109728" marR="109728" marT="54864" marB="5486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questions before a tool ships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Gating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Gate the irreversible. Gating reversible actions is the fastest way to make an agent useless.</a:t>
            </a:r>
          </a:p>
        </p:txBody>
      </p:sp>
      <p:graphicFrame>
        <p:nvGraphicFramePr>
          <p:cNvPr id="13" name="Table 12"/>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Question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If the answer is no</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Reversible?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Put a confirmation gate in front of it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Idempotent?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Never retry it without an idempotency key</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Observable?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 can't be debugged; add a trace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Parallel-safe?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Serialize it in the orchestrator</a:t>
                      </a:r>
                    </a:p>
                  </a:txBody>
                  <a:tcPr marL="109728" marR="109728" marT="54864" marB="54864" anchor="ctr">
                    <a:solidFill>
                      <a:srgbClr val="F8FAF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Discover tools; don't preload them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Fig. 4-2</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10" name="Rectangle 9"/>
          <p:cNvSpPr/>
          <p:nvPr/>
        </p:nvSpPr>
        <p:spPr>
          <a:xfrm>
            <a:off x="448056" y="1417320"/>
            <a:ext cx="6261948" cy="360726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ai-agents-in-depth-fig4-2-7197394881132739380.png"/>
          <p:cNvPicPr>
            <a:picLocks noChangeAspect="1"/>
          </p:cNvPicPr>
          <p:nvPr/>
        </p:nvPicPr>
        <p:blipFill>
          <a:blip r:embed="rId2"/>
          <a:stretch>
            <a:fillRect/>
          </a:stretch>
        </p:blipFill>
        <p:spPr>
          <a:xfrm>
            <a:off x="502920" y="1472184"/>
            <a:ext cx="6152220" cy="3497537"/>
          </a:xfrm>
          <a:prstGeom prst="rect">
            <a:avLst/>
          </a:prstGeom>
        </p:spPr>
      </p:pic>
      <p:sp>
        <p:nvSpPr>
          <p:cNvPr id="12" name="TextBox 11"/>
          <p:cNvSpPr txBox="1"/>
          <p:nvPr/>
        </p:nvSpPr>
        <p:spPr>
          <a:xfrm>
            <a:off x="502920" y="5106881"/>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Two-level matching, server then tool (Li, AI Agents in Depth, 2026, Apache-2.0)</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Five MCP servers ≈ </a:t>
            </a:r>
            <a:r>
              <a:rPr sz="1800" i="0" b="1">
                <a:solidFill>
                  <a:srgbClr val="1E293B"/>
                </a:solidFill>
                <a:latin typeface="Helvetica Neue"/>
              </a:rPr>
              <a:t>55K tokens</a:t>
            </a:r>
            <a:r>
              <a:rPr sz="1800" i="0" b="0">
                <a:solidFill>
                  <a:srgbClr val="1E293B"/>
                </a:solidFill>
                <a:latin typeface="Helvetica Neue"/>
              </a:rPr>
              <a:t>, ~30% of a 200K window, before the first message</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MCP-Zero: </a:t>
            </a:r>
            <a:r>
              <a:rPr sz="1800" i="0" b="1">
                <a:solidFill>
                  <a:srgbClr val="1E293B"/>
                </a:solidFill>
                <a:latin typeface="Helvetica Neue"/>
              </a:rPr>
              <a:t>~98% fewer tokens</a:t>
            </a:r>
            <a:r>
              <a:rPr sz="1800" i="0" b="0">
                <a:solidFill>
                  <a:srgbClr val="1E293B"/>
                </a:solidFill>
                <a:latin typeface="Helvetica Neue"/>
              </a:rPr>
              <a:t> across ~2,800 tools</a:t>
            </a:r>
          </a:p>
        </p:txBody>
      </p:sp>
      <p:sp>
        <p:nvSpPr>
          <p:cNvPr id="17" name="Rectangle 16"/>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Dynamic discovery: Opus 4 </a:t>
            </a:r>
            <a:r>
              <a:rPr sz="1800" i="0" b="1">
                <a:solidFill>
                  <a:srgbClr val="1E293B"/>
                </a:solidFill>
                <a:latin typeface="Helvetica Neue"/>
              </a:rPr>
              <a:t>49% → 74%</a:t>
            </a:r>
            <a:r>
              <a:rPr sz="1800" i="0" b="0">
                <a:solidFill>
                  <a:srgbClr val="1E293B"/>
                </a:solidFill>
                <a:latin typeface="Helvetica Neue"/>
              </a:rPr>
              <a:t> on tool selection</a:t>
            </a:r>
          </a:p>
        </p:txBody>
      </p:sp>
      <p:sp>
        <p:nvSpPr>
          <p:cNvPr id="19" name="Rectangle 18"/>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Cursor's greppable tool folder: </a:t>
            </a:r>
            <a:r>
              <a:rPr sz="1800" i="0" b="1">
                <a:solidFill>
                  <a:srgbClr val="1E293B"/>
                </a:solidFill>
                <a:latin typeface="Helvetica Neue"/>
              </a:rPr>
              <a:t>−46.9%</a:t>
            </a:r>
            <a:r>
              <a:rPr sz="1800" i="0" b="0">
                <a:solidFill>
                  <a:srgbClr val="1E293B"/>
                </a:solidFill>
                <a:latin typeface="Helvetica Neue"/>
              </a:rPr>
              <a:t> tokens</a:t>
            </a:r>
          </a:p>
        </p:txBody>
      </p:sp>
      <p:sp>
        <p:nvSpPr>
          <p:cNvPr id="21" name="Rectangle 20"/>
          <p:cNvSpPr/>
          <p:nvPr/>
        </p:nvSpPr>
        <p:spPr>
          <a:xfrm>
            <a:off x="7020900" y="482346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4736592"/>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Append new schemas at the end and leave them pinned, so the KV cache survives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skill description is routing logic</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OpenAI skills tips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10" name="Rounded Rectangle 9"/>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YAML</a:t>
            </a:r>
          </a:p>
        </p:txBody>
      </p:sp>
      <p:sp>
        <p:nvSpPr>
          <p:cNvPr id="12" name="TextBox 11"/>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bad (~45 tokens): details that belong in the body</a:t>
            </a:r>
          </a:p>
          <a:p>
            <a:pPr algn="l">
              <a:lnSpc>
                <a:spcPct val="100000"/>
              </a:lnSpc>
            </a:pPr>
            <a:r>
              <a:rPr sz="1600" i="0" b="0">
                <a:solidFill>
                  <a:srgbClr val="E2E8F0"/>
                </a:solidFill>
                <a:latin typeface="Menlo"/>
              </a:rPr>
              <a:t>description: |</a:t>
            </a:r>
          </a:p>
          <a:p>
            <a:pPr algn="l">
              <a:lnSpc>
                <a:spcPct val="100000"/>
              </a:lnSpc>
            </a:pPr>
            <a:r>
              <a:rPr sz="1600" i="0" b="0">
                <a:solidFill>
                  <a:srgbClr val="E2E8F0"/>
                </a:solidFill>
                <a:latin typeface="Menlo"/>
              </a:rPr>
              <a:t>  Handles the complete deployment process to</a:t>
            </a:r>
          </a:p>
          <a:p>
            <a:pPr algn="l">
              <a:lnSpc>
                <a:spcPct val="100000"/>
              </a:lnSpc>
            </a:pPr>
            <a:r>
              <a:rPr sz="1600" i="0" b="0">
                <a:solidFill>
                  <a:srgbClr val="E2E8F0"/>
                </a:solidFill>
                <a:latin typeface="Menlo"/>
              </a:rPr>
              <a:t>  production: environment checks, rollback,</a:t>
            </a:r>
          </a:p>
          <a:p>
            <a:pPr algn="l">
              <a:lnSpc>
                <a:spcPct val="100000"/>
              </a:lnSpc>
            </a:pPr>
            <a:r>
              <a:rPr sz="1600" i="0" b="0">
                <a:solidFill>
                  <a:srgbClr val="E2E8F0"/>
                </a:solidFill>
                <a:latin typeface="Menlo"/>
              </a:rPr>
              <a:t>  post-deploy verification. Use before deploying.</a:t>
            </a:r>
          </a:p>
          <a:p>
            <a:pPr algn="l">
              <a:lnSpc>
                <a:spcPct val="100000"/>
              </a:lnSpc>
            </a:pPr>
          </a:p>
          <a:p>
            <a:pPr algn="l">
              <a:lnSpc>
                <a:spcPct val="100000"/>
              </a:lnSpc>
            </a:pPr>
            <a:r>
              <a:rPr sz="1600" i="0" b="0">
                <a:solidFill>
                  <a:srgbClr val="E2E8F0"/>
                </a:solidFill>
                <a:latin typeface="Menlo"/>
              </a:rPr>
              <a:t># good (~9 tokens): the same routing signal</a:t>
            </a:r>
          </a:p>
          <a:p>
            <a:pPr algn="l">
              <a:lnSpc>
                <a:spcPct val="100000"/>
              </a:lnSpc>
            </a:pPr>
            <a:r>
              <a:rPr sz="1600" i="0" b="0">
                <a:solidFill>
                  <a:srgbClr val="E2E8F0"/>
                </a:solidFill>
                <a:latin typeface="Menlo"/>
              </a:rPr>
              <a:t>description: Use when deploying to production</a:t>
            </a:r>
          </a:p>
          <a:p>
            <a:pPr algn="l">
              <a:lnSpc>
                <a:spcPct val="100000"/>
              </a:lnSpc>
            </a:pPr>
            <a:r>
              <a:rPr sz="1600" i="0" b="0">
                <a:solidFill>
                  <a:srgbClr val="E2E8F0"/>
                </a:solidFill>
                <a:latin typeface="Menlo"/>
              </a:rPr>
              <a:t>  or rolling back.</a:t>
            </a:r>
          </a:p>
        </p:txBody>
      </p:sp>
      <p:sp>
        <p:nvSpPr>
          <p:cNvPr id="13" name="Rectangle 12"/>
          <p:cNvSpPr/>
          <p:nvPr/>
        </p:nvSpPr>
        <p:spPr>
          <a:xfrm>
            <a:off x="7580193" y="1599946"/>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946404"/>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Only name + description stay resident; the body loads on demand</a:t>
            </a:r>
          </a:p>
        </p:txBody>
      </p:sp>
      <p:sp>
        <p:nvSpPr>
          <p:cNvPr id="15" name="Rectangle 14"/>
          <p:cNvSpPr/>
          <p:nvPr/>
        </p:nvSpPr>
        <p:spPr>
          <a:xfrm>
            <a:off x="7580193" y="258445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502408"/>
            <a:ext cx="3788542"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Add </a:t>
            </a:r>
            <a:r>
              <a:rPr sz="1700" i="0" b="1">
                <a:solidFill>
                  <a:srgbClr val="1E293B"/>
                </a:solidFill>
                <a:latin typeface="Helvetica Neue"/>
              </a:rPr>
              <a:t>negative examples</a:t>
            </a:r>
            <a:r>
              <a:rPr sz="1700" i="0" b="0">
                <a:solidFill>
                  <a:srgbClr val="1E293B"/>
                </a:solidFill>
                <a:latin typeface="Helvetica Neue"/>
              </a:rPr>
              <a:t>: when not to fire, and what to use instead</a:t>
            </a:r>
          </a:p>
        </p:txBody>
      </p:sp>
      <p:sp>
        <p:nvSpPr>
          <p:cNvPr id="17" name="Rectangle 16"/>
          <p:cNvSpPr/>
          <p:nvPr/>
        </p:nvSpPr>
        <p:spPr>
          <a:xfrm>
            <a:off x="7580193" y="3283966"/>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3201924"/>
            <a:ext cx="3788542" cy="946404"/>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Templates and worked examples go in the body, where they are free until used</a:t>
            </a:r>
          </a:p>
        </p:txBody>
      </p:sp>
      <p:sp>
        <p:nvSpPr>
          <p:cNvPr id="19" name="Rectangle 18"/>
          <p:cNvSpPr/>
          <p:nvPr/>
        </p:nvSpPr>
        <p:spPr>
          <a:xfrm>
            <a:off x="7580193" y="426847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4186428"/>
            <a:ext cx="3788542"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For determinism, invoke explicitly: </a:t>
            </a:r>
            <a:r>
              <a:rPr sz="1530" i="0" b="0">
                <a:solidFill>
                  <a:srgbClr val="0F7490"/>
                </a:solidFill>
                <a:latin typeface="Menlo"/>
              </a:rPr>
              <a:t>Use the &lt;name&gt; skill.</a:t>
            </a:r>
          </a:p>
        </p:txBody>
      </p:sp>
      <p:sp>
        <p:nvSpPr>
          <p:cNvPr id="21" name="Rectangle 20"/>
          <p:cNvSpPr/>
          <p:nvPr/>
        </p:nvSpPr>
        <p:spPr>
          <a:xfrm>
            <a:off x="7580193" y="4967986"/>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4885944"/>
            <a:ext cx="3788542"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Skills + shell allowed; network on a </a:t>
            </a:r>
            <a:r>
              <a:rPr sz="1700" i="0" b="1">
                <a:solidFill>
                  <a:srgbClr val="1E293B"/>
                </a:solidFill>
                <a:latin typeface="Helvetica Neue"/>
              </a:rPr>
              <a:t>minimal allowlist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Coding agents edit by exact match</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Fig. 5-4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569663" y="1417320"/>
            <a:ext cx="6018734"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ai-agents-in-depth-fig5-4-4989701770481481543.png"/>
          <p:cNvPicPr>
            <a:picLocks noChangeAspect="1"/>
          </p:cNvPicPr>
          <p:nvPr/>
        </p:nvPicPr>
        <p:blipFill>
          <a:blip r:embed="rId2"/>
          <a:stretch>
            <a:fillRect/>
          </a:stretch>
        </p:blipFill>
        <p:spPr>
          <a:xfrm>
            <a:off x="624527" y="1472184"/>
            <a:ext cx="5909006"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Five file-editing schemes and their trade-offs (Li, AI Agents in Depth, 2026, Apache-2.0)</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Old → new string</a:t>
            </a:r>
            <a:r>
              <a:rPr sz="1800" i="0" b="0">
                <a:solidFill>
                  <a:srgbClr val="1E293B"/>
                </a:solidFill>
                <a:latin typeface="Helvetica Neue"/>
              </a:rPr>
              <a:t> (Claude Code): predictable; fails loudly if not unique</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Start + end anchors:</a:t>
            </a:r>
            <a:r>
              <a:rPr sz="1800" i="0" b="0">
                <a:solidFill>
                  <a:srgbClr val="1E293B"/>
                </a:solidFill>
                <a:latin typeface="Helvetica Neue"/>
              </a:rPr>
              <a:t> same reliability, cheaper large deletions</a:t>
            </a:r>
          </a:p>
        </p:txBody>
      </p:sp>
      <p:sp>
        <p:nvSpPr>
          <p:cNvPr id="17" name="Rectangle 16"/>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Line ranges:</a:t>
            </a:r>
            <a:r>
              <a:rPr sz="1800" i="0" b="0">
                <a:solidFill>
                  <a:srgbClr val="1E293B"/>
                </a:solidFill>
                <a:latin typeface="Helvetica Neue"/>
              </a:rPr>
              <a:t> models miscount, and numbers shift after every edit</a:t>
            </a:r>
          </a:p>
        </p:txBody>
      </p:sp>
      <p:sp>
        <p:nvSpPr>
          <p:cNvPr id="19" name="Rectangle 18"/>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Diff + apply model</a:t>
            </a:r>
            <a:r>
              <a:rPr sz="1800" i="0" b="0">
                <a:solidFill>
                  <a:srgbClr val="1E293B"/>
                </a:solidFill>
                <a:latin typeface="Helvetica Neue"/>
              </a:rPr>
              <a:t> (Cursor): fast, needs a trained apply model</a:t>
            </a:r>
          </a:p>
        </p:txBody>
      </p:sp>
      <p:sp>
        <p:nvSpPr>
          <p:cNvPr id="21" name="Rectangle 20"/>
          <p:cNvSpPr/>
          <p:nvPr/>
        </p:nvSpPr>
        <p:spPr>
          <a:xfrm>
            <a:off x="7020900" y="482346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473659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Search: Claude Code greps with no index; Cursor pays for one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Requests vs. rules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Karpathy, AISN 2026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 </a:t>
            </a:r>
            <a:r>
              <a:rPr sz="1530" i="0" b="0">
                <a:solidFill>
                  <a:srgbClr val="0F7490"/>
                </a:solidFill>
                <a:latin typeface="Menlo"/>
              </a:rPr>
              <a:t>CLAUDE.md</a:t>
            </a:r>
            <a:r>
              <a:rPr sz="1700" i="0" b="0">
                <a:solidFill>
                  <a:srgbClr val="475569"/>
                </a:solidFill>
                <a:latin typeface="Helvetica Neue"/>
              </a:rPr>
              <a:t> line is a request the model can ignore. A pre-tool-use hook is a rule it cannot.</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Match the enforcement level to the cost of getting it wrong.</a:t>
            </a:r>
          </a:p>
        </p:txBody>
      </p:sp>
      <p:graphicFrame>
        <p:nvGraphicFramePr>
          <p:cNvPr id="14" name="Table 13"/>
          <p:cNvGraphicFramePr>
            <a:graphicFrameLocks noGrp="1"/>
          </p:cNvGraphicFramePr>
          <p:nvPr/>
        </p:nvGraphicFramePr>
        <p:xfrm>
          <a:off x="502920" y="1985772"/>
          <a:ext cx="11185854" cy="2139696"/>
        </p:xfrm>
        <a:graphic>
          <a:graphicData uri="http://schemas.openxmlformats.org/drawingml/2006/table">
            <a:tbl>
              <a:tblPr firstRow="1" bandRow="1">
                <a:tableStyleId>{5940675A-B579-460E-94D1-54222C63F5DA}</a:tableStyleId>
              </a:tblPr>
              <a:tblGrid>
                <a:gridCol w="2237171"/>
                <a:gridCol w="4026907"/>
                <a:gridCol w="4921776"/>
              </a:tblGrid>
              <a:tr h="405384">
                <a:tc>
                  <a:txBody>
                    <a:bodyPr wrap="square"/>
                    <a:lstStyle/>
                    <a:p>
                      <a:pPr>
                        <a:lnSpc>
                          <a:spcPct val="100000"/>
                        </a:lnSpc>
                      </a:pPr>
                      <a:r>
                        <a:rPr sz="1700" i="0" b="1">
                          <a:solidFill>
                            <a:srgbClr val="FFFFFF"/>
                          </a:solidFill>
                          <a:latin typeface="Helvetica Neue"/>
                        </a:rPr>
                        <a:t>Bucket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Enforcement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Example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Always do</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Instruction in </a:t>
                      </a:r>
                      <a:r>
                        <a:rPr sz="1530" i="0" b="0">
                          <a:solidFill>
                            <a:srgbClr val="0F7490"/>
                          </a:solidFill>
                          <a:latin typeface="Menlo"/>
                        </a:rPr>
                        <a:t>AGENTS.md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Run the formatter before committing</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Ask first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Permission gate or HITL confirmation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Add a dependency, change a schema</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Never do</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Hook or permission deny, never a sentence</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Write </a:t>
                      </a:r>
                      <a:r>
                        <a:rPr sz="1530" i="0" b="0">
                          <a:solidFill>
                            <a:srgbClr val="0F7490"/>
                          </a:solidFill>
                          <a:latin typeface="Menlo"/>
                        </a:rPr>
                        <a:t>.env</a:t>
                      </a:r>
                      <a:r>
                        <a:rPr sz="1700" i="0" b="0">
                          <a:solidFill>
                            <a:srgbClr val="475569"/>
                          </a:solidFill>
                          <a:latin typeface="Helvetica Neue"/>
                        </a:rPr>
                        <a:t>, force-push, delete outside the workspace</a:t>
                      </a:r>
                    </a:p>
                  </a:txBody>
                  <a:tcPr marL="109728" marR="109728" marT="54864" marB="54864" anchor="ctr">
                    <a:solidFill>
                      <a:srgbClr val="E8F4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isolation ladder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Sandboxes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Pair every rung with quotas: CPU, memory, disk, network, wall-clock.</a:t>
            </a:r>
          </a:p>
        </p:txBody>
      </p:sp>
      <p:sp>
        <p:nvSpPr>
          <p:cNvPr id="13" name="Rectangle 12"/>
          <p:cNvSpPr/>
          <p:nvPr/>
        </p:nvSpPr>
        <p:spPr>
          <a:xfrm>
            <a:off x="1645920" y="1472184"/>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704213"/>
            <a:ext cx="457200" cy="457200"/>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a:t>
            </a:r>
          </a:p>
        </p:txBody>
      </p:sp>
      <p:sp>
        <p:nvSpPr>
          <p:cNvPr id="16" name="TextBox 15"/>
          <p:cNvSpPr txBox="1"/>
          <p:nvPr/>
        </p:nvSpPr>
        <p:spPr>
          <a:xfrm>
            <a:off x="2468879" y="1472184"/>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venv</a:t>
            </a:r>
            <a:r>
              <a:rPr sz="1800" i="0" b="0">
                <a:solidFill>
                  <a:srgbClr val="475569"/>
                </a:solidFill>
                <a:latin typeface="Helvetica Neue"/>
              </a:rPr>
              <a:t> — Not on the ladder: isolates dependencies, not effects</a:t>
            </a:r>
          </a:p>
        </p:txBody>
      </p:sp>
      <p:sp>
        <p:nvSpPr>
          <p:cNvPr id="17" name="Rectangle 16"/>
          <p:cNvSpPr/>
          <p:nvPr/>
        </p:nvSpPr>
        <p:spPr>
          <a:xfrm>
            <a:off x="1645920" y="2503170"/>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20" name="TextBox 19"/>
          <p:cNvSpPr txBox="1"/>
          <p:nvPr/>
        </p:nvSpPr>
        <p:spPr>
          <a:xfrm>
            <a:off x="2468879" y="2503170"/>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OS-level</a:t>
            </a:r>
            <a:r>
              <a:rPr sz="1800" i="0" b="0">
                <a:solidFill>
                  <a:srgbClr val="475569"/>
                </a:solidFill>
                <a:latin typeface="Helvetica Neue"/>
              </a:rPr>
              <a:t> — macOS Seatbelt, Linux seccomp / Landlock</a:t>
            </a:r>
          </a:p>
        </p:txBody>
      </p:sp>
      <p:sp>
        <p:nvSpPr>
          <p:cNvPr id="21" name="Rectangle 20"/>
          <p:cNvSpPr/>
          <p:nvPr/>
        </p:nvSpPr>
        <p:spPr>
          <a:xfrm>
            <a:off x="1645920" y="3534156"/>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4" name="TextBox 23"/>
          <p:cNvSpPr txBox="1"/>
          <p:nvPr/>
        </p:nvSpPr>
        <p:spPr>
          <a:xfrm>
            <a:off x="2468879" y="3534156"/>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Container</a:t>
            </a:r>
            <a:r>
              <a:rPr sz="1800" i="0" b="0">
                <a:solidFill>
                  <a:srgbClr val="475569"/>
                </a:solidFill>
                <a:latin typeface="Helvetica Neue"/>
              </a:rPr>
              <a:t> — Process, filesystem and network namespaces</a:t>
            </a:r>
          </a:p>
        </p:txBody>
      </p:sp>
      <p:sp>
        <p:nvSpPr>
          <p:cNvPr id="25" name="Rectangle 24"/>
          <p:cNvSpPr/>
          <p:nvPr/>
        </p:nvSpPr>
        <p:spPr>
          <a:xfrm>
            <a:off x="1645920" y="4565142"/>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8" name="TextBox 27"/>
          <p:cNvSpPr txBox="1"/>
          <p:nvPr/>
        </p:nvSpPr>
        <p:spPr>
          <a:xfrm>
            <a:off x="2468879" y="4565142"/>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microVM</a:t>
            </a:r>
            <a:r>
              <a:rPr sz="1800" i="0" b="0">
                <a:solidFill>
                  <a:srgbClr val="475569"/>
                </a:solidFill>
                <a:latin typeface="Helvetica Neue"/>
              </a:rPr>
              <a:t> — Firecracker-class; for untrusted code and production agents</a:t>
            </a:r>
          </a:p>
        </p:txBody>
      </p:sp>
      <p:sp>
        <p:nvSpPr>
          <p:cNvPr id="29" name="TextBox 28"/>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stronger isolation ↓</a:t>
            </a:r>
          </a:p>
        </p:txBody>
      </p:sp>
      <p:cxnSp>
        <p:nvCxnSpPr>
          <p:cNvPr id="30" name="Connector 29"/>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Silent success, verbose failure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Hooks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Hooks run as code on a trigger, after every edit and before every risky command.</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Hook that announces every pass</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Burns tokens on every edit</a:t>
            </a:r>
          </a:p>
        </p:txBody>
      </p:sp>
      <p:sp>
        <p:nvSpPr>
          <p:cNvPr id="18" name="Rectangle 17"/>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Trains the model to skim hook output</a:t>
            </a:r>
          </a:p>
        </p:txBody>
      </p:sp>
      <p:sp>
        <p:nvSpPr>
          <p:cNvPr id="20" name="Rectangle 19"/>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one real failure is lost in noise</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Low signal</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Hook that speaks only on failure</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Full error, file and line</a:t>
            </a:r>
          </a:p>
        </p:txBody>
      </p:sp>
      <p:sp>
        <p:nvSpPr>
          <p:cNvPr id="29" name="Rectangle 28"/>
          <p:cNvSpPr/>
          <p:nvPr/>
        </p:nvSpPr>
        <p:spPr>
          <a:xfrm>
            <a:off x="6507327" y="272770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agent learns within </a:t>
            </a:r>
            <a:r>
              <a:rPr sz="1700" i="0" b="1">
                <a:solidFill>
                  <a:srgbClr val="1E293B"/>
                </a:solidFill>
                <a:latin typeface="Helvetica Neue"/>
              </a:rPr>
              <a:t>one step</a:t>
            </a:r>
          </a:p>
        </p:txBody>
      </p:sp>
      <p:sp>
        <p:nvSpPr>
          <p:cNvPr id="31" name="Rectangle 30"/>
          <p:cNvSpPr/>
          <p:nvPr/>
        </p:nvSpPr>
        <p:spPr>
          <a:xfrm>
            <a:off x="6507327" y="314223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Typecheck and lint become back-pressure</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High-signal channel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Test the gate, not the model's mood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D4621A"/>
                </a:solidFill>
                <a:latin typeface="Helvetica Neue"/>
              </a:rPr>
              <a:t>Canary pattern · Claude Code v2.1.220</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Run each deletion route twice: baseline (canary must die) and guarded (must survive </a:t>
            </a:r>
            <a:r>
              <a:rPr sz="1700" i="0" b="1">
                <a:solidFill>
                  <a:srgbClr val="1E293B"/>
                </a:solidFill>
                <a:latin typeface="Helvetica Neue"/>
              </a:rPr>
              <a:t>and</a:t>
            </a:r>
            <a:r>
              <a:rPr sz="1700" i="0" b="0">
                <a:solidFill>
                  <a:srgbClr val="475569"/>
                </a:solidFill>
                <a:latin typeface="Helvetica Neue"/>
              </a:rPr>
              <a:t> log a denial).</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Enumerate effects, not commands. </a:t>
            </a:r>
            <a:r>
              <a:rPr sz="1440" i="0" b="1">
                <a:solidFill>
                  <a:srgbClr val="1E3A5F"/>
                </a:solidFill>
                <a:latin typeface="Menlo"/>
              </a:rPr>
              <a:t>rm</a:t>
            </a:r>
            <a:r>
              <a:rPr sz="1600" i="0" b="1">
                <a:solidFill>
                  <a:srgbClr val="1E3A5F"/>
                </a:solidFill>
                <a:latin typeface="Helvetica Neue"/>
              </a:rPr>
              <a:t> is one spelling of delete; prefer allowlists and real sandboxes.</a:t>
            </a:r>
          </a:p>
        </p:txBody>
      </p:sp>
      <p:graphicFrame>
        <p:nvGraphicFramePr>
          <p:cNvPr id="14" name="Table 13"/>
          <p:cNvGraphicFramePr>
            <a:graphicFrameLocks noGrp="1"/>
          </p:cNvGraphicFramePr>
          <p:nvPr/>
        </p:nvGraphicFramePr>
        <p:xfrm>
          <a:off x="502920" y="2270760"/>
          <a:ext cx="11185855" cy="1621536"/>
        </p:xfrm>
        <a:graphic>
          <a:graphicData uri="http://schemas.openxmlformats.org/drawingml/2006/table">
            <a:tbl>
              <a:tblPr firstRow="1" bandRow="1">
                <a:tableStyleId>{5940675A-B579-460E-94D1-54222C63F5DA}</a:tableStyleId>
              </a:tblPr>
              <a:tblGrid>
                <a:gridCol w="4474342"/>
                <a:gridCol w="6711513"/>
              </a:tblGrid>
              <a:tr h="405384">
                <a:tc>
                  <a:txBody>
                    <a:bodyPr wrap="square"/>
                    <a:lstStyle/>
                    <a:p>
                      <a:pPr>
                        <a:lnSpc>
                          <a:spcPct val="100000"/>
                        </a:lnSpc>
                      </a:pPr>
                      <a:r>
                        <a:rPr sz="1700" i="0" b="1">
                          <a:solidFill>
                            <a:srgbClr val="FFFFFF"/>
                          </a:solidFill>
                          <a:latin typeface="Helvetica Neue"/>
                        </a:rPr>
                        <a:t>Route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Verdict with a </a:t>
                      </a:r>
                      <a:r>
                        <a:rPr sz="1530" i="0" b="1">
                          <a:solidFill>
                            <a:srgbClr val="0EA5C9"/>
                          </a:solidFill>
                          <a:latin typeface="Menlo"/>
                        </a:rPr>
                        <a:t>Bash(rm:*)</a:t>
                      </a:r>
                      <a:r>
                        <a:rPr sz="1700" i="0" b="1">
                          <a:solidFill>
                            <a:srgbClr val="FFFFFF"/>
                          </a:solidFill>
                          <a:latin typeface="Helvetica Neue"/>
                        </a:rPr>
                        <a:t> deny rule</a:t>
                      </a:r>
                    </a:p>
                  </a:txBody>
                  <a:tcPr marL="109728" marR="109728" marT="54864" marB="54864" anchor="ctr">
                    <a:solidFill>
                      <a:srgbClr val="1E3A5F"/>
                    </a:solidFill>
                  </a:tcPr>
                </a:tc>
              </a:tr>
              <a:tr h="405384">
                <a:tc>
                  <a:txBody>
                    <a:bodyPr wrap="square"/>
                    <a:lstStyle/>
                    <a:p>
                      <a:pPr>
                        <a:lnSpc>
                          <a:spcPct val="100000"/>
                        </a:lnSpc>
                      </a:pPr>
                      <a:r>
                        <a:rPr sz="1530" i="0" b="1">
                          <a:solidFill>
                            <a:srgbClr val="0F7490"/>
                          </a:solidFill>
                          <a:latin typeface="Menlo"/>
                        </a:rPr>
                        <a:t>rm -f</a:t>
                      </a:r>
                    </a:p>
                  </a:txBody>
                  <a:tcPr marL="109728" marR="109728" marT="54864" marB="54864" anchor="ctr">
                    <a:solidFill>
                      <a:srgbClr val="FFFFFF"/>
                    </a:solidFill>
                  </a:tcPr>
                </a:tc>
                <a:tc>
                  <a:txBody>
                    <a:bodyPr wrap="square"/>
                    <a:lstStyle/>
                    <a:p>
                      <a:pPr>
                        <a:lnSpc>
                          <a:spcPct val="100000"/>
                        </a:lnSpc>
                      </a:pPr>
                      <a:r>
                        <a:rPr sz="1700" i="0" b="1">
                          <a:solidFill>
                            <a:srgbClr val="1E293B"/>
                          </a:solidFill>
                          <a:latin typeface="Helvetica Neue"/>
                        </a:rPr>
                        <a:t>HELD</a:t>
                      </a:r>
                      <a:r>
                        <a:rPr sz="1700" i="0" b="0">
                          <a:solidFill>
                            <a:srgbClr val="475569"/>
                          </a:solidFill>
                          <a:latin typeface="Helvetica Neue"/>
                        </a:rPr>
                        <a:t>: blocked as intended</a:t>
                      </a:r>
                    </a:p>
                  </a:txBody>
                  <a:tcPr marL="109728" marR="109728" marT="54864" marB="54864" anchor="ctr">
                    <a:solidFill>
                      <a:srgbClr val="FFFFFF"/>
                    </a:solidFill>
                  </a:tcPr>
                </a:tc>
              </a:tr>
              <a:tr h="405384">
                <a:tc>
                  <a:txBody>
                    <a:bodyPr wrap="square"/>
                    <a:lstStyle/>
                    <a:p>
                      <a:pPr>
                        <a:lnSpc>
                          <a:spcPct val="100000"/>
                        </a:lnSpc>
                      </a:pPr>
                      <a:r>
                        <a:rPr sz="1530" i="0" b="1">
                          <a:solidFill>
                            <a:srgbClr val="0F7490"/>
                          </a:solidFill>
                          <a:latin typeface="Menlo"/>
                        </a:rPr>
                        <a:t>find -delete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INCONCLUSIVE</a:t>
                      </a:r>
                      <a:r>
                        <a:rPr sz="1700" i="0" b="0">
                          <a:solidFill>
                            <a:srgbClr val="475569"/>
                          </a:solidFill>
                          <a:latin typeface="Helvetica Neue"/>
                        </a:rPr>
                        <a:t>: bypassed, no refusal recorded</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File-writing tool overwrite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BYPASSED</a:t>
                      </a:r>
                      <a:r>
                        <a:rPr sz="1700" i="0" b="0">
                          <a:solidFill>
                            <a:srgbClr val="475569"/>
                          </a:solidFill>
                          <a:latin typeface="Helvetica Neue"/>
                        </a:rPr>
                        <a:t>: canary destroyed</a:t>
                      </a:r>
                    </a:p>
                  </a:txBody>
                  <a:tcPr marL="109728" marR="109728" marT="54864" marB="54864" anchor="ctr">
                    <a:solidFill>
                      <a:srgbClr val="E8F4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protection layers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Defence in depth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Each guardrail lives in the component it protects, not in one central service.</a:t>
            </a:r>
          </a:p>
        </p:txBody>
      </p:sp>
      <p:sp>
        <p:nvSpPr>
          <p:cNvPr id="13" name="Rectangle 12"/>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Pre-input</a:t>
            </a:r>
          </a:p>
        </p:txBody>
      </p:sp>
      <p:sp>
        <p:nvSpPr>
          <p:cNvPr id="16" name="TextBox 15"/>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Malicious or malformed user input</a:t>
            </a:r>
          </a:p>
        </p:txBody>
      </p:sp>
      <p:sp>
        <p:nvSpPr>
          <p:cNvPr id="17" name="Rectangle 16"/>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Pre-retrieval</a:t>
            </a:r>
          </a:p>
        </p:txBody>
      </p:sp>
      <p:sp>
        <p:nvSpPr>
          <p:cNvPr id="20" name="TextBox 19"/>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Poisoned documents entering context</a:t>
            </a:r>
          </a:p>
        </p:txBody>
      </p:sp>
      <p:sp>
        <p:nvSpPr>
          <p:cNvPr id="21" name="Rectangle 20"/>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Pre-generate</a:t>
            </a:r>
          </a:p>
        </p:txBody>
      </p:sp>
      <p:sp>
        <p:nvSpPr>
          <p:cNvPr id="24" name="TextBox 23"/>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Unsafe assembled context reaching the model</a:t>
            </a:r>
          </a:p>
        </p:txBody>
      </p:sp>
      <p:sp>
        <p:nvSpPr>
          <p:cNvPr id="25" name="Rectangle 24"/>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Post-generate</a:t>
            </a:r>
          </a:p>
        </p:txBody>
      </p:sp>
      <p:sp>
        <p:nvSpPr>
          <p:cNvPr id="28" name="TextBox 27"/>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Unsafe output leaving the system</a:t>
            </a:r>
          </a:p>
        </p:txBody>
      </p:sp>
      <p:sp>
        <p:nvSpPr>
          <p:cNvPr id="29" name="Rectangle 28"/>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22978"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Escalation</a:t>
            </a:r>
          </a:p>
        </p:txBody>
      </p:sp>
      <p:sp>
        <p:nvSpPr>
          <p:cNvPr id="32" name="TextBox 31"/>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Anything unresolved reaching a human</a:t>
            </a:r>
          </a:p>
        </p:txBody>
      </p:sp>
      <p:sp>
        <p:nvSpPr>
          <p:cNvPr id="33" name="Rectangle 32"/>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43036"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a:t>
            </a:r>
          </a:p>
        </p:txBody>
      </p:sp>
      <p:sp>
        <p:nvSpPr>
          <p:cNvPr id="36" name="TextBox 35"/>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Tool inputs are model-written, so they are </a:t>
            </a:r>
            <a:r>
              <a:rPr sz="1300" i="0" b="1">
                <a:solidFill>
                  <a:srgbClr val="1E293B"/>
                </a:solidFill>
                <a:latin typeface="Helvetica Neue"/>
              </a:rPr>
              <a:t>semi-trusted</a:t>
            </a:r>
            <a:r>
              <a:rPr sz="1300" i="0" b="0">
                <a:solidFill>
                  <a:srgbClr val="475569"/>
                </a:solidFill>
                <a:latin typeface="Helvetica Neue"/>
              </a:rPr>
              <a:t>. Validate them against the schema like an external request.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26974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Verification and long horizons</a:t>
            </a:r>
          </a:p>
        </p:txBody>
      </p:sp>
      <p:sp>
        <p:nvSpPr>
          <p:cNvPr id="5" name="TextBox 4"/>
          <p:cNvSpPr txBox="1"/>
          <p:nvPr/>
        </p:nvSpPr>
        <p:spPr>
          <a:xfrm>
            <a:off x="822960" y="47548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Verification loops · Long-horizon execution</a:t>
            </a:r>
          </a:p>
        </p:txBody>
      </p:sp>
      <p:cxnSp>
        <p:nvCxnSpPr>
          <p:cNvPr id="6" name="Connector 5"/>
          <p:cNvCxnSpPr/>
          <p:nvPr/>
        </p:nvCxnSpPr>
        <p:spPr>
          <a:xfrm>
            <a:off x="6446520" y="1126489"/>
            <a:ext cx="0" cy="4605021"/>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26489"/>
            <a:ext cx="4693615" cy="4787900"/>
          </a:xfrm>
          <a:prstGeom prst="rect">
            <a:avLst/>
          </a:prstGeom>
          <a:noFill/>
        </p:spPr>
        <p:txBody>
          <a:bodyPr wrap="square" lIns="0" rIns="0" tIns="0" bIns="0" anchor="t">
            <a:noAutofit/>
          </a:bodyPr>
          <a:lstStyle/>
          <a:p>
            <a:pPr algn="l">
              <a:lnSpc>
                <a:spcPct val="100000"/>
              </a:lnSpc>
            </a:pPr>
            <a:r>
              <a:rPr sz="1400" i="0" b="0">
                <a:solidFill>
                  <a:srgbClr val="CBD5E1"/>
                </a:solidFill>
                <a:latin typeface="Helvetica Neue"/>
              </a:rPr>
              <a:t>Three layers before "done"</a:t>
            </a:r>
          </a:p>
          <a:p>
            <a:pPr algn="l">
              <a:lnSpc>
                <a:spcPct val="100000"/>
              </a:lnSpc>
              <a:spcBef>
                <a:spcPts val="979"/>
              </a:spcBef>
            </a:pPr>
            <a:r>
              <a:rPr sz="1400" i="0" b="0">
                <a:solidFill>
                  <a:srgbClr val="CBD5E1"/>
                </a:solidFill>
                <a:latin typeface="Helvetica Neue"/>
              </a:rPr>
              <a:t>Spend at the gate, and only where it decides</a:t>
            </a:r>
          </a:p>
          <a:p>
            <a:pPr algn="l">
              <a:lnSpc>
                <a:spcPct val="100000"/>
              </a:lnSpc>
              <a:spcBef>
                <a:spcPts val="979"/>
              </a:spcBef>
            </a:pPr>
            <a:r>
              <a:rPr sz="1400" i="0" b="0">
                <a:solidFill>
                  <a:srgbClr val="CBD5E1"/>
                </a:solidFill>
                <a:latin typeface="Helvetica Neue"/>
              </a:rPr>
              <a:t>Separate generation from evaluation</a:t>
            </a:r>
          </a:p>
          <a:p>
            <a:pPr algn="l">
              <a:lnSpc>
                <a:spcPct val="100000"/>
              </a:lnSpc>
              <a:spcBef>
                <a:spcPts val="979"/>
              </a:spcBef>
            </a:pPr>
            <a:r>
              <a:rPr sz="1400" i="0" b="0">
                <a:solidFill>
                  <a:srgbClr val="CBD5E1"/>
                </a:solidFill>
                <a:latin typeface="Helvetica Neue"/>
              </a:rPr>
              <a:t>An observer checks claims against the record</a:t>
            </a:r>
          </a:p>
          <a:p>
            <a:pPr algn="l">
              <a:lnSpc>
                <a:spcPct val="100000"/>
              </a:lnSpc>
              <a:spcBef>
                <a:spcPts val="979"/>
              </a:spcBef>
            </a:pPr>
            <a:r>
              <a:rPr sz="1400" i="0" b="0">
                <a:solidFill>
                  <a:srgbClr val="CBD5E1"/>
                </a:solidFill>
                <a:latin typeface="Helvetica Neue"/>
              </a:rPr>
              <a:t>Sprint contracts are written before the work</a:t>
            </a:r>
          </a:p>
          <a:p>
            <a:pPr algn="l">
              <a:lnSpc>
                <a:spcPct val="100000"/>
              </a:lnSpc>
              <a:spcBef>
                <a:spcPts val="979"/>
              </a:spcBef>
            </a:pPr>
            <a:r>
              <a:rPr sz="1400" i="0" b="0">
                <a:solidFill>
                  <a:srgbClr val="CBD5E1"/>
                </a:solidFill>
                <a:latin typeface="Helvetica Neue"/>
              </a:rPr>
              <a:t>The verification ladder, cheapest first</a:t>
            </a:r>
          </a:p>
          <a:p>
            <a:pPr algn="l">
              <a:lnSpc>
                <a:spcPct val="100000"/>
              </a:lnSpc>
              <a:spcBef>
                <a:spcPts val="979"/>
              </a:spcBef>
            </a:pPr>
            <a:r>
              <a:rPr sz="1400" i="0" b="0">
                <a:solidFill>
                  <a:srgbClr val="CBD5E1"/>
                </a:solidFill>
                <a:latin typeface="Helvetica Neue"/>
              </a:rPr>
              <a:t>Not every failure is retryable</a:t>
            </a:r>
          </a:p>
          <a:p>
            <a:pPr algn="l">
              <a:lnSpc>
                <a:spcPct val="100000"/>
              </a:lnSpc>
              <a:spcBef>
                <a:spcPts val="979"/>
              </a:spcBef>
            </a:pPr>
            <a:r>
              <a:rPr sz="1400" i="0" b="0">
                <a:solidFill>
                  <a:srgbClr val="CBD5E1"/>
                </a:solidFill>
                <a:latin typeface="Helvetica Neue"/>
              </a:rPr>
              <a:t>Every recovery path needs a ceiling</a:t>
            </a:r>
          </a:p>
          <a:p>
            <a:pPr algn="l">
              <a:lnSpc>
                <a:spcPct val="100000"/>
              </a:lnSpc>
              <a:spcBef>
                <a:spcPts val="979"/>
              </a:spcBef>
            </a:pPr>
            <a:r>
              <a:rPr sz="1400" i="0" b="0">
                <a:solidFill>
                  <a:srgbClr val="CBD5E1"/>
                </a:solidFill>
                <a:latin typeface="Helvetica Neue"/>
              </a:rPr>
              <a:t>Make the loop re-entrant</a:t>
            </a:r>
          </a:p>
          <a:p>
            <a:pPr algn="l">
              <a:lnSpc>
                <a:spcPct val="100000"/>
              </a:lnSpc>
              <a:spcBef>
                <a:spcPts val="979"/>
              </a:spcBef>
            </a:pPr>
            <a:r>
              <a:rPr sz="1400" i="0" b="0">
                <a:solidFill>
                  <a:srgbClr val="CBD5E1"/>
                </a:solidFill>
                <a:latin typeface="Helvetica Neue"/>
              </a:rPr>
              <a:t>What makes an agent deep</a:t>
            </a:r>
          </a:p>
          <a:p>
            <a:pPr algn="l">
              <a:lnSpc>
                <a:spcPct val="100000"/>
              </a:lnSpc>
              <a:spcBef>
                <a:spcPts val="979"/>
              </a:spcBef>
            </a:pPr>
            <a:r>
              <a:rPr sz="1400" i="0" b="0">
                <a:solidFill>
                  <a:srgbClr val="CBD5E1"/>
                </a:solidFill>
                <a:latin typeface="Helvetica Neue"/>
              </a:rPr>
              <a:t>Compaction vs. context reset</a:t>
            </a:r>
          </a:p>
          <a:p>
            <a:pPr algn="l">
              <a:lnSpc>
                <a:spcPct val="100000"/>
              </a:lnSpc>
              <a:spcBef>
                <a:spcPts val="979"/>
              </a:spcBef>
            </a:pPr>
            <a:r>
              <a:rPr sz="1400" i="0" b="0">
                <a:solidFill>
                  <a:srgbClr val="CBD5E1"/>
                </a:solidFill>
                <a:latin typeface="Helvetica Neue"/>
              </a:rPr>
              <a:t>The handoff separates verified from assumed</a:t>
            </a:r>
          </a:p>
          <a:p>
            <a:pPr algn="l">
              <a:lnSpc>
                <a:spcPct val="100000"/>
              </a:lnSpc>
              <a:spcBef>
                <a:spcPts val="979"/>
              </a:spcBef>
            </a:pPr>
            <a:r>
              <a:rPr sz="1400" i="0" b="0">
                <a:solidFill>
                  <a:srgbClr val="CBD5E1"/>
                </a:solidFill>
                <a:latin typeface="Helvetica Neue"/>
              </a:rPr>
              <a:t>Ralph loops defeat context anxiety</a:t>
            </a:r>
          </a:p>
          <a:p>
            <a:pPr algn="l">
              <a:lnSpc>
                <a:spcPct val="100000"/>
              </a:lnSpc>
              <a:spcBef>
                <a:spcPts val="979"/>
              </a:spcBef>
            </a:pPr>
            <a:r>
              <a:rPr sz="1400" i="0" b="0">
                <a:solidFill>
                  <a:srgbClr val="CBD5E1"/>
                </a:solidFill>
                <a:latin typeface="Helvetica Neue"/>
              </a:rPr>
              <a:t>What a 27-hour run looks like</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Three layers before "done"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Termination check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Don't run level N+1 while level N fails. Skipping a required level means not done.</a:t>
            </a:r>
          </a:p>
        </p:txBody>
      </p:sp>
      <p:graphicFrame>
        <p:nvGraphicFramePr>
          <p:cNvPr id="13" name="Table 12"/>
          <p:cNvGraphicFramePr>
            <a:graphicFrameLocks noGrp="1"/>
          </p:cNvGraphicFramePr>
          <p:nvPr/>
        </p:nvGraphicFramePr>
        <p:xfrm>
          <a:off x="502920" y="1472184"/>
          <a:ext cx="11185854" cy="1621536"/>
        </p:xfrm>
        <a:graphic>
          <a:graphicData uri="http://schemas.openxmlformats.org/drawingml/2006/table">
            <a:tbl>
              <a:tblPr firstRow="1" bandRow="1">
                <a:tableStyleId>{5940675A-B579-460E-94D1-54222C63F5DA}</a:tableStyleId>
              </a:tblPr>
              <a:tblGrid>
                <a:gridCol w="2013453"/>
                <a:gridCol w="6711513"/>
                <a:gridCol w="2460888"/>
              </a:tblGrid>
              <a:tr h="405384">
                <a:tc>
                  <a:txBody>
                    <a:bodyPr wrap="square"/>
                    <a:lstStyle/>
                    <a:p>
                      <a:pPr>
                        <a:lnSpc>
                          <a:spcPct val="100000"/>
                        </a:lnSpc>
                      </a:pPr>
                      <a:r>
                        <a:rPr sz="1700" i="0" b="1">
                          <a:solidFill>
                            <a:srgbClr val="FFFFFF"/>
                          </a:solidFill>
                          <a:latin typeface="Helvetica Neue"/>
                        </a:rPr>
                        <a:t>Layer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Checks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Proves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1. Static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Syntax, types, lint, architecture rules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It's well-formed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2. Runtime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Tests run, app reaches ready, side effects correct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It runs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3. System</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End to end as a user drives it, real dependencies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It's </a:t>
                      </a:r>
                      <a:r>
                        <a:rPr sz="1700" i="0" b="1">
                          <a:solidFill>
                            <a:srgbClr val="1E293B"/>
                          </a:solidFill>
                          <a:latin typeface="Helvetica Neue"/>
                        </a:rPr>
                        <a:t>correct</a:t>
                      </a:r>
                    </a:p>
                  </a:txBody>
                  <a:tcPr marL="109728" marR="109728" marT="54864" marB="54864" anchor="ctr">
                    <a:solidFill>
                      <a:srgbClr val="E8F4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Spend at the gate, and only where it decides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Asymmetric QA</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verifier earns its place only if acting on its verdict beats ignoring it.</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Make the verifier smarter</a:t>
            </a:r>
          </a:p>
        </p:txBody>
      </p:sp>
      <p:sp>
        <p:nvSpPr>
          <p:cNvPr id="16" name="Rectangle 15"/>
          <p:cNvSpPr/>
          <p:nvPr/>
        </p:nvSpPr>
        <p:spPr>
          <a:xfrm>
            <a:off x="731520"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Cheap fast model generates; strong model checks at the gate</a:t>
            </a:r>
          </a:p>
        </p:txBody>
      </p:sp>
      <p:sp>
        <p:nvSpPr>
          <p:cNvPr id="18" name="Rectangle 17"/>
          <p:cNvSpPr/>
          <p:nvPr/>
        </p:nvSpPr>
        <p:spPr>
          <a:xfrm>
            <a:off x="731520"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Same model checking itself gives </a:t>
            </a:r>
            <a:r>
              <a:rPr sz="1700" i="0" b="1">
                <a:solidFill>
                  <a:srgbClr val="1E293B"/>
                </a:solidFill>
                <a:latin typeface="Helvetica Neue"/>
              </a:rPr>
              <a:t>confident agreement</a:t>
            </a:r>
          </a:p>
        </p:txBody>
      </p:sp>
      <p:sp>
        <p:nvSpPr>
          <p:cNvPr id="20" name="Rectangle 19"/>
          <p:cNvSpPr/>
          <p:nvPr/>
        </p:nvSpPr>
        <p:spPr>
          <a:xfrm>
            <a:off x="731520"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Use a </a:t>
            </a:r>
            <a:r>
              <a:rPr sz="1700" i="0" b="1">
                <a:solidFill>
                  <a:srgbClr val="1E293B"/>
                </a:solidFill>
                <a:latin typeface="Helvetica Neue"/>
              </a:rPr>
              <a:t>second librarian</a:t>
            </a:r>
            <a:r>
              <a:rPr sz="1700" i="0" b="0">
                <a:solidFill>
                  <a:srgbClr val="1E293B"/>
                </a:solidFill>
                <a:latin typeface="Helvetica Neue"/>
              </a:rPr>
              <a:t>: another model family</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Verification runs once per gate</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Delete a verifier that cries wolf</a:t>
            </a:r>
          </a:p>
        </p:txBody>
      </p:sp>
      <p:sp>
        <p:nvSpPr>
          <p:cNvPr id="27" name="Rectangle 26"/>
          <p:cNvSpPr/>
          <p:nvPr/>
        </p:nvSpPr>
        <p:spPr>
          <a:xfrm>
            <a:off x="6507327" y="2313178"/>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PRINCE (Bayer) </a:t>
            </a:r>
            <a:r>
              <a:rPr sz="1700" i="0" b="1">
                <a:solidFill>
                  <a:srgbClr val="1E293B"/>
                </a:solidFill>
                <a:latin typeface="Helvetica Neue"/>
              </a:rPr>
              <a:t>removed</a:t>
            </a:r>
            <a:r>
              <a:rPr sz="1700" i="0" b="0">
                <a:solidFill>
                  <a:srgbClr val="1E293B"/>
                </a:solidFill>
                <a:latin typeface="Helvetica Neue"/>
              </a:rPr>
              <a:t> its LLM SQL reviewer: false positives</a:t>
            </a:r>
          </a:p>
        </p:txBody>
      </p:sp>
      <p:sp>
        <p:nvSpPr>
          <p:cNvPr id="29" name="Rectangle 28"/>
          <p:cNvSpPr/>
          <p:nvPr/>
        </p:nvSpPr>
        <p:spPr>
          <a:xfrm>
            <a:off x="6507327" y="3012694"/>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Kept the exact checks: </a:t>
            </a:r>
            <a:r>
              <a:rPr sz="1530" i="0" b="0">
                <a:solidFill>
                  <a:srgbClr val="0F7490"/>
                </a:solidFill>
                <a:latin typeface="Menlo"/>
              </a:rPr>
              <a:t>SELECT</a:t>
            </a:r>
            <a:r>
              <a:rPr sz="1700" i="0" b="0">
                <a:solidFill>
                  <a:srgbClr val="1E293B"/>
                </a:solidFill>
                <a:latin typeface="Helvetica Neue"/>
              </a:rPr>
              <a:t>-only allowlist, result cap</a:t>
            </a:r>
          </a:p>
        </p:txBody>
      </p:sp>
      <p:sp>
        <p:nvSpPr>
          <p:cNvPr id="31" name="Rectangle 30"/>
          <p:cNvSpPr/>
          <p:nvPr/>
        </p:nvSpPr>
        <p:spPr>
          <a:xfrm>
            <a:off x="6507327" y="371221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gate people route around is worse than none</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Cheapest mechanism that is decisive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Separate generation from evaluation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Anthropic, long-running apps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10" name="Rounded Rectangle 9"/>
          <p:cNvSpPr/>
          <p:nvPr/>
        </p:nvSpPr>
        <p:spPr>
          <a:xfrm>
            <a:off x="202676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Planner</a:t>
            </a:r>
          </a:p>
          <a:p>
            <a:pPr algn="ctr">
              <a:lnSpc>
                <a:spcPct val="110000"/>
              </a:lnSpc>
            </a:pPr>
            <a:r>
              <a:rPr sz="1300" i="0" b="0">
                <a:solidFill>
                  <a:srgbClr val="E8F4F8"/>
                </a:solidFill>
                <a:latin typeface="Helvetica Neue"/>
              </a:rPr>
              <a:t>brief → full spec</a:t>
            </a:r>
          </a:p>
        </p:txBody>
      </p:sp>
      <p:cxnSp>
        <p:nvCxnSpPr>
          <p:cNvPr id="12" name="Connector 11"/>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90712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Generator</a:t>
            </a:r>
          </a:p>
          <a:p>
            <a:pPr algn="ctr">
              <a:lnSpc>
                <a:spcPct val="110000"/>
              </a:lnSpc>
            </a:pPr>
            <a:r>
              <a:rPr sz="1300" i="0" b="0">
                <a:solidFill>
                  <a:srgbClr val="E8F4F8"/>
                </a:solidFill>
                <a:latin typeface="Helvetica Neue"/>
              </a:rPr>
              <a:t>builds feature by feature</a:t>
            </a:r>
          </a:p>
        </p:txBody>
      </p:sp>
      <p:cxnSp>
        <p:nvCxnSpPr>
          <p:cNvPr id="15" name="Connector 14"/>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Evaluator</a:t>
            </a:r>
          </a:p>
          <a:p>
            <a:pPr algn="ctr">
              <a:lnSpc>
                <a:spcPct val="110000"/>
              </a:lnSpc>
            </a:pPr>
            <a:r>
              <a:rPr sz="1300" i="0" b="0">
                <a:solidFill>
                  <a:srgbClr val="E8F4F8"/>
                </a:solidFill>
                <a:latin typeface="Helvetica Neue"/>
              </a:rPr>
              <a:t>drives the running app and scores it</a:t>
            </a:r>
          </a:p>
        </p:txBody>
      </p:sp>
      <p:cxnSp>
        <p:nvCxnSpPr>
          <p:cNvPr id="18" name="Connector 17"/>
          <p:cNvCxnSpPr/>
          <p:nvPr/>
        </p:nvCxnSpPr>
        <p:spPr>
          <a:xfrm>
            <a:off x="897620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3215487" y="3180588"/>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21548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215487" y="3217164"/>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revise until every criterion clears its bar</a:t>
            </a:r>
          </a:p>
        </p:txBody>
      </p:sp>
      <p:sp>
        <p:nvSpPr>
          <p:cNvPr id="22" name="Rectangle 21"/>
          <p:cNvSpPr/>
          <p:nvPr/>
        </p:nvSpPr>
        <p:spPr>
          <a:xfrm>
            <a:off x="502920" y="4003801"/>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Solo run: </a:t>
            </a:r>
            <a:r>
              <a:rPr sz="1900" i="0" b="1">
                <a:solidFill>
                  <a:srgbClr val="1E293B"/>
                </a:solidFill>
                <a:latin typeface="Helvetica Neue"/>
              </a:rPr>
              <a:t>20 min, $9</a:t>
            </a:r>
            <a:r>
              <a:rPr sz="1900" i="0" b="0">
                <a:solidFill>
                  <a:srgbClr val="1E293B"/>
                </a:solidFill>
                <a:latin typeface="Helvetica Neue"/>
              </a:rPr>
              <a:t>, core gameplay broken</a:t>
            </a:r>
          </a:p>
        </p:txBody>
      </p:sp>
      <p:sp>
        <p:nvSpPr>
          <p:cNvPr id="24" name="Rectangle 23"/>
          <p:cNvSpPr/>
          <p:nvPr/>
        </p:nvSpPr>
        <p:spPr>
          <a:xfrm>
            <a:off x="502920" y="4467098"/>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37540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Full harness: </a:t>
            </a:r>
            <a:r>
              <a:rPr sz="1900" i="0" b="1">
                <a:solidFill>
                  <a:srgbClr val="1E293B"/>
                </a:solidFill>
                <a:latin typeface="Helvetica Neue"/>
              </a:rPr>
              <a:t>6 hr, $200</a:t>
            </a:r>
            <a:r>
              <a:rPr sz="1900" i="0" b="0">
                <a:solidFill>
                  <a:srgbClr val="1E293B"/>
                </a:solidFill>
                <a:latin typeface="Helvetica Neue"/>
              </a:rPr>
              <a:t>, a working game</a:t>
            </a:r>
          </a:p>
        </p:txBody>
      </p:sp>
      <p:sp>
        <p:nvSpPr>
          <p:cNvPr id="26" name="Rectangle 25"/>
          <p:cNvSpPr/>
          <p:nvPr/>
        </p:nvSpPr>
        <p:spPr>
          <a:xfrm>
            <a:off x="502920" y="4930394"/>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83870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Browser DAW: </a:t>
            </a:r>
            <a:r>
              <a:rPr sz="1900" i="0" b="1">
                <a:solidFill>
                  <a:srgbClr val="1E293B"/>
                </a:solidFill>
                <a:latin typeface="Helvetica Neue"/>
              </a:rPr>
              <a:t>$124.70</a:t>
            </a:r>
            <a:r>
              <a:rPr sz="1900" i="0" b="0">
                <a:solidFill>
                  <a:srgbClr val="1E293B"/>
                </a:solidFill>
                <a:latin typeface="Helvetica Neue"/>
              </a:rPr>
              <a:t> total; QA only </a:t>
            </a:r>
            <a:r>
              <a:rPr sz="1900" i="0" b="1">
                <a:solidFill>
                  <a:srgbClr val="1E293B"/>
                </a:solidFill>
                <a:latin typeface="Helvetica Neue"/>
              </a:rPr>
              <a:t>$10</a:t>
            </a:r>
            <a:r>
              <a:rPr sz="1900" i="0" b="0">
                <a:solidFill>
                  <a:srgbClr val="1E293B"/>
                </a:solidFill>
                <a:latin typeface="Helvetica Neue"/>
              </a:rPr>
              <a:t>, and it caught presentational-only features</a:t>
            </a:r>
          </a:p>
        </p:txBody>
      </p:sp>
      <p:sp>
        <p:nvSpPr>
          <p:cNvPr id="28" name="Rectangle 27"/>
          <p:cNvSpPr/>
          <p:nvPr/>
        </p:nvSpPr>
        <p:spPr>
          <a:xfrm>
            <a:off x="502920" y="5393690"/>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30199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evaluator needs calibrating too, with hard per-dimension thresholds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An observer checks claims against the record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Faldor et al., hour 12</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Rectangle 9"/>
          <p:cNvSpPr/>
          <p:nvPr/>
        </p:nvSpPr>
        <p:spPr>
          <a:xfrm>
            <a:off x="448056" y="1417320"/>
            <a:ext cx="11295583" cy="28315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ldor-gemini-argon-minecraft-fig14.png"/>
          <p:cNvPicPr>
            <a:picLocks noChangeAspect="1"/>
          </p:cNvPicPr>
          <p:nvPr/>
        </p:nvPicPr>
        <p:blipFill>
          <a:blip r:embed="rId2"/>
          <a:stretch>
            <a:fillRect/>
          </a:stretch>
        </p:blipFill>
        <p:spPr>
          <a:xfrm>
            <a:off x="502920" y="1472184"/>
            <a:ext cx="11185855" cy="2721780"/>
          </a:xfrm>
          <a:prstGeom prst="rect">
            <a:avLst/>
          </a:prstGeom>
        </p:spPr>
      </p:pic>
      <p:sp>
        <p:nvSpPr>
          <p:cNvPr id="12" name="TextBox 11"/>
          <p:cNvSpPr txBox="1"/>
          <p:nvPr/>
        </p:nvSpPr>
        <p:spPr>
          <a:xfrm>
            <a:off x="502920" y="4331124"/>
            <a:ext cx="11185855"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A claim of 14 banked Ender Eyes, retracted two minutes later (Faldor et al., 2026)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Sprint contracts are written before the work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Generator ↔ evaluator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Name the dimensions, weight them, score each separately. One 1–10 score gives nothing to act on.</a:t>
            </a:r>
          </a:p>
        </p:txBody>
      </p:sp>
      <p:sp>
        <p:nvSpPr>
          <p:cNvPr id="13" name="Rounded Rectangle 12"/>
          <p:cNvSpPr/>
          <p:nvPr/>
        </p:nvSpPr>
        <p:spPr>
          <a:xfrm>
            <a:off x="502920" y="1472184"/>
            <a:ext cx="6711513" cy="26365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MARKDOWN</a:t>
            </a:r>
          </a:p>
        </p:txBody>
      </p:sp>
      <p:sp>
        <p:nvSpPr>
          <p:cNvPr id="15" name="TextBox 14"/>
          <p:cNvSpPr txBox="1"/>
          <p:nvPr/>
        </p:nvSpPr>
        <p:spPr>
          <a:xfrm>
            <a:off x="731520" y="1883664"/>
            <a:ext cx="6254313" cy="199643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Sprint contract: dark mode</a:t>
            </a:r>
          </a:p>
          <a:p>
            <a:pPr algn="l">
              <a:lnSpc>
                <a:spcPct val="100000"/>
              </a:lnSpc>
            </a:pPr>
            <a:r>
              <a:rPr sz="1600" i="0" b="0">
                <a:solidFill>
                  <a:srgbClr val="E2E8F0"/>
                </a:solidFill>
                <a:latin typeface="Menlo"/>
              </a:rPr>
              <a:t>## Scope</a:t>
            </a:r>
          </a:p>
          <a:p>
            <a:pPr algn="l">
              <a:lnSpc>
                <a:spcPct val="100000"/>
              </a:lnSpc>
            </a:pPr>
            <a:r>
              <a:rPr sz="1600" i="0" b="0">
                <a:solidFill>
                  <a:srgbClr val="E2E8F0"/>
                </a:solidFill>
                <a:latin typeface="Menlo"/>
              </a:rPr>
              <a:t>theme toggle · CSS variables · dark-mode tests</a:t>
            </a:r>
          </a:p>
          <a:p>
            <a:pPr algn="l">
              <a:lnSpc>
                <a:spcPct val="100000"/>
              </a:lnSpc>
            </a:pPr>
            <a:r>
              <a:rPr sz="1600" i="0" b="0">
                <a:solidFill>
                  <a:srgbClr val="E2E8F0"/>
                </a:solidFill>
                <a:latin typeface="Menlo"/>
              </a:rPr>
              <a:t>## Verification</a:t>
            </a:r>
          </a:p>
          <a:p>
            <a:pPr algn="l">
              <a:lnSpc>
                <a:spcPct val="100000"/>
              </a:lnSpc>
            </a:pPr>
            <a:r>
              <a:rPr sz="1600" i="0" b="0">
                <a:solidFill>
                  <a:srgbClr val="E2E8F0"/>
                </a:solidFill>
                <a:latin typeface="Menlo"/>
              </a:rPr>
              <a:t>visual regression per component · main-flow e2e</a:t>
            </a:r>
          </a:p>
          <a:p>
            <a:pPr algn="l">
              <a:lnSpc>
                <a:spcPct val="100000"/>
              </a:lnSpc>
            </a:pPr>
            <a:r>
              <a:rPr sz="1600" i="0" b="0">
                <a:solidFill>
                  <a:srgbClr val="E2E8F0"/>
                </a:solidFill>
                <a:latin typeface="Menlo"/>
              </a:rPr>
              <a:t>no flash of unstyled content</a:t>
            </a:r>
          </a:p>
          <a:p>
            <a:pPr algn="l">
              <a:lnSpc>
                <a:spcPct val="100000"/>
              </a:lnSpc>
            </a:pPr>
            <a:r>
              <a:rPr sz="1600" i="0" b="0">
                <a:solidFill>
                  <a:srgbClr val="E2E8F0"/>
                </a:solidFill>
                <a:latin typeface="Menlo"/>
              </a:rPr>
              <a:t>## Exclusions</a:t>
            </a:r>
          </a:p>
          <a:p>
            <a:pPr algn="l">
              <a:lnSpc>
                <a:spcPct val="100000"/>
              </a:lnSpc>
            </a:pPr>
            <a:r>
              <a:rPr sz="1600" i="0" b="0">
                <a:solidFill>
                  <a:srgbClr val="E2E8F0"/>
                </a:solidFill>
                <a:latin typeface="Menlo"/>
              </a:rPr>
              <a:t>print styles · third-party component theming</a:t>
            </a:r>
          </a:p>
        </p:txBody>
      </p:sp>
      <p:sp>
        <p:nvSpPr>
          <p:cNvPr id="16" name="Rectangle 15"/>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Both sides negotiate it in writing, before code</a:t>
            </a:r>
          </a:p>
        </p:txBody>
      </p:sp>
      <p:sp>
        <p:nvSpPr>
          <p:cNvPr id="18" name="Rectangle 17"/>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evaluator can't invent criteria afterwards</a:t>
            </a:r>
          </a:p>
        </p:txBody>
      </p:sp>
      <p:sp>
        <p:nvSpPr>
          <p:cNvPr id="20" name="Rectangle 19"/>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generator can't redefine done</a:t>
            </a:r>
          </a:p>
        </p:txBody>
      </p:sp>
      <p:sp>
        <p:nvSpPr>
          <p:cNvPr id="22" name="Rectangle 21"/>
          <p:cNvSpPr/>
          <p:nvPr/>
        </p:nvSpPr>
        <p:spPr>
          <a:xfrm>
            <a:off x="7580193" y="3826763"/>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Exclusions</a:t>
            </a:r>
            <a:r>
              <a:rPr sz="1800" i="0" b="0">
                <a:solidFill>
                  <a:srgbClr val="1E293B"/>
                </a:solidFill>
                <a:latin typeface="Helvetica Neue"/>
              </a:rPr>
              <a:t> is the section people skip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verification ladder, cheapest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Eval-first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Most production systems run at least two. Pass@k shows capability; ship on </a:t>
            </a:r>
            <a:r>
              <a:rPr sz="1600" i="0" b="1">
                <a:solidFill>
                  <a:srgbClr val="1E3A5F"/>
                </a:solidFill>
                <a:latin typeface="Helvetica Neue"/>
              </a:rPr>
              <a:t>Pass^k</a:t>
            </a:r>
            <a:r>
              <a:rPr sz="1600" i="0" b="1">
                <a:solidFill>
                  <a:srgbClr val="1E3A5F"/>
                </a:solidFill>
                <a:latin typeface="Helvetica Neue"/>
              </a:rPr>
              <a:t>.</a:t>
            </a:r>
          </a:p>
        </p:txBody>
      </p:sp>
      <p:sp>
        <p:nvSpPr>
          <p:cNvPr id="13" name="Rectangle 12"/>
          <p:cNvSpPr/>
          <p:nvPr/>
        </p:nvSpPr>
        <p:spPr>
          <a:xfrm>
            <a:off x="1645920" y="1472184"/>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2468879" y="1472184"/>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Schema check</a:t>
            </a:r>
            <a:r>
              <a:rPr sz="1800" i="0" b="0">
                <a:solidFill>
                  <a:srgbClr val="475569"/>
                </a:solidFill>
                <a:latin typeface="Helvetica Neue"/>
              </a:rPr>
              <a:t> — Does it parse and conform?</a:t>
            </a:r>
          </a:p>
        </p:txBody>
      </p:sp>
      <p:sp>
        <p:nvSpPr>
          <p:cNvPr id="17" name="Rectangle 16"/>
          <p:cNvSpPr/>
          <p:nvPr/>
        </p:nvSpPr>
        <p:spPr>
          <a:xfrm>
            <a:off x="1645920" y="2503170"/>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2468879" y="2503170"/>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Reference comparison</a:t>
            </a:r>
            <a:r>
              <a:rPr sz="1800" i="0" b="0">
                <a:solidFill>
                  <a:srgbClr val="475569"/>
                </a:solidFill>
                <a:latin typeface="Helvetica Neue"/>
              </a:rPr>
              <a:t> — Does it match known-good output?</a:t>
            </a:r>
          </a:p>
        </p:txBody>
      </p:sp>
      <p:sp>
        <p:nvSpPr>
          <p:cNvPr id="21" name="Rectangle 20"/>
          <p:cNvSpPr/>
          <p:nvPr/>
        </p:nvSpPr>
        <p:spPr>
          <a:xfrm>
            <a:off x="1645920" y="3534156"/>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2468879" y="3534156"/>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Calibrated LLM judge</a:t>
            </a:r>
            <a:r>
              <a:rPr sz="1800" i="0" b="0">
                <a:solidFill>
                  <a:srgbClr val="475569"/>
                </a:solidFill>
                <a:latin typeface="Helvetica Neue"/>
              </a:rPr>
              <a:t> — Rubric-scored, and it returns </a:t>
            </a:r>
            <a:r>
              <a:rPr sz="1800" i="0" b="1">
                <a:solidFill>
                  <a:srgbClr val="1E293B"/>
                </a:solidFill>
                <a:latin typeface="Helvetica Neue"/>
              </a:rPr>
              <a:t>why</a:t>
            </a:r>
            <a:r>
              <a:rPr sz="1800" i="0" b="0">
                <a:solidFill>
                  <a:srgbClr val="475569"/>
                </a:solidFill>
                <a:latin typeface="Helvetica Neue"/>
              </a:rPr>
              <a:t> it failed so the agent can revise</a:t>
            </a:r>
          </a:p>
        </p:txBody>
      </p:sp>
      <p:sp>
        <p:nvSpPr>
          <p:cNvPr id="25" name="Rectangle 24"/>
          <p:cNvSpPr/>
          <p:nvPr/>
        </p:nvSpPr>
        <p:spPr>
          <a:xfrm>
            <a:off x="1645920" y="4565142"/>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2468879" y="4565142"/>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Human stop</a:t>
            </a:r>
            <a:r>
              <a:rPr sz="1800" i="0" b="0">
                <a:solidFill>
                  <a:srgbClr val="475569"/>
                </a:solidFill>
                <a:latin typeface="Helvetica Neue"/>
              </a:rPr>
              <a:t> — For what neither code nor a judge can decide</a:t>
            </a:r>
          </a:p>
        </p:txBody>
      </p:sp>
      <p:sp>
        <p:nvSpPr>
          <p:cNvPr id="29" name="TextBox 28"/>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costlier, more nuanced ↓</a:t>
            </a:r>
          </a:p>
        </p:txBody>
      </p:sp>
      <p:cxnSp>
        <p:nvCxnSpPr>
          <p:cNvPr id="30" name="Connector 29"/>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Not every failure is retryable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Retry taxonomy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Budget retries per invocation, not per tool. Degrade loudly with a </a:t>
            </a:r>
            <a:r>
              <a:rPr sz="1440" i="0" b="1">
                <a:solidFill>
                  <a:srgbClr val="1E3A5F"/>
                </a:solidFill>
                <a:latin typeface="Menlo"/>
              </a:rPr>
              <a:t>degraded</a:t>
            </a:r>
            <a:r>
              <a:rPr sz="1600" i="0" b="1">
                <a:solidFill>
                  <a:srgbClr val="1E3A5F"/>
                </a:solidFill>
                <a:latin typeface="Helvetica Neue"/>
              </a:rPr>
              <a:t> flag.</a:t>
            </a:r>
          </a:p>
        </p:txBody>
      </p:sp>
      <p:graphicFrame>
        <p:nvGraphicFramePr>
          <p:cNvPr id="13" name="Table 12"/>
          <p:cNvGraphicFramePr>
            <a:graphicFrameLocks noGrp="1"/>
          </p:cNvGraphicFramePr>
          <p:nvPr/>
        </p:nvGraphicFramePr>
        <p:xfrm>
          <a:off x="502920" y="1472184"/>
          <a:ext cx="11185854" cy="3096768"/>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Response</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Transient (network, rate limit)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Backoff 2×, jitter ±20%, max 3</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Tool error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Retry once, then escalate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Model refusal</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Never retry</a:t>
                      </a:r>
                      <a:r>
                        <a:rPr sz="1700" i="0" b="0">
                          <a:solidFill>
                            <a:srgbClr val="475569"/>
                          </a:solidFill>
                          <a:latin typeface="Helvetica Neue"/>
                        </a:rPr>
                        <a:t>: it will refuse again</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Schema violation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Retry once with the validation error in context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Context exhaustion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Compact or reset, then resume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Fatal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Stop and surface the error</a:t>
                      </a:r>
                    </a:p>
                  </a:txBody>
                  <a:tcPr marL="109728" marR="109728" marT="54864" marB="54864" anchor="ctr">
                    <a:solidFill>
                      <a:srgbClr val="F8FAF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Every recovery path needs a ceiling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Loops and death spirals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10" name="Rectangle 9"/>
          <p:cNvSpPr/>
          <p:nvPr/>
        </p:nvSpPr>
        <p:spPr>
          <a:xfrm>
            <a:off x="502920"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375513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Two-retry rule</a:t>
            </a:r>
          </a:p>
        </p:txBody>
      </p:sp>
      <p:sp>
        <p:nvSpPr>
          <p:cNvPr id="13" name="TextBox 12"/>
          <p:cNvSpPr txBox="1"/>
          <p:nvPr/>
        </p:nvSpPr>
        <p:spPr>
          <a:xfrm>
            <a:off x="777240" y="2087880"/>
            <a:ext cx="2087803" cy="295655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third failure on the same gate means the context or the spec is wrong, not the execution.</a:t>
            </a:r>
          </a:p>
        </p:txBody>
      </p:sp>
      <p:sp>
        <p:nvSpPr>
          <p:cNvPr id="14" name="Rectangle 13"/>
          <p:cNvSpPr/>
          <p:nvPr/>
        </p:nvSpPr>
        <p:spPr>
          <a:xfrm>
            <a:off x="3367963"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7963" y="1472184"/>
            <a:ext cx="82296" cy="375513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Loop detection</a:t>
            </a:r>
          </a:p>
        </p:txBody>
      </p:sp>
      <p:sp>
        <p:nvSpPr>
          <p:cNvPr id="17" name="TextBox 16"/>
          <p:cNvSpPr txBox="1"/>
          <p:nvPr/>
        </p:nvSpPr>
        <p:spPr>
          <a:xfrm>
            <a:off x="3642283" y="2087880"/>
            <a:ext cx="2087803" cy="295655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Count edits per file. After N, prompt "reconsider your approach": force a re-plan, not a repair.</a:t>
            </a:r>
          </a:p>
        </p:txBody>
      </p:sp>
      <p:sp>
        <p:nvSpPr>
          <p:cNvPr id="18" name="Rectangle 17"/>
          <p:cNvSpPr/>
          <p:nvPr/>
        </p:nvSpPr>
        <p:spPr>
          <a:xfrm>
            <a:off x="6233007"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1472184"/>
            <a:ext cx="82296" cy="375513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Feed the error back</a:t>
            </a:r>
          </a:p>
        </p:txBody>
      </p:sp>
      <p:sp>
        <p:nvSpPr>
          <p:cNvPr id="21" name="TextBox 20"/>
          <p:cNvSpPr txBox="1"/>
          <p:nvPr/>
        </p:nvSpPr>
        <p:spPr>
          <a:xfrm>
            <a:off x="6507327" y="2356104"/>
            <a:ext cx="2087803" cy="2688336"/>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Give the agent the error, the query and the context. PRINCE caps it at </a:t>
            </a:r>
            <a:r>
              <a:rPr sz="1800" i="0" b="1">
                <a:solidFill>
                  <a:srgbClr val="1E293B"/>
                </a:solidFill>
                <a:latin typeface="Helvetica Neue"/>
              </a:rPr>
              <a:t>3</a:t>
            </a:r>
            <a:r>
              <a:rPr sz="1800" i="0" b="0">
                <a:solidFill>
                  <a:srgbClr val="475569"/>
                </a:solidFill>
                <a:latin typeface="Helvetica Neue"/>
              </a:rPr>
              <a:t> attempts.</a:t>
            </a:r>
          </a:p>
        </p:txBody>
      </p:sp>
      <p:sp>
        <p:nvSpPr>
          <p:cNvPr id="22" name="Rectangle 21"/>
          <p:cNvSpPr/>
          <p:nvPr/>
        </p:nvSpPr>
        <p:spPr>
          <a:xfrm>
            <a:off x="9098051"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98051" y="1472184"/>
            <a:ext cx="82296" cy="375513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72371"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Set ceilings from data</a:t>
            </a:r>
          </a:p>
        </p:txBody>
      </p:sp>
      <p:sp>
        <p:nvSpPr>
          <p:cNvPr id="25" name="TextBox 24"/>
          <p:cNvSpPr txBox="1"/>
          <p:nvPr/>
        </p:nvSpPr>
        <p:spPr>
          <a:xfrm>
            <a:off x="9372371" y="2356104"/>
            <a:ext cx="2087803" cy="2688336"/>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Before Claude Code's breaker (trips at </a:t>
            </a:r>
            <a:r>
              <a:rPr sz="1800" i="0" b="1">
                <a:solidFill>
                  <a:srgbClr val="1E293B"/>
                </a:solidFill>
                <a:latin typeface="Helvetica Neue"/>
              </a:rPr>
              <a:t>3</a:t>
            </a:r>
            <a:r>
              <a:rPr sz="1800" i="0" b="0">
                <a:solidFill>
                  <a:srgbClr val="475569"/>
                </a:solidFill>
                <a:latin typeface="Helvetica Neue"/>
              </a:rPr>
              <a:t>), one session failed </a:t>
            </a:r>
            <a:r>
              <a:rPr sz="1800" i="0" b="1">
                <a:solidFill>
                  <a:srgbClr val="1E293B"/>
                </a:solidFill>
                <a:latin typeface="Helvetica Neue"/>
              </a:rPr>
              <a:t>3,000+</a:t>
            </a:r>
            <a:r>
              <a:rPr sz="1800" i="0" b="0">
                <a:solidFill>
                  <a:srgbClr val="475569"/>
                </a:solidFill>
                <a:latin typeface="Helvetica Neue"/>
              </a:rPr>
              <a:t> times; futile retries cost </a:t>
            </a:r>
            <a:r>
              <a:rPr sz="1800" i="0" b="1">
                <a:solidFill>
                  <a:srgbClr val="1E293B"/>
                </a:solidFill>
                <a:latin typeface="Helvetica Neue"/>
              </a:rPr>
              <a:t>~250K</a:t>
            </a:r>
            <a:r>
              <a:rPr sz="1800" i="0" b="0">
                <a:solidFill>
                  <a:srgbClr val="475569"/>
                </a:solidFill>
                <a:latin typeface="Helvetica Neue"/>
              </a:rPr>
              <a:t> API calls a day.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Make the loop re-entrant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Long-horizon execution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10" name="Rectangle 9"/>
          <p:cNvSpPr/>
          <p:nvPr/>
        </p:nvSpPr>
        <p:spPr>
          <a:xfrm>
            <a:off x="777240" y="2967228"/>
            <a:ext cx="109728" cy="17556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2967228"/>
            <a:ext cx="10088575" cy="1389887"/>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Progress lives in files, not in the context window.</a:t>
            </a:r>
          </a:p>
        </p:txBody>
      </p:sp>
      <p:sp>
        <p:nvSpPr>
          <p:cNvPr id="12" name="TextBox 11"/>
          <p:cNvSpPr txBox="1"/>
          <p:nvPr/>
        </p:nvSpPr>
        <p:spPr>
          <a:xfrm>
            <a:off x="1234440" y="4311396"/>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Once state is external, any fresh context can pick up where the last one stopped. Context windows become disposable.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makes an agent deep</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DAIR · Deep Agents · Claude Agent SDK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 shallow agent runs one tool loop in one window. A deep agent adds four things.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agent loop is the same everywhere. The defaults are the harness.</a:t>
            </a:r>
          </a:p>
        </p:txBody>
      </p:sp>
      <p:graphicFrame>
        <p:nvGraphicFramePr>
          <p:cNvPr id="14" name="Table 13"/>
          <p:cNvGraphicFramePr>
            <a:graphicFrameLocks noGrp="1"/>
          </p:cNvGraphicFramePr>
          <p:nvPr/>
        </p:nvGraphicFramePr>
        <p:xfrm>
          <a:off x="502920" y="1985772"/>
          <a:ext cx="11185854" cy="2286000"/>
        </p:xfrm>
        <a:graphic>
          <a:graphicData uri="http://schemas.openxmlformats.org/drawingml/2006/table">
            <a:tbl>
              <a:tblPr firstRow="1" bandRow="1">
                <a:tableStyleId>{5940675A-B579-460E-94D1-54222C63F5DA}</a:tableStyleId>
              </a:tblPr>
              <a:tblGrid>
                <a:gridCol w="2908322"/>
                <a:gridCol w="4698059"/>
                <a:gridCol w="3579473"/>
              </a:tblGrid>
              <a:tr h="405384">
                <a:tc>
                  <a:txBody>
                    <a:bodyPr wrap="square"/>
                    <a:lstStyle/>
                    <a:p>
                      <a:pPr>
                        <a:lnSpc>
                          <a:spcPct val="100000"/>
                        </a:lnSpc>
                      </a:pPr>
                      <a:r>
                        <a:rPr sz="1700" i="0" b="1">
                          <a:solidFill>
                            <a:srgbClr val="FFFFFF"/>
                          </a:solidFill>
                          <a:latin typeface="Helvetica Neue"/>
                        </a:rPr>
                        <a:t>Pillar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it means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Deep Agents ships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Explicit planning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living to-do list the agent updates</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write_todos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Orchestrator + subagents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Specialists with clean contexts</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task</a:t>
                      </a:r>
                      <a:r>
                        <a:rPr sz="1700" i="0" b="0">
                          <a:solidFill>
                            <a:srgbClr val="475569"/>
                          </a:solidFill>
                          <a:latin typeface="Helvetica Neue"/>
                        </a:rPr>
                        <a:t> tool</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External memory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Work goes to files, not history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Virtual filesystem, </a:t>
                      </a:r>
                      <a:r>
                        <a:rPr sz="1530" i="0" b="0">
                          <a:solidFill>
                            <a:srgbClr val="0F7490"/>
                          </a:solidFill>
                          <a:latin typeface="Menlo"/>
                        </a:rPr>
                        <a:t>AGENTS.md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Verification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Output checked before it's accepted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HITL </a:t>
                      </a:r>
                      <a:r>
                        <a:rPr sz="1530" i="0" b="0">
                          <a:solidFill>
                            <a:srgbClr val="0F7490"/>
                          </a:solidFill>
                          <a:latin typeface="Menlo"/>
                        </a:rPr>
                        <a:t>interrupt_on</a:t>
                      </a:r>
                    </a:p>
                  </a:txBody>
                  <a:tcPr marL="109728" marR="109728" marT="54864" marB="54864" anchor="ctr">
                    <a:solidFill>
                      <a:srgbClr val="F8FAFC"/>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Compaction vs. context reset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Hitting the limit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Resets beat compaction on Sonnet 4.5; later models need them less. Re-test on every upgrade.</a:t>
            </a:r>
          </a:p>
        </p:txBody>
      </p:sp>
      <p:graphicFrame>
        <p:nvGraphicFramePr>
          <p:cNvPr id="13" name="Table 12"/>
          <p:cNvGraphicFramePr>
            <a:graphicFrameLocks noGrp="1"/>
          </p:cNvGraphicFramePr>
          <p:nvPr/>
        </p:nvGraphicFramePr>
        <p:xfrm>
          <a:off x="502920" y="1472184"/>
          <a:ext cx="11185855" cy="2026920"/>
        </p:xfrm>
        <a:graphic>
          <a:graphicData uri="http://schemas.openxmlformats.org/drawingml/2006/table">
            <a:tbl>
              <a:tblPr firstRow="1" bandRow="1">
                <a:tableStyleId>{5940675A-B579-460E-94D1-54222C63F5DA}</a:tableStyleId>
              </a:tblPr>
              <a:tblGrid>
                <a:gridCol w="2237171"/>
                <a:gridCol w="4474342"/>
                <a:gridCol w="4474342"/>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Compaction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Context reset</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Mechanism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Summarize earlier turns in place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Clear the window, hand off via files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Preserves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lossy trace of everything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Only what the handoff captures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Fails by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Summary-of-summary drift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Anything not written down is gone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Best for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long session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Multi-day work</a:t>
                      </a:r>
                    </a:p>
                  </a:txBody>
                  <a:tcPr marL="109728" marR="109728" marT="54864" marB="54864" anchor="ctr">
                    <a:solidFill>
                      <a:srgbClr val="F8FAFC"/>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The handoff separates verified from assumed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Session handoff skeleton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ounded Rectangle 9"/>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MARKDOWN</a:t>
            </a:r>
          </a:p>
        </p:txBody>
      </p:sp>
      <p:sp>
        <p:nvSpPr>
          <p:cNvPr id="12" name="TextBox 11"/>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Verified Now</a:t>
            </a:r>
          </a:p>
          <a:p>
            <a:pPr algn="l">
              <a:lnSpc>
                <a:spcPct val="100000"/>
              </a:lnSpc>
            </a:pPr>
            <a:r>
              <a:rPr sz="1600" i="0" b="0">
                <a:solidFill>
                  <a:srgbClr val="E2E8F0"/>
                </a:solidFill>
                <a:latin typeface="Menlo"/>
              </a:rPr>
              <a:t>what works · what verification actually ran</a:t>
            </a:r>
          </a:p>
          <a:p>
            <a:pPr algn="l">
              <a:lnSpc>
                <a:spcPct val="100000"/>
              </a:lnSpc>
            </a:pPr>
            <a:r>
              <a:rPr sz="1600" i="0" b="0">
                <a:solidFill>
                  <a:srgbClr val="E2E8F0"/>
                </a:solidFill>
                <a:latin typeface="Menlo"/>
              </a:rPr>
              <a:t>## Changed This Session</a:t>
            </a:r>
          </a:p>
          <a:p>
            <a:pPr algn="l">
              <a:lnSpc>
                <a:spcPct val="100000"/>
              </a:lnSpc>
            </a:pPr>
            <a:r>
              <a:rPr sz="1600" i="0" b="0">
                <a:solidFill>
                  <a:srgbClr val="E2E8F0"/>
                </a:solidFill>
                <a:latin typeface="Menlo"/>
              </a:rPr>
              <a:t>code or behaviour added · harness changes</a:t>
            </a:r>
          </a:p>
          <a:p>
            <a:pPr algn="l">
              <a:lnSpc>
                <a:spcPct val="100000"/>
              </a:lnSpc>
            </a:pPr>
            <a:r>
              <a:rPr sz="1600" i="0" b="0">
                <a:solidFill>
                  <a:srgbClr val="E2E8F0"/>
                </a:solidFill>
                <a:latin typeface="Menlo"/>
              </a:rPr>
              <a:t>## Broken Or Unverified</a:t>
            </a:r>
          </a:p>
          <a:p>
            <a:pPr algn="l">
              <a:lnSpc>
                <a:spcPct val="100000"/>
              </a:lnSpc>
            </a:pPr>
            <a:r>
              <a:rPr sz="1600" i="0" b="0">
                <a:solidFill>
                  <a:srgbClr val="E2E8F0"/>
                </a:solidFill>
                <a:latin typeface="Menlo"/>
              </a:rPr>
              <a:t>known defect · unverified path · risk</a:t>
            </a:r>
          </a:p>
          <a:p>
            <a:pPr algn="l">
              <a:lnSpc>
                <a:spcPct val="100000"/>
              </a:lnSpc>
            </a:pPr>
            <a:r>
              <a:rPr sz="1600" i="0" b="0">
                <a:solidFill>
                  <a:srgbClr val="E2E8F0"/>
                </a:solidFill>
                <a:latin typeface="Menlo"/>
              </a:rPr>
              <a:t>## Next Best Step</a:t>
            </a:r>
          </a:p>
          <a:p>
            <a:pPr algn="l">
              <a:lnSpc>
                <a:spcPct val="100000"/>
              </a:lnSpc>
            </a:pPr>
            <a:r>
              <a:rPr sz="1600" i="0" b="0">
                <a:solidFill>
                  <a:srgbClr val="E2E8F0"/>
                </a:solidFill>
                <a:latin typeface="Menlo"/>
              </a:rPr>
              <a:t>feature · why next · what counts as passing</a:t>
            </a:r>
          </a:p>
          <a:p>
            <a:pPr algn="l">
              <a:lnSpc>
                <a:spcPct val="100000"/>
              </a:lnSpc>
            </a:pPr>
            <a:r>
              <a:rPr sz="1600" i="0" b="0">
                <a:solidFill>
                  <a:srgbClr val="E2E8F0"/>
                </a:solidFill>
                <a:latin typeface="Menlo"/>
              </a:rPr>
              <a:t>## Commands</a:t>
            </a:r>
          </a:p>
          <a:p>
            <a:pPr algn="l">
              <a:lnSpc>
                <a:spcPct val="100000"/>
              </a:lnSpc>
            </a:pPr>
            <a:r>
              <a:rPr sz="1600" i="0" b="0">
                <a:solidFill>
                  <a:srgbClr val="E2E8F0"/>
                </a:solidFill>
                <a:latin typeface="Menlo"/>
              </a:rPr>
              <a:t>startup · verification · focused debug</a:t>
            </a:r>
          </a:p>
        </p:txBody>
      </p:sp>
      <p:sp>
        <p:nvSpPr>
          <p:cNvPr id="13" name="Rectangle 12"/>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Start writing it at </a:t>
            </a:r>
            <a:r>
              <a:rPr sz="1800" i="0" b="1">
                <a:solidFill>
                  <a:srgbClr val="1E293B"/>
                </a:solidFill>
                <a:latin typeface="Helvetica Neue"/>
              </a:rPr>
              <a:t>~60%</a:t>
            </a:r>
            <a:r>
              <a:rPr sz="1800" i="0" b="0">
                <a:solidFill>
                  <a:srgbClr val="1E293B"/>
                </a:solidFill>
                <a:latin typeface="Helvetica Neue"/>
              </a:rPr>
              <a:t> of the window, while there is room</a:t>
            </a:r>
          </a:p>
        </p:txBody>
      </p:sp>
      <p:sp>
        <p:nvSpPr>
          <p:cNvPr id="15" name="Rectangle 14"/>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generated summary blurs verified and assumed; this doesn't</a:t>
            </a:r>
          </a:p>
        </p:txBody>
      </p:sp>
      <p:sp>
        <p:nvSpPr>
          <p:cNvPr id="17" name="Rectangle 16"/>
          <p:cNvSpPr/>
          <p:nvPr/>
        </p:nvSpPr>
        <p:spPr>
          <a:xfrm>
            <a:off x="7580193" y="33878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3300984"/>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Pair with </a:t>
            </a:r>
            <a:r>
              <a:rPr sz="1620" i="0" b="0">
                <a:solidFill>
                  <a:srgbClr val="0F7490"/>
                </a:solidFill>
                <a:latin typeface="Menlo"/>
              </a:rPr>
              <a:t>progress.md</a:t>
            </a:r>
            <a:r>
              <a:rPr sz="1800" i="0" b="0">
                <a:solidFill>
                  <a:srgbClr val="1E293B"/>
                </a:solidFill>
                <a:latin typeface="Helvetica Neue"/>
              </a:rPr>
              <a:t>: current state on top, append-only log below</a:t>
            </a:r>
          </a:p>
        </p:txBody>
      </p:sp>
      <p:sp>
        <p:nvSpPr>
          <p:cNvPr id="19" name="Rectangle 18"/>
          <p:cNvSpPr/>
          <p:nvPr/>
        </p:nvSpPr>
        <p:spPr>
          <a:xfrm>
            <a:off x="7580193" y="443026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434340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Exit only on a clean state: build, tests, logs, </a:t>
            </a:r>
            <a:r>
              <a:rPr sz="1620" i="0" b="0">
                <a:solidFill>
                  <a:srgbClr val="0F7490"/>
                </a:solidFill>
                <a:latin typeface="Menlo"/>
              </a:rPr>
              <a:t>./init.sh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Ralph loops defeat context anxiety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Continuation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10" name="Rounded Rectangle 9"/>
          <p:cNvSpPr/>
          <p:nvPr/>
        </p:nvSpPr>
        <p:spPr>
          <a:xfrm>
            <a:off x="58658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7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Agent works</a:t>
            </a:r>
          </a:p>
          <a:p>
            <a:pPr algn="ctr">
              <a:lnSpc>
                <a:spcPct val="110000"/>
              </a:lnSpc>
            </a:pPr>
            <a:r>
              <a:rPr sz="1300" i="0" b="0">
                <a:solidFill>
                  <a:srgbClr val="E8F4F8"/>
                </a:solidFill>
                <a:latin typeface="Helvetica Neue"/>
              </a:rPr>
              <a:t>state goes to files</a:t>
            </a:r>
          </a:p>
        </p:txBody>
      </p:sp>
      <p:cxnSp>
        <p:nvCxnSpPr>
          <p:cNvPr id="12" name="Connector 11"/>
          <p:cNvCxnSpPr/>
          <p:nvPr/>
        </p:nvCxnSpPr>
        <p:spPr>
          <a:xfrm>
            <a:off x="301889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6694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410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Tries to finish</a:t>
            </a:r>
          </a:p>
          <a:p>
            <a:pPr algn="ctr">
              <a:lnSpc>
                <a:spcPct val="110000"/>
              </a:lnSpc>
            </a:pPr>
            <a:r>
              <a:rPr sz="1300" i="0" b="0">
                <a:solidFill>
                  <a:srgbClr val="E8F4F8"/>
                </a:solidFill>
                <a:latin typeface="Helvetica Neue"/>
              </a:rPr>
              <a:t>maybe early</a:t>
            </a:r>
          </a:p>
        </p:txBody>
      </p:sp>
      <p:cxnSp>
        <p:nvCxnSpPr>
          <p:cNvPr id="15" name="Connector 14"/>
          <p:cNvCxnSpPr/>
          <p:nvPr/>
        </p:nvCxnSpPr>
        <p:spPr>
          <a:xfrm>
            <a:off x="589925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47307" y="1563624"/>
            <a:ext cx="2377440"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446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Hook intercepts</a:t>
            </a:r>
          </a:p>
          <a:p>
            <a:pPr algn="ctr">
              <a:lnSpc>
                <a:spcPct val="110000"/>
              </a:lnSpc>
            </a:pPr>
            <a:r>
              <a:rPr sz="1300" i="0" b="0">
                <a:solidFill>
                  <a:srgbClr val="E8F4F8"/>
                </a:solidFill>
                <a:latin typeface="Helvetica Neue"/>
              </a:rPr>
              <a:t>re-injects the original prompt</a:t>
            </a:r>
          </a:p>
        </p:txBody>
      </p:sp>
      <p:cxnSp>
        <p:nvCxnSpPr>
          <p:cNvPr id="18" name="Connector 17"/>
          <p:cNvCxnSpPr/>
          <p:nvPr/>
        </p:nvCxnSpPr>
        <p:spPr>
          <a:xfrm>
            <a:off x="877961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22766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648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Fresh context</a:t>
            </a:r>
          </a:p>
          <a:p>
            <a:pPr algn="ctr">
              <a:lnSpc>
                <a:spcPct val="110000"/>
              </a:lnSpc>
            </a:pPr>
            <a:r>
              <a:rPr sz="1300" i="0" b="0">
                <a:solidFill>
                  <a:srgbClr val="E8F4F8"/>
                </a:solidFill>
                <a:latin typeface="Helvetica Neue"/>
              </a:rPr>
              <a:t>reads the files</a:t>
            </a:r>
          </a:p>
        </p:txBody>
      </p:sp>
      <p:cxnSp>
        <p:nvCxnSpPr>
          <p:cNvPr id="21" name="Connector 20"/>
          <p:cNvCxnSpPr/>
          <p:nvPr/>
        </p:nvCxnSpPr>
        <p:spPr>
          <a:xfrm>
            <a:off x="1041638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775307" y="3180588"/>
            <a:ext cx="864108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77530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775307" y="3217164"/>
            <a:ext cx="864108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until the verification gate says done</a:t>
            </a:r>
          </a:p>
        </p:txBody>
      </p:sp>
      <p:sp>
        <p:nvSpPr>
          <p:cNvPr id="25" name="TextBox 24"/>
          <p:cNvSpPr txBox="1"/>
          <p:nvPr/>
        </p:nvSpPr>
        <p:spPr>
          <a:xfrm>
            <a:off x="502920" y="3912108"/>
            <a:ext cx="11185855" cy="2305811"/>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Premature wrap-up becomes harmless, because "done" opens a new window instead of ending the work.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a 27-hour run looks like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Faldor et al., 27 h 14 min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ectangle 9"/>
          <p:cNvSpPr/>
          <p:nvPr/>
        </p:nvSpPr>
        <p:spPr>
          <a:xfrm>
            <a:off x="1873667" y="1417320"/>
            <a:ext cx="8444360"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ldor-gemini-argon-minecraft-fig1.png"/>
          <p:cNvPicPr>
            <a:picLocks noChangeAspect="1"/>
          </p:cNvPicPr>
          <p:nvPr/>
        </p:nvPicPr>
        <p:blipFill>
          <a:blip r:embed="rId2"/>
          <a:stretch>
            <a:fillRect/>
          </a:stretch>
        </p:blipFill>
        <p:spPr>
          <a:xfrm>
            <a:off x="1928531" y="1472184"/>
            <a:ext cx="8334632" cy="4334255"/>
          </a:xfrm>
          <a:prstGeom prst="rect">
            <a:avLst/>
          </a:prstGeom>
        </p:spPr>
      </p:pic>
      <p:sp>
        <p:nvSpPr>
          <p:cNvPr id="12" name="TextBox 11"/>
          <p:cNvSpPr txBox="1"/>
          <p:nvPr/>
        </p:nvSpPr>
        <p:spPr>
          <a:xfrm>
            <a:off x="502920" y="5943600"/>
            <a:ext cx="11185855"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Four agents, 27 h 14 min, 605 deaths along the bottom (Faldor et al.,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Orchestration and maturity</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Multi-agent harnesses · Maturity and failure modes</a:t>
            </a:r>
          </a:p>
        </p:txBody>
      </p:sp>
      <p:cxnSp>
        <p:nvCxnSpPr>
          <p:cNvPr id="6" name="Connector 5"/>
          <p:cNvCxnSpPr/>
          <p:nvPr/>
        </p:nvCxnSpPr>
        <p:spPr>
          <a:xfrm>
            <a:off x="6446520" y="1863725"/>
            <a:ext cx="0" cy="313055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863725"/>
            <a:ext cx="4693615" cy="331343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Subagents are a context firewall first</a:t>
            </a:r>
          </a:p>
          <a:p>
            <a:pPr algn="l">
              <a:lnSpc>
                <a:spcPct val="100000"/>
              </a:lnSpc>
              <a:spcBef>
                <a:spcPts val="1189"/>
              </a:spcBef>
            </a:pPr>
            <a:r>
              <a:rPr sz="1700" i="0" b="0">
                <a:solidFill>
                  <a:srgbClr val="CBD5E1"/>
                </a:solidFill>
                <a:latin typeface="Helvetica Neue"/>
              </a:rPr>
              <a:t>Protocols precede collaboration</a:t>
            </a:r>
          </a:p>
          <a:p>
            <a:pPr algn="l">
              <a:lnSpc>
                <a:spcPct val="100000"/>
              </a:lnSpc>
              <a:spcBef>
                <a:spcPts val="1189"/>
              </a:spcBef>
            </a:pPr>
            <a:r>
              <a:rPr sz="1700" i="0" b="0">
                <a:solidFill>
                  <a:srgbClr val="CBD5E1"/>
                </a:solidFill>
                <a:latin typeface="Helvetica Neue"/>
              </a:rPr>
              <a:t>Four multi-agent topologies</a:t>
            </a:r>
          </a:p>
          <a:p>
            <a:pPr algn="l">
              <a:lnSpc>
                <a:spcPct val="100000"/>
              </a:lnSpc>
              <a:spcBef>
                <a:spcPts val="1189"/>
              </a:spcBef>
            </a:pPr>
            <a:r>
              <a:rPr sz="1700" i="0" b="0">
                <a:solidFill>
                  <a:srgbClr val="CBD5E1"/>
                </a:solidFill>
                <a:latin typeface="Helvetica Neue"/>
              </a:rPr>
              <a:t>Multi-agent failures are harness bugs</a:t>
            </a:r>
          </a:p>
          <a:p>
            <a:pPr algn="l">
              <a:lnSpc>
                <a:spcPct val="100000"/>
              </a:lnSpc>
              <a:spcBef>
                <a:spcPts val="1189"/>
              </a:spcBef>
            </a:pPr>
            <a:r>
              <a:rPr sz="1700" i="0" b="0">
                <a:solidFill>
                  <a:srgbClr val="CBD5E1"/>
                </a:solidFill>
                <a:latin typeface="Helvetica Neue"/>
              </a:rPr>
              <a:t>The five-stage maturity model</a:t>
            </a:r>
          </a:p>
          <a:p>
            <a:pPr algn="l">
              <a:lnSpc>
                <a:spcPct val="100000"/>
              </a:lnSpc>
              <a:spcBef>
                <a:spcPts val="1189"/>
              </a:spcBef>
            </a:pPr>
            <a:r>
              <a:rPr sz="1700" i="0" b="0">
                <a:solidFill>
                  <a:srgbClr val="CBD5E1"/>
                </a:solidFill>
                <a:latin typeface="Helvetica Neue"/>
              </a:rPr>
              <a:t>The six-stage task pipeline</a:t>
            </a:r>
          </a:p>
          <a:p>
            <a:pPr algn="l">
              <a:lnSpc>
                <a:spcPct val="100000"/>
              </a:lnSpc>
              <a:spcBef>
                <a:spcPts val="1189"/>
              </a:spcBef>
            </a:pPr>
            <a:r>
              <a:rPr sz="1700" i="0" b="0">
                <a:solidFill>
                  <a:srgbClr val="CBD5E1"/>
                </a:solidFill>
                <a:latin typeface="Helvetica Neue"/>
              </a:rPr>
              <a:t>Iterative simplification</a:t>
            </a:r>
          </a:p>
          <a:p>
            <a:pPr algn="l">
              <a:lnSpc>
                <a:spcPct val="100000"/>
              </a:lnSpc>
              <a:spcBef>
                <a:spcPts val="1189"/>
              </a:spcBef>
            </a:pPr>
            <a:r>
              <a:rPr sz="1700" i="0" b="0">
                <a:solidFill>
                  <a:srgbClr val="CBD5E1"/>
                </a:solidFill>
                <a:latin typeface="Helvetica Neue"/>
              </a:rPr>
              <a:t>Eight deployment anti-patterns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Subagents are a context firewall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Orchestration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Rectangle 9"/>
          <p:cNvSpPr/>
          <p:nvPr/>
        </p:nvSpPr>
        <p:spPr>
          <a:xfrm>
            <a:off x="502920" y="156870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A search that reads </a:t>
            </a:r>
            <a:r>
              <a:rPr sz="2000" i="0" b="1">
                <a:solidFill>
                  <a:srgbClr val="1E293B"/>
                </a:solidFill>
                <a:latin typeface="Helvetica Neue"/>
              </a:rPr>
              <a:t>40</a:t>
            </a:r>
            <a:r>
              <a:rPr sz="2000" i="0" b="0">
                <a:solidFill>
                  <a:srgbClr val="1E293B"/>
                </a:solidFill>
                <a:latin typeface="Helvetica Neue"/>
              </a:rPr>
              <a:t> files and finds </a:t>
            </a:r>
            <a:r>
              <a:rPr sz="2000" i="0" b="1">
                <a:solidFill>
                  <a:srgbClr val="1E293B"/>
                </a:solidFill>
                <a:latin typeface="Helvetica Neue"/>
              </a:rPr>
              <a:t>3</a:t>
            </a:r>
            <a:r>
              <a:rPr sz="2000" i="0" b="0">
                <a:solidFill>
                  <a:srgbClr val="1E293B"/>
                </a:solidFill>
                <a:latin typeface="Helvetica Neue"/>
              </a:rPr>
              <a:t> returns the 3</a:t>
            </a:r>
          </a:p>
        </p:txBody>
      </p:sp>
      <p:sp>
        <p:nvSpPr>
          <p:cNvPr id="12" name="Rectangle 11"/>
          <p:cNvSpPr/>
          <p:nvPr/>
        </p:nvSpPr>
        <p:spPr>
          <a:xfrm>
            <a:off x="502920" y="239166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The orchestrator gets a </a:t>
            </a:r>
            <a:r>
              <a:rPr sz="2000" i="0" b="1">
                <a:solidFill>
                  <a:srgbClr val="1E293B"/>
                </a:solidFill>
                <a:latin typeface="Helvetica Neue"/>
              </a:rPr>
              <a:t>~1,000–2,000-token</a:t>
            </a:r>
            <a:r>
              <a:rPr sz="2000" i="0" b="0">
                <a:solidFill>
                  <a:srgbClr val="1E293B"/>
                </a:solidFill>
                <a:latin typeface="Helvetica Neue"/>
              </a:rPr>
              <a:t> summary, not the exploration</a:t>
            </a:r>
          </a:p>
        </p:txBody>
      </p:sp>
      <p:sp>
        <p:nvSpPr>
          <p:cNvPr id="14" name="Rectangle 13"/>
          <p:cNvSpPr/>
          <p:nvPr/>
        </p:nvSpPr>
        <p:spPr>
          <a:xfrm>
            <a:off x="502920" y="321462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11810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Orchestrator holds the plan; subagents hold the details</a:t>
            </a:r>
          </a:p>
        </p:txBody>
      </p:sp>
      <p:sp>
        <p:nvSpPr>
          <p:cNvPr id="16" name="Rectangle 15"/>
          <p:cNvSpPr/>
          <p:nvPr/>
        </p:nvSpPr>
        <p:spPr>
          <a:xfrm>
            <a:off x="502920" y="403758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94106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Deep Agents' </a:t>
            </a:r>
            <a:r>
              <a:rPr sz="1800" i="0" b="0">
                <a:solidFill>
                  <a:srgbClr val="0F7490"/>
                </a:solidFill>
                <a:latin typeface="Menlo"/>
              </a:rPr>
              <a:t>task</a:t>
            </a:r>
            <a:r>
              <a:rPr sz="2000" i="0" b="0">
                <a:solidFill>
                  <a:srgbClr val="1E293B"/>
                </a:solidFill>
                <a:latin typeface="Helvetica Neue"/>
              </a:rPr>
              <a:t> tool: fresh instance, runs to completion, </a:t>
            </a:r>
            <a:r>
              <a:rPr sz="2000" i="0" b="1">
                <a:solidFill>
                  <a:srgbClr val="1E293B"/>
                </a:solidFill>
                <a:latin typeface="Helvetica Neue"/>
              </a:rPr>
              <a:t>one</a:t>
            </a:r>
            <a:r>
              <a:rPr sz="2000" i="0" b="0">
                <a:solidFill>
                  <a:srgbClr val="1E293B"/>
                </a:solidFill>
                <a:latin typeface="Helvetica Neue"/>
              </a:rPr>
              <a:t> final report</a:t>
            </a:r>
          </a:p>
        </p:txBody>
      </p:sp>
      <p:sp>
        <p:nvSpPr>
          <p:cNvPr id="18" name="Rectangle 17"/>
          <p:cNvSpPr/>
          <p:nvPr/>
        </p:nvSpPr>
        <p:spPr>
          <a:xfrm>
            <a:off x="502920" y="486054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76402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Isolation is the most expensive context lever; use it at a real boundary</a:t>
            </a:r>
          </a:p>
        </p:txBody>
      </p:sp>
      <p:sp>
        <p:nvSpPr>
          <p:cNvPr id="20" name="Rectangle 19"/>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sizing rule</a:t>
            </a:r>
          </a:p>
        </p:txBody>
      </p:sp>
      <p:sp>
        <p:nvSpPr>
          <p:cNvPr id="23" name="TextBox 22"/>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Give each subagent the minimum context, authority and execution budget needed to finish one clearly defined task.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Protocols precede collaboration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Protocols between tasks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Establish the task graph and isolation boundaries before you add parallelism.</a:t>
            </a:r>
          </a:p>
        </p:txBody>
      </p:sp>
      <p:graphicFrame>
        <p:nvGraphicFramePr>
          <p:cNvPr id="13" name="Table 12"/>
          <p:cNvGraphicFramePr>
            <a:graphicFrameLocks noGrp="1"/>
          </p:cNvGraphicFramePr>
          <p:nvPr/>
        </p:nvGraphicFramePr>
        <p:xfrm>
          <a:off x="502920" y="1472184"/>
          <a:ext cx="11185854" cy="2398776"/>
        </p:xfrm>
        <a:graphic>
          <a:graphicData uri="http://schemas.openxmlformats.org/drawingml/2006/table">
            <a:tbl>
              <a:tblPr firstRow="1" bandRow="1">
                <a:tableStyleId>{5940675A-B579-460E-94D1-54222C63F5DA}</a:tableStyleId>
              </a:tblPr>
              <a:tblGrid>
                <a:gridCol w="2684605"/>
                <a:gridCol w="4921776"/>
                <a:gridCol w="3579473"/>
              </a:tblGrid>
              <a:tr h="405384">
                <a:tc>
                  <a:txBody>
                    <a:bodyPr wrap="square"/>
                    <a:lstStyle/>
                    <a:p>
                      <a:pPr>
                        <a:lnSpc>
                          <a:spcPct val="100000"/>
                        </a:lnSpc>
                      </a:pPr>
                      <a:r>
                        <a:rPr sz="1700" i="0" b="1">
                          <a:solidFill>
                            <a:srgbClr val="FFFFFF"/>
                          </a:solidFill>
                          <a:latin typeface="Helvetica Neue"/>
                        </a:rPr>
                        <a:t>Foundation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Defines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Prevents</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Communication protocol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Message meanings; requests, results, failures, acks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Lost acks, silent failures, double runs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Task graph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What work exists, who owns it, what depends on what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Duplicate owners, premature starts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Isolation boundary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Which files, branches, tools each agent may touch</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Write collisions</a:t>
                      </a:r>
                    </a:p>
                  </a:txBody>
                  <a:tcPr marL="109728" marR="109728" marT="54864" marB="54864"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multi-agent topologies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Pick the shape, then the cut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Cut the work by function, by file (spatial), by stage (temporal) or by data partition.</a:t>
            </a:r>
          </a:p>
        </p:txBody>
      </p:sp>
      <p:sp>
        <p:nvSpPr>
          <p:cNvPr id="13" name="Rectangle 12"/>
          <p:cNvSpPr/>
          <p:nvPr/>
        </p:nvSpPr>
        <p:spPr>
          <a:xfrm>
            <a:off x="502920"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58165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Sequential</a:t>
            </a:r>
          </a:p>
        </p:txBody>
      </p:sp>
      <p:sp>
        <p:nvSpPr>
          <p:cNvPr id="16" name="TextBox 15"/>
          <p:cNvSpPr txBox="1"/>
          <p:nvPr/>
        </p:nvSpPr>
        <p:spPr>
          <a:xfrm>
            <a:off x="777240"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 B → C. Stages that genuinely depend on each other.</a:t>
            </a:r>
          </a:p>
        </p:txBody>
      </p:sp>
      <p:sp>
        <p:nvSpPr>
          <p:cNvPr id="17" name="Rectangle 16"/>
          <p:cNvSpPr/>
          <p:nvPr/>
        </p:nvSpPr>
        <p:spPr>
          <a:xfrm>
            <a:off x="3367963"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58165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Parallel</a:t>
            </a:r>
          </a:p>
        </p:txBody>
      </p:sp>
      <p:sp>
        <p:nvSpPr>
          <p:cNvPr id="20" name="TextBox 19"/>
          <p:cNvSpPr txBox="1"/>
          <p:nvPr/>
        </p:nvSpPr>
        <p:spPr>
          <a:xfrm>
            <a:off x="3642283"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Fan out, join. Subtasks that share no state.</a:t>
            </a:r>
          </a:p>
        </p:txBody>
      </p:sp>
      <p:sp>
        <p:nvSpPr>
          <p:cNvPr id="21" name="Rectangle 20"/>
          <p:cNvSpPr/>
          <p:nvPr/>
        </p:nvSpPr>
        <p:spPr>
          <a:xfrm>
            <a:off x="6233007"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58165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Manager hierarchy</a:t>
            </a:r>
          </a:p>
        </p:txBody>
      </p:sp>
      <p:sp>
        <p:nvSpPr>
          <p:cNvPr id="24" name="TextBox 23"/>
          <p:cNvSpPr txBox="1"/>
          <p:nvPr/>
        </p:nvSpPr>
        <p:spPr>
          <a:xfrm>
            <a:off x="6507327"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One orchestrator delegates and integrates. The default for open-ended work.</a:t>
            </a:r>
          </a:p>
        </p:txBody>
      </p:sp>
      <p:sp>
        <p:nvSpPr>
          <p:cNvPr id="25" name="Rectangle 24"/>
          <p:cNvSpPr/>
          <p:nvPr/>
        </p:nvSpPr>
        <p:spPr>
          <a:xfrm>
            <a:off x="9098051"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58165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All-to-all</a:t>
            </a:r>
          </a:p>
        </p:txBody>
      </p:sp>
      <p:sp>
        <p:nvSpPr>
          <p:cNvPr id="28" name="TextBox 27"/>
          <p:cNvSpPr txBox="1"/>
          <p:nvPr/>
        </p:nvSpPr>
        <p:spPr>
          <a:xfrm>
            <a:off x="9372371"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Free chat. Brainstorming only: hard to predict or control.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Multi-agent failures are harness bugs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Named failure modes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E2E fails but components pass → a handoff bug. Evaluate both.</a:t>
            </a:r>
          </a:p>
        </p:txBody>
      </p:sp>
      <p:graphicFrame>
        <p:nvGraphicFramePr>
          <p:cNvPr id="13" name="Table 12"/>
          <p:cNvGraphicFramePr>
            <a:graphicFrameLocks noGrp="1"/>
          </p:cNvGraphicFramePr>
          <p:nvPr/>
        </p:nvGraphicFramePr>
        <p:xfrm>
          <a:off x="502920" y="1472184"/>
          <a:ext cx="11185853" cy="2545080"/>
        </p:xfrm>
        <a:graphic>
          <a:graphicData uri="http://schemas.openxmlformats.org/drawingml/2006/table">
            <a:tbl>
              <a:tblPr firstRow="1" bandRow="1">
                <a:tableStyleId>{5940675A-B579-460E-94D1-54222C63F5DA}</a:tableStyleId>
              </a:tblPr>
              <a:tblGrid>
                <a:gridCol w="2908322"/>
                <a:gridCol w="4250624"/>
                <a:gridCol w="4026907"/>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Shape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Mitigation</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Loop oscillation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Two nodes bounce work forever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Counters on cyclic edges; escalate</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Context pollution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Nested flows leak state upward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Boundary schemas; return summaries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Concurrency collision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Branches write the same state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JoinNode barriers; key ownership</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Consensus deadlock</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Reviewers never agree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Tie-break, majority or an arbiter</a:t>
                      </a:r>
                    </a:p>
                  </a:txBody>
                  <a:tcPr marL="109728" marR="109728" marT="54864" marB="54864" anchor="ctr">
                    <a:solidFill>
                      <a:srgbClr val="F8FAFC"/>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five-stage maturity model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AI-native playbook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Stage 1 makes it work, 2 makes it trustworthy, 3 makes it improvable. Most claiming 3 are at 1.</a:t>
            </a:r>
          </a:p>
        </p:txBody>
      </p:sp>
      <p:graphicFrame>
        <p:nvGraphicFramePr>
          <p:cNvPr id="13" name="Table 12"/>
          <p:cNvGraphicFramePr>
            <a:graphicFrameLocks noGrp="1"/>
          </p:cNvGraphicFramePr>
          <p:nvPr/>
        </p:nvGraphicFramePr>
        <p:xfrm>
          <a:off x="502920" y="1472184"/>
          <a:ext cx="11185854" cy="2691384"/>
        </p:xfrm>
        <a:graphic>
          <a:graphicData uri="http://schemas.openxmlformats.org/drawingml/2006/table">
            <a:tbl>
              <a:tblPr firstRow="1" bandRow="1">
                <a:tableStyleId>{5940675A-B579-460E-94D1-54222C63F5DA}</a:tableStyleId>
              </a:tblPr>
              <a:tblGrid>
                <a:gridCol w="1118585"/>
                <a:gridCol w="2684605"/>
                <a:gridCol w="7382664"/>
              </a:tblGrid>
              <a:tr h="405384">
                <a:tc>
                  <a:txBody>
                    <a:bodyPr wrap="square"/>
                    <a:lstStyle/>
                    <a:p>
                      <a:pPr>
                        <a:lnSpc>
                          <a:spcPct val="100000"/>
                        </a:lnSpc>
                      </a:pPr>
                      <a:r>
                        <a:rPr sz="1700" i="0" b="1">
                          <a:solidFill>
                            <a:srgbClr val="FFFFFF"/>
                          </a:solidFill>
                          <a:latin typeface="Helvetica Neue"/>
                        </a:rPr>
                        <a:t>Stage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Name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exists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Ad-hoc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Scripts, manual tool calls, no registry or structured logs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1</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Basic</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Schema-first tools, a registry, unit-test verification</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2</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Verified</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CI checks, sandboxing, tracing, behavioural evals, branch-per-agent</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3</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Observability-first</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E2E tracing, LLM-judge scoring, middleware, versioned memory</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4</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Self-healing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Auto-remediation, cost-aware orchestration (emerging, 2026)</a:t>
                      </a:r>
                    </a:p>
                  </a:txBody>
                  <a:tcPr marL="109728" marR="109728" marT="54864" marB="54864" anchor="ctr">
                    <a:solidFill>
                      <a:srgbClr val="FFFFF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six-stage task pipeline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Per task, in a mature harness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Reviewing a wrong plan takes two minutes. Reviewing the code from a wrong plan takes an hour.</a:t>
            </a:r>
          </a:p>
        </p:txBody>
      </p:sp>
      <p:sp>
        <p:nvSpPr>
          <p:cNvPr id="13" name="Rectangle 12"/>
          <p:cNvSpPr/>
          <p:nvPr/>
        </p:nvSpPr>
        <p:spPr>
          <a:xfrm>
            <a:off x="502920" y="147218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532382"/>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Preflight</a:t>
            </a:r>
            <a:r>
              <a:rPr sz="1800" i="0" b="0">
                <a:solidFill>
                  <a:srgbClr val="475569"/>
                </a:solidFill>
                <a:latin typeface="Helvetica Neue"/>
              </a:rPr>
              <a:t> — Gather context; establish current state</a:t>
            </a:r>
          </a:p>
        </p:txBody>
      </p:sp>
      <p:sp>
        <p:nvSpPr>
          <p:cNvPr id="17" name="Rectangle 16"/>
          <p:cNvSpPr/>
          <p:nvPr/>
        </p:nvSpPr>
        <p:spPr>
          <a:xfrm>
            <a:off x="502920" y="2159508"/>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21970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219706"/>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159508"/>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Plan</a:t>
            </a:r>
            <a:r>
              <a:rPr sz="1800" i="0" b="0">
                <a:solidFill>
                  <a:srgbClr val="475569"/>
                </a:solidFill>
                <a:latin typeface="Helvetica Neue"/>
              </a:rPr>
              <a:t> — Decompose into steps</a:t>
            </a:r>
          </a:p>
        </p:txBody>
      </p:sp>
      <p:sp>
        <p:nvSpPr>
          <p:cNvPr id="21" name="Rectangle 20"/>
          <p:cNvSpPr/>
          <p:nvPr/>
        </p:nvSpPr>
        <p:spPr>
          <a:xfrm>
            <a:off x="502920" y="2846832"/>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2907030"/>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290703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a:t>
            </a:r>
          </a:p>
        </p:txBody>
      </p:sp>
      <p:sp>
        <p:nvSpPr>
          <p:cNvPr id="24" name="TextBox 23"/>
          <p:cNvSpPr txBox="1"/>
          <p:nvPr/>
        </p:nvSpPr>
        <p:spPr>
          <a:xfrm>
            <a:off x="1325880" y="2846832"/>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Approve</a:t>
            </a:r>
            <a:r>
              <a:rPr sz="1800" i="0" b="0">
                <a:solidFill>
                  <a:srgbClr val="475569"/>
                </a:solidFill>
                <a:latin typeface="Helvetica Neue"/>
              </a:rPr>
              <a:t> — Mandatory human gate on the </a:t>
            </a:r>
            <a:r>
              <a:rPr sz="1800" i="0" b="1">
                <a:solidFill>
                  <a:srgbClr val="1E293B"/>
                </a:solidFill>
                <a:latin typeface="Helvetica Neue"/>
              </a:rPr>
              <a:t>plan</a:t>
            </a:r>
          </a:p>
        </p:txBody>
      </p:sp>
      <p:sp>
        <p:nvSpPr>
          <p:cNvPr id="25" name="Rectangle 24"/>
          <p:cNvSpPr/>
          <p:nvPr/>
        </p:nvSpPr>
        <p:spPr>
          <a:xfrm>
            <a:off x="502920" y="3534156"/>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359435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534156"/>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Tasks</a:t>
            </a:r>
            <a:r>
              <a:rPr sz="1800" i="0" b="0">
                <a:solidFill>
                  <a:srgbClr val="475569"/>
                </a:solidFill>
                <a:latin typeface="Helvetica Neue"/>
              </a:rPr>
              <a:t> — Execute, documenting as you go</a:t>
            </a:r>
          </a:p>
        </p:txBody>
      </p:sp>
      <p:sp>
        <p:nvSpPr>
          <p:cNvPr id="29" name="Rectangle 28"/>
          <p:cNvSpPr/>
          <p:nvPr/>
        </p:nvSpPr>
        <p:spPr>
          <a:xfrm>
            <a:off x="502920" y="4221480"/>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281677"/>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281677"/>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221480"/>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Verify</a:t>
            </a:r>
            <a:r>
              <a:rPr sz="1800" i="0" b="0">
                <a:solidFill>
                  <a:srgbClr val="475569"/>
                </a:solidFill>
                <a:latin typeface="Helvetica Neue"/>
              </a:rPr>
              <a:t> — Binary pass/fail quality gate</a:t>
            </a:r>
          </a:p>
        </p:txBody>
      </p:sp>
      <p:sp>
        <p:nvSpPr>
          <p:cNvPr id="33" name="Rectangle 32"/>
          <p:cNvSpPr/>
          <p:nvPr/>
        </p:nvSpPr>
        <p:spPr>
          <a:xfrm>
            <a:off x="502920" y="490880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67512" y="4969001"/>
            <a:ext cx="457200" cy="457200"/>
          </a:xfrm>
          <a:prstGeom prst="ellipse">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96900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6</a:t>
            </a:r>
          </a:p>
        </p:txBody>
      </p:sp>
      <p:sp>
        <p:nvSpPr>
          <p:cNvPr id="36" name="TextBox 35"/>
          <p:cNvSpPr txBox="1"/>
          <p:nvPr/>
        </p:nvSpPr>
        <p:spPr>
          <a:xfrm>
            <a:off x="1325880" y="490880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Finish</a:t>
            </a:r>
            <a:r>
              <a:rPr sz="1800" i="0" b="0">
                <a:solidFill>
                  <a:srgbClr val="475569"/>
                </a:solidFill>
                <a:latin typeface="Helvetica Neue"/>
              </a:rPr>
              <a:t> — Export artifacts, log the outcome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Iterative simplification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counterweight to the ratchet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49</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Every component encodes an assumption about what the model can't do on its own.</a:t>
            </a:r>
          </a:p>
        </p:txBody>
      </p:sp>
      <p:sp>
        <p:nvSpPr>
          <p:cNvPr id="11" name="Rounded Rectangle 10"/>
          <p:cNvSpPr/>
          <p:nvPr/>
        </p:nvSpPr>
        <p:spPr>
          <a:xfrm>
            <a:off x="2026767" y="2077212"/>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63927" y="2077212"/>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List components</a:t>
            </a:r>
          </a:p>
          <a:p>
            <a:pPr algn="ctr">
              <a:lnSpc>
                <a:spcPct val="110000"/>
              </a:lnSpc>
            </a:pPr>
            <a:r>
              <a:rPr sz="1300" i="0" b="0">
                <a:solidFill>
                  <a:srgbClr val="E8F4F8"/>
                </a:solidFill>
                <a:latin typeface="Helvetica Neue"/>
              </a:rPr>
              <a:t>and the weakness each mitigates</a:t>
            </a:r>
          </a:p>
        </p:txBody>
      </p:sp>
      <p:cxnSp>
        <p:nvCxnSpPr>
          <p:cNvPr id="13" name="Connector 12"/>
          <p:cNvCxnSpPr/>
          <p:nvPr/>
        </p:nvCxnSpPr>
        <p:spPr>
          <a:xfrm>
            <a:off x="4459071" y="267995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907127" y="2077212"/>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44287" y="2077212"/>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Disable one</a:t>
            </a:r>
          </a:p>
          <a:p>
            <a:pPr algn="ctr">
              <a:lnSpc>
                <a:spcPct val="110000"/>
              </a:lnSpc>
            </a:pPr>
            <a:r>
              <a:rPr sz="1300" i="0" b="0">
                <a:solidFill>
                  <a:srgbClr val="E8F4F8"/>
                </a:solidFill>
                <a:latin typeface="Helvetica Neue"/>
              </a:rPr>
              <a:t>run the eval suite</a:t>
            </a:r>
          </a:p>
        </p:txBody>
      </p:sp>
      <p:cxnSp>
        <p:nvCxnSpPr>
          <p:cNvPr id="16" name="Connector 15"/>
          <p:cNvCxnSpPr/>
          <p:nvPr/>
        </p:nvCxnSpPr>
        <p:spPr>
          <a:xfrm>
            <a:off x="7339431" y="267995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787487" y="2077212"/>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647" y="2077212"/>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Decide</a:t>
            </a:r>
          </a:p>
          <a:p>
            <a:pPr algn="ctr">
              <a:lnSpc>
                <a:spcPct val="110000"/>
              </a:lnSpc>
            </a:pPr>
            <a:r>
              <a:rPr sz="1300" i="0" b="0">
                <a:solidFill>
                  <a:srgbClr val="E8F4F8"/>
                </a:solidFill>
                <a:latin typeface="Helvetica Neue"/>
              </a:rPr>
              <a:t>holds → delete; drops → keep, note model</a:t>
            </a:r>
          </a:p>
        </p:txBody>
      </p:sp>
      <p:cxnSp>
        <p:nvCxnSpPr>
          <p:cNvPr id="19" name="Connector 18"/>
          <p:cNvCxnSpPr/>
          <p:nvPr/>
        </p:nvCxnSpPr>
        <p:spPr>
          <a:xfrm>
            <a:off x="8976207" y="3282696"/>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215487" y="3694176"/>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215487" y="3319272"/>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215487" y="3730752"/>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on every model upgrade</a:t>
            </a:r>
          </a:p>
        </p:txBody>
      </p:sp>
      <p:sp>
        <p:nvSpPr>
          <p:cNvPr id="23" name="Rectangle 22"/>
          <p:cNvSpPr/>
          <p:nvPr/>
        </p:nvSpPr>
        <p:spPr>
          <a:xfrm>
            <a:off x="502920" y="4517390"/>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42569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Opus 4.6 let Anthropic </a:t>
            </a:r>
            <a:r>
              <a:rPr sz="1900" i="0" b="1">
                <a:solidFill>
                  <a:srgbClr val="1E293B"/>
                </a:solidFill>
                <a:latin typeface="Helvetica Neue"/>
              </a:rPr>
              <a:t>remove sprint decomposition</a:t>
            </a:r>
            <a:r>
              <a:rPr sz="1900" i="0" b="0">
                <a:solidFill>
                  <a:srgbClr val="1E293B"/>
                </a:solidFill>
                <a:latin typeface="Helvetica Neue"/>
              </a:rPr>
              <a:t> with no quality loss</a:t>
            </a:r>
          </a:p>
        </p:txBody>
      </p:sp>
      <p:sp>
        <p:nvSpPr>
          <p:cNvPr id="25" name="Rectangle 24"/>
          <p:cNvSpPr/>
          <p:nvPr/>
        </p:nvSpPr>
        <p:spPr>
          <a:xfrm>
            <a:off x="502920" y="4980686"/>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88899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PRINCE deleted a verifier that never paid off, with no upgrade needed</a:t>
            </a:r>
          </a:p>
        </p:txBody>
      </p:sp>
      <p:sp>
        <p:nvSpPr>
          <p:cNvPr id="27" name="Rectangle 26"/>
          <p:cNvSpPr/>
          <p:nvPr/>
        </p:nvSpPr>
        <p:spPr>
          <a:xfrm>
            <a:off x="502920" y="5443982"/>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352288"/>
            <a:ext cx="10865815" cy="728472"/>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Scaffolding for a model weakness expires; scaffolding for an external constraint doesn't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Eight deployment anti-patterns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200" i="0" b="0">
                <a:solidFill>
                  <a:srgbClr val="0EA5C9"/>
                </a:solidFill>
                <a:latin typeface="Helvetica Neue"/>
              </a:rPr>
              <a:t>Looks like the model; is the engineering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five big failure modes sit above these. Skipping the harness hides the other four.</a:t>
            </a:r>
          </a:p>
        </p:txBody>
      </p:sp>
      <p:graphicFrame>
        <p:nvGraphicFramePr>
          <p:cNvPr id="13" name="Table 12"/>
          <p:cNvGraphicFramePr>
            <a:graphicFrameLocks noGrp="1"/>
          </p:cNvGraphicFramePr>
          <p:nvPr/>
        </p:nvGraphicFramePr>
        <p:xfrm>
          <a:off x="502920" y="1472184"/>
          <a:ext cx="11185855" cy="3648456"/>
        </p:xfrm>
        <a:graphic>
          <a:graphicData uri="http://schemas.openxmlformats.org/drawingml/2006/table">
            <a:tbl>
              <a:tblPr firstRow="1" bandRow="1">
                <a:tableStyleId>{5940675A-B579-460E-94D1-54222C63F5DA}</a:tableStyleId>
              </a:tblPr>
              <a:tblGrid>
                <a:gridCol w="4474342"/>
                <a:gridCol w="6711513"/>
              </a:tblGrid>
              <a:tr h="405384">
                <a:tc>
                  <a:txBody>
                    <a:bodyPr wrap="square"/>
                    <a:lstStyle/>
                    <a:p>
                      <a:pPr>
                        <a:lnSpc>
                          <a:spcPct val="100000"/>
                        </a:lnSpc>
                      </a:pPr>
                      <a:r>
                        <a:rPr sz="1700" i="0" b="1">
                          <a:solidFill>
                            <a:srgbClr val="FFFFFF"/>
                          </a:solidFill>
                          <a:latin typeface="Helvetica Neue"/>
                        </a:rPr>
                        <a:t>Anti-pattern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Fix</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System prompt as knowledge base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Conventions in the prompt; knowledge in skills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Unbounded tool count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Merge overlaps, namespace the rest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No verification loop</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Acceptance criteria per task type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Boundaryless multi-agent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Roles, permissions, a worktree per agent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Unmanaged memory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Watch tokens; compact or reset at a threshold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No evaluation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Turn every failure into a test case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Premature multi-agent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Find the single-agent limit first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Constraints by expectation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Enforce with tools, linters, hooks</a:t>
                      </a:r>
                    </a:p>
                  </a:txBody>
                  <a:tcPr marL="109728" marR="109728" marT="54864" marB="54864" anchor="ctr">
                    <a:solidFill>
                      <a:srgbClr val="F8FAFC"/>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5</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Practice</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Repo as system of record · Session lifecycle · Scope and done</a:t>
            </a:r>
          </a:p>
        </p:txBody>
      </p:sp>
      <p:cxnSp>
        <p:nvCxnSpPr>
          <p:cNvPr id="6" name="Connector 5"/>
          <p:cNvCxnSpPr/>
          <p:nvPr/>
        </p:nvCxnSpPr>
        <p:spPr>
          <a:xfrm>
            <a:off x="6446520" y="2889250"/>
            <a:ext cx="0" cy="107950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2889250"/>
            <a:ext cx="4693615" cy="126238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The fresh-session test</a:t>
            </a:r>
          </a:p>
          <a:p>
            <a:pPr algn="l">
              <a:lnSpc>
                <a:spcPct val="100000"/>
              </a:lnSpc>
              <a:spcBef>
                <a:spcPts val="1189"/>
              </a:spcBef>
            </a:pPr>
            <a:r>
              <a:rPr sz="1700" i="0" b="0">
                <a:solidFill>
                  <a:srgbClr val="CBD5E1"/>
                </a:solidFill>
                <a:latin typeface="Helvetica Neue"/>
              </a:rPr>
              <a:t>AGENTS.md is a router, not a manual</a:t>
            </a:r>
          </a:p>
          <a:p>
            <a:pPr algn="l">
              <a:lnSpc>
                <a:spcPct val="100000"/>
              </a:lnSpc>
              <a:spcBef>
                <a:spcPts val="1189"/>
              </a:spcBef>
            </a:pPr>
            <a:r>
              <a:rPr sz="1700" i="0" b="0">
                <a:solidFill>
                  <a:srgbClr val="CBD5E1"/>
                </a:solidFill>
                <a:latin typeface="Helvetica Neue"/>
              </a:rPr>
              <a:t>One feature at a time, passed by evidence</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fresh-session test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Repo as system of record</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notes/09-repo-as-system-of-record.md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52</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Open a new session with no chat history and ask five questions.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Every unanswered question gets guessed, and every new session guesses again.</a:t>
            </a:r>
          </a:p>
        </p:txBody>
      </p:sp>
      <p:graphicFrame>
        <p:nvGraphicFramePr>
          <p:cNvPr id="14" name="Table 13"/>
          <p:cNvGraphicFramePr>
            <a:graphicFrameLocks noGrp="1"/>
          </p:cNvGraphicFramePr>
          <p:nvPr/>
        </p:nvGraphicFramePr>
        <p:xfrm>
          <a:off x="502920" y="1985772"/>
          <a:ext cx="11185855" cy="2432304"/>
        </p:xfrm>
        <a:graphic>
          <a:graphicData uri="http://schemas.openxmlformats.org/drawingml/2006/table">
            <a:tbl>
              <a:tblPr firstRow="1" bandRow="1">
                <a:tableStyleId>{5940675A-B579-460E-94D1-54222C63F5DA}</a:tableStyleId>
              </a:tblPr>
              <a:tblGrid>
                <a:gridCol w="4474342"/>
                <a:gridCol w="6711513"/>
              </a:tblGrid>
              <a:tr h="405384">
                <a:tc>
                  <a:txBody>
                    <a:bodyPr wrap="square"/>
                    <a:lstStyle/>
                    <a:p>
                      <a:pPr>
                        <a:lnSpc>
                          <a:spcPct val="100000"/>
                        </a:lnSpc>
                      </a:pPr>
                      <a:r>
                        <a:rPr sz="1700" i="0" b="1">
                          <a:solidFill>
                            <a:srgbClr val="FFFFFF"/>
                          </a:solidFill>
                          <a:latin typeface="Helvetica Neue"/>
                        </a:rPr>
                        <a:t>Question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Answered by</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What is this system?</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AGENTS.md</a:t>
                      </a:r>
                      <a:r>
                        <a:rPr sz="1700" i="0" b="0">
                          <a:solidFill>
                            <a:srgbClr val="475569"/>
                          </a:solidFill>
                          <a:latin typeface="Helvetica Neue"/>
                        </a:rPr>
                        <a:t> / README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How is it organized?</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ARCHITECTURE.md</a:t>
                      </a:r>
                      <a:r>
                        <a:rPr sz="1700" i="0" b="0">
                          <a:solidFill>
                            <a:srgbClr val="475569"/>
                          </a:solidFill>
                          <a:latin typeface="Helvetica Neue"/>
                        </a:rPr>
                        <a:t>, module docs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How do I run it?</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init.sh</a:t>
                      </a:r>
                      <a:r>
                        <a:rPr sz="1700" i="0" b="0">
                          <a:solidFill>
                            <a:srgbClr val="475569"/>
                          </a:solidFill>
                          <a:latin typeface="Helvetica Neue"/>
                        </a:rPr>
                        <a:t>, Makefile, package scripts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How do I verify it?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Test, lint and check commands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Where are we now?</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Progress log, feature list, git history</a:t>
                      </a:r>
                    </a:p>
                  </a:txBody>
                  <a:tcPr marL="109728" marR="109728" marT="54864" marB="54864" anchor="ctr">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AGENTS.md is a router, not a manual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Progressive disclosure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notes/09-repo-as-system-of-record.md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53</a:t>
            </a:r>
          </a:p>
        </p:txBody>
      </p:sp>
      <p:sp>
        <p:nvSpPr>
          <p:cNvPr id="10" name="Rounded Rectangle 9"/>
          <p:cNvSpPr/>
          <p:nvPr/>
        </p:nvSpPr>
        <p:spPr>
          <a:xfrm>
            <a:off x="502920" y="1472184"/>
            <a:ext cx="6711513" cy="361187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MARKDOWN</a:t>
            </a:r>
          </a:p>
        </p:txBody>
      </p:sp>
      <p:sp>
        <p:nvSpPr>
          <p:cNvPr id="12" name="TextBox 11"/>
          <p:cNvSpPr txBox="1"/>
          <p:nvPr/>
        </p:nvSpPr>
        <p:spPr>
          <a:xfrm>
            <a:off x="731520" y="1883664"/>
            <a:ext cx="6254313" cy="29717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AGENTS.md</a:t>
            </a:r>
          </a:p>
          <a:p>
            <a:pPr algn="l">
              <a:lnSpc>
                <a:spcPct val="100000"/>
              </a:lnSpc>
            </a:pPr>
            <a:r>
              <a:rPr sz="1600" i="0" b="0">
                <a:solidFill>
                  <a:srgbClr val="E2E8F0"/>
                </a:solidFill>
                <a:latin typeface="Menlo"/>
              </a:rPr>
              <a:t>## Overview</a:t>
            </a:r>
          </a:p>
          <a:p>
            <a:pPr algn="l">
              <a:lnSpc>
                <a:spcPct val="100000"/>
              </a:lnSpc>
            </a:pPr>
            <a:r>
              <a:rPr sz="1600" i="0" b="0">
                <a:solidFill>
                  <a:srgbClr val="E2E8F0"/>
                </a:solidFill>
                <a:latin typeface="Menlo"/>
              </a:rPr>
              <a:t>Python 3.11 FastAPI backend, PostgreSQL 15.</a:t>
            </a:r>
          </a:p>
          <a:p>
            <a:pPr algn="l">
              <a:lnSpc>
                <a:spcPct val="100000"/>
              </a:lnSpc>
            </a:pPr>
            <a:r>
              <a:rPr sz="1600" i="0" b="0">
                <a:solidFill>
                  <a:srgbClr val="E2E8F0"/>
                </a:solidFill>
                <a:latin typeface="Menlo"/>
              </a:rPr>
              <a:t>## Quick start</a:t>
            </a:r>
          </a:p>
          <a:p>
            <a:pPr algn="l">
              <a:lnSpc>
                <a:spcPct val="100000"/>
              </a:lnSpc>
            </a:pPr>
            <a:r>
              <a:rPr sz="1600" i="0" b="0">
                <a:solidFill>
                  <a:srgbClr val="E2E8F0"/>
                </a:solidFill>
                <a:latin typeface="Menlo"/>
              </a:rPr>
              <a:t>Install: make setup · Test: make test</a:t>
            </a:r>
          </a:p>
          <a:p>
            <a:pPr algn="l">
              <a:lnSpc>
                <a:spcPct val="100000"/>
              </a:lnSpc>
            </a:pPr>
            <a:r>
              <a:rPr sz="1600" i="0" b="0">
                <a:solidFill>
                  <a:srgbClr val="E2E8F0"/>
                </a:solidFill>
                <a:latin typeface="Menlo"/>
              </a:rPr>
              <a:t>## Hard constraints      (top, ≤15, non-negotiable)</a:t>
            </a:r>
          </a:p>
          <a:p>
            <a:pPr algn="l">
              <a:lnSpc>
                <a:spcPct val="100000"/>
              </a:lnSpc>
            </a:pPr>
            <a:r>
              <a:rPr sz="1600" i="0" b="0">
                <a:solidFill>
                  <a:srgbClr val="E2E8F0"/>
                </a:solidFill>
                <a:latin typeface="Menlo"/>
              </a:rPr>
              <a:t>- All DB queries use parameterized SQLAlchemy 2.0</a:t>
            </a:r>
          </a:p>
          <a:p>
            <a:pPr algn="l">
              <a:lnSpc>
                <a:spcPct val="100000"/>
              </a:lnSpc>
            </a:pPr>
            <a:r>
              <a:rPr sz="1600" i="0" b="0">
                <a:solidFill>
                  <a:srgbClr val="E2E8F0"/>
                </a:solidFill>
                <a:latin typeface="Menlo"/>
              </a:rPr>
              <a:t>- All PRs pass pytest + mypy --strict + ruff</a:t>
            </a:r>
          </a:p>
          <a:p>
            <a:pPr algn="l">
              <a:lnSpc>
                <a:spcPct val="100000"/>
              </a:lnSpc>
            </a:pPr>
            <a:r>
              <a:rPr sz="1600" i="0" b="0">
                <a:solidFill>
                  <a:srgbClr val="E2E8F0"/>
                </a:solidFill>
                <a:latin typeface="Menlo"/>
              </a:rPr>
              <a:t>## Topic docs            (what + when to read)</a:t>
            </a:r>
          </a:p>
          <a:p>
            <a:pPr algn="l">
              <a:lnSpc>
                <a:spcPct val="100000"/>
              </a:lnSpc>
            </a:pPr>
            <a:r>
              <a:rPr sz="1600" i="0" b="0">
                <a:solidFill>
                  <a:srgbClr val="E2E8F0"/>
                </a:solidFill>
                <a:latin typeface="Menlo"/>
              </a:rPr>
              <a:t>- docs/api-patterns.md: when adding endpoints</a:t>
            </a:r>
          </a:p>
          <a:p>
            <a:pPr algn="l">
              <a:lnSpc>
                <a:spcPct val="100000"/>
              </a:lnSpc>
            </a:pPr>
            <a:r>
              <a:rPr sz="1600" i="0" b="0">
                <a:solidFill>
                  <a:srgbClr val="E2E8F0"/>
                </a:solidFill>
                <a:latin typeface="Menlo"/>
              </a:rPr>
              <a:t>- docs/database-rules.md: when touching DB code</a:t>
            </a:r>
          </a:p>
        </p:txBody>
      </p:sp>
      <p:sp>
        <p:nvSpPr>
          <p:cNvPr id="13" name="Rectangle 12"/>
          <p:cNvSpPr/>
          <p:nvPr/>
        </p:nvSpPr>
        <p:spPr>
          <a:xfrm>
            <a:off x="7580193" y="1604772"/>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Entry file </a:t>
            </a:r>
            <a:r>
              <a:rPr sz="1800" i="0" b="1">
                <a:solidFill>
                  <a:srgbClr val="1E293B"/>
                </a:solidFill>
                <a:latin typeface="Helvetica Neue"/>
              </a:rPr>
              <a:t>50–200 lines</a:t>
            </a:r>
            <a:r>
              <a:rPr sz="1800" i="0" b="0">
                <a:solidFill>
                  <a:srgbClr val="1E293B"/>
                </a:solidFill>
                <a:latin typeface="Helvetica Neue"/>
              </a:rPr>
              <a:t>; topic docs 50–150</a:t>
            </a:r>
          </a:p>
        </p:txBody>
      </p:sp>
      <p:sp>
        <p:nvSpPr>
          <p:cNvPr id="15" name="Rectangle 14"/>
          <p:cNvSpPr/>
          <p:nvPr/>
        </p:nvSpPr>
        <p:spPr>
          <a:xfrm>
            <a:off x="7580193" y="2345436"/>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Red lines at the top or bottom, never the middle (lost in the middle)</a:t>
            </a:r>
          </a:p>
        </p:txBody>
      </p:sp>
      <p:sp>
        <p:nvSpPr>
          <p:cNvPr id="17" name="Rectangle 16"/>
          <p:cNvSpPr/>
          <p:nvPr/>
        </p:nvSpPr>
        <p:spPr>
          <a:xfrm>
            <a:off x="7580193" y="3387852"/>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330098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Each rule records its source, scope and expiry</a:t>
            </a:r>
          </a:p>
        </p:txBody>
      </p:sp>
      <p:sp>
        <p:nvSpPr>
          <p:cNvPr id="19" name="Rectangle 18"/>
          <p:cNvSpPr/>
          <p:nvPr/>
        </p:nvSpPr>
        <p:spPr>
          <a:xfrm>
            <a:off x="7580193" y="4128515"/>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404164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Audit and delete dead rules like unused dependencies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One feature at a time, passed by evidence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Scope and done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notes/10-scope-and-done.md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Verified completion rate = verified ÷ activated. Under WIP = 1 it sits at </a:t>
            </a:r>
            <a:r>
              <a:rPr sz="1600" i="0" b="1">
                <a:solidFill>
                  <a:srgbClr val="1E3A5F"/>
                </a:solidFill>
                <a:latin typeface="Helvetica Neue"/>
              </a:rPr>
              <a:t>1.0</a:t>
            </a:r>
            <a:r>
              <a:rPr sz="1600" i="0" b="1">
                <a:solidFill>
                  <a:srgbClr val="1E3A5F"/>
                </a:solidFill>
                <a:latin typeface="Helvetica Neue"/>
              </a:rPr>
              <a:t> between features.</a:t>
            </a:r>
          </a:p>
        </p:txBody>
      </p:sp>
      <p:sp>
        <p:nvSpPr>
          <p:cNvPr id="13" name="Rounded Rectangle 12"/>
          <p:cNvSpPr/>
          <p:nvPr/>
        </p:nvSpPr>
        <p:spPr>
          <a:xfrm>
            <a:off x="2026767" y="1563624"/>
            <a:ext cx="2377440" cy="1205484"/>
          </a:xfrm>
          <a:prstGeom prst="roundRect">
            <a:avLst>
              <a:gd name="adj" fmla="val 12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not_started</a:t>
            </a:r>
          </a:p>
        </p:txBody>
      </p:sp>
      <p:cxnSp>
        <p:nvCxnSpPr>
          <p:cNvPr id="15" name="Connector 14"/>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90712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active</a:t>
            </a:r>
          </a:p>
          <a:p>
            <a:pPr algn="ctr">
              <a:lnSpc>
                <a:spcPct val="110000"/>
              </a:lnSpc>
            </a:pPr>
            <a:r>
              <a:rPr sz="1300" i="0" b="0">
                <a:solidFill>
                  <a:srgbClr val="E8F4F8"/>
                </a:solidFill>
                <a:latin typeface="Helvetica Neue"/>
              </a:rPr>
              <a:t>WIP = 1</a:t>
            </a:r>
          </a:p>
        </p:txBody>
      </p:sp>
      <p:cxnSp>
        <p:nvCxnSpPr>
          <p:cNvPr id="18" name="Connector 17"/>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passing</a:t>
            </a:r>
          </a:p>
          <a:p>
            <a:pPr algn="ctr">
              <a:lnSpc>
                <a:spcPct val="110000"/>
              </a:lnSpc>
            </a:pPr>
            <a:r>
              <a:rPr sz="1300" i="0" b="0">
                <a:solidFill>
                  <a:srgbClr val="E8F4F8"/>
                </a:solidFill>
                <a:latin typeface="Helvetica Neue"/>
              </a:rPr>
              <a:t>only via its verification run</a:t>
            </a:r>
          </a:p>
        </p:txBody>
      </p:sp>
      <p:sp>
        <p:nvSpPr>
          <p:cNvPr id="21" name="TextBox 20"/>
          <p:cNvSpPr txBox="1"/>
          <p:nvPr/>
        </p:nvSpPr>
        <p:spPr>
          <a:xfrm>
            <a:off x="502920" y="3089148"/>
            <a:ext cx="11185855" cy="2397252"/>
          </a:xfrm>
          <a:prstGeom prst="rect">
            <a:avLst/>
          </a:prstGeom>
          <a:noFill/>
        </p:spPr>
        <p:txBody>
          <a:bodyPr wrap="square" lIns="0" rIns="0" tIns="0" bIns="0" anchor="t">
            <a:noAutofit/>
          </a:bodyPr>
          <a:lstStyle/>
          <a:p>
            <a:pPr algn="ctr">
              <a:lnSpc>
                <a:spcPct val="110000"/>
              </a:lnSpc>
            </a:pPr>
            <a:r>
              <a:rPr sz="1530" i="0" b="0">
                <a:solidFill>
                  <a:srgbClr val="0F7490"/>
                </a:solidFill>
                <a:latin typeface="Menlo"/>
              </a:rPr>
              <a:t>blocked</a:t>
            </a:r>
            <a:r>
              <a:rPr sz="1700" i="0" b="0">
                <a:solidFill>
                  <a:srgbClr val="475569"/>
                </a:solidFill>
                <a:latin typeface="Helvetica Neue"/>
              </a:rPr>
              <a:t> hangs off active. A script flips the state; the agent requests verification, never edits the field.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pillar on one slide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55</a:t>
            </a:r>
          </a:p>
        </p:txBody>
      </p:sp>
      <p:sp>
        <p:nvSpPr>
          <p:cNvPr id="10" name="Rectangle 9"/>
          <p:cNvSpPr/>
          <p:nvPr/>
        </p:nvSpPr>
        <p:spPr>
          <a:xfrm>
            <a:off x="502920"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22128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Diagnose</a:t>
            </a:r>
          </a:p>
        </p:txBody>
      </p:sp>
      <p:sp>
        <p:nvSpPr>
          <p:cNvPr id="13" name="TextBox 12"/>
          <p:cNvSpPr txBox="1"/>
          <p:nvPr/>
        </p:nvSpPr>
        <p:spPr>
          <a:xfrm>
            <a:off x="777240"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Failures are configuration. Fix the harness before blaming the model, and ratchet every fix in.</a:t>
            </a:r>
          </a:p>
        </p:txBody>
      </p:sp>
      <p:sp>
        <p:nvSpPr>
          <p:cNvPr id="14" name="Rectangle 13"/>
          <p:cNvSpPr/>
          <p:nvPr/>
        </p:nvSpPr>
        <p:spPr>
          <a:xfrm>
            <a:off x="4322978"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2978" y="1472184"/>
            <a:ext cx="82296" cy="22128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Tools</a:t>
            </a:r>
          </a:p>
        </p:txBody>
      </p:sp>
      <p:sp>
        <p:nvSpPr>
          <p:cNvPr id="17" name="TextBox 16"/>
          <p:cNvSpPr txBox="1"/>
          <p:nvPr/>
        </p:nvSpPr>
        <p:spPr>
          <a:xfrm>
            <a:off x="4597298"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Write descriptions for a reader with no docs. Fewer, clearer tools. Gate only the irreversible.</a:t>
            </a:r>
          </a:p>
        </p:txBody>
      </p:sp>
      <p:sp>
        <p:nvSpPr>
          <p:cNvPr id="18" name="Rectangle 17"/>
          <p:cNvSpPr/>
          <p:nvPr/>
        </p:nvSpPr>
        <p:spPr>
          <a:xfrm>
            <a:off x="8143036"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43036" y="1472184"/>
            <a:ext cx="82296" cy="22128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Boundaries</a:t>
            </a:r>
          </a:p>
        </p:txBody>
      </p:sp>
      <p:sp>
        <p:nvSpPr>
          <p:cNvPr id="21" name="TextBox 20"/>
          <p:cNvSpPr txBox="1"/>
          <p:nvPr/>
        </p:nvSpPr>
        <p:spPr>
          <a:xfrm>
            <a:off x="8417356"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Must hold every time → hook, permission or schema. Test the gate; enumerate effects, not commands.</a:t>
            </a:r>
          </a:p>
        </p:txBody>
      </p:sp>
      <p:sp>
        <p:nvSpPr>
          <p:cNvPr id="22" name="Rectangle 21"/>
          <p:cNvSpPr/>
          <p:nvPr/>
        </p:nvSpPr>
        <p:spPr>
          <a:xfrm>
            <a:off x="502920"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959352"/>
            <a:ext cx="82296" cy="22128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Verification</a:t>
            </a:r>
          </a:p>
        </p:txBody>
      </p:sp>
      <p:sp>
        <p:nvSpPr>
          <p:cNvPr id="25" name="TextBox 24"/>
          <p:cNvSpPr txBox="1"/>
          <p:nvPr/>
        </p:nvSpPr>
        <p:spPr>
          <a:xfrm>
            <a:off x="777240"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Binary evals first. A separate, smarter evaluator. Two retries, then fix the spec.</a:t>
            </a:r>
          </a:p>
        </p:txBody>
      </p:sp>
      <p:sp>
        <p:nvSpPr>
          <p:cNvPr id="26" name="Rectangle 25"/>
          <p:cNvSpPr/>
          <p:nvPr/>
        </p:nvSpPr>
        <p:spPr>
          <a:xfrm>
            <a:off x="4322978"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22978" y="3959352"/>
            <a:ext cx="82296" cy="22128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7298"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Long horizons</a:t>
            </a:r>
          </a:p>
        </p:txBody>
      </p:sp>
      <p:sp>
        <p:nvSpPr>
          <p:cNvPr id="29" name="TextBox 28"/>
          <p:cNvSpPr txBox="1"/>
          <p:nvPr/>
        </p:nvSpPr>
        <p:spPr>
          <a:xfrm>
            <a:off x="4597298"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State in files. Handoffs that separate verified from assumed. Clean state is part of done.</a:t>
            </a:r>
          </a:p>
        </p:txBody>
      </p:sp>
      <p:sp>
        <p:nvSpPr>
          <p:cNvPr id="30" name="Rectangle 29"/>
          <p:cNvSpPr/>
          <p:nvPr/>
        </p:nvSpPr>
        <p:spPr>
          <a:xfrm>
            <a:off x="8143036"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43036" y="3959352"/>
            <a:ext cx="82296" cy="2212848"/>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7356"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Maturity</a:t>
            </a:r>
          </a:p>
        </p:txBody>
      </p:sp>
      <p:sp>
        <p:nvSpPr>
          <p:cNvPr id="33" name="TextBox 32"/>
          <p:cNvSpPr txBox="1"/>
          <p:nvPr/>
        </p:nvSpPr>
        <p:spPr>
          <a:xfrm>
            <a:off x="8417356"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Approve the plan. Fewest agents the task allows. Strip scaffolding on every model upgrade.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Harness implements loops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56</a:t>
            </a:r>
          </a:p>
        </p:txBody>
      </p:sp>
      <p:sp>
        <p:nvSpPr>
          <p:cNvPr id="10" name="Rectangle 9"/>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04 — Loop engineering:</a:t>
            </a:r>
            <a:r>
              <a:rPr sz="2000" i="0" b="0">
                <a:solidFill>
                  <a:srgbClr val="1E293B"/>
                </a:solidFill>
                <a:latin typeface="Helvetica Neue"/>
              </a:rPr>
              <a:t> the loops the harness runs, and how they improve themselves</a:t>
            </a:r>
          </a:p>
        </p:txBody>
      </p:sp>
      <p:sp>
        <p:nvSpPr>
          <p:cNvPr id="12" name="Rectangle 11"/>
          <p:cNvSpPr/>
          <p:nvPr/>
        </p:nvSpPr>
        <p:spPr>
          <a:xfrm>
            <a:off x="502920" y="23916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06 — Eval:</a:t>
            </a:r>
            <a:r>
              <a:rPr sz="2000" i="0" b="0">
                <a:solidFill>
                  <a:srgbClr val="1E293B"/>
                </a:solidFill>
                <a:latin typeface="Helvetica Neue"/>
              </a:rPr>
              <a:t> graders, calibration and pass^k, the binary evals every rule here depends on</a:t>
            </a:r>
          </a:p>
        </p:txBody>
      </p:sp>
      <p:sp>
        <p:nvSpPr>
          <p:cNvPr id="14" name="Rectangle 13"/>
          <p:cNvSpPr/>
          <p:nvPr/>
        </p:nvSpPr>
        <p:spPr>
          <a:xfrm>
            <a:off x="502920" y="321462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11810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Do the labs:</a:t>
            </a:r>
            <a:r>
              <a:rPr sz="2000" i="0" b="0">
                <a:solidFill>
                  <a:srgbClr val="1E293B"/>
                </a:solidFill>
                <a:latin typeface="Helvetica Neue"/>
              </a:rPr>
              <a:t> practice/exercises.md, six labs on a repo of your own</a:t>
            </a:r>
          </a:p>
        </p:txBody>
      </p:sp>
      <p:sp>
        <p:nvSpPr>
          <p:cNvPr id="16" name="Rectangle 15"/>
          <p:cNvSpPr/>
          <p:nvPr/>
        </p:nvSpPr>
        <p:spPr>
          <a:xfrm>
            <a:off x="502920" y="403758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941064"/>
            <a:ext cx="594403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Read:</a:t>
            </a:r>
            <a:r>
              <a:rPr sz="2000" i="0" b="0">
                <a:solidFill>
                  <a:srgbClr val="1E293B"/>
                </a:solidFill>
                <a:latin typeface="Helvetica Neue"/>
              </a:rPr>
              <a:t> Anthropic on long-running harnesses; OpenAI on harness engineering; Li, AI Agents in Depth</a:t>
            </a:r>
          </a:p>
        </p:txBody>
      </p:sp>
      <p:sp>
        <p:nvSpPr>
          <p:cNvPr id="18" name="Rectangle 17"/>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21" name="TextBox 20"/>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The model holds the intelligence; the harness makes it useful. When an agent fails, change the system around it, then make sure that failure can never happen again.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