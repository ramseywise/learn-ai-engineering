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6 of the AI-engineering course. It measures every layer below it: prompts, context, harness, loop. Four parts: what an eval is and what "correct" means, how to grade, how to apply it to agents and RAG, and how to decide from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01–03. Vocabulary first, then the specification problem, then the dataset. Most eval problems are specification problems, not grader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layer below has its own eval chapter on what to measure. This pillar owns how: the shared machinery. GitHub Copilot built its eval framework before the prompts and the UI.</a:t>
            </a:r>
          </a:p>
          <a:p/>
          <a:p>
            <a:r>
              <a:t>Source: notes/01-what-an-eval-is.md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under test is the whole harness: model, prompts, tools, routing, memory, loop. The eval harness runs the suite and treats the SUT as a black box with an entry point.</a:t>
            </a:r>
          </a:p>
          <a:p/>
          <a:p>
            <a:r>
              <a:t>Source: notes/01-what-an-eval-is.md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mental model from the README: task × k trials → trajectory + outcome → graders → scores → aggregate ± error bar → decision. Four questions in order: what is correct, which tasks, can the grader be trusted, is the difference real.</a:t>
            </a:r>
          </a:p>
          <a:p/>
          <a:p>
            <a:r>
              <a:t>Source: notes/01-what-an-eval-is.md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between sit deterministic graders inside an eval: given an output, is it valid JSON with a citations array. Deterministic check, non-deterministic input.</a:t>
            </a:r>
          </a:p>
          <a:p/>
          <a:p>
            <a:r>
              <a:t>Source: notes/01-what-an-eval-is.md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frontier moving by adding harder cases as old ones saturate (chapter 12). Also: offline evals are the lab, online evals the field. You need both.</a:t>
            </a:r>
          </a:p>
          <a:p/>
          <a:p>
            <a:r>
              <a:t>Source: notes/01-what-an-eval-is.md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answer sets thresholds. Cheap errors can ship at 90%; expensive ones need a lower error rate plus a fallback. Run the two-expert test literally: 20 outputs, two people, the written criteria. One named person (the "benevolent dictator") owns the final definition.</a:t>
            </a:r>
          </a:p>
          <a:p/>
          <a:p>
            <a:r>
              <a:t>Source: notes/02-defining-correct.md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first failure only: later ones are often caused by it and inflate the wrong category. Shankar et al. (2024) found criteria drift as people grade. That's how you discover the spec, so version the criteria.</a:t>
            </a:r>
          </a:p>
          <a:p/>
          <a:p>
            <a:r>
              <a:t>Source: notes/02-defining-correct.md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Dashboards aggregate by label, so renaming one breaks history. If a label could be fixed by retrieval or the prompt, split it. Include negative, boundary, out-of-scope and adversarial cases too: without negatives, "calls the tool more often" looks like an improvement.</a:t>
            </a:r>
          </a:p>
          <a:p/>
          <a:p>
            <a:r>
              <a:t>Source: notes/02-defining-correct.md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generate along dimensions (persona × intent × complexity), tuples first, then queries in a separate call, with a different model family from the one under test. Every production failure becomes a row: discovery set first, regression set once fixed.</a:t>
            </a:r>
          </a:p>
          <a:p/>
          <a:p>
            <a:r>
              <a:t>Source: notes/03-eval-datasets.md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expected source isn't in the index, scoring that row on retrieval measures your corpus, not your retriever. Ineligible rows appear only as a separate diagnostic slice.</a:t>
            </a:r>
          </a:p>
          <a:p/>
          <a:p>
            <a:r>
              <a:t>Source: notes/03-eval-datasets.md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Contamination tactics: unique answers (GAIA), parameterized templates, temporal freshness (SWE-bench-Live), canaries. Each works for a private set. Never paste eval rows into few-shot examples or fine-tuning data.</a:t>
            </a:r>
          </a:p>
          <a:p/>
          <a:p>
            <a:r>
              <a:t>Source: notes/03-eval-datasets.md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04–05. Use the simplest grader you can trust. Code first, a judge above that floor, people to calibrate both.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reach for a judge too early. Most systems have more checkable properties than they use: schema, tool names and arguments, citation IDs in the retrieved set, final DB state, language ID, forbidden tools, efficiency from the trace. BLEU and ROUGE correlate poorly with quality for open-ended answers.</a:t>
            </a:r>
          </a:p>
          <a:p/>
          <a:p>
            <a:r>
              <a:t>Source: notes/04-graders.md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grounding grader handed URLs instead of passage text should return "can't grade", not a made-up score. That single field prevents the most common grounding eval bug.</a:t>
            </a:r>
          </a:p>
          <a:p/>
          <a:p>
            <a:r>
              <a:t>Source: notes/04-graders.md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Release decisions must name which state each cited metric is in. Combining graders: binary all-pass for never-events, weighted where dimensions trade off, hybrid in most production systems, and always report the dimensions separately too.</a:t>
            </a:r>
          </a:p>
          <a:p/>
          <a:p>
            <a:r>
              <a:t>Source: notes/04-graders.md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 following Scale AI's Rubrics as Rewards: rubric items are expert-grounded, cover pitfalls, are weighted Essential / Important / Optional / Pitfall, and are self-contained so they can be checked without the grader's own expertise.</a:t>
            </a:r>
          </a:p>
          <a:p/>
          <a:p>
            <a:r>
              <a:t>Source: notes/04-graders.md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is a compact version of the DeepLearning.AI Evaluating AI Agents course's analysis-clarity judge (Lab 3). Phoenix's llm_classify with rails snaps output to the allowed labels. Decompose hard criteria: grounding claim by claim, completeness question by question.</a:t>
            </a:r>
          </a:p>
          <a:p/>
          <a:p>
            <a:r>
              <a:t>Source: notes/05-llm-as-judge.md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Self-preference gets worse when the agent is optimized against the judge: it learns that judge's blind spots. Multi-family judging is the mitigation.</a:t>
            </a:r>
          </a:p>
          <a:p/>
          <a:p>
            <a:r>
              <a:t>Source: notes/05-llm-as-judge.md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tune against the test split, it's a dev set. Re-calibrate when the judge model, judge prompt, system under test or user population changes. Pin the judge version.</a:t>
            </a:r>
          </a:p>
          <a:p/>
          <a:p>
            <a:r>
              <a:t>Source: notes/05-llm-as-judge.md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release gate needs high TNR; a golden-label builder needs high precision on PASS. If one judge can't do both, use two. Separation under 0.05 means the threshold is doing the work. The case study found off-the-shelf judges scoring disliked answers higher: inverted separation. Worked correction: judge passes 80%, TPR 0.95, TNR 0.70 gives 0.50 / 0.65 = 0.77.</a:t>
            </a:r>
          </a:p>
          <a:p/>
          <a:p>
            <a:r>
              <a:t>Source: notes/05-llm-as-judge.md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Chatbot Arena ranks models this way from millions of blind votes, but the ranking reflects what users happened to ask. Lab: practice/02-elo-leaderboard.</a:t>
            </a:r>
          </a:p>
          <a:p/>
          <a:p>
            <a:r>
              <a:t>Source: notes/05-llm-as-judge.md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06–08. Agents produce a path, RAG fails in stages, and traces are the raw material every grader reads.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recommends grading both the final environment state and the transcript. The reverse also happens: a flight agent found a cheaper fare via a policy loophole and failed a strict path check. Let trajectory checks enforce invariants, not one golden path.</a:t>
            </a:r>
          </a:p>
          <a:p/>
          <a:p>
            <a:r>
              <a:t>Source: notes/06-evaluating-agents.md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arguments separately from tool names, with per-argument rules: exact, normalized, numeric tolerance, any value, or a judge. Label expected calls from human-confirmed good traces, or bootstrap from routing metadata the system already logs.</a:t>
            </a:r>
          </a:p>
          <a:p/>
          <a:p>
            <a:r>
              <a:t>Source: notes/06-evaluating-agents.md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agent is a GPT-4o-mini router with function calling and three tools over a sales dataset. In multi-agent systems split routing evals (right sub-agent?) from domain evals (given correct routing, right tools and output?). Neither replaces the other.</a:t>
            </a:r>
          </a:p>
          <a:p/>
          <a:p>
            <a:r>
              <a:t>Source: notes/06-evaluating-agents.md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px.Client, SpanEvaluations and log_evaluations are legacy Phoenix APIs. The course fills the template's tool_definitions slot with string replace calls that turn JSON braces into quotes; pass the definitions as a template variable instead. The visualization check exec()s generated code: sandbox it, and note that "runs without raising" passes an empty chart.</a:t>
            </a:r>
          </a:p>
          <a:p/>
          <a:p>
            <a:r>
              <a:t>Source: notes/06-evaluating-agents.md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pass@k = 1 − (1 − p)^k, pass^k = p^k. Unbiased pass@k from n samples, c correct: 1 − C(n−c, k) / C(n, k) (Chen et al. 2021). τ-bench (Yao et al. 2024) introduced pass^k and showed agents fine at pass@1 falling sharply at pass^8. Also report the per-task pass-rate distribution: 70% flaky everywhere and 70% of tasks always passing need different fixes.</a:t>
            </a:r>
          </a:p>
          <a:p/>
          <a:p>
            <a:r>
              <a:t>Source: notes/06-evaluating-agents.md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is run_agent_and_track_path, the evaluator a CODE evaluator registered with create_evaluator, run through run_experiment and evaluate_experiment. Because the reference is the batch minimum, scores don't compare across agent versions unless you pin it.</a:t>
            </a:r>
          </a:p>
          <a:p/>
          <a:p>
            <a:r>
              <a:t>Source: notes/06-evaluating-agents.md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Prefix caching saves nearly half the input cost. Cost per success is the sustainability metric: at 50% success the real cost is 2× per run. RE-Bench (Wijk et al. 2025): at 2 hours the best agent scored about 4× human experts; at 32 hours humans scored about 2× the agent. Report a budget–capability curve, not one point.</a:t>
            </a:r>
          </a:p>
          <a:p/>
          <a:p>
            <a:r>
              <a:t>Source: notes/06-evaluating-agents.md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source wasn't retrieved, a bad answer is a retrieval failure. Expected sources are the expensive part: the doc an agent linked in the ticket, the source an approved answer cited, or a judge labeling relevance of retrieved chunks.</a:t>
            </a:r>
          </a:p>
          <a:p/>
          <a:p>
            <a:r>
              <a:t>Source: notes/07-evaluating-rag-and-grounding.md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Citations are cheap in code: every cited ID is in the retrieved set, quotes appear in the passage, every strict claim is cited. Then a judge for citation precision and recall (ALCE, Gao et al. 2023). Frameworks (RAGAS, ARES, DeepEval, Phoenix evals) get you started; gate on graders calibrated against your own labels.</a:t>
            </a:r>
          </a:p>
          <a:p/>
          <a:p>
            <a:r>
              <a:t>Source: notes/07-evaluating-rag-and-grounding.md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makes tracing Lab 2, before any evaluator. Use OpenTelemetry GenAI conventions (invoke_agent, chat, execute_tool; gen_ai.usage.input_tokens) or OpenInference, so you can switch backends. Six questions a trace must answer: what was asked and returned, which steps ran, what the model saw, which tools and results, where time and money went, which versions.</a:t>
            </a:r>
          </a:p>
          <a:p/>
          <a:p>
            <a:r>
              <a:t>Source: notes/08-tracing-and-observability.md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and online share graders: two implementations drift apart. Traces are also where cost lives: roll up per span, request, user and feature; watch cache hit rate and tail latency per step. Decide redaction, access and retention up front.</a:t>
            </a:r>
          </a:p>
          <a:p/>
          <a:p>
            <a:r>
              <a:t>Source: notes/08-tracing-and-observability.md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09–12. A score is an estimate from a sample. Put an error bar on it, gate on it in CI, keep measuring in production, and suspect the eval before the agent.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table in the chapter. For small n or p near 0 or 1 use the Wilson interval. With k trials per task, average within the task first, then compute SE across tasks. Clustered tasks need clustered standard errors.</a:t>
            </a:r>
          </a:p>
          <a:p/>
          <a:p>
            <a:r>
              <a:t>Source: notes/09-reading-results.md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paired range depends on how often the two versions disagree on the same task. Unpaired comparisons need noticeably more. Either grow the suite or stop deciding on 3-point gaps.</a:t>
            </a:r>
          </a:p>
          <a:p/>
          <a:p>
            <a:r>
              <a:t>Source: notes/09-reading-results.md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Miller, "Adding Error Bars to Evals" (Anthropic, 2024). Testing several fixes at once: at 95% each, the chance at least one of 6 is a false positive is 1 − 0.95^6 ≈ 26%.</a:t>
            </a:r>
          </a:p>
          <a:p/>
          <a:p>
            <a:r>
              <a:t>Source: notes/09-reading-results.md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lab's evaluate_sql_result compares only digits in the result, so 1,200 and 12.00 match, and returns True when the lookup tool wasn't called. Five evaluators run per experiment: function calling, SQL result, clarity, entity correctness, code runnable.</a:t>
            </a:r>
          </a:p>
          <a:p/>
          <a:p>
            <a:r>
              <a:t>Source: notes/09-reading-results.md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Simpson's paradox: B can beat A in every slice and lose overall if the slice mix differs. Slice 20 ways and one will be "significant" by chance; pre-register the slices that gate. Then read 10–20 flipped transcripts before accepting any change.</a:t>
            </a:r>
          </a:p>
          <a:p/>
          <a:p>
            <a:r>
              <a:t>Source: notes/09-reading-results.md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paper reports Mean@R next to pass@R (chapter 06) and shows partial-credit reward drifting from strict success (chapter 12).</a:t>
            </a:r>
          </a:p>
          <a:p/>
          <a:p>
            <a:r>
              <a:t>Source: notes/09-reading-results.md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KDD 2017 "Dirty Dozen": sample ratio mismatch (B errored on 8% and those rows were dropped), ratio metrics with changing denominators (grounding rose because B refuses more), novelty effects, ignoring the error bar.</a:t>
            </a:r>
          </a:p>
          <a:p/>
          <a:p>
            <a:r>
              <a:t>Source: notes/09-reading-results.md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eval job its own API key with a spend limit. Rate-limit concurrency or you'll grade 429s. Infra failures are their own count, never a task fail. Pin model IDs, judge versions and dataset version in results.jsonl.</a:t>
            </a:r>
          </a:p>
          <a:p/>
          <a:p>
            <a:r>
              <a:t>Source: notes/10-evals-in-ci.md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become an artifact: upload, diff against the last run, attach to the PR. Flakiness is visible because retries and infra errors are recorded in phase 1. The case study's harness splits every suite this way, with pytest assertions reading the rows.</a:t>
            </a:r>
          </a:p>
          <a:p/>
          <a:p>
            <a:r>
              <a:t>Source: notes/10-evals-in-ci.md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the baseline deliberately after a release, with the dataset and grader versions. Every gate emits the same JSON shape: metrics with CI and baseline, rows scored and ineligible, top failure labels, worst slices, and a next action. A gate that only says FAILED costs half a day.</a:t>
            </a:r>
          </a:p>
          <a:p/>
          <a:p>
            <a:r>
              <a:t>Source: notes/10-evals-in-ci.md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Ownership: an infra owner for the runner, CI, dashboards and cost; a criteria owner for pass/fail definitions and calibration sign-off; every engineer adds a row when they fix a bug.</a:t>
            </a:r>
          </a:p>
          <a:p/>
          <a:p>
            <a:r>
              <a:t>Source: notes/10-evals-in-ci.md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systems sit at level 0. 2 → 3 needs two things together: rows harvested from observed failures, and traces of every step. 3 → 4 runs the same graders on sampled live traffic.</a:t>
            </a:r>
          </a:p>
          <a:p/>
          <a:p>
            <a:r>
              <a:t>Source: notes/11-production-and-the-maturity-ladder.md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graders must be reference-free. Drift comes from model updates behind an alias, input shift, upstream API changes and corpus staleness: capture a launch baseline, run continuously, alert on rolling windows, and watch the input mix. Feedback is a sampling rule and a calibration label, not a metric to optimize; optimizing thumbs-up rewards flattery.</a:t>
            </a:r>
          </a:p>
          <a:p/>
          <a:p>
            <a:r>
              <a:t>Source: notes/11-production-and-the-maturity-ladder.md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 bugs that look like agent bugs: infra failures, grader bugs (regex too strict, URLs not text), broken tasks at 0% for every version, state leakage, stale references, version mismatch, dropped rows. Treat a 0% task as suspect.</a:t>
            </a:r>
          </a:p>
          <a:p/>
          <a:p>
            <a:r>
              <a:t>Source: notes/12-failure-modes.md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Bites hardest in automated loops, where an optimizer runs thousands of iterations against your grader. Saturated suites (near 100%) have stopped measuring: graduate them to regression and add harder tasks. Eval debt: thresholds never revisited, stale rows, a CI grader and a production grader that drifted apart.</a:t>
            </a:r>
          </a:p>
          <a:p/>
          <a:p>
            <a:r>
              <a:t>Source: notes/12-failure-modes.md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README.md#rules-of-thumb</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answer_relevancy went from Δ −0.080 at v2 to +0.214 at v3 on the same sample. The grounding cross-check failed for an eval reason: the judge got URLs, not passages. On the routing agent's staging traffic the same graders separated near zero.</a:t>
            </a:r>
          </a:p>
          <a:p/>
          <a:p>
            <a:r>
              <a:t>Source: notes/13-case-study-support-agent.md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Eval Engineering</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Measuring a non-deterministic system</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Criteria · Datasets · Graders · Judges</a:t>
            </a:r>
          </a:p>
          <a:p>
            <a:pPr algn="l">
              <a:lnSpc>
                <a:spcPct val="125000"/>
              </a:lnSpc>
            </a:pPr>
            <a:r>
              <a:rPr sz="1500" i="0" b="0">
                <a:solidFill>
                  <a:srgbClr val="94A3B8"/>
                </a:solidFill>
                <a:latin typeface="Helvetica Neue"/>
              </a:rPr>
              <a:t>Agents · RAG · Traces · Error bars · Gates · Production</a:t>
            </a:r>
          </a:p>
        </p:txBody>
      </p:sp>
      <p:sp>
        <p:nvSpPr>
          <p:cNvPr id="10" name="Rectangle 9"/>
          <p:cNvSpPr/>
          <p:nvPr/>
        </p:nvSpPr>
        <p:spPr>
          <a:xfrm>
            <a:off x="6492240" y="841247"/>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41247"/>
            <a:ext cx="91440" cy="1143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69263"/>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Foundations</a:t>
            </a:r>
          </a:p>
        </p:txBody>
      </p:sp>
      <p:sp>
        <p:nvSpPr>
          <p:cNvPr id="13" name="TextBox 12"/>
          <p:cNvSpPr txBox="1"/>
          <p:nvPr/>
        </p:nvSpPr>
        <p:spPr>
          <a:xfrm>
            <a:off x="6766560" y="1282318"/>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What an eval is · Defining correct · Datasets</a:t>
            </a:r>
          </a:p>
        </p:txBody>
      </p:sp>
      <p:sp>
        <p:nvSpPr>
          <p:cNvPr id="14" name="Rectangle 13"/>
          <p:cNvSpPr/>
          <p:nvPr/>
        </p:nvSpPr>
        <p:spPr>
          <a:xfrm>
            <a:off x="6492240" y="2185415"/>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2185415"/>
            <a:ext cx="91440"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313432"/>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Grading</a:t>
            </a:r>
          </a:p>
        </p:txBody>
      </p:sp>
      <p:sp>
        <p:nvSpPr>
          <p:cNvPr id="17" name="TextBox 16"/>
          <p:cNvSpPr txBox="1"/>
          <p:nvPr/>
        </p:nvSpPr>
        <p:spPr>
          <a:xfrm>
            <a:off x="6766560" y="2626487"/>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Graders · LLM-as-judge and calibration</a:t>
            </a:r>
          </a:p>
        </p:txBody>
      </p:sp>
      <p:sp>
        <p:nvSpPr>
          <p:cNvPr id="18" name="Rectangle 17"/>
          <p:cNvSpPr/>
          <p:nvPr/>
        </p:nvSpPr>
        <p:spPr>
          <a:xfrm>
            <a:off x="6492240" y="3529583"/>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3529583"/>
            <a:ext cx="91440" cy="1143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657599"/>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Applying it</a:t>
            </a:r>
          </a:p>
        </p:txBody>
      </p:sp>
      <p:sp>
        <p:nvSpPr>
          <p:cNvPr id="21" name="TextBox 20"/>
          <p:cNvSpPr txBox="1"/>
          <p:nvPr/>
        </p:nvSpPr>
        <p:spPr>
          <a:xfrm>
            <a:off x="6766560" y="3970655"/>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Agents · RAG and grounding · Tracing</a:t>
            </a:r>
          </a:p>
        </p:txBody>
      </p:sp>
      <p:sp>
        <p:nvSpPr>
          <p:cNvPr id="22" name="Rectangle 21"/>
          <p:cNvSpPr/>
          <p:nvPr/>
        </p:nvSpPr>
        <p:spPr>
          <a:xfrm>
            <a:off x="6492240" y="4873752"/>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873752"/>
            <a:ext cx="91440" cy="1143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5001768"/>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Deciding</a:t>
            </a:r>
          </a:p>
        </p:txBody>
      </p:sp>
      <p:sp>
        <p:nvSpPr>
          <p:cNvPr id="25" name="TextBox 24"/>
          <p:cNvSpPr txBox="1"/>
          <p:nvPr/>
        </p:nvSpPr>
        <p:spPr>
          <a:xfrm>
            <a:off x="6766560" y="5314823"/>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Reading results · CI gates · Production · Failure modes</a:t>
            </a:r>
          </a:p>
        </p:txBody>
      </p:sp>
      <p:sp>
        <p:nvSpPr>
          <p:cNvPr id="26" name="TextBox 25"/>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ai-engineering/06-eval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Foundations</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What an eval is · Defining correct · Datasets</a:t>
            </a:r>
          </a:p>
        </p:txBody>
      </p:sp>
      <p:cxnSp>
        <p:nvCxnSpPr>
          <p:cNvPr id="6" name="Connector 5"/>
          <p:cNvCxnSpPr/>
          <p:nvPr/>
        </p:nvCxnSpPr>
        <p:spPr>
          <a:xfrm>
            <a:off x="6446520" y="1118870"/>
            <a:ext cx="0" cy="462026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118870"/>
            <a:ext cx="4693615" cy="480314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thesis</a:t>
            </a:r>
          </a:p>
          <a:p>
            <a:pPr algn="l">
              <a:lnSpc>
                <a:spcPct val="100000"/>
              </a:lnSpc>
              <a:spcBef>
                <a:spcPts val="1189"/>
              </a:spcBef>
            </a:pPr>
            <a:r>
              <a:rPr sz="1700" i="0" b="0">
                <a:solidFill>
                  <a:srgbClr val="CBD5E1"/>
                </a:solidFill>
                <a:latin typeface="Helvetica Neue"/>
              </a:rPr>
              <a:t>Six parts, many names</a:t>
            </a:r>
          </a:p>
          <a:p>
            <a:pPr algn="l">
              <a:lnSpc>
                <a:spcPct val="100000"/>
              </a:lnSpc>
              <a:spcBef>
                <a:spcPts val="1189"/>
              </a:spcBef>
            </a:pPr>
            <a:r>
              <a:rPr sz="1700" i="0" b="0">
                <a:solidFill>
                  <a:srgbClr val="CBD5E1"/>
                </a:solidFill>
                <a:latin typeface="Helvetica Neue"/>
              </a:rPr>
              <a:t>The core flow</a:t>
            </a:r>
          </a:p>
          <a:p>
            <a:pPr algn="l">
              <a:lnSpc>
                <a:spcPct val="100000"/>
              </a:lnSpc>
              <a:spcBef>
                <a:spcPts val="1189"/>
              </a:spcBef>
            </a:pPr>
            <a:r>
              <a:rPr sz="1700" i="0" b="0">
                <a:solidFill>
                  <a:srgbClr val="CBD5E1"/>
                </a:solidFill>
                <a:latin typeface="Helvetica Neue"/>
              </a:rPr>
              <a:t>Tests gate merges, evals measure rates</a:t>
            </a:r>
          </a:p>
          <a:p>
            <a:pPr algn="l">
              <a:lnSpc>
                <a:spcPct val="100000"/>
              </a:lnSpc>
              <a:spcBef>
                <a:spcPts val="1189"/>
              </a:spcBef>
            </a:pPr>
            <a:r>
              <a:rPr sz="1700" i="0" b="0">
                <a:solidFill>
                  <a:srgbClr val="CBD5E1"/>
                </a:solidFill>
                <a:latin typeface="Helvetica Neue"/>
              </a:rPr>
              <a:t>Capability vs. regression suites</a:t>
            </a:r>
          </a:p>
          <a:p>
            <a:pPr algn="l">
              <a:lnSpc>
                <a:spcPct val="100000"/>
              </a:lnSpc>
              <a:spcBef>
                <a:spcPts val="1189"/>
              </a:spcBef>
            </a:pPr>
            <a:r>
              <a:rPr sz="1700" i="0" b="0">
                <a:solidFill>
                  <a:srgbClr val="CBD5E1"/>
                </a:solidFill>
                <a:latin typeface="Helvetica Neue"/>
              </a:rPr>
              <a:t>Write success down before any code</a:t>
            </a:r>
          </a:p>
          <a:p>
            <a:pPr algn="l">
              <a:lnSpc>
                <a:spcPct val="100000"/>
              </a:lnSpc>
              <a:spcBef>
                <a:spcPts val="1189"/>
              </a:spcBef>
            </a:pPr>
            <a:r>
              <a:rPr sz="1700" i="0" b="0">
                <a:solidFill>
                  <a:srgbClr val="CBD5E1"/>
                </a:solidFill>
                <a:latin typeface="Helvetica Neue"/>
              </a:rPr>
              <a:t>Find failure modes by reading</a:t>
            </a:r>
          </a:p>
          <a:p>
            <a:pPr algn="l">
              <a:lnSpc>
                <a:spcPct val="100000"/>
              </a:lnSpc>
              <a:spcBef>
                <a:spcPts val="1189"/>
              </a:spcBef>
            </a:pPr>
            <a:r>
              <a:rPr sz="1700" i="0" b="0">
                <a:solidFill>
                  <a:srgbClr val="CBD5E1"/>
                </a:solidFill>
                <a:latin typeface="Helvetica Neue"/>
              </a:rPr>
              <a:t>The failure taxonomy, ordered by stage</a:t>
            </a:r>
          </a:p>
          <a:p>
            <a:pPr algn="l">
              <a:lnSpc>
                <a:spcPct val="100000"/>
              </a:lnSpc>
              <a:spcBef>
                <a:spcPts val="1189"/>
              </a:spcBef>
            </a:pPr>
            <a:r>
              <a:rPr sz="1700" i="0" b="0">
                <a:solidFill>
                  <a:srgbClr val="CBD5E1"/>
                </a:solidFill>
                <a:latin typeface="Helvetica Neue"/>
              </a:rPr>
              <a:t>Start small and real, grow by stage</a:t>
            </a:r>
          </a:p>
          <a:p>
            <a:pPr algn="l">
              <a:lnSpc>
                <a:spcPct val="100000"/>
              </a:lnSpc>
              <a:spcBef>
                <a:spcPts val="1189"/>
              </a:spcBef>
            </a:pPr>
            <a:r>
              <a:rPr sz="1700" i="0" b="0">
                <a:solidFill>
                  <a:srgbClr val="CBD5E1"/>
                </a:solidFill>
                <a:latin typeface="Helvetica Neue"/>
              </a:rPr>
              <a:t>Is this row fair for this gate?</a:t>
            </a:r>
          </a:p>
          <a:p>
            <a:pPr algn="l">
              <a:lnSpc>
                <a:spcPct val="100000"/>
              </a:lnSpc>
              <a:spcBef>
                <a:spcPts val="1189"/>
              </a:spcBef>
            </a:pPr>
            <a:r>
              <a:rPr sz="1700" i="0" b="0">
                <a:solidFill>
                  <a:srgbClr val="CBD5E1"/>
                </a:solidFill>
                <a:latin typeface="Helvetica Neue"/>
              </a:rPr>
              <a:t>What public benchmarks teach private suites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thesis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Why evals are their own discipline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notes/01-what-an-eval-is.md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777240" y="266547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66547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An eval is the definition of "better" for your system, written down so a machine can check it.</a:t>
            </a:r>
          </a:p>
        </p:txBody>
      </p:sp>
      <p:sp>
        <p:nvSpPr>
          <p:cNvPr id="12" name="TextBox 11"/>
          <p:cNvSpPr txBox="1"/>
          <p:nvPr/>
        </p:nvSpPr>
        <p:spPr>
          <a:xfrm>
            <a:off x="1234440" y="461314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Without it, every change to a prompt, model, tool or retrieval config is a guess.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Six parts, many names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vocabulary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notes/01-what-an-eval-is.md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Anthropic, LangSmith, OpenAI and Inspect use different words for the same parts.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Inspect's split: a Task = dataset + solver (the system) + scorer. Keep the three swappable.</a:t>
            </a:r>
          </a:p>
        </p:txBody>
      </p:sp>
      <p:graphicFrame>
        <p:nvGraphicFramePr>
          <p:cNvPr id="14" name="Table 13"/>
          <p:cNvGraphicFramePr>
            <a:graphicFrameLocks noGrp="1"/>
          </p:cNvGraphicFramePr>
          <p:nvPr/>
        </p:nvGraphicFramePr>
        <p:xfrm>
          <a:off x="502920" y="1985772"/>
          <a:ext cx="11185854" cy="2852928"/>
        </p:xfrm>
        <a:graphic>
          <a:graphicData uri="http://schemas.openxmlformats.org/drawingml/2006/table">
            <a:tbl>
              <a:tblPr firstRow="1" bandRow="1">
                <a:tableStyleId>{5940675A-B579-460E-94D1-54222C63F5DA}</a:tableStyleId>
              </a:tblPr>
              <a:tblGrid>
                <a:gridCol w="1864309"/>
                <a:gridCol w="5825966"/>
                <a:gridCol w="3495579"/>
              </a:tblGrid>
              <a:tr h="374904">
                <a:tc>
                  <a:txBody>
                    <a:bodyPr wrap="square"/>
                    <a:lstStyle/>
                    <a:p>
                      <a:pPr>
                        <a:lnSpc>
                          <a:spcPct val="100000"/>
                        </a:lnSpc>
                      </a:pPr>
                      <a:r>
                        <a:rPr sz="1500" i="0" b="1">
                          <a:solidFill>
                            <a:srgbClr val="FFFFFF"/>
                          </a:solidFill>
                          <a:latin typeface="Helvetica Neue"/>
                        </a:rPr>
                        <a:t>Term</a:t>
                      </a:r>
                    </a:p>
                  </a:txBody>
                  <a:tcPr marL="109728" marR="109728" marT="54864" marB="54864" anchor="ctr">
                    <a:solidFill>
                      <a:srgbClr val="1E3A5F"/>
                    </a:solidFill>
                  </a:tcPr>
                </a:tc>
                <a:tc>
                  <a:txBody>
                    <a:bodyPr wrap="square"/>
                    <a:lstStyle/>
                    <a:p>
                      <a:pPr>
                        <a:lnSpc>
                          <a:spcPct val="100000"/>
                        </a:lnSpc>
                      </a:pPr>
                      <a:r>
                        <a:rPr sz="1500" i="0" b="1">
                          <a:solidFill>
                            <a:srgbClr val="FFFFFF"/>
                          </a:solidFill>
                          <a:latin typeface="Helvetica Neue"/>
                        </a:rPr>
                        <a:t>What it is</a:t>
                      </a:r>
                    </a:p>
                  </a:txBody>
                  <a:tcPr marL="109728" marR="109728" marT="54864" marB="54864" anchor="ctr">
                    <a:solidFill>
                      <a:srgbClr val="1E3A5F"/>
                    </a:solidFill>
                  </a:tcPr>
                </a:tc>
                <a:tc>
                  <a:txBody>
                    <a:bodyPr wrap="square"/>
                    <a:lstStyle/>
                    <a:p>
                      <a:pPr>
                        <a:lnSpc>
                          <a:spcPct val="100000"/>
                        </a:lnSpc>
                      </a:pPr>
                      <a:r>
                        <a:rPr sz="1500" i="0" b="1">
                          <a:solidFill>
                            <a:srgbClr val="FFFFFF"/>
                          </a:solidFill>
                          <a:latin typeface="Helvetica Neue"/>
                        </a:rPr>
                        <a:t>Also called</a:t>
                      </a:r>
                    </a:p>
                  </a:txBody>
                  <a:tcPr marL="109728" marR="109728" marT="54864" marB="54864" anchor="ctr">
                    <a:solidFill>
                      <a:srgbClr val="1E3A5F"/>
                    </a:solidFill>
                  </a:tcPr>
                </a:tc>
              </a:tr>
              <a:tr h="374904">
                <a:tc>
                  <a:txBody>
                    <a:bodyPr wrap="square"/>
                    <a:lstStyle/>
                    <a:p>
                      <a:pPr>
                        <a:lnSpc>
                          <a:spcPct val="100000"/>
                        </a:lnSpc>
                      </a:pPr>
                      <a:r>
                        <a:rPr sz="1500" i="0" b="1">
                          <a:solidFill>
                            <a:srgbClr val="1E293B"/>
                          </a:solidFill>
                          <a:latin typeface="Helvetica Neue"/>
                        </a:rPr>
                        <a:t>Task</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One test: an input plus success criteria</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case, example, row</a:t>
                      </a:r>
                    </a:p>
                  </a:txBody>
                  <a:tcPr marL="109728" marR="109728" marT="54864" marB="54864" anchor="ctr">
                    <a:solidFill>
                      <a:srgbClr val="FFFFFF"/>
                    </a:solidFill>
                  </a:tcPr>
                </a:tc>
              </a:tr>
              <a:tr h="374904">
                <a:tc>
                  <a:txBody>
                    <a:bodyPr wrap="square"/>
                    <a:lstStyle/>
                    <a:p>
                      <a:pPr>
                        <a:lnSpc>
                          <a:spcPct val="100000"/>
                        </a:lnSpc>
                      </a:pPr>
                      <a:r>
                        <a:rPr sz="1500" i="0" b="1">
                          <a:solidFill>
                            <a:srgbClr val="1E293B"/>
                          </a:solidFill>
                          <a:latin typeface="Helvetica Neue"/>
                        </a:rPr>
                        <a:t>Trial</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One attempt at a task. Outputs vary, so several per task</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run, epoch</a:t>
                      </a:r>
                    </a:p>
                  </a:txBody>
                  <a:tcPr marL="109728" marR="109728" marT="54864" marB="54864" anchor="ctr">
                    <a:solidFill>
                      <a:srgbClr val="F8FAFC"/>
                    </a:solidFill>
                  </a:tcPr>
                </a:tc>
              </a:tr>
              <a:tr h="603504">
                <a:tc>
                  <a:txBody>
                    <a:bodyPr wrap="square"/>
                    <a:lstStyle/>
                    <a:p>
                      <a:pPr>
                        <a:lnSpc>
                          <a:spcPct val="100000"/>
                        </a:lnSpc>
                      </a:pPr>
                      <a:r>
                        <a:rPr sz="1500" i="0" b="1">
                          <a:solidFill>
                            <a:srgbClr val="1E293B"/>
                          </a:solidFill>
                          <a:latin typeface="Helvetica Neue"/>
                        </a:rPr>
                        <a:t>Trajectory</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The full record: messages, tool calls, intermediate results</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trace, transcript</a:t>
                      </a:r>
                    </a:p>
                  </a:txBody>
                  <a:tcPr marL="109728" marR="109728" marT="54864" marB="54864" anchor="ctr">
                    <a:solidFill>
                      <a:srgbClr val="FFFFFF"/>
                    </a:solidFill>
                  </a:tcPr>
                </a:tc>
              </a:tr>
              <a:tr h="374904">
                <a:tc>
                  <a:txBody>
                    <a:bodyPr wrap="square"/>
                    <a:lstStyle/>
                    <a:p>
                      <a:pPr>
                        <a:lnSpc>
                          <a:spcPct val="100000"/>
                        </a:lnSpc>
                      </a:pPr>
                      <a:r>
                        <a:rPr sz="1500" i="0" b="1">
                          <a:solidFill>
                            <a:srgbClr val="1E293B"/>
                          </a:solidFill>
                          <a:latin typeface="Helvetica Neue"/>
                        </a:rPr>
                        <a:t>Outcome</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The end state: the answer, the file system, the DB row</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final response</a:t>
                      </a:r>
                    </a:p>
                  </a:txBody>
                  <a:tcPr marL="109728" marR="109728" marT="54864" marB="54864" anchor="ctr">
                    <a:solidFill>
                      <a:srgbClr val="F8FAFC"/>
                    </a:solidFill>
                  </a:tcPr>
                </a:tc>
              </a:tr>
              <a:tr h="374904">
                <a:tc>
                  <a:txBody>
                    <a:bodyPr wrap="square"/>
                    <a:lstStyle/>
                    <a:p>
                      <a:pPr>
                        <a:lnSpc>
                          <a:spcPct val="100000"/>
                        </a:lnSpc>
                      </a:pPr>
                      <a:r>
                        <a:rPr sz="1500" i="0" b="1">
                          <a:solidFill>
                            <a:srgbClr val="1E293B"/>
                          </a:solidFill>
                          <a:latin typeface="Helvetica Neue"/>
                        </a:rPr>
                        <a:t>Grader</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Code, a model or a person scoring one aspect of a trial</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evaluator, judge, metric</a:t>
                      </a:r>
                    </a:p>
                  </a:txBody>
                  <a:tcPr marL="109728" marR="109728" marT="54864" marB="54864" anchor="ctr">
                    <a:solidFill>
                      <a:srgbClr val="FFFFFF"/>
                    </a:solidFill>
                  </a:tcPr>
                </a:tc>
              </a:tr>
              <a:tr h="374904">
                <a:tc>
                  <a:txBody>
                    <a:bodyPr wrap="square"/>
                    <a:lstStyle/>
                    <a:p>
                      <a:pPr>
                        <a:lnSpc>
                          <a:spcPct val="100000"/>
                        </a:lnSpc>
                      </a:pPr>
                      <a:r>
                        <a:rPr sz="1500" i="0" b="1">
                          <a:solidFill>
                            <a:srgbClr val="1E293B"/>
                          </a:solidFill>
                          <a:latin typeface="Helvetica Neue"/>
                        </a:rPr>
                        <a:t>Suite</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Tasks run together for a system-level picture</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eval set, benchmark</a:t>
                      </a:r>
                    </a:p>
                  </a:txBody>
                  <a:tcPr marL="109728" marR="109728" marT="54864" marB="54864" anchor="ctr">
                    <a:solidFill>
                      <a:srgbClr val="F8FA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core flow</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Every chapter is one arrow</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notes/01-what-an-eval-is.md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10" name="Rounded Rectangle 9"/>
          <p:cNvSpPr/>
          <p:nvPr/>
        </p:nvSpPr>
        <p:spPr>
          <a:xfrm>
            <a:off x="502920" y="1563624"/>
            <a:ext cx="1834835" cy="1272540"/>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Task</a:t>
            </a:r>
          </a:p>
          <a:p>
            <a:pPr algn="ctr">
              <a:lnSpc>
                <a:spcPct val="110000"/>
              </a:lnSpc>
            </a:pPr>
            <a:r>
              <a:rPr sz="1300" i="0" b="0">
                <a:solidFill>
                  <a:srgbClr val="E8F4F8"/>
                </a:solidFill>
                <a:latin typeface="Helvetica Neue"/>
              </a:rPr>
              <a:t>from the suite</a:t>
            </a:r>
          </a:p>
        </p:txBody>
      </p:sp>
      <p:cxnSp>
        <p:nvCxnSpPr>
          <p:cNvPr id="12" name="Connector 11"/>
          <p:cNvCxnSpPr/>
          <p:nvPr/>
        </p:nvCxnSpPr>
        <p:spPr>
          <a:xfrm>
            <a:off x="2392619"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40675" y="1563624"/>
            <a:ext cx="1834835" cy="1272540"/>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7835"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Run SUT</a:t>
            </a:r>
          </a:p>
          <a:p>
            <a:pPr algn="ctr">
              <a:lnSpc>
                <a:spcPct val="110000"/>
              </a:lnSpc>
            </a:pPr>
            <a:r>
              <a:rPr sz="1300" i="0" b="0">
                <a:solidFill>
                  <a:srgbClr val="E8F4F8"/>
                </a:solidFill>
                <a:latin typeface="Helvetica Neue"/>
              </a:rPr>
              <a:t>k trials</a:t>
            </a:r>
          </a:p>
        </p:txBody>
      </p:sp>
      <p:cxnSp>
        <p:nvCxnSpPr>
          <p:cNvPr id="15" name="Connector 14"/>
          <p:cNvCxnSpPr/>
          <p:nvPr/>
        </p:nvCxnSpPr>
        <p:spPr>
          <a:xfrm>
            <a:off x="4730374"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78430" y="1563624"/>
            <a:ext cx="1834835" cy="1272540"/>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5590"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Trajectory + outcome</a:t>
            </a:r>
          </a:p>
          <a:p>
            <a:pPr algn="ctr">
              <a:lnSpc>
                <a:spcPct val="110000"/>
              </a:lnSpc>
            </a:pPr>
            <a:r>
              <a:rPr sz="1300" i="0" b="0">
                <a:solidFill>
                  <a:srgbClr val="E8F4F8"/>
                </a:solidFill>
                <a:latin typeface="Helvetica Neue"/>
              </a:rPr>
              <a:t>captured per trial</a:t>
            </a:r>
          </a:p>
        </p:txBody>
      </p:sp>
      <p:cxnSp>
        <p:nvCxnSpPr>
          <p:cNvPr id="18" name="Connector 17"/>
          <p:cNvCxnSpPr/>
          <p:nvPr/>
        </p:nvCxnSpPr>
        <p:spPr>
          <a:xfrm>
            <a:off x="7068129"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16185" y="1563624"/>
            <a:ext cx="1834835" cy="1272540"/>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345"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Graders</a:t>
            </a:r>
          </a:p>
          <a:p>
            <a:pPr algn="ctr">
              <a:lnSpc>
                <a:spcPct val="110000"/>
              </a:lnSpc>
            </a:pPr>
            <a:r>
              <a:rPr sz="1300" i="0" b="0">
                <a:solidFill>
                  <a:srgbClr val="E8F4F8"/>
                </a:solidFill>
                <a:latin typeface="Helvetica Neue"/>
              </a:rPr>
              <a:t>one per dimension</a:t>
            </a:r>
          </a:p>
        </p:txBody>
      </p:sp>
      <p:cxnSp>
        <p:nvCxnSpPr>
          <p:cNvPr id="21" name="Connector 20"/>
          <p:cNvCxnSpPr/>
          <p:nvPr/>
        </p:nvCxnSpPr>
        <p:spPr>
          <a:xfrm>
            <a:off x="9405884"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53940" y="1563624"/>
            <a:ext cx="1834835"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1100"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Aggregate</a:t>
            </a:r>
          </a:p>
          <a:p>
            <a:pPr algn="ctr">
              <a:lnSpc>
                <a:spcPct val="110000"/>
              </a:lnSpc>
            </a:pPr>
            <a:r>
              <a:rPr sz="1300" i="0" b="0">
                <a:solidFill>
                  <a:srgbClr val="E8F4F8"/>
                </a:solidFill>
                <a:latin typeface="Helvetica Neue"/>
              </a:rPr>
              <a:t>± error bar → decision</a:t>
            </a:r>
          </a:p>
        </p:txBody>
      </p:sp>
      <p:sp>
        <p:nvSpPr>
          <p:cNvPr id="24" name="TextBox 23"/>
          <p:cNvSpPr txBox="1"/>
          <p:nvPr/>
        </p:nvSpPr>
        <p:spPr>
          <a:xfrm>
            <a:off x="502920" y="3156204"/>
            <a:ext cx="11185855" cy="3061715"/>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Chapters 02–12 are each about doing one of these arrows well.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Tests gate merges, evals measure rates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test / eval seam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notes/01-what-an-eval-is.md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Draw the line by determinism.</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Never assert an exact LLM string in a unit test. It flakes, then gets loosened until it checks nothing.</a:t>
            </a:r>
          </a:p>
        </p:txBody>
      </p:sp>
      <p:sp>
        <p:nvSpPr>
          <p:cNvPr id="14" name="Rectangle 13"/>
          <p:cNvSpPr/>
          <p:nvPr/>
        </p:nvSpPr>
        <p:spPr>
          <a:xfrm>
            <a:off x="502920"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985772"/>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985772"/>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Unit test</a:t>
            </a:r>
          </a:p>
        </p:txBody>
      </p:sp>
      <p:sp>
        <p:nvSpPr>
          <p:cNvPr id="17" name="Rectangle 16"/>
          <p:cNvSpPr/>
          <p:nvPr/>
        </p:nvSpPr>
        <p:spPr>
          <a:xfrm>
            <a:off x="731520" y="282676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74472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Deterministic behavior: rendering, schemas, retries, routing tables</a:t>
            </a:r>
          </a:p>
        </p:txBody>
      </p:sp>
      <p:sp>
        <p:nvSpPr>
          <p:cNvPr id="19" name="Rectangle 18"/>
          <p:cNvSpPr/>
          <p:nvPr/>
        </p:nvSpPr>
        <p:spPr>
          <a:xfrm>
            <a:off x="731520" y="3526282"/>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44424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Asserts exact values. Pass or fail</a:t>
            </a:r>
          </a:p>
        </p:txBody>
      </p:sp>
      <p:sp>
        <p:nvSpPr>
          <p:cNvPr id="21" name="Rectangle 20"/>
          <p:cNvSpPr/>
          <p:nvPr/>
        </p:nvSpPr>
        <p:spPr>
          <a:xfrm>
            <a:off x="731520" y="3940810"/>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58768"/>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Mock the model here</a:t>
            </a:r>
          </a:p>
        </p:txBody>
      </p:sp>
      <p:sp>
        <p:nvSpPr>
          <p:cNvPr id="23" name="Rectangle 22"/>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"retry fires 3 times on 429"</a:t>
            </a:r>
          </a:p>
        </p:txBody>
      </p:sp>
      <p:sp>
        <p:nvSpPr>
          <p:cNvPr id="25" name="Rectangle 24"/>
          <p:cNvSpPr/>
          <p:nvPr/>
        </p:nvSpPr>
        <p:spPr>
          <a:xfrm>
            <a:off x="6278727"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78727" y="1985772"/>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7327" y="1985772"/>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Eval</a:t>
            </a:r>
          </a:p>
        </p:txBody>
      </p:sp>
      <p:sp>
        <p:nvSpPr>
          <p:cNvPr id="28" name="Rectangle 27"/>
          <p:cNvSpPr/>
          <p:nvPr/>
        </p:nvSpPr>
        <p:spPr>
          <a:xfrm>
            <a:off x="6507327" y="282676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74472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Non-deterministic behavior: quality, grounding, task success</a:t>
            </a:r>
          </a:p>
        </p:txBody>
      </p:sp>
      <p:sp>
        <p:nvSpPr>
          <p:cNvPr id="30" name="Rectangle 29"/>
          <p:cNvSpPr/>
          <p:nvPr/>
        </p:nvSpPr>
        <p:spPr>
          <a:xfrm>
            <a:off x="6507327" y="352628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444240"/>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Many tasks, many trials. A rate with an error bar</a:t>
            </a:r>
          </a:p>
        </p:txBody>
      </p:sp>
      <p:sp>
        <p:nvSpPr>
          <p:cNvPr id="32" name="Rectangle 31"/>
          <p:cNvSpPr/>
          <p:nvPr/>
        </p:nvSpPr>
        <p:spPr>
          <a:xfrm>
            <a:off x="6507327" y="422579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27367" y="4143756"/>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Never</a:t>
            </a:r>
            <a:r>
              <a:rPr sz="1700" i="0" b="0">
                <a:solidFill>
                  <a:srgbClr val="1E293B"/>
                </a:solidFill>
                <a:latin typeface="Helvetica Neue"/>
              </a:rPr>
              <a:t> mock the model: you'd measure the mock</a:t>
            </a:r>
          </a:p>
        </p:txBody>
      </p:sp>
      <p:sp>
        <p:nvSpPr>
          <p:cNvPr id="34" name="Rectangle 33"/>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"grounded answer rate ≥ 0.90 on the golden 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Capability vs. regression suites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Two questions, two pass rates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notes/01-what-an-eval-is.md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Tasks graduate. Once a capability task passes reliably, it moves to the regression suite.</a:t>
            </a:r>
          </a:p>
        </p:txBody>
      </p:sp>
      <p:graphicFrame>
        <p:nvGraphicFramePr>
          <p:cNvPr id="13" name="Table 12"/>
          <p:cNvGraphicFramePr>
            <a:graphicFrameLocks noGrp="1"/>
          </p:cNvGraphicFramePr>
          <p:nvPr/>
        </p:nvGraphicFramePr>
        <p:xfrm>
          <a:off x="502920" y="1472184"/>
          <a:ext cx="11185853" cy="2432304"/>
        </p:xfrm>
        <a:graphic>
          <a:graphicData uri="http://schemas.openxmlformats.org/drawingml/2006/table">
            <a:tbl>
              <a:tblPr firstRow="1" bandRow="1">
                <a:tableStyleId>{5940675A-B579-460E-94D1-54222C63F5DA}</a:tableStyleId>
              </a:tblPr>
              <a:tblGrid>
                <a:gridCol w="2412635"/>
                <a:gridCol w="4386609"/>
                <a:gridCol w="4386609"/>
              </a:tblGrid>
              <a:tr h="405384">
                <a:tc>
                  <a:txBody>
                    <a:bodyPr wrap="square"/>
                    <a:lstStyle/>
                    <a:p>
                      <a:pPr>
                        <a:lnSpc>
                          <a:spcPct val="100000"/>
                        </a:lnSpc>
                      </a:pP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Capability eval</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Regression eval</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Question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What can it do?</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Does it still do what it used to?</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Expected pass rate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Low to medium. Room to climb</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Near </a:t>
                      </a:r>
                      <a:r>
                        <a:rPr sz="1700" i="0" b="1">
                          <a:solidFill>
                            <a:srgbClr val="1E293B"/>
                          </a:solidFill>
                          <a:latin typeface="Helvetica Neue"/>
                        </a:rPr>
                        <a:t>100%</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Tasks come from</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frontier: hard and new cases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Mastered tasks + every fixed bug</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A drop means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Little on its own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Something broke. Block the release</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Runs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On demand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Every change, in CI</a:t>
                      </a:r>
                    </a:p>
                  </a:txBody>
                  <a:tcPr marL="109728" marR="109728" marT="54864" marB="54864"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Write success down before any code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Defining correct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notes/02-defining-correct.md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The two-expert test: if two experts wouldn't reach the same verdict, fix the criteria, not the grader.</a:t>
            </a:r>
          </a:p>
        </p:txBody>
      </p:sp>
      <p:graphicFrame>
        <p:nvGraphicFramePr>
          <p:cNvPr id="13" name="Table 12"/>
          <p:cNvGraphicFramePr>
            <a:graphicFrameLocks noGrp="1"/>
          </p:cNvGraphicFramePr>
          <p:nvPr/>
        </p:nvGraphicFramePr>
        <p:xfrm>
          <a:off x="502920" y="1472184"/>
          <a:ext cx="11185854" cy="3063240"/>
        </p:xfrm>
        <a:graphic>
          <a:graphicData uri="http://schemas.openxmlformats.org/drawingml/2006/table">
            <a:tbl>
              <a:tblPr firstRow="1" bandRow="1">
                <a:tableStyleId>{5940675A-B579-460E-94D1-54222C63F5DA}</a:tableStyleId>
              </a:tblPr>
              <a:tblGrid>
                <a:gridCol w="2684605"/>
                <a:gridCol w="2460888"/>
                <a:gridCol w="6040361"/>
              </a:tblGrid>
              <a:tr h="405384">
                <a:tc>
                  <a:txBody>
                    <a:bodyPr wrap="square"/>
                    <a:lstStyle/>
                    <a:p>
                      <a:pPr>
                        <a:lnSpc>
                          <a:spcPct val="100000"/>
                        </a:lnSpc>
                      </a:pPr>
                      <a:r>
                        <a:rPr sz="1700" i="0" b="1">
                          <a:solidFill>
                            <a:srgbClr val="FFFFFF"/>
                          </a:solidFill>
                          <a:latin typeface="Helvetica Neue"/>
                        </a:rPr>
                        <a:t>Question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Bad answer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Good answer</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What does the user need?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helpful answer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steps to change their payout account, in their language, citing the article</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What must never happen?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Nothing bad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Inventing a menu path. Leaking another customer's data</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Unit of success?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It went well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Per turn: grounded + complete. Per conversation: resolved in ≤ 6 turns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Cost of being wrong?</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Wrong menu path = a ticket. Wrong tax answer = a fine</a:t>
                      </a:r>
                    </a:p>
                  </a:txBody>
                  <a:tcPr marL="109728" marR="109728" marT="54864" marB="54864" anchor="ctr">
                    <a:solidFill>
                      <a:srgbClr val="F8FAF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Find failure modes by reading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Error analysis (Husain &amp; Shankar)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notes/02-defining-correct.md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Don't build a grader for a failure mode you haven't seen.</a:t>
            </a:r>
          </a:p>
        </p:txBody>
      </p:sp>
      <p:sp>
        <p:nvSpPr>
          <p:cNvPr id="13" name="Rectangle 12"/>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Collect ~100 traces</a:t>
            </a:r>
            <a:r>
              <a:rPr sz="1800" i="0" b="0">
                <a:solidFill>
                  <a:srgbClr val="475569"/>
                </a:solidFill>
                <a:latin typeface="Helvetica Neue"/>
              </a:rPr>
              <a:t> — Real if you have them, synthetic if you don't yet.</a:t>
            </a:r>
          </a:p>
        </p:txBody>
      </p:sp>
      <p:sp>
        <p:nvSpPr>
          <p:cNvPr id="17" name="Rectangle 16"/>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Open coding</a:t>
            </a:r>
            <a:r>
              <a:rPr sz="1800" i="0" b="0">
                <a:solidFill>
                  <a:srgbClr val="475569"/>
                </a:solidFill>
                <a:latin typeface="Helvetica Neue"/>
              </a:rPr>
              <a:t> — A free-text note on the </a:t>
            </a:r>
            <a:r>
              <a:rPr sz="1800" i="0" b="1">
                <a:solidFill>
                  <a:srgbClr val="1E293B"/>
                </a:solidFill>
                <a:latin typeface="Helvetica Neue"/>
              </a:rPr>
              <a:t>first</a:t>
            </a:r>
            <a:r>
              <a:rPr sz="1800" i="0" b="0">
                <a:solidFill>
                  <a:srgbClr val="475569"/>
                </a:solidFill>
                <a:latin typeface="Helvetica Neue"/>
              </a:rPr>
              <a:t> thing that went wrong. No categories yet.</a:t>
            </a:r>
          </a:p>
        </p:txBody>
      </p:sp>
      <p:sp>
        <p:nvSpPr>
          <p:cNvPr id="21" name="Rectangle 20"/>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Axial coding</a:t>
            </a:r>
            <a:r>
              <a:rPr sz="1800" i="0" b="0">
                <a:solidFill>
                  <a:srgbClr val="475569"/>
                </a:solidFill>
                <a:latin typeface="Helvetica Neue"/>
              </a:rPr>
              <a:t> — Group the notes into categories. Expect </a:t>
            </a:r>
            <a:r>
              <a:rPr sz="1800" i="0" b="1">
                <a:solidFill>
                  <a:srgbClr val="1E293B"/>
                </a:solidFill>
                <a:latin typeface="Helvetica Neue"/>
              </a:rPr>
              <a:t>5–15</a:t>
            </a:r>
            <a:r>
              <a:rPr sz="1800" i="0" b="0">
                <a:solidFill>
                  <a:srgbClr val="475569"/>
                </a:solidFill>
                <a:latin typeface="Helvetica Neue"/>
              </a:rPr>
              <a:t>.</a:t>
            </a:r>
          </a:p>
        </p:txBody>
      </p:sp>
      <p:sp>
        <p:nvSpPr>
          <p:cNvPr id="25" name="Rectangle 24"/>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Count</a:t>
            </a:r>
            <a:r>
              <a:rPr sz="1800" i="0" b="0">
                <a:solidFill>
                  <a:srgbClr val="475569"/>
                </a:solidFill>
                <a:latin typeface="Helvetica Neue"/>
              </a:rPr>
              <a:t> — Rank by frequency × cost. That ranking is your eval roadmap.</a:t>
            </a:r>
          </a:p>
        </p:txBody>
      </p:sp>
      <p:sp>
        <p:nvSpPr>
          <p:cNvPr id="29" name="Rectangle 28"/>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Repeat to saturation</a:t>
            </a:r>
            <a:r>
              <a:rPr sz="1800" i="0" b="0">
                <a:solidFill>
                  <a:srgbClr val="475569"/>
                </a:solidFill>
                <a:latin typeface="Helvetica Neue"/>
              </a:rPr>
              <a:t> — Until new traces stop producing new categories, usually 50–100.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failure taxonomy, ordered by stage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A RAG support agent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notes/02-defining-correct.md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Stable names, one label per fix, earliest failure wins.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Give the eval's own failures a label, so eval bugs aren't counted as system bugs.</a:t>
            </a:r>
          </a:p>
        </p:txBody>
      </p:sp>
      <p:graphicFrame>
        <p:nvGraphicFramePr>
          <p:cNvPr id="14" name="Table 13"/>
          <p:cNvGraphicFramePr>
            <a:graphicFrameLocks noGrp="1"/>
          </p:cNvGraphicFramePr>
          <p:nvPr/>
        </p:nvGraphicFramePr>
        <p:xfrm>
          <a:off x="502920" y="1985772"/>
          <a:ext cx="11185854" cy="2837688"/>
        </p:xfrm>
        <a:graphic>
          <a:graphicData uri="http://schemas.openxmlformats.org/drawingml/2006/table">
            <a:tbl>
              <a:tblPr firstRow="1" bandRow="1">
                <a:tableStyleId>{5940675A-B579-460E-94D1-54222C63F5DA}</a:tableStyleId>
              </a:tblPr>
              <a:tblGrid>
                <a:gridCol w="2684605"/>
                <a:gridCol w="8501249"/>
              </a:tblGrid>
              <a:tr h="405384">
                <a:tc>
                  <a:txBody>
                    <a:bodyPr wrap="square"/>
                    <a:lstStyle/>
                    <a:p>
                      <a:pPr>
                        <a:lnSpc>
                          <a:spcPct val="100000"/>
                        </a:lnSpc>
                      </a:pPr>
                      <a:r>
                        <a:rPr sz="1700" i="0" b="1">
                          <a:solidFill>
                            <a:srgbClr val="FFFFFF"/>
                          </a:solidFill>
                          <a:latin typeface="Helvetica Neue"/>
                        </a:rPr>
                        <a:t>Stage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Labels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Corpus</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source_missing</a:t>
                      </a:r>
                      <a:r>
                        <a:rPr sz="1700" i="0" b="0">
                          <a:solidFill>
                            <a:srgbClr val="475569"/>
                          </a:solidFill>
                          <a:latin typeface="Helvetica Neue"/>
                        </a:rPr>
                        <a:t> · </a:t>
                      </a:r>
                      <a:r>
                        <a:rPr sz="1530" i="0" b="0">
                          <a:solidFill>
                            <a:srgbClr val="0F7490"/>
                          </a:solidFill>
                          <a:latin typeface="Menlo"/>
                        </a:rPr>
                        <a:t>url_unmapped</a:t>
                      </a:r>
                      <a:r>
                        <a:rPr sz="1700" i="0" b="0">
                          <a:solidFill>
                            <a:srgbClr val="475569"/>
                          </a:solidFill>
                          <a:latin typeface="Helvetica Neue"/>
                        </a:rPr>
                        <a:t> · </a:t>
                      </a:r>
                      <a:r>
                        <a:rPr sz="1530" i="0" b="0">
                          <a:solidFill>
                            <a:srgbClr val="0F7490"/>
                          </a:solidFill>
                          <a:latin typeface="Menlo"/>
                        </a:rPr>
                        <a:t>topic_proxy</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Index</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index_lag</a:t>
                      </a:r>
                      <a:r>
                        <a:rPr sz="1700" i="0" b="0">
                          <a:solidFill>
                            <a:srgbClr val="475569"/>
                          </a:solidFill>
                          <a:latin typeface="Helvetica Neue"/>
                        </a:rPr>
                        <a:t> · </a:t>
                      </a:r>
                      <a:r>
                        <a:rPr sz="1530" i="0" b="0">
                          <a:solidFill>
                            <a:srgbClr val="0F7490"/>
                          </a:solidFill>
                          <a:latin typeface="Menlo"/>
                        </a:rPr>
                        <a:t>chunk_fragmented</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Retrieval</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rank_miss</a:t>
                      </a:r>
                      <a:r>
                        <a:rPr sz="1700" i="0" b="0">
                          <a:solidFill>
                            <a:srgbClr val="475569"/>
                          </a:solidFill>
                          <a:latin typeface="Helvetica Neue"/>
                        </a:rPr>
                        <a:t> · </a:t>
                      </a:r>
                      <a:r>
                        <a:rPr sz="1530" i="0" b="0">
                          <a:solidFill>
                            <a:srgbClr val="0F7490"/>
                          </a:solidFill>
                          <a:latin typeface="Menlo"/>
                        </a:rPr>
                        <a:t>query_rewrite_miss</a:t>
                      </a:r>
                      <a:r>
                        <a:rPr sz="1700" i="0" b="0">
                          <a:solidFill>
                            <a:srgbClr val="475569"/>
                          </a:solidFill>
                          <a:latin typeface="Helvetica Neue"/>
                        </a:rPr>
                        <a:t> · </a:t>
                      </a:r>
                      <a:r>
                        <a:rPr sz="1530" i="0" b="0">
                          <a:solidFill>
                            <a:srgbClr val="0F7490"/>
                          </a:solidFill>
                          <a:latin typeface="Menlo"/>
                        </a:rPr>
                        <a:t>reranker_regression</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Eval infrastructure</a:t>
                      </a:r>
                    </a:p>
                  </a:txBody>
                  <a:tcPr marL="109728" marR="109728" marT="54864" marB="54864" anchor="ctr">
                    <a:solidFill>
                      <a:srgbClr val="E8F4F8"/>
                    </a:solidFill>
                  </a:tcPr>
                </a:tc>
                <a:tc>
                  <a:txBody>
                    <a:bodyPr wrap="square"/>
                    <a:lstStyle/>
                    <a:p>
                      <a:pPr>
                        <a:lnSpc>
                          <a:spcPct val="100000"/>
                        </a:lnSpc>
                      </a:pPr>
                      <a:r>
                        <a:rPr sz="1530" i="0" b="0">
                          <a:solidFill>
                            <a:srgbClr val="0F7490"/>
                          </a:solidFill>
                          <a:latin typeface="Menlo"/>
                        </a:rPr>
                        <a:t>context_missing</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Generation</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citation_hallucination</a:t>
                      </a:r>
                      <a:r>
                        <a:rPr sz="1700" i="0" b="0">
                          <a:solidFill>
                            <a:srgbClr val="475569"/>
                          </a:solidFill>
                          <a:latin typeface="Helvetica Neue"/>
                        </a:rPr>
                        <a:t> · </a:t>
                      </a:r>
                      <a:r>
                        <a:rPr sz="1530" i="0" b="0">
                          <a:solidFill>
                            <a:srgbClr val="0F7490"/>
                          </a:solidFill>
                          <a:latin typeface="Menlo"/>
                        </a:rPr>
                        <a:t>unsupported_claim</a:t>
                      </a:r>
                      <a:r>
                        <a:rPr sz="1700" i="0" b="0">
                          <a:solidFill>
                            <a:srgbClr val="475569"/>
                          </a:solidFill>
                          <a:latin typeface="Helvetica Neue"/>
                        </a:rPr>
                        <a:t> · </a:t>
                      </a:r>
                      <a:r>
                        <a:rPr sz="1530" i="0" b="0">
                          <a:solidFill>
                            <a:srgbClr val="0F7490"/>
                          </a:solidFill>
                          <a:latin typeface="Menlo"/>
                        </a:rPr>
                        <a:t>incomplete_answer</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Behavior</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wrong_escalation</a:t>
                      </a:r>
                      <a:r>
                        <a:rPr sz="1700" i="0" b="0">
                          <a:solidFill>
                            <a:srgbClr val="475569"/>
                          </a:solidFill>
                          <a:latin typeface="Helvetica Neue"/>
                        </a:rPr>
                        <a:t> · </a:t>
                      </a:r>
                      <a:r>
                        <a:rPr sz="1530" i="0" b="0">
                          <a:solidFill>
                            <a:srgbClr val="0F7490"/>
                          </a:solidFill>
                          <a:latin typeface="Menlo"/>
                        </a:rPr>
                        <a:t>refusal</a:t>
                      </a:r>
                      <a:r>
                        <a:rPr sz="1700" i="0" b="0">
                          <a:solidFill>
                            <a:srgbClr val="475569"/>
                          </a:solidFill>
                          <a:latin typeface="Helvetica Neue"/>
                        </a:rPr>
                        <a:t> · </a:t>
                      </a:r>
                      <a:r>
                        <a:rPr sz="1530" i="0" b="0">
                          <a:solidFill>
                            <a:srgbClr val="0F7490"/>
                          </a:solidFill>
                          <a:latin typeface="Menlo"/>
                        </a:rPr>
                        <a:t>schema_violation</a:t>
                      </a:r>
                    </a:p>
                  </a:txBody>
                  <a:tcPr marL="109728" marR="109728" marT="54864" marB="54864" anchor="ctr">
                    <a:solidFill>
                      <a:srgbClr val="F8FA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Start small and real, grow by stage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Eval datasets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notes/03-eval-datasets.md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Grow to the next stage when the current one can't separate two versions you need to tell apart.</a:t>
            </a:r>
          </a:p>
        </p:txBody>
      </p:sp>
      <p:graphicFrame>
        <p:nvGraphicFramePr>
          <p:cNvPr id="13" name="Table 12"/>
          <p:cNvGraphicFramePr>
            <a:graphicFrameLocks noGrp="1"/>
          </p:cNvGraphicFramePr>
          <p:nvPr/>
        </p:nvGraphicFramePr>
        <p:xfrm>
          <a:off x="502920" y="1472184"/>
          <a:ext cx="11185854" cy="2432304"/>
        </p:xfrm>
        <a:graphic>
          <a:graphicData uri="http://schemas.openxmlformats.org/drawingml/2006/table">
            <a:tbl>
              <a:tblPr firstRow="1" bandRow="1">
                <a:tableStyleId>{5940675A-B579-460E-94D1-54222C63F5DA}</a:tableStyleId>
              </a:tblPr>
              <a:tblGrid>
                <a:gridCol w="2908322"/>
                <a:gridCol w="1789736"/>
                <a:gridCol w="6487796"/>
              </a:tblGrid>
              <a:tr h="405384">
                <a:tc>
                  <a:txBody>
                    <a:bodyPr wrap="square"/>
                    <a:lstStyle/>
                    <a:p>
                      <a:pPr>
                        <a:lnSpc>
                          <a:spcPct val="100000"/>
                        </a:lnSpc>
                      </a:pPr>
                      <a:r>
                        <a:rPr sz="1700" i="0" b="1">
                          <a:solidFill>
                            <a:srgbClr val="FFFFFF"/>
                          </a:solidFill>
                          <a:latin typeface="Helvetica Neue"/>
                        </a:rPr>
                        <a:t>Stage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Size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Purpose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Example suite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5–20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Eyeball diffs while iterating on a prompt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First golden set</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20–50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Real failures, hand-reviewed. Catches big regressions</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Working set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100–300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±5–8 point error bars on a pass rate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LLM-graded sample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50–200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Cost-capped subset for expensive judges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Large harness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1,000+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Small effects. Needs synthetic or logged data</a:t>
                      </a:r>
                    </a:p>
                  </a:txBody>
                  <a:tcPr marL="109728" marR="109728" marT="54864" marB="54864"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Is this row fair for this gate?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Row eligibility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notes/03-eval-datasets.md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Each pool is a subset of the one above it.</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downstream gate never silently scores rows an upstream gate marked ineligible.</a:t>
            </a:r>
          </a:p>
        </p:txBody>
      </p:sp>
      <p:sp>
        <p:nvSpPr>
          <p:cNvPr id="14" name="Rectangle 13"/>
          <p:cNvSpPr/>
          <p:nvPr/>
        </p:nvSpPr>
        <p:spPr>
          <a:xfrm>
            <a:off x="1645920" y="1985772"/>
            <a:ext cx="10042855" cy="61234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810512" y="2063343"/>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10512" y="2063343"/>
            <a:ext cx="457200" cy="457200"/>
          </a:xfrm>
          <a:prstGeom prst="rect">
            <a:avLst/>
          </a:prstGeom>
          <a:noFill/>
        </p:spPr>
        <p:txBody>
          <a:bodyPr wrap="square" lIns="0" rIns="0" tIns="0" bIns="0" anchor="ctr">
            <a:noAutofit/>
          </a:bodyPr>
          <a:lstStyle/>
          <a:p>
            <a:pPr algn="ctr">
              <a:lnSpc>
                <a:spcPct val="110000"/>
              </a:lnSpc>
            </a:pPr>
            <a:r>
              <a:rPr sz="1400" i="0" b="1">
                <a:solidFill>
                  <a:srgbClr val="FFFFFF"/>
                </a:solidFill>
                <a:latin typeface="Helvetica Neue"/>
              </a:rPr>
              <a:t>1</a:t>
            </a:r>
          </a:p>
        </p:txBody>
      </p:sp>
      <p:sp>
        <p:nvSpPr>
          <p:cNvPr id="17" name="TextBox 16"/>
          <p:cNvSpPr txBox="1"/>
          <p:nvPr/>
        </p:nvSpPr>
        <p:spPr>
          <a:xfrm>
            <a:off x="2468879" y="1985772"/>
            <a:ext cx="9037015" cy="612343"/>
          </a:xfrm>
          <a:prstGeom prst="rect">
            <a:avLst/>
          </a:prstGeom>
          <a:noFill/>
        </p:spPr>
        <p:txBody>
          <a:bodyPr wrap="square" lIns="0" rIns="0" tIns="0" bIns="0" anchor="ctr">
            <a:noAutofit/>
          </a:bodyPr>
          <a:lstStyle/>
          <a:p>
            <a:pPr algn="l">
              <a:lnSpc>
                <a:spcPct val="110000"/>
              </a:lnSpc>
            </a:pPr>
            <a:r>
              <a:rPr sz="1600" i="0" b="1">
                <a:solidFill>
                  <a:srgbClr val="1E293B"/>
                </a:solidFill>
                <a:latin typeface="Helvetica Neue"/>
              </a:rPr>
              <a:t>all_gt</a:t>
            </a:r>
            <a:r>
              <a:rPr sz="1600" i="0" b="0">
                <a:solidFill>
                  <a:srgbClr val="475569"/>
                </a:solidFill>
                <a:latin typeface="Helvetica Neue"/>
              </a:rPr>
              <a:t> — Every golden row. Fair for demand analysis.</a:t>
            </a:r>
          </a:p>
        </p:txBody>
      </p:sp>
      <p:sp>
        <p:nvSpPr>
          <p:cNvPr id="18" name="Rectangle 17"/>
          <p:cNvSpPr/>
          <p:nvPr/>
        </p:nvSpPr>
        <p:spPr>
          <a:xfrm>
            <a:off x="1645920" y="2707843"/>
            <a:ext cx="10042855" cy="61234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810512" y="2785414"/>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10512" y="2785414"/>
            <a:ext cx="457200" cy="457200"/>
          </a:xfrm>
          <a:prstGeom prst="rect">
            <a:avLst/>
          </a:prstGeom>
          <a:noFill/>
        </p:spPr>
        <p:txBody>
          <a:bodyPr wrap="square" lIns="0" rIns="0" tIns="0" bIns="0" anchor="ctr">
            <a:noAutofit/>
          </a:bodyPr>
          <a:lstStyle/>
          <a:p>
            <a:pPr algn="ctr">
              <a:lnSpc>
                <a:spcPct val="110000"/>
              </a:lnSpc>
            </a:pPr>
            <a:r>
              <a:rPr sz="1400" i="0" b="1">
                <a:solidFill>
                  <a:srgbClr val="FFFFFF"/>
                </a:solidFill>
                <a:latin typeface="Helvetica Neue"/>
              </a:rPr>
              <a:t>2</a:t>
            </a:r>
          </a:p>
        </p:txBody>
      </p:sp>
      <p:sp>
        <p:nvSpPr>
          <p:cNvPr id="21" name="TextBox 20"/>
          <p:cNvSpPr txBox="1"/>
          <p:nvPr/>
        </p:nvSpPr>
        <p:spPr>
          <a:xfrm>
            <a:off x="2468879" y="2707843"/>
            <a:ext cx="9037015" cy="612343"/>
          </a:xfrm>
          <a:prstGeom prst="rect">
            <a:avLst/>
          </a:prstGeom>
          <a:noFill/>
        </p:spPr>
        <p:txBody>
          <a:bodyPr wrap="square" lIns="0" rIns="0" tIns="0" bIns="0" anchor="ctr">
            <a:noAutofit/>
          </a:bodyPr>
          <a:lstStyle/>
          <a:p>
            <a:pPr algn="l">
              <a:lnSpc>
                <a:spcPct val="110000"/>
              </a:lnSpc>
            </a:pPr>
            <a:r>
              <a:rPr sz="1600" i="0" b="1">
                <a:solidFill>
                  <a:srgbClr val="1E293B"/>
                </a:solidFill>
                <a:latin typeface="Helvetica Neue"/>
              </a:rPr>
              <a:t>source_mapped_gt</a:t>
            </a:r>
            <a:r>
              <a:rPr sz="1600" i="0" b="0">
                <a:solidFill>
                  <a:srgbClr val="475569"/>
                </a:solidFill>
                <a:latin typeface="Helvetica Neue"/>
              </a:rPr>
              <a:t> — Expected source maps to a known doc. Fair for corpus coverage.</a:t>
            </a:r>
          </a:p>
        </p:txBody>
      </p:sp>
      <p:sp>
        <p:nvSpPr>
          <p:cNvPr id="22" name="Rectangle 21"/>
          <p:cNvSpPr/>
          <p:nvPr/>
        </p:nvSpPr>
        <p:spPr>
          <a:xfrm>
            <a:off x="1645920" y="3429914"/>
            <a:ext cx="10042855" cy="61234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810512" y="3507486"/>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10512" y="3507486"/>
            <a:ext cx="457200" cy="457200"/>
          </a:xfrm>
          <a:prstGeom prst="rect">
            <a:avLst/>
          </a:prstGeom>
          <a:noFill/>
        </p:spPr>
        <p:txBody>
          <a:bodyPr wrap="square" lIns="0" rIns="0" tIns="0" bIns="0" anchor="ctr">
            <a:noAutofit/>
          </a:bodyPr>
          <a:lstStyle/>
          <a:p>
            <a:pPr algn="ctr">
              <a:lnSpc>
                <a:spcPct val="110000"/>
              </a:lnSpc>
            </a:pPr>
            <a:r>
              <a:rPr sz="1400" i="0" b="1">
                <a:solidFill>
                  <a:srgbClr val="FFFFFF"/>
                </a:solidFill>
                <a:latin typeface="Helvetica Neue"/>
              </a:rPr>
              <a:t>3</a:t>
            </a:r>
          </a:p>
        </p:txBody>
      </p:sp>
      <p:sp>
        <p:nvSpPr>
          <p:cNvPr id="25" name="TextBox 24"/>
          <p:cNvSpPr txBox="1"/>
          <p:nvPr/>
        </p:nvSpPr>
        <p:spPr>
          <a:xfrm>
            <a:off x="2468879" y="3429914"/>
            <a:ext cx="9037015" cy="612343"/>
          </a:xfrm>
          <a:prstGeom prst="rect">
            <a:avLst/>
          </a:prstGeom>
          <a:noFill/>
        </p:spPr>
        <p:txBody>
          <a:bodyPr wrap="square" lIns="0" rIns="0" tIns="0" bIns="0" anchor="ctr">
            <a:noAutofit/>
          </a:bodyPr>
          <a:lstStyle/>
          <a:p>
            <a:pPr algn="l">
              <a:lnSpc>
                <a:spcPct val="110000"/>
              </a:lnSpc>
            </a:pPr>
            <a:r>
              <a:rPr sz="1600" i="0" b="1">
                <a:solidFill>
                  <a:srgbClr val="1E293B"/>
                </a:solidFill>
                <a:latin typeface="Helvetica Neue"/>
              </a:rPr>
              <a:t>retrieval_eligible_gt</a:t>
            </a:r>
            <a:r>
              <a:rPr sz="1600" i="0" b="0">
                <a:solidFill>
                  <a:srgbClr val="475569"/>
                </a:solidFill>
                <a:latin typeface="Helvetica Neue"/>
              </a:rPr>
              <a:t> — That source is actually indexed. Fair for retrieval metrics.</a:t>
            </a:r>
          </a:p>
        </p:txBody>
      </p:sp>
      <p:sp>
        <p:nvSpPr>
          <p:cNvPr id="26" name="Rectangle 25"/>
          <p:cNvSpPr/>
          <p:nvPr/>
        </p:nvSpPr>
        <p:spPr>
          <a:xfrm>
            <a:off x="1645920" y="4151985"/>
            <a:ext cx="10042855" cy="61234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810512" y="4229557"/>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10512" y="4229557"/>
            <a:ext cx="457200" cy="457200"/>
          </a:xfrm>
          <a:prstGeom prst="rect">
            <a:avLst/>
          </a:prstGeom>
          <a:noFill/>
        </p:spPr>
        <p:txBody>
          <a:bodyPr wrap="square" lIns="0" rIns="0" tIns="0" bIns="0" anchor="ctr">
            <a:noAutofit/>
          </a:bodyPr>
          <a:lstStyle/>
          <a:p>
            <a:pPr algn="ctr">
              <a:lnSpc>
                <a:spcPct val="110000"/>
              </a:lnSpc>
            </a:pPr>
            <a:r>
              <a:rPr sz="1400" i="0" b="1">
                <a:solidFill>
                  <a:srgbClr val="FFFFFF"/>
                </a:solidFill>
                <a:latin typeface="Helvetica Neue"/>
              </a:rPr>
              <a:t>4</a:t>
            </a:r>
          </a:p>
        </p:txBody>
      </p:sp>
      <p:sp>
        <p:nvSpPr>
          <p:cNvPr id="29" name="TextBox 28"/>
          <p:cNvSpPr txBox="1"/>
          <p:nvPr/>
        </p:nvSpPr>
        <p:spPr>
          <a:xfrm>
            <a:off x="2468879" y="4151985"/>
            <a:ext cx="9037015" cy="612343"/>
          </a:xfrm>
          <a:prstGeom prst="rect">
            <a:avLst/>
          </a:prstGeom>
          <a:noFill/>
        </p:spPr>
        <p:txBody>
          <a:bodyPr wrap="square" lIns="0" rIns="0" tIns="0" bIns="0" anchor="ctr">
            <a:noAutofit/>
          </a:bodyPr>
          <a:lstStyle/>
          <a:p>
            <a:pPr algn="l">
              <a:lnSpc>
                <a:spcPct val="110000"/>
              </a:lnSpc>
            </a:pPr>
            <a:r>
              <a:rPr sz="1600" i="0" b="1">
                <a:solidFill>
                  <a:srgbClr val="1E293B"/>
                </a:solidFill>
                <a:latin typeface="Helvetica Neue"/>
              </a:rPr>
              <a:t>generation_eligible_gt</a:t>
            </a:r>
            <a:r>
              <a:rPr sz="1600" i="0" b="0">
                <a:solidFill>
                  <a:srgbClr val="475569"/>
                </a:solidFill>
                <a:latin typeface="Helvetica Neue"/>
              </a:rPr>
              <a:t> — Retrieval found it. Fair for answer quality.</a:t>
            </a:r>
          </a:p>
        </p:txBody>
      </p:sp>
      <p:sp>
        <p:nvSpPr>
          <p:cNvPr id="30" name="Rectangle 29"/>
          <p:cNvSpPr/>
          <p:nvPr/>
        </p:nvSpPr>
        <p:spPr>
          <a:xfrm>
            <a:off x="1645920" y="4874056"/>
            <a:ext cx="10042855" cy="61234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810512" y="4951628"/>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10512" y="4951628"/>
            <a:ext cx="457200" cy="457200"/>
          </a:xfrm>
          <a:prstGeom prst="rect">
            <a:avLst/>
          </a:prstGeom>
          <a:noFill/>
        </p:spPr>
        <p:txBody>
          <a:bodyPr wrap="square" lIns="0" rIns="0" tIns="0" bIns="0" anchor="ctr">
            <a:noAutofit/>
          </a:bodyPr>
          <a:lstStyle/>
          <a:p>
            <a:pPr algn="ctr">
              <a:lnSpc>
                <a:spcPct val="110000"/>
              </a:lnSpc>
            </a:pPr>
            <a:r>
              <a:rPr sz="1400" i="0" b="1">
                <a:solidFill>
                  <a:srgbClr val="FFFFFF"/>
                </a:solidFill>
                <a:latin typeface="Helvetica Neue"/>
              </a:rPr>
              <a:t>5</a:t>
            </a:r>
          </a:p>
        </p:txBody>
      </p:sp>
      <p:sp>
        <p:nvSpPr>
          <p:cNvPr id="33" name="TextBox 32"/>
          <p:cNvSpPr txBox="1"/>
          <p:nvPr/>
        </p:nvSpPr>
        <p:spPr>
          <a:xfrm>
            <a:off x="2468879" y="4874056"/>
            <a:ext cx="9037015" cy="612343"/>
          </a:xfrm>
          <a:prstGeom prst="rect">
            <a:avLst/>
          </a:prstGeom>
          <a:noFill/>
        </p:spPr>
        <p:txBody>
          <a:bodyPr wrap="square" lIns="0" rIns="0" tIns="0" bIns="0" anchor="ctr">
            <a:noAutofit/>
          </a:bodyPr>
          <a:lstStyle/>
          <a:p>
            <a:pPr algn="l">
              <a:lnSpc>
                <a:spcPct val="110000"/>
              </a:lnSpc>
            </a:pPr>
            <a:r>
              <a:rPr sz="1600" i="0" b="1">
                <a:solidFill>
                  <a:srgbClr val="1E293B"/>
                </a:solidFill>
                <a:latin typeface="Helvetica Neue"/>
              </a:rPr>
              <a:t>quality_sample</a:t>
            </a:r>
            <a:r>
              <a:rPr sz="1600" i="0" b="0">
                <a:solidFill>
                  <a:srgbClr val="475569"/>
                </a:solidFill>
                <a:latin typeface="Helvetica Neue"/>
              </a:rPr>
              <a:t> — Deterministic, cost-capped sample. Fair for LLM judges.</a:t>
            </a:r>
          </a:p>
        </p:txBody>
      </p:sp>
      <p:sp>
        <p:nvSpPr>
          <p:cNvPr id="34" name="TextBox 33"/>
          <p:cNvSpPr txBox="1"/>
          <p:nvPr/>
        </p:nvSpPr>
        <p:spPr>
          <a:xfrm>
            <a:off x="502920" y="1985772"/>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narrower, fairer for later gates</a:t>
            </a:r>
          </a:p>
        </p:txBody>
      </p:sp>
      <p:cxnSp>
        <p:nvCxnSpPr>
          <p:cNvPr id="35" name="Connector 34"/>
          <p:cNvCxnSpPr/>
          <p:nvPr/>
        </p:nvCxnSpPr>
        <p:spPr>
          <a:xfrm>
            <a:off x="1005840" y="2580132"/>
            <a:ext cx="0" cy="2814828"/>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What public benchmarks teach private suites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Li, AI Agents in Depth, ch. 6</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notes/03-eval-datasets.md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1472184"/>
            <a:ext cx="3545738" cy="22128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472184"/>
            <a:ext cx="82296" cy="22128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Budget for rejection</a:t>
            </a:r>
          </a:p>
        </p:txBody>
      </p:sp>
      <p:sp>
        <p:nvSpPr>
          <p:cNvPr id="13" name="TextBox 12"/>
          <p:cNvSpPr txBox="1"/>
          <p:nvPr/>
        </p:nvSpPr>
        <p:spPr>
          <a:xfrm>
            <a:off x="777240" y="2087880"/>
            <a:ext cx="3042818" cy="14142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SWE-bench Verified: 93 developers reviewed tasks. Only </a:t>
            </a:r>
            <a:r>
              <a:rPr sz="1700" i="0" b="1">
                <a:solidFill>
                  <a:srgbClr val="1E293B"/>
                </a:solidFill>
                <a:latin typeface="Helvetica Neue"/>
              </a:rPr>
              <a:t>500 of 2,294</a:t>
            </a:r>
            <a:r>
              <a:rPr sz="1700" i="0" b="0">
                <a:solidFill>
                  <a:srgbClr val="475569"/>
                </a:solidFill>
                <a:latin typeface="Helvetica Neue"/>
              </a:rPr>
              <a:t> survived.</a:t>
            </a:r>
          </a:p>
        </p:txBody>
      </p:sp>
      <p:sp>
        <p:nvSpPr>
          <p:cNvPr id="14" name="Rectangle 13"/>
          <p:cNvSpPr/>
          <p:nvPr/>
        </p:nvSpPr>
        <p:spPr>
          <a:xfrm>
            <a:off x="4322978" y="1472184"/>
            <a:ext cx="3545738" cy="22128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2978" y="1472184"/>
            <a:ext cx="82296" cy="22128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Fixed it, broke nothing</a:t>
            </a:r>
          </a:p>
        </p:txBody>
      </p:sp>
      <p:sp>
        <p:nvSpPr>
          <p:cNvPr id="17" name="TextBox 16"/>
          <p:cNvSpPr txBox="1"/>
          <p:nvPr/>
        </p:nvSpPr>
        <p:spPr>
          <a:xfrm>
            <a:off x="4597298" y="2087880"/>
            <a:ext cx="3042818" cy="14142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FAIL_TO_PASS tests prove the fix. PASS_TO_PASS tests prove no regression.</a:t>
            </a:r>
          </a:p>
        </p:txBody>
      </p:sp>
      <p:sp>
        <p:nvSpPr>
          <p:cNvPr id="18" name="Rectangle 17"/>
          <p:cNvSpPr/>
          <p:nvPr/>
        </p:nvSpPr>
        <p:spPr>
          <a:xfrm>
            <a:off x="8143036" y="1472184"/>
            <a:ext cx="3545738" cy="22128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43036" y="1472184"/>
            <a:ext cx="82296" cy="22128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Difficulty as diagnosis</a:t>
            </a:r>
          </a:p>
        </p:txBody>
      </p:sp>
      <p:sp>
        <p:nvSpPr>
          <p:cNvPr id="21" name="TextBox 20"/>
          <p:cNvSpPr txBox="1"/>
          <p:nvPr/>
        </p:nvSpPr>
        <p:spPr>
          <a:xfrm>
            <a:off x="8417356" y="2087880"/>
            <a:ext cx="3042818" cy="14142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GAIA L1: humans 93.9%, GPT-4 30.3%. L3: 87.3% vs </a:t>
            </a:r>
            <a:r>
              <a:rPr sz="1700" i="0" b="1">
                <a:solidFill>
                  <a:srgbClr val="1E293B"/>
                </a:solidFill>
                <a:latin typeface="Helvetica Neue"/>
              </a:rPr>
              <a:t>0%</a:t>
            </a:r>
            <a:r>
              <a:rPr sz="1700" i="0" b="0">
                <a:solidFill>
                  <a:srgbClr val="475569"/>
                </a:solidFill>
                <a:latin typeface="Helvetica Neue"/>
              </a:rPr>
              <a:t>.</a:t>
            </a:r>
          </a:p>
        </p:txBody>
      </p:sp>
      <p:sp>
        <p:nvSpPr>
          <p:cNvPr id="22" name="Rectangle 21"/>
          <p:cNvSpPr/>
          <p:nvPr/>
        </p:nvSpPr>
        <p:spPr>
          <a:xfrm>
            <a:off x="502920" y="3959352"/>
            <a:ext cx="3545738" cy="22128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3959352"/>
            <a:ext cx="82296" cy="22128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1422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Fresh parameters</a:t>
            </a:r>
          </a:p>
        </p:txBody>
      </p:sp>
      <p:sp>
        <p:nvSpPr>
          <p:cNvPr id="25" name="TextBox 24"/>
          <p:cNvSpPr txBox="1"/>
          <p:nvPr/>
        </p:nvSpPr>
        <p:spPr>
          <a:xfrm>
            <a:off x="777240" y="4575048"/>
            <a:ext cx="3042818" cy="14142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τ²-bench and AndroidWorld fill templates with new values every run. Memorized paths won't replay.</a:t>
            </a:r>
          </a:p>
        </p:txBody>
      </p:sp>
      <p:sp>
        <p:nvSpPr>
          <p:cNvPr id="26" name="Rectangle 25"/>
          <p:cNvSpPr/>
          <p:nvPr/>
        </p:nvSpPr>
        <p:spPr>
          <a:xfrm>
            <a:off x="4322978" y="3959352"/>
            <a:ext cx="3545738" cy="22128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22978" y="3959352"/>
            <a:ext cx="82296" cy="221284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7298" y="41422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Canaries</a:t>
            </a:r>
          </a:p>
        </p:txBody>
      </p:sp>
      <p:sp>
        <p:nvSpPr>
          <p:cNvPr id="29" name="TextBox 28"/>
          <p:cNvSpPr txBox="1"/>
          <p:nvPr/>
        </p:nvSpPr>
        <p:spPr>
          <a:xfrm>
            <a:off x="4597298" y="4575048"/>
            <a:ext cx="3042818" cy="14142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Terminal-Bench embeds a unique GUID. If a model can produce it, the set leaked.</a:t>
            </a:r>
          </a:p>
        </p:txBody>
      </p:sp>
      <p:sp>
        <p:nvSpPr>
          <p:cNvPr id="30" name="Rectangle 29"/>
          <p:cNvSpPr/>
          <p:nvPr/>
        </p:nvSpPr>
        <p:spPr>
          <a:xfrm>
            <a:off x="8143036" y="3959352"/>
            <a:ext cx="3545738" cy="22128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43036" y="3959352"/>
            <a:ext cx="82296" cy="221284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7356" y="41422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So…</a:t>
            </a:r>
          </a:p>
        </p:txBody>
      </p:sp>
      <p:sp>
        <p:nvSpPr>
          <p:cNvPr id="33" name="TextBox 32"/>
          <p:cNvSpPr txBox="1"/>
          <p:nvPr/>
        </p:nvSpPr>
        <p:spPr>
          <a:xfrm>
            <a:off x="8417356" y="4575048"/>
            <a:ext cx="3042818" cy="14142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Split dev and held-out, version the dataset, record the version with every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Grading</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Graders · LLM-as-judge and calibration</a:t>
            </a:r>
          </a:p>
        </p:txBody>
      </p:sp>
      <p:cxnSp>
        <p:nvCxnSpPr>
          <p:cNvPr id="6" name="Connector 5"/>
          <p:cNvCxnSpPr/>
          <p:nvPr/>
        </p:nvCxnSpPr>
        <p:spPr>
          <a:xfrm>
            <a:off x="6446520" y="1399540"/>
            <a:ext cx="0" cy="405892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399540"/>
            <a:ext cx="4693615" cy="424180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Code first, judge above it, humans calibrate</a:t>
            </a:r>
          </a:p>
          <a:p>
            <a:pPr algn="l">
              <a:lnSpc>
                <a:spcPct val="100000"/>
              </a:lnSpc>
              <a:spcBef>
                <a:spcPts val="1189"/>
              </a:spcBef>
            </a:pPr>
            <a:r>
              <a:rPr sz="1700" i="0" b="0">
                <a:solidFill>
                  <a:srgbClr val="CBD5E1"/>
                </a:solidFill>
                <a:latin typeface="Helvetica Neue"/>
              </a:rPr>
              <a:t>One contract for every grader</a:t>
            </a:r>
          </a:p>
          <a:p>
            <a:pPr algn="l">
              <a:lnSpc>
                <a:spcPct val="100000"/>
              </a:lnSpc>
              <a:spcBef>
                <a:spcPts val="1189"/>
              </a:spcBef>
            </a:pPr>
            <a:r>
              <a:rPr sz="1700" i="0" b="0">
                <a:solidFill>
                  <a:srgbClr val="CBD5E1"/>
                </a:solidFill>
                <a:latin typeface="Helvetica Neue"/>
              </a:rPr>
              <a:t>Which graders may block a release</a:t>
            </a:r>
          </a:p>
          <a:p>
            <a:pPr algn="l">
              <a:lnSpc>
                <a:spcPct val="100000"/>
              </a:lnSpc>
              <a:spcBef>
                <a:spcPts val="1189"/>
              </a:spcBef>
            </a:pPr>
            <a:r>
              <a:rPr sz="1700" i="0" b="0">
                <a:solidFill>
                  <a:srgbClr val="CBD5E1"/>
                </a:solidFill>
                <a:latin typeface="Helvetica Neue"/>
              </a:rPr>
              <a:t>Don't let a composite hide a regression</a:t>
            </a:r>
          </a:p>
          <a:p>
            <a:pPr algn="l">
              <a:lnSpc>
                <a:spcPct val="100000"/>
              </a:lnSpc>
              <a:spcBef>
                <a:spcPts val="1189"/>
              </a:spcBef>
            </a:pPr>
            <a:r>
              <a:rPr sz="1700" i="0" b="0">
                <a:solidFill>
                  <a:srgbClr val="CBD5E1"/>
                </a:solidFill>
                <a:latin typeface="Helvetica Neue"/>
              </a:rPr>
              <a:t>One judge, one criterion, reason before verdict</a:t>
            </a:r>
          </a:p>
          <a:p>
            <a:pPr algn="l">
              <a:lnSpc>
                <a:spcPct val="100000"/>
              </a:lnSpc>
              <a:spcBef>
                <a:spcPts val="1189"/>
              </a:spcBef>
            </a:pPr>
            <a:r>
              <a:rPr sz="1700" i="0" b="0">
                <a:solidFill>
                  <a:srgbClr val="CBD5E1"/>
                </a:solidFill>
                <a:latin typeface="Helvetica Neue"/>
              </a:rPr>
              <a:t>Known judge biases and their fixes</a:t>
            </a:r>
          </a:p>
          <a:p>
            <a:pPr algn="l">
              <a:lnSpc>
                <a:spcPct val="100000"/>
              </a:lnSpc>
              <a:spcBef>
                <a:spcPts val="1189"/>
              </a:spcBef>
            </a:pPr>
            <a:r>
              <a:rPr sz="1700" i="0" b="0">
                <a:solidFill>
                  <a:srgbClr val="CBD5E1"/>
                </a:solidFill>
                <a:latin typeface="Helvetica Neue"/>
              </a:rPr>
              <a:t>Calibrate before you gate</a:t>
            </a:r>
          </a:p>
          <a:p>
            <a:pPr algn="l">
              <a:lnSpc>
                <a:spcPct val="100000"/>
              </a:lnSpc>
              <a:spcBef>
                <a:spcPts val="1189"/>
              </a:spcBef>
            </a:pPr>
            <a:r>
              <a:rPr sz="1700" i="0" b="0">
                <a:solidFill>
                  <a:srgbClr val="CBD5E1"/>
                </a:solidFill>
                <a:latin typeface="Helvetica Neue"/>
              </a:rPr>
              <a:t>Report the two error rates separately</a:t>
            </a:r>
          </a:p>
          <a:p>
            <a:pPr algn="l">
              <a:lnSpc>
                <a:spcPct val="100000"/>
              </a:lnSpc>
              <a:spcBef>
                <a:spcPts val="1189"/>
              </a:spcBef>
            </a:pPr>
            <a:r>
              <a:rPr sz="1700" i="0" b="0">
                <a:solidFill>
                  <a:srgbClr val="CBD5E1"/>
                </a:solidFill>
                <a:latin typeface="Helvetica Neue"/>
              </a:rPr>
              <a:t>Pairwise votes become a ranking</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Code first, judge above it, humans calibrate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Three kinds of grader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notes/04-graders.md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Layers, not alternatives. Run code first and stop early, so judge budget goes where judgment is needed.</a:t>
            </a:r>
          </a:p>
        </p:txBody>
      </p:sp>
      <p:sp>
        <p:nvSpPr>
          <p:cNvPr id="13" name="Rectangle 12"/>
          <p:cNvSpPr/>
          <p:nvPr/>
        </p:nvSpPr>
        <p:spPr>
          <a:xfrm>
            <a:off x="448056" y="1417320"/>
            <a:ext cx="6261948" cy="202614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ai-agents-in-depth-fig7-4-5455704924839797362.png"/>
          <p:cNvPicPr>
            <a:picLocks noChangeAspect="1"/>
          </p:cNvPicPr>
          <p:nvPr/>
        </p:nvPicPr>
        <p:blipFill>
          <a:blip r:embed="rId2"/>
          <a:stretch>
            <a:fillRect/>
          </a:stretch>
        </p:blipFill>
        <p:spPr>
          <a:xfrm>
            <a:off x="502920" y="1472184"/>
            <a:ext cx="6152220" cy="1916416"/>
          </a:xfrm>
          <a:prstGeom prst="rect">
            <a:avLst/>
          </a:prstGeom>
        </p:spPr>
      </p:pic>
      <p:sp>
        <p:nvSpPr>
          <p:cNvPr id="15" name="TextBox 14"/>
          <p:cNvSpPr txBox="1"/>
          <p:nvPr/>
        </p:nvSpPr>
        <p:spPr>
          <a:xfrm>
            <a:off x="502920" y="352576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Verification modes, deterministic to model judgment (Li, AI Agents in Depth, Fig. 7-4)</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Code:</a:t>
            </a:r>
            <a:r>
              <a:rPr sz="1800" i="0" b="0">
                <a:solidFill>
                  <a:srgbClr val="1E293B"/>
                </a:solidFill>
                <a:latin typeface="Helvetica Neue"/>
              </a:rPr>
              <a:t> deterministic, free, hard to argue with</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Separated evaluator:</a:t>
            </a:r>
            <a:r>
              <a:rPr sz="1800" i="0" b="0">
                <a:solidFill>
                  <a:srgbClr val="1E293B"/>
                </a:solidFill>
                <a:latin typeface="Helvetica Neue"/>
              </a:rPr>
              <a:t> runs the output, doesn't just read it</a:t>
            </a:r>
          </a:p>
        </p:txBody>
      </p:sp>
      <p:sp>
        <p:nvSpPr>
          <p:cNvPr id="20" name="Rectangle 19"/>
          <p:cNvSpPr/>
          <p:nvPr/>
        </p:nvSpPr>
        <p:spPr>
          <a:xfrm>
            <a:off x="7020900" y="304038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LLM judge:</a:t>
            </a:r>
            <a:r>
              <a:rPr sz="1800" i="0" b="0">
                <a:solidFill>
                  <a:srgbClr val="1E293B"/>
                </a:solidFill>
                <a:latin typeface="Helvetica Neue"/>
              </a:rPr>
              <a:t> semantic quality at volume. Biased, needs calibration</a:t>
            </a:r>
          </a:p>
        </p:txBody>
      </p:sp>
      <p:sp>
        <p:nvSpPr>
          <p:cNvPr id="22" name="Rectangle 21"/>
          <p:cNvSpPr/>
          <p:nvPr/>
        </p:nvSpPr>
        <p:spPr>
          <a:xfrm>
            <a:off x="7020900" y="378104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Humans:</a:t>
            </a:r>
            <a:r>
              <a:rPr sz="1800" i="0" b="0">
                <a:solidFill>
                  <a:srgbClr val="1E293B"/>
                </a:solidFill>
                <a:latin typeface="Helvetica Neue"/>
              </a:rPr>
              <a:t> 5–10% of graded rows, to </a:t>
            </a:r>
            <a:r>
              <a:rPr sz="1800" i="0" b="1">
                <a:solidFill>
                  <a:srgbClr val="1E293B"/>
                </a:solidFill>
                <a:latin typeface="Helvetica Neue"/>
              </a:rPr>
              <a:t>calibrate</a:t>
            </a:r>
            <a:r>
              <a:rPr sz="1800" i="0" b="0">
                <a:solidFill>
                  <a:srgbClr val="1E293B"/>
                </a:solidFill>
                <a:latin typeface="Helvetica Neue"/>
              </a:rPr>
              <a:t> the judge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contract for every grader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grader interface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notes/04-graders.md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Same input, same output shape. Graders become swappable, composable and reportable the same way.</a:t>
            </a:r>
          </a:p>
        </p:txBody>
      </p:sp>
      <p:sp>
        <p:nvSpPr>
          <p:cNvPr id="13" name="Rounded Rectangle 12"/>
          <p:cNvSpPr/>
          <p:nvPr/>
        </p:nvSpPr>
        <p:spPr>
          <a:xfrm>
            <a:off x="502920" y="1472184"/>
            <a:ext cx="6711513" cy="361187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9717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class Grader(Protocol):</a:t>
            </a:r>
          </a:p>
          <a:p>
            <a:pPr algn="l">
              <a:lnSpc>
                <a:spcPct val="100000"/>
              </a:lnSpc>
            </a:pPr>
            <a:r>
              <a:rPr sz="1600" i="0" b="0">
                <a:solidFill>
                  <a:srgbClr val="E2E8F0"/>
                </a:solidFill>
                <a:latin typeface="Menlo"/>
              </a:rPr>
              <a:t>    name: str</a:t>
            </a:r>
          </a:p>
          <a:p>
            <a:pPr algn="l">
              <a:lnSpc>
                <a:spcPct val="100000"/>
              </a:lnSpc>
            </a:pPr>
            <a:r>
              <a:rPr sz="1600" i="0" b="0">
                <a:solidFill>
                  <a:srgbClr val="E2E8F0"/>
                </a:solidFill>
                <a:latin typeface="Menlo"/>
              </a:rPr>
              <a:t>    version: str</a:t>
            </a:r>
          </a:p>
          <a:p>
            <a:pPr algn="l">
              <a:lnSpc>
                <a:spcPct val="100000"/>
              </a:lnSpc>
            </a:pPr>
            <a:r>
              <a:rPr sz="1600" i="0" b="0">
                <a:solidFill>
                  <a:srgbClr val="E2E8F0"/>
                </a:solidFill>
                <a:latin typeface="Menlo"/>
              </a:rPr>
              <a:t>    # e.g. {"retrieved_context"}: skip if missing</a:t>
            </a:r>
          </a:p>
          <a:p>
            <a:pPr algn="l">
              <a:lnSpc>
                <a:spcPct val="100000"/>
              </a:lnSpc>
            </a:pPr>
            <a:r>
              <a:rPr sz="1600" i="0" b="0">
                <a:solidFill>
                  <a:srgbClr val="E2E8F0"/>
                </a:solidFill>
                <a:latin typeface="Menlo"/>
              </a:rPr>
              <a:t>    requires: set[str]</a:t>
            </a:r>
          </a:p>
          <a:p>
            <a:pPr algn="l">
              <a:lnSpc>
                <a:spcPct val="100000"/>
              </a:lnSpc>
            </a:pPr>
          </a:p>
          <a:p>
            <a:pPr algn="l">
              <a:lnSpc>
                <a:spcPct val="100000"/>
              </a:lnSpc>
            </a:pPr>
            <a:r>
              <a:rPr sz="1600" i="0" b="0">
                <a:solidFill>
                  <a:srgbClr val="E2E8F0"/>
                </a:solidFill>
                <a:latin typeface="Menlo"/>
              </a:rPr>
              <a:t>    def grade(self, task, output,</a:t>
            </a:r>
          </a:p>
          <a:p>
            <a:pPr algn="l">
              <a:lnSpc>
                <a:spcPct val="100000"/>
              </a:lnSpc>
            </a:pPr>
            <a:r>
              <a:rPr sz="1600" i="0" b="0">
                <a:solidFill>
                  <a:srgbClr val="E2E8F0"/>
                </a:solidFill>
                <a:latin typeface="Menlo"/>
              </a:rPr>
              <a:t>              trajectory=None,</a:t>
            </a:r>
          </a:p>
          <a:p>
            <a:pPr algn="l">
              <a:lnSpc>
                <a:spcPct val="100000"/>
              </a:lnSpc>
            </a:pPr>
            <a:r>
              <a:rPr sz="1600" i="0" b="0">
                <a:solidFill>
                  <a:srgbClr val="E2E8F0"/>
                </a:solidFill>
                <a:latin typeface="Menlo"/>
              </a:rPr>
              <a:t>              context=None) -&gt; GraderResult: ...</a:t>
            </a:r>
          </a:p>
          <a:p>
            <a:pPr algn="l">
              <a:lnSpc>
                <a:spcPct val="100000"/>
              </a:lnSpc>
            </a:pPr>
          </a:p>
          <a:p>
            <a:pPr algn="l">
              <a:lnSpc>
                <a:spcPct val="100000"/>
              </a:lnSpc>
            </a:pPr>
            <a:r>
              <a:rPr sz="1600" i="0" b="0">
                <a:solidFill>
                  <a:srgbClr val="E2E8F0"/>
                </a:solidFill>
                <a:latin typeface="Menlo"/>
              </a:rPr>
              <a:t># GraderResult: score, passed, reasoning,</a:t>
            </a:r>
          </a:p>
          <a:p>
            <a:pPr algn="l">
              <a:lnSpc>
                <a:spcPct val="100000"/>
              </a:lnSpc>
            </a:pPr>
            <a:r>
              <a:rPr sz="1600" i="0" b="0">
                <a:solidFill>
                  <a:srgbClr val="E2E8F0"/>
                </a:solidFill>
                <a:latin typeface="Menlo"/>
              </a:rPr>
              <a:t>#   dimensions, labels, grader_version</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requires</a:t>
            </a:r>
            <a:r>
              <a:rPr sz="1800" i="0" b="1">
                <a:solidFill>
                  <a:srgbClr val="1E293B"/>
                </a:solidFill>
                <a:latin typeface="Helvetica Neue"/>
              </a:rPr>
              <a:t>:</a:t>
            </a:r>
            <a:r>
              <a:rPr sz="1800" i="0" b="0">
                <a:solidFill>
                  <a:srgbClr val="1E293B"/>
                </a:solidFill>
                <a:latin typeface="Helvetica Neue"/>
              </a:rPr>
              <a:t> skip with </a:t>
            </a:r>
            <a:r>
              <a:rPr sz="1620" i="0" b="0">
                <a:solidFill>
                  <a:srgbClr val="0F7490"/>
                </a:solidFill>
                <a:latin typeface="Menlo"/>
              </a:rPr>
              <a:t>context_missing</a:t>
            </a:r>
            <a:r>
              <a:rPr sz="1800" i="0" b="0">
                <a:solidFill>
                  <a:srgbClr val="1E293B"/>
                </a:solidFill>
                <a:latin typeface="Helvetica Neue"/>
              </a:rPr>
              <a:t>, don't guess</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996696"/>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reasoning</a:t>
            </a:r>
            <a:r>
              <a:rPr sz="1800" i="0" b="1">
                <a:solidFill>
                  <a:srgbClr val="1E293B"/>
                </a:solidFill>
                <a:latin typeface="Helvetica Neue"/>
              </a:rPr>
              <a:t>:</a:t>
            </a:r>
            <a:r>
              <a:rPr sz="1800" i="0" b="0">
                <a:solidFill>
                  <a:srgbClr val="1E293B"/>
                </a:solidFill>
                <a:latin typeface="Helvetica Neue"/>
              </a:rPr>
              <a:t> the judge's explanation, or the failing check</a:t>
            </a:r>
          </a:p>
        </p:txBody>
      </p:sp>
      <p:sp>
        <p:nvSpPr>
          <p:cNvPr id="20" name="Rectangle 19"/>
          <p:cNvSpPr/>
          <p:nvPr/>
        </p:nvSpPr>
        <p:spPr>
          <a:xfrm>
            <a:off x="7580193" y="33878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3300984"/>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labels</a:t>
            </a:r>
            <a:r>
              <a:rPr sz="1800" i="0" b="1">
                <a:solidFill>
                  <a:srgbClr val="1E293B"/>
                </a:solidFill>
                <a:latin typeface="Helvetica Neue"/>
              </a:rPr>
              <a:t>:</a:t>
            </a:r>
            <a:r>
              <a:rPr sz="1800" i="0" b="0">
                <a:solidFill>
                  <a:srgbClr val="1E293B"/>
                </a:solidFill>
                <a:latin typeface="Helvetica Neue"/>
              </a:rPr>
              <a:t> taxonomy labels this trial earned</a:t>
            </a:r>
          </a:p>
        </p:txBody>
      </p:sp>
      <p:sp>
        <p:nvSpPr>
          <p:cNvPr id="22" name="Rectangle 21"/>
          <p:cNvSpPr/>
          <p:nvPr/>
        </p:nvSpPr>
        <p:spPr>
          <a:xfrm>
            <a:off x="7580193" y="4128515"/>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4041648"/>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grader_version</a:t>
            </a:r>
            <a:r>
              <a:rPr sz="1800" i="0" b="1">
                <a:solidFill>
                  <a:srgbClr val="1E293B"/>
                </a:solidFill>
                <a:latin typeface="Helvetica Neue"/>
              </a:rPr>
              <a:t>:</a:t>
            </a:r>
            <a:r>
              <a:rPr sz="1800" i="0" b="0">
                <a:solidFill>
                  <a:srgbClr val="1E293B"/>
                </a:solidFill>
                <a:latin typeface="Helvetica Neue"/>
              </a:rPr>
              <a:t> every score traceable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Which graders may block a release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Grader states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notes/04-graders.md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threshold change without fresh calibration evidence moves a grader back to experimental.</a:t>
            </a:r>
          </a:p>
        </p:txBody>
      </p:sp>
      <p:graphicFrame>
        <p:nvGraphicFramePr>
          <p:cNvPr id="13" name="Table 12"/>
          <p:cNvGraphicFramePr>
            <a:graphicFrameLocks noGrp="1"/>
          </p:cNvGraphicFramePr>
          <p:nvPr/>
        </p:nvGraphicFramePr>
        <p:xfrm>
          <a:off x="502920" y="1472184"/>
          <a:ext cx="11185854" cy="1880616"/>
        </p:xfrm>
        <a:graphic>
          <a:graphicData uri="http://schemas.openxmlformats.org/drawingml/2006/table">
            <a:tbl>
              <a:tblPr firstRow="1" bandRow="1">
                <a:tableStyleId>{5940675A-B579-460E-94D1-54222C63F5DA}</a:tableStyleId>
              </a:tblPr>
              <a:tblGrid>
                <a:gridCol w="2237171"/>
                <a:gridCol w="6264078"/>
                <a:gridCol w="2684605"/>
              </a:tblGrid>
              <a:tr h="405384">
                <a:tc>
                  <a:txBody>
                    <a:bodyPr wrap="square"/>
                    <a:lstStyle/>
                    <a:p>
                      <a:pPr>
                        <a:lnSpc>
                          <a:spcPct val="100000"/>
                        </a:lnSpc>
                      </a:pPr>
                      <a:r>
                        <a:rPr sz="1700" i="0" b="1">
                          <a:solidFill>
                            <a:srgbClr val="FFFFFF"/>
                          </a:solidFill>
                          <a:latin typeface="Helvetica Neue"/>
                        </a:rPr>
                        <a:t>State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Meaning</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Can gate?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Heuristic</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Deterministic code check</a:t>
                      </a:r>
                    </a:p>
                  </a:txBody>
                  <a:tcPr marL="109728" marR="109728" marT="54864" marB="54864" anchor="ctr">
                    <a:solidFill>
                      <a:srgbClr val="FFFFFF"/>
                    </a:solidFill>
                  </a:tcPr>
                </a:tc>
                <a:tc>
                  <a:txBody>
                    <a:bodyPr wrap="square"/>
                    <a:lstStyle/>
                    <a:p>
                      <a:pPr>
                        <a:lnSpc>
                          <a:spcPct val="100000"/>
                        </a:lnSpc>
                      </a:pPr>
                      <a:r>
                        <a:rPr sz="1700" i="0" b="1">
                          <a:solidFill>
                            <a:srgbClr val="1E293B"/>
                          </a:solidFill>
                          <a:latin typeface="Helvetica Neue"/>
                        </a:rPr>
                        <a:t>Yes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Calibrated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LLM judge with evidence it agrees with humans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Yes, at the calibrated threshold</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Experimental</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New or uncalibrated judge</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No.</a:t>
                      </a:r>
                      <a:r>
                        <a:rPr sz="1700" i="0" b="0">
                          <a:solidFill>
                            <a:srgbClr val="475569"/>
                          </a:solidFill>
                          <a:latin typeface="Helvetica Neue"/>
                        </a:rPr>
                        <a:t> Tracking only</a:t>
                      </a:r>
                    </a:p>
                  </a:txBody>
                  <a:tcPr marL="109728" marR="109728" marT="54864" marB="54864" anchor="ctr">
                    <a:solidFill>
                      <a:srgbClr val="E8F4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Don't let a composite hide a regression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Combining graders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notes/04-graders.md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Prefer binary pass/fail per dimension over 1–5 scales. "Is this a 3 or a 4?" has no stable answer.</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Weighted composite alone</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+5 relevance, −5 grounding = flat score</a:t>
            </a:r>
          </a:p>
        </p:txBody>
      </p:sp>
      <p:sp>
        <p:nvSpPr>
          <p:cNvPr id="18" name="Rectangle 17"/>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Worse for users who need correct answers</a:t>
            </a:r>
          </a:p>
        </p:txBody>
      </p:sp>
      <p:sp>
        <p:nvSpPr>
          <p:cNvPr id="20" name="Rectangle 19"/>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6019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fluent answer with a made-up fact still scores well</a:t>
            </a:r>
          </a:p>
        </p:txBody>
      </p:sp>
      <p:sp>
        <p:nvSpPr>
          <p:cNvPr id="22" name="Rectangle 21"/>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Hybrid with a veto</a:t>
            </a:r>
          </a:p>
        </p:txBody>
      </p:sp>
      <p:sp>
        <p:nvSpPr>
          <p:cNvPr id="25" name="Rectangle 24"/>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Must-pass gates: schema valid, </a:t>
            </a:r>
            <a:r>
              <a:rPr sz="1700" i="0" b="1">
                <a:solidFill>
                  <a:srgbClr val="1E293B"/>
                </a:solidFill>
                <a:latin typeface="Helvetica Neue"/>
              </a:rPr>
              <a:t>no</a:t>
            </a:r>
            <a:r>
              <a:rPr sz="1700" i="0" b="0">
                <a:solidFill>
                  <a:srgbClr val="1E293B"/>
                </a:solidFill>
                <a:latin typeface="Helvetica Neue"/>
              </a:rPr>
              <a:t> citation hallucination</a:t>
            </a:r>
          </a:p>
        </p:txBody>
      </p:sp>
      <p:sp>
        <p:nvSpPr>
          <p:cNvPr id="27" name="Rectangle 26"/>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Then 0.5 grounding + 0.3 completeness + 0.2 relevance ≥ 0.75</a:t>
            </a:r>
          </a:p>
        </p:txBody>
      </p:sp>
      <p:sp>
        <p:nvSpPr>
          <p:cNvPr id="29" name="Rectangle 28"/>
          <p:cNvSpPr/>
          <p:nvPr/>
        </p:nvSpPr>
        <p:spPr>
          <a:xfrm>
            <a:off x="6507327" y="371221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363016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Hallucination is a </a:t>
            </a:r>
            <a:r>
              <a:rPr sz="1700" i="0" b="1">
                <a:solidFill>
                  <a:srgbClr val="1E293B"/>
                </a:solidFill>
                <a:latin typeface="Helvetica Neue"/>
              </a:rPr>
              <a:t>veto</a:t>
            </a:r>
            <a:r>
              <a:rPr sz="1700" i="0" b="0">
                <a:solidFill>
                  <a:srgbClr val="1E293B"/>
                </a:solidFill>
                <a:latin typeface="Helvetica Neue"/>
              </a:rPr>
              <a:t>: fires → total is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One judge, one criterion, reason before verdict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Writing the judge prompt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notes/05-llm-as-judge.md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Parse strictly. An unparseable verdict is a grader error, not a FAIL.</a:t>
            </a:r>
          </a:p>
        </p:txBody>
      </p:sp>
      <p:sp>
        <p:nvSpPr>
          <p:cNvPr id="13" name="Rounded Rectangle 12"/>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5" name="TextBox 14"/>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You are evaluating whether an answer to a query</a:t>
            </a:r>
          </a:p>
          <a:p>
            <a:pPr algn="l">
              <a:lnSpc>
                <a:spcPct val="100000"/>
              </a:lnSpc>
            </a:pPr>
            <a:r>
              <a:rPr sz="1600" i="0" b="0">
                <a:solidFill>
                  <a:srgbClr val="E2E8F0"/>
                </a:solidFill>
                <a:latin typeface="Menlo"/>
              </a:rPr>
              <a:t>is clear.</a:t>
            </a:r>
          </a:p>
          <a:p>
            <a:pPr algn="l">
              <a:lnSpc>
                <a:spcPct val="100000"/>
              </a:lnSpc>
            </a:pPr>
            <a:r>
              <a:rPr sz="1600" i="0" b="0">
                <a:solidFill>
                  <a:srgbClr val="E2E8F0"/>
                </a:solidFill>
                <a:latin typeface="Menlo"/>
              </a:rPr>
              <a:t>[BEGIN DATA]</a:t>
            </a:r>
          </a:p>
          <a:p>
            <a:pPr algn="l">
              <a:lnSpc>
                <a:spcPct val="100000"/>
              </a:lnSpc>
            </a:pPr>
            <a:r>
              <a:rPr sz="1600" i="0" b="0">
                <a:solidFill>
                  <a:srgbClr val="E2E8F0"/>
                </a:solidFill>
                <a:latin typeface="Menlo"/>
              </a:rPr>
              <a:t>Query: {query}</a:t>
            </a:r>
          </a:p>
          <a:p>
            <a:pPr algn="l">
              <a:lnSpc>
                <a:spcPct val="100000"/>
              </a:lnSpc>
            </a:pPr>
            <a:r>
              <a:rPr sz="1600" i="0" b="0">
                <a:solidFill>
                  <a:srgbClr val="E2E8F0"/>
                </a:solidFill>
                <a:latin typeface="Menlo"/>
              </a:rPr>
              <a:t>Answer: {response}</a:t>
            </a:r>
          </a:p>
          <a:p>
            <a:pPr algn="l">
              <a:lnSpc>
                <a:spcPct val="100000"/>
              </a:lnSpc>
            </a:pPr>
            <a:r>
              <a:rPr sz="1600" i="0" b="0">
                <a:solidFill>
                  <a:srgbClr val="E2E8F0"/>
                </a:solidFill>
                <a:latin typeface="Menlo"/>
              </a:rPr>
              <a:t>[END DATA]</a:t>
            </a:r>
          </a:p>
          <a:p>
            <a:pPr algn="l">
              <a:lnSpc>
                <a:spcPct val="100000"/>
              </a:lnSpc>
            </a:pPr>
            <a:r>
              <a:rPr sz="1600" i="0" b="0">
                <a:solidFill>
                  <a:srgbClr val="E2E8F0"/>
                </a:solidFill>
                <a:latin typeface="Menlo"/>
              </a:rPr>
              <a:t>"clear": easy to follow, answers the query.</a:t>
            </a:r>
          </a:p>
          <a:p>
            <a:pPr algn="l">
              <a:lnSpc>
                <a:spcPct val="100000"/>
              </a:lnSpc>
            </a:pPr>
            <a:r>
              <a:rPr sz="1600" i="0" b="0">
                <a:solidFill>
                  <a:srgbClr val="E2E8F0"/>
                </a:solidFill>
                <a:latin typeface="Menlo"/>
              </a:rPr>
              <a:t>"unclear": confusing, off-topic, hard to act on.</a:t>
            </a:r>
          </a:p>
          <a:p>
            <a:pPr algn="l">
              <a:lnSpc>
                <a:spcPct val="100000"/>
              </a:lnSpc>
            </a:pPr>
          </a:p>
          <a:p>
            <a:pPr algn="l">
              <a:lnSpc>
                <a:spcPct val="100000"/>
              </a:lnSpc>
            </a:pPr>
            <a:r>
              <a:rPr sz="1600" i="0" b="0">
                <a:solidFill>
                  <a:srgbClr val="E2E8F0"/>
                </a:solidFill>
                <a:latin typeface="Menlo"/>
              </a:rPr>
              <a:t>EXPLANATION: &lt;step-by-step reasoning&gt;</a:t>
            </a:r>
          </a:p>
          <a:p>
            <a:pPr algn="l">
              <a:lnSpc>
                <a:spcPct val="100000"/>
              </a:lnSpc>
            </a:pPr>
            <a:r>
              <a:rPr sz="1600" i="0" b="0">
                <a:solidFill>
                  <a:srgbClr val="E2E8F0"/>
                </a:solidFill>
                <a:latin typeface="Menlo"/>
              </a:rPr>
              <a:t>LABEL: "clear" or "unclear"</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Grade a third party's work, never "your own"</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Precise PASS and FAIL definitions</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2–4 few-shot cases near the boundary</a:t>
            </a:r>
          </a:p>
        </p:txBody>
      </p:sp>
      <p:sp>
        <p:nvSpPr>
          <p:cNvPr id="22" name="Rectangle 21"/>
          <p:cNvSpPr/>
          <p:nvPr/>
        </p:nvSpPr>
        <p:spPr>
          <a:xfrm>
            <a:off x="7580193" y="3826763"/>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3739896"/>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Delimited inputs; critique, then a fixed-format label</a:t>
            </a:r>
          </a:p>
        </p:txBody>
      </p:sp>
      <p:sp>
        <p:nvSpPr>
          <p:cNvPr id="24" name="Rectangle 23"/>
          <p:cNvSpPr/>
          <p:nvPr/>
        </p:nvSpPr>
        <p:spPr>
          <a:xfrm>
            <a:off x="7580193" y="45674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0233" y="4480560"/>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a:t>
            </a:r>
            <a:r>
              <a:rPr sz="1620" i="0" b="0">
                <a:solidFill>
                  <a:srgbClr val="0F7490"/>
                </a:solidFill>
                <a:latin typeface="Menlo"/>
              </a:rPr>
              <a:t>CANNOT_GRADE</a:t>
            </a:r>
            <a:r>
              <a:rPr sz="1800" i="0" b="0">
                <a:solidFill>
                  <a:srgbClr val="1E293B"/>
                </a:solidFill>
                <a:latin typeface="Helvetica Neue"/>
              </a:rPr>
              <a:t> escape, or the judge guesses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Known judge biases and their fixes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Zheng et al. 2023 (MT-Bench)</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notes/05-llm-as-judge.md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Once these are controlled, strong judges agree with humans about as often as humans agree with each other (over 80%).</a:t>
            </a:r>
          </a:p>
        </p:txBody>
      </p:sp>
      <p:graphicFrame>
        <p:nvGraphicFramePr>
          <p:cNvPr id="13" name="Table 12"/>
          <p:cNvGraphicFramePr>
            <a:graphicFrameLocks noGrp="1"/>
          </p:cNvGraphicFramePr>
          <p:nvPr/>
        </p:nvGraphicFramePr>
        <p:xfrm>
          <a:off x="502920" y="1472184"/>
          <a:ext cx="11185853" cy="3874008"/>
        </p:xfrm>
        <a:graphic>
          <a:graphicData uri="http://schemas.openxmlformats.org/drawingml/2006/table">
            <a:tbl>
              <a:tblPr firstRow="1" bandRow="1">
                <a:tableStyleId>{5940675A-B579-460E-94D1-54222C63F5DA}</a:tableStyleId>
              </a:tblPr>
              <a:tblGrid>
                <a:gridCol w="2125312"/>
                <a:gridCol w="4250624"/>
                <a:gridCol w="4809917"/>
              </a:tblGrid>
              <a:tr h="405384">
                <a:tc>
                  <a:txBody>
                    <a:bodyPr wrap="square"/>
                    <a:lstStyle/>
                    <a:p>
                      <a:pPr>
                        <a:lnSpc>
                          <a:spcPct val="100000"/>
                        </a:lnSpc>
                      </a:pPr>
                      <a:r>
                        <a:rPr sz="1700" i="0" b="1">
                          <a:solidFill>
                            <a:srgbClr val="FFFFFF"/>
                          </a:solidFill>
                          <a:latin typeface="Helvetica Neue"/>
                        </a:rPr>
                        <a:t>Bias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happens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Mitigation</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Position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Pairwise judges favor one slot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Run both orders. A win must hold in both</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Verbosity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Longer answers score higher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Rubric says length isn't quality. Track score vs. length</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Self-preference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Favors its own model family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Judge with a different family</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Leniency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Borderline cases pass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Explicit FAIL conditions. Tricky-FAIL few-shots</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Format / authority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Confident tone, markdown, citations look right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Check citations in code</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Limited capability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Can't verify what it can't do</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reference, a code check, or a stronger judge</a:t>
                      </a:r>
                    </a:p>
                  </a:txBody>
                  <a:tcPr marL="109728" marR="109728" marT="54864" marB="54864" anchor="ctr">
                    <a:solidFill>
                      <a:srgbClr val="F8FAF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Calibrate before you gate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procedure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notes/05-llm-as-judge.md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An uncalibrated judge never gates a release.</a:t>
            </a:r>
          </a:p>
        </p:txBody>
      </p:sp>
      <p:sp>
        <p:nvSpPr>
          <p:cNvPr id="13" name="Rectangle 12"/>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Get human labels</a:t>
            </a:r>
            <a:r>
              <a:rPr sz="1800" i="0" b="0">
                <a:solidFill>
                  <a:srgbClr val="475569"/>
                </a:solidFill>
                <a:latin typeface="Helvetica Neue"/>
              </a:rPr>
              <a:t> — </a:t>
            </a:r>
            <a:r>
              <a:rPr sz="1800" i="0" b="1">
                <a:solidFill>
                  <a:srgbClr val="1E293B"/>
                </a:solidFill>
                <a:latin typeface="Helvetica Neue"/>
              </a:rPr>
              <a:t>100–200</a:t>
            </a:r>
            <a:r>
              <a:rPr sz="1800" i="0" b="0">
                <a:solidFill>
                  <a:srgbClr val="475569"/>
                </a:solidFill>
                <a:latin typeface="Helvetica Neue"/>
              </a:rPr>
              <a:t> outputs labeled PASS/FAIL by your domain expert.</a:t>
            </a:r>
          </a:p>
        </p:txBody>
      </p:sp>
      <p:sp>
        <p:nvSpPr>
          <p:cNvPr id="17" name="Rectangle 16"/>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Split</a:t>
            </a:r>
            <a:r>
              <a:rPr sz="1800" i="0" b="0">
                <a:solidFill>
                  <a:srgbClr val="475569"/>
                </a:solidFill>
                <a:latin typeface="Helvetica Neue"/>
              </a:rPr>
              <a:t> — Train (few-shots), dev (iterate), test (measure once).</a:t>
            </a:r>
          </a:p>
        </p:txBody>
      </p:sp>
      <p:sp>
        <p:nvSpPr>
          <p:cNvPr id="21" name="Rectangle 20"/>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Run on dev</a:t>
            </a:r>
            <a:r>
              <a:rPr sz="1800" i="0" b="0">
                <a:solidFill>
                  <a:srgbClr val="475569"/>
                </a:solidFill>
                <a:latin typeface="Helvetica Neue"/>
              </a:rPr>
              <a:t> — Build the confusion matrix against the human labels.</a:t>
            </a:r>
          </a:p>
        </p:txBody>
      </p:sp>
      <p:sp>
        <p:nvSpPr>
          <p:cNvPr id="25" name="Rectangle 24"/>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Read disagreements</a:t>
            </a:r>
            <a:r>
              <a:rPr sz="1800" i="0" b="0">
                <a:solidFill>
                  <a:srgbClr val="475569"/>
                </a:solidFill>
                <a:latin typeface="Helvetica Neue"/>
              </a:rPr>
              <a:t> — Each is a prompt problem, a criteria problem, or a hard case.</a:t>
            </a:r>
          </a:p>
        </p:txBody>
      </p:sp>
      <p:sp>
        <p:nvSpPr>
          <p:cNvPr id="29" name="Rectangle 28"/>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Measure on test once</a:t>
            </a:r>
            <a:r>
              <a:rPr sz="1800" i="0" b="0">
                <a:solidFill>
                  <a:srgbClr val="475569"/>
                </a:solidFill>
                <a:latin typeface="Helvetica Neue"/>
              </a:rPr>
              <a:t> — That's the reported number. Record judge model and prompt version.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Report the two error rates separately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What to measure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notes/05-llm-as-judge.md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Correct the pass rate: true ≈ (p̂ + TNR − 1) / (TPR + TNR − 1).</a:t>
            </a:r>
          </a:p>
        </p:txBody>
      </p:sp>
      <p:graphicFrame>
        <p:nvGraphicFramePr>
          <p:cNvPr id="13" name="Table 12"/>
          <p:cNvGraphicFramePr>
            <a:graphicFrameLocks noGrp="1"/>
          </p:cNvGraphicFramePr>
          <p:nvPr/>
        </p:nvGraphicFramePr>
        <p:xfrm>
          <a:off x="502920" y="1472184"/>
          <a:ext cx="11185854" cy="2432304"/>
        </p:xfrm>
        <a:graphic>
          <a:graphicData uri="http://schemas.openxmlformats.org/drawingml/2006/table">
            <a:tbl>
              <a:tblPr firstRow="1" bandRow="1">
                <a:tableStyleId>{5940675A-B579-460E-94D1-54222C63F5DA}</a:tableStyleId>
              </a:tblPr>
              <a:tblGrid>
                <a:gridCol w="2460888"/>
                <a:gridCol w="5145493"/>
                <a:gridCol w="3579473"/>
              </a:tblGrid>
              <a:tr h="405384">
                <a:tc>
                  <a:txBody>
                    <a:bodyPr wrap="square"/>
                    <a:lstStyle/>
                    <a:p>
                      <a:pPr>
                        <a:lnSpc>
                          <a:spcPct val="100000"/>
                        </a:lnSpc>
                      </a:pPr>
                      <a:r>
                        <a:rPr sz="1700" i="0" b="1">
                          <a:solidFill>
                            <a:srgbClr val="FFFFFF"/>
                          </a:solidFill>
                          <a:latin typeface="Helvetica Neue"/>
                        </a:rPr>
                        <a:t>Metric</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Meaning</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Matters for</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TPR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Of human PASSes, how many the judge passed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Not blocking good releases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TNR</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Of human FAILs, how many the judge failed</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Catching bad outputs</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Precision on PASS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Of judge PASSes, how many humans passed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Building golden labels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Cohen's κ</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Agreement corrected for chance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Comparing to human–human</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Score separation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Mean on human-PASS minus mean on human-FAIL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Does it discriminate at all?</a:t>
                      </a:r>
                    </a:p>
                  </a:txBody>
                  <a:tcPr marL="109728" marR="109728" marT="54864" marB="54864"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Pairwise votes become a ranking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Elo and Bradley–Terry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Grading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notes/05-llm-as-judge.md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Pairwise is easier for the judge than absolute scoring, but you can't monitor production with it.</a:t>
            </a:r>
          </a:p>
        </p:txBody>
      </p:sp>
      <p:sp>
        <p:nvSpPr>
          <p:cNvPr id="13" name="Rectangle 12"/>
          <p:cNvSpPr/>
          <p:nvPr/>
        </p:nvSpPr>
        <p:spPr>
          <a:xfrm>
            <a:off x="744277" y="1417320"/>
            <a:ext cx="5669505"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ai-agents-in-depth-fig7-6-5297412210537637326-3108754414885997842.jpg"/>
          <p:cNvPicPr>
            <a:picLocks noChangeAspect="1"/>
          </p:cNvPicPr>
          <p:nvPr/>
        </p:nvPicPr>
        <p:blipFill>
          <a:blip r:embed="rId2"/>
          <a:stretch>
            <a:fillRect/>
          </a:stretch>
        </p:blipFill>
        <p:spPr>
          <a:xfrm>
            <a:off x="799141" y="1472184"/>
            <a:ext cx="5559777" cy="3602735"/>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Elo rating from pairwise comparisons (Li, AI Agents in Depth, Fig. 7-6)</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Expected: E = 1 / (1 + 10^((R_B − R_A)/400))</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Update: R ← R + K·(S − E)</a:t>
            </a:r>
          </a:p>
        </p:txBody>
      </p:sp>
      <p:sp>
        <p:nvSpPr>
          <p:cNvPr id="20" name="Rectangle 19"/>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1200 vs 1000 → expected win </a:t>
            </a:r>
            <a:r>
              <a:rPr sz="1800" i="0" b="1">
                <a:solidFill>
                  <a:srgbClr val="1E293B"/>
                </a:solidFill>
                <a:latin typeface="Helvetica Neue"/>
              </a:rPr>
              <a:t>76%</a:t>
            </a:r>
          </a:p>
        </p:txBody>
      </p:sp>
      <p:sp>
        <p:nvSpPr>
          <p:cNvPr id="22" name="Rectangle 21"/>
          <p:cNvSpPr/>
          <p:nvPr/>
        </p:nvSpPr>
        <p:spPr>
          <a:xfrm>
            <a:off x="7020900" y="317754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09067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LLM voter: </a:t>
            </a:r>
            <a:r>
              <a:rPr sz="1800" i="0" b="1">
                <a:solidFill>
                  <a:srgbClr val="1E293B"/>
                </a:solidFill>
                <a:latin typeface="Helvetica Neue"/>
              </a:rPr>
              <a:t>swap the order</a:t>
            </a:r>
            <a:r>
              <a:rPr sz="1800" i="0" b="0">
                <a:solidFill>
                  <a:srgbClr val="1E293B"/>
                </a:solidFill>
                <a:latin typeface="Helvetica Neue"/>
              </a:rPr>
              <a:t>, count a win only if it holds both ways</a:t>
            </a:r>
          </a:p>
        </p:txBody>
      </p:sp>
      <p:sp>
        <p:nvSpPr>
          <p:cNvPr id="24" name="Rectangle 23"/>
          <p:cNvSpPr/>
          <p:nvPr/>
        </p:nvSpPr>
        <p:spPr>
          <a:xfrm>
            <a:off x="7020900" y="391820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383133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Check for cycles; Bradley–Terry assumes transitivity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Applying it</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Agents · RAG and grounding · Tracing</a:t>
            </a:r>
          </a:p>
        </p:txBody>
      </p:sp>
      <p:cxnSp>
        <p:nvCxnSpPr>
          <p:cNvPr id="6" name="Connector 5"/>
          <p:cNvCxnSpPr/>
          <p:nvPr/>
        </p:nvCxnSpPr>
        <p:spPr>
          <a:xfrm>
            <a:off x="6446520" y="1376680"/>
            <a:ext cx="0" cy="41046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376680"/>
            <a:ext cx="4693615" cy="4287520"/>
          </a:xfrm>
          <a:prstGeom prst="rect">
            <a:avLst/>
          </a:prstGeom>
          <a:noFill/>
        </p:spPr>
        <p:txBody>
          <a:bodyPr wrap="square" lIns="0" rIns="0" tIns="0" bIns="0" anchor="t">
            <a:noAutofit/>
          </a:bodyPr>
          <a:lstStyle/>
          <a:p>
            <a:pPr algn="l">
              <a:lnSpc>
                <a:spcPct val="100000"/>
              </a:lnSpc>
            </a:pPr>
            <a:r>
              <a:rPr sz="1600" i="0" b="0">
                <a:solidFill>
                  <a:srgbClr val="CBD5E1"/>
                </a:solidFill>
                <a:latin typeface="Helvetica Neue"/>
              </a:rPr>
              <a:t>Outcome and trajectory fail independently</a:t>
            </a:r>
          </a:p>
          <a:p>
            <a:pPr algn="l">
              <a:lnSpc>
                <a:spcPct val="100000"/>
              </a:lnSpc>
              <a:spcBef>
                <a:spcPts val="1120"/>
              </a:spcBef>
            </a:pPr>
            <a:r>
              <a:rPr sz="1600" i="0" b="0">
                <a:solidFill>
                  <a:srgbClr val="CBD5E1"/>
                </a:solidFill>
                <a:latin typeface="Helvetica Neue"/>
              </a:rPr>
              <a:t>Three strictness levels for tool calls</a:t>
            </a:r>
          </a:p>
          <a:p>
            <a:pPr algn="l">
              <a:lnSpc>
                <a:spcPct val="100000"/>
              </a:lnSpc>
              <a:spcBef>
                <a:spcPts val="1120"/>
              </a:spcBef>
            </a:pPr>
            <a:r>
              <a:rPr sz="1600" i="0" b="0">
                <a:solidFill>
                  <a:srgbClr val="CBD5E1"/>
                </a:solidFill>
                <a:latin typeface="Helvetica Neue"/>
              </a:rPr>
              <a:t>One grader per component</a:t>
            </a:r>
          </a:p>
          <a:p>
            <a:pPr algn="l">
              <a:lnSpc>
                <a:spcPct val="100000"/>
              </a:lnSpc>
              <a:spcBef>
                <a:spcPts val="1120"/>
              </a:spcBef>
            </a:pPr>
            <a:r>
              <a:rPr sz="1600" i="0" b="0">
                <a:solidFill>
                  <a:srgbClr val="CBD5E1"/>
                </a:solidFill>
                <a:latin typeface="Helvetica Neue"/>
              </a:rPr>
              <a:t>The router judge, in code</a:t>
            </a:r>
          </a:p>
          <a:p>
            <a:pPr algn="l">
              <a:lnSpc>
                <a:spcPct val="100000"/>
              </a:lnSpc>
              <a:spcBef>
                <a:spcPts val="1120"/>
              </a:spcBef>
            </a:pPr>
            <a:r>
              <a:rPr sz="1600" i="0" b="0">
                <a:solidFill>
                  <a:srgbClr val="CBD5E1"/>
                </a:solidFill>
                <a:latin typeface="Helvetica Neue"/>
              </a:rPr>
              <a:t>pass@k rises, pass^k falls</a:t>
            </a:r>
          </a:p>
          <a:p>
            <a:pPr algn="l">
              <a:lnSpc>
                <a:spcPct val="100000"/>
              </a:lnSpc>
              <a:spcBef>
                <a:spcPts val="1120"/>
              </a:spcBef>
            </a:pPr>
            <a:r>
              <a:rPr sz="1600" i="0" b="0">
                <a:solidFill>
                  <a:srgbClr val="CBD5E1"/>
                </a:solidFill>
                <a:latin typeface="Helvetica Neue"/>
              </a:rPr>
              <a:t>Convergence is relative to what you observed</a:t>
            </a:r>
          </a:p>
          <a:p>
            <a:pPr algn="l">
              <a:lnSpc>
                <a:spcPct val="100000"/>
              </a:lnSpc>
              <a:spcBef>
                <a:spcPts val="1120"/>
              </a:spcBef>
            </a:pPr>
            <a:r>
              <a:rPr sz="1600" i="0" b="0">
                <a:solidFill>
                  <a:srgbClr val="CBD5E1"/>
                </a:solidFill>
                <a:latin typeface="Helvetica Neue"/>
              </a:rPr>
              <a:t>Why agent cost grows faster than step count</a:t>
            </a:r>
          </a:p>
          <a:p>
            <a:pPr algn="l">
              <a:lnSpc>
                <a:spcPct val="100000"/>
              </a:lnSpc>
              <a:spcBef>
                <a:spcPts val="1120"/>
              </a:spcBef>
            </a:pPr>
            <a:r>
              <a:rPr sz="1600" i="0" b="0">
                <a:solidFill>
                  <a:srgbClr val="CBD5E1"/>
                </a:solidFill>
                <a:latin typeface="Helvetica Neue"/>
              </a:rPr>
              <a:t>Score each RAG stage separately</a:t>
            </a:r>
          </a:p>
          <a:p>
            <a:pPr algn="l">
              <a:lnSpc>
                <a:spcPct val="100000"/>
              </a:lnSpc>
              <a:spcBef>
                <a:spcPts val="1120"/>
              </a:spcBef>
            </a:pPr>
            <a:r>
              <a:rPr sz="1600" i="0" b="0">
                <a:solidFill>
                  <a:srgbClr val="CBD5E1"/>
                </a:solidFill>
                <a:latin typeface="Helvetica Neue"/>
              </a:rPr>
              <a:t>Check grounding claim by claim</a:t>
            </a:r>
          </a:p>
          <a:p>
            <a:pPr algn="l">
              <a:lnSpc>
                <a:spcPct val="100000"/>
              </a:lnSpc>
              <a:spcBef>
                <a:spcPts val="1120"/>
              </a:spcBef>
            </a:pPr>
            <a:r>
              <a:rPr sz="1600" i="0" b="0">
                <a:solidFill>
                  <a:srgbClr val="CBD5E1"/>
                </a:solidFill>
                <a:latin typeface="Helvetica Neue"/>
              </a:rPr>
              <a:t>A trace is a tree of spans</a:t>
            </a:r>
          </a:p>
          <a:p>
            <a:pPr algn="l">
              <a:lnSpc>
                <a:spcPct val="100000"/>
              </a:lnSpc>
              <a:spcBef>
                <a:spcPts val="1120"/>
              </a:spcBef>
            </a:pPr>
            <a:r>
              <a:rPr sz="1600" i="0" b="0">
                <a:solidFill>
                  <a:srgbClr val="CBD5E1"/>
                </a:solidFill>
                <a:latin typeface="Helvetica Neue"/>
              </a:rPr>
              <a:t>Traces feed evals, evals feed datasets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Outcome and trajectory fail independently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Evaluating agents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notes/06-evaluating-agents.md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Grade the end state, not what the agent says. "I've issued your refund" with no refund row is the failure to catch.</a:t>
            </a:r>
          </a:p>
        </p:txBody>
      </p:sp>
      <p:graphicFrame>
        <p:nvGraphicFramePr>
          <p:cNvPr id="13" name="Table 12"/>
          <p:cNvGraphicFramePr>
            <a:graphicFrameLocks noGrp="1"/>
          </p:cNvGraphicFramePr>
          <p:nvPr/>
        </p:nvGraphicFramePr>
        <p:xfrm>
          <a:off x="502920" y="1472184"/>
          <a:ext cx="11185854" cy="2804160"/>
        </p:xfrm>
        <a:graphic>
          <a:graphicData uri="http://schemas.openxmlformats.org/drawingml/2006/table">
            <a:tbl>
              <a:tblPr firstRow="1" bandRow="1">
                <a:tableStyleId>{5940675A-B579-460E-94D1-54222C63F5DA}</a:tableStyleId>
              </a:tblPr>
              <a:tblGrid>
                <a:gridCol w="1454161"/>
                <a:gridCol w="1677878"/>
                <a:gridCol w="5369210"/>
                <a:gridCol w="2684605"/>
              </a:tblGrid>
              <a:tr h="664464">
                <a:tc>
                  <a:txBody>
                    <a:bodyPr wrap="square"/>
                    <a:lstStyle/>
                    <a:p>
                      <a:pPr>
                        <a:lnSpc>
                          <a:spcPct val="100000"/>
                        </a:lnSpc>
                      </a:pPr>
                      <a:r>
                        <a:rPr sz="1700" i="0" b="1">
                          <a:solidFill>
                            <a:srgbClr val="FFFFFF"/>
                          </a:solidFill>
                          <a:latin typeface="Helvetica Neue"/>
                        </a:rPr>
                        <a:t>Outcome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Trajectory</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happened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Outcome-only eval says</a:t>
                      </a:r>
                    </a:p>
                  </a:txBody>
                  <a:tcPr marL="109728" marR="109728" marT="54864" marB="54864" anchor="ctr">
                    <a:solidFill>
                      <a:srgbClr val="1E3A5F"/>
                    </a:solidFill>
                  </a:tcPr>
                </a:tc>
              </a:tr>
              <a:tr h="405384">
                <a:tc>
                  <a:txBody>
                    <a:bodyPr wrap="square"/>
                    <a:lstStyle/>
                    <a:p>
                      <a:pPr>
                        <a:lnSpc>
                          <a:spcPct val="100000"/>
                        </a:lnSpc>
                      </a:pPr>
                      <a:r>
                        <a:rPr sz="1700" i="0" b="0">
                          <a:solidFill>
                            <a:srgbClr val="1E293B"/>
                          </a:solidFill>
                          <a:latin typeface="Helvetica Neue"/>
                        </a:rPr>
                        <a:t>Pass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Pass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Worked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Pass</a:t>
                      </a:r>
                    </a:p>
                  </a:txBody>
                  <a:tcPr marL="109728" marR="109728" marT="54864" marB="54864" anchor="ctr">
                    <a:solidFill>
                      <a:srgbClr val="FFFFFF"/>
                    </a:solidFill>
                  </a:tcPr>
                </a:tc>
              </a:tr>
              <a:tr h="664464">
                <a:tc>
                  <a:txBody>
                    <a:bodyPr wrap="square"/>
                    <a:lstStyle/>
                    <a:p>
                      <a:pPr>
                        <a:lnSpc>
                          <a:spcPct val="100000"/>
                        </a:lnSpc>
                      </a:pPr>
                      <a:r>
                        <a:rPr sz="1700" i="0" b="0">
                          <a:solidFill>
                            <a:srgbClr val="1E293B"/>
                          </a:solidFill>
                          <a:latin typeface="Helvetica Neue"/>
                        </a:rPr>
                        <a:t>Pass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Fail</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Right answer by an unsafe or wasteful path: 40 paid API calls</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Pass (wrong)</a:t>
                      </a:r>
                    </a:p>
                  </a:txBody>
                  <a:tcPr marL="109728" marR="109728" marT="54864" marB="54864" anchor="ctr">
                    <a:solidFill>
                      <a:srgbClr val="E8F4F8"/>
                    </a:solidFill>
                  </a:tcPr>
                </a:tc>
              </a:tr>
              <a:tr h="664464">
                <a:tc>
                  <a:txBody>
                    <a:bodyPr wrap="square"/>
                    <a:lstStyle/>
                    <a:p>
                      <a:pPr>
                        <a:lnSpc>
                          <a:spcPct val="100000"/>
                        </a:lnSpc>
                      </a:pPr>
                      <a:r>
                        <a:rPr sz="1700" i="0" b="0">
                          <a:solidFill>
                            <a:srgbClr val="1E293B"/>
                          </a:solidFill>
                          <a:latin typeface="Helvetica Neue"/>
                        </a:rPr>
                        <a:t>Fail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Pass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Reasonable process, external failure: tool timeout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Fail (not the agent)</a:t>
                      </a:r>
                    </a:p>
                  </a:txBody>
                  <a:tcPr marL="109728" marR="109728" marT="54864" marB="54864" anchor="ctr">
                    <a:solidFill>
                      <a:srgbClr val="FFFFFF"/>
                    </a:solidFill>
                  </a:tcPr>
                </a:tc>
              </a:tr>
              <a:tr h="405384">
                <a:tc>
                  <a:txBody>
                    <a:bodyPr wrap="square"/>
                    <a:lstStyle/>
                    <a:p>
                      <a:pPr>
                        <a:lnSpc>
                          <a:spcPct val="100000"/>
                        </a:lnSpc>
                      </a:pPr>
                      <a:r>
                        <a:rPr sz="1700" i="0" b="0">
                          <a:solidFill>
                            <a:srgbClr val="1E293B"/>
                          </a:solidFill>
                          <a:latin typeface="Helvetica Neue"/>
                        </a:rPr>
                        <a:t>Fail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Fail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Broken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Fail</a:t>
                      </a:r>
                    </a:p>
                  </a:txBody>
                  <a:tcPr marL="109728" marR="109728" marT="54864" marB="54864" anchor="ctr">
                    <a:solidFill>
                      <a:srgbClr val="F8FAF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Three strictness levels for tool calls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Scoring trajectories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notes/06-evaluating-agents.md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No single correct path? Use invariants ("never issue_refund before lookup_order") or a trajectory judge.</a:t>
            </a:r>
          </a:p>
        </p:txBody>
      </p:sp>
      <p:graphicFrame>
        <p:nvGraphicFramePr>
          <p:cNvPr id="13" name="Table 12"/>
          <p:cNvGraphicFramePr>
            <a:graphicFrameLocks noGrp="1"/>
          </p:cNvGraphicFramePr>
          <p:nvPr/>
        </p:nvGraphicFramePr>
        <p:xfrm>
          <a:off x="502920" y="1472184"/>
          <a:ext cx="11185854" cy="2545080"/>
        </p:xfrm>
        <a:graphic>
          <a:graphicData uri="http://schemas.openxmlformats.org/drawingml/2006/table">
            <a:tbl>
              <a:tblPr firstRow="1" bandRow="1">
                <a:tableStyleId>{5940675A-B579-460E-94D1-54222C63F5DA}</a:tableStyleId>
              </a:tblPr>
              <a:tblGrid>
                <a:gridCol w="2460888"/>
                <a:gridCol w="4921776"/>
                <a:gridCol w="3803190"/>
              </a:tblGrid>
              <a:tr h="405384">
                <a:tc>
                  <a:txBody>
                    <a:bodyPr wrap="square"/>
                    <a:lstStyle/>
                    <a:p>
                      <a:pPr>
                        <a:lnSpc>
                          <a:spcPct val="100000"/>
                        </a:lnSpc>
                      </a:pPr>
                      <a:r>
                        <a:rPr sz="1700" i="0" b="1">
                          <a:solidFill>
                            <a:srgbClr val="FFFFFF"/>
                          </a:solidFill>
                          <a:latin typeface="Helvetica Neue"/>
                        </a:rPr>
                        <a:t>Match mode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Passes when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Use for</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Exact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Same tools, order and arguments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Strict protocols (auth before action)</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In order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Expected calls in order, extras allowed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Required sequence with some freedom</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Any order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All expected calls appear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Independent lookups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Subset / superset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Calls ⊆ or ⊇ an allowed set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"Never call outside this set"</a:t>
                      </a:r>
                    </a:p>
                  </a:txBody>
                  <a:tcPr marL="109728" marR="109728" marT="54864" marB="54864" anchor="ctr">
                    <a:solidFill>
                      <a:srgbClr val="F8FAFC"/>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grader per component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300" i="0" b="0">
                <a:solidFill>
                  <a:srgbClr val="0EA5C9"/>
                </a:solidFill>
                <a:latin typeface="Helvetica Neue"/>
              </a:rPr>
              <a:t>DeepLearning.AI, Evaluating AI Agents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notes/06-evaluating-agents.md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An end-to-end failure doesn't say which part broke. Component evals do.</a:t>
            </a:r>
          </a:p>
        </p:txBody>
      </p:sp>
      <p:sp>
        <p:nvSpPr>
          <p:cNvPr id="13" name="Rectangle 12"/>
          <p:cNvSpPr/>
          <p:nvPr/>
        </p:nvSpPr>
        <p:spPr>
          <a:xfrm>
            <a:off x="448056" y="1417320"/>
            <a:ext cx="6261948" cy="29689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eeplearning-ai-evaluating-ai-agents-lab3-router-skill-eval-5858115998599007672.jpg"/>
          <p:cNvPicPr>
            <a:picLocks noChangeAspect="1"/>
          </p:cNvPicPr>
          <p:nvPr/>
        </p:nvPicPr>
        <p:blipFill>
          <a:blip r:embed="rId2"/>
          <a:stretch>
            <a:fillRect/>
          </a:stretch>
        </p:blipFill>
        <p:spPr>
          <a:xfrm>
            <a:off x="502920" y="1472184"/>
            <a:ext cx="6152220" cy="2859228"/>
          </a:xfrm>
          <a:prstGeom prst="rect">
            <a:avLst/>
          </a:prstGeom>
        </p:spPr>
      </p:pic>
      <p:sp>
        <p:nvSpPr>
          <p:cNvPr id="15" name="TextBox 14"/>
          <p:cNvSpPr txBox="1"/>
          <p:nvPr/>
        </p:nvSpPr>
        <p:spPr>
          <a:xfrm>
            <a:off x="502920" y="4468572"/>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Router and skill evaluators (DeepLearning.AI &amp; Arize, Lab 3)</a:t>
            </a:r>
          </a:p>
        </p:txBody>
      </p:sp>
      <p:sp>
        <p:nvSpPr>
          <p:cNvPr id="16" name="Rectangle 15"/>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Router:</a:t>
            </a:r>
            <a:r>
              <a:rPr sz="1800" i="0" b="0">
                <a:solidFill>
                  <a:srgbClr val="1E293B"/>
                </a:solidFill>
                <a:latin typeface="Helvetica Neue"/>
              </a:rPr>
              <a:t> right tool, right parameters (LLM judge)</a:t>
            </a:r>
          </a:p>
        </p:txBody>
      </p:sp>
      <p:sp>
        <p:nvSpPr>
          <p:cNvPr id="18" name="Rectangle 17"/>
          <p:cNvSpPr/>
          <p:nvPr/>
        </p:nvSpPr>
        <p:spPr>
          <a:xfrm>
            <a:off x="7020900" y="229971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SQL skill:</a:t>
            </a:r>
            <a:r>
              <a:rPr sz="1800" i="0" b="0">
                <a:solidFill>
                  <a:srgbClr val="1E293B"/>
                </a:solidFill>
                <a:latin typeface="Helvetica Neue"/>
              </a:rPr>
              <a:t> does the query answer the question (judge)</a:t>
            </a:r>
          </a:p>
        </p:txBody>
      </p:sp>
      <p:sp>
        <p:nvSpPr>
          <p:cNvPr id="20" name="Rectangle 19"/>
          <p:cNvSpPr/>
          <p:nvPr/>
        </p:nvSpPr>
        <p:spPr>
          <a:xfrm>
            <a:off x="7020900" y="304038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Analysis skill:</a:t>
            </a:r>
            <a:r>
              <a:rPr sz="1800" i="0" b="0">
                <a:solidFill>
                  <a:srgbClr val="1E293B"/>
                </a:solidFill>
                <a:latin typeface="Helvetica Neue"/>
              </a:rPr>
              <a:t> clear? entities correct? (two judges)</a:t>
            </a:r>
          </a:p>
        </p:txBody>
      </p:sp>
      <p:sp>
        <p:nvSpPr>
          <p:cNvPr id="22" name="Rectangle 21"/>
          <p:cNvSpPr/>
          <p:nvPr/>
        </p:nvSpPr>
        <p:spPr>
          <a:xfrm>
            <a:off x="7020900" y="378104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Visualization:</a:t>
            </a:r>
            <a:r>
              <a:rPr sz="1800" i="0" b="0">
                <a:solidFill>
                  <a:srgbClr val="1E293B"/>
                </a:solidFill>
                <a:latin typeface="Helvetica Neue"/>
              </a:rPr>
              <a:t> does the code run (code)</a:t>
            </a:r>
          </a:p>
        </p:txBody>
      </p:sp>
      <p:sp>
        <p:nvSpPr>
          <p:cNvPr id="24" name="Rectangle 23"/>
          <p:cNvSpPr/>
          <p:nvPr/>
        </p:nvSpPr>
        <p:spPr>
          <a:xfrm>
            <a:off x="7020900" y="4521708"/>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4434840"/>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Path:</a:t>
            </a:r>
            <a:r>
              <a:rPr sz="1800" i="0" b="0">
                <a:solidFill>
                  <a:srgbClr val="1E293B"/>
                </a:solidFill>
                <a:latin typeface="Helvetica Neue"/>
              </a:rPr>
              <a:t> converged in few steps (code)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router judge, in code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Phoenix, course Lab 3</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notes/06-evaluating-agents.md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Grade the trace you already recorded. The score lives one click from the context.</a:t>
            </a:r>
          </a:p>
        </p:txBody>
      </p:sp>
      <p:sp>
        <p:nvSpPr>
          <p:cNvPr id="13" name="Rounded Rectangle 12"/>
          <p:cNvSpPr/>
          <p:nvPr/>
        </p:nvSpPr>
        <p:spPr>
          <a:xfrm>
            <a:off x="502920" y="1472184"/>
            <a:ext cx="6711513" cy="3886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3246120"/>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q = SpanQuery().where("span_kind == 'LLM'").select(</a:t>
            </a:r>
          </a:p>
          <a:p>
            <a:pPr algn="l">
              <a:lnSpc>
                <a:spcPct val="100000"/>
              </a:lnSpc>
            </a:pPr>
            <a:r>
              <a:rPr sz="1400" i="0" b="0">
                <a:solidFill>
                  <a:srgbClr val="E2E8F0"/>
                </a:solidFill>
                <a:latin typeface="Menlo"/>
              </a:rPr>
              <a:t>    question="input.value", tool_call="llm.tools")</a:t>
            </a:r>
          </a:p>
          <a:p>
            <a:pPr algn="l">
              <a:lnSpc>
                <a:spcPct val="100000"/>
              </a:lnSpc>
            </a:pPr>
            <a:r>
              <a:rPr sz="1400" i="0" b="0">
                <a:solidFill>
                  <a:srgbClr val="E2E8F0"/>
                </a:solidFill>
                <a:latin typeface="Menlo"/>
              </a:rPr>
              <a:t>df = px.Client().query_spans(q, project_name=P)</a:t>
            </a:r>
          </a:p>
          <a:p>
            <a:pPr algn="l">
              <a:lnSpc>
                <a:spcPct val="100000"/>
              </a:lnSpc>
            </a:pPr>
            <a:r>
              <a:rPr sz="1400" i="0" b="0">
                <a:solidFill>
                  <a:srgbClr val="E2E8F0"/>
                </a:solidFill>
                <a:latin typeface="Menlo"/>
              </a:rPr>
              <a:t>df = df.dropna(subset=["tool_call"])</a:t>
            </a:r>
          </a:p>
          <a:p>
            <a:pPr algn="l">
              <a:lnSpc>
                <a:spcPct val="100000"/>
              </a:lnSpc>
            </a:pPr>
          </a:p>
          <a:p>
            <a:pPr algn="l">
              <a:lnSpc>
                <a:spcPct val="100000"/>
              </a:lnSpc>
            </a:pPr>
            <a:r>
              <a:rPr sz="1400" i="0" b="0">
                <a:solidFill>
                  <a:srgbClr val="E2E8F0"/>
                </a:solidFill>
                <a:latin typeface="Menlo"/>
              </a:rPr>
              <a:t>with suppress_tracing():</a:t>
            </a:r>
          </a:p>
          <a:p>
            <a:pPr algn="l">
              <a:lnSpc>
                <a:spcPct val="100000"/>
              </a:lnSpc>
            </a:pPr>
            <a:r>
              <a:rPr sz="1400" i="0" b="0">
                <a:solidFill>
                  <a:srgbClr val="E2E8F0"/>
                </a:solidFill>
                <a:latin typeface="Menlo"/>
              </a:rPr>
              <a:t>    ev = llm_classify(</a:t>
            </a:r>
          </a:p>
          <a:p>
            <a:pPr algn="l">
              <a:lnSpc>
                <a:spcPct val="100000"/>
              </a:lnSpc>
            </a:pPr>
            <a:r>
              <a:rPr sz="1400" i="0" b="0">
                <a:solidFill>
                  <a:srgbClr val="E2E8F0"/>
                </a:solidFill>
                <a:latin typeface="Menlo"/>
              </a:rPr>
              <a:t>        dataframe=df,</a:t>
            </a:r>
          </a:p>
          <a:p>
            <a:pPr algn="l">
              <a:lnSpc>
                <a:spcPct val="100000"/>
              </a:lnSpc>
            </a:pPr>
            <a:r>
              <a:rPr sz="1400" i="0" b="0">
                <a:solidFill>
                  <a:srgbClr val="E2E8F0"/>
                </a:solidFill>
                <a:latin typeface="Menlo"/>
              </a:rPr>
              <a:t>        template=TOOL_CALLING_PROMPT_TEMPLATE,</a:t>
            </a:r>
          </a:p>
          <a:p>
            <a:pPr algn="l">
              <a:lnSpc>
                <a:spcPct val="100000"/>
              </a:lnSpc>
            </a:pPr>
            <a:r>
              <a:rPr sz="1400" i="0" b="0">
                <a:solidFill>
                  <a:srgbClr val="E2E8F0"/>
                </a:solidFill>
                <a:latin typeface="Menlo"/>
              </a:rPr>
              <a:t>        rails=["correct", "incorrect"],</a:t>
            </a:r>
          </a:p>
          <a:p>
            <a:pPr algn="l">
              <a:lnSpc>
                <a:spcPct val="100000"/>
              </a:lnSpc>
            </a:pPr>
            <a:r>
              <a:rPr sz="1400" i="0" b="0">
                <a:solidFill>
                  <a:srgbClr val="E2E8F0"/>
                </a:solidFill>
                <a:latin typeface="Menlo"/>
              </a:rPr>
              <a:t>        model=OpenAIModel(model="gpt-4o"),</a:t>
            </a:r>
          </a:p>
          <a:p>
            <a:pPr algn="l">
              <a:lnSpc>
                <a:spcPct val="100000"/>
              </a:lnSpc>
            </a:pPr>
            <a:r>
              <a:rPr sz="1400" i="0" b="0">
                <a:solidFill>
                  <a:srgbClr val="E2E8F0"/>
                </a:solidFill>
                <a:latin typeface="Menlo"/>
              </a:rPr>
              <a:t>        provide_explanation=True)</a:t>
            </a:r>
          </a:p>
          <a:p>
            <a:pPr algn="l">
              <a:lnSpc>
                <a:spcPct val="100000"/>
              </a:lnSpc>
            </a:pPr>
          </a:p>
          <a:p>
            <a:pPr algn="l">
              <a:lnSpc>
                <a:spcPct val="100000"/>
              </a:lnSpc>
            </a:pPr>
            <a:r>
              <a:rPr sz="1400" i="0" b="0">
                <a:solidFill>
                  <a:srgbClr val="E2E8F0"/>
                </a:solidFill>
                <a:latin typeface="Menlo"/>
              </a:rPr>
              <a:t>px.Client().log_evaluations(SpanEvaluations(</a:t>
            </a:r>
          </a:p>
          <a:p>
            <a:pPr algn="l">
              <a:lnSpc>
                <a:spcPct val="100000"/>
              </a:lnSpc>
            </a:pPr>
            <a:r>
              <a:rPr sz="1400" i="0" b="0">
                <a:solidFill>
                  <a:srgbClr val="E2E8F0"/>
                </a:solidFill>
                <a:latin typeface="Menlo"/>
              </a:rPr>
              <a:t>    eval_name="Tool Calling Eval", dataframe=ev))</a:t>
            </a:r>
          </a:p>
        </p:txBody>
      </p:sp>
      <p:sp>
        <p:nvSpPr>
          <p:cNvPr id="16" name="Rectangle 15"/>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Spans in, labels back onto the same spans</a:t>
            </a:r>
          </a:p>
        </p:txBody>
      </p:sp>
      <p:sp>
        <p:nvSpPr>
          <p:cNvPr id="18" name="Rectangle 17"/>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rails</a:t>
            </a:r>
            <a:r>
              <a:rPr sz="1800" i="0" b="0">
                <a:solidFill>
                  <a:srgbClr val="1E293B"/>
                </a:solidFill>
                <a:latin typeface="Helvetica Neue"/>
              </a:rPr>
              <a:t> snap the output to allowed labels</a:t>
            </a:r>
          </a:p>
        </p:txBody>
      </p:sp>
      <p:sp>
        <p:nvSpPr>
          <p:cNvPr id="20" name="Rectangle 19"/>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Moved since:</a:t>
            </a:r>
            <a:r>
              <a:rPr sz="1800" i="0" b="0">
                <a:solidFill>
                  <a:srgbClr val="1E293B"/>
                </a:solidFill>
                <a:latin typeface="Helvetica Neue"/>
              </a:rPr>
              <a:t> </a:t>
            </a:r>
            <a:r>
              <a:rPr sz="1620" i="0" b="0">
                <a:solidFill>
                  <a:srgbClr val="0F7490"/>
                </a:solidFill>
                <a:latin typeface="Menlo"/>
              </a:rPr>
              <a:t>phoenix.client.Client</a:t>
            </a:r>
            <a:r>
              <a:rPr sz="1800" i="0" b="0">
                <a:solidFill>
                  <a:srgbClr val="1E293B"/>
                </a:solidFill>
                <a:latin typeface="Helvetica Neue"/>
              </a:rPr>
              <a:t>, span annotations</a:t>
            </a:r>
          </a:p>
        </p:txBody>
      </p:sp>
      <p:sp>
        <p:nvSpPr>
          <p:cNvPr id="22" name="Rectangle 21"/>
          <p:cNvSpPr/>
          <p:nvPr/>
        </p:nvSpPr>
        <p:spPr>
          <a:xfrm>
            <a:off x="7580193" y="4128515"/>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4041648"/>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phoenix.evals 2.x: </a:t>
            </a:r>
            <a:r>
              <a:rPr sz="1620" i="0" b="0">
                <a:solidFill>
                  <a:srgbClr val="0F7490"/>
                </a:solidFill>
                <a:latin typeface="Menlo"/>
              </a:rPr>
              <a:t>create_classifier</a:t>
            </a:r>
            <a:r>
              <a:rPr sz="1800" i="0" b="0">
                <a:solidFill>
                  <a:srgbClr val="1E293B"/>
                </a:solidFill>
                <a:latin typeface="Helvetica Neue"/>
              </a:rPr>
              <a:t>, </a:t>
            </a:r>
            <a:r>
              <a:rPr sz="1620" i="0" b="0">
                <a:solidFill>
                  <a:srgbClr val="0F7490"/>
                </a:solidFill>
                <a:latin typeface="Menlo"/>
              </a:rPr>
              <a:t>LLM(provider=…)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pass@k rises, pass^k falls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Non-determinism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notes/06-evaluating-agents.md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Run each task k times (3–10 is typical) and report rates.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Customer-facing agents get one try per user. Report pass^k for them.</a:t>
            </a:r>
          </a:p>
        </p:txBody>
      </p:sp>
      <p:graphicFrame>
        <p:nvGraphicFramePr>
          <p:cNvPr id="14" name="Table 13"/>
          <p:cNvGraphicFramePr>
            <a:graphicFrameLocks noGrp="1"/>
          </p:cNvGraphicFramePr>
          <p:nvPr/>
        </p:nvGraphicFramePr>
        <p:xfrm>
          <a:off x="502920" y="1985772"/>
          <a:ext cx="11185852" cy="2139696"/>
        </p:xfrm>
        <a:graphic>
          <a:graphicData uri="http://schemas.openxmlformats.org/drawingml/2006/table">
            <a:tbl>
              <a:tblPr firstRow="1" bandRow="1">
                <a:tableStyleId>{5940675A-B579-460E-94D1-54222C63F5DA}</a:tableStyleId>
              </a:tblPr>
              <a:tblGrid>
                <a:gridCol w="1789736"/>
                <a:gridCol w="3579473"/>
                <a:gridCol w="3803190"/>
                <a:gridCol w="2013453"/>
              </a:tblGrid>
              <a:tr h="664464">
                <a:tc>
                  <a:txBody>
                    <a:bodyPr wrap="square"/>
                    <a:lstStyle/>
                    <a:p>
                      <a:pPr>
                        <a:lnSpc>
                          <a:spcPct val="100000"/>
                        </a:lnSpc>
                      </a:pPr>
                      <a:r>
                        <a:rPr sz="1700" i="0" b="1">
                          <a:solidFill>
                            <a:srgbClr val="FFFFFF"/>
                          </a:solidFill>
                          <a:latin typeface="Helvetica Neue"/>
                        </a:rPr>
                        <a:t>Metric</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Definition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Question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 = 0.75, k = 3</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pass@k</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At least one of k succeeds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Can it do this at all, with retries?</a:t>
                      </a:r>
                    </a:p>
                  </a:txBody>
                  <a:tcPr marL="109728" marR="109728" marT="54864" marB="54864" anchor="ctr">
                    <a:solidFill>
                      <a:srgbClr val="FFFFFF"/>
                    </a:solidFill>
                  </a:tcPr>
                </a:tc>
                <a:tc>
                  <a:txBody>
                    <a:bodyPr wrap="square"/>
                    <a:lstStyle/>
                    <a:p>
                      <a:pPr>
                        <a:lnSpc>
                          <a:spcPct val="100000"/>
                        </a:lnSpc>
                      </a:pPr>
                      <a:r>
                        <a:rPr sz="1700" i="0" b="1">
                          <a:solidFill>
                            <a:srgbClr val="1E293B"/>
                          </a:solidFill>
                          <a:latin typeface="Helvetica Neue"/>
                        </a:rPr>
                        <a:t>0.98</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pass^k</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All k succeed</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Does it do this every time?</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0.42</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Best@k</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Best score of k</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What's the quality ceiling?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Convergence is relative to what you observed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Course Lab 4</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notes/06-evaluating-agents.md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Log steps, tokens, latency and cost per success on every trial. Pass rates miss efficiency regressions.</a:t>
            </a:r>
          </a:p>
        </p:txBody>
      </p:sp>
      <p:sp>
        <p:nvSpPr>
          <p:cNvPr id="13" name="Rectangle 12"/>
          <p:cNvSpPr/>
          <p:nvPr/>
        </p:nvSpPr>
        <p:spPr>
          <a:xfrm>
            <a:off x="448056" y="1417320"/>
            <a:ext cx="6261948" cy="2575139"/>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eeplearning-ai-evaluating-ai-agents-lab4-convergence-experiment-828023783504853693.jpg"/>
          <p:cNvPicPr>
            <a:picLocks noChangeAspect="1"/>
          </p:cNvPicPr>
          <p:nvPr/>
        </p:nvPicPr>
        <p:blipFill>
          <a:blip r:embed="rId2"/>
          <a:stretch>
            <a:fillRect/>
          </a:stretch>
        </p:blipFill>
        <p:spPr>
          <a:xfrm>
            <a:off x="502920" y="1472184"/>
            <a:ext cx="6152220" cy="2465411"/>
          </a:xfrm>
          <a:prstGeom prst="rect">
            <a:avLst/>
          </a:prstGeom>
        </p:spPr>
      </p:pic>
      <p:sp>
        <p:nvSpPr>
          <p:cNvPr id="15" name="TextBox 14"/>
          <p:cNvSpPr txBox="1"/>
          <p:nvPr/>
        </p:nvSpPr>
        <p:spPr>
          <a:xfrm>
            <a:off x="502920" y="4074755"/>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Convergence experiment (DeepLearning.AI &amp; Arize, Lab 4)</a:t>
            </a:r>
          </a:p>
        </p:txBody>
      </p:sp>
      <p:sp>
        <p:nvSpPr>
          <p:cNvPr id="16" name="Rectangle 15"/>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17</a:t>
            </a:r>
            <a:r>
              <a:rPr sz="1800" i="0" b="0">
                <a:solidFill>
                  <a:srgbClr val="1E293B"/>
                </a:solidFill>
                <a:latin typeface="Helvetica Neue"/>
              </a:rPr>
              <a:t> paraphrases of one question</a:t>
            </a:r>
          </a:p>
        </p:txBody>
      </p:sp>
      <p:sp>
        <p:nvSpPr>
          <p:cNvPr id="18" name="Rectangle 17"/>
          <p:cNvSpPr/>
          <p:nvPr/>
        </p:nvSpPr>
        <p:spPr>
          <a:xfrm>
            <a:off x="7020900" y="199796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Score = shortest run seen ÷ this run's length</a:t>
            </a:r>
          </a:p>
        </p:txBody>
      </p:sp>
      <p:sp>
        <p:nvSpPr>
          <p:cNvPr id="20" name="Rectangle 19"/>
          <p:cNvSpPr/>
          <p:nvPr/>
        </p:nvSpPr>
        <p:spPr>
          <a:xfrm>
            <a:off x="7020900" y="2738628"/>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"Optimal" is the shortest </a:t>
            </a:r>
            <a:r>
              <a:rPr sz="1800" i="0" b="1">
                <a:solidFill>
                  <a:srgbClr val="1E293B"/>
                </a:solidFill>
                <a:latin typeface="Helvetica Neue"/>
              </a:rPr>
              <a:t>observed</a:t>
            </a:r>
            <a:r>
              <a:rPr sz="1800" i="0" b="0">
                <a:solidFill>
                  <a:srgbClr val="1E293B"/>
                </a:solidFill>
                <a:latin typeface="Helvetica Neue"/>
              </a:rPr>
              <a:t>, so a thrashing batch still scores near 1.0</a:t>
            </a:r>
          </a:p>
        </p:txBody>
      </p:sp>
      <p:sp>
        <p:nvSpPr>
          <p:cNvPr id="22" name="Rectangle 21"/>
          <p:cNvSpPr/>
          <p:nvPr/>
        </p:nvSpPr>
        <p:spPr>
          <a:xfrm>
            <a:off x="7020900" y="378104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Counts messages, not tool calls</a:t>
            </a:r>
          </a:p>
        </p:txBody>
      </p:sp>
      <p:sp>
        <p:nvSpPr>
          <p:cNvPr id="24" name="Rectangle 23"/>
          <p:cNvSpPr/>
          <p:nvPr/>
        </p:nvSpPr>
        <p:spPr>
          <a:xfrm>
            <a:off x="7020900" y="421995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413308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Fix the reference length before gating on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Why agent cost grows faster than step count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Li, AI Agents in Depth, Table 6-4</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notes/06-evaluating-agents.md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 three-turn refund agent: 9,500 input tokens, 470 output, </a:t>
            </a:r>
            <a:r>
              <a:rPr sz="1700" i="0" b="1">
                <a:solidFill>
                  <a:srgbClr val="1E293B"/>
                </a:solidFill>
                <a:latin typeface="Helvetica Neue"/>
              </a:rPr>
              <a:t>$0.022</a:t>
            </a:r>
            <a:r>
              <a:rPr sz="1700" i="0" b="0">
                <a:solidFill>
                  <a:srgbClr val="475569"/>
                </a:solidFill>
                <a:latin typeface="Helvetica Neue"/>
              </a:rPr>
              <a:t>. Every turn re-sends the context.</a:t>
            </a:r>
          </a:p>
        </p:txBody>
      </p:sp>
      <p:sp>
        <p:nvSpPr>
          <p:cNvPr id="11" name="Rectangle 10"/>
          <p:cNvSpPr/>
          <p:nvPr/>
        </p:nvSpPr>
        <p:spPr>
          <a:xfrm>
            <a:off x="502920" y="1985772"/>
            <a:ext cx="2590723" cy="348691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985772"/>
            <a:ext cx="82296" cy="3486911"/>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68652"/>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Thinking tokens</a:t>
            </a:r>
          </a:p>
        </p:txBody>
      </p:sp>
      <p:sp>
        <p:nvSpPr>
          <p:cNvPr id="14" name="TextBox 13"/>
          <p:cNvSpPr txBox="1"/>
          <p:nvPr/>
        </p:nvSpPr>
        <p:spPr>
          <a:xfrm>
            <a:off x="777240" y="2601468"/>
            <a:ext cx="2087803" cy="2688335"/>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500–2,000 extra per turn can multiply cost </a:t>
            </a:r>
            <a:r>
              <a:rPr sz="1800" i="0" b="1">
                <a:solidFill>
                  <a:srgbClr val="1E293B"/>
                </a:solidFill>
                <a:latin typeface="Helvetica Neue"/>
              </a:rPr>
              <a:t>3–5×</a:t>
            </a:r>
            <a:r>
              <a:rPr sz="1800" i="0" b="0">
                <a:solidFill>
                  <a:srgbClr val="475569"/>
                </a:solidFill>
                <a:latin typeface="Helvetica Neue"/>
              </a:rPr>
              <a:t>. 2,000 at 50 tok/s is 40 s.</a:t>
            </a:r>
          </a:p>
        </p:txBody>
      </p:sp>
      <p:sp>
        <p:nvSpPr>
          <p:cNvPr id="15" name="Rectangle 14"/>
          <p:cNvSpPr/>
          <p:nvPr/>
        </p:nvSpPr>
        <p:spPr>
          <a:xfrm>
            <a:off x="3367963" y="1985772"/>
            <a:ext cx="2590723" cy="348691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67963" y="1985772"/>
            <a:ext cx="82296" cy="3486911"/>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42283" y="2168652"/>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Big tool outputs</a:t>
            </a:r>
          </a:p>
        </p:txBody>
      </p:sp>
      <p:sp>
        <p:nvSpPr>
          <p:cNvPr id="18" name="TextBox 17"/>
          <p:cNvSpPr txBox="1"/>
          <p:nvPr/>
        </p:nvSpPr>
        <p:spPr>
          <a:xfrm>
            <a:off x="3642283" y="2601468"/>
            <a:ext cx="2087803" cy="2688335"/>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5,000-token page from turn 2 is billed again on every later turn.</a:t>
            </a:r>
          </a:p>
        </p:txBody>
      </p:sp>
      <p:sp>
        <p:nvSpPr>
          <p:cNvPr id="19" name="Rectangle 18"/>
          <p:cNvSpPr/>
          <p:nvPr/>
        </p:nvSpPr>
        <p:spPr>
          <a:xfrm>
            <a:off x="6233007" y="1985772"/>
            <a:ext cx="2590723" cy="348691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3007" y="1985772"/>
            <a:ext cx="82296" cy="3486911"/>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7327" y="2168652"/>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Detours</a:t>
            </a:r>
          </a:p>
        </p:txBody>
      </p:sp>
      <p:sp>
        <p:nvSpPr>
          <p:cNvPr id="22" name="TextBox 21"/>
          <p:cNvSpPr txBox="1"/>
          <p:nvPr/>
        </p:nvSpPr>
        <p:spPr>
          <a:xfrm>
            <a:off x="6507327" y="2601468"/>
            <a:ext cx="2087803" cy="2688335"/>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Ten turns instead of three, and the context passes </a:t>
            </a:r>
            <a:r>
              <a:rPr sz="1800" i="0" b="1">
                <a:solidFill>
                  <a:srgbClr val="1E293B"/>
                </a:solidFill>
                <a:latin typeface="Helvetica Neue"/>
              </a:rPr>
              <a:t>20,000</a:t>
            </a:r>
            <a:r>
              <a:rPr sz="1800" i="0" b="0">
                <a:solidFill>
                  <a:srgbClr val="475569"/>
                </a:solidFill>
                <a:latin typeface="Helvetica Neue"/>
              </a:rPr>
              <a:t> tokens.</a:t>
            </a:r>
          </a:p>
        </p:txBody>
      </p:sp>
      <p:sp>
        <p:nvSpPr>
          <p:cNvPr id="23" name="Rectangle 22"/>
          <p:cNvSpPr/>
          <p:nvPr/>
        </p:nvSpPr>
        <p:spPr>
          <a:xfrm>
            <a:off x="9098051" y="1985772"/>
            <a:ext cx="2590723" cy="348691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98051" y="1985772"/>
            <a:ext cx="82296" cy="3486911"/>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371" y="2168652"/>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So…</a:t>
            </a:r>
          </a:p>
        </p:txBody>
      </p:sp>
      <p:sp>
        <p:nvSpPr>
          <p:cNvPr id="26" name="TextBox 25"/>
          <p:cNvSpPr txBox="1"/>
          <p:nvPr/>
        </p:nvSpPr>
        <p:spPr>
          <a:xfrm>
            <a:off x="9372371" y="2601468"/>
            <a:ext cx="2087803" cy="2688335"/>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Cap cost per task in the harness. Log thinking tokens separately. Report p95 latency, not the mean.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Score each RAG stage separately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Evaluating RAG and grounding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notes/07-evaluating-rag-and-grounding.md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10" name="Rounded Rectangle 9"/>
          <p:cNvSpPr/>
          <p:nvPr/>
        </p:nvSpPr>
        <p:spPr>
          <a:xfrm>
            <a:off x="502920" y="1563624"/>
            <a:ext cx="1834835"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63624"/>
            <a:ext cx="1560515"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Retrieve</a:t>
            </a:r>
          </a:p>
          <a:p>
            <a:pPr algn="ctr">
              <a:lnSpc>
                <a:spcPct val="110000"/>
              </a:lnSpc>
            </a:pPr>
            <a:r>
              <a:rPr sz="1300" i="0" b="0">
                <a:solidFill>
                  <a:srgbClr val="E8F4F8"/>
                </a:solidFill>
                <a:latin typeface="Helvetica Neue"/>
              </a:rPr>
              <a:t>recall@k, hit rate</a:t>
            </a:r>
          </a:p>
        </p:txBody>
      </p:sp>
      <p:cxnSp>
        <p:nvCxnSpPr>
          <p:cNvPr id="12" name="Connector 11"/>
          <p:cNvCxnSpPr/>
          <p:nvPr/>
        </p:nvCxnSpPr>
        <p:spPr>
          <a:xfrm>
            <a:off x="2392619"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40675" y="1563624"/>
            <a:ext cx="1834835"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7835" y="1563624"/>
            <a:ext cx="1560515"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Rerank</a:t>
            </a:r>
          </a:p>
          <a:p>
            <a:pPr algn="ctr">
              <a:lnSpc>
                <a:spcPct val="110000"/>
              </a:lnSpc>
            </a:pPr>
            <a:r>
              <a:rPr sz="1300" i="0" b="0">
                <a:solidFill>
                  <a:srgbClr val="E8F4F8"/>
                </a:solidFill>
                <a:latin typeface="Helvetica Neue"/>
              </a:rPr>
              <a:t>MRR, nDCG@k</a:t>
            </a:r>
          </a:p>
        </p:txBody>
      </p:sp>
      <p:cxnSp>
        <p:nvCxnSpPr>
          <p:cNvPr id="15" name="Connector 14"/>
          <p:cNvCxnSpPr/>
          <p:nvPr/>
        </p:nvCxnSpPr>
        <p:spPr>
          <a:xfrm>
            <a:off x="4730374"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78430" y="1563624"/>
            <a:ext cx="1834835" cy="98755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5590" y="1563624"/>
            <a:ext cx="1560515"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Context</a:t>
            </a:r>
          </a:p>
          <a:p>
            <a:pPr algn="ctr">
              <a:lnSpc>
                <a:spcPct val="110000"/>
              </a:lnSpc>
            </a:pPr>
            <a:r>
              <a:rPr sz="1300" i="0" b="0">
                <a:solidFill>
                  <a:srgbClr val="E8F4F8"/>
                </a:solidFill>
                <a:latin typeface="Helvetica Neue"/>
              </a:rPr>
              <a:t>context precision</a:t>
            </a:r>
          </a:p>
        </p:txBody>
      </p:sp>
      <p:cxnSp>
        <p:nvCxnSpPr>
          <p:cNvPr id="18" name="Connector 17"/>
          <p:cNvCxnSpPr/>
          <p:nvPr/>
        </p:nvCxnSpPr>
        <p:spPr>
          <a:xfrm>
            <a:off x="7068129"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16185" y="1563624"/>
            <a:ext cx="1834835" cy="987552"/>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345" y="1563624"/>
            <a:ext cx="1560515"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Generate</a:t>
            </a:r>
          </a:p>
          <a:p>
            <a:pPr algn="ctr">
              <a:lnSpc>
                <a:spcPct val="110000"/>
              </a:lnSpc>
            </a:pPr>
            <a:r>
              <a:rPr sz="1300" i="0" b="0">
                <a:solidFill>
                  <a:srgbClr val="E8F4F8"/>
                </a:solidFill>
                <a:latin typeface="Helvetica Neue"/>
              </a:rPr>
              <a:t>faithful, complete</a:t>
            </a:r>
          </a:p>
        </p:txBody>
      </p:sp>
      <p:cxnSp>
        <p:nvCxnSpPr>
          <p:cNvPr id="21" name="Connector 20"/>
          <p:cNvCxnSpPr/>
          <p:nvPr/>
        </p:nvCxnSpPr>
        <p:spPr>
          <a:xfrm>
            <a:off x="9405884"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53940" y="1563624"/>
            <a:ext cx="1834835"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1100" y="1563624"/>
            <a:ext cx="1560515"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Cite</a:t>
            </a:r>
          </a:p>
          <a:p>
            <a:pPr algn="ctr">
              <a:lnSpc>
                <a:spcPct val="110000"/>
              </a:lnSpc>
            </a:pPr>
            <a:r>
              <a:rPr sz="1300" i="0" b="0">
                <a:solidFill>
                  <a:srgbClr val="E8F4F8"/>
                </a:solidFill>
                <a:latin typeface="Helvetica Neue"/>
              </a:rPr>
              <a:t>citations valid</a:t>
            </a:r>
          </a:p>
        </p:txBody>
      </p:sp>
      <p:sp>
        <p:nvSpPr>
          <p:cNvPr id="24" name="Rectangle 23"/>
          <p:cNvSpPr/>
          <p:nvPr/>
        </p:nvSpPr>
        <p:spPr>
          <a:xfrm>
            <a:off x="502920" y="2962910"/>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2871216"/>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Pick </a:t>
            </a:r>
            <a:r>
              <a:rPr sz="1900" i="0" b="1">
                <a:solidFill>
                  <a:srgbClr val="1E293B"/>
                </a:solidFill>
                <a:latin typeface="Helvetica Neue"/>
              </a:rPr>
              <a:t>k</a:t>
            </a:r>
            <a:r>
              <a:rPr sz="1900" i="0" b="0">
                <a:solidFill>
                  <a:srgbClr val="1E293B"/>
                </a:solidFill>
                <a:latin typeface="Helvetica Neue"/>
              </a:rPr>
              <a:t> to match what enters the prompt. Recall@50 is irrelevant if 5 are passed</a:t>
            </a:r>
          </a:p>
        </p:txBody>
      </p:sp>
      <p:sp>
        <p:nvSpPr>
          <p:cNvPr id="26" name="Rectangle 25"/>
          <p:cNvSpPr/>
          <p:nvPr/>
        </p:nvSpPr>
        <p:spPr>
          <a:xfrm>
            <a:off x="502920" y="3426206"/>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334512"/>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Score generation only on </a:t>
            </a:r>
            <a:r>
              <a:rPr sz="1900" i="0" b="1">
                <a:solidFill>
                  <a:srgbClr val="1E293B"/>
                </a:solidFill>
                <a:latin typeface="Helvetica Neue"/>
              </a:rPr>
              <a:t>generation-eligible</a:t>
            </a:r>
            <a:r>
              <a:rPr sz="1900" i="0" b="0">
                <a:solidFill>
                  <a:srgbClr val="1E293B"/>
                </a:solidFill>
                <a:latin typeface="Helvetica Neue"/>
              </a:rPr>
              <a:t> rows</a:t>
            </a:r>
          </a:p>
        </p:txBody>
      </p:sp>
      <p:sp>
        <p:nvSpPr>
          <p:cNvPr id="28" name="Rectangle 27"/>
          <p:cNvSpPr/>
          <p:nvPr/>
        </p:nvSpPr>
        <p:spPr>
          <a:xfrm>
            <a:off x="502920" y="3889501"/>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79780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Faithful is not correct: faithful-but-wrong points at the corpus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Check grounding claim by claim</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Faithfulness (RAGAS, case study)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notes/07-evaluating-rag-and-grounding.md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Pass the text, not the pointer. A grader handed URLs scores near zero, or from its own knowledge.</a:t>
            </a:r>
          </a:p>
        </p:txBody>
      </p:sp>
      <p:sp>
        <p:nvSpPr>
          <p:cNvPr id="13" name="Rectangle 12"/>
          <p:cNvSpPr/>
          <p:nvPr/>
        </p:nvSpPr>
        <p:spPr>
          <a:xfrm>
            <a:off x="502920" y="1472184"/>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704213"/>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70421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Extract claims</a:t>
            </a:r>
            <a:r>
              <a:rPr sz="1800" i="0" b="0">
                <a:solidFill>
                  <a:srgbClr val="475569"/>
                </a:solidFill>
                <a:latin typeface="Helvetica Neue"/>
              </a:rPr>
              <a:t> — Split the answer into atomic statements. "Settings → Payouts, click Edit, 2 days" is three.</a:t>
            </a:r>
          </a:p>
        </p:txBody>
      </p:sp>
      <p:sp>
        <p:nvSpPr>
          <p:cNvPr id="17" name="Rectangle 16"/>
          <p:cNvSpPr/>
          <p:nvPr/>
        </p:nvSpPr>
        <p:spPr>
          <a:xfrm>
            <a:off x="502920" y="2503170"/>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735199"/>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73519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503170"/>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Verify each</a:t>
            </a:r>
            <a:r>
              <a:rPr sz="1800" i="0" b="0">
                <a:solidFill>
                  <a:srgbClr val="475569"/>
                </a:solidFill>
                <a:latin typeface="Helvetica Neue"/>
              </a:rPr>
              <a:t> — Against passage </a:t>
            </a:r>
            <a:r>
              <a:rPr sz="1800" i="0" b="1">
                <a:solidFill>
                  <a:srgbClr val="1E293B"/>
                </a:solidFill>
                <a:latin typeface="Helvetica Neue"/>
              </a:rPr>
              <a:t>text</a:t>
            </a:r>
            <a:r>
              <a:rPr sz="1800" i="0" b="0">
                <a:solidFill>
                  <a:srgbClr val="475569"/>
                </a:solidFill>
                <a:latin typeface="Helvetica Neue"/>
              </a:rPr>
              <a:t>: supported, contradicted or not found.</a:t>
            </a:r>
          </a:p>
        </p:txBody>
      </p:sp>
      <p:sp>
        <p:nvSpPr>
          <p:cNvPr id="21" name="Rectangle 20"/>
          <p:cNvSpPr/>
          <p:nvPr/>
        </p:nvSpPr>
        <p:spPr>
          <a:xfrm>
            <a:off x="502920" y="3534156"/>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3766185"/>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766185"/>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3534156"/>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Score</a:t>
            </a:r>
            <a:r>
              <a:rPr sz="1800" i="0" b="0">
                <a:solidFill>
                  <a:srgbClr val="475569"/>
                </a:solidFill>
                <a:latin typeface="Helvetica Neue"/>
              </a:rPr>
              <a:t> — Supported ÷ total. Report contradictions separately.</a:t>
            </a:r>
          </a:p>
        </p:txBody>
      </p:sp>
      <p:sp>
        <p:nvSpPr>
          <p:cNvPr id="25" name="Rectangle 24"/>
          <p:cNvSpPr/>
          <p:nvPr/>
        </p:nvSpPr>
        <p:spPr>
          <a:xfrm>
            <a:off x="502920" y="4565142"/>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4797171"/>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79717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4565142"/>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Tier the claims</a:t>
            </a:r>
            <a:r>
              <a:rPr sz="1800" i="0" b="0">
                <a:solidFill>
                  <a:srgbClr val="475569"/>
                </a:solidFill>
                <a:latin typeface="Helvetica Neue"/>
              </a:rPr>
              <a:t> — Strict facts need near-verbatim support; paraphrase needs entailment; filler is exempt.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trace is a tree of spans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Tracing, course Lab 2</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notes/08-tracing-and-observability.md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Final-output evals say that something failed. Traces say where.</a:t>
            </a:r>
          </a:p>
        </p:txBody>
      </p:sp>
      <p:sp>
        <p:nvSpPr>
          <p:cNvPr id="13" name="Rectangle 12"/>
          <p:cNvSpPr/>
          <p:nvPr/>
        </p:nvSpPr>
        <p:spPr>
          <a:xfrm>
            <a:off x="448056" y="1417320"/>
            <a:ext cx="6261948" cy="336585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eeplearning-ai-evaluating-ai-agents-lab2-spans.png"/>
          <p:cNvPicPr>
            <a:picLocks noChangeAspect="1"/>
          </p:cNvPicPr>
          <p:nvPr/>
        </p:nvPicPr>
        <p:blipFill>
          <a:blip r:embed="rId2"/>
          <a:stretch>
            <a:fillRect/>
          </a:stretch>
        </p:blipFill>
        <p:spPr>
          <a:xfrm>
            <a:off x="502920" y="1472184"/>
            <a:ext cx="6152220" cy="3256123"/>
          </a:xfrm>
          <a:prstGeom prst="rect">
            <a:avLst/>
          </a:prstGeom>
        </p:spPr>
      </p:pic>
      <p:sp>
        <p:nvSpPr>
          <p:cNvPr id="15" name="TextBox 14"/>
          <p:cNvSpPr txBox="1"/>
          <p:nvPr/>
        </p:nvSpPr>
        <p:spPr>
          <a:xfrm>
            <a:off x="502920" y="4865467"/>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One agent run in Phoenix (DeepLearning.AI &amp; Arize, Lab 2)</a:t>
            </a:r>
          </a:p>
        </p:txBody>
      </p:sp>
      <p:sp>
        <p:nvSpPr>
          <p:cNvPr id="16" name="Rectangle 15"/>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Model call:</a:t>
            </a:r>
            <a:r>
              <a:rPr sz="1800" i="0" b="0">
                <a:solidFill>
                  <a:srgbClr val="1E293B"/>
                </a:solidFill>
                <a:latin typeface="Helvetica Neue"/>
              </a:rPr>
              <a:t> model ID, full input, tokens, latency</a:t>
            </a:r>
          </a:p>
        </p:txBody>
      </p:sp>
      <p:sp>
        <p:nvSpPr>
          <p:cNvPr id="18" name="Rectangle 17"/>
          <p:cNvSpPr/>
          <p:nvPr/>
        </p:nvSpPr>
        <p:spPr>
          <a:xfrm>
            <a:off x="7020900" y="229971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Tool call:</a:t>
            </a:r>
            <a:r>
              <a:rPr sz="1800" i="0" b="0">
                <a:solidFill>
                  <a:srgbClr val="1E293B"/>
                </a:solidFill>
                <a:latin typeface="Helvetica Neue"/>
              </a:rPr>
              <a:t> name, arguments, result or error</a:t>
            </a:r>
          </a:p>
        </p:txBody>
      </p:sp>
      <p:sp>
        <p:nvSpPr>
          <p:cNvPr id="20" name="Rectangle 19"/>
          <p:cNvSpPr/>
          <p:nvPr/>
        </p:nvSpPr>
        <p:spPr>
          <a:xfrm>
            <a:off x="7020900" y="304038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Retrieval:</a:t>
            </a:r>
            <a:r>
              <a:rPr sz="1800" i="0" b="0">
                <a:solidFill>
                  <a:srgbClr val="1E293B"/>
                </a:solidFill>
                <a:latin typeface="Helvetica Neue"/>
              </a:rPr>
              <a:t> query, IDs </a:t>
            </a:r>
            <a:r>
              <a:rPr sz="1800" i="0" b="1">
                <a:solidFill>
                  <a:srgbClr val="1E293B"/>
                </a:solidFill>
                <a:latin typeface="Helvetica Neue"/>
              </a:rPr>
              <a:t>and text</a:t>
            </a:r>
            <a:r>
              <a:rPr sz="1800" i="0" b="0">
                <a:solidFill>
                  <a:srgbClr val="1E293B"/>
                </a:solidFill>
                <a:latin typeface="Helvetica Neue"/>
              </a:rPr>
              <a:t>, scores</a:t>
            </a:r>
          </a:p>
        </p:txBody>
      </p:sp>
      <p:sp>
        <p:nvSpPr>
          <p:cNvPr id="22" name="Rectangle 21"/>
          <p:cNvSpPr/>
          <p:nvPr/>
        </p:nvSpPr>
        <p:spPr>
          <a:xfrm>
            <a:off x="7020900" y="378104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Root:</a:t>
            </a:r>
            <a:r>
              <a:rPr sz="1800" i="0" b="0">
                <a:solidFill>
                  <a:srgbClr val="1E293B"/>
                </a:solidFill>
                <a:latin typeface="Helvetica Neue"/>
              </a:rPr>
              <a:t> prompt, model, config, index </a:t>
            </a:r>
            <a:r>
              <a:rPr sz="1800" i="0" b="1">
                <a:solidFill>
                  <a:srgbClr val="1E293B"/>
                </a:solidFill>
                <a:latin typeface="Helvetica Neue"/>
              </a:rPr>
              <a:t>versions</a:t>
            </a:r>
          </a:p>
        </p:txBody>
      </p:sp>
      <p:sp>
        <p:nvSpPr>
          <p:cNvPr id="24" name="Rectangle 23"/>
          <p:cNvSpPr/>
          <p:nvPr/>
        </p:nvSpPr>
        <p:spPr>
          <a:xfrm>
            <a:off x="7020900" y="4521708"/>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443484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Auto-instrument LLM calls; add agent, chain, tool spans yourself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Traces feed evals, evals feed datasets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loop that makes traces pay off</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Applying it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notes/08-tracing-and-observability.md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10" name="Rounded Rectangle 9"/>
          <p:cNvSpPr/>
          <p:nvPr/>
        </p:nvSpPr>
        <p:spPr>
          <a:xfrm>
            <a:off x="502920" y="1563624"/>
            <a:ext cx="1834835" cy="149047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Production traces</a:t>
            </a:r>
          </a:p>
          <a:p>
            <a:pPr algn="ctr">
              <a:lnSpc>
                <a:spcPct val="110000"/>
              </a:lnSpc>
            </a:pPr>
            <a:r>
              <a:rPr sz="1300" i="0" b="0">
                <a:solidFill>
                  <a:srgbClr val="E8F4F8"/>
                </a:solidFill>
                <a:latin typeface="Helvetica Neue"/>
              </a:rPr>
              <a:t>sampled</a:t>
            </a:r>
          </a:p>
        </p:txBody>
      </p:sp>
      <p:cxnSp>
        <p:nvCxnSpPr>
          <p:cNvPr id="12" name="Connector 11"/>
          <p:cNvCxnSpPr/>
          <p:nvPr/>
        </p:nvCxnSpPr>
        <p:spPr>
          <a:xfrm>
            <a:off x="239261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40675" y="1563624"/>
            <a:ext cx="1834835" cy="149047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783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Graders</a:t>
            </a:r>
          </a:p>
          <a:p>
            <a:pPr algn="ctr">
              <a:lnSpc>
                <a:spcPct val="110000"/>
              </a:lnSpc>
            </a:pPr>
            <a:r>
              <a:rPr sz="1300" i="0" b="0">
                <a:solidFill>
                  <a:srgbClr val="E8F4F8"/>
                </a:solidFill>
                <a:latin typeface="Helvetica Neue"/>
              </a:rPr>
              <a:t>same code as CI</a:t>
            </a:r>
          </a:p>
        </p:txBody>
      </p:sp>
      <p:cxnSp>
        <p:nvCxnSpPr>
          <p:cNvPr id="15" name="Connector 14"/>
          <p:cNvCxnSpPr/>
          <p:nvPr/>
        </p:nvCxnSpPr>
        <p:spPr>
          <a:xfrm>
            <a:off x="473037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78430" y="1563624"/>
            <a:ext cx="1834835" cy="149047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559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Scores on spans</a:t>
            </a:r>
          </a:p>
          <a:p>
            <a:pPr algn="ctr">
              <a:lnSpc>
                <a:spcPct val="110000"/>
              </a:lnSpc>
            </a:pPr>
            <a:r>
              <a:rPr sz="1300" i="0" b="0">
                <a:solidFill>
                  <a:srgbClr val="E8F4F8"/>
                </a:solidFill>
                <a:latin typeface="Helvetica Neue"/>
              </a:rPr>
              <a:t>one click to context</a:t>
            </a:r>
          </a:p>
        </p:txBody>
      </p:sp>
      <p:cxnSp>
        <p:nvCxnSpPr>
          <p:cNvPr id="18" name="Connector 17"/>
          <p:cNvCxnSpPr/>
          <p:nvPr/>
        </p:nvCxnSpPr>
        <p:spPr>
          <a:xfrm>
            <a:off x="706812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16185" y="1563624"/>
            <a:ext cx="1834835" cy="1490472"/>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34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Triage</a:t>
            </a:r>
          </a:p>
          <a:p>
            <a:pPr algn="ctr">
              <a:lnSpc>
                <a:spcPct val="110000"/>
              </a:lnSpc>
            </a:pPr>
            <a:r>
              <a:rPr sz="1300" i="0" b="0">
                <a:solidFill>
                  <a:srgbClr val="E8F4F8"/>
                </a:solidFill>
                <a:latin typeface="Helvetica Neue"/>
              </a:rPr>
              <a:t>failures, 👎, escalations</a:t>
            </a:r>
          </a:p>
        </p:txBody>
      </p:sp>
      <p:cxnSp>
        <p:nvCxnSpPr>
          <p:cNvPr id="21" name="Connector 20"/>
          <p:cNvCxnSpPr/>
          <p:nvPr/>
        </p:nvCxnSpPr>
        <p:spPr>
          <a:xfrm>
            <a:off x="940588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53940" y="1563624"/>
            <a:ext cx="1834835" cy="149047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110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New eval rows</a:t>
            </a:r>
          </a:p>
          <a:p>
            <a:pPr algn="ctr">
              <a:lnSpc>
                <a:spcPct val="110000"/>
              </a:lnSpc>
            </a:pPr>
            <a:r>
              <a:rPr sz="1300" i="0" b="0">
                <a:solidFill>
                  <a:srgbClr val="E8F4F8"/>
                </a:solidFill>
                <a:latin typeface="Helvetica Neue"/>
              </a:rPr>
              <a:t>offline re-runs</a:t>
            </a:r>
          </a:p>
        </p:txBody>
      </p:sp>
      <p:cxnSp>
        <p:nvCxnSpPr>
          <p:cNvPr id="24" name="Connector 23"/>
          <p:cNvCxnSpPr/>
          <p:nvPr/>
        </p:nvCxnSpPr>
        <p:spPr>
          <a:xfrm>
            <a:off x="10771357" y="3054096"/>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420337" y="3465576"/>
            <a:ext cx="935102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420337" y="3090672"/>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420337" y="3502152"/>
            <a:ext cx="935102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every failure becomes a row</a:t>
            </a:r>
          </a:p>
        </p:txBody>
      </p:sp>
      <p:sp>
        <p:nvSpPr>
          <p:cNvPr id="28" name="TextBox 27"/>
          <p:cNvSpPr txBox="1"/>
          <p:nvPr/>
        </p:nvSpPr>
        <p:spPr>
          <a:xfrm>
            <a:off x="502920" y="4197096"/>
            <a:ext cx="11185855" cy="2020823"/>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Pick a tool (Phoenix, Langfuse, LangSmith, Braintrust) on four things: evals over stored traces, scores on spans, datasets from traces, side-by-side experiments.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Deciding</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Reading results · CI gates · Production · Failure modes</a:t>
            </a:r>
          </a:p>
        </p:txBody>
      </p:sp>
      <p:cxnSp>
        <p:nvCxnSpPr>
          <p:cNvPr id="6" name="Connector 5"/>
          <p:cNvCxnSpPr/>
          <p:nvPr/>
        </p:nvCxnSpPr>
        <p:spPr>
          <a:xfrm>
            <a:off x="6446520" y="1310640"/>
            <a:ext cx="0" cy="423672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310640"/>
            <a:ext cx="4693615" cy="4419600"/>
          </a:xfrm>
          <a:prstGeom prst="rect">
            <a:avLst/>
          </a:prstGeom>
          <a:noFill/>
        </p:spPr>
        <p:txBody>
          <a:bodyPr wrap="square" lIns="0" rIns="0" tIns="0" bIns="0" anchor="t">
            <a:noAutofit/>
          </a:bodyPr>
          <a:lstStyle/>
          <a:p>
            <a:pPr algn="l">
              <a:lnSpc>
                <a:spcPct val="100000"/>
              </a:lnSpc>
            </a:pPr>
            <a:r>
              <a:rPr sz="1200" i="0" b="0">
                <a:solidFill>
                  <a:srgbClr val="CBD5E1"/>
                </a:solidFill>
                <a:latin typeface="Helvetica Neue"/>
              </a:rPr>
              <a:t>Every number gets an error bar</a:t>
            </a:r>
          </a:p>
          <a:p>
            <a:pPr algn="l">
              <a:lnSpc>
                <a:spcPct val="100000"/>
              </a:lnSpc>
              <a:spcBef>
                <a:spcPts val="839"/>
              </a:spcBef>
            </a:pPr>
            <a:r>
              <a:rPr sz="1200" i="0" b="0">
                <a:solidFill>
                  <a:srgbClr val="CBD5E1"/>
                </a:solidFill>
                <a:latin typeface="Helvetica Neue"/>
              </a:rPr>
              <a:t>Size the suite for the smallest change that matters</a:t>
            </a:r>
          </a:p>
          <a:p>
            <a:pPr algn="l">
              <a:lnSpc>
                <a:spcPct val="100000"/>
              </a:lnSpc>
              <a:spcBef>
                <a:spcPts val="839"/>
              </a:spcBef>
            </a:pPr>
            <a:r>
              <a:rPr sz="1200" i="0" b="0">
                <a:solidFill>
                  <a:srgbClr val="CBD5E1"/>
                </a:solidFill>
                <a:latin typeface="Helvetica Neue"/>
              </a:rPr>
              <a:t>Compare versions on the same tasks</a:t>
            </a:r>
          </a:p>
          <a:p>
            <a:pPr algn="l">
              <a:lnSpc>
                <a:spcPct val="100000"/>
              </a:lnSpc>
              <a:spcBef>
                <a:spcPts val="839"/>
              </a:spcBef>
            </a:pPr>
            <a:r>
              <a:rPr sz="1200" i="0" b="0">
                <a:solidFill>
                  <a:srgbClr val="CBD5E1"/>
                </a:solidFill>
                <a:latin typeface="Helvetica Neue"/>
              </a:rPr>
              <a:t>A worked example: 7 questions, one run</a:t>
            </a:r>
          </a:p>
          <a:p>
            <a:pPr algn="l">
              <a:lnSpc>
                <a:spcPct val="100000"/>
              </a:lnSpc>
              <a:spcBef>
                <a:spcPts val="839"/>
              </a:spcBef>
            </a:pPr>
            <a:r>
              <a:rPr sz="1200" i="0" b="0">
                <a:solidFill>
                  <a:srgbClr val="CBD5E1"/>
                </a:solidFill>
                <a:latin typeface="Helvetica Neue"/>
              </a:rPr>
              <a:t>Slice before you conclude</a:t>
            </a:r>
          </a:p>
          <a:p>
            <a:pPr algn="l">
              <a:lnSpc>
                <a:spcPct val="100000"/>
              </a:lnSpc>
              <a:spcBef>
                <a:spcPts val="839"/>
              </a:spcBef>
            </a:pPr>
            <a:r>
              <a:rPr sz="1200" i="0" b="0">
                <a:solidFill>
                  <a:srgbClr val="CBD5E1"/>
                </a:solidFill>
                <a:latin typeface="Helvetica Neue"/>
              </a:rPr>
              <a:t>Slice by difficulty, not just by topic</a:t>
            </a:r>
          </a:p>
          <a:p>
            <a:pPr algn="l">
              <a:lnSpc>
                <a:spcPct val="100000"/>
              </a:lnSpc>
              <a:spcBef>
                <a:spcPts val="839"/>
              </a:spcBef>
            </a:pPr>
            <a:r>
              <a:rPr sz="1200" i="0" b="0">
                <a:solidFill>
                  <a:srgbClr val="CBD5E1"/>
                </a:solidFill>
                <a:latin typeface="Helvetica Neue"/>
              </a:rPr>
              <a:t>A report that supports a decision</a:t>
            </a:r>
          </a:p>
          <a:p>
            <a:pPr algn="l">
              <a:lnSpc>
                <a:spcPct val="100000"/>
              </a:lnSpc>
              <a:spcBef>
                <a:spcPts val="839"/>
              </a:spcBef>
            </a:pPr>
            <a:r>
              <a:rPr sz="1200" i="0" b="0">
                <a:solidFill>
                  <a:srgbClr val="CBD5E1"/>
                </a:solidFill>
                <a:latin typeface="Helvetica Neue"/>
              </a:rPr>
              <a:t>Cheap suites on every change, expensive ones on a schedule</a:t>
            </a:r>
          </a:p>
          <a:p>
            <a:pPr algn="l">
              <a:lnSpc>
                <a:spcPct val="100000"/>
              </a:lnSpc>
              <a:spcBef>
                <a:spcPts val="839"/>
              </a:spcBef>
            </a:pPr>
            <a:r>
              <a:rPr sz="1200" i="0" b="0">
                <a:solidFill>
                  <a:srgbClr val="CBD5E1"/>
                </a:solidFill>
                <a:latin typeface="Helvetica Neue"/>
              </a:rPr>
              <a:t>Run, then assert</a:t>
            </a:r>
          </a:p>
          <a:p>
            <a:pPr algn="l">
              <a:lnSpc>
                <a:spcPct val="100000"/>
              </a:lnSpc>
              <a:spcBef>
                <a:spcPts val="839"/>
              </a:spcBef>
            </a:pPr>
            <a:r>
              <a:rPr sz="1200" i="0" b="0">
                <a:solidFill>
                  <a:srgbClr val="CBD5E1"/>
                </a:solidFill>
                <a:latin typeface="Helvetica Neue"/>
              </a:rPr>
              <a:t>Gate against a baseline, on the interval</a:t>
            </a:r>
          </a:p>
          <a:p>
            <a:pPr algn="l">
              <a:lnSpc>
                <a:spcPct val="100000"/>
              </a:lnSpc>
              <a:spcBef>
                <a:spcPts val="839"/>
              </a:spcBef>
            </a:pPr>
            <a:r>
              <a:rPr sz="1200" i="0" b="0">
                <a:solidFill>
                  <a:srgbClr val="CBD5E1"/>
                </a:solidFill>
                <a:latin typeface="Helvetica Neue"/>
              </a:rPr>
              <a:t>Gates ordered by pipeline stage</a:t>
            </a:r>
          </a:p>
          <a:p>
            <a:pPr algn="l">
              <a:lnSpc>
                <a:spcPct val="100000"/>
              </a:lnSpc>
              <a:spcBef>
                <a:spcPts val="839"/>
              </a:spcBef>
            </a:pPr>
            <a:r>
              <a:rPr sz="1200" i="0" b="0">
                <a:solidFill>
                  <a:srgbClr val="CBD5E1"/>
                </a:solidFill>
                <a:latin typeface="Helvetica Neue"/>
              </a:rPr>
              <a:t>The maturity ladder</a:t>
            </a:r>
          </a:p>
          <a:p>
            <a:pPr algn="l">
              <a:lnSpc>
                <a:spcPct val="100000"/>
              </a:lnSpc>
              <a:spcBef>
                <a:spcPts val="839"/>
              </a:spcBef>
            </a:pPr>
            <a:r>
              <a:rPr sz="1200" i="0" b="0">
                <a:solidFill>
                  <a:srgbClr val="CBD5E1"/>
                </a:solidFill>
                <a:latin typeface="Helvetica Neue"/>
              </a:rPr>
              <a:t>Humans calibrate, judges cover</a:t>
            </a:r>
          </a:p>
          <a:p>
            <a:pPr algn="l">
              <a:lnSpc>
                <a:spcPct val="100000"/>
              </a:lnSpc>
              <a:spcBef>
                <a:spcPts val="839"/>
              </a:spcBef>
            </a:pPr>
            <a:r>
              <a:rPr sz="1200" i="0" b="0">
                <a:solidFill>
                  <a:srgbClr val="CBD5E1"/>
                </a:solidFill>
                <a:latin typeface="Helvetica Neue"/>
              </a:rPr>
              <a:t>When a score drops, suspect the eval first</a:t>
            </a:r>
          </a:p>
          <a:p>
            <a:pPr algn="l">
              <a:lnSpc>
                <a:spcPct val="100000"/>
              </a:lnSpc>
              <a:spcBef>
                <a:spcPts val="839"/>
              </a:spcBef>
            </a:pPr>
            <a:r>
              <a:rPr sz="1200" i="0" b="0">
                <a:solidFill>
                  <a:srgbClr val="CBD5E1"/>
                </a:solidFill>
                <a:latin typeface="Helvetica Neue"/>
              </a:rPr>
              <a:t>Optimize hard and you'll find the eval's gaps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number gets an error bar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Reading results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notes/09-reading-results.md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37</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SE = √(p(1 − p) / n). The 95% CI is p ± 1.96·SE.</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On 50 tasks, 80% and 72% are not distinguishable.</a:t>
            </a:r>
          </a:p>
        </p:txBody>
      </p:sp>
      <p:graphicFrame>
        <p:nvGraphicFramePr>
          <p:cNvPr id="14" name="Table 13"/>
          <p:cNvGraphicFramePr>
            <a:graphicFrameLocks noGrp="1"/>
          </p:cNvGraphicFramePr>
          <p:nvPr/>
        </p:nvGraphicFramePr>
        <p:xfrm>
          <a:off x="502920" y="1985772"/>
          <a:ext cx="11185854" cy="2432304"/>
        </p:xfrm>
        <a:graphic>
          <a:graphicData uri="http://schemas.openxmlformats.org/drawingml/2006/table">
            <a:tbl>
              <a:tblPr firstRow="1" bandRow="1">
                <a:tableStyleId>{5940675A-B579-460E-94D1-54222C63F5DA}</a:tableStyleId>
              </a:tblPr>
              <a:tblGrid>
                <a:gridCol w="2237171"/>
                <a:gridCol w="3355756"/>
                <a:gridCol w="5592927"/>
              </a:tblGrid>
              <a:tr h="405384">
                <a:tc>
                  <a:txBody>
                    <a:bodyPr wrap="square"/>
                    <a:lstStyle/>
                    <a:p>
                      <a:pPr>
                        <a:lnSpc>
                          <a:spcPct val="100000"/>
                        </a:lnSpc>
                      </a:pPr>
                      <a:r>
                        <a:rPr sz="1700" i="0" b="1">
                          <a:solidFill>
                            <a:srgbClr val="FFFFFF"/>
                          </a:solidFill>
                          <a:latin typeface="Helvetica Neue"/>
                        </a:rPr>
                        <a:t>Tasks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SE at p = 0.80</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95% CI</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20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0.089</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62% – 98%</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50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0.057</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69% – 91%</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100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0.040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72% – 88%</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300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0.023</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75% – 85%</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1,000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0.013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77% – 83%</a:t>
                      </a:r>
                    </a:p>
                  </a:txBody>
                  <a:tcPr marL="109728" marR="109728" marT="54864" marB="54864" anchor="ctr">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Size the suite for the smallest change that matters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How many tasks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notes/09-reading-results.md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38</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Paired, 80% power, α = 0.05, pass rates around 70–85%.</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50-task golden set is a smoke detector for big regressions. It can't tell you a tweak gained 3 points.</a:t>
            </a:r>
          </a:p>
        </p:txBody>
      </p:sp>
      <p:graphicFrame>
        <p:nvGraphicFramePr>
          <p:cNvPr id="14" name="Table 13"/>
          <p:cNvGraphicFramePr>
            <a:graphicFrameLocks noGrp="1"/>
          </p:cNvGraphicFramePr>
          <p:nvPr/>
        </p:nvGraphicFramePr>
        <p:xfrm>
          <a:off x="502920" y="1985772"/>
          <a:ext cx="11185854" cy="2026920"/>
        </p:xfrm>
        <a:graphic>
          <a:graphicData uri="http://schemas.openxmlformats.org/drawingml/2006/table">
            <a:tbl>
              <a:tblPr firstRow="1" bandRow="1">
                <a:tableStyleId>{5940675A-B579-460E-94D1-54222C63F5DA}</a:tableStyleId>
              </a:tblPr>
              <a:tblGrid>
                <a:gridCol w="5592927"/>
                <a:gridCol w="5592927"/>
              </a:tblGrid>
              <a:tr h="405384">
                <a:tc>
                  <a:txBody>
                    <a:bodyPr wrap="square"/>
                    <a:lstStyle/>
                    <a:p>
                      <a:pPr>
                        <a:lnSpc>
                          <a:spcPct val="100000"/>
                        </a:lnSpc>
                      </a:pPr>
                      <a:r>
                        <a:rPr sz="1700" i="0" b="1">
                          <a:solidFill>
                            <a:srgbClr val="FFFFFF"/>
                          </a:solidFill>
                          <a:latin typeface="Helvetica Neue"/>
                        </a:rPr>
                        <a:t>Smallest difference that matters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Tasks needed</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15 points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50–100</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10 points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100–200</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5 points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400–800</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2 points</a:t>
                      </a:r>
                    </a:p>
                  </a:txBody>
                  <a:tcPr marL="109728" marR="109728" marT="54864" marB="54864" anchor="ctr">
                    <a:solidFill>
                      <a:srgbClr val="F8FAFC"/>
                    </a:solidFill>
                  </a:tcPr>
                </a:tc>
                <a:tc>
                  <a:txBody>
                    <a:bodyPr wrap="square"/>
                    <a:lstStyle/>
                    <a:p>
                      <a:pPr>
                        <a:lnSpc>
                          <a:spcPct val="100000"/>
                        </a:lnSpc>
                      </a:pPr>
                      <a:r>
                        <a:rPr sz="1700" i="0" b="1">
                          <a:solidFill>
                            <a:srgbClr val="1E293B"/>
                          </a:solidFill>
                          <a:latin typeface="Helvetica Neue"/>
                        </a:rPr>
                        <a:t>2,500+</a:t>
                      </a:r>
                    </a:p>
                  </a:txBody>
                  <a:tcPr marL="109728" marR="109728" marT="54864" marB="54864" anchor="ctr">
                    <a:solidFill>
                      <a:srgbClr val="F8FAFC"/>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Compare versions on the same tasks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100" i="0" b="0">
                <a:solidFill>
                  <a:srgbClr val="0EA5C9"/>
                </a:solidFill>
                <a:latin typeface="Helvetica Neue"/>
              </a:rPr>
              <a:t>Paired differences (Miller, Anthropic 2024)</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notes/09-reading-results.md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Run both versions on identical tasks and analyze per-task differences.</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Two independent rates</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at 84%, B at 85%, each with its own wide interval</a:t>
            </a:r>
          </a:p>
        </p:txBody>
      </p:sp>
      <p:sp>
        <p:nvSpPr>
          <p:cNvPr id="18" name="Rectangle 17"/>
          <p:cNvSpPr/>
          <p:nvPr/>
        </p:nvSpPr>
        <p:spPr>
          <a:xfrm>
            <a:off x="731520" y="30126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Task-to-task variation swamps the difference</a:t>
            </a:r>
          </a:p>
        </p:txBody>
      </p:sp>
      <p:sp>
        <p:nvSpPr>
          <p:cNvPr id="20" name="Rectangle 19"/>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The error bars overlap and you learn nothing</a:t>
            </a:r>
          </a:p>
        </p:txBody>
      </p:sp>
      <p:sp>
        <p:nvSpPr>
          <p:cNvPr id="22" name="Rectangle 21"/>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Per-task differences</a:t>
            </a:r>
          </a:p>
        </p:txBody>
      </p:sp>
      <p:sp>
        <p:nvSpPr>
          <p:cNvPr id="25" name="Rectangle 24"/>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Most tasks pass or fail on both, so differences are mostly 0</a:t>
            </a:r>
          </a:p>
        </p:txBody>
      </p:sp>
      <p:sp>
        <p:nvSpPr>
          <p:cNvPr id="27" name="Rectangle 26"/>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SE(Δ) = sd(differences) / √n, much smaller</a:t>
            </a:r>
          </a:p>
        </p:txBody>
      </p:sp>
      <p:sp>
        <p:nvSpPr>
          <p:cNvPr id="29" name="Rectangle 28"/>
          <p:cNvSpPr/>
          <p:nvPr/>
        </p:nvSpPr>
        <p:spPr>
          <a:xfrm>
            <a:off x="6507327" y="371221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3630168"/>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McNemar: only the </a:t>
            </a:r>
            <a:r>
              <a:rPr sz="1700" i="0" b="1">
                <a:solidFill>
                  <a:srgbClr val="1E293B"/>
                </a:solidFill>
                <a:latin typeface="Helvetica Neue"/>
              </a:rPr>
              <a:t>discordant</a:t>
            </a:r>
            <a:r>
              <a:rPr sz="1700" i="0" b="0">
                <a:solidFill>
                  <a:srgbClr val="1E293B"/>
                </a:solidFill>
                <a:latin typeface="Helvetica Neue"/>
              </a:rPr>
              <a:t> tasks count</a:t>
            </a:r>
          </a:p>
        </p:txBody>
      </p:sp>
      <p:sp>
        <p:nvSpPr>
          <p:cNvPr id="31" name="Rectangle 30"/>
          <p:cNvSpPr/>
          <p:nvPr/>
        </p:nvSpPr>
        <p:spPr>
          <a:xfrm>
            <a:off x="6507327" y="412673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404469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B wins </a:t>
            </a:r>
            <a:r>
              <a:rPr sz="1700" i="0" b="1">
                <a:solidFill>
                  <a:srgbClr val="1E293B"/>
                </a:solidFill>
                <a:latin typeface="Helvetica Neue"/>
              </a:rPr>
              <a:t>14–6</a:t>
            </a:r>
            <a:r>
              <a:rPr sz="1700" i="0" b="0">
                <a:solidFill>
                  <a:srgbClr val="1E293B"/>
                </a:solidFill>
                <a:latin typeface="Helvetica Neue"/>
              </a:rPr>
              <a:t> is evidence. </a:t>
            </a:r>
            <a:r>
              <a:rPr sz="1700" i="0" b="1">
                <a:solidFill>
                  <a:srgbClr val="1E293B"/>
                </a:solidFill>
                <a:latin typeface="Helvetica Neue"/>
              </a:rPr>
              <a:t>11–9</a:t>
            </a:r>
            <a:r>
              <a:rPr sz="1700" i="0" b="0">
                <a:solidFill>
                  <a:srgbClr val="1E293B"/>
                </a:solidFill>
                <a:latin typeface="Helvetica Neue"/>
              </a:rPr>
              <a:t> is not</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Pairing cuts variance for free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worked example: 7 questions, one run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Course Lab 5</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notes/09-reading-results.md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Check the graders before the agents. A version that skips the tool gets a perfect SQL score.</a:t>
            </a:r>
          </a:p>
        </p:txBody>
      </p:sp>
      <p:sp>
        <p:nvSpPr>
          <p:cNvPr id="13" name="Rectangle 12"/>
          <p:cNvSpPr/>
          <p:nvPr/>
        </p:nvSpPr>
        <p:spPr>
          <a:xfrm>
            <a:off x="824719" y="1417320"/>
            <a:ext cx="5508620"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eeplearning-ai-evaluating-ai-agents-lab5-experiments-3223776750780928689.jpg"/>
          <p:cNvPicPr>
            <a:picLocks noChangeAspect="1"/>
          </p:cNvPicPr>
          <p:nvPr/>
        </p:nvPicPr>
        <p:blipFill>
          <a:blip r:embed="rId2"/>
          <a:stretch>
            <a:fillRect/>
          </a:stretch>
        </p:blipFill>
        <p:spPr>
          <a:xfrm>
            <a:off x="879583" y="1472184"/>
            <a:ext cx="5398892" cy="3602735"/>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v1 vs v2 experiment (DeepLearning.AI &amp; Arize, Lab 5)</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v2 adds "Think before you respond." to the SQL prompt</a:t>
            </a:r>
          </a:p>
        </p:txBody>
      </p:sp>
      <p:sp>
        <p:nvSpPr>
          <p:cNvPr id="18" name="Rectangle 17"/>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 = 7</a:t>
            </a:r>
            <a:r>
              <a:rPr sz="1800" i="0" b="0">
                <a:solidFill>
                  <a:srgbClr val="1E293B"/>
                </a:solidFill>
                <a:latin typeface="Helvetica Neue"/>
              </a:rPr>
              <a:t>: one flipped task moves a rate </a:t>
            </a:r>
            <a:r>
              <a:rPr sz="1800" i="0" b="1">
                <a:solidFill>
                  <a:srgbClr val="1E293B"/>
                </a:solidFill>
                <a:latin typeface="Helvetica Neue"/>
              </a:rPr>
              <a:t>14 points</a:t>
            </a:r>
          </a:p>
        </p:txBody>
      </p:sp>
      <p:sp>
        <p:nvSpPr>
          <p:cNvPr id="20" name="Rectangle 19"/>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0.82 vs 0.86 is noise. Pair, count discordant tasks, repeat k times</a:t>
            </a:r>
          </a:p>
        </p:txBody>
      </p:sp>
      <p:sp>
        <p:nvSpPr>
          <p:cNvPr id="22" name="Rectangle 21"/>
          <p:cNvSpPr/>
          <p:nvPr/>
        </p:nvSpPr>
        <p:spPr>
          <a:xfrm>
            <a:off x="7020900" y="378104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SQL grader </a:t>
            </a:r>
            <a:r>
              <a:rPr sz="1800" i="0" b="1">
                <a:solidFill>
                  <a:srgbClr val="1E293B"/>
                </a:solidFill>
                <a:latin typeface="Helvetica Neue"/>
              </a:rPr>
              <a:t>passes</a:t>
            </a:r>
            <a:r>
              <a:rPr sz="1800" i="0" b="0">
                <a:solidFill>
                  <a:srgbClr val="1E293B"/>
                </a:solidFill>
                <a:latin typeface="Helvetica Neue"/>
              </a:rPr>
              <a:t> when no SQL ran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Slice before you conclude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A flat headline can hide a loss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notes/09-reading-results.md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"+1 overall" ships a change that breaks non-English users. Show n per slice.</a:t>
            </a:r>
          </a:p>
        </p:txBody>
      </p:sp>
      <p:graphicFrame>
        <p:nvGraphicFramePr>
          <p:cNvPr id="13" name="Table 12"/>
          <p:cNvGraphicFramePr>
            <a:graphicFrameLocks noGrp="1"/>
          </p:cNvGraphicFramePr>
          <p:nvPr/>
        </p:nvGraphicFramePr>
        <p:xfrm>
          <a:off x="502920" y="1472184"/>
          <a:ext cx="11185854" cy="2026920"/>
        </p:xfrm>
        <a:graphic>
          <a:graphicData uri="http://schemas.openxmlformats.org/drawingml/2006/table">
            <a:tbl>
              <a:tblPr firstRow="1" bandRow="1">
                <a:tableStyleId>{5940675A-B579-460E-94D1-54222C63F5DA}</a:tableStyleId>
              </a:tblPr>
              <a:tblGrid>
                <a:gridCol w="3647561"/>
                <a:gridCol w="1702195"/>
                <a:gridCol w="1945366"/>
                <a:gridCol w="1945366"/>
                <a:gridCol w="1945366"/>
              </a:tblGrid>
              <a:tr h="405384">
                <a:tc>
                  <a:txBody>
                    <a:bodyPr wrap="square"/>
                    <a:lstStyle/>
                    <a:p>
                      <a:pPr>
                        <a:lnSpc>
                          <a:spcPct val="100000"/>
                        </a:lnSpc>
                      </a:pPr>
                      <a:r>
                        <a:rPr sz="1700" i="0" b="1">
                          <a:solidFill>
                            <a:srgbClr val="FFFFFF"/>
                          </a:solidFill>
                          <a:latin typeface="Helvetica Neue"/>
                        </a:rPr>
                        <a:t>Slice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A</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Δ</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Billing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120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82%</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90%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+8</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How-to</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150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88%</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89%</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Non-English</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40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75%</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58%</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−17</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Overall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310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84%</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85%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a:t>
                      </a:r>
                    </a:p>
                  </a:txBody>
                  <a:tcPr marL="109728" marR="109728" marT="54864" marB="54864" anchor="ctr">
                    <a:solidFill>
                      <a:srgbClr val="F8FAFC"/>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Slice by difficulty, not just by topic</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300" i="0" b="0">
                <a:solidFill>
                  <a:srgbClr val="0EA5C9"/>
                </a:solidFill>
                <a:latin typeface="Helvetica Neue"/>
              </a:rPr>
              <a:t>Yang et al. 2026, Terminal-Bench RSI</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notes/09-reading-results.md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Report the strata. A rising average can sit on a flat hard tail.</a:t>
            </a:r>
          </a:p>
        </p:txBody>
      </p:sp>
      <p:sp>
        <p:nvSpPr>
          <p:cNvPr id="13" name="Rectangle 12"/>
          <p:cNvSpPr/>
          <p:nvPr/>
        </p:nvSpPr>
        <p:spPr>
          <a:xfrm>
            <a:off x="482559" y="1417320"/>
            <a:ext cx="6192941"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yang-terminal-rsi-fig10.png"/>
          <p:cNvPicPr>
            <a:picLocks noChangeAspect="1"/>
          </p:cNvPicPr>
          <p:nvPr/>
        </p:nvPicPr>
        <p:blipFill>
          <a:blip r:embed="rId2"/>
          <a:stretch>
            <a:fillRect/>
          </a:stretch>
        </p:blipFill>
        <p:spPr>
          <a:xfrm>
            <a:off x="537423" y="1472184"/>
            <a:ext cx="6083213" cy="3602735"/>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Success by difficulty stratum across self-improvement rounds (Yang et al. 2026, Fig. 10)</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Easy</a:t>
            </a:r>
            <a:r>
              <a:rPr sz="1800" i="0" b="0">
                <a:solidFill>
                  <a:srgbClr val="1E293B"/>
                </a:solidFill>
                <a:latin typeface="Helvetica Neue"/>
              </a:rPr>
              <a:t> tasks: 32% → 73%. The headline gain lives here</a:t>
            </a:r>
          </a:p>
        </p:txBody>
      </p:sp>
      <p:sp>
        <p:nvSpPr>
          <p:cNvPr id="18" name="Rectangle 17"/>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Extreme</a:t>
            </a:r>
            <a:r>
              <a:rPr sz="1800" i="0" b="0">
                <a:solidFill>
                  <a:srgbClr val="1E293B"/>
                </a:solidFill>
                <a:latin typeface="Helvetica Neue"/>
              </a:rPr>
              <a:t> tasks: 0 → 4.9 → 11.0 → 6.1 → 11.0%</a:t>
            </a:r>
          </a:p>
        </p:txBody>
      </p:sp>
      <p:sp>
        <p:nvSpPr>
          <p:cNvPr id="20" name="Rectangle 19"/>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One pooled rate hides where progress stalls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report that supports a decision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Report template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notes/09-reading-results.md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Count errors and refusals as failures, or as their own rate. Never let them leave the denominator.</a:t>
            </a:r>
          </a:p>
        </p:txBody>
      </p:sp>
      <p:sp>
        <p:nvSpPr>
          <p:cNvPr id="13" name="Rounded Rectangle 12"/>
          <p:cNvSpPr/>
          <p:nvPr/>
        </p:nvSpPr>
        <p:spPr>
          <a:xfrm>
            <a:off x="502920" y="1472184"/>
            <a:ext cx="11185855"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5" name="TextBox 14"/>
          <p:cNvSpPr txBox="1"/>
          <p:nvPr/>
        </p:nvSpPr>
        <p:spPr>
          <a:xfrm>
            <a:off x="731520" y="1883664"/>
            <a:ext cx="10728655"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Suite: support-golden v4 (n=310, 3 trials/task)   Judge: grounding-v2 (TNR 0.88)</a:t>
            </a:r>
          </a:p>
          <a:p>
            <a:pPr algn="l">
              <a:lnSpc>
                <a:spcPct val="100000"/>
              </a:lnSpc>
            </a:pPr>
            <a:r>
              <a:rPr sz="1600" i="0" b="0">
                <a:solidFill>
                  <a:srgbClr val="E2E8F0"/>
                </a:solidFill>
                <a:latin typeface="Menlo"/>
              </a:rPr>
              <a:t>                    A (prod)      B (candidate)   Δ (paired)</a:t>
            </a:r>
          </a:p>
          <a:p>
            <a:pPr algn="l">
              <a:lnSpc>
                <a:spcPct val="100000"/>
              </a:lnSpc>
            </a:pPr>
            <a:r>
              <a:rPr sz="1600" i="0" b="0">
                <a:solidFill>
                  <a:srgbClr val="E2E8F0"/>
                </a:solidFill>
                <a:latin typeface="Menlo"/>
              </a:rPr>
              <a:t>Pass rate           84.2% ±3.9    85.1% ±3.8      +0.9  [−1.6, +3.4]</a:t>
            </a:r>
          </a:p>
          <a:p>
            <a:pPr algn="l">
              <a:lnSpc>
                <a:spcPct val="100000"/>
              </a:lnSpc>
            </a:pPr>
            <a:r>
              <a:rPr sz="1600" i="0" b="0">
                <a:solidFill>
                  <a:srgbClr val="E2E8F0"/>
                </a:solidFill>
                <a:latin typeface="Menlo"/>
              </a:rPr>
              <a:t>  Non-English (40)  75.0% ±13     57.5% ±15       −17.5 [−29, −6]    ⚠</a:t>
            </a:r>
          </a:p>
          <a:p>
            <a:pPr algn="l">
              <a:lnSpc>
                <a:spcPct val="100000"/>
              </a:lnSpc>
            </a:pPr>
            <a:r>
              <a:rPr sz="1600" i="0" b="0">
                <a:solidFill>
                  <a:srgbClr val="E2E8F0"/>
                </a:solidFill>
                <a:latin typeface="Menlo"/>
              </a:rPr>
              <a:t>Errors / refusals   1.3%          4.2%                               ⚠</a:t>
            </a:r>
          </a:p>
          <a:p>
            <a:pPr algn="l">
              <a:lnSpc>
                <a:spcPct val="100000"/>
              </a:lnSpc>
            </a:pPr>
            <a:r>
              <a:rPr sz="1600" i="0" b="0">
                <a:solidFill>
                  <a:srgbClr val="E2E8F0"/>
                </a:solidFill>
                <a:latin typeface="Menlo"/>
              </a:rPr>
              <a:t>Cost per success    $0.014        $0.016          +14%</a:t>
            </a:r>
          </a:p>
          <a:p>
            <a:pPr algn="l">
              <a:lnSpc>
                <a:spcPct val="100000"/>
              </a:lnSpc>
            </a:pPr>
            <a:r>
              <a:rPr sz="1600" i="0" b="0">
                <a:solidFill>
                  <a:srgbClr val="E2E8F0"/>
                </a:solidFill>
                <a:latin typeface="Menlo"/>
              </a:rPr>
              <a:t>Flipped tasks read: 18 / 18. 9 of 11 regressions are </a:t>
            </a:r>
            <a:r>
              <a:rPr sz="1440" i="0" b="0">
                <a:solidFill>
                  <a:srgbClr val="0F7490"/>
                </a:solidFill>
                <a:latin typeface="Menlo"/>
              </a:rPr>
              <a:t>refusal</a:t>
            </a:r>
            <a:r>
              <a:rPr sz="1600" i="0" b="0">
                <a:solidFill>
                  <a:srgbClr val="E2E8F0"/>
                </a:solidFill>
                <a:latin typeface="Menlo"/>
              </a:rPr>
              <a:t> on non-English</a:t>
            </a:r>
          </a:p>
          <a:p>
            <a:pPr algn="l">
              <a:lnSpc>
                <a:spcPct val="100000"/>
              </a:lnSpc>
            </a:pPr>
            <a:r>
              <a:rPr sz="1600" i="0" b="0">
                <a:solidFill>
                  <a:srgbClr val="E2E8F0"/>
                </a:solidFill>
                <a:latin typeface="Menlo"/>
              </a:rPr>
              <a:t>Decision: do not ship. Investigate refusal behavior for non-English.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Cheap suites on every change, expensive ones on a schedule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Evals in CI</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notes/10-evals-in-ci.md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Use path filters, so a README change doesn't trigger a $40 judge run.</a:t>
            </a:r>
          </a:p>
        </p:txBody>
      </p:sp>
      <p:graphicFrame>
        <p:nvGraphicFramePr>
          <p:cNvPr id="13" name="Table 12"/>
          <p:cNvGraphicFramePr>
            <a:graphicFrameLocks noGrp="1"/>
          </p:cNvGraphicFramePr>
          <p:nvPr/>
        </p:nvGraphicFramePr>
        <p:xfrm>
          <a:off x="502920" y="1472184"/>
          <a:ext cx="11185853" cy="3209544"/>
        </p:xfrm>
        <a:graphic>
          <a:graphicData uri="http://schemas.openxmlformats.org/drawingml/2006/table">
            <a:tbl>
              <a:tblPr firstRow="1" bandRow="1">
                <a:tableStyleId>{5940675A-B579-460E-94D1-54222C63F5DA}</a:tableStyleId>
              </a:tblPr>
              <a:tblGrid>
                <a:gridCol w="2908322"/>
                <a:gridCol w="3355756"/>
                <a:gridCol w="3355756"/>
                <a:gridCol w="1566019"/>
              </a:tblGrid>
              <a:tr h="405384">
                <a:tc>
                  <a:txBody>
                    <a:bodyPr wrap="square"/>
                    <a:lstStyle/>
                    <a:p>
                      <a:pPr>
                        <a:lnSpc>
                          <a:spcPct val="100000"/>
                        </a:lnSpc>
                      </a:pPr>
                      <a:r>
                        <a:rPr sz="1700" i="0" b="1">
                          <a:solidFill>
                            <a:srgbClr val="FFFFFF"/>
                          </a:solidFill>
                          <a:latin typeface="Helvetica Neue"/>
                        </a:rPr>
                        <a:t>Trigger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Suite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Graders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Blocks?</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Every commit / PR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Unit tests + smoke eval (10–30 tasks)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Code only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Yes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PR touching prompts, tools, retrieval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Regression suite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Code + calibrated judges on a sample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Yes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Nightly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Full suite, k trials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All, experimental tracked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Alerts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Pre-release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Full + held-out + adversarial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All calibrated</a:t>
                      </a:r>
                    </a:p>
                  </a:txBody>
                  <a:tcPr marL="109728" marR="109728" marT="54864" marB="54864" anchor="ctr">
                    <a:solidFill>
                      <a:srgbClr val="F8FAFC"/>
                    </a:solidFill>
                  </a:tcPr>
                </a:tc>
                <a:tc>
                  <a:txBody>
                    <a:bodyPr wrap="square"/>
                    <a:lstStyle/>
                    <a:p>
                      <a:pPr>
                        <a:lnSpc>
                          <a:spcPct val="100000"/>
                        </a:lnSpc>
                      </a:pPr>
                      <a:r>
                        <a:rPr sz="1700" i="0" b="1">
                          <a:solidFill>
                            <a:srgbClr val="1E293B"/>
                          </a:solidFill>
                          <a:latin typeface="Helvetica Neue"/>
                        </a:rPr>
                        <a:t>Release gate</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Model change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Everything, paired vs. prod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All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Yes</a:t>
                      </a:r>
                    </a:p>
                  </a:txBody>
                  <a:tcPr marL="109728" marR="109728" marT="54864" marB="54864"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Run, then assert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300" i="0" b="0">
                <a:solidFill>
                  <a:srgbClr val="0EA5C9"/>
                </a:solidFill>
                <a:latin typeface="Helvetica Neue"/>
              </a:rPr>
              <a:t>Two phases with an artifact between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notes/10-evals-in-ci.md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Change a threshold or add a slice and re-assert in seconds, without re-running a $30 suite.</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Phase 1: Run</a:t>
            </a:r>
          </a:p>
        </p:txBody>
      </p:sp>
      <p:sp>
        <p:nvSpPr>
          <p:cNvPr id="16" name="Rectangle 15"/>
          <p:cNvSpPr/>
          <p:nvPr/>
        </p:nvSpPr>
        <p:spPr>
          <a:xfrm>
            <a:off x="731520" y="2313178"/>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For each task × trial: run the SUT, capture the trace, grade</a:t>
            </a:r>
          </a:p>
        </p:txBody>
      </p:sp>
      <p:sp>
        <p:nvSpPr>
          <p:cNvPr id="18" name="Rectangle 17"/>
          <p:cNvSpPr/>
          <p:nvPr/>
        </p:nvSpPr>
        <p:spPr>
          <a:xfrm>
            <a:off x="731520" y="3012694"/>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Write a row to </a:t>
            </a:r>
            <a:r>
              <a:rPr sz="1530" i="0" b="0">
                <a:solidFill>
                  <a:srgbClr val="0F7490"/>
                </a:solidFill>
                <a:latin typeface="Menlo"/>
              </a:rPr>
              <a:t>results.jsonl</a:t>
            </a:r>
          </a:p>
        </p:txBody>
      </p:sp>
      <p:sp>
        <p:nvSpPr>
          <p:cNvPr id="20" name="Rectangle 19"/>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Slow, costly, non-deterministic</a:t>
            </a:r>
          </a:p>
        </p:txBody>
      </p:sp>
      <p:sp>
        <p:nvSpPr>
          <p:cNvPr id="22" name="Rectangle 21"/>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Phase 2: Assert</a:t>
            </a:r>
          </a:p>
        </p:txBody>
      </p:sp>
      <p:sp>
        <p:nvSpPr>
          <p:cNvPr id="25" name="Rectangle 24"/>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Load results, compute metrics and CIs per slice</a:t>
            </a:r>
          </a:p>
        </p:txBody>
      </p:sp>
      <p:sp>
        <p:nvSpPr>
          <p:cNvPr id="27" name="Rectangle 26"/>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9306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Compare to baseline and thresholds</a:t>
            </a:r>
          </a:p>
        </p:txBody>
      </p:sp>
      <p:sp>
        <p:nvSpPr>
          <p:cNvPr id="29" name="Rectangle 28"/>
          <p:cNvSpPr/>
          <p:nvPr/>
        </p:nvSpPr>
        <p:spPr>
          <a:xfrm>
            <a:off x="6507327" y="342722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334518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Emit pass/fail per gate + a report</a:t>
            </a:r>
          </a:p>
        </p:txBody>
      </p:sp>
      <p:sp>
        <p:nvSpPr>
          <p:cNvPr id="31" name="Rectangle 30"/>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Fast, free, deterministic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Gate against a baseline, on the interval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regression gate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notes/10-evals-in-ci.md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"Block if Δ &lt; 0" blocks on noise half the time. Block when the CI upper bound is below −3.</a:t>
            </a:r>
          </a:p>
        </p:txBody>
      </p:sp>
      <p:graphicFrame>
        <p:nvGraphicFramePr>
          <p:cNvPr id="13" name="Table 12"/>
          <p:cNvGraphicFramePr>
            <a:graphicFrameLocks noGrp="1"/>
          </p:cNvGraphicFramePr>
          <p:nvPr/>
        </p:nvGraphicFramePr>
        <p:xfrm>
          <a:off x="502920" y="1472184"/>
          <a:ext cx="11185854" cy="2432304"/>
        </p:xfrm>
        <a:graphic>
          <a:graphicData uri="http://schemas.openxmlformats.org/drawingml/2006/table">
            <a:tbl>
              <a:tblPr firstRow="1" bandRow="1">
                <a:tableStyleId>{5940675A-B579-460E-94D1-54222C63F5DA}</a:tableStyleId>
              </a:tblPr>
              <a:tblGrid>
                <a:gridCol w="2684605"/>
                <a:gridCol w="5592927"/>
                <a:gridCol w="2908322"/>
              </a:tblGrid>
              <a:tr h="405384">
                <a:tc>
                  <a:txBody>
                    <a:bodyPr wrap="square"/>
                    <a:lstStyle/>
                    <a:p>
                      <a:pPr>
                        <a:lnSpc>
                          <a:spcPct val="100000"/>
                        </a:lnSpc>
                      </a:pPr>
                      <a:r>
                        <a:rPr sz="1700" i="0" b="1">
                          <a:solidFill>
                            <a:srgbClr val="FFFFFF"/>
                          </a:solidFill>
                          <a:latin typeface="Helvetica Neue"/>
                        </a:rPr>
                        <a:t>Rule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Example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Catches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Absolute floor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Schema ≥ 99%. Citation hallucination = 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Never-events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Relative to baseline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Grounding ≤ 3 points below prod (paired CI)</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Regressions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Per-slice floor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 slice drops &gt; 10 points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Hidden slice losses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Efficiency budget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Cost/success ≤ 1.2× baseline. p95 ≤ 8 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Silent cost blow-ups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Regression set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Fixed failures ≥ 95% pass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Re-broken bugs</a:t>
                      </a:r>
                    </a:p>
                  </a:txBody>
                  <a:tcPr marL="109728" marR="109728" marT="54864" marB="54864"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Gates ordered by pipeline stage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gate ladder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notes/10-evals-in-ci.md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47</a:t>
            </a:r>
          </a:p>
        </p:txBody>
      </p:sp>
      <p:sp>
        <p:nvSpPr>
          <p:cNvPr id="10" name="Rounded Rectangle 9"/>
          <p:cNvSpPr/>
          <p:nvPr/>
        </p:nvSpPr>
        <p:spPr>
          <a:xfrm>
            <a:off x="502920" y="1563624"/>
            <a:ext cx="1834835"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Data quality</a:t>
            </a:r>
          </a:p>
          <a:p>
            <a:pPr algn="ctr">
              <a:lnSpc>
                <a:spcPct val="110000"/>
              </a:lnSpc>
            </a:pPr>
            <a:r>
              <a:rPr sz="1300" i="0" b="0">
                <a:solidFill>
                  <a:srgbClr val="E8F4F8"/>
                </a:solidFill>
                <a:latin typeface="Helvetica Neue"/>
              </a:rPr>
              <a:t>valid, mapped, eligible</a:t>
            </a:r>
          </a:p>
        </p:txBody>
      </p:sp>
      <p:cxnSp>
        <p:nvCxnSpPr>
          <p:cNvPr id="12" name="Connector 11"/>
          <p:cNvCxnSpPr/>
          <p:nvPr/>
        </p:nvCxnSpPr>
        <p:spPr>
          <a:xfrm>
            <a:off x="2392619"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40675" y="1563624"/>
            <a:ext cx="1834835"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7835"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Retrieval</a:t>
            </a:r>
          </a:p>
          <a:p>
            <a:pPr algn="ctr">
              <a:lnSpc>
                <a:spcPct val="110000"/>
              </a:lnSpc>
            </a:pPr>
            <a:r>
              <a:rPr sz="1300" i="0" b="0">
                <a:solidFill>
                  <a:srgbClr val="E8F4F8"/>
                </a:solidFill>
                <a:latin typeface="Helvetica Neue"/>
              </a:rPr>
              <a:t>retrieval-eligible rows</a:t>
            </a:r>
          </a:p>
        </p:txBody>
      </p:sp>
      <p:cxnSp>
        <p:nvCxnSpPr>
          <p:cNvPr id="15" name="Connector 14"/>
          <p:cNvCxnSpPr/>
          <p:nvPr/>
        </p:nvCxnSpPr>
        <p:spPr>
          <a:xfrm>
            <a:off x="4730374"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78430" y="1563624"/>
            <a:ext cx="1834835"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559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Generation</a:t>
            </a:r>
          </a:p>
          <a:p>
            <a:pPr algn="ctr">
              <a:lnSpc>
                <a:spcPct val="110000"/>
              </a:lnSpc>
            </a:pPr>
            <a:r>
              <a:rPr sz="1300" i="0" b="0">
                <a:solidFill>
                  <a:srgbClr val="E8F4F8"/>
                </a:solidFill>
                <a:latin typeface="Helvetica Neue"/>
              </a:rPr>
              <a:t>generation-eligible rows</a:t>
            </a:r>
          </a:p>
        </p:txBody>
      </p:sp>
      <p:cxnSp>
        <p:nvCxnSpPr>
          <p:cNvPr id="18" name="Connector 17"/>
          <p:cNvCxnSpPr/>
          <p:nvPr/>
        </p:nvCxnSpPr>
        <p:spPr>
          <a:xfrm>
            <a:off x="7068129"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16185" y="1563624"/>
            <a:ext cx="1834835" cy="1205484"/>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345"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Calibration</a:t>
            </a:r>
          </a:p>
          <a:p>
            <a:pPr algn="ctr">
              <a:lnSpc>
                <a:spcPct val="110000"/>
              </a:lnSpc>
            </a:pPr>
            <a:r>
              <a:rPr sz="1300" i="0" b="0">
                <a:solidFill>
                  <a:srgbClr val="E8F4F8"/>
                </a:solidFill>
                <a:latin typeface="Helvetica Neue"/>
              </a:rPr>
              <a:t>gating judges calibrated</a:t>
            </a:r>
          </a:p>
        </p:txBody>
      </p:sp>
      <p:cxnSp>
        <p:nvCxnSpPr>
          <p:cNvPr id="21" name="Connector 20"/>
          <p:cNvCxnSpPr/>
          <p:nvPr/>
        </p:nvCxnSpPr>
        <p:spPr>
          <a:xfrm>
            <a:off x="9405884"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53940" y="1563624"/>
            <a:ext cx="1834835"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110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Release</a:t>
            </a:r>
          </a:p>
          <a:p>
            <a:pPr algn="ctr">
              <a:lnSpc>
                <a:spcPct val="110000"/>
              </a:lnSpc>
            </a:pPr>
            <a:r>
              <a:rPr sz="1300" i="0" b="0">
                <a:solidFill>
                  <a:srgbClr val="E8F4F8"/>
                </a:solidFill>
                <a:latin typeface="Helvetica Neue"/>
              </a:rPr>
              <a:t>all pass + budget</a:t>
            </a:r>
          </a:p>
        </p:txBody>
      </p:sp>
      <p:sp>
        <p:nvSpPr>
          <p:cNvPr id="24" name="TextBox 23"/>
          <p:cNvSpPr txBox="1"/>
          <p:nvPr/>
        </p:nvSpPr>
        <p:spPr>
          <a:xfrm>
            <a:off x="502920" y="3089148"/>
            <a:ext cx="11185855" cy="3128772"/>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A later gate runs only on rows an earlier gate says are fair. The maturity ladder (next) orders building the practice; this orders checks within a run.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maturity ladder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Where most systems sit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notes/11-production-and-the-maturity-ladder.md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"We'll add evals later" means "we'll have no signal when this breaks".</a:t>
            </a:r>
          </a:p>
        </p:txBody>
      </p:sp>
      <p:sp>
        <p:nvSpPr>
          <p:cNvPr id="13" name="Rectangle 12"/>
          <p:cNvSpPr/>
          <p:nvPr/>
        </p:nvSpPr>
        <p:spPr>
          <a:xfrm>
            <a:off x="1645920" y="1472184"/>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601114"/>
            <a:ext cx="457200" cy="457200"/>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0</a:t>
            </a:r>
          </a:p>
        </p:txBody>
      </p:sp>
      <p:sp>
        <p:nvSpPr>
          <p:cNvPr id="16" name="TextBox 15"/>
          <p:cNvSpPr txBox="1"/>
          <p:nvPr/>
        </p:nvSpPr>
        <p:spPr>
          <a:xfrm>
            <a:off x="2468879" y="1472184"/>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0 · Vibes</a:t>
            </a:r>
            <a:r>
              <a:rPr sz="1800" i="0" b="0">
                <a:solidFill>
                  <a:srgbClr val="475569"/>
                </a:solidFill>
                <a:latin typeface="Helvetica Neue"/>
              </a:rPr>
              <a:t> — Manual review. Catches what you happen to look at.</a:t>
            </a:r>
          </a:p>
        </p:txBody>
      </p:sp>
      <p:sp>
        <p:nvSpPr>
          <p:cNvPr id="17" name="Rectangle 16"/>
          <p:cNvSpPr/>
          <p:nvPr/>
        </p:nvSpPr>
        <p:spPr>
          <a:xfrm>
            <a:off x="1645920" y="2296972"/>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20" name="TextBox 19"/>
          <p:cNvSpPr txBox="1"/>
          <p:nvPr/>
        </p:nvSpPr>
        <p:spPr>
          <a:xfrm>
            <a:off x="2468879" y="2296972"/>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1 · Deterministic gates</a:t>
            </a:r>
            <a:r>
              <a:rPr sz="1800" i="0" b="0">
                <a:solidFill>
                  <a:srgbClr val="475569"/>
                </a:solidFill>
                <a:latin typeface="Helvetica Neue"/>
              </a:rPr>
              <a:t> — Tests, schemas, hooks. Highest return per effort.</a:t>
            </a:r>
          </a:p>
        </p:txBody>
      </p:sp>
      <p:sp>
        <p:nvSpPr>
          <p:cNvPr id="21" name="Rectangle 20"/>
          <p:cNvSpPr/>
          <p:nvPr/>
        </p:nvSpPr>
        <p:spPr>
          <a:xfrm>
            <a:off x="1645920" y="3121761"/>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4" name="TextBox 23"/>
          <p:cNvSpPr txBox="1"/>
          <p:nvPr/>
        </p:nvSpPr>
        <p:spPr>
          <a:xfrm>
            <a:off x="2468879" y="3121761"/>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2 · Separated evaluator</a:t>
            </a:r>
            <a:r>
              <a:rPr sz="1800" i="0" b="0">
                <a:solidFill>
                  <a:srgbClr val="475569"/>
                </a:solidFill>
                <a:latin typeface="Helvetica Neue"/>
              </a:rPr>
              <a:t> — Fresh context, runs the output. Behavioral failures.</a:t>
            </a:r>
          </a:p>
        </p:txBody>
      </p:sp>
      <p:sp>
        <p:nvSpPr>
          <p:cNvPr id="25" name="Rectangle 24"/>
          <p:cNvSpPr/>
          <p:nvPr/>
        </p:nvSpPr>
        <p:spPr>
          <a:xfrm>
            <a:off x="1645920" y="3946550"/>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10512" y="4075480"/>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0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8" name="TextBox 27"/>
          <p:cNvSpPr txBox="1"/>
          <p:nvPr/>
        </p:nvSpPr>
        <p:spPr>
          <a:xfrm>
            <a:off x="2468879" y="3946550"/>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3 · Failure evals + tracing</a:t>
            </a:r>
            <a:r>
              <a:rPr sz="1800" i="0" b="0">
                <a:solidFill>
                  <a:srgbClr val="475569"/>
                </a:solidFill>
                <a:latin typeface="Helvetica Neue"/>
              </a:rPr>
              <a:t> — Regressions, and where a run broke. </a:t>
            </a:r>
            <a:r>
              <a:rPr sz="1800" i="0" b="1">
                <a:solidFill>
                  <a:srgbClr val="1E293B"/>
                </a:solidFill>
                <a:latin typeface="Helvetica Neue"/>
              </a:rPr>
              <a:t>Production needs this.</a:t>
            </a:r>
          </a:p>
        </p:txBody>
      </p:sp>
      <p:sp>
        <p:nvSpPr>
          <p:cNvPr id="29" name="Rectangle 28"/>
          <p:cNvSpPr/>
          <p:nvPr/>
        </p:nvSpPr>
        <p:spPr>
          <a:xfrm>
            <a:off x="1645920" y="4771339"/>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10512" y="4900269"/>
            <a:ext cx="457200" cy="457200"/>
          </a:xfrm>
          <a:prstGeom prst="ellipse">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10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32" name="TextBox 31"/>
          <p:cNvSpPr txBox="1"/>
          <p:nvPr/>
        </p:nvSpPr>
        <p:spPr>
          <a:xfrm>
            <a:off x="2468879" y="4771339"/>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4 · Continuous sampling</a:t>
            </a:r>
            <a:r>
              <a:rPr sz="1800" i="0" b="0">
                <a:solidFill>
                  <a:srgbClr val="475569"/>
                </a:solidFill>
                <a:latin typeface="Helvetica Neue"/>
              </a:rPr>
              <a:t> — Drift alerts against a launch baseline.</a:t>
            </a:r>
          </a:p>
        </p:txBody>
      </p:sp>
      <p:sp>
        <p:nvSpPr>
          <p:cNvPr id="33" name="TextBox 32"/>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more signal</a:t>
            </a:r>
          </a:p>
        </p:txBody>
      </p:sp>
      <p:cxnSp>
        <p:nvCxnSpPr>
          <p:cNvPr id="34" name="Connector 33"/>
          <p:cNvCxnSpPr/>
          <p:nvPr/>
        </p:nvCxnSpPr>
        <p:spPr>
          <a:xfrm>
            <a:off x="1005840" y="2066544"/>
            <a:ext cx="0" cy="332841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Humans calibrate, judges cover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Two-layer online review</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notes/11-production-and-the-maturity-ladder.md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Judges alone drift unnoticed. Humans alone don't cover real traffic.</a:t>
            </a:r>
          </a:p>
        </p:txBody>
      </p:sp>
      <p:sp>
        <p:nvSpPr>
          <p:cNvPr id="13" name="Rectangle 12"/>
          <p:cNvSpPr/>
          <p:nvPr/>
        </p:nvSpPr>
        <p:spPr>
          <a:xfrm>
            <a:off x="1322901" y="1417320"/>
            <a:ext cx="4512256"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urse-two-layer-eval-human-llm-calibration-8983851198773012239.jpg"/>
          <p:cNvPicPr>
            <a:picLocks noChangeAspect="1"/>
          </p:cNvPicPr>
          <p:nvPr/>
        </p:nvPicPr>
        <p:blipFill>
          <a:blip r:embed="rId2"/>
          <a:stretch>
            <a:fillRect/>
          </a:stretch>
        </p:blipFill>
        <p:spPr>
          <a:xfrm>
            <a:off x="1377765" y="1472184"/>
            <a:ext cx="4402528" cy="3602736"/>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Two-layer review of the production trace stream</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Grade </a:t>
            </a:r>
            <a:r>
              <a:rPr sz="1800" i="0" b="1">
                <a:solidFill>
                  <a:srgbClr val="1E293B"/>
                </a:solidFill>
                <a:latin typeface="Helvetica Neue"/>
              </a:rPr>
              <a:t>10–20%</a:t>
            </a:r>
            <a:r>
              <a:rPr sz="1800" i="0" b="0">
                <a:solidFill>
                  <a:srgbClr val="1E293B"/>
                </a:solidFill>
                <a:latin typeface="Helvetica Neue"/>
              </a:rPr>
              <a:t> of traces, chosen by rule</a:t>
            </a:r>
          </a:p>
        </p:txBody>
      </p:sp>
      <p:sp>
        <p:nvSpPr>
          <p:cNvPr id="18" name="Rectangle 17"/>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100%</a:t>
            </a:r>
            <a:r>
              <a:rPr sz="1800" i="0" b="0">
                <a:solidFill>
                  <a:srgbClr val="1E293B"/>
                </a:solidFill>
                <a:latin typeface="Helvetica Neue"/>
              </a:rPr>
              <a:t> of 👎, plus escalations, high cost, long chats</a:t>
            </a:r>
          </a:p>
        </p:txBody>
      </p:sp>
      <p:sp>
        <p:nvSpPr>
          <p:cNvPr id="20" name="Rectangle 19"/>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separate random slice for unbiased rates</a:t>
            </a:r>
          </a:p>
        </p:txBody>
      </p:sp>
      <p:sp>
        <p:nvSpPr>
          <p:cNvPr id="22" name="Rectangle 21"/>
          <p:cNvSpPr/>
          <p:nvPr/>
        </p:nvSpPr>
        <p:spPr>
          <a:xfrm>
            <a:off x="7020900" y="378104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Full review for 48 h after any model or prompt change</a:t>
            </a:r>
          </a:p>
        </p:txBody>
      </p:sp>
      <p:sp>
        <p:nvSpPr>
          <p:cNvPr id="24" name="Rectangle 23"/>
          <p:cNvSpPr/>
          <p:nvPr/>
        </p:nvSpPr>
        <p:spPr>
          <a:xfrm>
            <a:off x="7020900" y="4521708"/>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443484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Track human–judge agreement as its own metric</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When a score drops, suspect the eval first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debug order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Skipping to step 5 "fixes" an agent that wasn't broken, and sometimes breaks it.</a:t>
            </a:r>
          </a:p>
        </p:txBody>
      </p:sp>
      <p:sp>
        <p:nvSpPr>
          <p:cNvPr id="13" name="Rectangle 12"/>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Infrastructure</a:t>
            </a:r>
            <a:r>
              <a:rPr sz="1800" i="0" b="0">
                <a:solidFill>
                  <a:srgbClr val="475569"/>
                </a:solidFill>
                <a:latin typeface="Helvetica Neue"/>
              </a:rPr>
              <a:t> — Errors, timeouts, 429s, OOM. Are error counts up?</a:t>
            </a:r>
          </a:p>
        </p:txBody>
      </p:sp>
      <p:sp>
        <p:nvSpPr>
          <p:cNvPr id="17" name="Rectangle 16"/>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Versions</a:t>
            </a:r>
            <a:r>
              <a:rPr sz="1800" i="0" b="0">
                <a:solidFill>
                  <a:srgbClr val="475569"/>
                </a:solidFill>
                <a:latin typeface="Helvetica Neue"/>
              </a:rPr>
              <a:t> — Dataset, grader, judge model or config changed between runs?</a:t>
            </a:r>
          </a:p>
        </p:txBody>
      </p:sp>
      <p:sp>
        <p:nvSpPr>
          <p:cNvPr id="21" name="Rectangle 20"/>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Traces + grades</a:t>
            </a:r>
            <a:r>
              <a:rPr sz="1800" i="0" b="0">
                <a:solidFill>
                  <a:srgbClr val="475569"/>
                </a:solidFill>
                <a:latin typeface="Helvetica Neue"/>
              </a:rPr>
              <a:t> — Read 10–20 failed transcripts </a:t>
            </a:r>
            <a:r>
              <a:rPr sz="1800" i="0" b="1">
                <a:solidFill>
                  <a:srgbClr val="1E293B"/>
                </a:solidFill>
                <a:latin typeface="Helvetica Neue"/>
              </a:rPr>
              <a:t>with</a:t>
            </a:r>
            <a:r>
              <a:rPr sz="1800" i="0" b="0">
                <a:solidFill>
                  <a:srgbClr val="475569"/>
                </a:solidFill>
                <a:latin typeface="Helvetica Neue"/>
              </a:rPr>
              <a:t> their grades. Is the grade right?</a:t>
            </a:r>
          </a:p>
        </p:txBody>
      </p:sp>
      <p:sp>
        <p:nvSpPr>
          <p:cNvPr id="25" name="Rectangle 24"/>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Slices</a:t>
            </a:r>
            <a:r>
              <a:rPr sz="1800" i="0" b="0">
                <a:solidFill>
                  <a:srgbClr val="475569"/>
                </a:solidFill>
                <a:latin typeface="Helvetica Neue"/>
              </a:rPr>
              <a:t> — Is the drop concentrated in one category?</a:t>
            </a:r>
          </a:p>
        </p:txBody>
      </p:sp>
      <p:sp>
        <p:nvSpPr>
          <p:cNvPr id="29" name="Rectangle 28"/>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Only then the agent</a:t>
            </a:r>
            <a:r>
              <a:rPr sz="1800" i="0" b="0">
                <a:solidFill>
                  <a:srgbClr val="475569"/>
                </a:solidFill>
                <a:latin typeface="Helvetica Neue"/>
              </a:rPr>
              <a:t> — Model, prompt, tools, logic.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Optimize hard and you'll find the eval's gaps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Goodhart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Deciding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Defenses: several dimensions, held-out tests, read the biggest gains, refresh from production.</a:t>
            </a:r>
          </a:p>
        </p:txBody>
      </p:sp>
      <p:graphicFrame>
        <p:nvGraphicFramePr>
          <p:cNvPr id="13" name="Table 12"/>
          <p:cNvGraphicFramePr>
            <a:graphicFrameLocks noGrp="1"/>
          </p:cNvGraphicFramePr>
          <p:nvPr/>
        </p:nvGraphicFramePr>
        <p:xfrm>
          <a:off x="502920" y="1472184"/>
          <a:ext cx="11185854" cy="2026920"/>
        </p:xfrm>
        <a:graphic>
          <a:graphicData uri="http://schemas.openxmlformats.org/drawingml/2006/table">
            <a:tbl>
              <a:tblPr firstRow="1" bandRow="1">
                <a:tableStyleId>{5940675A-B579-460E-94D1-54222C63F5DA}</a:tableStyleId>
              </a:tblPr>
              <a:tblGrid>
                <a:gridCol w="2908322"/>
                <a:gridCol w="8277532"/>
              </a:tblGrid>
              <a:tr h="405384">
                <a:tc>
                  <a:txBody>
                    <a:bodyPr wrap="square"/>
                    <a:lstStyle/>
                    <a:p>
                      <a:pPr>
                        <a:lnSpc>
                          <a:spcPct val="100000"/>
                        </a:lnSpc>
                      </a:pPr>
                      <a:r>
                        <a:rPr sz="1700" i="0" b="1">
                          <a:solidFill>
                            <a:srgbClr val="FFFFFF"/>
                          </a:solidFill>
                          <a:latin typeface="Helvetica Neue"/>
                        </a:rPr>
                        <a:t>Gap exploited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Example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Grader leniency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Answers padded until the verbosity-biased judge passes them</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Narrow checks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Agent edits the tests, not the code. Valid schema, empty content</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Proxy metric</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 optimized → flattery. Escalations cut → won't escalate when it should</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Visible tests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Overfits to the tests it can see</a:t>
                      </a:r>
                    </a:p>
                  </a:txBody>
                  <a:tcPr marL="109728" marR="109728" marT="54864" marB="54864" anchor="ctr">
                    <a:solidFill>
                      <a:srgbClr val="F8FAFC"/>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pillar on one slide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README.md#rules-of-thumb</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52</a:t>
            </a:r>
          </a:p>
        </p:txBody>
      </p:sp>
      <p:sp>
        <p:nvSpPr>
          <p:cNvPr id="10" name="Rectangle 9"/>
          <p:cNvSpPr/>
          <p:nvPr/>
        </p:nvSpPr>
        <p:spPr>
          <a:xfrm>
            <a:off x="502920" y="1472184"/>
            <a:ext cx="3545738" cy="22357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472184"/>
            <a:ext cx="82296" cy="223570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Before any grader</a:t>
            </a:r>
          </a:p>
        </p:txBody>
      </p:sp>
      <p:sp>
        <p:nvSpPr>
          <p:cNvPr id="13" name="TextBox 12"/>
          <p:cNvSpPr txBox="1"/>
          <p:nvPr/>
        </p:nvSpPr>
        <p:spPr>
          <a:xfrm>
            <a:off x="777240" y="2087880"/>
            <a:ext cx="3042818" cy="1437131"/>
          </a:xfrm>
          <a:prstGeom prst="rect">
            <a:avLst/>
          </a:prstGeom>
          <a:noFill/>
        </p:spPr>
        <p:txBody>
          <a:bodyPr wrap="square" lIns="0" rIns="0" tIns="0" bIns="0" anchor="t">
            <a:noAutofit/>
          </a:bodyPr>
          <a:lstStyle/>
          <a:p>
            <a:pPr algn="l">
              <a:lnSpc>
                <a:spcPct val="110000"/>
              </a:lnSpc>
            </a:pPr>
            <a:r>
              <a:rPr sz="1900" i="0" b="0">
                <a:solidFill>
                  <a:srgbClr val="475569"/>
                </a:solidFill>
                <a:latin typeface="Helvetica Neue"/>
              </a:rPr>
              <a:t>Write success down. Two experts must agree. Read 50–100 traces first.</a:t>
            </a:r>
          </a:p>
        </p:txBody>
      </p:sp>
      <p:sp>
        <p:nvSpPr>
          <p:cNvPr id="14" name="Rectangle 13"/>
          <p:cNvSpPr/>
          <p:nvPr/>
        </p:nvSpPr>
        <p:spPr>
          <a:xfrm>
            <a:off x="4322978" y="1472184"/>
            <a:ext cx="3545738" cy="22357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2978" y="1472184"/>
            <a:ext cx="82296" cy="22357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The dataset</a:t>
            </a:r>
          </a:p>
        </p:txBody>
      </p:sp>
      <p:sp>
        <p:nvSpPr>
          <p:cNvPr id="17" name="TextBox 16"/>
          <p:cNvSpPr txBox="1"/>
          <p:nvPr/>
        </p:nvSpPr>
        <p:spPr>
          <a:xfrm>
            <a:off x="4597298" y="2087880"/>
            <a:ext cx="3042818" cy="1437131"/>
          </a:xfrm>
          <a:prstGeom prst="rect">
            <a:avLst/>
          </a:prstGeom>
          <a:noFill/>
        </p:spPr>
        <p:txBody>
          <a:bodyPr wrap="square" lIns="0" rIns="0" tIns="0" bIns="0" anchor="t">
            <a:noAutofit/>
          </a:bodyPr>
          <a:lstStyle/>
          <a:p>
            <a:pPr algn="l">
              <a:lnSpc>
                <a:spcPct val="110000"/>
              </a:lnSpc>
            </a:pPr>
            <a:r>
              <a:rPr sz="1900" i="0" b="0">
                <a:solidFill>
                  <a:srgbClr val="475569"/>
                </a:solidFill>
                <a:latin typeface="Helvetica Neue"/>
              </a:rPr>
              <a:t>Start with 20–50 real failures. Negatives and boundaries. Eligible rows only.</a:t>
            </a:r>
          </a:p>
        </p:txBody>
      </p:sp>
      <p:sp>
        <p:nvSpPr>
          <p:cNvPr id="18" name="Rectangle 17"/>
          <p:cNvSpPr/>
          <p:nvPr/>
        </p:nvSpPr>
        <p:spPr>
          <a:xfrm>
            <a:off x="8143036" y="1472184"/>
            <a:ext cx="3545738" cy="22357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43036" y="1472184"/>
            <a:ext cx="82296" cy="223570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Graders</a:t>
            </a:r>
          </a:p>
        </p:txBody>
      </p:sp>
      <p:sp>
        <p:nvSpPr>
          <p:cNvPr id="21" name="TextBox 20"/>
          <p:cNvSpPr txBox="1"/>
          <p:nvPr/>
        </p:nvSpPr>
        <p:spPr>
          <a:xfrm>
            <a:off x="8417356" y="2087880"/>
            <a:ext cx="3042818" cy="1437131"/>
          </a:xfrm>
          <a:prstGeom prst="rect">
            <a:avLst/>
          </a:prstGeom>
          <a:noFill/>
        </p:spPr>
        <p:txBody>
          <a:bodyPr wrap="square" lIns="0" rIns="0" tIns="0" bIns="0" anchor="t">
            <a:noAutofit/>
          </a:bodyPr>
          <a:lstStyle/>
          <a:p>
            <a:pPr algn="l">
              <a:lnSpc>
                <a:spcPct val="110000"/>
              </a:lnSpc>
            </a:pPr>
            <a:r>
              <a:rPr sz="1900" i="0" b="0">
                <a:solidFill>
                  <a:srgbClr val="475569"/>
                </a:solidFill>
                <a:latin typeface="Helvetica Neue"/>
              </a:rPr>
              <a:t>Code first. One judge per criterion. Uncalibrated judges never gate.</a:t>
            </a:r>
          </a:p>
        </p:txBody>
      </p:sp>
      <p:sp>
        <p:nvSpPr>
          <p:cNvPr id="22" name="Rectangle 21"/>
          <p:cNvSpPr/>
          <p:nvPr/>
        </p:nvSpPr>
        <p:spPr>
          <a:xfrm>
            <a:off x="502920" y="3982211"/>
            <a:ext cx="3545738" cy="22357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3982211"/>
            <a:ext cx="82296" cy="223570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165091"/>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Agents and RAG</a:t>
            </a:r>
          </a:p>
        </p:txBody>
      </p:sp>
      <p:sp>
        <p:nvSpPr>
          <p:cNvPr id="25" name="TextBox 24"/>
          <p:cNvSpPr txBox="1"/>
          <p:nvPr/>
        </p:nvSpPr>
        <p:spPr>
          <a:xfrm>
            <a:off x="777240" y="4597907"/>
            <a:ext cx="3042818" cy="1437131"/>
          </a:xfrm>
          <a:prstGeom prst="rect">
            <a:avLst/>
          </a:prstGeom>
          <a:noFill/>
        </p:spPr>
        <p:txBody>
          <a:bodyPr wrap="square" lIns="0" rIns="0" tIns="0" bIns="0" anchor="t">
            <a:noAutofit/>
          </a:bodyPr>
          <a:lstStyle/>
          <a:p>
            <a:pPr algn="l">
              <a:lnSpc>
                <a:spcPct val="110000"/>
              </a:lnSpc>
            </a:pPr>
            <a:r>
              <a:rPr sz="1900" i="0" b="0">
                <a:solidFill>
                  <a:srgbClr val="475569"/>
                </a:solidFill>
                <a:latin typeface="Helvetica Neue"/>
              </a:rPr>
              <a:t>Outcome and trajectory. k trials, pass^k. Grounding claim by claim.</a:t>
            </a:r>
          </a:p>
        </p:txBody>
      </p:sp>
      <p:sp>
        <p:nvSpPr>
          <p:cNvPr id="26" name="Rectangle 25"/>
          <p:cNvSpPr/>
          <p:nvPr/>
        </p:nvSpPr>
        <p:spPr>
          <a:xfrm>
            <a:off x="4322978" y="3982211"/>
            <a:ext cx="3545738" cy="22357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22978" y="3982211"/>
            <a:ext cx="82296" cy="223570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7298" y="4165091"/>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Reading and gating</a:t>
            </a:r>
          </a:p>
        </p:txBody>
      </p:sp>
      <p:sp>
        <p:nvSpPr>
          <p:cNvPr id="29" name="TextBox 28"/>
          <p:cNvSpPr txBox="1"/>
          <p:nvPr/>
        </p:nvSpPr>
        <p:spPr>
          <a:xfrm>
            <a:off x="4597298" y="4597907"/>
            <a:ext cx="3042818" cy="1437131"/>
          </a:xfrm>
          <a:prstGeom prst="rect">
            <a:avLst/>
          </a:prstGeom>
          <a:noFill/>
        </p:spPr>
        <p:txBody>
          <a:bodyPr wrap="square" lIns="0" rIns="0" tIns="0" bIns="0" anchor="t">
            <a:noAutofit/>
          </a:bodyPr>
          <a:lstStyle/>
          <a:p>
            <a:pPr algn="l">
              <a:lnSpc>
                <a:spcPct val="110000"/>
              </a:lnSpc>
            </a:pPr>
            <a:r>
              <a:rPr sz="1900" i="0" b="0">
                <a:solidFill>
                  <a:srgbClr val="475569"/>
                </a:solidFill>
                <a:latin typeface="Helvetica Neue"/>
              </a:rPr>
              <a:t>Error bars, paired comparisons, slices. Run, then assert, against a baseline.</a:t>
            </a:r>
          </a:p>
        </p:txBody>
      </p:sp>
      <p:sp>
        <p:nvSpPr>
          <p:cNvPr id="30" name="Rectangle 29"/>
          <p:cNvSpPr/>
          <p:nvPr/>
        </p:nvSpPr>
        <p:spPr>
          <a:xfrm>
            <a:off x="8143036" y="3982211"/>
            <a:ext cx="3545738" cy="22357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43036" y="3982211"/>
            <a:ext cx="82296" cy="2235708"/>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7356" y="4165091"/>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Production</a:t>
            </a:r>
          </a:p>
        </p:txBody>
      </p:sp>
      <p:sp>
        <p:nvSpPr>
          <p:cNvPr id="33" name="TextBox 32"/>
          <p:cNvSpPr txBox="1"/>
          <p:nvPr/>
        </p:nvSpPr>
        <p:spPr>
          <a:xfrm>
            <a:off x="8417356" y="4597907"/>
            <a:ext cx="3042818" cy="1437131"/>
          </a:xfrm>
          <a:prstGeom prst="rect">
            <a:avLst/>
          </a:prstGeom>
          <a:noFill/>
        </p:spPr>
        <p:txBody>
          <a:bodyPr wrap="square" lIns="0" rIns="0" tIns="0" bIns="0" anchor="t">
            <a:noAutofit/>
          </a:bodyPr>
          <a:lstStyle/>
          <a:p>
            <a:pPr algn="l">
              <a:lnSpc>
                <a:spcPct val="110000"/>
              </a:lnSpc>
            </a:pPr>
            <a:r>
              <a:rPr sz="1900" i="0" b="0">
                <a:solidFill>
                  <a:srgbClr val="475569"/>
                </a:solidFill>
                <a:latin typeface="Helvetica Neue"/>
              </a:rPr>
              <a:t>Sample by rule. Humans calibrate the judges. Debug infra before the agent.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Worked example: which judges earned a gate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Case study, chapter 13</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notes/13-case-study-support-agent.md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53</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50 tasks, 25 liked and 25 disliked by users. Δ is liked minus disliked mean score.</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Validate judges against users, not against other judges. Calibration doesn't transfer across domains.</a:t>
            </a:r>
          </a:p>
        </p:txBody>
      </p:sp>
      <p:graphicFrame>
        <p:nvGraphicFramePr>
          <p:cNvPr id="14" name="Table 13"/>
          <p:cNvGraphicFramePr>
            <a:graphicFrameLocks noGrp="1"/>
          </p:cNvGraphicFramePr>
          <p:nvPr/>
        </p:nvGraphicFramePr>
        <p:xfrm>
          <a:off x="502920" y="1985772"/>
          <a:ext cx="11185853" cy="2837688"/>
        </p:xfrm>
        <a:graphic>
          <a:graphicData uri="http://schemas.openxmlformats.org/drawingml/2006/table">
            <a:tbl>
              <a:tblPr firstRow="1" bandRow="1">
                <a:tableStyleId>{5940675A-B579-460E-94D1-54222C63F5DA}</a:tableStyleId>
              </a:tblPr>
              <a:tblGrid>
                <a:gridCol w="4474342"/>
                <a:gridCol w="1789736"/>
                <a:gridCol w="2013453"/>
                <a:gridCol w="2908322"/>
              </a:tblGrid>
              <a:tr h="405384">
                <a:tc>
                  <a:txBody>
                    <a:bodyPr wrap="square"/>
                    <a:lstStyle/>
                    <a:p>
                      <a:pPr>
                        <a:lnSpc>
                          <a:spcPct val="100000"/>
                        </a:lnSpc>
                      </a:pPr>
                      <a:r>
                        <a:rPr sz="1700" i="0" b="1">
                          <a:solidFill>
                            <a:srgbClr val="FFFFFF"/>
                          </a:solidFill>
                          <a:latin typeface="Helvetica Neue"/>
                        </a:rPr>
                        <a:t>Grader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Δ</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Cohen's 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Verdict</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Custom answer_relevancy v3</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+0.214</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0.75</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Strong: ship</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DeepEval answer_relevancy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+0.086</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0.25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Weak</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Custom completeness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+0.030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0.07</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Marginal</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DeepEval completeness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−0.042</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8FAFC"/>
                    </a:solidFill>
                  </a:tcPr>
                </a:tc>
                <a:tc>
                  <a:txBody>
                    <a:bodyPr wrap="square"/>
                    <a:lstStyle/>
                    <a:p>
                      <a:pPr>
                        <a:lnSpc>
                          <a:spcPct val="100000"/>
                        </a:lnSpc>
                      </a:pPr>
                      <a:r>
                        <a:rPr sz="1700" i="0" b="1">
                          <a:solidFill>
                            <a:srgbClr val="1E293B"/>
                          </a:solidFill>
                          <a:latin typeface="Helvetica Neue"/>
                        </a:rPr>
                        <a:t>Inverted</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Custom escalation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0.000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0.00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 signal: don't gate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DeepEval escalation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−0.080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t>
                      </a:r>
                    </a:p>
                  </a:txBody>
                  <a:tcPr marL="109728" marR="109728" marT="54864" marB="54864" anchor="ctr">
                    <a:solidFill>
                      <a:srgbClr val="F8FAFC"/>
                    </a:solidFill>
                  </a:tcPr>
                </a:tc>
                <a:tc>
                  <a:txBody>
                    <a:bodyPr wrap="square"/>
                    <a:lstStyle/>
                    <a:p>
                      <a:pPr>
                        <a:lnSpc>
                          <a:spcPct val="100000"/>
                        </a:lnSpc>
                      </a:pPr>
                      <a:r>
                        <a:rPr sz="1700" i="0" b="1">
                          <a:solidFill>
                            <a:srgbClr val="1E293B"/>
                          </a:solidFill>
                          <a:latin typeface="Helvetica Neue"/>
                        </a:rPr>
                        <a:t>Inverted</a:t>
                      </a:r>
                    </a:p>
                  </a:txBody>
                  <a:tcPr marL="109728" marR="109728" marT="54864" marB="54864" anchor="ctr">
                    <a:solidFill>
                      <a:srgbClr val="F8FAFC"/>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Measures every layer below</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README.md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54</a:t>
            </a:r>
          </a:p>
        </p:txBody>
      </p:sp>
      <p:sp>
        <p:nvSpPr>
          <p:cNvPr id="10" name="Rectangle 9"/>
          <p:cNvSpPr/>
          <p:nvPr/>
        </p:nvSpPr>
        <p:spPr>
          <a:xfrm>
            <a:off x="502920" y="1563878"/>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472184"/>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Practice:</a:t>
            </a:r>
            <a:r>
              <a:rPr sz="1900" i="0" b="0">
                <a:solidFill>
                  <a:srgbClr val="1E293B"/>
                </a:solidFill>
                <a:latin typeface="Helvetica Neue"/>
              </a:rPr>
              <a:t> practice/exercises.md, eight labs on one system</a:t>
            </a:r>
          </a:p>
        </p:txBody>
      </p:sp>
      <p:sp>
        <p:nvSpPr>
          <p:cNvPr id="12" name="TextBox 11"/>
          <p:cNvSpPr txBox="1"/>
          <p:nvPr/>
        </p:nvSpPr>
        <p:spPr>
          <a:xfrm>
            <a:off x="1005840" y="2167128"/>
            <a:ext cx="182880" cy="536448"/>
          </a:xfrm>
          <a:prstGeom prst="rect">
            <a:avLst/>
          </a:prstGeom>
          <a:noFill/>
        </p:spPr>
        <p:txBody>
          <a:bodyPr wrap="square" lIns="0" rIns="0" tIns="0" bIns="0" anchor="t">
            <a:noAutofit/>
          </a:bodyPr>
          <a:lstStyle/>
          <a:p>
            <a:pPr algn="l">
              <a:lnSpc>
                <a:spcPct val="110000"/>
              </a:lnSpc>
            </a:pPr>
            <a:r>
              <a:rPr sz="1600" i="0" b="0">
                <a:solidFill>
                  <a:srgbClr val="94A3B8"/>
                </a:solidFill>
                <a:latin typeface="Helvetica Neue"/>
              </a:rPr>
              <a:t>–</a:t>
            </a:r>
          </a:p>
        </p:txBody>
      </p:sp>
      <p:sp>
        <p:nvSpPr>
          <p:cNvPr id="13" name="TextBox 12"/>
          <p:cNvSpPr txBox="1"/>
          <p:nvPr/>
        </p:nvSpPr>
        <p:spPr>
          <a:xfrm>
            <a:off x="1188720" y="2167128"/>
            <a:ext cx="5578278" cy="627888"/>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Elo leaderboard lab in practice/02-elo-leaderboard, runs offline</a:t>
            </a:r>
          </a:p>
        </p:txBody>
      </p:sp>
      <p:sp>
        <p:nvSpPr>
          <p:cNvPr id="14" name="Rectangle 13"/>
          <p:cNvSpPr/>
          <p:nvPr/>
        </p:nvSpPr>
        <p:spPr>
          <a:xfrm>
            <a:off x="502920" y="2940050"/>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848356"/>
            <a:ext cx="5944038" cy="1046988"/>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Copy-ready snippets:</a:t>
            </a:r>
            <a:r>
              <a:rPr sz="1900" i="0" b="0">
                <a:solidFill>
                  <a:srgbClr val="1E293B"/>
                </a:solidFill>
                <a:latin typeface="Helvetica Neue"/>
              </a:rPr>
              <a:t> judge prompt (05), failure taxonomy (02), row schema (03), gate contract and CI workflow (10)</a:t>
            </a:r>
          </a:p>
        </p:txBody>
      </p:sp>
      <p:sp>
        <p:nvSpPr>
          <p:cNvPr id="16" name="Rectangle 15"/>
          <p:cNvSpPr/>
          <p:nvPr/>
        </p:nvSpPr>
        <p:spPr>
          <a:xfrm>
            <a:off x="502920" y="4040377"/>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948684"/>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Worked example:</a:t>
            </a:r>
            <a:r>
              <a:rPr sz="1900" i="0" b="0">
                <a:solidFill>
                  <a:srgbClr val="1E293B"/>
                </a:solidFill>
                <a:latin typeface="Helvetica Neue"/>
              </a:rPr>
              <a:t> chapter 13, a real multi-agent support system's eval design, mistakes included</a:t>
            </a:r>
          </a:p>
        </p:txBody>
      </p:sp>
      <p:sp>
        <p:nvSpPr>
          <p:cNvPr id="18" name="Rectangle 17"/>
          <p:cNvSpPr/>
          <p:nvPr/>
        </p:nvSpPr>
        <p:spPr>
          <a:xfrm>
            <a:off x="502920" y="4822190"/>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30496"/>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Course:</a:t>
            </a:r>
            <a:r>
              <a:rPr sz="1900" i="0" b="0">
                <a:solidFill>
                  <a:srgbClr val="1E293B"/>
                </a:solidFill>
                <a:latin typeface="Helvetica Neue"/>
              </a:rPr>
              <a:t> DeepLearning.AI, Evaluating AI Agents (Arize Phoenix), folded into 05, 06 and 08</a:t>
            </a:r>
          </a:p>
        </p:txBody>
      </p:sp>
      <p:sp>
        <p:nvSpPr>
          <p:cNvPr id="20" name="Rectangle 19"/>
          <p:cNvSpPr/>
          <p:nvPr/>
        </p:nvSpPr>
        <p:spPr>
          <a:xfrm>
            <a:off x="502920" y="5604002"/>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512308"/>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Loops:</a:t>
            </a:r>
            <a:r>
              <a:rPr sz="1900" i="0" b="0">
                <a:solidFill>
                  <a:srgbClr val="1E293B"/>
                </a:solidFill>
                <a:latin typeface="Helvetica Neue"/>
              </a:rPr>
              <a:t> 04-loop-engineering, where an eval becomes the optimizer's target</a:t>
            </a:r>
          </a:p>
        </p:txBody>
      </p:sp>
      <p:sp>
        <p:nvSpPr>
          <p:cNvPr id="22" name="Rectangle 21"/>
          <p:cNvSpPr/>
          <p:nvPr/>
        </p:nvSpPr>
        <p:spPr>
          <a:xfrm>
            <a:off x="7132758" y="1472184"/>
            <a:ext cx="4556016" cy="474573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758" y="1472184"/>
            <a:ext cx="4556016"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one idea to keep</a:t>
            </a:r>
          </a:p>
        </p:txBody>
      </p:sp>
      <p:sp>
        <p:nvSpPr>
          <p:cNvPr id="25" name="TextBox 24"/>
          <p:cNvSpPr txBox="1"/>
          <p:nvPr/>
        </p:nvSpPr>
        <p:spPr>
          <a:xfrm>
            <a:off x="7361358" y="2231136"/>
            <a:ext cx="4053096" cy="380390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An eval is a measurement. Define correct before grading, trust no grader you haven't checked against humans, and put an error bar on every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