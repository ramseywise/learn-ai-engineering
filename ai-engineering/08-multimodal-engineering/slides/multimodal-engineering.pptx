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follow one system, an invoice assistant that works well on text, as it meets everything that is not text. Photos, PDFs, charts, phone calls and generated pictures each break it in a different way, and almost none of those failures raise an error. For each one we want the mechanism, a check that catches it, and the evidence for what to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failure looks like no failure at all. The request succeeds, the sentence is fluent, and one digit is wrong. To see how, we follow the image from pixels to tokens.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notes/01-image-input.md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orange box is the one to watch. A client library or provider can resize silently. So log the dimensions that actually reach the model.</a:t>
            </a:r>
          </a:p>
          <a:p/>
          <a:p>
            <a:r>
              <a:t>Source: notes/01-image-input.md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notes/01-image-input.md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notes/01-image-input.md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notes/01-image-input.md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assistant gets whole PDFs. Copying the text gives you drawing order. Sending the page to a vision model gives a fluent transcript that may have skipped a 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notes/02-document-understanding.md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notes/02-document-understanding.md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notes/02-document-understanding.md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notes/02-document-understanding.md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notes/02-document-understanding.md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notes/02-document-understanding.md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user asks which supplier's prices rose most. The answer is a bar chart with no sentence describing it. The text pipeline threw it away before retrieval began.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notes/03-multimodal-rag.md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notes/03-multimodal-rag.md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notes/03-multimodal-rag.md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notes/03-multimodal-rag.md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assistant gets a phone line, and it now has a clock. Words that arrive three seconds late sound broken no matter how good they are.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notes/04-speech-and-voice-agents.md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notes/04-speech-and-voice-agents.md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notes/04-speech-and-voice-agents.md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notes/04-speech-and-voice-agents.md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notes/04-speech-and-voice-agents.md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wants illustrations for the help pages. The same prompt gives a different image each time, and nobody can make the one they liked with a small change.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notes/06-generating-images-and-video.md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notes/05-how-image-generators-work.md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notes/05-how-image-generators-work.md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notes/06-generating-images-and-video.md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notes/06-generating-images-and-video.md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assistant passes at 90% and users still complain. Some correct answers never needed the image. All of the failures here are the same failure: the test rewarded something other than seeing.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notes/07-evaluating-multimodal-systems.md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notes/07-evaluating-multimodal-systems.md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notes/07-evaluating-multimodal-systems.md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notes/07-evaluating-multimodal-systems.md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notes/07-evaluating-multimodal-systems.md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notes/07-evaluating-multimodal-systems.md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6000" i="0" b="1">
                <a:solidFill>
                  <a:srgbClr val="FFFFFF"/>
                </a:solidFill>
                <a:latin typeface="Helvetica Neue"/>
              </a:rPr>
              <a:t>Multimodal Engineering</a:t>
            </a:r>
          </a:p>
        </p:txBody>
      </p:sp>
      <p:sp>
        <p:nvSpPr>
          <p:cNvPr id="7" name="TextBox 6"/>
          <p:cNvSpPr txBox="1"/>
          <p:nvPr/>
        </p:nvSpPr>
        <p:spPr>
          <a:xfrm>
            <a:off x="548640" y="3063240"/>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Building systems whose inputs are not text</a:t>
            </a:r>
          </a:p>
        </p:txBody>
      </p:sp>
      <p:sp>
        <p:nvSpPr>
          <p:cNvPr id="8" name="Rectangle 7"/>
          <p:cNvSpPr/>
          <p:nvPr/>
        </p:nvSpPr>
        <p:spPr>
          <a:xfrm>
            <a:off x="548640" y="4187952"/>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07992"/>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It misreads · It drops a row · It can't find the chart · It has a deadline · It can't reproduce · It guesses</a:t>
            </a:r>
          </a:p>
        </p:txBody>
      </p:sp>
      <p:sp>
        <p:nvSpPr>
          <p:cNvPr id="10" name="Rectangle 9"/>
          <p:cNvSpPr/>
          <p:nvPr/>
        </p:nvSpPr>
        <p:spPr>
          <a:xfrm>
            <a:off x="6492240" y="822960"/>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22960"/>
            <a:ext cx="91440" cy="70104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50976"/>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1: The photo with the wrong digit</a:t>
            </a:r>
          </a:p>
        </p:txBody>
      </p:sp>
      <p:sp>
        <p:nvSpPr>
          <p:cNvPr id="13" name="TextBox 12"/>
          <p:cNvSpPr txBox="1"/>
          <p:nvPr/>
        </p:nvSpPr>
        <p:spPr>
          <a:xfrm>
            <a:off x="6766560" y="1208786"/>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Patches and tokens · Resolution · Orientation · Evidence</a:t>
            </a:r>
          </a:p>
        </p:txBody>
      </p:sp>
      <p:sp>
        <p:nvSpPr>
          <p:cNvPr id="14" name="Rectangle 13"/>
          <p:cNvSpPr/>
          <p:nvPr/>
        </p:nvSpPr>
        <p:spPr>
          <a:xfrm>
            <a:off x="6492240" y="1725168"/>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725168"/>
            <a:ext cx="91440" cy="70104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1853184"/>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2: The PDF that lost a row</a:t>
            </a:r>
          </a:p>
        </p:txBody>
      </p:sp>
      <p:sp>
        <p:nvSpPr>
          <p:cNvPr id="17" name="TextBox 16"/>
          <p:cNvSpPr txBox="1"/>
          <p:nvPr/>
        </p:nvSpPr>
        <p:spPr>
          <a:xfrm>
            <a:off x="6766560" y="2110994"/>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Three routes · Tail latency · Arithmetic checks · Field scores</a:t>
            </a:r>
          </a:p>
        </p:txBody>
      </p:sp>
      <p:sp>
        <p:nvSpPr>
          <p:cNvPr id="18" name="Rectangle 17"/>
          <p:cNvSpPr/>
          <p:nvPr/>
        </p:nvSpPr>
        <p:spPr>
          <a:xfrm>
            <a:off x="6492240" y="2627375"/>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627375"/>
            <a:ext cx="91440" cy="70104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2755392"/>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3: The answer inside a chart</a:t>
            </a:r>
          </a:p>
        </p:txBody>
      </p:sp>
      <p:sp>
        <p:nvSpPr>
          <p:cNvPr id="21" name="TextBox 20"/>
          <p:cNvSpPr txBox="1"/>
          <p:nvPr/>
        </p:nvSpPr>
        <p:spPr>
          <a:xfrm>
            <a:off x="6766560" y="3013202"/>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What to index · ColPali evidence · Late interaction · Cost</a:t>
            </a:r>
          </a:p>
        </p:txBody>
      </p:sp>
      <p:sp>
        <p:nvSpPr>
          <p:cNvPr id="22" name="Rectangle 21"/>
          <p:cNvSpPr/>
          <p:nvPr/>
        </p:nvSpPr>
        <p:spPr>
          <a:xfrm>
            <a:off x="6492240" y="3529584"/>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3529584"/>
            <a:ext cx="91440" cy="70104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3657600"/>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4: The customer who phones</a:t>
            </a:r>
          </a:p>
        </p:txBody>
      </p:sp>
      <p:sp>
        <p:nvSpPr>
          <p:cNvPr id="25" name="TextBox 24"/>
          <p:cNvSpPr txBox="1"/>
          <p:nvPr/>
        </p:nvSpPr>
        <p:spPr>
          <a:xfrm>
            <a:off x="6766560" y="3915409"/>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Audio as tokens · Two architectures · Latency budget · Barge-in · WER</a:t>
            </a:r>
          </a:p>
        </p:txBody>
      </p:sp>
      <p:sp>
        <p:nvSpPr>
          <p:cNvPr id="26" name="Rectangle 25"/>
          <p:cNvSpPr/>
          <p:nvPr/>
        </p:nvSpPr>
        <p:spPr>
          <a:xfrm>
            <a:off x="6492240" y="4431792"/>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4431792"/>
            <a:ext cx="91440" cy="70104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4559808"/>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5: The picture nobody can reproduce</a:t>
            </a:r>
          </a:p>
        </p:txBody>
      </p:sp>
      <p:sp>
        <p:nvSpPr>
          <p:cNvPr id="29" name="TextBox 28"/>
          <p:cNvSpPr txBox="1"/>
          <p:nvPr/>
        </p:nvSpPr>
        <p:spPr>
          <a:xfrm>
            <a:off x="6766560" y="4817617"/>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Undoing noise · Samplers · Other families · Controls · Provenance</a:t>
            </a:r>
          </a:p>
        </p:txBody>
      </p:sp>
      <p:sp>
        <p:nvSpPr>
          <p:cNvPr id="30" name="Rectangle 29"/>
          <p:cNvSpPr/>
          <p:nvPr/>
        </p:nvSpPr>
        <p:spPr>
          <a:xfrm>
            <a:off x="6492240" y="5334000"/>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92240" y="5334000"/>
            <a:ext cx="91440" cy="70104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0" y="5462015"/>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6: The score that rewarded guessing</a:t>
            </a:r>
          </a:p>
        </p:txBody>
      </p:sp>
      <p:sp>
        <p:nvSpPr>
          <p:cNvPr id="33" name="TextBox 32"/>
          <p:cNvSpPr txBox="1"/>
          <p:nvPr/>
        </p:nvSpPr>
        <p:spPr>
          <a:xfrm>
            <a:off x="6766560" y="5719825"/>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Shortcuts · Paired images · CircularEval · POPE · Scorecard</a:t>
            </a:r>
          </a:p>
        </p:txBody>
      </p:sp>
      <p:sp>
        <p:nvSpPr>
          <p:cNvPr id="34" name="TextBox 33"/>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ai-engineering/08-multimodal-engineering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photo with the wrong digit</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Patches and tokens · Resolution · Orientation · Evidence</a:t>
            </a:r>
          </a:p>
        </p:txBody>
      </p:sp>
      <p:cxnSp>
        <p:nvCxnSpPr>
          <p:cNvPr id="6" name="Connector 5"/>
          <p:cNvCxnSpPr/>
          <p:nvPr/>
        </p:nvCxnSpPr>
        <p:spPr>
          <a:xfrm>
            <a:off x="6446520" y="1831340"/>
            <a:ext cx="0" cy="319532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831340"/>
            <a:ext cx="4693615" cy="337820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Why did a fluent answer get the amount wrong?</a:t>
            </a:r>
          </a:p>
          <a:p>
            <a:pPr algn="l">
              <a:lnSpc>
                <a:spcPct val="100000"/>
              </a:lnSpc>
              <a:spcBef>
                <a:spcPts val="1189"/>
              </a:spcBef>
            </a:pPr>
            <a:r>
              <a:rPr sz="1700" i="0" b="0">
                <a:solidFill>
                  <a:srgbClr val="CBD5E1"/>
                </a:solidFill>
                <a:latin typeface="Helvetica Neue"/>
              </a:rPr>
              <a:t>An image reaches the model as patch tokens</a:t>
            </a:r>
          </a:p>
          <a:p>
            <a:pPr algn="l">
              <a:lnSpc>
                <a:spcPct val="100000"/>
              </a:lnSpc>
              <a:spcBef>
                <a:spcPts val="1189"/>
              </a:spcBef>
            </a:pPr>
            <a:r>
              <a:rPr sz="1700" i="0" b="0">
                <a:solidFill>
                  <a:srgbClr val="CBD5E1"/>
                </a:solidFill>
                <a:latin typeface="Helvetica Neue"/>
              </a:rPr>
              <a:t>Resolution moved the score more than encoder size</a:t>
            </a:r>
          </a:p>
          <a:p>
            <a:pPr algn="l">
              <a:lnSpc>
                <a:spcPct val="100000"/>
              </a:lnSpc>
              <a:spcBef>
                <a:spcPts val="1189"/>
              </a:spcBef>
            </a:pPr>
            <a:r>
              <a:rPr sz="1700" i="0" b="0">
                <a:solidFill>
                  <a:srgbClr val="CBD5E1"/>
                </a:solidFill>
                <a:latin typeface="Helvetica Neue"/>
              </a:rPr>
              <a:t>A downscale erases the difference between digits</a:t>
            </a:r>
          </a:p>
          <a:p>
            <a:pPr algn="l">
              <a:lnSpc>
                <a:spcPct val="100000"/>
              </a:lnSpc>
              <a:spcBef>
                <a:spcPts val="1189"/>
              </a:spcBef>
            </a:pPr>
            <a:r>
              <a:rPr sz="1700" i="0" b="0">
                <a:solidFill>
                  <a:srgbClr val="CBD5E1"/>
                </a:solidFill>
                <a:latin typeface="Helvetica Neue"/>
              </a:rPr>
              <a:t>Orientation and evidence are the cheap fixes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Why did a fluent answer get the amount wrong?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photo with the wrong digit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notes/01-image-input.md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777240" y="2363724"/>
            <a:ext cx="109728" cy="2962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36372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The language model never sees pixels. Whatever preprocessing and the encoder dropped is gone, and the model fills the gap with something plausible.</a:t>
            </a:r>
          </a:p>
        </p:txBody>
      </p:sp>
      <p:sp>
        <p:nvSpPr>
          <p:cNvPr id="12" name="TextBox 11"/>
          <p:cNvSpPr txBox="1"/>
          <p:nvPr/>
        </p:nvSpPr>
        <p:spPr>
          <a:xfrm>
            <a:off x="1234440" y="491490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Most image bugs happen before the model runs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An image reaches the model as patch tokens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path</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photo with the wrong digit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notes/01-image-input.md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10" name="TextBox 9"/>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 vision transformer cuts the image into squares, and a small connector projects them into the language model.</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Images cost context as text does, and cost grows with area.</a:t>
            </a:r>
          </a:p>
        </p:txBody>
      </p:sp>
      <p:sp>
        <p:nvSpPr>
          <p:cNvPr id="14" name="Rounded Rectangle 13"/>
          <p:cNvSpPr/>
          <p:nvPr/>
        </p:nvSpPr>
        <p:spPr>
          <a:xfrm>
            <a:off x="502920" y="2362200"/>
            <a:ext cx="1834835" cy="1490472"/>
          </a:xfrm>
          <a:prstGeom prst="roundRect">
            <a:avLst>
              <a:gd name="adj" fmla="val 12000"/>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362200"/>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Pixels</a:t>
            </a:r>
          </a:p>
          <a:p>
            <a:pPr algn="ctr">
              <a:lnSpc>
                <a:spcPct val="110000"/>
              </a:lnSpc>
            </a:pPr>
            <a:r>
              <a:rPr sz="1300" i="0" b="0">
                <a:solidFill>
                  <a:srgbClr val="E8F4F8"/>
                </a:solidFill>
                <a:latin typeface="Helvetica Neue"/>
              </a:rPr>
              <a:t>phone photo</a:t>
            </a:r>
          </a:p>
        </p:txBody>
      </p:sp>
      <p:cxnSp>
        <p:nvCxnSpPr>
          <p:cNvPr id="16" name="Connector 15"/>
          <p:cNvCxnSpPr/>
          <p:nvPr/>
        </p:nvCxnSpPr>
        <p:spPr>
          <a:xfrm>
            <a:off x="2392619" y="310743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40675" y="2362200"/>
            <a:ext cx="1834835" cy="149047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7835" y="2362200"/>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Resize or tile</a:t>
            </a:r>
          </a:p>
          <a:p>
            <a:pPr algn="ctr">
              <a:lnSpc>
                <a:spcPct val="110000"/>
              </a:lnSpc>
            </a:pPr>
            <a:r>
              <a:rPr sz="1300" i="0" b="0">
                <a:solidFill>
                  <a:srgbClr val="E8F4F8"/>
                </a:solidFill>
                <a:latin typeface="Helvetica Neue"/>
              </a:rPr>
              <a:t>SDK or provider rule</a:t>
            </a:r>
          </a:p>
        </p:txBody>
      </p:sp>
      <p:cxnSp>
        <p:nvCxnSpPr>
          <p:cNvPr id="19" name="Connector 18"/>
          <p:cNvCxnSpPr/>
          <p:nvPr/>
        </p:nvCxnSpPr>
        <p:spPr>
          <a:xfrm>
            <a:off x="4730374" y="310743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78430" y="2362200"/>
            <a:ext cx="1834835" cy="149047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15590" y="2362200"/>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Patch encoder</a:t>
            </a:r>
          </a:p>
          <a:p>
            <a:pPr algn="ctr">
              <a:lnSpc>
                <a:spcPct val="110000"/>
              </a:lnSpc>
            </a:pPr>
            <a:r>
              <a:rPr sz="1300" i="0" b="0">
                <a:solidFill>
                  <a:srgbClr val="E8F4F8"/>
                </a:solidFill>
                <a:latin typeface="Helvetica Neue"/>
              </a:rPr>
              <a:t>ViT, as in CLIP</a:t>
            </a:r>
          </a:p>
        </p:txBody>
      </p:sp>
      <p:cxnSp>
        <p:nvCxnSpPr>
          <p:cNvPr id="22" name="Connector 21"/>
          <p:cNvCxnSpPr/>
          <p:nvPr/>
        </p:nvCxnSpPr>
        <p:spPr>
          <a:xfrm>
            <a:off x="7068129" y="310743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516185" y="2362200"/>
            <a:ext cx="1834835" cy="149047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53345" y="2362200"/>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Connector</a:t>
            </a:r>
          </a:p>
          <a:p>
            <a:pPr algn="ctr">
              <a:lnSpc>
                <a:spcPct val="110000"/>
              </a:lnSpc>
            </a:pPr>
            <a:r>
              <a:rPr sz="1300" i="0" b="0">
                <a:solidFill>
                  <a:srgbClr val="E8F4F8"/>
                </a:solidFill>
                <a:latin typeface="Helvetica Neue"/>
              </a:rPr>
              <a:t>linear or MLP</a:t>
            </a:r>
          </a:p>
        </p:txBody>
      </p:sp>
      <p:cxnSp>
        <p:nvCxnSpPr>
          <p:cNvPr id="25" name="Connector 24"/>
          <p:cNvCxnSpPr/>
          <p:nvPr/>
        </p:nvCxnSpPr>
        <p:spPr>
          <a:xfrm>
            <a:off x="9405884" y="310743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853940" y="2362200"/>
            <a:ext cx="1834835" cy="149047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91100" y="2362200"/>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Language model</a:t>
            </a:r>
          </a:p>
          <a:p>
            <a:pPr algn="ctr">
              <a:lnSpc>
                <a:spcPct val="110000"/>
              </a:lnSpc>
            </a:pPr>
            <a:r>
              <a:rPr sz="1300" i="0" b="0">
                <a:solidFill>
                  <a:srgbClr val="E8F4F8"/>
                </a:solidFill>
                <a:latin typeface="Helvetica Neue"/>
              </a:rPr>
              <a:t>tokens among words</a:t>
            </a:r>
          </a:p>
        </p:txBody>
      </p:sp>
      <p:sp>
        <p:nvSpPr>
          <p:cNvPr id="28" name="TextBox 27"/>
          <p:cNvSpPr txBox="1"/>
          <p:nvPr/>
        </p:nvSpPr>
        <p:spPr>
          <a:xfrm>
            <a:off x="502920" y="4172712"/>
            <a:ext cx="11185855" cy="1313687"/>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LLaVA-1.5 at 336x336 uses 576 image tokens. An A4 scan at 300 dpi would need more than seventy times as many patches.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200" i="0" b="1">
                <a:solidFill>
                  <a:srgbClr val="FFFFFF"/>
                </a:solidFill>
                <a:latin typeface="Helvetica Neue"/>
              </a:rPr>
              <a:t>Resolution moved the score more than encoder size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photo with the wrong digit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notes/01-image-input.md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10" name="TextBox 9"/>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MM1 varied encoders, connectors and data systematically on its own zero-shot and few-shot benchmarks.</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Read this as a ranking of levers for research models, not a forecast for your task.</a:t>
            </a:r>
          </a:p>
        </p:txBody>
      </p:sp>
      <p:graphicFrame>
        <p:nvGraphicFramePr>
          <p:cNvPr id="14" name="Table 13"/>
          <p:cNvGraphicFramePr>
            <a:graphicFrameLocks noGrp="1"/>
          </p:cNvGraphicFramePr>
          <p:nvPr/>
        </p:nvGraphicFramePr>
        <p:xfrm>
          <a:off x="502920" y="2270760"/>
          <a:ext cx="11185854" cy="1880616"/>
        </p:xfrm>
        <a:graphic>
          <a:graphicData uri="http://schemas.openxmlformats.org/drawingml/2006/table">
            <a:tbl>
              <a:tblPr firstRow="1" bandRow="1">
                <a:tableStyleId>{5940675A-B579-460E-94D1-54222C63F5DA}</a:tableStyleId>
              </a:tblPr>
              <a:tblGrid>
                <a:gridCol w="3355756"/>
                <a:gridCol w="4474342"/>
                <a:gridCol w="3355756"/>
              </a:tblGrid>
              <a:tr h="405384">
                <a:tc>
                  <a:txBody>
                    <a:bodyPr wrap="square"/>
                    <a:lstStyle/>
                    <a:p>
                      <a:pPr>
                        <a:lnSpc>
                          <a:spcPct val="100000"/>
                        </a:lnSpc>
                      </a:pPr>
                      <a:r>
                        <a:rPr sz="1700" i="0" b="1">
                          <a:solidFill>
                            <a:srgbClr val="FFFFFF"/>
                          </a:solidFill>
                          <a:latin typeface="Helvetica Neue"/>
                        </a:rPr>
                        <a:t>Lever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Change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Effect</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Resolution</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224 to 336 pixels</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about +3% across architectures</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Encoder size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ViT-L to ViT-H, double the parameters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usually under +1%</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Connector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design, with visual tokens fixed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comparatively little</a:t>
                      </a:r>
                    </a:p>
                  </a:txBody>
                  <a:tcPr marL="109728" marR="109728" marT="54864" marB="54864"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A downscale erases the difference between digits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photo with the wrong digit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notes/01-image-input.md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Log the pixel height of the smallest text you need, and monitor it like token count.</a:t>
            </a:r>
          </a:p>
        </p:txBody>
      </p:sp>
      <p:sp>
        <p:nvSpPr>
          <p:cNvPr id="13" name="Rounded Rectangle 12"/>
          <p:cNvSpPr/>
          <p:nvPr/>
        </p:nvSpPr>
        <p:spPr>
          <a:xfrm>
            <a:off x="502920" y="1472184"/>
            <a:ext cx="6711513" cy="214883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5" name="TextBox 14"/>
          <p:cNvSpPr txBox="1"/>
          <p:nvPr/>
        </p:nvSpPr>
        <p:spPr>
          <a:xfrm>
            <a:off x="731520" y="1883664"/>
            <a:ext cx="6254313" cy="15087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page width   digit height   3-vs-8 gap   1-vs-7 gap</a:t>
            </a:r>
          </a:p>
          <a:p>
            <a:pPr algn="l">
              <a:lnSpc>
                <a:spcPct val="100000"/>
              </a:lnSpc>
            </a:pPr>
            <a:r>
              <a:rPr sz="1600" i="0" b="0">
                <a:solidFill>
                  <a:srgbClr val="E2E8F0"/>
                </a:solidFill>
                <a:latin typeface="Menlo"/>
              </a:rPr>
              <a:t> 2480 px        12.0 px       0.016        0.014</a:t>
            </a:r>
          </a:p>
          <a:p>
            <a:pPr algn="l">
              <a:lnSpc>
                <a:spcPct val="100000"/>
              </a:lnSpc>
            </a:pPr>
            <a:r>
              <a:rPr sz="1600" i="0" b="0">
                <a:solidFill>
                  <a:srgbClr val="E2E8F0"/>
                </a:solidFill>
                <a:latin typeface="Menlo"/>
              </a:rPr>
              <a:t> 1240 px         6.0 px       0.008        0.008</a:t>
            </a:r>
          </a:p>
          <a:p>
            <a:pPr algn="l">
              <a:lnSpc>
                <a:spcPct val="100000"/>
              </a:lnSpc>
            </a:pPr>
            <a:r>
              <a:rPr sz="1600" i="0" b="0">
                <a:solidFill>
                  <a:srgbClr val="E2E8F0"/>
                </a:solidFill>
                <a:latin typeface="Menlo"/>
              </a:rPr>
              <a:t>  672 px         3.3 px       0.006        0.004</a:t>
            </a:r>
          </a:p>
          <a:p>
            <a:pPr algn="l">
              <a:lnSpc>
                <a:spcPct val="100000"/>
              </a:lnSpc>
            </a:pPr>
            <a:r>
              <a:rPr sz="1600" i="0" b="0">
                <a:solidFill>
                  <a:srgbClr val="E2E8F0"/>
                </a:solidFill>
                <a:latin typeface="Menlo"/>
              </a:rPr>
              <a:t>  336 px         1.6 px       0.005        0.002</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One font and a crude pixel measure, with no model involved</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Most of the signal is gone before any encoder runs</a:t>
            </a:r>
          </a:p>
        </p:txBody>
      </p:sp>
      <p:sp>
        <p:nvSpPr>
          <p:cNvPr id="20" name="Rectangle 19"/>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Send the full page for layout and a crop of the totals for reading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Orientation and evidence are the cheap fixes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What to do</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photo with the wrong digit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notes/01-image-input.md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Disagreement between the page reading and the crop is a cheap signal to route to a person.</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Fix the input</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OCRBench, GPT-4o: 83.1 upright, 61.9 at 90 degrees, 12.9 flipped vertically</a:t>
            </a:r>
          </a:p>
        </p:txBody>
      </p:sp>
      <p:sp>
        <p:nvSpPr>
          <p:cNvPr id="18" name="Rectangle 17"/>
          <p:cNvSpPr/>
          <p:nvPr/>
        </p:nvSpPr>
        <p:spPr>
          <a:xfrm>
            <a:off x="731520" y="301269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Honor EXIF as the first preprocessing step</a:t>
            </a:r>
          </a:p>
        </p:txBody>
      </p:sp>
      <p:sp>
        <p:nvSpPr>
          <p:cNvPr id="20" name="Rectangle 19"/>
          <p:cNvSpPr/>
          <p:nvPr/>
        </p:nvSpPr>
        <p:spPr>
          <a:xfrm>
            <a:off x="731520" y="3712210"/>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630168"/>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Detect orientation for scans with no EXIF</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Orientation</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Ask for proof</a:t>
            </a:r>
          </a:p>
        </p:txBody>
      </p:sp>
      <p:sp>
        <p:nvSpPr>
          <p:cNvPr id="27" name="Rectangle 26"/>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Ask for a bounding box along with the value</a:t>
            </a:r>
          </a:p>
        </p:txBody>
      </p:sp>
      <p:sp>
        <p:nvSpPr>
          <p:cNvPr id="29" name="Rectangle 28"/>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box outside the image shows invented evidence</a:t>
            </a:r>
          </a:p>
        </p:txBody>
      </p:sp>
      <p:sp>
        <p:nvSpPr>
          <p:cNvPr id="31" name="Rectangle 30"/>
          <p:cNvSpPr/>
          <p:nvPr/>
        </p:nvSpPr>
        <p:spPr>
          <a:xfrm>
            <a:off x="6507327" y="371221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630168"/>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Crop, reread at full resolution, compare the readings</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Evidence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PDF that lost a row</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Three routes · Tail latency · Arithmetic checks · Field scores</a:t>
            </a:r>
          </a:p>
        </p:txBody>
      </p:sp>
      <p:cxnSp>
        <p:nvCxnSpPr>
          <p:cNvPr id="6" name="Connector 5"/>
          <p:cNvCxnSpPr/>
          <p:nvPr/>
        </p:nvCxnSpPr>
        <p:spPr>
          <a:xfrm>
            <a:off x="6446520" y="2144395"/>
            <a:ext cx="0" cy="256921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144395"/>
            <a:ext cx="4693615" cy="275209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How do you know the extraction is right?</a:t>
            </a:r>
          </a:p>
          <a:p>
            <a:pPr algn="l">
              <a:lnSpc>
                <a:spcPct val="100000"/>
              </a:lnSpc>
              <a:spcBef>
                <a:spcPts val="1189"/>
              </a:spcBef>
            </a:pPr>
            <a:r>
              <a:rPr sz="1700" i="0" b="0">
                <a:solidFill>
                  <a:srgbClr val="CBD5E1"/>
                </a:solidFill>
                <a:latin typeface="Helvetica Neue"/>
              </a:rPr>
              <a:t>Three routes through a document</a:t>
            </a:r>
          </a:p>
          <a:p>
            <a:pPr algn="l">
              <a:lnSpc>
                <a:spcPct val="100000"/>
              </a:lnSpc>
              <a:spcBef>
                <a:spcPts val="1189"/>
              </a:spcBef>
            </a:pPr>
            <a:r>
              <a:rPr sz="1700" i="0" b="0">
                <a:solidFill>
                  <a:srgbClr val="CBD5E1"/>
                </a:solidFill>
                <a:latin typeface="Helvetica Neue"/>
              </a:rPr>
              <a:t>Route each page to the cheapest thing that works</a:t>
            </a:r>
          </a:p>
          <a:p>
            <a:pPr algn="l">
              <a:lnSpc>
                <a:spcPct val="100000"/>
              </a:lnSpc>
              <a:spcBef>
                <a:spcPts val="1189"/>
              </a:spcBef>
            </a:pPr>
            <a:r>
              <a:rPr sz="1700" i="0" b="0">
                <a:solidFill>
                  <a:srgbClr val="CBD5E1"/>
                </a:solidFill>
                <a:latin typeface="Helvetica Neue"/>
              </a:rPr>
              <a:t>The slow page sets your worker size</a:t>
            </a:r>
          </a:p>
          <a:p>
            <a:pPr algn="l">
              <a:lnSpc>
                <a:spcPct val="100000"/>
              </a:lnSpc>
              <a:spcBef>
                <a:spcPts val="1189"/>
              </a:spcBef>
            </a:pPr>
            <a:r>
              <a:rPr sz="1700" i="0" b="0">
                <a:solidFill>
                  <a:srgbClr val="CBD5E1"/>
                </a:solidFill>
                <a:latin typeface="Helvetica Neue"/>
              </a:rPr>
              <a:t>Arithmetic catches what a schema cannot</a:t>
            </a:r>
          </a:p>
          <a:p>
            <a:pPr algn="l">
              <a:lnSpc>
                <a:spcPct val="100000"/>
              </a:lnSpc>
              <a:spcBef>
                <a:spcPts val="1189"/>
              </a:spcBef>
            </a:pPr>
            <a:r>
              <a:rPr sz="1700" i="0" b="0">
                <a:solidFill>
                  <a:srgbClr val="CBD5E1"/>
                </a:solidFill>
                <a:latin typeface="Helvetica Neue"/>
              </a:rPr>
              <a:t>Two scores, for two decisions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How do you know the extraction is right?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PDF that lost a row</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notes/02-document-understanding.md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10" name="Rectangle 9"/>
          <p:cNvSpPr/>
          <p:nvPr/>
        </p:nvSpPr>
        <p:spPr>
          <a:xfrm>
            <a:off x="777240" y="2363724"/>
            <a:ext cx="109728" cy="2962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36372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PDF is a set of drawing instructions, not a document. Every route through it can fail silently, and valid JSON proves nothing.</a:t>
            </a:r>
          </a:p>
        </p:txBody>
      </p:sp>
      <p:sp>
        <p:nvSpPr>
          <p:cNvPr id="12" name="TextBox 11"/>
          <p:cNvSpPr txBox="1"/>
          <p:nvPr/>
        </p:nvSpPr>
        <p:spPr>
          <a:xfrm>
            <a:off x="1234440" y="491490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The best checks use facts the document must satisfy on its own terms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Three routes through a document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options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PDF that lost a row</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notes/02-document-understanding.md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Route per page and log the route, so a shift in accuracy points at a route and a document family.</a:t>
            </a:r>
          </a:p>
        </p:txBody>
      </p:sp>
      <p:sp>
        <p:nvSpPr>
          <p:cNvPr id="13" name="Rectangle 12"/>
          <p:cNvSpPr/>
          <p:nvPr/>
        </p:nvSpPr>
        <p:spPr>
          <a:xfrm>
            <a:off x="502920" y="1472184"/>
            <a:ext cx="3545738" cy="30845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308457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Specialised pipeline</a:t>
            </a:r>
          </a:p>
        </p:txBody>
      </p:sp>
      <p:sp>
        <p:nvSpPr>
          <p:cNvPr id="16" name="TextBox 15"/>
          <p:cNvSpPr txBox="1"/>
          <p:nvPr/>
        </p:nvSpPr>
        <p:spPr>
          <a:xfrm>
            <a:off x="777240" y="2087880"/>
            <a:ext cx="3042818" cy="228599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Layout, table and OCR models in sequence, as in Docling. Inspectable, but a wrong region stays wrong.</a:t>
            </a:r>
          </a:p>
        </p:txBody>
      </p:sp>
      <p:sp>
        <p:nvSpPr>
          <p:cNvPr id="17" name="Rectangle 16"/>
          <p:cNvSpPr/>
          <p:nvPr/>
        </p:nvSpPr>
        <p:spPr>
          <a:xfrm>
            <a:off x="4322978" y="1472184"/>
            <a:ext cx="3545738" cy="30845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22978" y="1472184"/>
            <a:ext cx="82296" cy="308457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End-to-end document model</a:t>
            </a:r>
          </a:p>
        </p:txBody>
      </p:sp>
      <p:sp>
        <p:nvSpPr>
          <p:cNvPr id="20" name="TextBox 19"/>
          <p:cNvSpPr txBox="1"/>
          <p:nvPr/>
        </p:nvSpPr>
        <p:spPr>
          <a:xfrm>
            <a:off x="4597298" y="2087880"/>
            <a:ext cx="3042818" cy="228599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Page image to structured tokens, as in Donut and Nougat. No error cascade, but it can loop: 1.5% of Nougat's test pages.</a:t>
            </a:r>
          </a:p>
        </p:txBody>
      </p:sp>
      <p:sp>
        <p:nvSpPr>
          <p:cNvPr id="21" name="Rectangle 20"/>
          <p:cNvSpPr/>
          <p:nvPr/>
        </p:nvSpPr>
        <p:spPr>
          <a:xfrm>
            <a:off x="8143036" y="1472184"/>
            <a:ext cx="3545738" cy="30845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3036" y="1472184"/>
            <a:ext cx="82296" cy="308457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General vision model</a:t>
            </a:r>
          </a:p>
        </p:txBody>
      </p:sp>
      <p:sp>
        <p:nvSpPr>
          <p:cNvPr id="24" name="TextBox 23"/>
          <p:cNvSpPr txBox="1"/>
          <p:nvPr/>
        </p:nvSpPr>
        <p:spPr>
          <a:xfrm>
            <a:off x="8417356" y="2087880"/>
            <a:ext cx="3042818" cy="228599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Page image plus a schema. Fast to demo and good on odd layouts, but its errors look exactly like correct output.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Route each page to the cheapest thing that works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pattern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PDF that lost a row</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notes/02-document-understanding.md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In Docling, disabling OCR saved around 60% of the runtime on CPU and M3, and about 50% on the L4.</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Send only the hard pages to the expensive route.</a:t>
            </a:r>
          </a:p>
        </p:txBody>
      </p:sp>
      <p:sp>
        <p:nvSpPr>
          <p:cNvPr id="14" name="Rounded Rectangle 13"/>
          <p:cNvSpPr/>
          <p:nvPr/>
        </p:nvSpPr>
        <p:spPr>
          <a:xfrm>
            <a:off x="586587" y="2077212"/>
            <a:ext cx="2377440" cy="1205484"/>
          </a:xfrm>
          <a:prstGeom prst="roundRect">
            <a:avLst>
              <a:gd name="adj" fmla="val 12000"/>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747" y="2077212"/>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Page</a:t>
            </a:r>
          </a:p>
          <a:p>
            <a:pPr algn="ctr">
              <a:lnSpc>
                <a:spcPct val="110000"/>
              </a:lnSpc>
            </a:pPr>
            <a:r>
              <a:rPr sz="1300" i="0" b="0">
                <a:solidFill>
                  <a:srgbClr val="E8F4F8"/>
                </a:solidFill>
                <a:latin typeface="Helvetica Neue"/>
              </a:rPr>
              <a:t>from any PDF</a:t>
            </a:r>
          </a:p>
        </p:txBody>
      </p:sp>
      <p:cxnSp>
        <p:nvCxnSpPr>
          <p:cNvPr id="16" name="Connector 15"/>
          <p:cNvCxnSpPr/>
          <p:nvPr/>
        </p:nvCxnSpPr>
        <p:spPr>
          <a:xfrm>
            <a:off x="3018891" y="267995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466947" y="2077212"/>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4107" y="2077212"/>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Text layer?</a:t>
            </a:r>
          </a:p>
          <a:p>
            <a:pPr algn="ctr">
              <a:lnSpc>
                <a:spcPct val="110000"/>
              </a:lnSpc>
            </a:pPr>
            <a:r>
              <a:rPr sz="1300" i="0" b="0">
                <a:solidFill>
                  <a:srgbClr val="E8F4F8"/>
                </a:solidFill>
                <a:latin typeface="Helvetica Neue"/>
              </a:rPr>
              <a:t>skip OCR if so</a:t>
            </a:r>
          </a:p>
        </p:txBody>
      </p:sp>
      <p:cxnSp>
        <p:nvCxnSpPr>
          <p:cNvPr id="19" name="Connector 18"/>
          <p:cNvCxnSpPr/>
          <p:nvPr/>
        </p:nvCxnSpPr>
        <p:spPr>
          <a:xfrm>
            <a:off x="5899251" y="267995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47307" y="2077212"/>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4467" y="2077212"/>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Hard region?</a:t>
            </a:r>
          </a:p>
          <a:p>
            <a:pPr algn="ctr">
              <a:lnSpc>
                <a:spcPct val="110000"/>
              </a:lnSpc>
            </a:pPr>
            <a:r>
              <a:rPr sz="1300" i="0" b="0">
                <a:solidFill>
                  <a:srgbClr val="E8F4F8"/>
                </a:solidFill>
                <a:latin typeface="Helvetica Neue"/>
              </a:rPr>
              <a:t>tables, formulas</a:t>
            </a:r>
          </a:p>
        </p:txBody>
      </p:sp>
      <p:cxnSp>
        <p:nvCxnSpPr>
          <p:cNvPr id="22" name="Connector 21"/>
          <p:cNvCxnSpPr/>
          <p:nvPr/>
        </p:nvCxnSpPr>
        <p:spPr>
          <a:xfrm>
            <a:off x="8779611" y="267995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227667" y="2077212"/>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64827" y="2077212"/>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Validate</a:t>
            </a:r>
          </a:p>
          <a:p>
            <a:pPr algn="ctr">
              <a:lnSpc>
                <a:spcPct val="110000"/>
              </a:lnSpc>
            </a:pPr>
            <a:r>
              <a:rPr sz="1300" i="0" b="0">
                <a:solidFill>
                  <a:srgbClr val="E8F4F8"/>
                </a:solidFill>
                <a:latin typeface="Helvetica Neue"/>
              </a:rPr>
              <a:t>arithmetic and second route</a:t>
            </a:r>
          </a:p>
        </p:txBody>
      </p:sp>
      <p:sp>
        <p:nvSpPr>
          <p:cNvPr id="25" name="TextBox 24"/>
          <p:cNvSpPr txBox="1"/>
          <p:nvPr/>
        </p:nvSpPr>
        <p:spPr>
          <a:xfrm>
            <a:off x="502920" y="3602736"/>
            <a:ext cx="11185855" cy="1883663"/>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OCR on a born-digital page costs time and can add errors the text layer did not have.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slow page sets your worker size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PDF that lost a row</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notes/02-document-understanding.md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Docling's per-page timings on 89 PDFs, 4,008 pages and 1,842 tables.</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At the 95th percentile a CPU page takes about twenty times the median, so set per-page timeouts.</a:t>
            </a:r>
          </a:p>
        </p:txBody>
      </p:sp>
      <p:graphicFrame>
        <p:nvGraphicFramePr>
          <p:cNvPr id="14" name="Table 13"/>
          <p:cNvGraphicFramePr>
            <a:graphicFrameLocks noGrp="1"/>
          </p:cNvGraphicFramePr>
          <p:nvPr/>
        </p:nvGraphicFramePr>
        <p:xfrm>
          <a:off x="502920" y="1985772"/>
          <a:ext cx="11185854" cy="1621536"/>
        </p:xfrm>
        <a:graphic>
          <a:graphicData uri="http://schemas.openxmlformats.org/drawingml/2006/table">
            <a:tbl>
              <a:tblPr firstRow="1" bandRow="1">
                <a:tableStyleId>{5940675A-B579-460E-94D1-54222C63F5DA}</a:tableStyleId>
              </a:tblPr>
              <a:tblGrid>
                <a:gridCol w="3441801"/>
                <a:gridCol w="2581351"/>
                <a:gridCol w="2581351"/>
                <a:gridCol w="2581351"/>
              </a:tblGrid>
              <a:tr h="405384">
                <a:tc>
                  <a:txBody>
                    <a:bodyPr wrap="square"/>
                    <a:lstStyle/>
                    <a:p>
                      <a:pPr>
                        <a:lnSpc>
                          <a:spcPct val="100000"/>
                        </a:lnSpc>
                      </a:pPr>
                      <a:r>
                        <a:rPr sz="1700" i="0" b="1">
                          <a:solidFill>
                            <a:srgbClr val="FFFFFF"/>
                          </a:solidFill>
                          <a:latin typeface="Helvetica Neue"/>
                        </a:rPr>
                        <a:t>Hardware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5th percentile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Median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95th percentile</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x86 CPU</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0.6 s</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0.79 s</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16.3 s</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M3 Max SoC</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0.26 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0.32 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6.48 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Nvidia L4 GPU</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57 ms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114 ms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2081 ms</a:t>
                      </a:r>
                    </a:p>
                  </a:txBody>
                  <a:tcPr marL="109728" marR="109728" marT="54864" marB="54864"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Arithmetic catches what a schema cannot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PDF that lost a row</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notes/02-document-understanding.md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 failed check says something is wrong, then you retry with a crop, try a second route, or ask a person.</a:t>
            </a:r>
          </a:p>
        </p:txBody>
      </p:sp>
      <p:sp>
        <p:nvSpPr>
          <p:cNvPr id="13" name="Rounded Rectangle 12"/>
          <p:cNvSpPr/>
          <p:nvPr/>
        </p:nvSpPr>
        <p:spPr>
          <a:xfrm>
            <a:off x="502920" y="1472184"/>
            <a:ext cx="6711513" cy="33680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27279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reconcile(doc, tolerance=D("0.01")):</a:t>
            </a:r>
          </a:p>
          <a:p>
            <a:pPr algn="l">
              <a:lnSpc>
                <a:spcPct val="100000"/>
              </a:lnSpc>
            </a:pPr>
            <a:r>
              <a:rPr sz="1600" i="0" b="0">
                <a:solidFill>
                  <a:srgbClr val="E2E8F0"/>
                </a:solidFill>
                <a:latin typeface="Menlo"/>
              </a:rPr>
              <a:t>    problems = []</a:t>
            </a:r>
          </a:p>
          <a:p>
            <a:pPr algn="l">
              <a:lnSpc>
                <a:spcPct val="100000"/>
              </a:lnSpc>
            </a:pPr>
            <a:r>
              <a:rPr sz="1600" i="0" b="0">
                <a:solidFill>
                  <a:srgbClr val="E2E8F0"/>
                </a:solidFill>
                <a:latin typeface="Menlo"/>
              </a:rPr>
              <a:t>    lines = sum(D(i["qty"]) * D(i["unit"])</a:t>
            </a:r>
          </a:p>
          <a:p>
            <a:pPr algn="l">
              <a:lnSpc>
                <a:spcPct val="100000"/>
              </a:lnSpc>
            </a:pPr>
            <a:r>
              <a:rPr sz="1600" i="0" b="0">
                <a:solidFill>
                  <a:srgbClr val="E2E8F0"/>
                </a:solidFill>
                <a:latin typeface="Menlo"/>
              </a:rPr>
              <a:t>                for i in doc["items"])</a:t>
            </a:r>
          </a:p>
          <a:p>
            <a:pPr algn="l">
              <a:lnSpc>
                <a:spcPct val="100000"/>
              </a:lnSpc>
            </a:pPr>
            <a:r>
              <a:rPr sz="1600" i="0" b="0">
                <a:solidFill>
                  <a:srgbClr val="E2E8F0"/>
                </a:solidFill>
                <a:latin typeface="Menlo"/>
              </a:rPr>
              <a:t>    if abs(lines - D(doc["subtotal"])) &gt; tolerance:</a:t>
            </a:r>
          </a:p>
          <a:p>
            <a:pPr algn="l">
              <a:lnSpc>
                <a:spcPct val="100000"/>
              </a:lnSpc>
            </a:pPr>
            <a:r>
              <a:rPr sz="1600" i="0" b="0">
                <a:solidFill>
                  <a:srgbClr val="E2E8F0"/>
                </a:solidFill>
                <a:latin typeface="Menlo"/>
              </a:rPr>
              <a:t>        problems.append("line items != subtotal")</a:t>
            </a:r>
          </a:p>
          <a:p>
            <a:pPr algn="l">
              <a:lnSpc>
                <a:spcPct val="100000"/>
              </a:lnSpc>
            </a:pPr>
            <a:r>
              <a:rPr sz="1600" i="0" b="0">
                <a:solidFill>
                  <a:srgbClr val="E2E8F0"/>
                </a:solidFill>
                <a:latin typeface="Menlo"/>
              </a:rPr>
              <a:t>    total = D(doc["subtotal"]) + D(doc["tax"])</a:t>
            </a:r>
          </a:p>
          <a:p>
            <a:pPr algn="l">
              <a:lnSpc>
                <a:spcPct val="100000"/>
              </a:lnSpc>
            </a:pPr>
            <a:r>
              <a:rPr sz="1600" i="0" b="0">
                <a:solidFill>
                  <a:srgbClr val="E2E8F0"/>
                </a:solidFill>
                <a:latin typeface="Menlo"/>
              </a:rPr>
              <a:t>    if abs(total - D(doc["total"])) &gt; tolerance:</a:t>
            </a:r>
          </a:p>
          <a:p>
            <a:pPr algn="l">
              <a:lnSpc>
                <a:spcPct val="100000"/>
              </a:lnSpc>
            </a:pPr>
            <a:r>
              <a:rPr sz="1600" i="0" b="0">
                <a:solidFill>
                  <a:srgbClr val="E2E8F0"/>
                </a:solidFill>
                <a:latin typeface="Menlo"/>
              </a:rPr>
              <a:t>        problems.append("subtotal + tax != total")</a:t>
            </a:r>
          </a:p>
          <a:p>
            <a:pPr algn="l">
              <a:lnSpc>
                <a:spcPct val="100000"/>
              </a:lnSpc>
            </a:pPr>
            <a:r>
              <a:rPr sz="1600" i="0" b="0">
                <a:solidFill>
                  <a:srgbClr val="E2E8F0"/>
                </a:solidFill>
                <a:latin typeface="Menlo"/>
              </a:rPr>
              <a:t>    return problems</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Misread digit</a:t>
            </a:r>
            <a:r>
              <a:rPr sz="1800" i="0" b="0">
                <a:solidFill>
                  <a:srgbClr val="1E293B"/>
                </a:solidFill>
                <a:latin typeface="Helvetica Neue"/>
              </a:rPr>
              <a:t> fails the total check</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Dropped row</a:t>
            </a:r>
            <a:r>
              <a:rPr sz="1800" i="0" b="0">
                <a:solidFill>
                  <a:srgbClr val="1E293B"/>
                </a:solidFill>
                <a:latin typeface="Helvetica Neue"/>
              </a:rPr>
              <a:t> fails the line item check</a:t>
            </a:r>
          </a:p>
        </p:txBody>
      </p:sp>
      <p:sp>
        <p:nvSpPr>
          <p:cNvPr id="20" name="Rectangle 19"/>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Both outputs were valid 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Two scores, for two decisions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Scoring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PDF that lost a row</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notes/02-document-understanding.md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Use edit distance to pick an engine, and field F1 to decide whether you can ship.</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Edit distance</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Measures transcript quality</a:t>
            </a:r>
          </a:p>
        </p:txBody>
      </p:sp>
      <p:sp>
        <p:nvSpPr>
          <p:cNvPr id="18" name="Rectangle 17"/>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Good for comparing OCR engines</a:t>
            </a:r>
          </a:p>
        </p:txBody>
      </p:sp>
      <p:sp>
        <p:nvSpPr>
          <p:cNvPr id="20" name="Rectangle 19"/>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wrong digit looks almost perfect</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Choose an engine</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Field F1</a:t>
            </a:r>
          </a:p>
        </p:txBody>
      </p:sp>
      <p:sp>
        <p:nvSpPr>
          <p:cNvPr id="27" name="Rectangle 26"/>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One wrong character fails the field</a:t>
            </a:r>
          </a:p>
        </p:txBody>
      </p:sp>
      <p:sp>
        <p:nvSpPr>
          <p:cNvPr id="29" name="Rectangle 28"/>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Measures what the business cares about</a:t>
            </a:r>
          </a:p>
        </p:txBody>
      </p:sp>
      <p:sp>
        <p:nvSpPr>
          <p:cNvPr id="31" name="Rectangle 30"/>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Matches the cost of a wrong payment</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Decide to ship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answer inside a chart</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What to index · ColPali evidence · Late interaction · Cost</a:t>
            </a:r>
          </a:p>
        </p:txBody>
      </p:sp>
      <p:cxnSp>
        <p:nvCxnSpPr>
          <p:cNvPr id="6" name="Connector 5"/>
          <p:cNvCxnSpPr/>
          <p:nvPr/>
        </p:nvCxnSpPr>
        <p:spPr>
          <a:xfrm>
            <a:off x="6446520" y="2554605"/>
            <a:ext cx="0" cy="174879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554605"/>
            <a:ext cx="4693615" cy="1931669"/>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What if the answer is in no sentence?</a:t>
            </a:r>
          </a:p>
          <a:p>
            <a:pPr algn="l">
              <a:lnSpc>
                <a:spcPct val="100000"/>
              </a:lnSpc>
              <a:spcBef>
                <a:spcPts val="1189"/>
              </a:spcBef>
            </a:pPr>
            <a:r>
              <a:rPr sz="1700" i="0" b="0">
                <a:solidFill>
                  <a:srgbClr val="CBD5E1"/>
                </a:solidFill>
                <a:latin typeface="Helvetica Neue"/>
              </a:rPr>
              <a:t>Keeping the patches beat every other page design</a:t>
            </a:r>
          </a:p>
          <a:p>
            <a:pPr algn="l">
              <a:lnSpc>
                <a:spcPct val="100000"/>
              </a:lnSpc>
              <a:spcBef>
                <a:spcPts val="1189"/>
              </a:spcBef>
            </a:pPr>
            <a:r>
              <a:rPr sz="1700" i="0" b="0">
                <a:solidFill>
                  <a:srgbClr val="CBD5E1"/>
                </a:solidFill>
                <a:latin typeface="Helvetica Neue"/>
              </a:rPr>
              <a:t>One vector averages the chart away</a:t>
            </a:r>
          </a:p>
          <a:p>
            <a:pPr algn="l">
              <a:lnSpc>
                <a:spcPct val="100000"/>
              </a:lnSpc>
              <a:spcBef>
                <a:spcPts val="1189"/>
              </a:spcBef>
            </a:pPr>
            <a:r>
              <a:rPr sz="1700" i="0" b="0">
                <a:solidFill>
                  <a:srgbClr val="CBD5E1"/>
                </a:solidFill>
                <a:latin typeface="Helvetica Neue"/>
              </a:rPr>
              <a:t>Narrow cheaply, then rerank with patches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if the answer is in no sentence?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The answer inside a chart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notes/03-multimodal-rag.md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10" name="Rectangle 9"/>
          <p:cNvSpPr/>
          <p:nvPr/>
        </p:nvSpPr>
        <p:spPr>
          <a:xfrm>
            <a:off x="777240" y="2363724"/>
            <a:ext cx="109728" cy="296265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36372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The retriever isn't weak. The pipeline threw the answer away before retrieval began, so multimodal RAG is mostly a decision about what to index.</a:t>
            </a:r>
          </a:p>
        </p:txBody>
      </p:sp>
      <p:sp>
        <p:nvSpPr>
          <p:cNvPr id="12" name="TextBox 11"/>
          <p:cNvSpPr txBox="1"/>
          <p:nvPr/>
        </p:nvSpPr>
        <p:spPr>
          <a:xfrm>
            <a:off x="1234440" y="491490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Captions of the visuals, or the pages themselves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Keeping the patches beat every other page design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The answer inside a chart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notes/03-multimodal-rag.md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ColPali's own ViDoRe benchmark of visually rich documents, average nDCG@5.</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Swapping BM25 for a neural embedder barely moved the text routes, so ingestion was the bottleneck here.</a:t>
            </a:r>
          </a:p>
        </p:txBody>
      </p:sp>
      <p:graphicFrame>
        <p:nvGraphicFramePr>
          <p:cNvPr id="14" name="Table 13"/>
          <p:cNvGraphicFramePr>
            <a:graphicFrameLocks noGrp="1"/>
          </p:cNvGraphicFramePr>
          <p:nvPr/>
        </p:nvGraphicFramePr>
        <p:xfrm>
          <a:off x="502920" y="1985772"/>
          <a:ext cx="11185854" cy="2837688"/>
        </p:xfrm>
        <a:graphic>
          <a:graphicData uri="http://schemas.openxmlformats.org/drawingml/2006/table">
            <a:tbl>
              <a:tblPr firstRow="1" bandRow="1">
                <a:tableStyleId>{5940675A-B579-460E-94D1-54222C63F5DA}</a:tableStyleId>
              </a:tblPr>
              <a:tblGrid>
                <a:gridCol w="8700109"/>
                <a:gridCol w="2485745"/>
              </a:tblGrid>
              <a:tr h="405384">
                <a:tc>
                  <a:txBody>
                    <a:bodyPr wrap="square"/>
                    <a:lstStyle/>
                    <a:p>
                      <a:pPr>
                        <a:lnSpc>
                          <a:spcPct val="100000"/>
                        </a:lnSpc>
                      </a:pPr>
                      <a:r>
                        <a:rPr sz="1700" i="0" b="1">
                          <a:solidFill>
                            <a:srgbClr val="FFFFFF"/>
                          </a:solidFill>
                          <a:latin typeface="Helvetica Neue"/>
                        </a:rPr>
                        <a:t>System</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Avg nDCG@5</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Jina CLIP</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17.7</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SigLIP, off the shelf</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51.4</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BiPali, one vector per page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58.8</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Parser + OCR, BM25 / BGE-M3</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65.5 / 66.1</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Parser + captioning, BM25 / BGE-M3</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65.1 / 67.0</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ColPali, late interaction</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81.3</a:t>
                      </a:r>
                    </a:p>
                  </a:txBody>
                  <a:tcPr marL="109728" marR="109728" marT="54864" marB="54864" anchor="ctr">
                    <a:solidFill>
                      <a:srgbClr val="E8F4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One vector averages the chart away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The answer inside a chart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notes/03-multimodal-rag.md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Late interaction finds a small region on a dense page, where a single vector finds the vague page.</a:t>
            </a:r>
          </a:p>
        </p:txBody>
      </p:sp>
      <p:sp>
        <p:nvSpPr>
          <p:cNvPr id="13" name="Rounded Rectangle 12"/>
          <p:cNvSpPr/>
          <p:nvPr/>
        </p:nvSpPr>
        <p:spPr>
          <a:xfrm>
            <a:off x="502920" y="1472184"/>
            <a:ext cx="6711513" cy="32004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2560320"/>
          </a:xfrm>
          <a:prstGeom prst="rect">
            <a:avLst/>
          </a:prstGeom>
          <a:noFill/>
        </p:spPr>
        <p:txBody>
          <a:bodyPr wrap="square" lIns="0" rIns="0" tIns="0" bIns="0" anchor="t">
            <a:noAutofit/>
          </a:bodyPr>
          <a:lstStyle/>
          <a:p>
            <a:pPr algn="l">
              <a:lnSpc>
                <a:spcPct val="100000"/>
              </a:lnSpc>
            </a:pPr>
            <a:r>
              <a:rPr sz="1500" i="0" b="0">
                <a:solidFill>
                  <a:srgbClr val="E2E8F0"/>
                </a:solidFill>
                <a:latin typeface="Menlo"/>
              </a:rPr>
              <a:t>def maxsim(q, p):</a:t>
            </a:r>
          </a:p>
          <a:p>
            <a:pPr algn="l">
              <a:lnSpc>
                <a:spcPct val="100000"/>
              </a:lnSpc>
            </a:pPr>
            <a:r>
              <a:rPr sz="1500" i="0" b="0">
                <a:solidFill>
                  <a:srgbClr val="E2E8F0"/>
                </a:solidFill>
                <a:latin typeface="Menlo"/>
              </a:rPr>
              <a:t>    return float((q @ p.T).max(axis=1).sum())</a:t>
            </a:r>
          </a:p>
          <a:p>
            <a:pPr algn="l">
              <a:lnSpc>
                <a:spcPct val="100000"/>
              </a:lnSpc>
            </a:pPr>
          </a:p>
          <a:p>
            <a:pPr algn="l">
              <a:lnSpc>
                <a:spcPct val="100000"/>
              </a:lnSpc>
            </a:pPr>
            <a:r>
              <a:rPr sz="1500" i="0" b="0">
                <a:solidFill>
                  <a:srgbClr val="E2E8F0"/>
                </a:solidFill>
                <a:latin typeface="Menlo"/>
              </a:rPr>
              <a:t>def single_vector(q, p):</a:t>
            </a:r>
          </a:p>
          <a:p>
            <a:pPr algn="l">
              <a:lnSpc>
                <a:spcPct val="100000"/>
              </a:lnSpc>
            </a:pPr>
            <a:r>
              <a:rPr sz="1500" i="0" b="0">
                <a:solidFill>
                  <a:srgbClr val="E2E8F0"/>
                </a:solidFill>
                <a:latin typeface="Menlo"/>
              </a:rPr>
              <a:t>    q_v, p_v = q.mean(axis=0), p.mean(axis=0)</a:t>
            </a:r>
          </a:p>
          <a:p>
            <a:pPr algn="l">
              <a:lnSpc>
                <a:spcPct val="100000"/>
              </a:lnSpc>
            </a:pPr>
            <a:r>
              <a:rPr sz="1500" i="0" b="0">
                <a:solidFill>
                  <a:srgbClr val="E2E8F0"/>
                </a:solidFill>
                <a:latin typeface="Menlo"/>
              </a:rPr>
              <a:t>    return float(unit(q_v) @ unit(p_v))</a:t>
            </a:r>
          </a:p>
          <a:p>
            <a:pPr algn="l">
              <a:lnSpc>
                <a:spcPct val="100000"/>
              </a:lnSpc>
            </a:pPr>
          </a:p>
          <a:p>
            <a:pPr algn="l">
              <a:lnSpc>
                <a:spcPct val="100000"/>
              </a:lnSpc>
            </a:pPr>
            <a:r>
              <a:rPr sz="1500" i="0" b="0">
                <a:solidFill>
                  <a:srgbClr val="E2E8F0"/>
                </a:solidFill>
                <a:latin typeface="Menlo"/>
              </a:rPr>
              <a:t># A: two sharp regions among 1,028 background patches</a:t>
            </a:r>
          </a:p>
          <a:p>
            <a:pPr algn="l">
              <a:lnSpc>
                <a:spcPct val="100000"/>
              </a:lnSpc>
            </a:pPr>
            <a:r>
              <a:rPr sz="1500" i="0" b="0">
                <a:solidFill>
                  <a:srgbClr val="E2E8F0"/>
                </a:solidFill>
                <a:latin typeface="Menlo"/>
              </a:rPr>
              <a:t># B: mildly similar to both topics everywhere</a:t>
            </a:r>
          </a:p>
          <a:p>
            <a:pPr algn="l">
              <a:lnSpc>
                <a:spcPct val="100000"/>
              </a:lnSpc>
            </a:pPr>
            <a:r>
              <a:rPr sz="1500" i="0" b="0">
                <a:solidFill>
                  <a:srgbClr val="E2E8F0"/>
                </a:solidFill>
                <a:latin typeface="Menlo"/>
              </a:rPr>
              <a:t># A (answer page)  MaxSim 1.96   single-vector 0.09</a:t>
            </a:r>
          </a:p>
          <a:p>
            <a:pPr algn="l">
              <a:lnSpc>
                <a:spcPct val="100000"/>
              </a:lnSpc>
            </a:pPr>
            <a:r>
              <a:rPr sz="1500" i="0" b="0">
                <a:solidFill>
                  <a:srgbClr val="E2E8F0"/>
                </a:solidFill>
                <a:latin typeface="Menlo"/>
              </a:rPr>
              <a:t># B (vague page)   MaxSim 0.88   single-vector 0.99</a:t>
            </a:r>
          </a:p>
        </p:txBody>
      </p:sp>
      <p:sp>
        <p:nvSpPr>
          <p:cNvPr id="16" name="Rectangle 15"/>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Synthetic data, with real output</a:t>
            </a:r>
          </a:p>
        </p:txBody>
      </p:sp>
      <p:sp>
        <p:nvSpPr>
          <p:cNvPr id="18" name="Rectangle 17"/>
          <p:cNvSpPr/>
          <p:nvPr/>
        </p:nvSpPr>
        <p:spPr>
          <a:xfrm>
            <a:off x="7580193" y="234543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MaxSim asks whether each query token matches somewhere</a:t>
            </a:r>
          </a:p>
        </p:txBody>
      </p:sp>
      <p:sp>
        <p:nvSpPr>
          <p:cNvPr id="20" name="Rectangle 19"/>
          <p:cNvSpPr/>
          <p:nvPr/>
        </p:nvSpPr>
        <p:spPr>
          <a:xfrm>
            <a:off x="7580193" y="308610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winning patch doubles as evidence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Narrow cheaply, then rerank with patches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design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The answer inside a chart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notes/03-multimodal-rag.md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10" name="TextBox 9"/>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ColPali reports 257.5 KB per page at the naive setting, so few systems scan every patch of every page.</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Recall at a few hundred is a much easier job than precision at five.</a:t>
            </a:r>
          </a:p>
        </p:txBody>
      </p:sp>
      <p:sp>
        <p:nvSpPr>
          <p:cNvPr id="14" name="Rounded Rectangle 13"/>
          <p:cNvSpPr/>
          <p:nvPr/>
        </p:nvSpPr>
        <p:spPr>
          <a:xfrm>
            <a:off x="586587" y="2362200"/>
            <a:ext cx="2377440" cy="987552"/>
          </a:xfrm>
          <a:prstGeom prst="roundRect">
            <a:avLst>
              <a:gd name="adj" fmla="val 12000"/>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747" y="2362200"/>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Query</a:t>
            </a:r>
          </a:p>
          <a:p>
            <a:pPr algn="ctr">
              <a:lnSpc>
                <a:spcPct val="110000"/>
              </a:lnSpc>
            </a:pPr>
            <a:r>
              <a:rPr sz="1300" i="0" b="0">
                <a:solidFill>
                  <a:srgbClr val="E8F4F8"/>
                </a:solidFill>
                <a:latin typeface="Helvetica Neue"/>
              </a:rPr>
              <a:t>text</a:t>
            </a:r>
          </a:p>
        </p:txBody>
      </p:sp>
      <p:cxnSp>
        <p:nvCxnSpPr>
          <p:cNvPr id="16" name="Connector 15"/>
          <p:cNvCxnSpPr/>
          <p:nvPr/>
        </p:nvCxnSpPr>
        <p:spPr>
          <a:xfrm>
            <a:off x="3018891" y="285597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466947" y="2362200"/>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4107" y="2362200"/>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First stage</a:t>
            </a:r>
          </a:p>
          <a:p>
            <a:pPr algn="ctr">
              <a:lnSpc>
                <a:spcPct val="110000"/>
              </a:lnSpc>
            </a:pPr>
            <a:r>
              <a:rPr sz="1300" i="0" b="0">
                <a:solidFill>
                  <a:srgbClr val="E8F4F8"/>
                </a:solidFill>
                <a:latin typeface="Helvetica Neue"/>
              </a:rPr>
              <a:t>text or single vector</a:t>
            </a:r>
          </a:p>
        </p:txBody>
      </p:sp>
      <p:cxnSp>
        <p:nvCxnSpPr>
          <p:cNvPr id="19" name="Connector 18"/>
          <p:cNvCxnSpPr/>
          <p:nvPr/>
        </p:nvCxnSpPr>
        <p:spPr>
          <a:xfrm>
            <a:off x="5899251" y="285597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47307" y="2362200"/>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4467" y="2362200"/>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Late interaction</a:t>
            </a:r>
          </a:p>
          <a:p>
            <a:pPr algn="ctr">
              <a:lnSpc>
                <a:spcPct val="110000"/>
              </a:lnSpc>
            </a:pPr>
            <a:r>
              <a:rPr sz="1300" i="0" b="0">
                <a:solidFill>
                  <a:srgbClr val="E8F4F8"/>
                </a:solidFill>
                <a:latin typeface="Helvetica Neue"/>
              </a:rPr>
              <a:t>a few hundred pages</a:t>
            </a:r>
          </a:p>
        </p:txBody>
      </p:sp>
      <p:cxnSp>
        <p:nvCxnSpPr>
          <p:cNvPr id="22" name="Connector 21"/>
          <p:cNvCxnSpPr/>
          <p:nvPr/>
        </p:nvCxnSpPr>
        <p:spPr>
          <a:xfrm>
            <a:off x="8779611" y="285597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227667" y="2362200"/>
            <a:ext cx="2377440" cy="98755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64827" y="2362200"/>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Page image</a:t>
            </a:r>
          </a:p>
          <a:p>
            <a:pPr algn="ctr">
              <a:lnSpc>
                <a:spcPct val="110000"/>
              </a:lnSpc>
            </a:pPr>
            <a:r>
              <a:rPr sz="1300" i="0" b="0">
                <a:solidFill>
                  <a:srgbClr val="E8F4F8"/>
                </a:solidFill>
                <a:latin typeface="Helvetica Neue"/>
              </a:rPr>
              <a:t>to the reader</a:t>
            </a:r>
          </a:p>
        </p:txBody>
      </p:sp>
      <p:sp>
        <p:nvSpPr>
          <p:cNvPr id="25" name="TextBox 24"/>
          <p:cNvSpPr txBox="1"/>
          <p:nvPr/>
        </p:nvSpPr>
        <p:spPr>
          <a:xfrm>
            <a:off x="502920" y="3669792"/>
            <a:ext cx="11185855" cy="1816607"/>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Pooling at factor 3 cut vectors by 66.7% and kept 97.8% of performance on average, with the text-dense set a clear outlier.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customer who phones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Audio as tokens · Two architectures · Latency budget · Barge-in · WER</a:t>
            </a:r>
          </a:p>
        </p:txBody>
      </p:sp>
      <p:cxnSp>
        <p:nvCxnSpPr>
          <p:cNvPr id="6" name="Connector 5"/>
          <p:cNvCxnSpPr/>
          <p:nvPr/>
        </p:nvCxnSpPr>
        <p:spPr>
          <a:xfrm>
            <a:off x="6446520" y="2349500"/>
            <a:ext cx="0" cy="215900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349500"/>
            <a:ext cx="4693615" cy="234188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What changes when the reply has a deadline?</a:t>
            </a:r>
          </a:p>
          <a:p>
            <a:pPr algn="l">
              <a:lnSpc>
                <a:spcPct val="100000"/>
              </a:lnSpc>
              <a:spcBef>
                <a:spcPts val="1189"/>
              </a:spcBef>
            </a:pPr>
            <a:r>
              <a:rPr sz="1700" i="0" b="0">
                <a:solidFill>
                  <a:srgbClr val="CBD5E1"/>
                </a:solidFill>
                <a:latin typeface="Helvetica Neue"/>
              </a:rPr>
              <a:t>Cascade or speech-to-speech</a:t>
            </a:r>
          </a:p>
          <a:p>
            <a:pPr algn="l">
              <a:lnSpc>
                <a:spcPct val="100000"/>
              </a:lnSpc>
              <a:spcBef>
                <a:spcPts val="1189"/>
              </a:spcBef>
            </a:pPr>
            <a:r>
              <a:rPr sz="1700" i="0" b="0">
                <a:solidFill>
                  <a:srgbClr val="CBD5E1"/>
                </a:solidFill>
                <a:latin typeface="Helvetica Neue"/>
              </a:rPr>
              <a:t>Streaming saves more than a faster model</a:t>
            </a:r>
          </a:p>
          <a:p>
            <a:pPr algn="l">
              <a:lnSpc>
                <a:spcPct val="100000"/>
              </a:lnSpc>
              <a:spcBef>
                <a:spcPts val="1189"/>
              </a:spcBef>
            </a:pPr>
            <a:r>
              <a:rPr sz="1700" i="0" b="0">
                <a:solidFill>
                  <a:srgbClr val="CBD5E1"/>
                </a:solidFill>
                <a:latin typeface="Helvetica Neue"/>
              </a:rPr>
              <a:t>History holds only what the caller heard</a:t>
            </a:r>
          </a:p>
          <a:p>
            <a:pPr algn="l">
              <a:lnSpc>
                <a:spcPct val="100000"/>
              </a:lnSpc>
              <a:spcBef>
                <a:spcPts val="1189"/>
              </a:spcBef>
            </a:pPr>
            <a:r>
              <a:rPr sz="1700" i="0" b="0">
                <a:solidFill>
                  <a:srgbClr val="CBD5E1"/>
                </a:solidFill>
                <a:latin typeface="Helvetica Neue"/>
              </a:rPr>
              <a:t>WER can pass the worst possible error</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What changes when the reply has a deadline?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customer who phones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notes/04-speech-and-voice-agents.md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10" name="Rectangle 9"/>
          <p:cNvSpPr/>
          <p:nvPr/>
        </p:nvSpPr>
        <p:spPr>
          <a:xfrm>
            <a:off x="777240" y="2363724"/>
            <a:ext cx="109728" cy="296265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36372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People expect a reply in a few hundred milliseconds and expect to interrupt it, so a voice agent's design starts from a latency budget.</a:t>
            </a:r>
          </a:p>
        </p:txBody>
      </p:sp>
      <p:sp>
        <p:nvSpPr>
          <p:cNvPr id="12" name="TextBox 11"/>
          <p:cNvSpPr txBox="1"/>
          <p:nvPr/>
        </p:nvSpPr>
        <p:spPr>
          <a:xfrm>
            <a:off x="1234440" y="491490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And from what happens when the transcript is wrong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Cascade or speech-to-speech</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decision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customer who phones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notes/04-speech-and-voice-agents.md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For a regulated use such as disputing a charge, audit and tool calling usually decide for the cascade.</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Cascade</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Transcript at every step, so you can audit</a:t>
            </a:r>
          </a:p>
        </p:txBody>
      </p:sp>
      <p:sp>
        <p:nvSpPr>
          <p:cNvPr id="18" name="Rectangle 17"/>
          <p:cNvSpPr/>
          <p:nvPr/>
        </p:nvSpPr>
        <p:spPr>
          <a:xfrm>
            <a:off x="731520" y="301269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Tool calls and text guardrails work unchanged</a:t>
            </a:r>
          </a:p>
        </p:txBody>
      </p:sp>
      <p:sp>
        <p:nvSpPr>
          <p:cNvPr id="20" name="Rectangle 19"/>
          <p:cNvSpPr/>
          <p:nvPr/>
        </p:nvSpPr>
        <p:spPr>
          <a:xfrm>
            <a:off x="731520" y="3712210"/>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630168"/>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Latency accumulates, and tone is lost</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VAD, ASR, LLM, TTS</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Speech-to-speech</a:t>
            </a:r>
          </a:p>
        </p:txBody>
      </p:sp>
      <p:sp>
        <p:nvSpPr>
          <p:cNvPr id="27" name="Rectangle 26"/>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Moshi: about 200 ms in practice, on its authors' hardware</a:t>
            </a:r>
          </a:p>
        </p:txBody>
      </p:sp>
      <p:sp>
        <p:nvSpPr>
          <p:cNvPr id="29" name="Rectangle 28"/>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93065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Keeps tone and can be full-duplex</a:t>
            </a:r>
          </a:p>
        </p:txBody>
      </p:sp>
      <p:sp>
        <p:nvSpPr>
          <p:cNvPr id="31" name="Rectangle 30"/>
          <p:cNvSpPr/>
          <p:nvPr/>
        </p:nvSpPr>
        <p:spPr>
          <a:xfrm>
            <a:off x="6507327" y="3427222"/>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345180"/>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Audit trail and guards need a parallel transcript</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One 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Streaming saves more than a faster model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budget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customer who phones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notes/04-speech-and-voice-agents.md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Planning placeholders against an 800 ms target, not measurements of any product.</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Write the budget per stage at the 95th percentile, then test the VAD window on real callers.</a:t>
            </a:r>
          </a:p>
        </p:txBody>
      </p:sp>
      <p:sp>
        <p:nvSpPr>
          <p:cNvPr id="14" name="Rounded Rectangle 13"/>
          <p:cNvSpPr/>
          <p:nvPr/>
        </p:nvSpPr>
        <p:spPr>
          <a:xfrm>
            <a:off x="2026767" y="2077212"/>
            <a:ext cx="2377440" cy="987552"/>
          </a:xfrm>
          <a:prstGeom prst="roundRect">
            <a:avLst>
              <a:gd name="adj" fmla="val 12000"/>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3927" y="2077212"/>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Batch cascade</a:t>
            </a:r>
          </a:p>
          <a:p>
            <a:pPr algn="ctr">
              <a:lnSpc>
                <a:spcPct val="110000"/>
              </a:lnSpc>
            </a:pPr>
            <a:r>
              <a:rPr sz="1300" i="0" b="0">
                <a:solidFill>
                  <a:srgbClr val="E8F4F8"/>
                </a:solidFill>
                <a:latin typeface="Helvetica Neue"/>
              </a:rPr>
              <a:t>2680 ms, over</a:t>
            </a:r>
          </a:p>
        </p:txBody>
      </p:sp>
      <p:cxnSp>
        <p:nvCxnSpPr>
          <p:cNvPr id="16" name="Connector 15"/>
          <p:cNvCxnSpPr/>
          <p:nvPr/>
        </p:nvCxnSpPr>
        <p:spPr>
          <a:xfrm>
            <a:off x="4459071" y="2570988"/>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907127" y="2077212"/>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44287" y="2077212"/>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Streaming cascade</a:t>
            </a:r>
          </a:p>
          <a:p>
            <a:pPr algn="ctr">
              <a:lnSpc>
                <a:spcPct val="110000"/>
              </a:lnSpc>
            </a:pPr>
            <a:r>
              <a:rPr sz="1300" i="0" b="0">
                <a:solidFill>
                  <a:srgbClr val="E8F4F8"/>
                </a:solidFill>
                <a:latin typeface="Helvetica Neue"/>
              </a:rPr>
              <a:t>940 ms, over</a:t>
            </a:r>
          </a:p>
        </p:txBody>
      </p:sp>
      <p:cxnSp>
        <p:nvCxnSpPr>
          <p:cNvPr id="19" name="Connector 18"/>
          <p:cNvCxnSpPr/>
          <p:nvPr/>
        </p:nvCxnSpPr>
        <p:spPr>
          <a:xfrm>
            <a:off x="7339431" y="2570988"/>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87487" y="2077212"/>
            <a:ext cx="2377440" cy="98755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24647" y="2077212"/>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Speech-to-speech</a:t>
            </a:r>
          </a:p>
          <a:p>
            <a:pPr algn="ctr">
              <a:lnSpc>
                <a:spcPct val="110000"/>
              </a:lnSpc>
            </a:pPr>
            <a:r>
              <a:rPr sz="1300" i="0" b="0">
                <a:solidFill>
                  <a:srgbClr val="E8F4F8"/>
                </a:solidFill>
                <a:latin typeface="Helvetica Neue"/>
              </a:rPr>
              <a:t>280 ms, within</a:t>
            </a:r>
          </a:p>
        </p:txBody>
      </p:sp>
      <p:sp>
        <p:nvSpPr>
          <p:cNvPr id="22" name="TextBox 21"/>
          <p:cNvSpPr txBox="1"/>
          <p:nvPr/>
        </p:nvSpPr>
        <p:spPr>
          <a:xfrm>
            <a:off x="502920" y="3384804"/>
            <a:ext cx="11185855" cy="2101595"/>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The listener needs the first syllable, not the full reply. VAD's end-of-speech wait is a large line that is no model speed problem.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History holds only what the caller heard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customer who phones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notes/04-speech-and-voice-agents.md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Otherwise the agent believes it read out a policy that the caller never heard.</a:t>
            </a:r>
          </a:p>
        </p:txBody>
      </p:sp>
      <p:sp>
        <p:nvSpPr>
          <p:cNvPr id="13" name="Rounded Rectangle 12"/>
          <p:cNvSpPr/>
          <p:nvPr/>
        </p:nvSpPr>
        <p:spPr>
          <a:xfrm>
            <a:off x="502920" y="1472184"/>
            <a:ext cx="6711513" cy="3124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24841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t = Turn()</a:t>
            </a:r>
          </a:p>
          <a:p>
            <a:pPr algn="l">
              <a:lnSpc>
                <a:spcPct val="100000"/>
              </a:lnSpc>
            </a:pPr>
            <a:r>
              <a:rPr sz="1600" i="0" b="0">
                <a:solidFill>
                  <a:srgbClr val="E2E8F0"/>
                </a:solidFill>
                <a:latin typeface="Menlo"/>
              </a:rPr>
              <a:t>t.reply(["I can see two charges on April.",</a:t>
            </a:r>
          </a:p>
          <a:p>
            <a:pPr algn="l">
              <a:lnSpc>
                <a:spcPct val="100000"/>
              </a:lnSpc>
            </a:pPr>
            <a:r>
              <a:rPr sz="1600" i="0" b="0">
                <a:solidFill>
                  <a:srgbClr val="E2E8F0"/>
                </a:solidFill>
                <a:latin typeface="Menlo"/>
              </a:rPr>
              <a:t>         "The second is a refund hold.",</a:t>
            </a:r>
          </a:p>
          <a:p>
            <a:pPr algn="l">
              <a:lnSpc>
                <a:spcPct val="100000"/>
              </a:lnSpc>
            </a:pPr>
            <a:r>
              <a:rPr sz="1600" i="0" b="0">
                <a:solidFill>
                  <a:srgbClr val="E2E8F0"/>
                </a:solidFill>
                <a:latin typeface="Menlo"/>
              </a:rPr>
              <a:t>         "It clears in five days."])</a:t>
            </a:r>
          </a:p>
          <a:p>
            <a:pPr algn="l">
              <a:lnSpc>
                <a:spcPct val="100000"/>
              </a:lnSpc>
            </a:pPr>
            <a:r>
              <a:rPr sz="1600" i="0" b="0">
                <a:solidFill>
                  <a:srgbClr val="E2E8F0"/>
                </a:solidFill>
                <a:latin typeface="Menlo"/>
              </a:rPr>
              <a:t>t.tick()</a:t>
            </a:r>
          </a:p>
          <a:p>
            <a:pPr algn="l">
              <a:lnSpc>
                <a:spcPct val="100000"/>
              </a:lnSpc>
            </a:pPr>
            <a:r>
              <a:rPr sz="1600" i="0" b="0">
                <a:solidFill>
                  <a:srgbClr val="E2E8F0"/>
                </a:solidFill>
                <a:latin typeface="Menlo"/>
              </a:rPr>
              <a:t>t.barge_in()   # caller talks over sentence two</a:t>
            </a:r>
          </a:p>
          <a:p>
            <a:pPr algn="l">
              <a:lnSpc>
                <a:spcPct val="100000"/>
              </a:lnSpc>
            </a:pPr>
            <a:r>
              <a:rPr sz="1600" i="0" b="0">
                <a:solidFill>
                  <a:srgbClr val="E2E8F0"/>
                </a:solidFill>
                <a:latin typeface="Menlo"/>
              </a:rPr>
              <a:t>print(t.history)</a:t>
            </a:r>
          </a:p>
          <a:p>
            <a:pPr algn="l">
              <a:lnSpc>
                <a:spcPct val="100000"/>
              </a:lnSpc>
            </a:pPr>
            <a:r>
              <a:rPr sz="1600" i="0" b="0">
                <a:solidFill>
                  <a:srgbClr val="E2E8F0"/>
                </a:solidFill>
                <a:latin typeface="Menlo"/>
              </a:rPr>
              <a:t># [{'role': 'assistant',</a:t>
            </a:r>
          </a:p>
          <a:p>
            <a:pPr algn="l">
              <a:lnSpc>
                <a:spcPct val="100000"/>
              </a:lnSpc>
            </a:pPr>
            <a:r>
              <a:rPr sz="1600" i="0" b="0">
                <a:solidFill>
                  <a:srgbClr val="E2E8F0"/>
                </a:solidFill>
                <a:latin typeface="Menlo"/>
              </a:rPr>
              <a:t>#   'text': 'I can see two charges on April.',</a:t>
            </a:r>
          </a:p>
          <a:p>
            <a:pPr algn="l">
              <a:lnSpc>
                <a:spcPct val="100000"/>
              </a:lnSpc>
            </a:pPr>
            <a:r>
              <a:rPr sz="1600" i="0" b="0">
                <a:solidFill>
                  <a:srgbClr val="E2E8F0"/>
                </a:solidFill>
                <a:latin typeface="Menlo"/>
              </a:rPr>
              <a:t>#   'interrupted': True}]</a:t>
            </a:r>
          </a:p>
        </p:txBody>
      </p:sp>
      <p:sp>
        <p:nvSpPr>
          <p:cNvPr id="16" name="Rectangle 15"/>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Stop playback and discard unspoken text</a:t>
            </a:r>
          </a:p>
        </p:txBody>
      </p:sp>
      <p:sp>
        <p:nvSpPr>
          <p:cNvPr id="18" name="Rectangle 17"/>
          <p:cNvSpPr/>
          <p:nvPr/>
        </p:nvSpPr>
        <p:spPr>
          <a:xfrm>
            <a:off x="7580193" y="234543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Flag the interruption so the model can see it</a:t>
            </a:r>
          </a:p>
        </p:txBody>
      </p:sp>
      <p:sp>
        <p:nvSpPr>
          <p:cNvPr id="20" name="Rectangle 19"/>
          <p:cNvSpPr/>
          <p:nvPr/>
        </p:nvSpPr>
        <p:spPr>
          <a:xfrm>
            <a:off x="7580193" y="308610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small state machine can be regression tested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WER can pass the worst possible error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Measuring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customer who phones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notes/04-speech-and-voice-agents.md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Read back any value you will act on, and confirm it before calling the tool.</a:t>
            </a:r>
          </a:p>
        </p:txBody>
      </p:sp>
      <p:sp>
        <p:nvSpPr>
          <p:cNvPr id="13" name="Rectangle 12"/>
          <p:cNvSpPr/>
          <p:nvPr/>
        </p:nvSpPr>
        <p:spPr>
          <a:xfrm>
            <a:off x="502920" y="1568704"/>
            <a:ext cx="106680" cy="106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147218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Name the normaliser.</a:t>
            </a:r>
            <a:r>
              <a:rPr sz="2000" i="0" b="0">
                <a:solidFill>
                  <a:srgbClr val="1E293B"/>
                </a:solidFill>
                <a:latin typeface="Helvetica Neue"/>
              </a:rPr>
              <a:t> Whisper's authors saw it drop WER by up to 50% on some datasets</a:t>
            </a:r>
          </a:p>
        </p:txBody>
      </p:sp>
      <p:sp>
        <p:nvSpPr>
          <p:cNvPr id="15" name="Rectangle 14"/>
          <p:cNvSpPr/>
          <p:nvPr/>
        </p:nvSpPr>
        <p:spPr>
          <a:xfrm>
            <a:off x="502920" y="2391664"/>
            <a:ext cx="106680" cy="106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29514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Wrong amount, about 10% WER.</a:t>
            </a:r>
            <a:r>
              <a:rPr sz="2000" i="0" b="0">
                <a:solidFill>
                  <a:srgbClr val="1E293B"/>
                </a:solidFill>
                <a:latin typeface="Helvetica Neue"/>
              </a:rPr>
              <a:t> It may pass a threshold, and it is the worst error here</a:t>
            </a:r>
          </a:p>
        </p:txBody>
      </p:sp>
      <p:sp>
        <p:nvSpPr>
          <p:cNvPr id="17" name="Rectangle 16"/>
          <p:cNvSpPr/>
          <p:nvPr/>
        </p:nvSpPr>
        <p:spPr>
          <a:xfrm>
            <a:off x="502920" y="3214624"/>
            <a:ext cx="106680" cy="106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1810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Add critical-term recall</a:t>
            </a:r>
            <a:r>
              <a:rPr sz="2000" i="0" b="0">
                <a:solidFill>
                  <a:srgbClr val="1E293B"/>
                </a:solidFill>
                <a:latin typeface="Helvetica Neue"/>
              </a:rPr>
              <a:t> for amounts, dates, names and account numbers</a:t>
            </a:r>
          </a:p>
        </p:txBody>
      </p:sp>
      <p:sp>
        <p:nvSpPr>
          <p:cNvPr id="19" name="Rectangle 18"/>
          <p:cNvSpPr/>
          <p:nvPr/>
        </p:nvSpPr>
        <p:spPr>
          <a:xfrm>
            <a:off x="502920" y="4037584"/>
            <a:ext cx="106680" cy="106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4106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Report per group</a:t>
            </a:r>
            <a:r>
              <a:rPr sz="2000" i="0" b="0">
                <a:solidFill>
                  <a:srgbClr val="1E293B"/>
                </a:solidFill>
                <a:latin typeface="Helvetica Neue"/>
              </a:rPr>
              <a:t> across accents, handsets and noise</a:t>
            </a:r>
          </a:p>
        </p:txBody>
      </p:sp>
      <p:sp>
        <p:nvSpPr>
          <p:cNvPr id="21" name="Rectangle 20"/>
          <p:cNvSpPr/>
          <p:nvPr/>
        </p:nvSpPr>
        <p:spPr>
          <a:xfrm>
            <a:off x="7132758" y="1472184"/>
            <a:ext cx="4556016"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758" y="1472184"/>
            <a:ext cx="4556016"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Clean audio flatters</a:t>
            </a:r>
          </a:p>
        </p:txBody>
      </p:sp>
      <p:sp>
        <p:nvSpPr>
          <p:cNvPr id="24" name="TextBox 23"/>
          <p:cNvSpPr txBox="1"/>
          <p:nvPr/>
        </p:nvSpPr>
        <p:spPr>
          <a:xfrm>
            <a:off x="7361358" y="2231136"/>
            <a:ext cx="4053096" cy="307238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Conformer reached 2.1% WER on clean LibriSpeech, and Whisper an unremarkable 2.5. Whisper held up far better on CHiME-6 and TED talks. Your callers aren't reading books.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5</a:t>
            </a:r>
          </a:p>
        </p:txBody>
      </p:sp>
      <p:sp>
        <p:nvSpPr>
          <p:cNvPr id="4" name="TextBox 3"/>
          <p:cNvSpPr txBox="1"/>
          <p:nvPr/>
        </p:nvSpPr>
        <p:spPr>
          <a:xfrm>
            <a:off x="822960" y="1965960"/>
            <a:ext cx="5486400" cy="26974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picture nobody can reproduce</a:t>
            </a:r>
          </a:p>
        </p:txBody>
      </p:sp>
      <p:sp>
        <p:nvSpPr>
          <p:cNvPr id="5" name="TextBox 4"/>
          <p:cNvSpPr txBox="1"/>
          <p:nvPr/>
        </p:nvSpPr>
        <p:spPr>
          <a:xfrm>
            <a:off x="822960" y="47548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Undoing noise · Samplers · Other families · Controls · Provenance</a:t>
            </a:r>
          </a:p>
        </p:txBody>
      </p:sp>
      <p:cxnSp>
        <p:nvCxnSpPr>
          <p:cNvPr id="6" name="Connector 5"/>
          <p:cNvCxnSpPr/>
          <p:nvPr/>
        </p:nvCxnSpPr>
        <p:spPr>
          <a:xfrm>
            <a:off x="6446520" y="2349500"/>
            <a:ext cx="0" cy="215900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349500"/>
            <a:ext cx="4693615" cy="234188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Why can't we make the same picture twice?</a:t>
            </a:r>
          </a:p>
          <a:p>
            <a:pPr algn="l">
              <a:lnSpc>
                <a:spcPct val="100000"/>
              </a:lnSpc>
              <a:spcBef>
                <a:spcPts val="1189"/>
              </a:spcBef>
            </a:pPr>
            <a:r>
              <a:rPr sz="1700" i="0" b="0">
                <a:solidFill>
                  <a:srgbClr val="CBD5E1"/>
                </a:solidFill>
                <a:latin typeface="Helvetica Neue"/>
              </a:rPr>
              <a:t>The sampler sets how few steps you can use</a:t>
            </a:r>
          </a:p>
          <a:p>
            <a:pPr algn="l">
              <a:lnSpc>
                <a:spcPct val="100000"/>
              </a:lnSpc>
              <a:spcBef>
                <a:spcPts val="1189"/>
              </a:spcBef>
            </a:pPr>
            <a:r>
              <a:rPr sz="1700" i="0" b="0">
                <a:solidFill>
                  <a:srgbClr val="CBD5E1"/>
                </a:solidFill>
                <a:latin typeface="Helvetica Neue"/>
              </a:rPr>
              <a:t>Not every generator is a diffusion model</a:t>
            </a:r>
          </a:p>
          <a:p>
            <a:pPr algn="l">
              <a:lnSpc>
                <a:spcPct val="100000"/>
              </a:lnSpc>
              <a:spcBef>
                <a:spcPts val="1189"/>
              </a:spcBef>
            </a:pPr>
            <a:r>
              <a:rPr sz="1700" i="0" b="0">
                <a:solidFill>
                  <a:srgbClr val="CBD5E1"/>
                </a:solidFill>
                <a:latin typeface="Helvetica Neue"/>
              </a:rPr>
              <a:t>Controls to set and to record</a:t>
            </a:r>
          </a:p>
          <a:p>
            <a:pPr algn="l">
              <a:lnSpc>
                <a:spcPct val="100000"/>
              </a:lnSpc>
              <a:spcBef>
                <a:spcPts val="1189"/>
              </a:spcBef>
            </a:pPr>
            <a:r>
              <a:rPr sz="1700" i="0" b="0">
                <a:solidFill>
                  <a:srgbClr val="CBD5E1"/>
                </a:solidFill>
                <a:latin typeface="Helvetica Neue"/>
              </a:rPr>
              <a:t>No record, no reproducible image</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Why can't we make the same picture twice?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The picture nobody can reproduce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notes/06-generating-images-and-video.md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10" name="Rectangle 9"/>
          <p:cNvSpPr/>
          <p:nvPr/>
        </p:nvSpPr>
        <p:spPr>
          <a:xfrm>
            <a:off x="777240" y="2363724"/>
            <a:ext cx="109728" cy="296265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36372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An image model is a sampler you steer with a handful of numbers. Nobody recorded the numbers, and the model version moved.</a:t>
            </a:r>
          </a:p>
        </p:txBody>
      </p:sp>
      <p:sp>
        <p:nvSpPr>
          <p:cNvPr id="12" name="TextBox 11"/>
          <p:cNvSpPr txBox="1"/>
          <p:nvPr/>
        </p:nvSpPr>
        <p:spPr>
          <a:xfrm>
            <a:off x="1234440" y="491490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Pin the seed, the sampler and the guidance scale, or you can't reproduce an image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The sampler sets how few steps you can use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The picture nobody can reproduce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notes/05-how-image-generators-work.md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Same trained CIFAR-10 model, DDIM paper Table 1. Lower FID is better.</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Error stays low across a wide range of steps, then rises sharply at very few.</a:t>
            </a:r>
          </a:p>
        </p:txBody>
      </p:sp>
      <p:graphicFrame>
        <p:nvGraphicFramePr>
          <p:cNvPr id="14" name="Table 13"/>
          <p:cNvGraphicFramePr>
            <a:graphicFrameLocks noGrp="1"/>
          </p:cNvGraphicFramePr>
          <p:nvPr/>
        </p:nvGraphicFramePr>
        <p:xfrm>
          <a:off x="502920" y="1985772"/>
          <a:ext cx="11185854" cy="2026920"/>
        </p:xfrm>
        <a:graphic>
          <a:graphicData uri="http://schemas.openxmlformats.org/drawingml/2006/table">
            <a:tbl>
              <a:tblPr firstRow="1" bandRow="1">
                <a:tableStyleId>{5940675A-B579-460E-94D1-54222C63F5DA}</a:tableStyleId>
              </a:tblPr>
              <a:tblGrid>
                <a:gridCol w="6214364"/>
                <a:gridCol w="2485745"/>
                <a:gridCol w="2485745"/>
              </a:tblGrid>
              <a:tr h="405384">
                <a:tc>
                  <a:txBody>
                    <a:bodyPr wrap="square"/>
                    <a:lstStyle/>
                    <a:p>
                      <a:pPr>
                        <a:lnSpc>
                          <a:spcPct val="100000"/>
                        </a:lnSpc>
                      </a:pPr>
                      <a:r>
                        <a:rPr sz="1700" i="0" b="1">
                          <a:solidFill>
                            <a:srgbClr val="FFFFFF"/>
                          </a:solidFill>
                          <a:latin typeface="Helvetica Neue"/>
                        </a:rPr>
                        <a:t>Sampler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Steps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FID</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DDPM sampler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50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32.72</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DDIM</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13.36</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DDIM</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50</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4.67</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DDIM</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1,000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4.04</a:t>
                      </a:r>
                    </a:p>
                  </a:txBody>
                  <a:tcPr marL="109728" marR="109728" marT="54864" marB="54864" anchor="ctr">
                    <a:solidFill>
                      <a:srgbClr val="F8FAFC"/>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Not every generator is a diffusion model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families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The picture nobody can reproduce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notes/05-how-image-generators-work.md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change aimed at generation can harm understanding, so test both.</a:t>
            </a:r>
          </a:p>
        </p:txBody>
      </p:sp>
      <p:sp>
        <p:nvSpPr>
          <p:cNvPr id="13" name="Rectangle 12"/>
          <p:cNvSpPr/>
          <p:nvPr/>
        </p:nvSpPr>
        <p:spPr>
          <a:xfrm>
            <a:off x="448056" y="1417320"/>
            <a:ext cx="6261948" cy="269279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u-janus-fig2.png"/>
          <p:cNvPicPr>
            <a:picLocks noChangeAspect="1"/>
          </p:cNvPicPr>
          <p:nvPr/>
        </p:nvPicPr>
        <p:blipFill>
          <a:blip r:embed="rId2"/>
          <a:stretch>
            <a:fillRect/>
          </a:stretch>
        </p:blipFill>
        <p:spPr>
          <a:xfrm>
            <a:off x="502920" y="1472184"/>
            <a:ext cx="6152220" cy="2583066"/>
          </a:xfrm>
          <a:prstGeom prst="rect">
            <a:avLst/>
          </a:prstGeom>
        </p:spPr>
      </p:pic>
      <p:sp>
        <p:nvSpPr>
          <p:cNvPr id="15" name="TextBox 14"/>
          <p:cNvSpPr txBox="1"/>
          <p:nvPr/>
        </p:nvSpPr>
        <p:spPr>
          <a:xfrm>
            <a:off x="502920" y="419241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Janus: separate understanding and generation encoders feed one transformer. Wu et al. (2024), Fig. 2.</a:t>
            </a:r>
          </a:p>
        </p:txBody>
      </p:sp>
      <p:sp>
        <p:nvSpPr>
          <p:cNvPr id="16" name="Rectangle 15"/>
          <p:cNvSpPr/>
          <p:nvPr/>
        </p:nvSpPr>
        <p:spPr>
          <a:xfrm>
            <a:off x="7020900" y="155905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Sharing one tokenizer dropped POPE from 87.0 to 60.1</a:t>
            </a:r>
          </a:p>
        </p:txBody>
      </p:sp>
      <p:sp>
        <p:nvSpPr>
          <p:cNvPr id="18" name="Rectangle 17"/>
          <p:cNvSpPr/>
          <p:nvPr/>
        </p:nvSpPr>
        <p:spPr>
          <a:xfrm>
            <a:off x="7020900" y="2299716"/>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GANs and consistency models trade quality for speed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Controls to set and to record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In production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The picture nobody can reproduce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notes/06-generating-images-and-video.md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Log every control with every image, because a hosted model can be withdrawn.</a:t>
            </a:r>
          </a:p>
        </p:txBody>
      </p:sp>
      <p:sp>
        <p:nvSpPr>
          <p:cNvPr id="13" name="Rectangle 12"/>
          <p:cNvSpPr/>
          <p:nvPr/>
        </p:nvSpPr>
        <p:spPr>
          <a:xfrm>
            <a:off x="502920" y="1472184"/>
            <a:ext cx="2590723" cy="31851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31851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Seed</a:t>
            </a:r>
          </a:p>
        </p:txBody>
      </p:sp>
      <p:sp>
        <p:nvSpPr>
          <p:cNvPr id="16" name="TextBox 15"/>
          <p:cNvSpPr txBox="1"/>
          <p:nvPr/>
        </p:nvSpPr>
        <p:spPr>
          <a:xfrm>
            <a:off x="777240" y="2087880"/>
            <a:ext cx="2087803" cy="2386584"/>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Fixes the starting noise. Same seed, settings and model give the same image.</a:t>
            </a:r>
          </a:p>
        </p:txBody>
      </p:sp>
      <p:sp>
        <p:nvSpPr>
          <p:cNvPr id="17" name="Rectangle 16"/>
          <p:cNvSpPr/>
          <p:nvPr/>
        </p:nvSpPr>
        <p:spPr>
          <a:xfrm>
            <a:off x="3367963" y="1472184"/>
            <a:ext cx="2590723" cy="31851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67963" y="1472184"/>
            <a:ext cx="82296" cy="318516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Steps and sampler</a:t>
            </a:r>
          </a:p>
        </p:txBody>
      </p:sp>
      <p:sp>
        <p:nvSpPr>
          <p:cNvPr id="20" name="TextBox 19"/>
          <p:cNvSpPr txBox="1"/>
          <p:nvPr/>
        </p:nvSpPr>
        <p:spPr>
          <a:xfrm>
            <a:off x="3642283" y="2087880"/>
            <a:ext cx="2087803" cy="2386584"/>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20 to 30 steps for most samplers. Ancestral samplers never converge on one image.</a:t>
            </a:r>
          </a:p>
        </p:txBody>
      </p:sp>
      <p:sp>
        <p:nvSpPr>
          <p:cNvPr id="21" name="Rectangle 20"/>
          <p:cNvSpPr/>
          <p:nvPr/>
        </p:nvSpPr>
        <p:spPr>
          <a:xfrm>
            <a:off x="6233007" y="1472184"/>
            <a:ext cx="2590723" cy="31851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3007" y="1472184"/>
            <a:ext cx="82296" cy="318516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Guidance scale</a:t>
            </a:r>
          </a:p>
        </p:txBody>
      </p:sp>
      <p:sp>
        <p:nvSpPr>
          <p:cNvPr id="24" name="TextBox 23"/>
          <p:cNvSpPr txBox="1"/>
          <p:nvPr/>
        </p:nvSpPr>
        <p:spPr>
          <a:xfrm>
            <a:off x="6507327" y="2087880"/>
            <a:ext cx="2087803" cy="2386584"/>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About 7 is balanced. Higher adheres more, with less variety and harsher colour.</a:t>
            </a:r>
          </a:p>
        </p:txBody>
      </p:sp>
      <p:sp>
        <p:nvSpPr>
          <p:cNvPr id="25" name="Rectangle 24"/>
          <p:cNvSpPr/>
          <p:nvPr/>
        </p:nvSpPr>
        <p:spPr>
          <a:xfrm>
            <a:off x="9098051" y="1472184"/>
            <a:ext cx="2590723" cy="31851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051" y="1472184"/>
            <a:ext cx="82296" cy="318516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Denoising strength</a:t>
            </a:r>
          </a:p>
        </p:txBody>
      </p:sp>
      <p:sp>
        <p:nvSpPr>
          <p:cNvPr id="28" name="TextBox 27"/>
          <p:cNvSpPr txBox="1"/>
          <p:nvPr/>
        </p:nvSpPr>
        <p:spPr>
          <a:xfrm>
            <a:off x="9372371" y="2087880"/>
            <a:ext cx="2087803" cy="2386584"/>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0.2 to 0.4 for small fixes, and up to 0.8 to replace an element.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No record, no reproducible image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The picture nobody can reproduce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notes/06-generating-images-and-video.md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When someone later asks for a variation, it is too late to find out the record is incomplete.</a:t>
            </a:r>
          </a:p>
        </p:txBody>
      </p:sp>
      <p:sp>
        <p:nvSpPr>
          <p:cNvPr id="13" name="Rounded Rectangle 12"/>
          <p:cNvSpPr/>
          <p:nvPr/>
        </p:nvSpPr>
        <p:spPr>
          <a:xfrm>
            <a:off x="502920" y="1472184"/>
            <a:ext cx="6711513" cy="361187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29717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reproducibility_problems(rec):</a:t>
            </a:r>
          </a:p>
          <a:p>
            <a:pPr algn="l">
              <a:lnSpc>
                <a:spcPct val="100000"/>
              </a:lnSpc>
            </a:pPr>
            <a:r>
              <a:rPr sz="1600" i="0" b="0">
                <a:solidFill>
                  <a:srgbClr val="E2E8F0"/>
                </a:solidFill>
                <a:latin typeface="Menlo"/>
              </a:rPr>
              <a:t>    problems = [f"missing {k}" for k in PIXEL_FIELDS</a:t>
            </a:r>
          </a:p>
          <a:p>
            <a:pPr algn="l">
              <a:lnSpc>
                <a:spcPct val="100000"/>
              </a:lnSpc>
            </a:pPr>
            <a:r>
              <a:rPr sz="1600" i="0" b="0">
                <a:solidFill>
                  <a:srgbClr val="E2E8F0"/>
                </a:solidFill>
                <a:latin typeface="Menlo"/>
              </a:rPr>
              <a:t>                if rec.get(k) in (None, "")]</a:t>
            </a:r>
          </a:p>
          <a:p>
            <a:pPr algn="l">
              <a:lnSpc>
                <a:spcPct val="100000"/>
              </a:lnSpc>
            </a:pPr>
            <a:r>
              <a:rPr sz="1600" i="0" b="0">
                <a:solidFill>
                  <a:srgbClr val="E2E8F0"/>
                </a:solidFill>
                <a:latin typeface="Menlo"/>
              </a:rPr>
              <a:t>    if rec.get("sampler", "").lower() in ANCESTRAL:</a:t>
            </a:r>
          </a:p>
          <a:p>
            <a:pPr algn="l">
              <a:lnSpc>
                <a:spcPct val="100000"/>
              </a:lnSpc>
            </a:pPr>
            <a:r>
              <a:rPr sz="1600" i="0" b="0">
                <a:solidFill>
                  <a:srgbClr val="E2E8F0"/>
                </a:solidFill>
                <a:latin typeface="Menlo"/>
              </a:rPr>
              <a:t>        problems.append("ancestral sampler")</a:t>
            </a:r>
          </a:p>
          <a:p>
            <a:pPr algn="l">
              <a:lnSpc>
                <a:spcPct val="100000"/>
              </a:lnSpc>
            </a:pPr>
            <a:r>
              <a:rPr sz="1600" i="0" b="0">
                <a:solidFill>
                  <a:srgbClr val="E2E8F0"/>
                </a:solidFill>
                <a:latin typeface="Menlo"/>
              </a:rPr>
              <a:t>    rewrite = rec.get("rewritten_prompt")</a:t>
            </a:r>
          </a:p>
          <a:p>
            <a:pPr algn="l">
              <a:lnSpc>
                <a:spcPct val="100000"/>
              </a:lnSpc>
            </a:pPr>
            <a:r>
              <a:rPr sz="1600" i="0" b="0">
                <a:solidFill>
                  <a:srgbClr val="E2E8F0"/>
                </a:solidFill>
                <a:latin typeface="Menlo"/>
              </a:rPr>
              <a:t>    if rewrite and rewrite != rec.get("prompt"):</a:t>
            </a:r>
          </a:p>
          <a:p>
            <a:pPr algn="l">
              <a:lnSpc>
                <a:spcPct val="100000"/>
              </a:lnSpc>
            </a:pPr>
            <a:r>
              <a:rPr sz="1600" i="0" b="0">
                <a:solidFill>
                  <a:srgbClr val="E2E8F0"/>
                </a:solidFill>
                <a:latin typeface="Menlo"/>
              </a:rPr>
              <a:t>        problems.append("hosted API rewrote it")</a:t>
            </a:r>
          </a:p>
          <a:p>
            <a:pPr algn="l">
              <a:lnSpc>
                <a:spcPct val="100000"/>
              </a:lnSpc>
            </a:pPr>
            <a:r>
              <a:rPr sz="1600" i="0" b="0">
                <a:solidFill>
                  <a:srgbClr val="E2E8F0"/>
                </a:solidFill>
                <a:latin typeface="Menlo"/>
              </a:rPr>
              <a:t>    return problems</a:t>
            </a:r>
          </a:p>
          <a:p>
            <a:pPr algn="l">
              <a:lnSpc>
                <a:spcPct val="100000"/>
              </a:lnSpc>
            </a:pPr>
            <a:r>
              <a:rPr sz="1600" i="0" b="0">
                <a:solidFill>
                  <a:srgbClr val="E2E8F0"/>
                </a:solidFill>
                <a:latin typeface="Menlo"/>
              </a:rPr>
              <a:t># no seed stored: ['missing seed']</a:t>
            </a:r>
          </a:p>
        </p:txBody>
      </p:sp>
      <p:sp>
        <p:nvSpPr>
          <p:cNvPr id="16" name="Rectangle 15"/>
          <p:cNvSpPr/>
          <p:nvPr/>
        </p:nvSpPr>
        <p:spPr>
          <a:xfrm>
            <a:off x="7580193" y="160477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Store a sidecar next to every image</a:t>
            </a:r>
          </a:p>
        </p:txBody>
      </p:sp>
      <p:sp>
        <p:nvSpPr>
          <p:cNvPr id="18" name="Rectangle 17"/>
          <p:cNvSpPr/>
          <p:nvPr/>
        </p:nvSpPr>
        <p:spPr>
          <a:xfrm>
            <a:off x="7580193" y="2345436"/>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Hash the fields that affect pixels</a:t>
            </a:r>
          </a:p>
        </p:txBody>
      </p:sp>
      <p:sp>
        <p:nvSpPr>
          <p:cNvPr id="20" name="Rectangle 19"/>
          <p:cNvSpPr/>
          <p:nvPr/>
        </p:nvSpPr>
        <p:spPr>
          <a:xfrm>
            <a:off x="7580193" y="3086100"/>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Check at store time, not at request time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166534"/>
                </a:solidFill>
                <a:latin typeface="Helvetica Neue"/>
              </a:rPr>
              <a:t>PART 6</a:t>
            </a:r>
          </a:p>
        </p:txBody>
      </p:sp>
      <p:sp>
        <p:nvSpPr>
          <p:cNvPr id="4" name="TextBox 3"/>
          <p:cNvSpPr txBox="1"/>
          <p:nvPr/>
        </p:nvSpPr>
        <p:spPr>
          <a:xfrm>
            <a:off x="822960" y="1965960"/>
            <a:ext cx="5486400" cy="26974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score that rewarded guessing</a:t>
            </a:r>
          </a:p>
        </p:txBody>
      </p:sp>
      <p:sp>
        <p:nvSpPr>
          <p:cNvPr id="5" name="TextBox 4"/>
          <p:cNvSpPr txBox="1"/>
          <p:nvPr/>
        </p:nvSpPr>
        <p:spPr>
          <a:xfrm>
            <a:off x="822960" y="47548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Shortcuts · Paired images · CircularEval · POPE · Scorecard</a:t>
            </a:r>
          </a:p>
        </p:txBody>
      </p:sp>
      <p:cxnSp>
        <p:nvCxnSpPr>
          <p:cNvPr id="6" name="Connector 5"/>
          <p:cNvCxnSpPr/>
          <p:nvPr/>
        </p:nvCxnSpPr>
        <p:spPr>
          <a:xfrm>
            <a:off x="6446520" y="2684145"/>
            <a:ext cx="0" cy="148971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684145"/>
            <a:ext cx="4693615" cy="167259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Why does a 90% score still fail users?</a:t>
            </a:r>
          </a:p>
          <a:p>
            <a:pPr algn="l">
              <a:lnSpc>
                <a:spcPct val="100000"/>
              </a:lnSpc>
              <a:spcBef>
                <a:spcPts val="1189"/>
              </a:spcBef>
            </a:pPr>
            <a:r>
              <a:rPr sz="1700" i="0" b="0">
                <a:solidFill>
                  <a:srgbClr val="CBD5E1"/>
                </a:solidFill>
                <a:latin typeface="Helvetica Neue"/>
              </a:rPr>
              <a:t>Three tests against three shortcuts</a:t>
            </a:r>
          </a:p>
          <a:p>
            <a:pPr algn="l">
              <a:lnSpc>
                <a:spcPct val="100000"/>
              </a:lnSpc>
              <a:spcBef>
                <a:spcPts val="1189"/>
              </a:spcBef>
            </a:pPr>
            <a:r>
              <a:rPr sz="1700" i="0" b="0">
                <a:solidFill>
                  <a:srgbClr val="CBD5E1"/>
                </a:solidFill>
                <a:latin typeface="Helvetica Neue"/>
              </a:rPr>
              <a:t>CircularEval exposes a biased model</a:t>
            </a:r>
          </a:p>
          <a:p>
            <a:pPr algn="l">
              <a:lnSpc>
                <a:spcPct val="100000"/>
              </a:lnSpc>
              <a:spcBef>
                <a:spcPts val="1189"/>
              </a:spcBef>
            </a:pPr>
            <a:r>
              <a:rPr sz="1700" i="0" b="0">
                <a:solidFill>
                  <a:srgbClr val="CBD5E1"/>
                </a:solidFill>
                <a:latin typeface="Helvetica Neue"/>
              </a:rPr>
              <a:t>One scorecard, split by stage</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Why does a 90% score still fail users?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The score that rewarded guessing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notes/07-evaluating-multimodal-systems.md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33</a:t>
            </a:r>
          </a:p>
        </p:txBody>
      </p:sp>
      <p:sp>
        <p:nvSpPr>
          <p:cNvPr id="10" name="Rectangle 9"/>
          <p:cNvSpPr/>
          <p:nvPr/>
        </p:nvSpPr>
        <p:spPr>
          <a:xfrm>
            <a:off x="777240" y="2363724"/>
            <a:ext cx="109728" cy="296265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36372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vision model can score well without looking at the image. Multimodal evaluation is the craft of building tests in which the shortcut fails.</a:t>
            </a:r>
          </a:p>
        </p:txBody>
      </p:sp>
      <p:sp>
        <p:nvSpPr>
          <p:cNvPr id="12" name="TextBox 11"/>
          <p:cNvSpPr txBox="1"/>
          <p:nvPr/>
        </p:nvSpPr>
        <p:spPr>
          <a:xfrm>
            <a:off x="1234440" y="491490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On balanced VQA pairs, yes/no accuracy dropped about 10.8% for MCB and 12.4% for HieCoAtt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Three tests against three shortcuts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designs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The score that rewarded guessing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notes/07-evaluating-multimodal-systems.md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34</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Each design removes one way of scoring without looking.</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random negative tests very little, so choose absent objects that a real invoice could have.</a:t>
            </a:r>
          </a:p>
        </p:txBody>
      </p:sp>
      <p:sp>
        <p:nvSpPr>
          <p:cNvPr id="14" name="Rounded Rectangle 13"/>
          <p:cNvSpPr/>
          <p:nvPr/>
        </p:nvSpPr>
        <p:spPr>
          <a:xfrm>
            <a:off x="2026767" y="2077212"/>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3927" y="2077212"/>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Paired images</a:t>
            </a:r>
          </a:p>
          <a:p>
            <a:pPr algn="ctr">
              <a:lnSpc>
                <a:spcPct val="110000"/>
              </a:lnSpc>
            </a:pPr>
            <a:r>
              <a:rPr sz="1300" i="0" b="0">
                <a:solidFill>
                  <a:srgbClr val="E8F4F8"/>
                </a:solidFill>
                <a:latin typeface="Helvetica Neue"/>
              </a:rPr>
              <a:t>catches language priors</a:t>
            </a:r>
          </a:p>
        </p:txBody>
      </p:sp>
      <p:cxnSp>
        <p:nvCxnSpPr>
          <p:cNvPr id="16" name="Connector 15"/>
          <p:cNvCxnSpPr/>
          <p:nvPr/>
        </p:nvCxnSpPr>
        <p:spPr>
          <a:xfrm>
            <a:off x="4459071" y="2570988"/>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907127" y="2077212"/>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44287" y="2077212"/>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Rotated options</a:t>
            </a:r>
          </a:p>
          <a:p>
            <a:pPr algn="ctr">
              <a:lnSpc>
                <a:spcPct val="110000"/>
              </a:lnSpc>
            </a:pPr>
            <a:r>
              <a:rPr sz="1300" i="0" b="0">
                <a:solidFill>
                  <a:srgbClr val="E8F4F8"/>
                </a:solidFill>
                <a:latin typeface="Helvetica Neue"/>
              </a:rPr>
              <a:t>catches position bias</a:t>
            </a:r>
          </a:p>
        </p:txBody>
      </p:sp>
      <p:cxnSp>
        <p:nvCxnSpPr>
          <p:cNvPr id="19" name="Connector 18"/>
          <p:cNvCxnSpPr/>
          <p:nvPr/>
        </p:nvCxnSpPr>
        <p:spPr>
          <a:xfrm>
            <a:off x="7339431" y="2570988"/>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87487" y="2077212"/>
            <a:ext cx="2377440" cy="987552"/>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24647" y="2077212"/>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Absent objects</a:t>
            </a:r>
          </a:p>
          <a:p>
            <a:pPr algn="ctr">
              <a:lnSpc>
                <a:spcPct val="110000"/>
              </a:lnSpc>
            </a:pPr>
            <a:r>
              <a:rPr sz="1300" i="0" b="0">
                <a:solidFill>
                  <a:srgbClr val="E8F4F8"/>
                </a:solidFill>
                <a:latin typeface="Helvetica Neue"/>
              </a:rPr>
              <a:t>catches yes-bias</a:t>
            </a:r>
          </a:p>
        </p:txBody>
      </p:sp>
      <p:sp>
        <p:nvSpPr>
          <p:cNvPr id="22" name="TextBox 21"/>
          <p:cNvSpPr txBox="1"/>
          <p:nvPr/>
        </p:nvSpPr>
        <p:spPr>
          <a:xfrm>
            <a:off x="502920" y="3384804"/>
            <a:ext cx="11185855" cy="2101595"/>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For invoices: edit one field, rotate the choices, and ask about a plausible stamp or VAT number that isn't there.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CircularEval exposes a biased model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The score that rewarded guessing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notes/07-evaluating-multimodal-systems.md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Report both scores, since even a competent model loses some under rotation.</a:t>
            </a:r>
          </a:p>
        </p:txBody>
      </p:sp>
      <p:sp>
        <p:nvSpPr>
          <p:cNvPr id="13" name="Rounded Rectangle 12"/>
          <p:cNvSpPr/>
          <p:nvPr/>
        </p:nvSpPr>
        <p:spPr>
          <a:xfrm>
            <a:off x="502920" y="1472184"/>
            <a:ext cx="6711513" cy="36576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3017520"/>
          </a:xfrm>
          <a:prstGeom prst="rect">
            <a:avLst/>
          </a:prstGeom>
          <a:noFill/>
        </p:spPr>
        <p:txBody>
          <a:bodyPr wrap="square" lIns="0" rIns="0" tIns="0" bIns="0" anchor="t">
            <a:noAutofit/>
          </a:bodyPr>
          <a:lstStyle/>
          <a:p>
            <a:pPr algn="l">
              <a:lnSpc>
                <a:spcPct val="100000"/>
              </a:lnSpc>
            </a:pPr>
            <a:r>
              <a:rPr sz="1500" i="0" b="0">
                <a:solidFill>
                  <a:srgbClr val="E2E8F0"/>
                </a:solidFill>
                <a:latin typeface="Menlo"/>
              </a:rPr>
              <a:t>def plain_and_circular(items, model):</a:t>
            </a:r>
          </a:p>
          <a:p>
            <a:pPr algn="l">
              <a:lnSpc>
                <a:spcPct val="100000"/>
              </a:lnSpc>
            </a:pPr>
            <a:r>
              <a:rPr sz="1500" i="0" b="0">
                <a:solidFill>
                  <a:srgbClr val="E2E8F0"/>
                </a:solidFill>
                <a:latin typeface="Menlo"/>
              </a:rPr>
              <a:t>    plain = circular = 0</a:t>
            </a:r>
          </a:p>
          <a:p>
            <a:pPr algn="l">
              <a:lnSpc>
                <a:spcPct val="100000"/>
              </a:lnSpc>
            </a:pPr>
            <a:r>
              <a:rPr sz="1500" i="0" b="0">
                <a:solidFill>
                  <a:srgbClr val="E2E8F0"/>
                </a:solidFill>
                <a:latin typeface="Menlo"/>
              </a:rPr>
              <a:t>    for question, options, answer in items:</a:t>
            </a:r>
          </a:p>
          <a:p>
            <a:pPr algn="l">
              <a:lnSpc>
                <a:spcPct val="100000"/>
              </a:lnSpc>
            </a:pPr>
            <a:r>
              <a:rPr sz="1500" i="0" b="0">
                <a:solidFill>
                  <a:srgbClr val="E2E8F0"/>
                </a:solidFill>
                <a:latin typeface="Menlo"/>
              </a:rPr>
              <a:t>        results = []</a:t>
            </a:r>
          </a:p>
          <a:p>
            <a:pPr algn="l">
              <a:lnSpc>
                <a:spcPct val="100000"/>
              </a:lnSpc>
            </a:pPr>
            <a:r>
              <a:rPr sz="1500" i="0" b="0">
                <a:solidFill>
                  <a:srgbClr val="E2E8F0"/>
                </a:solidFill>
                <a:latin typeface="Menlo"/>
              </a:rPr>
              <a:t>        for shift in range(len(options)):</a:t>
            </a:r>
          </a:p>
          <a:p>
            <a:pPr algn="l">
              <a:lnSpc>
                <a:spcPct val="100000"/>
              </a:lnSpc>
            </a:pPr>
            <a:r>
              <a:rPr sz="1500" i="0" b="0">
                <a:solidFill>
                  <a:srgbClr val="E2E8F0"/>
                </a:solidFill>
                <a:latin typeface="Menlo"/>
              </a:rPr>
              <a:t>            shown = rotate(options, shift)</a:t>
            </a:r>
          </a:p>
          <a:p>
            <a:pPr algn="l">
              <a:lnSpc>
                <a:spcPct val="100000"/>
              </a:lnSpc>
            </a:pPr>
            <a:r>
              <a:rPr sz="1500" i="0" b="0">
                <a:solidFill>
                  <a:srgbClr val="E2E8F0"/>
                </a:solidFill>
                <a:latin typeface="Menlo"/>
              </a:rPr>
              <a:t>            pick = model(question, shown)</a:t>
            </a:r>
          </a:p>
          <a:p>
            <a:pPr algn="l">
              <a:lnSpc>
                <a:spcPct val="100000"/>
              </a:lnSpc>
            </a:pPr>
            <a:r>
              <a:rPr sz="1500" i="0" b="0">
                <a:solidFill>
                  <a:srgbClr val="E2E8F0"/>
                </a:solidFill>
                <a:latin typeface="Menlo"/>
              </a:rPr>
              <a:t>            results.append(shown[pick] == answer)</a:t>
            </a:r>
          </a:p>
          <a:p>
            <a:pPr algn="l">
              <a:lnSpc>
                <a:spcPct val="100000"/>
              </a:lnSpc>
            </a:pPr>
            <a:r>
              <a:rPr sz="1500" i="0" b="0">
                <a:solidFill>
                  <a:srgbClr val="E2E8F0"/>
                </a:solidFill>
                <a:latin typeface="Menlo"/>
              </a:rPr>
              <a:t>        plain += results[0]</a:t>
            </a:r>
          </a:p>
          <a:p>
            <a:pPr algn="l">
              <a:lnSpc>
                <a:spcPct val="100000"/>
              </a:lnSpc>
            </a:pPr>
            <a:r>
              <a:rPr sz="1500" i="0" b="0">
                <a:solidFill>
                  <a:srgbClr val="E2E8F0"/>
                </a:solidFill>
                <a:latin typeface="Menlo"/>
              </a:rPr>
              <a:t>        circular += all(results)</a:t>
            </a:r>
          </a:p>
          <a:p>
            <a:pPr algn="l">
              <a:lnSpc>
                <a:spcPct val="100000"/>
              </a:lnSpc>
            </a:pPr>
            <a:r>
              <a:rPr sz="1500" i="0" b="0">
                <a:solidFill>
                  <a:srgbClr val="E2E8F0"/>
                </a:solidFill>
                <a:latin typeface="Menlo"/>
              </a:rPr>
              <a:t>    return plain / len(items), circular / len(items)</a:t>
            </a:r>
          </a:p>
          <a:p>
            <a:pPr algn="l">
              <a:lnSpc>
                <a:spcPct val="100000"/>
              </a:lnSpc>
            </a:pPr>
            <a:r>
              <a:rPr sz="1500" i="0" b="0">
                <a:solidFill>
                  <a:srgbClr val="E2E8F0"/>
                </a:solidFill>
                <a:latin typeface="Menlo"/>
              </a:rPr>
              <a:t># 90% competent     plain 0.91   circular 0.73</a:t>
            </a:r>
          </a:p>
          <a:p>
            <a:pPr algn="l">
              <a:lnSpc>
                <a:spcPct val="100000"/>
              </a:lnSpc>
            </a:pPr>
            <a:r>
              <a:rPr sz="1500" i="0" b="0">
                <a:solidFill>
                  <a:srgbClr val="E2E8F0"/>
                </a:solidFill>
                <a:latin typeface="Menlo"/>
              </a:rPr>
              <a:t># prefers option A  plain 0.44   circular 0.02</a:t>
            </a:r>
          </a:p>
        </p:txBody>
      </p:sp>
      <p:sp>
        <p:nvSpPr>
          <p:cNvPr id="16" name="Rectangle 15"/>
          <p:cNvSpPr/>
          <p:nvPr/>
        </p:nvSpPr>
        <p:spPr>
          <a:xfrm>
            <a:off x="7580193" y="1604772"/>
            <a:ext cx="96012" cy="9601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Synthetic models over 400 items</a:t>
            </a:r>
          </a:p>
        </p:txBody>
      </p:sp>
      <p:sp>
        <p:nvSpPr>
          <p:cNvPr id="18" name="Rectangle 17"/>
          <p:cNvSpPr/>
          <p:nvPr/>
        </p:nvSpPr>
        <p:spPr>
          <a:xfrm>
            <a:off x="7580193" y="2043684"/>
            <a:ext cx="96012" cy="9601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1956816"/>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OpenFlamingo v2 fell from 36.7% to 2.6% in MMBench</a:t>
            </a:r>
          </a:p>
        </p:txBody>
      </p:sp>
      <p:sp>
        <p:nvSpPr>
          <p:cNvPr id="20" name="Rectangle 19"/>
          <p:cNvSpPr/>
          <p:nvPr/>
        </p:nvSpPr>
        <p:spPr>
          <a:xfrm>
            <a:off x="7580193" y="2784348"/>
            <a:ext cx="96012" cy="9601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697479"/>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Never compare circular with plain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One scorecard, split by stage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Pulling it together</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The score that rewarded guessing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notes/07-evaluating-multimodal-systems.md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Separate scores let a regression point at the stage that caused it.</a:t>
            </a:r>
          </a:p>
        </p:txBody>
      </p:sp>
      <p:graphicFrame>
        <p:nvGraphicFramePr>
          <p:cNvPr id="13" name="Table 12"/>
          <p:cNvGraphicFramePr>
            <a:graphicFrameLocks noGrp="1"/>
          </p:cNvGraphicFramePr>
          <p:nvPr/>
        </p:nvGraphicFramePr>
        <p:xfrm>
          <a:off x="502920" y="1472184"/>
          <a:ext cx="11185855" cy="2691384"/>
        </p:xfrm>
        <a:graphic>
          <a:graphicData uri="http://schemas.openxmlformats.org/drawingml/2006/table">
            <a:tbl>
              <a:tblPr firstRow="1" bandRow="1">
                <a:tableStyleId>{5940675A-B579-460E-94D1-54222C63F5DA}</a:tableStyleId>
              </a:tblPr>
              <a:tblGrid>
                <a:gridCol w="2237171"/>
                <a:gridCol w="4474342"/>
                <a:gridCol w="4474342"/>
              </a:tblGrid>
              <a:tr h="405384">
                <a:tc>
                  <a:txBody>
                    <a:bodyPr wrap="square"/>
                    <a:lstStyle/>
                    <a:p>
                      <a:pPr>
                        <a:lnSpc>
                          <a:spcPct val="100000"/>
                        </a:lnSpc>
                      </a:pPr>
                      <a:r>
                        <a:rPr sz="1700" i="0" b="1">
                          <a:solidFill>
                            <a:srgbClr val="FFFFFF"/>
                          </a:solidFill>
                          <a:latin typeface="Helvetica Neue"/>
                        </a:rPr>
                        <a:t>Stage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Measure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Test that keeps it honest</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Image input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Accuracy by orientation and resolution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Rotated and downscaled copies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Documents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Field F1, arithmetic pass rate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Edited-field pairs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Retrieval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nDCG@5 on visual and text questions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Answers only in a chart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Reading</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Accuracy with the gold page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Gold-page gap to full system</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Speech</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WER, critical-term recall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Per accent and channel</a:t>
                      </a:r>
                    </a:p>
                  </a:txBody>
                  <a:tcPr marL="109728" marR="109728" marT="54864" marB="54864"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To keep</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Rules of thumb</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notes/07-evaluating-multimodal-systems.md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Almost nothing here raises an error, so every chapter ends with a check you must add.</a:t>
            </a:r>
          </a:p>
        </p:txBody>
      </p:sp>
      <p:sp>
        <p:nvSpPr>
          <p:cNvPr id="13" name="Rectangle 12"/>
          <p:cNvSpPr/>
          <p:nvPr/>
        </p:nvSpPr>
        <p:spPr>
          <a:xfrm>
            <a:off x="502920"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186994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Fix the input first</a:t>
            </a:r>
          </a:p>
        </p:txBody>
      </p:sp>
      <p:sp>
        <p:nvSpPr>
          <p:cNvPr id="16" name="TextBox 15"/>
          <p:cNvSpPr txBox="1"/>
          <p:nvPr/>
        </p:nvSpPr>
        <p:spPr>
          <a:xfrm>
            <a:off x="777240" y="2087880"/>
            <a:ext cx="3042818" cy="107137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Honor EXIF, crop small text, and log the pixels that reach the model.</a:t>
            </a:r>
          </a:p>
        </p:txBody>
      </p:sp>
      <p:sp>
        <p:nvSpPr>
          <p:cNvPr id="17" name="Rectangle 16"/>
          <p:cNvSpPr/>
          <p:nvPr/>
        </p:nvSpPr>
        <p:spPr>
          <a:xfrm>
            <a:off x="4322978"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22978" y="1472184"/>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Check against the document</a:t>
            </a:r>
          </a:p>
        </p:txBody>
      </p:sp>
      <p:sp>
        <p:nvSpPr>
          <p:cNvPr id="20" name="TextBox 19"/>
          <p:cNvSpPr txBox="1"/>
          <p:nvPr/>
        </p:nvSpPr>
        <p:spPr>
          <a:xfrm>
            <a:off x="4597298" y="2087880"/>
            <a:ext cx="3042818" cy="107137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Valid JSON proves nothing. Use arithmetic and a second route.</a:t>
            </a:r>
          </a:p>
        </p:txBody>
      </p:sp>
      <p:sp>
        <p:nvSpPr>
          <p:cNvPr id="21" name="Rectangle 20"/>
          <p:cNvSpPr/>
          <p:nvPr/>
        </p:nvSpPr>
        <p:spPr>
          <a:xfrm>
            <a:off x="8143036"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3036" y="1472184"/>
            <a:ext cx="82296" cy="186994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Index what holds the answer</a:t>
            </a:r>
          </a:p>
        </p:txBody>
      </p:sp>
      <p:sp>
        <p:nvSpPr>
          <p:cNvPr id="24" name="TextBox 23"/>
          <p:cNvSpPr txBox="1"/>
          <p:nvPr/>
        </p:nvSpPr>
        <p:spPr>
          <a:xfrm>
            <a:off x="8417356" y="2087880"/>
            <a:ext cx="3042818" cy="107137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Improve ingestion before embedders, and rerank with late interaction.</a:t>
            </a:r>
          </a:p>
        </p:txBody>
      </p:sp>
      <p:sp>
        <p:nvSpPr>
          <p:cNvPr id="25" name="Rectangle 24"/>
          <p:cNvSpPr/>
          <p:nvPr/>
        </p:nvSpPr>
        <p:spPr>
          <a:xfrm>
            <a:off x="502920"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616452"/>
            <a:ext cx="82296" cy="186994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Budget the milliseconds</a:t>
            </a:r>
          </a:p>
        </p:txBody>
      </p:sp>
      <p:sp>
        <p:nvSpPr>
          <p:cNvPr id="28" name="TextBox 27"/>
          <p:cNvSpPr txBox="1"/>
          <p:nvPr/>
        </p:nvSpPr>
        <p:spPr>
          <a:xfrm>
            <a:off x="777240"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Write latency per stage at p95, and commit only what was heard.</a:t>
            </a:r>
          </a:p>
        </p:txBody>
      </p:sp>
      <p:sp>
        <p:nvSpPr>
          <p:cNvPr id="29" name="Rectangle 28"/>
          <p:cNvSpPr/>
          <p:nvPr/>
        </p:nvSpPr>
        <p:spPr>
          <a:xfrm>
            <a:off x="4322978"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22978" y="3616452"/>
            <a:ext cx="82296" cy="186994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7298"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Record every control</a:t>
            </a:r>
          </a:p>
        </p:txBody>
      </p:sp>
      <p:sp>
        <p:nvSpPr>
          <p:cNvPr id="32" name="TextBox 31"/>
          <p:cNvSpPr txBox="1"/>
          <p:nvPr/>
        </p:nvSpPr>
        <p:spPr>
          <a:xfrm>
            <a:off x="4597298"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Seed, sampler, steps, guidance and model version, with each image.</a:t>
            </a:r>
          </a:p>
        </p:txBody>
      </p:sp>
      <p:sp>
        <p:nvSpPr>
          <p:cNvPr id="33" name="Rectangle 32"/>
          <p:cNvSpPr/>
          <p:nvPr/>
        </p:nvSpPr>
        <p:spPr>
          <a:xfrm>
            <a:off x="8143036"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43036" y="3616452"/>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7356"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Make the shortcut fail</a:t>
            </a:r>
          </a:p>
        </p:txBody>
      </p:sp>
      <p:sp>
        <p:nvSpPr>
          <p:cNvPr id="36" name="TextBox 35"/>
          <p:cNvSpPr txBox="1"/>
          <p:nvPr/>
        </p:nvSpPr>
        <p:spPr>
          <a:xfrm>
            <a:off x="8417356"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Paired images, rotated options, and plausible absent objects.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next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Next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Rules of thumb</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notes/07-evaluating-multimodal-systems.md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Next we treat every one of these inputs as something an attacker can write.</a:t>
            </a:r>
          </a:p>
        </p:txBody>
      </p:sp>
      <p:sp>
        <p:nvSpPr>
          <p:cNvPr id="13" name="Rectangle 12"/>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147218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Safety and security:</a:t>
            </a:r>
            <a:r>
              <a:rPr sz="2000" i="0" b="0">
                <a:solidFill>
                  <a:srgbClr val="1E293B"/>
                </a:solidFill>
                <a:latin typeface="Helvetica Neue"/>
              </a:rPr>
              <a:t> images, documents and voices as attack channels, in pillar 09</a:t>
            </a:r>
          </a:p>
        </p:txBody>
      </p:sp>
      <p:sp>
        <p:nvSpPr>
          <p:cNvPr id="15" name="Rectangle 14"/>
          <p:cNvSpPr/>
          <p:nvPr/>
        </p:nvSpPr>
        <p:spPr>
          <a:xfrm>
            <a:off x="502920" y="205638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195986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Evaluation:</a:t>
            </a:r>
            <a:r>
              <a:rPr sz="2000" i="0" b="0">
                <a:solidFill>
                  <a:srgbClr val="1E293B"/>
                </a:solidFill>
                <a:latin typeface="Helvetica Neue"/>
              </a:rPr>
              <a:t> the general methods, in pillar 06</a:t>
            </a:r>
          </a:p>
        </p:txBody>
      </p:sp>
      <p:sp>
        <p:nvSpPr>
          <p:cNvPr id="17" name="Rectangle 16"/>
          <p:cNvSpPr/>
          <p:nvPr/>
        </p:nvSpPr>
        <p:spPr>
          <a:xfrm>
            <a:off x="502920" y="25440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44754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RAG:</a:t>
            </a:r>
            <a:r>
              <a:rPr sz="2000" i="0" b="0">
                <a:solidFill>
                  <a:srgbClr val="1E293B"/>
                </a:solidFill>
                <a:latin typeface="Helvetica Neue"/>
              </a:rPr>
              <a:t> chunking, fusion and reranking for text, in generative-ai/02</a:t>
            </a:r>
          </a:p>
        </p:txBody>
      </p:sp>
      <p:sp>
        <p:nvSpPr>
          <p:cNvPr id="19" name="Rectangle 18"/>
          <p:cNvSpPr/>
          <p:nvPr/>
        </p:nvSpPr>
        <p:spPr>
          <a:xfrm>
            <a:off x="502920" y="303174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293522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Real-time agents:</a:t>
            </a:r>
            <a:r>
              <a:rPr sz="2000" i="0" b="0">
                <a:solidFill>
                  <a:srgbClr val="1E293B"/>
                </a:solidFill>
                <a:latin typeface="Helvetica Neue"/>
              </a:rPr>
              <a:t> voice and computer-use architecture, in generative-ai/07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