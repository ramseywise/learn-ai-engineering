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Pillar 4 of the AI-engineering course. prompt → context → harness → loop → graph. The harness decides where work can safely happen; the loop decides what happens next and when it stops. Four parts — the foundations, building the loop, autonomy and improvement, running it safely.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question changes from "how do I phrase this?" to "what cycle re-prompts the agent, checks it, and decides when it quits?" Osmani: replace yourself as the person who prompts the agent. A loop is dynamic, unlike a chain: feedback changes the next step.</a:t>
            </a:r>
          </a:p>
          <a:p/>
          <a:p>
            <a:r>
              <a:t>Source: notes/01-what-a-loop-is.md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source describes the same cycle. KodeKloud adds the step the others leave implicit: a pass that improves the score is committed before the next pass starts.</a:t>
            </a:r>
          </a:p>
          <a:p/>
          <a:p>
            <a:r>
              <a:t>Source: notes/01-what-a-loop-is.md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Green first: one small validated win saved before adding anything. Then add parts only when a real failure demands them. Build a loop only when the work repeats and a scorekeeper can validate it; otherwise a workflow or a good prompt is cheaper.</a:t>
            </a:r>
          </a:p>
          <a:p/>
          <a:p>
            <a:r>
              <a:t>Source: notes/01-what-a-loop-is.md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 a full harness you are still inside the loop: you read the progress file and type the next instruction. Outside it, a system you designed does trigger → discover → dispatch → verify → save. Generation becomes nearly free; judgment becomes the scarce resource.</a:t>
            </a:r>
          </a:p>
          <a:p/>
          <a:p>
            <a:r>
              <a:t>Source: notes/01-what-a-loop-is.md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Autonomy: turn-based → goal-based → time-based → proactive (note 07). A hill-climbing loop can run at autonomy rung 1 with a human approving each rewrite.</a:t>
            </a:r>
          </a:p>
          <a:p/>
          <a:p>
            <a:r>
              <a:t>Source: notes/01-what-a-loop-is.md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ML Mastery, MindStudio and Masood agree on these five. Anthropic built Claude Code around one loop and extracted the Agent SDK: the loop is the reusable object, not the prompt inside it.</a:t>
            </a:r>
          </a:p>
          <a:p/>
          <a:p>
            <a:r>
              <a:t>Source: notes/02-loop-shapes.md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line except the two model lines is yours. The save and roll-back lines come from KodeKloud and make progress a ratchet (note 09).</a:t>
            </a:r>
          </a:p>
          <a:p/>
          <a:p>
            <a:r>
              <a:t>Source: notes/02-loop-shapes.md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tool, which arguments, reflect or not, stop or not. The decision model most accurate on isolated questions solved only 69.5% of agent tasks. Same lesson as the scorekeeper.</a:t>
            </a:r>
          </a:p>
          <a:p/>
          <a:p>
            <a:r>
              <a:t>Source: notes/02-loop-shapes.md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Planning variants inside the agent loop: ReAct (adaptive, can wander), Plan-then-Act (predictable, brittle), Plan-and-Revise (the usual production compromise). For long work the plan lives in a file. Workflow → loop → graph: move right only when the task forces you to.</a:t>
            </a:r>
          </a:p>
          <a:p/>
          <a:p>
            <a:r>
              <a:t>Source: notes/02-loop-shapes.md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 loop the generator runs cheaply, over and over. The scorekeeper decides whether that motion turns into value or slop. LangChain: verification adds latency and cost; worth it when quality matters more than speed.</a:t>
            </a:r>
          </a:p>
          <a:p/>
          <a:p>
            <a:r>
              <a:t>Source: notes/03-the-scorekeeper.md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 loop can pass by faking outputs or editing the tests, the score becomes a lie. A sudden jump in score is a reason to look, not to celebrate.</a:t>
            </a:r>
          </a:p>
          <a:p/>
          <a:p>
            <a:r>
              <a:t>Source: notes/03-the-scorekeeper.md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Enforce the boundary structurally: file permissions, a hook that blocks writes, a separate repo. Instructions are suggestions; permissions are rules. Layering: deterministic checks first, a rubric graded by a separate model above that floor, humans for taste.</a:t>
            </a:r>
          </a:p>
          <a:p/>
          <a:p>
            <a:r>
              <a:t>Source: notes/03-the-scorekeeper.md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Condensed from templates/checker-prompt.md. The maker does one small change, runs build, lint and tests itself and hands over where to look hardest. The original project-07 prompt told the checker that finding nothing was failure; this version deletes that line.</a:t>
            </a:r>
          </a:p>
          <a:p/>
          <a:p>
            <a:r>
              <a:t>Source: notes/03-the-scorekeeper.md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Osmani and KodeKloud list the same six. Osmani's names: heartbeat, parallel safety, intent preservation, environmental integration, separation of concerns, the spine.</a:t>
            </a:r>
          </a:p>
          <a:p/>
          <a:p>
            <a:r>
              <a:t>Source: notes/04-building-blocks.md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access (merge, delete, manage permissions): avoid, or put a human approval in front and audit every use. Sub-agents return only the result; the main loop never sees the messy middle.</a:t>
            </a:r>
          </a:p>
          <a:p/>
          <a:p>
            <a:r>
              <a:t>Source: notes/04-building-blocks.md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the six parts fit into one pass. One small change per pass keeps every step testable and revertible.</a:t>
            </a:r>
          </a:p>
          <a:p/>
          <a:p>
            <a:r>
              <a:t>Source: notes/04-building-blocks.md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Feed each pass the smallest set of high-signal tokens the next step needs: just-in-time retrieval, compact inside the loop, offload big outputs, push heavy reads into sub-agents.</a:t>
            </a:r>
          </a:p>
          <a:p/>
          <a:p>
            <a:r>
              <a:t>Source: notes/05-long-running-loops.md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tiers: now and recent read every pass, archive only when needed. Keep memory small. Context drift: when the world changes and the notes don't, the loop acts on a stale picture with full confidence. Date every note. Template: templates/loop-state.md.</a:t>
            </a:r>
          </a:p>
          <a:p/>
          <a:p>
            <a:r>
              <a:t>Source: notes/05-long-running-loops.md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Simplified from templates/ralph.sh (the note has the full condensed version with awk comparisons and git clean). Each run starts with a fresh context; the filesystem carries everything between runs.</a:t>
            </a:r>
          </a:p>
          <a:p/>
          <a:p>
            <a:r>
              <a:t>Source: notes/05-long-running-loops.md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Compaction summarizes the transcript in place (one long session; risk of summary-of-a-summary drift). Reset clears the window and hands off through files (multi-session; anything not written down is lost).</a:t>
            </a:r>
          </a:p>
          <a:p/>
          <a:p>
            <a:r>
              <a:t>Source: notes/05-long-running-loops.md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Capability level 3: the agent becomes a component running continuously. The common mistake is /loop 10m "keep implementing the payment system": each pass starts from scratch unless it reads a state file.</a:t>
            </a:r>
          </a:p>
          <a:p/>
          <a:p>
            <a:r>
              <a:t>Source: notes/06-triggers-and-schedules.md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schedule that wakes to find nothing is the most common waste at level 3. Put a cheap deterministic pre-check in front. Oded Messer's skeptical note: much of level 3 is automation rediscovered; what's new is that the thing on the cron is nondeterministic, which is why the scorekeeper carries the weight.</a:t>
            </a:r>
          </a:p>
          <a:p/>
          <a:p>
            <a:r>
              <a:t>Source: notes/06-triggers-and-schedules.md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Rungs are cumulative. Rung 2 is pivotal: the first unattended loop; a weak verifier there becomes a weak verifier at 3 and 4 where nobody watches it fail. Time-based is the right resting place for most loops. The prerequisite for rung 4 is evidential, not technical.</a:t>
            </a:r>
          </a:p>
          <a:p/>
          <a:p>
            <a:r>
              <a:t>Source: notes/07-autonomy-ladder.md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LangChain: traces → analysis agent → rewritten harness config. The slow loop runs every 5–10 runs of the fast one and reads configuration, state and logs, and raw conversation history.</a:t>
            </a:r>
          </a:p>
          <a:p/>
          <a:p>
            <a:r>
              <a:t>Source: notes/08-self-improving-loops.md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book's full loop: execute a task, record the trajectory, form outcome, process and quality signals, generate candidate updates to knowledge, instructions, programs or parameters, then verify and release a new agent version.</a:t>
            </a:r>
          </a:p>
          <a:p/>
          <a:p>
            <a:r>
              <a:t>Source: notes/08-self-improving-loops.md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Superdesign's triage loop rewrote its own trigger: a script that fetches the last 30 minutes of updates and wakes the agent only when work exists. If "no change" counts as failure, you have built a machine that damages itself on a schedule. Failure modes: invented improvements, state rot, compounding errors, and it can't decide whether the loop should exist.</a:t>
            </a:r>
          </a:p>
          <a:p/>
          <a:p>
            <a:r>
              <a:t>Source: notes/08-self-improving-loops.md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practice/02-trajectory-verifier. Preserving experience is not learning from it. The run is rejected if any outcome or process dimension fails, whatever the average says. Over-refusal averages 0.714 and would sail through a scalar threshold.</a:t>
            </a:r>
          </a:p>
          <a:p/>
          <a:p>
            <a:r>
              <a:t>Source: notes/08-self-improving-loops.md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Prompt learning means minimal diffs, not rewrites: one old → new edit with a stated scope, gated on boundary cases and a retention set. A strategy is recommended only when two non-failed trajectories support it.</a:t>
            </a:r>
          </a:p>
          <a:p/>
          <a:p>
            <a:r>
              <a:t>Source: notes/08-self-improving-loops.md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Li ch. 9, Agentic Harness Engineering and Self-Harness. The change contract states predicted impact before running; the next round checks that prediction.</a:t>
            </a:r>
          </a:p>
          <a:p/>
          <a:p>
            <a:r>
              <a:t>Source: notes/08-self-improving-loops.md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Stable 1.0.0 retried everything three times. The gate compiles the candidate, replays every failure (a permanent error must stop at once and open the circuit breaker) and re-checks old behaviour. The manifest records source cases, diff, checks and the candidate and rollback versions.</a:t>
            </a:r>
          </a:p>
          <a:p/>
          <a:p>
            <a:r>
              <a:t>Source: notes/08-self-improving-loops.md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ReasoningBank, GEPA and Meta-Harness on four drifting task streams. Similarity-based memory localizes updates better but retrieves foreign memories. Lin et al.: harness updating is not harness benefit; diagnose with a two-way model swap.</a:t>
            </a:r>
          </a:p>
          <a:p/>
          <a:p>
            <a:r>
              <a:t>Source: notes/08-self-improving-loops.md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prerequisite: an automatic gate that can fail the work. Bilevel autoresearch (Qu &amp; Lu): tuning parameters without changing the mechanism gave no reliable gain; the outer loop had to write code. Both loops use the same model, so the gain comes from loop structure.</a:t>
            </a:r>
          </a:p>
          <a:p/>
          <a:p>
            <a:r>
              <a:t>Source: notes/08-self-improving-loops.md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DiscoveryRSI learns from credit assignment, harness replay and more. The loop improves on what it can measure, and the measurement is still the weak part. Fixes: separate claims from evidence, log negative results, keep diverse branches, move humans up to problem definition and stopping.</a:t>
            </a:r>
          </a:p>
          <a:p/>
          <a:p>
            <a:r>
              <a:t>Source: notes/08-self-improving-loops.md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Masood's structural three: context rot, termination failure, weak verification. MindStudio adds no exit condition, repeated failures without adapting, vague goal, not enough tool access.</a:t>
            </a:r>
          </a:p>
          <a:p/>
          <a:p>
            <a:r>
              <a:t>Source: notes/09-failure-modes-and-guardrails.md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Audit after an hour of any run: how much was machine-confirmed? Can you explain the last change? How many "I'll look later"s did you never look at? Is context size trending up?</a:t>
            </a:r>
          </a:p>
          <a:p/>
          <a:p>
            <a:r>
              <a:t>Source: notes/09-failure-modes-and-guardrails.md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Decide the human handoff points before the first run. With a worktree per try and a commit per green pass, rollback is git reset or git worktree remove. Budgets: per pass and per run, log cost next to score, sub-agents multiply cost, route models by step.</a:t>
            </a:r>
          </a:p>
          <a:p/>
          <a:p>
            <a:r>
              <a:t>Source: notes/09-failure-modes-and-guardrails.md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loop that edits itself can turn one mistake into a permanent one: an injection summarized as experience fires in every later session; a malicious package gets wrapped as a tool; a faulty verifier keeps approving regressions.</a:t>
            </a:r>
          </a:p>
          <a:p/>
          <a:p>
            <a:r>
              <a:t>Source: notes/09-failure-modes-and-guardrails.md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Vercel durability: 'use step' makes each tool execute a checkpoint; completed steps replay from recorded output. Functions with fluid compute run up to 800s. LangGraph: a loop is an explicit cycle in the graph — the next layer, 05-graph.</a:t>
            </a:r>
          </a:p>
          <a:p/>
          <a:p>
            <a:r>
              <a:t>Source: notes/10-framework-bindings.md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documented refinement shape: InitialWriterAgent → CriticAgent → RefinerAgent, wrapped in a SequentialAgent. This is maker/checker; the critic's completion phrase is how it returns clean.</a:t>
            </a:r>
          </a:p>
          <a:p/>
          <a:p>
            <a:r>
              <a:t>Source: notes/10-framework-bindings.md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through-line: treat an autonomous run as a thermostat, not a conversation partner.</a:t>
            </a:r>
          </a:p>
          <a:p/>
          <a:p>
            <a:r>
              <a:t>Source: 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097280"/>
            <a:ext cx="5120640" cy="5120640"/>
          </a:xfrm>
          <a:prstGeom prst="ellipse">
            <a:avLst/>
          </a:prstGeom>
          <a:solidFill>
            <a:srgbClr val="DC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4023360"/>
            <a:ext cx="4023360" cy="4023360"/>
          </a:xfrm>
          <a:prstGeom prst="ellipse">
            <a:avLst/>
          </a:prstGeom>
          <a:solidFill>
            <a:srgbClr val="F6E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4937760" cy="19202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6000" i="0" b="1">
                <a:solidFill>
                  <a:srgbClr val="FFFFFF"/>
                </a:solidFill>
                <a:latin typeface="Helvetica Neue"/>
              </a:rPr>
              <a:t>Loop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4937760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400" i="0" b="0">
                <a:solidFill>
                  <a:srgbClr val="0EA5C9"/>
                </a:solidFill>
                <a:latin typeface="Helvetica Neue"/>
              </a:rPr>
              <a:t>Designing the cycle that prompts the agent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187952"/>
            <a:ext cx="4572000" cy="457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507992"/>
            <a:ext cx="493776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i="0" b="0">
                <a:solidFill>
                  <a:srgbClr val="94A3B8"/>
                </a:solidFill>
                <a:latin typeface="Helvetica Neue"/>
              </a:rPr>
              <a:t>Loop shapes · Scorekeeper · Building blocks · Long runs</a:t>
            </a:r>
          </a:p>
          <a:p>
            <a:pPr algn="l">
              <a:lnSpc>
                <a:spcPct val="125000"/>
              </a:lnSpc>
            </a:pPr>
            <a:r>
              <a:rPr sz="1500" i="0" b="0">
                <a:solidFill>
                  <a:srgbClr val="94A3B8"/>
                </a:solidFill>
                <a:latin typeface="Helvetica Neue"/>
              </a:rPr>
              <a:t>Triggers · Autonomy · Self-improvement · Guardrails · Frameworks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841247"/>
            <a:ext cx="5196535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92240" y="841247"/>
            <a:ext cx="91440" cy="114300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969263"/>
            <a:ext cx="478505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1">
                <a:solidFill>
                  <a:srgbClr val="1E293B"/>
                </a:solidFill>
                <a:latin typeface="Helvetica Neue"/>
              </a:rPr>
              <a:t>Part 1: Foundations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282318"/>
            <a:ext cx="4785055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i="0" b="0">
                <a:solidFill>
                  <a:srgbClr val="475569"/>
                </a:solidFill>
                <a:latin typeface="Helvetica Neue"/>
              </a:rPr>
              <a:t>What a loop is · Loop shapes · The scorekeeper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2185415"/>
            <a:ext cx="5196535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2185415"/>
            <a:ext cx="91440" cy="1143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313432"/>
            <a:ext cx="478505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1">
                <a:solidFill>
                  <a:srgbClr val="1E293B"/>
                </a:solidFill>
                <a:latin typeface="Helvetica Neue"/>
              </a:rPr>
              <a:t>Part 2: Building the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626487"/>
            <a:ext cx="4785055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i="0" b="0">
                <a:solidFill>
                  <a:srgbClr val="475569"/>
                </a:solidFill>
                <a:latin typeface="Helvetica Neue"/>
              </a:rPr>
              <a:t>Building blocks · Long-running loops · Triggers and schedules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529583"/>
            <a:ext cx="5196535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0" y="3529583"/>
            <a:ext cx="91440" cy="114300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3657599"/>
            <a:ext cx="478505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1">
                <a:solidFill>
                  <a:srgbClr val="1E293B"/>
                </a:solidFill>
                <a:latin typeface="Helvetica Neue"/>
              </a:rPr>
              <a:t>Part 3: Autonomy and improvement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970655"/>
            <a:ext cx="4785055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i="0" b="0">
                <a:solidFill>
                  <a:srgbClr val="475569"/>
                </a:solidFill>
                <a:latin typeface="Helvetica Neue"/>
              </a:rPr>
              <a:t>The autonomy ladder · Self-improving loops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4873752"/>
            <a:ext cx="5196535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92240" y="4873752"/>
            <a:ext cx="91440" cy="114300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5001768"/>
            <a:ext cx="478505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1">
                <a:solidFill>
                  <a:srgbClr val="1E293B"/>
                </a:solidFill>
                <a:latin typeface="Helvetica Neue"/>
              </a:rPr>
              <a:t>Part 4: Running it safely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5314823"/>
            <a:ext cx="4785055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i="0" b="0">
                <a:solidFill>
                  <a:srgbClr val="475569"/>
                </a:solidFill>
                <a:latin typeface="Helvetica Neue"/>
              </a:rPr>
              <a:t>Failure modes and guardrails · Framework bindings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6355080"/>
            <a:ext cx="519653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100" i="1" b="0">
                <a:solidFill>
                  <a:srgbClr val="94A3B8"/>
                </a:solidFill>
                <a:latin typeface="Helvetica Neue"/>
              </a:rPr>
              <a:t>Notes: ai-engineering/04-loop-engineering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D4621A"/>
                </a:solidFill>
                <a:latin typeface="Helvetica Neue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5486400" cy="1021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5000" i="0" b="1">
                <a:solidFill>
                  <a:srgbClr val="FFFFFF"/>
                </a:solidFill>
                <a:latin typeface="Helvetica Neue"/>
              </a:rP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78479"/>
            <a:ext cx="530352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0">
                <a:solidFill>
                  <a:srgbClr val="0EA5C9"/>
                </a:solidFill>
                <a:latin typeface="Helvetica Neue"/>
              </a:rPr>
              <a:t>What a loop is · Loop shapes · The scorekeeper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46520" y="1143000"/>
            <a:ext cx="0" cy="4572000"/>
          </a:xfrm>
          <a:prstGeom prst="line">
            <a:avLst/>
          </a:prstGeom>
          <a:ln w="19050">
            <a:solidFill>
              <a:srgbClr val="3B5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66560" y="1143000"/>
            <a:ext cx="4693615" cy="4754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i="0" b="0">
                <a:solidFill>
                  <a:srgbClr val="CBD5E1"/>
                </a:solidFill>
                <a:latin typeface="Helvetica Neue"/>
              </a:rPr>
              <a:t>The definition</a:t>
            </a:r>
          </a:p>
          <a:p>
            <a:pPr algn="l">
              <a:lnSpc>
                <a:spcPct val="100000"/>
              </a:lnSpc>
              <a:spcBef>
                <a:spcPts val="1050"/>
              </a:spcBef>
            </a:pPr>
            <a:r>
              <a:rPr sz="1500" i="0" b="0">
                <a:solidFill>
                  <a:srgbClr val="CBD5E1"/>
                </a:solidFill>
                <a:latin typeface="Helvetica Neue"/>
              </a:rPr>
              <a:t>One cycle, three vocabularies</a:t>
            </a:r>
          </a:p>
          <a:p>
            <a:pPr algn="l">
              <a:lnSpc>
                <a:spcPct val="100000"/>
              </a:lnSpc>
              <a:spcBef>
                <a:spcPts val="1050"/>
              </a:spcBef>
            </a:pPr>
            <a:r>
              <a:rPr sz="1500" i="0" b="0">
                <a:solidFill>
                  <a:srgbClr val="CBD5E1"/>
                </a:solidFill>
                <a:latin typeface="Helvetica Neue"/>
              </a:rPr>
              <a:t>Two things before anything runs</a:t>
            </a:r>
          </a:p>
          <a:p>
            <a:pPr algn="l">
              <a:lnSpc>
                <a:spcPct val="100000"/>
              </a:lnSpc>
              <a:spcBef>
                <a:spcPts val="1050"/>
              </a:spcBef>
            </a:pPr>
            <a:r>
              <a:rPr sz="1500" i="0" b="0">
                <a:solidFill>
                  <a:srgbClr val="CBD5E1"/>
                </a:solidFill>
                <a:latin typeface="Helvetica Neue"/>
              </a:rPr>
              <a:t>Crossing from harness into loop</a:t>
            </a:r>
          </a:p>
          <a:p>
            <a:pPr algn="l">
              <a:lnSpc>
                <a:spcPct val="100000"/>
              </a:lnSpc>
              <a:spcBef>
                <a:spcPts val="1050"/>
              </a:spcBef>
            </a:pPr>
            <a:r>
              <a:rPr sz="1500" i="0" b="0">
                <a:solidFill>
                  <a:srgbClr val="CBD5E1"/>
                </a:solidFill>
                <a:latin typeface="Helvetica Neue"/>
              </a:rPr>
              <a:t>Two axes map the pillar</a:t>
            </a:r>
          </a:p>
          <a:p>
            <a:pPr algn="l">
              <a:lnSpc>
                <a:spcPct val="100000"/>
              </a:lnSpc>
              <a:spcBef>
                <a:spcPts val="1050"/>
              </a:spcBef>
            </a:pPr>
            <a:r>
              <a:rPr sz="1500" i="0" b="0">
                <a:solidFill>
                  <a:srgbClr val="CBD5E1"/>
                </a:solidFill>
                <a:latin typeface="Helvetica Neue"/>
              </a:rPr>
              <a:t>The five required parts</a:t>
            </a:r>
          </a:p>
          <a:p>
            <a:pPr algn="l">
              <a:lnSpc>
                <a:spcPct val="100000"/>
              </a:lnSpc>
              <a:spcBef>
                <a:spcPts val="1050"/>
              </a:spcBef>
            </a:pPr>
            <a:r>
              <a:rPr sz="1500" i="0" b="0">
                <a:solidFill>
                  <a:srgbClr val="CBD5E1"/>
                </a:solidFill>
                <a:latin typeface="Helvetica Neue"/>
              </a:rPr>
              <a:t>The canonical skeleton</a:t>
            </a:r>
          </a:p>
          <a:p>
            <a:pPr algn="l">
              <a:lnSpc>
                <a:spcPct val="100000"/>
              </a:lnSpc>
              <a:spcBef>
                <a:spcPts val="1050"/>
              </a:spcBef>
            </a:pPr>
            <a:r>
              <a:rPr sz="1500" i="0" b="0">
                <a:solidFill>
                  <a:srgbClr val="CBD5E1"/>
                </a:solidFill>
                <a:latin typeface="Helvetica Neue"/>
              </a:rPr>
              <a:t>Most loop decisions are multiple choice</a:t>
            </a:r>
          </a:p>
          <a:p>
            <a:pPr algn="l">
              <a:lnSpc>
                <a:spcPct val="100000"/>
              </a:lnSpc>
              <a:spcBef>
                <a:spcPts val="1050"/>
              </a:spcBef>
            </a:pPr>
            <a:r>
              <a:rPr sz="1500" i="0" b="0">
                <a:solidFill>
                  <a:srgbClr val="CBD5E1"/>
                </a:solidFill>
                <a:latin typeface="Helvetica Neue"/>
              </a:rPr>
              <a:t>Pick the pattern by task shape</a:t>
            </a:r>
          </a:p>
          <a:p>
            <a:pPr algn="l">
              <a:lnSpc>
                <a:spcPct val="100000"/>
              </a:lnSpc>
              <a:spcBef>
                <a:spcPts val="1050"/>
              </a:spcBef>
            </a:pPr>
            <a:r>
              <a:rPr sz="1500" i="0" b="0">
                <a:solidFill>
                  <a:srgbClr val="CBD5E1"/>
                </a:solidFill>
                <a:latin typeface="Helvetica Neue"/>
              </a:rPr>
              <a:t>Build the verifier first</a:t>
            </a:r>
          </a:p>
          <a:p>
            <a:pPr algn="l">
              <a:lnSpc>
                <a:spcPct val="100000"/>
              </a:lnSpc>
              <a:spcBef>
                <a:spcPts val="1050"/>
              </a:spcBef>
            </a:pPr>
            <a:r>
              <a:rPr sz="1500" i="0" b="0">
                <a:solidFill>
                  <a:srgbClr val="CBD5E1"/>
                </a:solidFill>
                <a:latin typeface="Helvetica Neue"/>
              </a:rPr>
              <a:t>Five traits of a scorekeeper</a:t>
            </a:r>
          </a:p>
          <a:p>
            <a:pPr algn="l">
              <a:lnSpc>
                <a:spcPct val="100000"/>
              </a:lnSpc>
              <a:spcBef>
                <a:spcPts val="1050"/>
              </a:spcBef>
            </a:pPr>
            <a:r>
              <a:rPr sz="1500" i="0" b="0">
                <a:solidFill>
                  <a:srgbClr val="CBD5E1"/>
                </a:solidFill>
                <a:latin typeface="Helvetica Neue"/>
              </a:rPr>
              <a:t>The write boundary</a:t>
            </a:r>
          </a:p>
          <a:p>
            <a:pPr algn="l">
              <a:lnSpc>
                <a:spcPct val="100000"/>
              </a:lnSpc>
              <a:spcBef>
                <a:spcPts val="1050"/>
              </a:spcBef>
            </a:pPr>
            <a:r>
              <a:rPr sz="1500" i="0" b="0">
                <a:solidFill>
                  <a:srgbClr val="CBD5E1"/>
                </a:solidFill>
                <a:latin typeface="Helvetica Neue"/>
              </a:rPr>
              <a:t>The checker never trusts the maker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64748B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The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What a loop 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notes/01-what-a-loop-is.md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665476"/>
            <a:ext cx="109728" cy="235915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665476"/>
            <a:ext cx="10088575" cy="19933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i="0" b="1">
                <a:solidFill>
                  <a:srgbClr val="1E3A5F"/>
                </a:solidFill>
                <a:latin typeface="Helvetica Neue"/>
              </a:rPr>
              <a:t>Loop engineering is designing the cycle that keeps an agent correct and productive when nobody is watching.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613148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1" b="0">
                <a:solidFill>
                  <a:srgbClr val="475569"/>
                </a:solidFill>
                <a:latin typeface="Helvetica Neue"/>
              </a:rPr>
              <a:t>"Stop prompting your agents and start designing the loops that prompt them." — Adnan Masood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One cycle, three vocabularies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What a loop 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notes/01-what-a-loop-is.md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" y="1417320"/>
            <a:ext cx="6261948" cy="342246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nthropic-agent-loop-72170333362479077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72184"/>
            <a:ext cx="6152220" cy="331273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4922078"/>
            <a:ext cx="61522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1" b="0">
                <a:solidFill>
                  <a:srgbClr val="94A3B8"/>
                </a:solidFill>
                <a:latin typeface="Helvetica Neue"/>
              </a:rPr>
              <a:t>The loop Anthropic ships (AI Builder Club, 2026)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20900" y="1559052"/>
            <a:ext cx="96012" cy="9601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40940" y="1472184"/>
            <a:ext cx="4347834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1E293B"/>
                </a:solidFill>
                <a:latin typeface="Helvetica Neue"/>
              </a:rPr>
              <a:t>Classic agents: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perceive → decide → act → repeat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20900" y="2299716"/>
            <a:ext cx="96012" cy="9601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40940" y="2212848"/>
            <a:ext cx="4347834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1E293B"/>
                </a:solidFill>
                <a:latin typeface="Helvetica Neue"/>
              </a:rPr>
              <a:t>Claude Agent SDK: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gather → act → verify → repeat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20900" y="3040380"/>
            <a:ext cx="96012" cy="9601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40940" y="2953512"/>
            <a:ext cx="4347834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1E293B"/>
                </a:solidFill>
                <a:latin typeface="Helvetica Neue"/>
              </a:rPr>
              <a:t>KodeKloud: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try → test → fix → 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save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→ repeat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20900" y="3781044"/>
            <a:ext cx="96012" cy="9601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40940" y="3694176"/>
            <a:ext cx="4347834" cy="9966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The save step makes progress a ratchet. A bad pass costs one rollback, not the run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Two things before anything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The foundation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notes/01-what-a-loop-is.md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Write the scorekeeper first. Then go green once: goal → one change → score → persist.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472184"/>
            <a:ext cx="5410047" cy="401421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472184"/>
            <a:ext cx="5410047" cy="5577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472184"/>
            <a:ext cx="4952847" cy="557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475569"/>
                </a:solidFill>
                <a:latin typeface="Helvetica Neue"/>
              </a:rPr>
              <a:t>A clear goal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313178"/>
            <a:ext cx="90678" cy="9067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231136"/>
            <a:ext cx="4587087" cy="6614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A plain statement of what done looks like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012694"/>
            <a:ext cx="90678" cy="9067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2930652"/>
            <a:ext cx="4587087" cy="6614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"Make all auth tests pass", not "improve the app"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712210"/>
            <a:ext cx="90678" cy="9067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630168"/>
            <a:ext cx="4587087" cy="6614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A testable goal is a loop invariant; a vague one is an infinite loop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956048"/>
            <a:ext cx="5044287" cy="347472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956048"/>
            <a:ext cx="4861407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0" b="0">
                <a:solidFill>
                  <a:srgbClr val="475569"/>
                </a:solidFill>
                <a:latin typeface="Helvetica Neue"/>
              </a:rPr>
              <a:t>Points the work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78727" y="1472184"/>
            <a:ext cx="5410047" cy="401421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78727" y="1472184"/>
            <a:ext cx="5410047" cy="55778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07327" y="1472184"/>
            <a:ext cx="4952847" cy="557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FFFFFF"/>
                </a:solidFill>
                <a:latin typeface="Helvetica Neue"/>
              </a:rPr>
              <a:t>A scorekeeper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07327" y="2313178"/>
            <a:ext cx="90678" cy="9067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27367" y="2231136"/>
            <a:ext cx="4587087" cy="6614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An objective check that says whether a step helped or hurt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07327" y="3012694"/>
            <a:ext cx="90678" cy="9067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27367" y="2930652"/>
            <a:ext cx="4587087" cy="6614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Test suite, build, linter, or a rubric graded by a separate agent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07327" y="3712210"/>
            <a:ext cx="90678" cy="9067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27367" y="3630168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The load-bearing part, with its own note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61607" y="4956048"/>
            <a:ext cx="5044287" cy="347472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3047" y="4956048"/>
            <a:ext cx="4861407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0" b="0">
                <a:solidFill>
                  <a:srgbClr val="475569"/>
                </a:solidFill>
                <a:latin typeface="Helvetica Neue"/>
              </a:rPr>
              <a:t>Proves the 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Crossing from harness into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Inside the loop vs outside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notes/01-what-a-loop-is.md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i="0" b="1">
                <a:solidFill>
                  <a:srgbClr val="1E3A5F"/>
                </a:solidFill>
                <a:latin typeface="Helvetica Neue"/>
              </a:rPr>
              <a:t>The moment the agent's next run starts without you typing a prompt, you've crossed from harness into loop.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1472184"/>
          <a:ext cx="11185854" cy="2804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92927"/>
                <a:gridCol w="5592927"/>
              </a:tblGrid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Harness engineering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Loop engineering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1E293B"/>
                          </a:solidFill>
                          <a:latin typeface="Helvetica Neue"/>
                        </a:rPr>
                        <a:t>One run: tools, sandbox, hooks, verification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Many runs: what starts the next one, and when to stop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1E293B"/>
                          </a:solidFill>
                          <a:latin typeface="Helvetica Neue"/>
                        </a:rPr>
                        <a:t>Progress file written at session end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Progress file read by the next pass to pick its own task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1E293B"/>
                          </a:solidFill>
                          <a:latin typeface="Helvetica Neue"/>
                        </a:rPr>
                        <a:t>Generator/evaluator separation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Maker/checker as the loop's quality ceiling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1E293B"/>
                          </a:solidFill>
                          <a:latin typeface="Helvetica Neue"/>
                        </a:rPr>
                        <a:t>Ratchet on the harness (every failure → a rule)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Ratchet on the work (score only goes up, else roll back)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Two axes map the pillar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Capability levels (LangChain)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notes/01-what-a-loop-is.md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26464"/>
            <a:ext cx="11185855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475569"/>
                </a:solidFill>
                <a:latin typeface="Helvetica Neue"/>
              </a:rPr>
              <a:t>Each level wraps the one before. The second axis, autonomy, is independent of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Humans stay in at every level. "Automation doesn't mean removing humans from the loop."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1985772"/>
          <a:ext cx="11185853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42872"/>
                <a:gridCol w="5592927"/>
                <a:gridCol w="2485745"/>
                <a:gridCol w="1864309"/>
              </a:tblGrid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Level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Loop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Automates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Note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1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Agent loop: model calls tools until done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Work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02, 04, 05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2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Verification loop: grader feeds failures back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Quality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03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3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Event-driven loop: schedules and webhooks start runs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Invocation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06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4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Hill-climbing loop: traces rewrite the harness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Improvement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08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The five required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Loop shapes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notes/02-loop-shapes.md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26464"/>
            <a:ext cx="11185855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475569"/>
                </a:solidFill>
                <a:latin typeface="Helvetica Neue"/>
              </a:rPr>
              <a:t>A loop missing any one will hang, thrash, or quietly ship garbage.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Design the shape before the prompt. A prompt cannot fix a missing line.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1985772"/>
          <a:ext cx="11185855" cy="24323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71491"/>
                <a:gridCol w="6214364"/>
              </a:tblGrid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Part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Missing it looks like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Testable goal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Loop never finishes; scope drifts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Tool set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The agent can't see consequences, so it guesses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Context management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Token overflow; it forgets what it tried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Termination logic (layered, independent)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Runs forever or stops at random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Error handling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Retries the same failed approach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The canonical skeleton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The model supplies two 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notes/02-loop-shapes.md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72184"/>
            <a:ext cx="6711513" cy="385572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81912"/>
            <a:ext cx="625431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0" b="1">
                <a:solidFill>
                  <a:srgbClr val="94A3B8"/>
                </a:solidFill>
                <a:latin typeface="Helvetica Neue"/>
              </a:rPr>
              <a:t>PSEUDOCODE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883664"/>
            <a:ext cx="6254313" cy="3215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initialize state with goal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for step in range(MAX_STEPS):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reason about current state      # the model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choose a concrete action        # the model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execute the tool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update state with the outcome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compact context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if scorekeeper says goal met: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    save; return success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if score went down: roll back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if no progress for N steps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   or budget exhausted: escalate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escalate to human  # cap is not success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0193" y="1604772"/>
            <a:ext cx="96012" cy="9601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0233" y="1517904"/>
            <a:ext cx="3788542" cy="9966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"Engineering is everything wrapped around" the model (Masood)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0193" y="2647188"/>
            <a:ext cx="96012" cy="9601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0233" y="2560320"/>
            <a:ext cx="3788542" cy="9966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1E293B"/>
                </a:solidFill>
                <a:latin typeface="Helvetica Neue"/>
              </a:rPr>
              <a:t>Save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on success and 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roll back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on a drop: the score only goes 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0193" y="3689604"/>
            <a:ext cx="96012" cy="9601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0233" y="3602736"/>
            <a:ext cx="3788542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The final line is an escalation, not a return value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Most loop decisions are multiple choice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JevAgentHarness (Zhu et al.,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notes/02-loop-shapes.md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A cheap component in the loop is safe only once you've measured where it is wrong.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5" y="1417320"/>
            <a:ext cx="6261948" cy="2258937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zhu-2026-decision-points-4754950407028657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472184"/>
            <a:ext cx="6152220" cy="214920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3758553"/>
            <a:ext cx="61522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1" b="0">
                <a:solidFill>
                  <a:srgbClr val="94A3B8"/>
                </a:solidFill>
                <a:latin typeface="Helvetica Neue"/>
              </a:rPr>
              <a:t>Eight decision points in one step, and five ways to share control (Zhu et al., 2026, Fig. 3)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20900" y="1559052"/>
            <a:ext cx="96012" cy="9601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40940" y="1472184"/>
            <a:ext cx="4347834" cy="9966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A small decision model scores the options: 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28%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of an LLM call's time, 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2.6%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of its price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20900" y="2601468"/>
            <a:ext cx="96012" cy="9601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40940" y="2514600"/>
            <a:ext cx="4347834" cy="9966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Without a fitted threshold, delegating tool choice cut success by 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19 points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20900" y="3643884"/>
            <a:ext cx="96012" cy="9601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40940" y="3557016"/>
            <a:ext cx="4347834" cy="9966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With a per-point threshold (the cascade): 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81–89%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cheaper, up to 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2.5×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faster, under 3 points lost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Pick the pattern by task shape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Loop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notes/02-loop-shapes.md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Vercel's order: tool use first, then reflection, then planning and multi-agent once evals exist.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472184"/>
            <a:ext cx="2590723" cy="25816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472184"/>
            <a:ext cx="82296" cy="2581656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655064"/>
            <a:ext cx="2133523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Retry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087880"/>
            <a:ext cx="2087803" cy="17830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475569"/>
                </a:solidFill>
                <a:latin typeface="Helvetica Neue"/>
              </a:rPr>
              <a:t>Atomic task, clear pass/fail. Act → check → act again with the error.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7963" y="1472184"/>
            <a:ext cx="2590723" cy="25816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67963" y="1472184"/>
            <a:ext cx="82296" cy="258165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42283" y="1655064"/>
            <a:ext cx="2133523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Plan–Execute–Verify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42283" y="2087880"/>
            <a:ext cx="2087803" cy="17830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475569"/>
                </a:solidFill>
                <a:latin typeface="Helvetica Neue"/>
              </a:rPr>
              <a:t>Multi-step work where order matters. Plan once, run steps, verify each.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3007" y="1472184"/>
            <a:ext cx="2590723" cy="25816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3007" y="1472184"/>
            <a:ext cx="82296" cy="2581656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7327" y="1655064"/>
            <a:ext cx="2133523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Explore–Narrow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7327" y="2087880"/>
            <a:ext cx="2087803" cy="17830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475569"/>
                </a:solidFill>
                <a:latin typeface="Helvetica Neue"/>
              </a:rPr>
              <a:t>Unfamiliar territory. Fan out in parallel, then converge on the best lead.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8051" y="1472184"/>
            <a:ext cx="2590723" cy="25816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98051" y="1472184"/>
            <a:ext cx="82296" cy="2581656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72371" y="1655064"/>
            <a:ext cx="2133523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Human-in-the-loop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371" y="2087880"/>
            <a:ext cx="2087803" cy="17830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475569"/>
                </a:solidFill>
                <a:latin typeface="Helvetica Neue"/>
              </a:rPr>
              <a:t>Ambiguity or high stakes. Pause at decision points for approval.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Build the verifier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The scorekeeper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notes/03-the-scorekeeper.md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363724"/>
            <a:ext cx="109728" cy="2962656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363724"/>
            <a:ext cx="10088575" cy="2596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i="0" b="1">
                <a:solidFill>
                  <a:srgbClr val="1E3A5F"/>
                </a:solidFill>
                <a:latin typeface="Helvetica Neue"/>
              </a:rPr>
              <a:t>Build the verifier before you scale the generator. A generator that can't check itself just produces plausible-looking work faster.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91490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1" b="0">
                <a:solidFill>
                  <a:srgbClr val="475569"/>
                </a:solidFill>
                <a:latin typeface="Helvetica Neue"/>
              </a:rPr>
              <a:t>Anthropic's web-app agent improved once it could test features like a human would — verification, not a better prompt.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Five traits of a scorekeeper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KodeKloud's four, plus 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notes/03-the-scorekeeper.md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72184"/>
            <a:ext cx="3545738" cy="22357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472184"/>
            <a:ext cx="82296" cy="2235708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55064"/>
            <a:ext cx="3088538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87880"/>
            <a:ext cx="3042818" cy="14371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i="0" b="0">
                <a:solidFill>
                  <a:srgbClr val="475569"/>
                </a:solidFill>
                <a:latin typeface="Helvetica Neue"/>
              </a:rPr>
              <a:t>Same work gives the same result every time.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2978" y="1472184"/>
            <a:ext cx="3545738" cy="22357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2978" y="1472184"/>
            <a:ext cx="82296" cy="223570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7298" y="1655064"/>
            <a:ext cx="3088538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Automatic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7298" y="2087880"/>
            <a:ext cx="3042818" cy="14371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i="0" b="0">
                <a:solidFill>
                  <a:srgbClr val="475569"/>
                </a:solidFill>
                <a:latin typeface="Helvetica Neue"/>
              </a:rPr>
              <a:t>One command or CI trigger. No manual step.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43036" y="1472184"/>
            <a:ext cx="3545738" cy="22357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43036" y="1472184"/>
            <a:ext cx="82296" cy="2235708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7356" y="1655064"/>
            <a:ext cx="3088538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Fast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7356" y="2087880"/>
            <a:ext cx="3042818" cy="14371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i="0" b="0">
                <a:solidFill>
                  <a:srgbClr val="475569"/>
                </a:solidFill>
                <a:latin typeface="Helvetica Neue"/>
              </a:rPr>
              <a:t>Cheap enough to run every pass.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982211"/>
            <a:ext cx="3545738" cy="22357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982211"/>
            <a:ext cx="82296" cy="2235708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165091"/>
            <a:ext cx="3088538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Clear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597907"/>
            <a:ext cx="3042818" cy="14371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i="0" b="0">
                <a:solidFill>
                  <a:srgbClr val="475569"/>
                </a:solidFill>
                <a:latin typeface="Helvetica Neue"/>
              </a:rPr>
              <a:t>One unambiguous score, so the loop knows where it stands.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2978" y="3982211"/>
            <a:ext cx="3545738" cy="22357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22978" y="3982211"/>
            <a:ext cx="82296" cy="2235708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7298" y="4165091"/>
            <a:ext cx="3088538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Hard to fake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7298" y="4597907"/>
            <a:ext cx="3042818" cy="14371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i="0" b="0">
                <a:solidFill>
                  <a:srgbClr val="475569"/>
                </a:solidFill>
                <a:latin typeface="Helvetica Neue"/>
              </a:rPr>
              <a:t>A loop that can lower the bar will take the easiest path to green.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43036" y="3982211"/>
            <a:ext cx="3545738" cy="22357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43036" y="3982211"/>
            <a:ext cx="82296" cy="2235708"/>
          </a:xfrm>
          <a:prstGeom prst="rect">
            <a:avLst/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7356" y="4165091"/>
            <a:ext cx="3088538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Defenses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7356" y="4597907"/>
            <a:ext cx="3042818" cy="14371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i="0" b="0">
                <a:solidFill>
                  <a:srgbClr val="475569"/>
                </a:solidFill>
                <a:latin typeface="Helvetica Neue"/>
              </a:rPr>
              <a:t>Held-out checks, tamper-proof location, auditable artifacts, watch the trend.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The write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Karpathy's autoresearch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notes/03-the-scorekeeper.md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An agent that can edit its own evaluator does not have a verifier; it has a negotiation.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1472184"/>
          <a:ext cx="11185853" cy="18806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96463"/>
                <a:gridCol w="2796463"/>
                <a:gridCol w="5592927"/>
              </a:tblGrid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File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Who writes it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Why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train.py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Agent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The search space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prepare.py</a:t>
                      </a: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 (eval)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Nobody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The verifier must not be editable by the thing it grades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program.md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Human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The contract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The checker never trusts the maker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Maker and checker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notes/03-the-scorekeeper.md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72184"/>
            <a:ext cx="6711513" cy="409956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81912"/>
            <a:ext cx="625431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0" b="1">
                <a:solidFill>
                  <a:srgbClr val="94A3B8"/>
                </a:solidFill>
                <a:latin typeface="Helvetica Neue"/>
              </a:rPr>
              <a:t>MARKDOWN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883664"/>
            <a:ext cx="6254313" cy="3459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## Your role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You are the Checker. Be strict, and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honest in both directions.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1. Read the loop contract.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2. Read the diff, not the Maker's summary.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3. Run the scorekeeper commands yourself.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## Checklist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- Boundary: any file outside it changed?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Tests or scoring touched? → auto Fail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- Tests: would they fail if reverted?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- Score: higher, equal or lower?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## Report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Verdict: PASS / FAIL / PASS WITH NOTES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A PASS needs scorekeeper output behind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0193" y="1604772"/>
            <a:ext cx="96012" cy="9601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0233" y="1517904"/>
            <a:ext cx="3788542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Checker: fresh agent, 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no maker history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, stricter rules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0193" y="2345436"/>
            <a:ext cx="96012" cy="9601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0233" y="2258568"/>
            <a:ext cx="3788542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Must be allowed to return 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clean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, or it invents findings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0193" y="3086100"/>
            <a:ext cx="96012" cy="9601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0233" y="2999232"/>
            <a:ext cx="3788542" cy="9966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ADK: </a:t>
            </a:r>
            <a:r>
              <a:rPr sz="1620" i="0" b="0">
                <a:solidFill>
                  <a:srgbClr val="0F7490"/>
                </a:solidFill>
                <a:latin typeface="Menlo"/>
              </a:rPr>
              <a:t>RefinerAgent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/ </a:t>
            </a:r>
            <a:r>
              <a:rPr sz="1620" i="0" b="0">
                <a:solidFill>
                  <a:srgbClr val="0F7490"/>
                </a:solidFill>
                <a:latin typeface="Menlo"/>
              </a:rPr>
              <a:t>CriticAgent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; LangChain: </a:t>
            </a:r>
            <a:r>
              <a:rPr sz="1620" i="0" b="0">
                <a:solidFill>
                  <a:srgbClr val="0F7490"/>
                </a:solidFill>
                <a:latin typeface="Menlo"/>
              </a:rPr>
              <a:t>RubricMiddleware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D4621A"/>
                </a:solidFill>
                <a:latin typeface="Helvetica Neue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5486400" cy="1859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5000" i="0" b="1">
                <a:solidFill>
                  <a:srgbClr val="FFFFFF"/>
                </a:solidFill>
                <a:latin typeface="Helvetica Neue"/>
              </a:rPr>
              <a:t>Building the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16680"/>
            <a:ext cx="530352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0">
                <a:solidFill>
                  <a:srgbClr val="0EA5C9"/>
                </a:solidFill>
                <a:latin typeface="Helvetica Neue"/>
              </a:rPr>
              <a:t>Building blocks · Long-running loops · Triggers and schedules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46520" y="1529080"/>
            <a:ext cx="0" cy="3799840"/>
          </a:xfrm>
          <a:prstGeom prst="line">
            <a:avLst/>
          </a:prstGeom>
          <a:ln w="19050">
            <a:solidFill>
              <a:srgbClr val="3B5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66560" y="1529080"/>
            <a:ext cx="4693615" cy="39827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Six parts, each fixing one failure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What each block buys a loop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The whole loop in motion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Context is a budget, not a bucket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Memory — five fields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The Ralph loop, with a ratchet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Initializer and worker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Two ways a loop runs again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Three triggers, and the cost ceilings they need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64748B"/>
                </a:solidFill>
                <a:latin typeface="Helvetica Neue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Six parts, each fixing one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Building blocks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2 · Building the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notes/04-building-blocks.md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Add a part when you see the failure it fixes, not before.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1472184"/>
          <a:ext cx="11185854" cy="28376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28618"/>
                <a:gridCol w="7457236"/>
              </a:tblGrid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Part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Fixes this failure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Automations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You are still the one pressing go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Worktrees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A bad try breaks main; parallel agents collide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Skills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The agent re-guesses your conventions every pass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Connectors / plugins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The loop can only edit local files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Sub-agents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Main context floods; the maker grades itself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Memory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Each restart forgets what was done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What each block buys a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Building blocks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2 · Building the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notes/04-building-blocks.md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72184"/>
            <a:ext cx="2590723" cy="31851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472184"/>
            <a:ext cx="82296" cy="318516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55064"/>
            <a:ext cx="2133523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Worktrees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87880"/>
            <a:ext cx="2087803" cy="23865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475569"/>
                </a:solidFill>
                <a:latin typeface="Helvetica Neue"/>
              </a:rPr>
              <a:t>Disposable, concurrent experiments. </a:t>
            </a:r>
            <a:r>
              <a:rPr sz="1620" i="0" b="0">
                <a:solidFill>
                  <a:srgbClr val="0F7490"/>
                </a:solidFill>
                <a:latin typeface="Menlo"/>
              </a:rPr>
              <a:t>git worktree add ../try -b try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; a failed try costs one </a:t>
            </a:r>
            <a:r>
              <a:rPr sz="1620" i="0" b="0">
                <a:solidFill>
                  <a:srgbClr val="0F7490"/>
                </a:solidFill>
                <a:latin typeface="Menlo"/>
              </a:rPr>
              <a:t>remove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67963" y="1472184"/>
            <a:ext cx="2590723" cy="31851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67963" y="1472184"/>
            <a:ext cx="82296" cy="31851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42283" y="1655064"/>
            <a:ext cx="2133523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Skills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2283" y="2087880"/>
            <a:ext cx="2087803" cy="23865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475569"/>
                </a:solidFill>
                <a:latin typeface="Helvetica Neue"/>
              </a:rPr>
              <a:t>Steps, not essays, loaded only when the task matches. Skipping them is intent debt.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1472184"/>
            <a:ext cx="2590723" cy="31851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3007" y="1472184"/>
            <a:ext cx="82296" cy="318516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7327" y="1655064"/>
            <a:ext cx="2133523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Connectors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327" y="2087880"/>
            <a:ext cx="2087803" cy="23865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475569"/>
                </a:solidFill>
                <a:latin typeface="Helvetica Neue"/>
              </a:rPr>
              <a:t>From "here's the fix" to "PR opened, ticket linked". Least privilege: read-only by default.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051" y="1472184"/>
            <a:ext cx="2590723" cy="31851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98051" y="1472184"/>
            <a:ext cx="82296" cy="318516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2371" y="1655064"/>
            <a:ext cx="2133523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Sub-agents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371" y="2087880"/>
            <a:ext cx="2087803" cy="23865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475569"/>
                </a:solidFill>
                <a:latin typeface="Helvetica Neue"/>
              </a:rPr>
              <a:t>Fresh context, one job, distilled return. Explorer → implementer → verifier.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The whole loop in motion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One pass, KodeKloud's 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2 · Building the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notes/04-building-blocks.md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1472184"/>
            <a:ext cx="10042855" cy="8613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10512" y="1674266"/>
            <a:ext cx="457200" cy="457200"/>
          </a:xfrm>
          <a:prstGeom prst="ellipse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10512" y="167426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600" i="0" b="1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79" y="1472184"/>
            <a:ext cx="9037015" cy="8613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1E293B"/>
                </a:solidFill>
                <a:latin typeface="Helvetica Neue"/>
              </a:rPr>
              <a:t>Goal + scorekeeper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 — required before anything runs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0" y="2443276"/>
            <a:ext cx="10042855" cy="8613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810512" y="2645359"/>
            <a:ext cx="457200" cy="45720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10512" y="264535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600" i="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79" y="2443276"/>
            <a:ext cx="9037015" cy="8613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1E293B"/>
                </a:solidFill>
                <a:latin typeface="Helvetica Neue"/>
              </a:rPr>
              <a:t>Read memory, make a worktree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 — where did I leave off; a safe place to try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0" y="3414369"/>
            <a:ext cx="10042855" cy="8613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810512" y="3616452"/>
            <a:ext cx="457200" cy="457200"/>
          </a:xfrm>
          <a:prstGeom prst="ellipse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10512" y="36164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600" i="0" b="1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79" y="3414369"/>
            <a:ext cx="9037015" cy="8613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1E293B"/>
                </a:solidFill>
                <a:latin typeface="Helvetica Neue"/>
              </a:rPr>
              <a:t>Load the skill, make ONE change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 — the steps for this kind of job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4385462"/>
            <a:ext cx="10042855" cy="8613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810512" y="4587544"/>
            <a:ext cx="457200" cy="457200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10512" y="458754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600" i="0" b="1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79" y="4385462"/>
            <a:ext cx="9037015" cy="8613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1E293B"/>
                </a:solidFill>
                <a:latin typeface="Helvetica Neue"/>
              </a:rPr>
              <a:t>Score it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 — the scorekeeper, not the agent's own claim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20" y="5356555"/>
            <a:ext cx="10042855" cy="8613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810512" y="5558637"/>
            <a:ext cx="457200" cy="457200"/>
          </a:xfrm>
          <a:prstGeom prst="ellipse">
            <a:avLst/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10512" y="5558637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600" i="0" b="1">
                <a:solidFill>
                  <a:srgbClr val="FFFFFF"/>
                </a:solidFill>
                <a:latin typeface="Helvetica Neue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79" y="5356555"/>
            <a:ext cx="9037015" cy="8613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1E293B"/>
                </a:solidFill>
                <a:latin typeface="Helvetica Neue"/>
              </a:rPr>
              <a:t>Save or roll back, update memory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 — the ratchet, then the next pass starts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1472184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1" b="0">
                <a:solidFill>
                  <a:srgbClr val="94A3B8"/>
                </a:solidFill>
                <a:latin typeface="Helvetica Neue"/>
              </a:rPr>
              <a:t>one pass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05840" y="2066544"/>
            <a:ext cx="0" cy="4059936"/>
          </a:xfrm>
          <a:prstGeom prst="line">
            <a:avLst/>
          </a:prstGeom>
          <a:ln w="285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Context is a budget, not a bucket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Long-running loops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2 · Building the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notes/05-long-running-loops.md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363724"/>
            <a:ext cx="109728" cy="2962656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363724"/>
            <a:ext cx="10088575" cy="2596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i="0" b="1">
                <a:solidFill>
                  <a:srgbClr val="1E3A5F"/>
                </a:solidFill>
                <a:latin typeface="Helvetica Neue"/>
              </a:rPr>
              <a:t>A loop that runs for hours must forget on purpose and remember on disk. Progress lives in files, not in the context window.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91490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1" b="0">
                <a:solidFill>
                  <a:srgbClr val="475569"/>
                </a:solidFill>
                <a:latin typeface="Helvetica Neue"/>
              </a:rPr>
              <a:t>Context rot, context anxiety and session end all have the same fix.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Memory — five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Read at the start of every 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2 · Building the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notes/05-long-running-loops.md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i="0" b="1">
                <a:solidFill>
                  <a:srgbClr val="1E3A5F"/>
                </a:solidFill>
                <a:latin typeface="Helvetica Neue"/>
              </a:rPr>
              <a:t>"What was tried" earns its place. Without it, a fresh pass reruns the attempt that failed an hour ago.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1472184"/>
          <a:ext cx="11185854" cy="24323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28618"/>
                <a:gridCol w="7457236"/>
              </a:tblGrid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Field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Example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Goal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All tests in tests/auth/ pass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Last score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41/47 passing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What was tried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Mocking the clock in test_expiry: no change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What is next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Check token refresh path in auth/session.py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Waiting for a human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Approve dropping the legacy cookie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The Ralph loop, with a ratchet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Huntley's loop, production-grade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2 · Building the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notes/05-long-running-loops.md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72184"/>
            <a:ext cx="6711513" cy="434340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81912"/>
            <a:ext cx="625431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0" b="1">
                <a:solidFill>
                  <a:srgbClr val="94A3B8"/>
                </a:solidFill>
                <a:latin typeface="Helvetica Neue"/>
              </a:rPr>
              <a:t>BASH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883664"/>
            <a:ext cx="6254313" cy="3703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best=$(score)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for ((i = 1; i &lt;= MAX_ITERS; i++)); do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past_deadline &amp;&amp; exit 2       # clock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$AGENT_CMD &lt; "$PROMPT_FILE"   # fresh ctx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now=$(score)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if worse; then                # undo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git reset --hard; ((stall++))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elif better; then             # keep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git commit -qam "pass $i"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best=$now; stall=0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else ((stall++)); fi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done_check &amp;&amp; exit 0          # success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((stall &gt;= STALL_LIMIT)) &amp;&amp; exit 3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done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exit 1                          # cap != success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0193" y="1604772"/>
            <a:ext cx="96012" cy="9601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0233" y="1517904"/>
            <a:ext cx="3788542" cy="9966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Iteration cap, wall-clock cap, a 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done check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run by the scorekeeper, a stall check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0193" y="2647188"/>
            <a:ext cx="96012" cy="9601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0233" y="2560320"/>
            <a:ext cx="3788542" cy="9966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Exit codes tell success (0) from cap (1), clock (2), stall (3)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0193" y="3689604"/>
            <a:ext cx="96012" cy="9601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0233" y="3602736"/>
            <a:ext cx="3788542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Harnesses now ship it: stop hooks, </a:t>
            </a:r>
            <a:r>
              <a:rPr sz="1620" i="0" b="0">
                <a:solidFill>
                  <a:srgbClr val="0F7490"/>
                </a:solidFill>
                <a:latin typeface="Menlo"/>
              </a:rPr>
              <a:t>/goal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Initializer and worker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Anthropic, long-running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2 · Building the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notes/05-long-running-loops.md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i="0" b="1">
                <a:solidFill>
                  <a:srgbClr val="1E3A5F"/>
                </a:solidFill>
                <a:latin typeface="Helvetica Neue"/>
              </a:rPr>
              <a:t>Loops lean toward reset over compaction: state is already on disk, so clear the window and hand off through files.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472184"/>
            <a:ext cx="5410047" cy="401421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472184"/>
            <a:ext cx="5410047" cy="5577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472184"/>
            <a:ext cx="4952847" cy="557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475569"/>
                </a:solidFill>
                <a:latin typeface="Helvetica Neue"/>
              </a:rPr>
              <a:t>Initializer (runs once)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313178"/>
            <a:ext cx="90678" cy="9067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231136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Turns the task into files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727706"/>
            <a:ext cx="90678" cy="9067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2645664"/>
            <a:ext cx="4587087" cy="6614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Feature list, progress log, scaffolding, </a:t>
            </a:r>
            <a:r>
              <a:rPr sz="1530" i="0" b="0">
                <a:solidFill>
                  <a:srgbClr val="0F7490"/>
                </a:solidFill>
                <a:latin typeface="Menlo"/>
              </a:rPr>
              <a:t>init</a:t>
            </a:r>
            <a:r>
              <a:rPr sz="1700" i="0" b="0">
                <a:solidFill>
                  <a:srgbClr val="1E293B"/>
                </a:solidFill>
                <a:latin typeface="Helvetica Neue"/>
              </a:rPr>
              <a:t> script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427222"/>
            <a:ext cx="90678" cy="9067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345180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Commits them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956048"/>
            <a:ext cx="5044287" cy="347472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956048"/>
            <a:ext cx="4861407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0" b="0">
                <a:solidFill>
                  <a:srgbClr val="475569"/>
                </a:solidFill>
                <a:latin typeface="Helvetica Neue"/>
              </a:rPr>
              <a:t>The plan on disk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78727" y="1472184"/>
            <a:ext cx="5410047" cy="401421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78727" y="1472184"/>
            <a:ext cx="5410047" cy="55778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07327" y="1472184"/>
            <a:ext cx="4952847" cy="557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FFFFFF"/>
                </a:solidFill>
                <a:latin typeface="Helvetica Neue"/>
              </a:rPr>
              <a:t>Worker (every session)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07327" y="2313178"/>
            <a:ext cx="90678" cy="9067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27367" y="2231136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Reads the progress log and git history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07327" y="2727706"/>
            <a:ext cx="90678" cy="9067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27367" y="2645664"/>
            <a:ext cx="4587087" cy="6614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Picks </a:t>
            </a:r>
            <a:r>
              <a:rPr sz="1700" i="0" b="1">
                <a:solidFill>
                  <a:srgbClr val="1E293B"/>
                </a:solidFill>
                <a:latin typeface="Helvetica Neue"/>
              </a:rPr>
              <a:t>one</a:t>
            </a:r>
            <a:r>
              <a:rPr sz="1700" i="0" b="0">
                <a:solidFill>
                  <a:srgbClr val="1E293B"/>
                </a:solidFill>
                <a:latin typeface="Helvetica Neue"/>
              </a:rPr>
              <a:t> unfinished item, implements and tests 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07327" y="3427222"/>
            <a:ext cx="90678" cy="9067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27367" y="3345180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Commits, updates the log, exits cleanly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61607" y="4956048"/>
            <a:ext cx="5044287" cy="347472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3047" y="4956048"/>
            <a:ext cx="4861407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0" b="0">
                <a:solidFill>
                  <a:srgbClr val="475569"/>
                </a:solidFill>
                <a:latin typeface="Helvetica Neue"/>
              </a:rPr>
              <a:t>One item per session, leave the repo clean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Two ways a loop runs again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Triggers and schedules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2 · Building the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notes/06-triggers-and-schedules.md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Does this thing have an end? Yes → /goal. No, it's ongoing watching → /loop.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472184"/>
            <a:ext cx="5410047" cy="401421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472184"/>
            <a:ext cx="5410047" cy="557784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472184"/>
            <a:ext cx="4952847" cy="557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FFFFFF"/>
                </a:solidFill>
                <a:latin typeface="Helvetica Neue"/>
              </a:rPr>
              <a:t>Run-until-done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313178"/>
            <a:ext cx="90678" cy="90678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231136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Pass after pass, immediately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727706"/>
            <a:ext cx="90678" cy="90678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2645664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Stops on the finish signal or a cap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142234"/>
            <a:ext cx="90678" cy="90678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060192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Needs a precise done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956048"/>
            <a:ext cx="5044287" cy="347472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956048"/>
            <a:ext cx="4861407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080" i="0" b="0">
                <a:solidFill>
                  <a:srgbClr val="0F7490"/>
                </a:solidFill>
                <a:latin typeface="Menlo"/>
              </a:rPr>
              <a:t>/goal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78727" y="1472184"/>
            <a:ext cx="5410047" cy="401421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78727" y="1472184"/>
            <a:ext cx="5410047" cy="55778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07327" y="1472184"/>
            <a:ext cx="4952847" cy="557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FFFFFF"/>
                </a:solidFill>
                <a:latin typeface="Helvetica Neue"/>
              </a:rPr>
              <a:t>Timer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07327" y="2313178"/>
            <a:ext cx="90678" cy="9067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27367" y="2231136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On an interval or cron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07327" y="2727706"/>
            <a:ext cx="90678" cy="9067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27367" y="2645664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Never stops by itself; each run is short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07327" y="3142234"/>
            <a:ext cx="90678" cy="9067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27367" y="3060192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Must be cheap when there's nothing to do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61607" y="4956048"/>
            <a:ext cx="5044287" cy="347472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3047" y="4956048"/>
            <a:ext cx="4861407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080" i="0" b="0">
                <a:solidFill>
                  <a:srgbClr val="0F7490"/>
                </a:solidFill>
                <a:latin typeface="Menlo"/>
              </a:rPr>
              <a:t>/loop 5m</a:t>
            </a:r>
            <a:r>
              <a:rPr sz="1200" i="0" b="0">
                <a:solidFill>
                  <a:srgbClr val="475569"/>
                </a:solidFill>
                <a:latin typeface="Helvetica Neue"/>
              </a:rPr>
              <a:t>, </a:t>
            </a:r>
            <a:r>
              <a:rPr sz="1080" i="0" b="0">
                <a:solidFill>
                  <a:srgbClr val="0F7490"/>
                </a:solidFill>
                <a:latin typeface="Menlo"/>
              </a:rPr>
              <a:t>/schedule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300" i="0" b="1">
                <a:solidFill>
                  <a:srgbClr val="FFFFFF"/>
                </a:solidFill>
                <a:latin typeface="Helvetica Neue"/>
              </a:rPr>
              <a:t>Three triggers, and the cost ceilings they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Triggers and schedules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2 · Building the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notes/06-triggers-and-schedules.md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i="0" b="1">
                <a:solidFill>
                  <a:srgbClr val="1E3A5F"/>
                </a:solidFill>
                <a:latin typeface="Helvetica Neue"/>
              </a:rPr>
              <a:t>Prefer events to polling. Caps per run and per day, a no-op path that exits before the model, alerts on spend.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1472184"/>
          <a:ext cx="11185854" cy="21396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30639"/>
                <a:gridCol w="3728618"/>
                <a:gridCol w="5326597"/>
              </a:tblGrid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Trigger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Fires on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Example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Manual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You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Interactive work you're watching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Event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Sentry error, ticket, failing CI, Slack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Investigate the alert and open a PR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Schedule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The clock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Nightly test-babysitting; 30-minute migration cycles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0F7490"/>
                </a:solidFill>
                <a:latin typeface="Helvetica Neue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5486400" cy="1859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5000" i="0" b="1">
                <a:solidFill>
                  <a:srgbClr val="FFFFFF"/>
                </a:solidFill>
                <a:latin typeface="Helvetica Neue"/>
              </a:rPr>
              <a:t>Autonomy and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16680"/>
            <a:ext cx="530352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0">
                <a:solidFill>
                  <a:srgbClr val="0EA5C9"/>
                </a:solidFill>
                <a:latin typeface="Helvetica Neue"/>
              </a:rPr>
              <a:t>The autonomy ladder · Self-improving loops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46520" y="1254760"/>
            <a:ext cx="0" cy="4348480"/>
          </a:xfrm>
          <a:prstGeom prst="line">
            <a:avLst/>
          </a:prstGeom>
          <a:ln w="19050">
            <a:solidFill>
              <a:srgbClr val="3B5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66560" y="1254760"/>
            <a:ext cx="4693615" cy="4531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CBD5E1"/>
                </a:solidFill>
                <a:latin typeface="Helvetica Neue"/>
              </a:rPr>
              <a:t>The autonomy ladder</a:t>
            </a:r>
          </a:p>
          <a:p>
            <a:pPr algn="l">
              <a:lnSpc>
                <a:spcPct val="100000"/>
              </a:lnSpc>
              <a:spcBef>
                <a:spcPts val="1120"/>
              </a:spcBef>
            </a:pPr>
            <a:r>
              <a:rPr sz="1600" i="0" b="0">
                <a:solidFill>
                  <a:srgbClr val="CBD5E1"/>
                </a:solidFill>
                <a:latin typeface="Helvetica Neue"/>
              </a:rPr>
              <a:t>The evolve loop</a:t>
            </a:r>
          </a:p>
          <a:p>
            <a:pPr algn="l">
              <a:lnSpc>
                <a:spcPct val="100000"/>
              </a:lnSpc>
              <a:spcBef>
                <a:spcPts val="1120"/>
              </a:spcBef>
            </a:pPr>
            <a:r>
              <a:rPr sz="1600" i="0" b="0">
                <a:solidFill>
                  <a:srgbClr val="CBD5E1"/>
                </a:solidFill>
                <a:latin typeface="Helvetica Neue"/>
              </a:rPr>
              <a:t>The continual-evolution loop</a:t>
            </a:r>
          </a:p>
          <a:p>
            <a:pPr algn="l">
              <a:lnSpc>
                <a:spcPct val="100000"/>
              </a:lnSpc>
              <a:spcBef>
                <a:spcPts val="1120"/>
              </a:spcBef>
            </a:pPr>
            <a:r>
              <a:rPr sz="1600" i="0" b="0">
                <a:solidFill>
                  <a:srgbClr val="CBD5E1"/>
                </a:solidFill>
                <a:latin typeface="Helvetica Neue"/>
              </a:rPr>
              <a:t>Four edit targets, and the anti-busywork rule</a:t>
            </a:r>
          </a:p>
          <a:p>
            <a:pPr algn="l">
              <a:lnSpc>
                <a:spcPct val="100000"/>
              </a:lnSpc>
              <a:spcBef>
                <a:spcPts val="1120"/>
              </a:spcBef>
            </a:pPr>
            <a:r>
              <a:rPr sz="1600" i="0" b="0">
                <a:solidFill>
                  <a:srgbClr val="CBD5E1"/>
                </a:solidFill>
                <a:latin typeface="Helvetica Neue"/>
              </a:rPr>
              <a:t>Verify before you learn</a:t>
            </a:r>
          </a:p>
          <a:p>
            <a:pPr algn="l">
              <a:lnSpc>
                <a:spcPct val="100000"/>
              </a:lnSpc>
              <a:spcBef>
                <a:spcPts val="1120"/>
              </a:spcBef>
            </a:pPr>
            <a:r>
              <a:rPr sz="1600" i="0" b="0">
                <a:solidFill>
                  <a:srgbClr val="CBD5E1"/>
                </a:solidFill>
                <a:latin typeface="Helvetica Neue"/>
              </a:rPr>
              <a:t>Where the lesson goes</a:t>
            </a:r>
          </a:p>
          <a:p>
            <a:pPr algn="l">
              <a:lnSpc>
                <a:spcPct val="100000"/>
              </a:lnSpc>
              <a:spcBef>
                <a:spcPts val="1120"/>
              </a:spcBef>
            </a:pPr>
            <a:r>
              <a:rPr sz="1600" i="0" b="0">
                <a:solidFill>
                  <a:srgbClr val="CBD5E1"/>
                </a:solidFill>
                <a:latin typeface="Helvetica Neue"/>
              </a:rPr>
              <a:t>Self-modification is a release process</a:t>
            </a:r>
          </a:p>
          <a:p>
            <a:pPr algn="l">
              <a:lnSpc>
                <a:spcPct val="100000"/>
              </a:lnSpc>
              <a:spcBef>
                <a:spcPts val="1120"/>
              </a:spcBef>
            </a:pPr>
            <a:r>
              <a:rPr sz="1600" i="0" b="0">
                <a:solidFill>
                  <a:srgbClr val="CBD5E1"/>
                </a:solidFill>
                <a:latin typeface="Helvetica Neue"/>
              </a:rPr>
              <a:t>The gate runs outside the model</a:t>
            </a:r>
          </a:p>
          <a:p>
            <a:pPr algn="l">
              <a:lnSpc>
                <a:spcPct val="100000"/>
              </a:lnSpc>
              <a:spcBef>
                <a:spcPts val="1120"/>
              </a:spcBef>
            </a:pPr>
            <a:r>
              <a:rPr sz="1600" i="0" b="0">
                <a:solidFill>
                  <a:srgbClr val="CBD5E1"/>
                </a:solidFill>
                <a:latin typeface="Helvetica Neue"/>
              </a:rPr>
              <a:t>Plasticity costs stability</a:t>
            </a:r>
          </a:p>
          <a:p>
            <a:pPr algn="l">
              <a:lnSpc>
                <a:spcPct val="100000"/>
              </a:lnSpc>
              <a:spcBef>
                <a:spcPts val="1120"/>
              </a:spcBef>
            </a:pPr>
            <a:r>
              <a:rPr sz="1600" i="0" b="0">
                <a:solidFill>
                  <a:srgbClr val="CBD5E1"/>
                </a:solidFill>
                <a:latin typeface="Helvetica Neue"/>
              </a:rPr>
              <a:t>autoresearch: one file, one GPU, one metric</a:t>
            </a:r>
          </a:p>
          <a:p>
            <a:pPr algn="l">
              <a:lnSpc>
                <a:spcPct val="100000"/>
              </a:lnSpc>
              <a:spcBef>
                <a:spcPts val="1120"/>
              </a:spcBef>
            </a:pPr>
            <a:r>
              <a:rPr sz="1600" i="0" b="0">
                <a:solidFill>
                  <a:srgbClr val="CBD5E1"/>
                </a:solidFill>
                <a:latin typeface="Helvetica Neue"/>
              </a:rPr>
              <a:t>At the frontier — recursive self-improvement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64748B"/>
                </a:solidFill>
                <a:latin typeface="Helvetica Neue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The autonomy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Climb one rung at a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3 · Autonomy and improvement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notes/07-autonomy-ladder.md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Earn each handoff with a verifier. Skipping rungs is how you get a doom loop.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1472184"/>
            <a:ext cx="10042855" cy="921257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810512" y="1704213"/>
            <a:ext cx="457200" cy="457200"/>
          </a:xfrm>
          <a:prstGeom prst="ellipse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10512" y="1704213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600" i="0" b="1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79" y="1472184"/>
            <a:ext cx="9037015" cy="92125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1E293B"/>
                </a:solidFill>
                <a:latin typeface="Helvetica Neue"/>
              </a:rPr>
              <a:t>1 — Turn-based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 — hand off tool approval within a turn. Where you learn how tasks fail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0" y="2503170"/>
            <a:ext cx="10042855" cy="921257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810512" y="2735199"/>
            <a:ext cx="457200" cy="45720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10512" y="273519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600" i="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79" y="2503170"/>
            <a:ext cx="9037015" cy="92125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1E293B"/>
                </a:solidFill>
                <a:latin typeface="Helvetica Neue"/>
              </a:rPr>
              <a:t>2 — Goal-based (</a:t>
            </a:r>
            <a:r>
              <a:rPr sz="1620" i="0" b="1">
                <a:solidFill>
                  <a:srgbClr val="0F7490"/>
                </a:solidFill>
                <a:latin typeface="Menlo"/>
              </a:rPr>
              <a:t>/goal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)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 — hand off the stop condition. Needs a measurable end state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0" y="3534156"/>
            <a:ext cx="10042855" cy="921257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810512" y="3766185"/>
            <a:ext cx="457200" cy="457200"/>
          </a:xfrm>
          <a:prstGeom prst="ellipse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10512" y="3766185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600" i="0" b="1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79" y="3534156"/>
            <a:ext cx="9037015" cy="92125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1E293B"/>
                </a:solidFill>
                <a:latin typeface="Helvetica Neue"/>
              </a:rPr>
              <a:t>3 — Time-based (</a:t>
            </a:r>
            <a:r>
              <a:rPr sz="1620" i="0" b="1">
                <a:solidFill>
                  <a:srgbClr val="0F7490"/>
                </a:solidFill>
                <a:latin typeface="Menlo"/>
              </a:rPr>
              <a:t>/loop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)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 — hand off the trigger to a clock. Session-scoped, your permissions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45920" y="4565142"/>
            <a:ext cx="10042855" cy="921257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810512" y="4797171"/>
            <a:ext cx="457200" cy="457200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10512" y="4797171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600" i="0" b="1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79" y="4565142"/>
            <a:ext cx="9037015" cy="92125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1E293B"/>
                </a:solidFill>
                <a:latin typeface="Helvetica Neue"/>
              </a:rPr>
              <a:t>4 — Proactive (</a:t>
            </a:r>
            <a:r>
              <a:rPr sz="1620" i="0" b="1">
                <a:solidFill>
                  <a:srgbClr val="0F7490"/>
                </a:solidFill>
                <a:latin typeface="Menlo"/>
              </a:rPr>
              <a:t>/schedule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)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 — hand off trigger and session. Needs a verifier you trust unattended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1472184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1" b="0">
                <a:solidFill>
                  <a:srgbClr val="94A3B8"/>
                </a:solidFill>
                <a:latin typeface="Helvetica Neue"/>
              </a:rPr>
              <a:t>more handed off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05840" y="2066544"/>
            <a:ext cx="0" cy="3328416"/>
          </a:xfrm>
          <a:prstGeom prst="line">
            <a:avLst/>
          </a:prstGeom>
          <a:ln w="285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The evolve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Capability level 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3 · Autonomy and improvement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notes/08-self-improving-loops.md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363724"/>
            <a:ext cx="109728" cy="2962656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363724"/>
            <a:ext cx="10088575" cy="2596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i="0" b="1">
                <a:solidFill>
                  <a:srgbClr val="1E3A5F"/>
                </a:solidFill>
                <a:latin typeface="Helvetica Neue"/>
              </a:rPr>
              <a:t>An evolve loop is a loop with a second, slower loop pointed at it. The fast loop does the work. The slow loop edits the fast loop.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91490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1" b="0">
                <a:solidFill>
                  <a:srgbClr val="475569"/>
                </a:solidFill>
                <a:latin typeface="Helvetica Neue"/>
              </a:rPr>
              <a:t>It doesn't retrain weights; it rewrites files. Contract, state, triggers and procedure improve while the model stays fixed.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The continual-evolution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Li, AI Agents in Depth, ch. 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3 · Autonomy and improvement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notes/08-self-improving-loops.md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" y="1417320"/>
            <a:ext cx="11295583" cy="413663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9-1-62742924446427899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72184"/>
            <a:ext cx="11185855" cy="402690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5636251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1" b="0">
                <a:solidFill>
                  <a:srgbClr val="94A3B8"/>
                </a:solidFill>
                <a:latin typeface="Helvetica Neue"/>
              </a:rPr>
              <a:t>Execute, record, form signals, generate candidate updates, verify, release (Li, 2026, Fig. 9-1, Apache-2.0)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400" i="0" b="1">
                <a:solidFill>
                  <a:srgbClr val="FFFFFF"/>
                </a:solidFill>
                <a:latin typeface="Helvetica Neue"/>
              </a:rPr>
              <a:t>Four edit targets, and the anti-busywork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The evolve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3 · Autonomy and improvement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notes/08-self-improving-loops.md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Agents default to doing something. Make "no change needed" an explicit, successful outcome.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1472184"/>
          <a:ext cx="11185854" cy="2026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89957"/>
                <a:gridCol w="7895897"/>
              </a:tblGrid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Target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Symptom that triggers it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Contract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Loop "succeeds" on runs you'd call failures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State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Agent acts on facts that expired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Trigger logic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Wakes constantly, finds nothing to do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SOP steps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Same manual correction, every run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Verify before you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Promise–action consistency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3 · Autonomy and improvement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notes/08-self-improving-loops.md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72184"/>
            <a:ext cx="6711513" cy="385572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81912"/>
            <a:ext cx="625431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0" b="1">
                <a:solidFill>
                  <a:srgbClr val="94A3B8"/>
                </a:solidFill>
                <a:latin typeface="Helvetica Neue"/>
              </a:rPr>
              <a:t>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883664"/>
            <a:ext cx="6254313" cy="3215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def _promise_action(self, traj):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ok = {c["name"]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      for c in traj["tool_calls"]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      if c["result"].get("success")}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missing = [p for p in traj["promises"]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           if p["required_tool"] not in ok]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if missing:          # said it, never did it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    return DimensionResult(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        "promise_action_consistency",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        "process_rules", FAIL, 0.0,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        [f"turn {p['turn']}: {p['text']}"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         for p in missing],  # evidence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        confidence=1.0)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0193" y="1604772"/>
            <a:ext cx="96012" cy="96012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0233" y="1517904"/>
            <a:ext cx="3788542" cy="9966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Three layers: 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outcome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and 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process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in code, 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quality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by rubric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0193" y="2647188"/>
            <a:ext cx="96012" cy="96012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0233" y="2560320"/>
            <a:ext cx="3788542" cy="9966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False promise and privacy leak both average 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0.571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but need different fixes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0193" y="3689604"/>
            <a:ext cx="96012" cy="96012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0233" y="3602736"/>
            <a:ext cx="3788542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Structured, not scalar. A single 0.57 points nowhere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Where the lesson goes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Four media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3 · Autonomy and improvement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notes/08-self-improving-loops.md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Choose the smallest target that is easiest to verify and roll back.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" y="1417320"/>
            <a:ext cx="6261948" cy="263213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ig9-3-71306377535225727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72184"/>
            <a:ext cx="6152220" cy="252241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4131754"/>
            <a:ext cx="61522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1" b="0">
                <a:solidFill>
                  <a:srgbClr val="94A3B8"/>
                </a:solidFill>
                <a:latin typeface="Helvetica Neue"/>
              </a:rPr>
              <a:t>Knowledge docs, prompts and Skills, programs and harness, parameters (Li, 2026, Fig. 9-3, Apache-2.0)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20900" y="1559052"/>
            <a:ext cx="96012" cy="96012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40940" y="1472184"/>
            <a:ext cx="4347834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Starts as an 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experience doc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, from comparison not summary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20900" y="2299716"/>
            <a:ext cx="96012" cy="96012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40940" y="2212848"/>
            <a:ext cx="4347834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Promoted to a 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Skill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rule after repeated validation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20900" y="3040380"/>
            <a:ext cx="96012" cy="96012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40940" y="2953512"/>
            <a:ext cx="4347834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Compiled into 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code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if it needs no language understanding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20900" y="3781044"/>
            <a:ext cx="96012" cy="96012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40940" y="3694176"/>
            <a:ext cx="4347834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1E293B"/>
                </a:solidFill>
                <a:latin typeface="Helvetica Neue"/>
              </a:rPr>
              <a:t>Weights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only for broad, implicit judgment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Self-modification is a release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Never overwrite stable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3 · Autonomy and improvement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notes/08-self-improving-loops.md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63624"/>
            <a:ext cx="1834835" cy="1490472"/>
          </a:xfrm>
          <a:prstGeom prst="roundRect">
            <a:avLst>
              <a:gd name="adj" fmla="val 12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63624"/>
            <a:ext cx="1560515" cy="1490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Branch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from stable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92619" y="2308860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40675" y="1563624"/>
            <a:ext cx="1834835" cy="1490472"/>
          </a:xfrm>
          <a:prstGeom prst="roundRect">
            <a:avLst>
              <a:gd name="adj" fmla="val 12000"/>
            </a:avLst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7835" y="1563624"/>
            <a:ext cx="1560515" cy="1490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Minimal patch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in a candidate dir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30374" y="2308860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78430" y="1563624"/>
            <a:ext cx="1834835" cy="1490472"/>
          </a:xfrm>
          <a:prstGeom prst="roundRect">
            <a:avLst>
              <a:gd name="adj" fmla="val 12000"/>
            </a:avLst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15590" y="1563624"/>
            <a:ext cx="1560515" cy="1490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Checks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static, unit, security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68129" y="2308860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516185" y="1563624"/>
            <a:ext cx="1834835" cy="1490472"/>
          </a:xfrm>
          <a:prstGeom prst="roundRect">
            <a:avLst>
              <a:gd name="adj" fmla="val 12000"/>
            </a:avLst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53345" y="1563624"/>
            <a:ext cx="1560515" cy="1490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Replay + regress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failures and old tasks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05884" y="2308860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853940" y="1563624"/>
            <a:ext cx="1834835" cy="1490472"/>
          </a:xfrm>
          <a:prstGeom prst="roundRect">
            <a:avLst>
              <a:gd name="adj" fmla="val 12000"/>
            </a:avLst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91100" y="1563624"/>
            <a:ext cx="1560515" cy="1490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Canary or reject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never straight to stable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465830"/>
            <a:ext cx="101346" cy="101346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374136"/>
            <a:ext cx="10865815" cy="728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i="0" b="1">
                <a:solidFill>
                  <a:srgbClr val="1E293B"/>
                </a:solidFill>
                <a:latin typeface="Helvetica Neue"/>
              </a:rPr>
              <a:t>Falsifiable change contract:</a:t>
            </a:r>
            <a:r>
              <a:rPr sz="1900" i="0" b="0">
                <a:solidFill>
                  <a:srgbClr val="1E293B"/>
                </a:solidFill>
                <a:latin typeface="Helvetica Neue"/>
              </a:rPr>
              <a:t> root cause, expected gain, possible regression, tests for both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247642"/>
            <a:ext cx="101346" cy="101346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55948"/>
            <a:ext cx="10865815" cy="4099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i="0" b="1">
                <a:solidFill>
                  <a:srgbClr val="1E293B"/>
                </a:solidFill>
                <a:latin typeface="Helvetica Neue"/>
              </a:rPr>
              <a:t>Bounded candidate space:</a:t>
            </a:r>
            <a:r>
              <a:rPr sz="1900" i="0" b="0">
                <a:solidFill>
                  <a:srgbClr val="1E293B"/>
                </a:solidFill>
                <a:latin typeface="Helvetica Neue"/>
              </a:rPr>
              <a:t> failures, successes to preserve, rejected attempts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710938"/>
            <a:ext cx="101346" cy="101346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619244"/>
            <a:ext cx="10865815" cy="4099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i="0" b="0">
                <a:solidFill>
                  <a:srgbClr val="1E293B"/>
                </a:solidFill>
                <a:latin typeface="Helvetica Neue"/>
              </a:rPr>
              <a:t>Safety is not self-modifiable: validators, thresholds and audit logs stay out of reach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The gate runs outside 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practice/03-self-modifying-agent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3 · Autonomy and improvement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notes/08-self-improving-loops.md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72184"/>
            <a:ext cx="6711513" cy="3611879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81912"/>
            <a:ext cx="625431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0" b="1">
                <a:solidFill>
                  <a:srgbClr val="94A3B8"/>
                </a:solidFill>
                <a:latin typeface="Helvetica Neue"/>
              </a:rPr>
              <a:t>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883664"/>
            <a:ext cx="6254313" cy="29717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retry = ns["should_retry"]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checks["failure_replay"] = all(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not retry(t["error_code"],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          t["retryable"], 0)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for t in failures)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checks["old_task_regression"] = all((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retry("TEMPORARY_TIMEOUT", True, 2),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not retry("TEMPORARY_TIMEOUT", True, 3),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))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decision = ("release_to_canary"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        if all(checks.values())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        else "reject_candidate")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0193" y="1604772"/>
            <a:ext cx="96012" cy="96012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0233" y="1517904"/>
            <a:ext cx="3788542" cy="9966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Trigger: 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≥ 2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failure trajectories with the same tool and error code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0193" y="2647188"/>
            <a:ext cx="96012" cy="96012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0233" y="2560320"/>
            <a:ext cx="3788542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Patch: stop retrying </a:t>
            </a:r>
            <a:r>
              <a:rPr sz="1620" i="0" b="0">
                <a:solidFill>
                  <a:srgbClr val="0F7490"/>
                </a:solidFill>
                <a:latin typeface="Menlo"/>
              </a:rPr>
              <a:t>retryable=false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errors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0193" y="3387852"/>
            <a:ext cx="96012" cy="96012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0233" y="3300984"/>
            <a:ext cx="3788542" cy="9966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Swap in an LLM patch writer: a plausible patch that breaks timeouts still gets 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reject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Plasticity costs stability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Chen et al.,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3 · Autonomy and improvement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notes/08-self-improving-loops.md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" y="1417320"/>
            <a:ext cx="6261948" cy="250087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en-2026-plasticity-vs-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72184"/>
            <a:ext cx="6152220" cy="239114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4000490"/>
            <a:ext cx="61522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1" b="0">
                <a:solidFill>
                  <a:srgbClr val="94A3B8"/>
                </a:solidFill>
                <a:latin typeface="Helvetica Neue"/>
              </a:rPr>
              <a:t>Gain on new tasks vs loss on old ones, four drift scenarios (Chen et al., 2026, Fig. 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20900" y="1559052"/>
            <a:ext cx="96012" cy="96012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40940" y="1472184"/>
            <a:ext cx="4347834" cy="9966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Across 12 runs: the more a method learned, the more it forgot (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r = −0.72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20900" y="2601468"/>
            <a:ext cx="96012" cy="96012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40940" y="2514600"/>
            <a:ext cx="4347834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Global edits to one shared prompt: a family's share fell 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100% → 14.7%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20900" y="3342132"/>
            <a:ext cx="96012" cy="96012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40940" y="3255264"/>
            <a:ext cx="4347834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Opposite workflows → the policy rewritten into its opposite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20900" y="4082796"/>
            <a:ext cx="96012" cy="96012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40940" y="3995928"/>
            <a:ext cx="4347834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Measure separately: validity, 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activation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, 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adherence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, held-out gain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500" i="0" b="1">
                <a:solidFill>
                  <a:srgbClr val="FFFFFF"/>
                </a:solidFill>
                <a:latin typeface="Helvetica Neue"/>
              </a:rPr>
              <a:t>autoresearch: one file, one GPU, one metric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The worked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3 · Autonomy and improvement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notes/08-self-improving-loops.md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72184"/>
            <a:ext cx="5410047" cy="474573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472184"/>
            <a:ext cx="5410047" cy="55778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472184"/>
            <a:ext cx="4952847" cy="557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FFFFFF"/>
                </a:solidFill>
                <a:latin typeface="Helvetica Neue"/>
              </a:rPr>
              <a:t>The loop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313178"/>
            <a:ext cx="90678" cy="9067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231136"/>
            <a:ext cx="4587087" cy="6614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Agent edits </a:t>
            </a:r>
            <a:r>
              <a:rPr sz="1530" i="0" b="0">
                <a:solidFill>
                  <a:srgbClr val="0F7490"/>
                </a:solidFill>
                <a:latin typeface="Menlo"/>
              </a:rPr>
              <a:t>train.py</a:t>
            </a:r>
            <a:r>
              <a:rPr sz="1700" i="0" b="0">
                <a:solidFill>
                  <a:srgbClr val="1E293B"/>
                </a:solidFill>
                <a:latin typeface="Helvetica Neue"/>
              </a:rPr>
              <a:t>; nobody edits </a:t>
            </a:r>
            <a:r>
              <a:rPr sz="1530" i="0" b="0">
                <a:solidFill>
                  <a:srgbClr val="0F7490"/>
                </a:solidFill>
                <a:latin typeface="Menlo"/>
              </a:rPr>
              <a:t>prepare.py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012694"/>
            <a:ext cx="90678" cy="9067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930652"/>
            <a:ext cx="4587087" cy="6614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Fixed </a:t>
            </a:r>
            <a:r>
              <a:rPr sz="1700" i="0" b="1">
                <a:solidFill>
                  <a:srgbClr val="1E293B"/>
                </a:solidFill>
                <a:latin typeface="Helvetica Neue"/>
              </a:rPr>
              <a:t>5 minutes</a:t>
            </a:r>
            <a:r>
              <a:rPr sz="1700" i="0" b="0">
                <a:solidFill>
                  <a:srgbClr val="1E293B"/>
                </a:solidFill>
                <a:latin typeface="Helvetica Neue"/>
              </a:rPr>
              <a:t> of training per try, so results compare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712210"/>
            <a:ext cx="90678" cy="9067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630168"/>
            <a:ext cx="4587087" cy="6614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Better → keep and log to </a:t>
            </a:r>
            <a:r>
              <a:rPr sz="1530" i="0" b="0">
                <a:solidFill>
                  <a:srgbClr val="0F7490"/>
                </a:solidFill>
                <a:latin typeface="Menlo"/>
              </a:rPr>
              <a:t>results.tsv</a:t>
            </a:r>
            <a:r>
              <a:rPr sz="1700" i="0" b="0">
                <a:solidFill>
                  <a:srgbClr val="1E293B"/>
                </a:solidFill>
                <a:latin typeface="Helvetica Neue"/>
              </a:rPr>
              <a:t>; worse → </a:t>
            </a:r>
            <a:r>
              <a:rPr sz="1530" i="0" b="0">
                <a:solidFill>
                  <a:srgbClr val="0F7490"/>
                </a:solidFill>
                <a:latin typeface="Menlo"/>
              </a:rPr>
              <a:t>git reset HEAD~1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411726"/>
            <a:ext cx="90678" cy="9067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329684"/>
            <a:ext cx="4587087" cy="6614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The method lives in English, in </a:t>
            </a:r>
            <a:r>
              <a:rPr sz="1530" i="0" b="0">
                <a:solidFill>
                  <a:srgbClr val="0F7490"/>
                </a:solidFill>
                <a:latin typeface="Menlo"/>
              </a:rPr>
              <a:t>program.md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687568"/>
            <a:ext cx="5044287" cy="347472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687568"/>
            <a:ext cx="4861407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0" b="0">
                <a:solidFill>
                  <a:srgbClr val="475569"/>
                </a:solidFill>
                <a:latin typeface="Helvetica Neue"/>
              </a:rPr>
              <a:t>Karpathy, 2026-03-06, ~630 lines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78727" y="1472184"/>
            <a:ext cx="5410047" cy="474573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78727" y="1472184"/>
            <a:ext cx="5410047" cy="5577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07327" y="1472184"/>
            <a:ext cx="4952847" cy="557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475569"/>
                </a:solidFill>
                <a:latin typeface="Helvetica Neue"/>
              </a:rPr>
              <a:t>The result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07327" y="2313178"/>
            <a:ext cx="90678" cy="9067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27367" y="2231136"/>
            <a:ext cx="4587087" cy="6614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700 experiments over two days → </a:t>
            </a:r>
            <a:r>
              <a:rPr sz="1700" i="0" b="1">
                <a:solidFill>
                  <a:srgbClr val="1E293B"/>
                </a:solidFill>
                <a:latin typeface="Helvetica Neue"/>
              </a:rPr>
              <a:t>20</a:t>
            </a:r>
            <a:r>
              <a:rPr sz="1700" i="0" b="0">
                <a:solidFill>
                  <a:srgbClr val="1E293B"/>
                </a:solidFill>
                <a:latin typeface="Helvetica Neue"/>
              </a:rPr>
              <a:t> real improvements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07327" y="3012694"/>
            <a:ext cx="90678" cy="9067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27367" y="2930652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GPT-2 training </a:t>
            </a:r>
            <a:r>
              <a:rPr sz="1700" i="0" b="1">
                <a:solidFill>
                  <a:srgbClr val="1E293B"/>
                </a:solidFill>
                <a:latin typeface="Helvetica Neue"/>
              </a:rPr>
              <a:t>2.02 → 1.80 h</a:t>
            </a:r>
            <a:r>
              <a:rPr sz="1700" i="0" b="0">
                <a:solidFill>
                  <a:srgbClr val="1E293B"/>
                </a:solidFill>
                <a:latin typeface="Helvetica Neue"/>
              </a:rPr>
              <a:t> (11%)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07327" y="3427222"/>
            <a:ext cx="90678" cy="9067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27367" y="3345180"/>
            <a:ext cx="4587087" cy="6614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Hit rate </a:t>
            </a:r>
            <a:r>
              <a:rPr sz="1700" i="0" b="1">
                <a:solidFill>
                  <a:srgbClr val="1E293B"/>
                </a:solidFill>
                <a:latin typeface="Helvetica Neue"/>
              </a:rPr>
              <a:t>under 3%</a:t>
            </a:r>
            <a:r>
              <a:rPr sz="1700" i="0" b="0">
                <a:solidFill>
                  <a:srgbClr val="1E293B"/>
                </a:solidFill>
                <a:latin typeface="Helvetica Neue"/>
              </a:rPr>
              <a:t>, which is fine when attempts are cheap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07327" y="4126738"/>
            <a:ext cx="90678" cy="9067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27367" y="4044696"/>
            <a:ext cx="4587087" cy="6614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Bilevel version: outer loop writes search code, </a:t>
            </a:r>
            <a:r>
              <a:rPr sz="1700" i="0" b="1">
                <a:solidFill>
                  <a:srgbClr val="1E293B"/>
                </a:solidFill>
                <a:latin typeface="Helvetica Neue"/>
              </a:rPr>
              <a:t>5×</a:t>
            </a:r>
            <a:r>
              <a:rPr sz="1700" i="0" b="0">
                <a:solidFill>
                  <a:srgbClr val="1E293B"/>
                </a:solidFill>
                <a:latin typeface="Helvetica Neue"/>
              </a:rPr>
              <a:t> gain, same model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61607" y="5687568"/>
            <a:ext cx="5044287" cy="347472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3047" y="5687568"/>
            <a:ext cx="4861407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0" b="0">
                <a:solidFill>
                  <a:srgbClr val="475569"/>
                </a:solidFill>
                <a:latin typeface="Helvetica Neue"/>
              </a:rPr>
              <a:t>"If you have an objective metric, you are the bottleneck."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500" i="0" b="1">
                <a:solidFill>
                  <a:srgbClr val="FFFFFF"/>
                </a:solidFill>
                <a:latin typeface="Helvetica Neue"/>
              </a:rPr>
              <a:t>At the frontier — recursive self-improvement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DiscoveryRSI (Zhong et al.,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3 · Autonomy and improvement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notes/08-self-improving-loops.md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The limit becomes verification capacity, not generation capacity.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4044" y="1417320"/>
            <a:ext cx="6149972" cy="3712463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zhong-2026-discoveryrsi-results-89440516530321260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908" y="1472184"/>
            <a:ext cx="6040244" cy="36027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5212080"/>
            <a:ext cx="61522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1" b="0">
                <a:solidFill>
                  <a:srgbClr val="94A3B8"/>
                </a:solidFill>
                <a:latin typeface="Helvetica Neue"/>
              </a:rPr>
              <a:t>Hits in later research, quality over two RSI rounds, human-rated gain (Zhong et al., 2026, Fig. 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20900" y="1559052"/>
            <a:ext cx="96012" cy="96012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40940" y="1472184"/>
            <a:ext cx="4347834" cy="9966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Task horizon 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doubling every ~4 months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; &gt;80% of Anthropic's merged code by Claude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20900" y="2601468"/>
            <a:ext cx="96012" cy="96012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40940" y="2514600"/>
            <a:ext cx="4347834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Quality is an automated rubric; best hit rate vs later papers 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6.3%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20900" y="3342132"/>
            <a:ext cx="96012" cy="96012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40940" y="3255264"/>
            <a:ext cx="4347834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Open-ended work: implementation drift, over-optimism, missing taste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0EA5C9"/>
                </a:solidFill>
                <a:latin typeface="Helvetica Neue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5486400" cy="1859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5000" i="0" b="1">
                <a:solidFill>
                  <a:srgbClr val="FFFFFF"/>
                </a:solidFill>
                <a:latin typeface="Helvetica Neue"/>
              </a:rPr>
              <a:t>Running it safely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16680"/>
            <a:ext cx="530352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0">
                <a:solidFill>
                  <a:srgbClr val="0EA5C9"/>
                </a:solidFill>
                <a:latin typeface="Helvetica Neue"/>
              </a:rPr>
              <a:t>Failure modes and guardrails · Framework bindings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46520" y="2273935"/>
            <a:ext cx="0" cy="2310130"/>
          </a:xfrm>
          <a:prstGeom prst="line">
            <a:avLst/>
          </a:prstGeom>
          <a:ln w="19050">
            <a:solidFill>
              <a:srgbClr val="3B5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66560" y="2273935"/>
            <a:ext cx="4693615" cy="24930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The traps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The four silent costs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Layered exits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Guardrails for self-modifying loops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The same loop parts in three frameworks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ADK: the critic/refiner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64748B"/>
                </a:solidFill>
                <a:latin typeface="Helvetica Neue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The traps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Failure modes (KodeKloud, Masood)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4 · Running it safely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notes/09-failure-modes-and-guardrails.md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39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472184"/>
          <a:ext cx="11185854" cy="36149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96463"/>
                <a:gridCol w="3915049"/>
                <a:gridCol w="4474342"/>
              </a:tblGrid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Trap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Symptom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Fix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No scorekeeper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Results inconsistent or meaningless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Write it first; objective and hard to game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Goal too big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Never finishes; scope drifts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Cut to one small testable piece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Cheating the tests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Green score, wrong output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Protect the scorekeeper; held-out checks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Thrashing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Lots of change, no improvement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Smaller goal, smaller changes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Context rot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Memory degrades as the transcript grows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Summarize and prune inside the loop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Unsafe autonomy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Risky commands or sweeping edits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Narrow write scope; approval gates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The four silent costs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300" i="0" b="0">
                <a:solidFill>
                  <a:srgbClr val="0EA5C9"/>
                </a:solidFill>
                <a:latin typeface="Helvetica Neue"/>
              </a:rPr>
              <a:t>Osmani: they don't show up in traces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4 · Running it safely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notes/09-failure-modes-and-guardrails.md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"Build it like someone who intends to stay the engineer, not just the person who presses go."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472184"/>
            <a:ext cx="2590723" cy="31516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472184"/>
            <a:ext cx="82296" cy="315163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655064"/>
            <a:ext cx="2133523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Verification debt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087880"/>
            <a:ext cx="2087803" cy="23530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475569"/>
                </a:solidFill>
                <a:latin typeface="Helvetica Neue"/>
              </a:rPr>
              <a:t>"Looks fine" stands in for "confirmed". Make stop conditions machine-checkable.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7963" y="1472184"/>
            <a:ext cx="2590723" cy="31516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67963" y="1472184"/>
            <a:ext cx="82296" cy="3151632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42283" y="1655064"/>
            <a:ext cx="2133523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Comprehension rot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42283" y="2087880"/>
            <a:ext cx="2087803" cy="23530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475569"/>
                </a:solidFill>
                <a:latin typeface="Helvetica Neue"/>
              </a:rPr>
              <a:t>Code ships faster than you understand it. Fast loops require fast reading.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3007" y="1472184"/>
            <a:ext cx="2590723" cy="31516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3007" y="1472184"/>
            <a:ext cx="82296" cy="315163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7327" y="1655064"/>
            <a:ext cx="2133523" cy="627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Cognitive surrender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7327" y="2356104"/>
            <a:ext cx="2087803" cy="20848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475569"/>
                </a:solidFill>
                <a:latin typeface="Helvetica Neue"/>
              </a:rPr>
              <a:t>"The comfortable posture is the dangerous one." You take what it returns without an opinion.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8051" y="1472184"/>
            <a:ext cx="2590723" cy="31516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98051" y="1472184"/>
            <a:ext cx="82296" cy="3151632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72371" y="1655064"/>
            <a:ext cx="2133523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Token blowout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371" y="2087880"/>
            <a:ext cx="2087803" cy="23530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475569"/>
                </a:solidFill>
                <a:latin typeface="Helvetica Neue"/>
              </a:rPr>
              <a:t>Context grows roughly quadratically. Compaction or reset from the first loop.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Layered exits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Several independent ways to stop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4 · Running it safely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notes/09-failure-modes-and-guardrails.md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The two ratchet rules: the score only goes up, and fix breaks before adding more.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1472184"/>
          <a:ext cx="11185854" cy="29504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96463"/>
                <a:gridCol w="4474342"/>
                <a:gridCol w="3915049"/>
              </a:tblGrid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Exit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Fires when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Outcome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Success</a:t>
                      </a:r>
                    </a:p>
                  </a:txBody>
                  <a:tcPr marL="109728" marR="109728" marT="54864" marB="54864" anchor="ctr">
                    <a:solidFill>
                      <a:srgbClr val="E8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Scorekeeper confirms the goal</a:t>
                      </a:r>
                    </a:p>
                  </a:txBody>
                  <a:tcPr marL="109728" marR="109728" marT="54864" marB="54864" anchor="ctr">
                    <a:solidFill>
                      <a:srgbClr val="E8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Save, report, stop</a:t>
                      </a:r>
                    </a:p>
                  </a:txBody>
                  <a:tcPr marL="109728" marR="109728" marT="54864" marB="54864" anchor="ctr">
                    <a:solidFill>
                      <a:srgbClr val="E8F4F8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Iteration cap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N passes reached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Escalate. The cap isn't success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Budget cap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Tokens, dollars or wall-clock spent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Escalate with state saved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Stall detector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Score flat for K passes, or same action repeated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Change strategy once, then escalate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Human escalation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Blocker, irreversible action, judgment call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Pause and hand over full context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Guardrails for self-modifying loops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Li, AI Agents in Depth, ch. 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4 · Running it safely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notes/09-failure-modes-and-guardrails.md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The third rule is the write boundary, extended to the release gate.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1472184"/>
          <a:ext cx="11185854" cy="23987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55756"/>
                <a:gridCol w="7830098"/>
              </a:tblGrid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Boundary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Rule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Evidence ≠ instructions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Web pages and tool output are untrusted. Summarize, version as a PR, review with another model family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Candidate ≠ production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New knowledge, prompts, Skills, code start where no traffic is served. Sandbox, scan, test, then canary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Safety is not self-modifiable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Validators, tests, thresholds, audit logs and backups are out of the agent's reach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The same loop parts in three frameworks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Framework bindings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4 · Running it safely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notes/10-framework-bindings.md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Look for where each framework puts the goal, the scorekeeper and the stop rules.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1472184"/>
          <a:ext cx="11185854" cy="28376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97221"/>
                <a:gridCol w="2996211"/>
                <a:gridCol w="2996211"/>
                <a:gridCol w="2996211"/>
              </a:tblGrid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Loop part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Google ADK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Vercel AI SDK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LangGraph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Agent loop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LoopAgent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ToolLoopAgent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create_agent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Checker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critic sub-agent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your check in a tool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RubricMiddleware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Early exit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escalate = True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stopWhen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edge to </a:t>
                      </a: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END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Hard cap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max_iterations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stepCountIs(n)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recursion_limit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Durability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session state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WorkflowAgent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checkpointer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Trace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events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result.steps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LangSmith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ADK: the critic/refiner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Framework bindings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4 · Running it safely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notes/10-framework-bindings.md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72184"/>
            <a:ext cx="6711513" cy="409956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81912"/>
            <a:ext cx="625431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0" b="1">
                <a:solidFill>
                  <a:srgbClr val="94A3B8"/>
                </a:solidFill>
                <a:latin typeface="Helvetica Neue"/>
              </a:rPr>
              <a:t>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883664"/>
            <a:ext cx="6254313" cy="3459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def exit_loop(tool_context: ToolContext):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tool_context.actions.escalate = True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return {}</a:t>
            </a:r>
          </a:p>
          <a:p>
            <a:pPr algn="l">
              <a:lnSpc>
                <a:spcPct val="100000"/>
              </a:lnSpc>
            </a:pP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critic = LlmAgent(name="CriticAgent",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instruction="Grade {draft} ...",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output_key="critique")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refiner = LlmAgent(name="RefinerAgent",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instruction="If {critique} is clean, "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            "call exit_loop. Else rewrite.",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tools=[exit_loop], output_key="draft")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refine = LoopAgent(name="Refine",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sub_agents=[critic, refiner],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max_iterations=5)       # backstop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0193" y="1604772"/>
            <a:ext cx="96012" cy="96012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0233" y="1517904"/>
            <a:ext cx="3788542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1E293B"/>
                </a:solidFill>
                <a:latin typeface="Helvetica Neue"/>
              </a:rPr>
              <a:t>Stopping is not automatic: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a sub-agent must set </a:t>
            </a:r>
            <a:r>
              <a:rPr sz="1620" i="0" b="0">
                <a:solidFill>
                  <a:srgbClr val="0F7490"/>
                </a:solidFill>
                <a:latin typeface="Menlo"/>
              </a:rPr>
              <a:t>escalate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0193" y="2345436"/>
            <a:ext cx="96012" cy="96012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0233" y="2258568"/>
            <a:ext cx="3788542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20" i="0" b="0">
                <a:solidFill>
                  <a:srgbClr val="0F7490"/>
                </a:solidFill>
                <a:latin typeface="Menlo"/>
              </a:rPr>
              <a:t>output_key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writes state; </a:t>
            </a:r>
            <a:r>
              <a:rPr sz="1620" i="0" b="0">
                <a:solidFill>
                  <a:srgbClr val="0F7490"/>
                </a:solidFill>
                <a:latin typeface="Menlo"/>
              </a:rPr>
              <a:t>{draft}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reads it back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0193" y="3086100"/>
            <a:ext cx="96012" cy="96012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0233" y="2999232"/>
            <a:ext cx="3788542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20" i="0" b="0">
                <a:solidFill>
                  <a:srgbClr val="0F7490"/>
                </a:solidFill>
                <a:latin typeface="Menlo"/>
              </a:rPr>
              <a:t>max_iterations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is the backstop, 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not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the main exit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Rules of thumb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The pillar on one slide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Wrap-up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README.md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72184"/>
            <a:ext cx="3545738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472184"/>
            <a:ext cx="82296" cy="2212848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55064"/>
            <a:ext cx="3088538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87880"/>
            <a:ext cx="3042818" cy="14142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475569"/>
                </a:solidFill>
                <a:latin typeface="Helvetica Neue"/>
              </a:rPr>
              <a:t>Goal and scorekeeper before anything runs. Go green once, then add parts.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2978" y="1472184"/>
            <a:ext cx="3545738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2978" y="1472184"/>
            <a:ext cx="82296" cy="221284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7298" y="1655064"/>
            <a:ext cx="3088538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Scorekeeper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7298" y="2087880"/>
            <a:ext cx="3042818" cy="14142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475569"/>
                </a:solidFill>
                <a:latin typeface="Helvetica Neue"/>
              </a:rPr>
              <a:t>Deterministic first, out of the loop's write scope, some checks held out. The checker can say clean.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43036" y="1472184"/>
            <a:ext cx="3545738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43036" y="1472184"/>
            <a:ext cx="82296" cy="2212848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7356" y="1655064"/>
            <a:ext cx="3088538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Ratchet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7356" y="2087880"/>
            <a:ext cx="3042818" cy="14142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475569"/>
                </a:solidFill>
                <a:latin typeface="Helvetica Neue"/>
              </a:rPr>
              <a:t>The score only goes up. One change per pass; save or roll back.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959352"/>
            <a:ext cx="3545738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959352"/>
            <a:ext cx="82296" cy="2212848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142232"/>
            <a:ext cx="3088538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Long runs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575048"/>
            <a:ext cx="3042818" cy="14142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475569"/>
                </a:solidFill>
                <a:latin typeface="Helvetica Neue"/>
              </a:rPr>
              <a:t>State on disk, not in context. One item per session, leave the repo clean.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2978" y="3959352"/>
            <a:ext cx="3545738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22978" y="3959352"/>
            <a:ext cx="82296" cy="2212848"/>
          </a:xfrm>
          <a:prstGeom prst="rect">
            <a:avLst/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7298" y="4142232"/>
            <a:ext cx="3088538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Autonomy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7298" y="4575048"/>
            <a:ext cx="3042818" cy="14142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475569"/>
                </a:solidFill>
                <a:latin typeface="Helvetica Neue"/>
              </a:rPr>
              <a:t>Climb one rung at a time, each earned with a verifier you trust.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43036" y="3959352"/>
            <a:ext cx="3545738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43036" y="3959352"/>
            <a:ext cx="82296" cy="2212848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7356" y="4142232"/>
            <a:ext cx="3088538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Stopping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7356" y="4575048"/>
            <a:ext cx="3042818" cy="14142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475569"/>
                </a:solidFill>
                <a:latin typeface="Helvetica Neue"/>
              </a:rPr>
              <a:t>Layered, independent exits. A cap is an escalation, never a success.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Where to go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The graph composes loops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Wrap-up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README.md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68704"/>
            <a:ext cx="106680" cy="10668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72184"/>
            <a:ext cx="5944038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1">
                <a:solidFill>
                  <a:srgbClr val="1E293B"/>
                </a:solidFill>
                <a:latin typeface="Helvetica Neue"/>
              </a:rPr>
              <a:t>05 — Graph engineering:</a:t>
            </a:r>
            <a:r>
              <a:rPr sz="2000" i="0" b="0">
                <a:solidFill>
                  <a:srgbClr val="1E293B"/>
                </a:solidFill>
                <a:latin typeface="Helvetica Neue"/>
              </a:rPr>
              <a:t> loops composed into nodes, edges and multi-agent topologies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91664"/>
            <a:ext cx="106680" cy="10668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295144"/>
            <a:ext cx="5944038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1">
                <a:solidFill>
                  <a:srgbClr val="1E293B"/>
                </a:solidFill>
                <a:latin typeface="Helvetica Neue"/>
              </a:rPr>
              <a:t>06 — Eval:</a:t>
            </a:r>
            <a:r>
              <a:rPr sz="2000" i="0" b="0">
                <a:solidFill>
                  <a:srgbClr val="1E293B"/>
                </a:solidFill>
                <a:latin typeface="Helvetica Neue"/>
              </a:rPr>
              <a:t> the scorekeeper as an eval artifact; graders, judges, Goodhart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14624"/>
            <a:ext cx="106680" cy="10668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118104"/>
            <a:ext cx="5944038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1">
                <a:solidFill>
                  <a:srgbClr val="1E293B"/>
                </a:solidFill>
                <a:latin typeface="Helvetica Neue"/>
              </a:rPr>
              <a:t>Labs:</a:t>
            </a:r>
            <a:r>
              <a:rPr sz="2000" i="0" b="0">
                <a:solidFill>
                  <a:srgbClr val="1E293B"/>
                </a:solidFill>
                <a:latin typeface="Helvetica Neue"/>
              </a:rPr>
              <a:t> practice/01-exercises, 02-trajectory-verifier, 03-self-modifying-agent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372864"/>
            <a:ext cx="106680" cy="10668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276344"/>
            <a:ext cx="5944038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1">
                <a:solidFill>
                  <a:srgbClr val="1E293B"/>
                </a:solidFill>
                <a:latin typeface="Helvetica Neue"/>
              </a:rPr>
              <a:t>Copy from:</a:t>
            </a:r>
            <a:r>
              <a:rPr sz="2000" i="0" b="0">
                <a:solidFill>
                  <a:srgbClr val="1E293B"/>
                </a:solidFill>
                <a:latin typeface="Helvetica Neue"/>
              </a:rPr>
              <a:t> templates/ — ralph.sh, loop contract, loop state, maker and checker prompts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531104"/>
            <a:ext cx="106680" cy="10668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434584"/>
            <a:ext cx="5944038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1">
                <a:solidFill>
                  <a:srgbClr val="1E293B"/>
                </a:solidFill>
                <a:latin typeface="Helvetica Neue"/>
              </a:rPr>
              <a:t>Read:</a:t>
            </a:r>
            <a:r>
              <a:rPr sz="2000" i="0" b="0">
                <a:solidFill>
                  <a:srgbClr val="1E293B"/>
                </a:solidFill>
                <a:latin typeface="Helvetica Neue"/>
              </a:rPr>
              <a:t> Li, AI Agents in Depth ch. 9; Karpathy's autoresearch; Osmani and Masood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758" y="1472184"/>
            <a:ext cx="4556016" cy="474573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758" y="1472184"/>
            <a:ext cx="4556016" cy="55778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1358" y="1472184"/>
            <a:ext cx="4098816" cy="557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FFFFFF"/>
                </a:solidFill>
                <a:latin typeface="Helvetica Neue"/>
              </a:rPr>
              <a:t>The one idea to keep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1358" y="2231136"/>
            <a:ext cx="4053096" cy="38039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475569"/>
                </a:solidFill>
                <a:latin typeface="Helvetica Neue"/>
              </a:rPr>
              <a:t>The model supplies two lines of the loop. Everything else — the goal, the scorekeeper, the stop rules — is yours to design.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