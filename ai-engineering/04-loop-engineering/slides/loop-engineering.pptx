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four. The harness made one run safe. Today nobody types the next prompt. We will follow a single loop with a simple job, make the auth tests pass, and at each stage ask what goes wrong once you stop watching.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question for any loop is not how to prompt it. It is who decides whether a pass helped. We define the loop, draw its skeleton, and spend the most time on the scorekeeper.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agent can fix one failing auth test when you ask. Now you want it to keep going until all of them pass, and you want to go to lunch. Each pass used to have you in it, reading the result. Remove yourself and something else has to do that reading. That is what this pillar designs.</a:t>
            </a:r>
          </a:p>
          <a:p/>
          <a:p>
            <a:r>
              <a:t>Source: notes/01-what-a-loop-is.md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will meet this cycle under different names. They agree on nearly everything. The word worth noticing is save. If passing work gets committed, a later bad pass can only cost you that pass. So what do you need before starting the cycle at all?</a:t>
            </a:r>
          </a:p>
          <a:p/>
          <a:p>
            <a:r>
              <a:t>Source: notes/01-what-a-loop-is.md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goal is checkable as written, and the test suite is already a scorekeeper. Before adding any machinery, run one pass by hand from start to end. And before any of this, ask if you need a loop at all.</a:t>
            </a:r>
          </a:p>
          <a:p/>
          <a:p>
            <a:r>
              <a:t>Source: notes/01-what-a-loop-is.md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advice is workflow first. Our auth tests qualify because a script can say pass or fail. A loop that writes marketing copy mostly would not. When yours keeps circling, first ask if it should be a loop.</a:t>
            </a:r>
          </a:p>
          <a:p/>
          <a:p>
            <a:r>
              <a:t>Source: notes/01-what-a-loop-is.md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important slide of part one. Count what the model does: reason and choose. Everything else is engineering. Remove the stall check and it thrashes. Remove the cap and it runs forever. Note that hitting the cap escalates: it doesn't report success, and that matters later.</a:t>
            </a:r>
          </a:p>
          <a:p/>
          <a:p>
            <a:r>
              <a:t>Source: notes/02-loop-shapes.md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failing test suits Retry. A refactor across files suits Plan-Execute-Verify. A bug with no leads suits Explore-Narrow. Vercel's order is a good sanity check: tool use, then reflection, then planning. Inside any of these shapes there are lots of small decisions, and not all need an expensive model.</a:t>
            </a:r>
          </a:p>
          <a:p/>
          <a:p>
            <a:r>
              <a:t>Source: notes/02-loop-shapes.md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and colleagues put a small classifier at each decision point. With no threshold, tool-choice delegation lost nineteen points of success. With a threshold fitted per decision point it was 81 to 89 percent cheaper. So measurement decides, which brings us to the thing doing the measuring.</a:t>
            </a:r>
          </a:p>
          <a:p/>
          <a:p>
            <a:r>
              <a:t>Source: notes/02-loop-shapes.md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web-app agent improved once it could test features as a human would. It wasn't a better prompt. Our pytest run is objective, automatic and clear. Is it hard to fake? An agent asked to make the tests pass can delete them. So where does the scorekeeper live?</a:t>
            </a:r>
          </a:p>
          <a:p/>
          <a:p>
            <a:r>
              <a:t>Source: notes/03-the-scorekeeper.md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us the agent writes auth code, nobody writes tests/auth while the loop runs, and a human writes the contract. Tests still can't check judgment, though, so where a rubric is needed we use a second agent.</a:t>
            </a:r>
          </a:p>
          <a:p/>
          <a:p>
            <a:r>
              <a:t>Source: notes/03-the-scorekeeper.md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prompt you can use this week. Read the diff, not the summary. Run the commands yourself. The most overlooked rule is honest in both directions: a checker that must find something will invent something. With an honest checker in place, the loop can start running longer.</a:t>
            </a:r>
          </a:p>
          <a:p/>
          <a:p>
            <a:r>
              <a:t>Source: notes/03-the-scorekeeper.md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an honest loop that gets through one pass. Now it has to survive many: parallel attempts, full context, restarts, and starting with no one pressing 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pass adds tool output and errors to the transcript. Working memory degrades, the model starts wrapping up early, and then the session ends and the next one starts blank. Three different walls, one fix. Let's look at the parts that implement it, and when to add each one.</a:t>
            </a:r>
          </a:p>
          <a:p/>
          <a:p>
            <a:r>
              <a:t>Source: notes/05-long-running-loops.md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install all six. Each row names a failure, so wait for it. Our auth loop has no use for connectors until you want it to open a pull request. Memory arrives first, as we are about to see.</a:t>
            </a:r>
          </a:p>
          <a:p/>
          <a:p>
            <a:r>
              <a:t>Source: notes/04-building-blocks.md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parts fit together. The pass reads where we left off and makes a worktree. It loads a skill, makes one change, runs the tests, and saves or rolls back. One change per pass is what lets the score tell you what helped. What exactly does memory hold?</a:t>
            </a:r>
          </a:p>
          <a:p/>
          <a:p>
            <a:r>
              <a:t>Source: notes/04-building-blocks.md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our loop's state file looks like at 41 of 47. It is short enough to load at every pass. The highlighted row is the one people leave out, and then a fresh agent cheerfully mocks the clock again.</a:t>
            </a:r>
          </a:p>
          <a:p/>
          <a:p>
            <a:r>
              <a:t>Source: notes/05-long-running-loops.md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in a shell script. Every pass is a new process, memory is the filesystem, and the score decides on commit or reset. Look at the exit codes: whatever runs this script can tell a win from a timeout. The note has the complete version.</a:t>
            </a:r>
          </a:p>
          <a:p/>
          <a:p>
            <a:r>
              <a:t>Source: notes/05-long-running-loops.md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Larger jobs split in two. One session writes the plan to disk once. Every later session does one item and leaves. And because state already lives in files, clearing the window costs almost nothing. So far the loop runs until it finishes. Other work never finishes.</a:t>
            </a:r>
          </a:p>
          <a:p/>
          <a:p>
            <a:r>
              <a:t>Source: notes/05-long-running-loops.md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decides this: does it have an end? Fixing the auth tests does, so that is a goal. Watching that the tests stay green doesn't, so that's a timer.</a:t>
            </a:r>
          </a:p>
          <a:p/>
          <a:p>
            <a:r>
              <a:t>Source: notes/06-triggers-and-schedules.md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Oded Messer's skeptical point is worth hearing: much of this is automation rediscovered. What is new is that the thing on the cron is nondeterministic, so the scorekeeper and stop rules do the work. A cron on an unverifiable job only schedules unverified work. How much of this should you hand over?</a:t>
            </a:r>
          </a:p>
          <a:p/>
          <a:p>
            <a:r>
              <a:t>Source: notes/06-triggers-and-schedules.md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 to here the loop changes the code. This part asks two things: how far you should step back, and what happens when the loop starts editing its own procedure. The answer to both is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is to skip straight to a nightly job that opens pull requests. But each step away from the keyboard removes one way you were catching mistakes. So we go up a rung at a time.</a:t>
            </a:r>
          </a:p>
          <a:p/>
          <a:p>
            <a:r>
              <a:t>Source: notes/07-autonomy-ladder.md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Rung one is where you learn how the task fails, so don't skip it. Our auth loop reached rung two as soon as it had a measurable end state. Rung four, which runs without your session or attention, needs a verifier you trust while asleep. Why does each rung cost reliability?</a:t>
            </a:r>
          </a:p>
          <a:p/>
          <a:p>
            <a:r>
              <a:t>Source: notes/07-autonomy-ladder.md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Oshin and Campos draw this as a curve. Every point is the best choice for some application. Climbing moves you along it, while good engineering moves the curve itself. One of the levers is human control, and that means more than a yes or no.</a:t>
            </a:r>
          </a:p>
          <a:p/>
          <a:p>
            <a:r>
              <a:t>Source: notes/07-autonomy-ladder.md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rungs one and two you are still present, and approve or deny is a poor set of controls. Learning LangChain lists six, all needing a checkpointer and a thread ID. For a loop that took a wrong turn at pass nine, fork is the one that saves you redoing the rest.</a:t>
            </a:r>
          </a:p>
          <a:p/>
          <a:p>
            <a:r>
              <a:t>Source: notes/07-autonomy-ladder.md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Albada adds the human half. As the agent climbs you stop reading every output and start setting policy. Each role needs its own interface, and a governor with no audit log isn't governing anything. Now for the case where the thing under review is the loop's own procedure.</a:t>
            </a:r>
          </a:p>
          <a:p/>
          <a:p>
            <a:r>
              <a:t>Source: notes/07-autonomy-ladder.md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loop repeatedly misses the same kind of bug. The slow loop reads its traces and proposes an edit to its instructions. Agents default to doing something, so "no change needed" must count as success, or it will churn. But it needs a signal to learn from.</a:t>
            </a:r>
          </a:p>
          <a:p/>
          <a:p>
            <a:r>
              <a:t>Source: notes/08-self-improving-loops.md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Li's chapter nine lab. This check compares what the agent said it would do with the tools that actually succeeded. Two very different failures average 0.571, one a false promise and one a privacy leak. A scalar would hide that, so the lesson needs evidence attached.</a:t>
            </a:r>
          </a:p>
          <a:p/>
          <a:p>
            <a:r>
              <a:t>Source: notes/08-self-improving-loops.md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lesson can live in four places. Start at the left, where it is cheap to change. If the same note keeps proving useful, promote it to a rule, and if the rule needs no language understanding, compile it. How does any of this reach the live loop?</a:t>
            </a:r>
          </a:p>
          <a:p/>
          <a:p>
            <a:r>
              <a:t>Source: notes/08-self-improving-loops.md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never overwrites itself while running. An edit is a release, same as any other. Li's example patch stops retrying non-retryable errors. Swap in a language model as the patch writer and a plausible patch that breaks timeouts is still rejected, because the gate is code.</a:t>
            </a:r>
          </a:p>
          <a:p/>
          <a:p>
            <a:r>
              <a:t>Source: notes/08-self-improving-loops.md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is in about 630 lines. A protected evaluator, a fixed five-minute budget so results compare, and one number. Most attempts fail, and that is fine when attempts are cheap. Now, what does evolving do to what the agent already knows?</a:t>
            </a:r>
          </a:p>
          <a:p/>
          <a:p>
            <a:r>
              <a:t>Source: notes/08-self-improving-loops.md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Chen and colleagues found a correlation of minus 0.72 across twelve runs between gaining on new tasks and keeping old ones. That is why the release gate replays old tasks. Next comes the far end, an improver that improves itself.</a:t>
            </a:r>
          </a:p>
          <a:p/>
          <a:p>
            <a:r>
              <a:t>Source: notes/08-self-improving-loops.md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archive, the search can step back from a dead end. The cautionary part is the agent that reached a perfect score in two edits by removing the logging the checker relied on. Our write boundary now has to include the scorekeeper's inputs. When generation gets this cheap, the limit moves to verification capacity.</a:t>
            </a:r>
          </a:p>
          <a:p/>
          <a:p>
            <a:r>
              <a:t>Source: notes/08-self-improving-loops.md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everything that goes wrong, by name, and the exits that contain it. We finish with the loop contract and how to find these parts in the framework you use.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our auth loop runs out of iterations at 45 of 47 and reports done, you have shipped a lie. Anthropic lists what an unattended run needs before you walk away: budgets, stopping conditions, recovery and observability. We begin with the ways it fails.</a:t>
            </a:r>
          </a:p>
          <a:p/>
          <a:p>
            <a:r>
              <a:t>Source: notes/09-failure-modes-and-guardrails.md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symptom column first, since that is what you will see. Green score and wrong output is the agent cheating, and it needs a protected scorekeeper. Lots of change and no improvement is thrashing, and more iterations will not help. Those at least show up in the logs. Some costs don't.</a:t>
            </a:r>
          </a:p>
          <a:p/>
          <a:p>
            <a:r>
              <a:t>Source: notes/09-failure-modes-and-guardrails.md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from Osmani, and they don't trip any alert. Three of the four happen to you, not the agent. The loop keeps producing, you keep accepting, and at some point you no longer understand what you own.</a:t>
            </a:r>
          </a:p>
          <a:p/>
          <a:p>
            <a:r>
              <a:t>Source: notes/09-failure-modes-and-guardrails.md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exits, and only one of them is a success. They must be independent, so one failing doesn't take out the rest. These are the exit codes from the Ralph script, grown up.</a:t>
            </a:r>
          </a:p>
          <a:p/>
          <a:p>
            <a:r>
              <a:t>Source: notes/09-failure-modes-and-guardrails.md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slow loop. Tool output could steer it, candidates could reach users, and it could weaken its own tests. The last boundary is the one from part one, the write boundary, extended to the whole release gate.</a:t>
            </a:r>
          </a:p>
          <a:p/>
          <a:p>
            <a:r>
              <a:t>Source: notes/09-failure-modes-and-guardrails.md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lecture as a document, filled in for our auth loop with illustrative values. The template is in note nine. If you can't write one of these sections, you are not ready to walk away from the loop.</a:t>
            </a:r>
          </a:p>
          <a:p/>
          <a:p>
            <a:r>
              <a:t>Source: notes/09-failure-modes-and-guardrails.md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you learned depends on a framework. Each has the same parts under different names. A closer look at one will show where the surprises are.</a:t>
            </a:r>
          </a:p>
          <a:p/>
          <a:p>
            <a:r>
              <a:t>Source: notes/10-framework-bindings.md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maker and a checker in ADK. The surprise is that nothing stops by itself: a sub-agent has to call the exit tool. Forget that and it always runs to five iterations and looks like success. That is the cap trap once more.</a:t>
            </a:r>
          </a:p>
          <a:p/>
          <a:p>
            <a:r>
              <a:t>Source: notes/10-framework-bindings.md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auth loop now has a scorekeeper it can't edit, a memory file, a ratchet, a trigger with a cost ceiling and five exits. Each of these was there because something would otherwise go wrong while nobody was watching.</a:t>
            </a:r>
          </a:p>
          <a:p/>
          <a:p>
            <a:r>
              <a:t>Source: notes/09-failure-modes-and-guardrails.md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take many of these loops and connect them, which is the graph pillar. After that, evals, where the scorekeeper gets a full treatment. Start with the scorekeeper practice folder.</a:t>
            </a:r>
          </a:p>
          <a:p/>
          <a:p>
            <a:r>
              <a:t>Source: notes/10-framework-bindings.md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Loop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Designing the cycle that prompts the agent</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One loop told to make the auth tests pass, from the first green pass to running without you.</a:t>
            </a:r>
          </a:p>
          <a:p>
            <a:pPr algn="l">
              <a:lnSpc>
                <a:spcPct val="125000"/>
              </a:lnSpc>
            </a:pPr>
            <a:r>
              <a:rPr sz="1500" i="0" b="0">
                <a:solidFill>
                  <a:srgbClr val="94A3B8"/>
                </a:solidFill>
                <a:latin typeface="Helvetica Neue"/>
              </a:rPr>
              <a:t>What keeps it honest, what keeps it going, how much to hand off, and what stops it.</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Who checks the work</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 loop is · The shape to design first · The scorekeeper</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What keeps it going</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Six parts, added on failure · Memory on disk · Ralph · Triggers</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How much to hand off</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The autonomy ladder · The human's new job · Loops that edit loops</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What stops it</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Traps · Silent costs · Layered exits · The same parts in your framework</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ai-engineering/04-loop-engineering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Who checks the work</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 loop is · The shape to design first · The scorekeeper</a:t>
            </a:r>
          </a:p>
        </p:txBody>
      </p:sp>
      <p:cxnSp>
        <p:nvCxnSpPr>
          <p:cNvPr id="6" name="Connector 5"/>
          <p:cNvCxnSpPr/>
          <p:nvPr/>
        </p:nvCxnSpPr>
        <p:spPr>
          <a:xfrm>
            <a:off x="6446520" y="1194435"/>
            <a:ext cx="0" cy="446913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94435"/>
            <a:ext cx="4693615" cy="465201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Nobody is watching the next pass</a:t>
            </a:r>
          </a:p>
          <a:p>
            <a:pPr algn="l">
              <a:lnSpc>
                <a:spcPct val="100000"/>
              </a:lnSpc>
              <a:spcBef>
                <a:spcPts val="1189"/>
              </a:spcBef>
            </a:pPr>
            <a:r>
              <a:rPr sz="1700" i="0" b="0">
                <a:solidFill>
                  <a:srgbClr val="CBD5E1"/>
                </a:solidFill>
                <a:latin typeface="Helvetica Neue"/>
              </a:rPr>
              <a:t>One cycle, three vocabularies</a:t>
            </a:r>
          </a:p>
          <a:p>
            <a:pPr algn="l">
              <a:lnSpc>
                <a:spcPct val="100000"/>
              </a:lnSpc>
              <a:spcBef>
                <a:spcPts val="1189"/>
              </a:spcBef>
            </a:pPr>
            <a:r>
              <a:rPr sz="1700" i="0" b="0">
                <a:solidFill>
                  <a:srgbClr val="CBD5E1"/>
                </a:solidFill>
                <a:latin typeface="Helvetica Neue"/>
              </a:rPr>
              <a:t>A goal points the work, a scorekeeper proves it</a:t>
            </a:r>
          </a:p>
          <a:p>
            <a:pPr algn="l">
              <a:lnSpc>
                <a:spcPct val="100000"/>
              </a:lnSpc>
              <a:spcBef>
                <a:spcPts val="1189"/>
              </a:spcBef>
            </a:pPr>
            <a:r>
              <a:rPr sz="1700" i="0" b="0">
                <a:solidFill>
                  <a:srgbClr val="CBD5E1"/>
                </a:solidFill>
                <a:latin typeface="Helvetica Neue"/>
              </a:rPr>
              <a:t>Build a loop only when it can pay back</a:t>
            </a:r>
          </a:p>
          <a:p>
            <a:pPr algn="l">
              <a:lnSpc>
                <a:spcPct val="100000"/>
              </a:lnSpc>
              <a:spcBef>
                <a:spcPts val="1189"/>
              </a:spcBef>
            </a:pPr>
            <a:r>
              <a:rPr sz="1700" i="0" b="0">
                <a:solidFill>
                  <a:srgbClr val="CBD5E1"/>
                </a:solidFill>
                <a:latin typeface="Helvetica Neue"/>
              </a:rPr>
              <a:t>Draw the skeleton before the prompt</a:t>
            </a:r>
          </a:p>
          <a:p>
            <a:pPr algn="l">
              <a:lnSpc>
                <a:spcPct val="100000"/>
              </a:lnSpc>
              <a:spcBef>
                <a:spcPts val="1189"/>
              </a:spcBef>
            </a:pPr>
            <a:r>
              <a:rPr sz="1700" i="0" b="0">
                <a:solidFill>
                  <a:srgbClr val="CBD5E1"/>
                </a:solidFill>
                <a:latin typeface="Helvetica Neue"/>
              </a:rPr>
              <a:t>Pick the pattern by the shape of the task</a:t>
            </a:r>
          </a:p>
          <a:p>
            <a:pPr algn="l">
              <a:lnSpc>
                <a:spcPct val="100000"/>
              </a:lnSpc>
              <a:spcBef>
                <a:spcPts val="1189"/>
              </a:spcBef>
            </a:pPr>
            <a:r>
              <a:rPr sz="1700" i="0" b="0">
                <a:solidFill>
                  <a:srgbClr val="CBD5E1"/>
                </a:solidFill>
                <a:latin typeface="Helvetica Neue"/>
              </a:rPr>
              <a:t>Many loop decisions are multiple choice</a:t>
            </a:r>
          </a:p>
          <a:p>
            <a:pPr algn="l">
              <a:lnSpc>
                <a:spcPct val="100000"/>
              </a:lnSpc>
              <a:spcBef>
                <a:spcPts val="1189"/>
              </a:spcBef>
            </a:pPr>
            <a:r>
              <a:rPr sz="1700" i="0" b="0">
                <a:solidFill>
                  <a:srgbClr val="CBD5E1"/>
                </a:solidFill>
                <a:latin typeface="Helvetica Neue"/>
              </a:rPr>
              <a:t>Five traits of a scorekeeper, and its defenses</a:t>
            </a:r>
          </a:p>
          <a:p>
            <a:pPr algn="l">
              <a:lnSpc>
                <a:spcPct val="100000"/>
              </a:lnSpc>
              <a:spcBef>
                <a:spcPts val="1189"/>
              </a:spcBef>
            </a:pPr>
            <a:r>
              <a:rPr sz="1700" i="0" b="0">
                <a:solidFill>
                  <a:srgbClr val="CBD5E1"/>
                </a:solidFill>
                <a:latin typeface="Helvetica Neue"/>
              </a:rPr>
              <a:t>An editable evaluator is a negotiation</a:t>
            </a:r>
          </a:p>
          <a:p>
            <a:pPr algn="l">
              <a:lnSpc>
                <a:spcPct val="100000"/>
              </a:lnSpc>
              <a:spcBef>
                <a:spcPts val="1189"/>
              </a:spcBef>
            </a:pPr>
            <a:r>
              <a:rPr sz="1700" i="0" b="0">
                <a:solidFill>
                  <a:srgbClr val="CBD5E1"/>
                </a:solidFill>
                <a:latin typeface="Helvetica Neue"/>
              </a:rPr>
              <a:t>The checker never trusts the maker</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Nobody is watching the next pass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notes/01-what-a-loop-is.md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 moment an agent's next run starts without you typing a prompt, you have crossed from harness into loop.</a:t>
            </a:r>
          </a:p>
        </p:txBody>
      </p:sp>
      <p:sp>
        <p:nvSpPr>
          <p:cNvPr id="13" name="Rectangle 12"/>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Loop engineering is designing the cycle that keeps an agent correct and productive when nobody is watching.</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"Stop prompting your agents and start designing the loops that prompt them." — Adnan Masood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cycle, three vocabularies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cycle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notes/01-what-a-loop-is.md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save step makes progress a ratchet, so a bad pass costs one rollback and not the whole run.</a:t>
            </a:r>
          </a:p>
        </p:txBody>
      </p:sp>
      <p:sp>
        <p:nvSpPr>
          <p:cNvPr id="13" name="Rectangle 12"/>
          <p:cNvSpPr/>
          <p:nvPr/>
        </p:nvSpPr>
        <p:spPr>
          <a:xfrm>
            <a:off x="448056" y="1417320"/>
            <a:ext cx="6261948" cy="342246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ibuilderclub-anthropic-agent-loop-5545727069247677637.jpg"/>
          <p:cNvPicPr>
            <a:picLocks noChangeAspect="1"/>
          </p:cNvPicPr>
          <p:nvPr/>
        </p:nvPicPr>
        <p:blipFill>
          <a:blip r:embed="rId2"/>
          <a:stretch>
            <a:fillRect/>
          </a:stretch>
        </p:blipFill>
        <p:spPr>
          <a:xfrm>
            <a:off x="502920" y="1472184"/>
            <a:ext cx="6152220" cy="3312734"/>
          </a:xfrm>
          <a:prstGeom prst="rect">
            <a:avLst/>
          </a:prstGeom>
        </p:spPr>
      </p:pic>
      <p:sp>
        <p:nvSpPr>
          <p:cNvPr id="15" name="TextBox 14"/>
          <p:cNvSpPr txBox="1"/>
          <p:nvPr/>
        </p:nvSpPr>
        <p:spPr>
          <a:xfrm>
            <a:off x="502920" y="4922078"/>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The loop Anthropic ships (AI Builder Club, 2026)</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Classic agents:</a:t>
            </a:r>
            <a:r>
              <a:rPr sz="1800" i="0" b="0">
                <a:solidFill>
                  <a:srgbClr val="1E293B"/>
                </a:solidFill>
                <a:latin typeface="Helvetica Neue"/>
              </a:rPr>
              <a:t> perceive → decide → act → repeat</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Claude Agent SDK:</a:t>
            </a:r>
            <a:r>
              <a:rPr sz="1800" i="0" b="0">
                <a:solidFill>
                  <a:srgbClr val="1E293B"/>
                </a:solidFill>
                <a:latin typeface="Helvetica Neue"/>
              </a:rPr>
              <a:t> gather → act → verify → repeat</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KodeKloud:</a:t>
            </a:r>
            <a:r>
              <a:rPr sz="1800" i="0" b="0">
                <a:solidFill>
                  <a:srgbClr val="1E293B"/>
                </a:solidFill>
                <a:latin typeface="Helvetica Neue"/>
              </a:rPr>
              <a:t> try → test → fix → </a:t>
            </a:r>
            <a:r>
              <a:rPr sz="1800" i="0" b="1">
                <a:solidFill>
                  <a:srgbClr val="1E293B"/>
                </a:solidFill>
                <a:latin typeface="Helvetica Neue"/>
              </a:rPr>
              <a:t>save</a:t>
            </a:r>
            <a:r>
              <a:rPr sz="1800" i="0" b="0">
                <a:solidFill>
                  <a:srgbClr val="1E293B"/>
                </a:solidFill>
                <a:latin typeface="Helvetica Neue"/>
              </a:rPr>
              <a:t> → repeat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A goal points the work, a scorekeeper proves 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Before it runs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notes/01-what-a-loop-is.md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loop needs a goal and a scorekeeper before anything runs, and it should complete one green pass before growing.</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 clear goal</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"Make all auth tests pass", not "improve the app"</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testable goal is a loop invariant</a:t>
            </a:r>
          </a:p>
        </p:txBody>
      </p:sp>
      <p:sp>
        <p:nvSpPr>
          <p:cNvPr id="20" name="Rectangle 19"/>
          <p:cNvSpPr/>
          <p:nvPr/>
        </p:nvSpPr>
        <p:spPr>
          <a:xfrm>
            <a:off x="731520" y="342722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451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vague one is an infinite loop</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Points the work</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 scorekeeper</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An objective check that a step helped or hurt</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Test suite, build, linter, or a rubric graded by a separate agent</a:t>
            </a:r>
          </a:p>
        </p:txBody>
      </p:sp>
      <p:sp>
        <p:nvSpPr>
          <p:cNvPr id="31" name="Rectangle 30"/>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Then </a:t>
            </a:r>
            <a:r>
              <a:rPr sz="1700" i="0" b="1">
                <a:solidFill>
                  <a:srgbClr val="1E293B"/>
                </a:solidFill>
                <a:latin typeface="Helvetica Neue"/>
              </a:rPr>
              <a:t>go green once:</a:t>
            </a:r>
            <a:r>
              <a:rPr sz="1700" i="0" b="0">
                <a:solidFill>
                  <a:srgbClr val="1E293B"/>
                </a:solidFill>
                <a:latin typeface="Helvetica Neue"/>
              </a:rPr>
              <a:t> goal, one change, score, persist</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Proves the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Build a loop only when it can pay back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Not always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notes/01-what-a-loop-is.md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Both must hold. Otherwise use a fixed workflow or a good prompt.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Build a loop only when the work repeats enough to pay for many passes and a scorekeeper can reliably validate the result.</a:t>
            </a:r>
          </a:p>
        </p:txBody>
      </p:sp>
      <p:sp>
        <p:nvSpPr>
          <p:cNvPr id="14" name="Rectangle 13"/>
          <p:cNvSpPr/>
          <p:nvPr/>
        </p:nvSpPr>
        <p:spPr>
          <a:xfrm>
            <a:off x="502920" y="2082292"/>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85772"/>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The work </a:t>
            </a:r>
            <a:r>
              <a:rPr sz="2000" i="0" b="1">
                <a:solidFill>
                  <a:srgbClr val="1E293B"/>
                </a:solidFill>
                <a:latin typeface="Helvetica Neue"/>
              </a:rPr>
              <a:t>repeats</a:t>
            </a:r>
            <a:r>
              <a:rPr sz="2000" i="0" b="0">
                <a:solidFill>
                  <a:srgbClr val="1E293B"/>
                </a:solidFill>
                <a:latin typeface="Helvetica Neue"/>
              </a:rPr>
              <a:t> often enough to cover the cost of many passes</a:t>
            </a:r>
          </a:p>
        </p:txBody>
      </p:sp>
      <p:sp>
        <p:nvSpPr>
          <p:cNvPr id="16" name="Rectangle 15"/>
          <p:cNvSpPr/>
          <p:nvPr/>
        </p:nvSpPr>
        <p:spPr>
          <a:xfrm>
            <a:off x="502920" y="2905252"/>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08732"/>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A scorekeeper can </a:t>
            </a:r>
            <a:r>
              <a:rPr sz="2000" i="0" b="1">
                <a:solidFill>
                  <a:srgbClr val="1E293B"/>
                </a:solidFill>
                <a:latin typeface="Helvetica Neue"/>
              </a:rPr>
              <a:t>reliably validate</a:t>
            </a:r>
            <a:r>
              <a:rPr sz="2000" i="0" b="0">
                <a:solidFill>
                  <a:srgbClr val="1E293B"/>
                </a:solidFill>
                <a:latin typeface="Helvetica Neue"/>
              </a:rPr>
              <a:t> the result</a:t>
            </a:r>
          </a:p>
        </p:txBody>
      </p:sp>
      <p:sp>
        <p:nvSpPr>
          <p:cNvPr id="18" name="Rectangle 17"/>
          <p:cNvSpPr/>
          <p:nvPr/>
        </p:nvSpPr>
        <p:spPr>
          <a:xfrm>
            <a:off x="502920" y="3728211"/>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31692"/>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If success only means it looks right, there is nothing to steer by</a:t>
            </a:r>
          </a:p>
        </p:txBody>
      </p:sp>
      <p:sp>
        <p:nvSpPr>
          <p:cNvPr id="20" name="Rectangle 19"/>
          <p:cNvSpPr/>
          <p:nvPr/>
        </p:nvSpPr>
        <p:spPr>
          <a:xfrm>
            <a:off x="502920" y="4551172"/>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454652"/>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Many agents going in circles were a three-step task given to an open-ended loop</a:t>
            </a:r>
          </a:p>
        </p:txBody>
      </p:sp>
      <p:sp>
        <p:nvSpPr>
          <p:cNvPr id="22" name="Rectangle 21"/>
          <p:cNvSpPr/>
          <p:nvPr/>
        </p:nvSpPr>
        <p:spPr>
          <a:xfrm>
            <a:off x="7132758" y="1985772"/>
            <a:ext cx="4556016"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132758" y="1985772"/>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1358" y="1985772"/>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Harness vs. loop</a:t>
            </a:r>
          </a:p>
        </p:txBody>
      </p:sp>
      <p:sp>
        <p:nvSpPr>
          <p:cNvPr id="25" name="Rectangle 24"/>
          <p:cNvSpPr/>
          <p:nvPr/>
        </p:nvSpPr>
        <p:spPr>
          <a:xfrm>
            <a:off x="7361358"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1398" y="2744724"/>
            <a:ext cx="3733056"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Harness: one run, how it is safe</a:t>
            </a:r>
          </a:p>
        </p:txBody>
      </p:sp>
      <p:sp>
        <p:nvSpPr>
          <p:cNvPr id="27" name="Rectangle 26"/>
          <p:cNvSpPr/>
          <p:nvPr/>
        </p:nvSpPr>
        <p:spPr>
          <a:xfrm>
            <a:off x="7361358" y="32412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1398" y="3159252"/>
            <a:ext cx="3733056"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Loop: many runs, what starts the next and when to stop</a:t>
            </a:r>
          </a:p>
        </p:txBody>
      </p:sp>
      <p:sp>
        <p:nvSpPr>
          <p:cNvPr id="29" name="Rectangle 28"/>
          <p:cNvSpPr/>
          <p:nvPr/>
        </p:nvSpPr>
        <p:spPr>
          <a:xfrm>
            <a:off x="7361358" y="3940809"/>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1398" y="3858768"/>
            <a:ext cx="3733056"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Harness ratchet: each failure becomes a rule</a:t>
            </a:r>
          </a:p>
        </p:txBody>
      </p:sp>
      <p:sp>
        <p:nvSpPr>
          <p:cNvPr id="31" name="Rectangle 30"/>
          <p:cNvSpPr/>
          <p:nvPr/>
        </p:nvSpPr>
        <p:spPr>
          <a:xfrm>
            <a:off x="7361358" y="4640325"/>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1398" y="4558283"/>
            <a:ext cx="3733056"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Loop ratchet: score only goes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Draw the skeleton before the prompt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notes/02-loop-shapes.md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The model supplies two lines of a loop, and everything else is yours to design, so a prompt cannot fix a missing line.</a:t>
            </a:r>
          </a:p>
        </p:txBody>
      </p:sp>
      <p:sp>
        <p:nvSpPr>
          <p:cNvPr id="13" name="Rounded Rectangle 12"/>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PSEUDOCODE</a:t>
            </a:r>
          </a:p>
        </p:txBody>
      </p:sp>
      <p:sp>
        <p:nvSpPr>
          <p:cNvPr id="15" name="TextBox 14"/>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initialize state with goal</a:t>
            </a:r>
          </a:p>
          <a:p>
            <a:pPr algn="l">
              <a:lnSpc>
                <a:spcPct val="100000"/>
              </a:lnSpc>
            </a:pPr>
            <a:r>
              <a:rPr sz="1600" i="0" b="0">
                <a:solidFill>
                  <a:srgbClr val="E2E8F0"/>
                </a:solidFill>
                <a:latin typeface="Menlo"/>
              </a:rPr>
              <a:t>for step in range(MAX_STEPS):</a:t>
            </a:r>
          </a:p>
          <a:p>
            <a:pPr algn="l">
              <a:lnSpc>
                <a:spcPct val="100000"/>
              </a:lnSpc>
            </a:pPr>
            <a:r>
              <a:rPr sz="1600" i="0" b="0">
                <a:solidFill>
                  <a:srgbClr val="E2E8F0"/>
                </a:solidFill>
                <a:latin typeface="Menlo"/>
              </a:rPr>
              <a:t>    reason about current state   # model</a:t>
            </a:r>
          </a:p>
          <a:p>
            <a:pPr algn="l">
              <a:lnSpc>
                <a:spcPct val="100000"/>
              </a:lnSpc>
            </a:pPr>
            <a:r>
              <a:rPr sz="1600" i="0" b="0">
                <a:solidFill>
                  <a:srgbClr val="E2E8F0"/>
                </a:solidFill>
                <a:latin typeface="Menlo"/>
              </a:rPr>
              <a:t>    choose a concrete action     # model</a:t>
            </a:r>
          </a:p>
          <a:p>
            <a:pPr algn="l">
              <a:lnSpc>
                <a:spcPct val="100000"/>
              </a:lnSpc>
            </a:pPr>
            <a:r>
              <a:rPr sz="1600" i="0" b="0">
                <a:solidFill>
                  <a:srgbClr val="E2E8F0"/>
                </a:solidFill>
                <a:latin typeface="Menlo"/>
              </a:rPr>
              <a:t>    execute the tool</a:t>
            </a:r>
          </a:p>
          <a:p>
            <a:pPr algn="l">
              <a:lnSpc>
                <a:spcPct val="100000"/>
              </a:lnSpc>
            </a:pPr>
            <a:r>
              <a:rPr sz="1600" i="0" b="0">
                <a:solidFill>
                  <a:srgbClr val="E2E8F0"/>
                </a:solidFill>
                <a:latin typeface="Menlo"/>
              </a:rPr>
              <a:t>    update state with the outcome</a:t>
            </a:r>
          </a:p>
          <a:p>
            <a:pPr algn="l">
              <a:lnSpc>
                <a:spcPct val="100000"/>
              </a:lnSpc>
            </a:pPr>
            <a:r>
              <a:rPr sz="1600" i="0" b="0">
                <a:solidFill>
                  <a:srgbClr val="E2E8F0"/>
                </a:solidFill>
                <a:latin typeface="Menlo"/>
              </a:rPr>
              <a:t>    compact context</a:t>
            </a:r>
          </a:p>
          <a:p>
            <a:pPr algn="l">
              <a:lnSpc>
                <a:spcPct val="100000"/>
              </a:lnSpc>
            </a:pPr>
            <a:r>
              <a:rPr sz="1600" i="0" b="0">
                <a:solidFill>
                  <a:srgbClr val="E2E8F0"/>
                </a:solidFill>
                <a:latin typeface="Menlo"/>
              </a:rPr>
              <a:t>    if scorekeeper says goal met:</a:t>
            </a:r>
          </a:p>
          <a:p>
            <a:pPr algn="l">
              <a:lnSpc>
                <a:spcPct val="100000"/>
              </a:lnSpc>
            </a:pPr>
            <a:r>
              <a:rPr sz="1600" i="0" b="0">
                <a:solidFill>
                  <a:srgbClr val="E2E8F0"/>
                </a:solidFill>
                <a:latin typeface="Menlo"/>
              </a:rPr>
              <a:t>        save; return success</a:t>
            </a:r>
          </a:p>
          <a:p>
            <a:pPr algn="l">
              <a:lnSpc>
                <a:spcPct val="100000"/>
              </a:lnSpc>
            </a:pPr>
            <a:r>
              <a:rPr sz="1600" i="0" b="0">
                <a:solidFill>
                  <a:srgbClr val="E2E8F0"/>
                </a:solidFill>
                <a:latin typeface="Menlo"/>
              </a:rPr>
              <a:t>    if score went down: roll back</a:t>
            </a:r>
          </a:p>
          <a:p>
            <a:pPr algn="l">
              <a:lnSpc>
                <a:spcPct val="100000"/>
              </a:lnSpc>
            </a:pPr>
            <a:r>
              <a:rPr sz="1600" i="0" b="0">
                <a:solidFill>
                  <a:srgbClr val="E2E8F0"/>
                </a:solidFill>
                <a:latin typeface="Menlo"/>
              </a:rPr>
              <a:t>    if no progress for N steps</a:t>
            </a:r>
          </a:p>
          <a:p>
            <a:pPr algn="l">
              <a:lnSpc>
                <a:spcPct val="100000"/>
              </a:lnSpc>
            </a:pPr>
            <a:r>
              <a:rPr sz="1600" i="0" b="0">
                <a:solidFill>
                  <a:srgbClr val="E2E8F0"/>
                </a:solidFill>
                <a:latin typeface="Menlo"/>
              </a:rPr>
              <a:t>       or budget exhausted: escalate</a:t>
            </a:r>
          </a:p>
          <a:p>
            <a:pPr algn="l">
              <a:lnSpc>
                <a:spcPct val="100000"/>
              </a:lnSpc>
            </a:pPr>
            <a:r>
              <a:rPr sz="1600" i="0" b="0">
                <a:solidFill>
                  <a:srgbClr val="E2E8F0"/>
                </a:solidFill>
                <a:latin typeface="Menlo"/>
              </a:rPr>
              <a:t>escalate to human  # cap is not success</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model supplies </a:t>
            </a:r>
            <a:r>
              <a:rPr sz="1800" i="0" b="1">
                <a:solidFill>
                  <a:srgbClr val="1E293B"/>
                </a:solidFill>
                <a:latin typeface="Helvetica Neue"/>
              </a:rPr>
              <a:t>two lines</a:t>
            </a:r>
          </a:p>
        </p:txBody>
      </p:sp>
      <p:sp>
        <p:nvSpPr>
          <p:cNvPr id="18" name="Rectangle 17"/>
          <p:cNvSpPr/>
          <p:nvPr/>
        </p:nvSpPr>
        <p:spPr>
          <a:xfrm>
            <a:off x="7580193" y="204368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195681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Save</a:t>
            </a:r>
            <a:r>
              <a:rPr sz="1800" i="0" b="0">
                <a:solidFill>
                  <a:srgbClr val="1E293B"/>
                </a:solidFill>
                <a:latin typeface="Helvetica Neue"/>
              </a:rPr>
              <a:t> on success, </a:t>
            </a:r>
            <a:r>
              <a:rPr sz="1800" i="0" b="1">
                <a:solidFill>
                  <a:srgbClr val="1E293B"/>
                </a:solidFill>
                <a:latin typeface="Helvetica Neue"/>
              </a:rPr>
              <a:t>roll back</a:t>
            </a:r>
            <a:r>
              <a:rPr sz="1800" i="0" b="0">
                <a:solidFill>
                  <a:srgbClr val="1E293B"/>
                </a:solidFill>
                <a:latin typeface="Helvetica Neue"/>
              </a:rPr>
              <a:t> on a drop</a:t>
            </a:r>
          </a:p>
        </p:txBody>
      </p:sp>
      <p:sp>
        <p:nvSpPr>
          <p:cNvPr id="20" name="Rectangle 19"/>
          <p:cNvSpPr/>
          <p:nvPr/>
        </p:nvSpPr>
        <p:spPr>
          <a:xfrm>
            <a:off x="7580193" y="278434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697479"/>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Five required parts: goal, tools, context, stop logic, error handling</a:t>
            </a:r>
          </a:p>
        </p:txBody>
      </p:sp>
      <p:sp>
        <p:nvSpPr>
          <p:cNvPr id="22" name="Rectangle 21"/>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last line is an escalation, not a return value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Pick the pattern by the shape of the task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Task shape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notes/02-loop-shapes.md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Choose a loop pattern from the task's shape, adding tool use first, then reflection, then planning and multi-agent once evals exist.</a:t>
            </a:r>
          </a:p>
        </p:txBody>
      </p:sp>
      <p:sp>
        <p:nvSpPr>
          <p:cNvPr id="13" name="Rectangle 12"/>
          <p:cNvSpPr/>
          <p:nvPr/>
        </p:nvSpPr>
        <p:spPr>
          <a:xfrm>
            <a:off x="502920"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581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Retry</a:t>
            </a:r>
          </a:p>
        </p:txBody>
      </p:sp>
      <p:sp>
        <p:nvSpPr>
          <p:cNvPr id="16" name="TextBox 15"/>
          <p:cNvSpPr txBox="1"/>
          <p:nvPr/>
        </p:nvSpPr>
        <p:spPr>
          <a:xfrm>
            <a:off x="777240"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Atomic task, clear pass/fail. Act, check, act again with the error.</a:t>
            </a:r>
          </a:p>
        </p:txBody>
      </p:sp>
      <p:sp>
        <p:nvSpPr>
          <p:cNvPr id="17" name="Rectangle 16"/>
          <p:cNvSpPr/>
          <p:nvPr/>
        </p:nvSpPr>
        <p:spPr>
          <a:xfrm>
            <a:off x="3367963"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58165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Plan–Execute–Verify</a:t>
            </a:r>
          </a:p>
        </p:txBody>
      </p:sp>
      <p:sp>
        <p:nvSpPr>
          <p:cNvPr id="20" name="TextBox 19"/>
          <p:cNvSpPr txBox="1"/>
          <p:nvPr/>
        </p:nvSpPr>
        <p:spPr>
          <a:xfrm>
            <a:off x="3642283"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Multi-step work where order matters. Plan once, verify each step.</a:t>
            </a:r>
          </a:p>
        </p:txBody>
      </p:sp>
      <p:sp>
        <p:nvSpPr>
          <p:cNvPr id="21" name="Rectangle 20"/>
          <p:cNvSpPr/>
          <p:nvPr/>
        </p:nvSpPr>
        <p:spPr>
          <a:xfrm>
            <a:off x="6233007"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581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Explore–Narrow</a:t>
            </a:r>
          </a:p>
        </p:txBody>
      </p:sp>
      <p:sp>
        <p:nvSpPr>
          <p:cNvPr id="24" name="TextBox 23"/>
          <p:cNvSpPr txBox="1"/>
          <p:nvPr/>
        </p:nvSpPr>
        <p:spPr>
          <a:xfrm>
            <a:off x="6507327"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Unfamiliar territory. Fan out in parallel, then converge on the best lead.</a:t>
            </a:r>
          </a:p>
        </p:txBody>
      </p:sp>
      <p:sp>
        <p:nvSpPr>
          <p:cNvPr id="25" name="Rectangle 24"/>
          <p:cNvSpPr/>
          <p:nvPr/>
        </p:nvSpPr>
        <p:spPr>
          <a:xfrm>
            <a:off x="9098051"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58165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Human-in-the-loop</a:t>
            </a:r>
          </a:p>
        </p:txBody>
      </p:sp>
      <p:sp>
        <p:nvSpPr>
          <p:cNvPr id="28" name="TextBox 27"/>
          <p:cNvSpPr txBox="1"/>
          <p:nvPr/>
        </p:nvSpPr>
        <p:spPr>
          <a:xfrm>
            <a:off x="9372371"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Ambiguity or high stakes. Pause at decision points for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Many loop decisions are multiple choice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notes/02-loop-shapes.md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cheap decision component in the loop is safe only once you have measured where it is wrong.</a:t>
            </a:r>
          </a:p>
        </p:txBody>
      </p:sp>
      <p:sp>
        <p:nvSpPr>
          <p:cNvPr id="13" name="Rectangle 12"/>
          <p:cNvSpPr/>
          <p:nvPr/>
        </p:nvSpPr>
        <p:spPr>
          <a:xfrm>
            <a:off x="448055" y="1417320"/>
            <a:ext cx="6261948" cy="225893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zhu-jevagentharness-fig3-4899745356915178459.jpg"/>
          <p:cNvPicPr>
            <a:picLocks noChangeAspect="1"/>
          </p:cNvPicPr>
          <p:nvPr/>
        </p:nvPicPr>
        <p:blipFill>
          <a:blip r:embed="rId2"/>
          <a:stretch>
            <a:fillRect/>
          </a:stretch>
        </p:blipFill>
        <p:spPr>
          <a:xfrm>
            <a:off x="502919" y="1472184"/>
            <a:ext cx="6152220" cy="2149209"/>
          </a:xfrm>
          <a:prstGeom prst="rect">
            <a:avLst/>
          </a:prstGeom>
        </p:spPr>
      </p:pic>
      <p:sp>
        <p:nvSpPr>
          <p:cNvPr id="15" name="TextBox 14"/>
          <p:cNvSpPr txBox="1"/>
          <p:nvPr/>
        </p:nvSpPr>
        <p:spPr>
          <a:xfrm>
            <a:off x="502920" y="3758553"/>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Eight decision points in one step, five ways to share control (Zhu et al., 2026, Fig. 3)</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small decision model: </a:t>
            </a:r>
            <a:r>
              <a:rPr sz="1800" i="0" b="1">
                <a:solidFill>
                  <a:srgbClr val="1E293B"/>
                </a:solidFill>
                <a:latin typeface="Helvetica Neue"/>
              </a:rPr>
              <a:t>28%</a:t>
            </a:r>
            <a:r>
              <a:rPr sz="1800" i="0" b="0">
                <a:solidFill>
                  <a:srgbClr val="1E293B"/>
                </a:solidFill>
                <a:latin typeface="Helvetica Neue"/>
              </a:rPr>
              <a:t> of an LLM call's time, </a:t>
            </a:r>
            <a:r>
              <a:rPr sz="1800" i="0" b="1">
                <a:solidFill>
                  <a:srgbClr val="1E293B"/>
                </a:solidFill>
                <a:latin typeface="Helvetica Neue"/>
              </a:rPr>
              <a:t>2.6%</a:t>
            </a:r>
            <a:r>
              <a:rPr sz="1800" i="0" b="0">
                <a:solidFill>
                  <a:srgbClr val="1E293B"/>
                </a:solidFill>
                <a:latin typeface="Helvetica Neue"/>
              </a:rPr>
              <a:t> of its price</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Without a fitted threshold, delegating tool choice cut success by </a:t>
            </a:r>
            <a:r>
              <a:rPr sz="1800" i="0" b="1">
                <a:solidFill>
                  <a:srgbClr val="1E293B"/>
                </a:solidFill>
                <a:latin typeface="Helvetica Neue"/>
              </a:rPr>
              <a:t>19 points</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With a per-point threshold: </a:t>
            </a:r>
            <a:r>
              <a:rPr sz="1800" i="0" b="1">
                <a:solidFill>
                  <a:srgbClr val="1E293B"/>
                </a:solidFill>
                <a:latin typeface="Helvetica Neue"/>
              </a:rPr>
              <a:t>81–89%</a:t>
            </a:r>
            <a:r>
              <a:rPr sz="1800" i="0" b="0">
                <a:solidFill>
                  <a:srgbClr val="1E293B"/>
                </a:solidFill>
                <a:latin typeface="Helvetica Neue"/>
              </a:rPr>
              <a:t> cheaper, up to </a:t>
            </a:r>
            <a:r>
              <a:rPr sz="1800" i="0" b="1">
                <a:solidFill>
                  <a:srgbClr val="1E293B"/>
                </a:solidFill>
                <a:latin typeface="Helvetica Neue"/>
              </a:rPr>
              <a:t>2.5×</a:t>
            </a:r>
            <a:r>
              <a:rPr sz="1800" i="0" b="0">
                <a:solidFill>
                  <a:srgbClr val="1E293B"/>
                </a:solidFill>
                <a:latin typeface="Helvetica Neue"/>
              </a:rPr>
              <a:t> faster, under 3 points lost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Five traits of a scorekeeper, and its defenses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load-bearing part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notes/03-the-scorekeeper.md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Build the verifier before you scale the generator, since a generator that cannot check itself only makes plausible work faster.</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Objective</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Same work gives the same result every time.</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Automatic</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One command or CI trigger. No manual step.</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Fast</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Cheap enough to run every pass.</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Clear</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One unambiguous score, so the loop knows where it stands.</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Hard to fake</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A loop that can lower the bar will take the easiest path to green.</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Defenses</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Held-out checks, tamper-proof location, auditable artifacts, watch the trend.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An editable evaluator is a negotiation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write boundary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notes/03-the-scorekeeper.md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Karpathy's </a:t>
            </a:r>
            <a:r>
              <a:rPr sz="1530" i="0" b="0">
                <a:solidFill>
                  <a:srgbClr val="0F7490"/>
                </a:solidFill>
                <a:latin typeface="Menlo"/>
              </a:rPr>
              <a:t>autoresearch</a:t>
            </a:r>
            <a:r>
              <a:rPr sz="1700" i="0" b="0">
                <a:solidFill>
                  <a:srgbClr val="475569"/>
                </a:solidFill>
                <a:latin typeface="Helvetica Neue"/>
              </a:rPr>
              <a:t> separates three files by who may write them.</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An agent that can edit its own evaluator does not have a verifier, because it has a negotiation.</a:t>
            </a:r>
          </a:p>
        </p:txBody>
      </p:sp>
      <p:graphicFrame>
        <p:nvGraphicFramePr>
          <p:cNvPr id="14" name="Table 13"/>
          <p:cNvGraphicFramePr>
            <a:graphicFrameLocks noGrp="1"/>
          </p:cNvGraphicFramePr>
          <p:nvPr/>
        </p:nvGraphicFramePr>
        <p:xfrm>
          <a:off x="502920" y="1985772"/>
          <a:ext cx="11185853" cy="1880616"/>
        </p:xfrm>
        <a:graphic>
          <a:graphicData uri="http://schemas.openxmlformats.org/drawingml/2006/table">
            <a:tbl>
              <a:tblPr firstRow="1" bandRow="1">
                <a:tableStyleId>{5940675A-B579-460E-94D1-54222C63F5DA}</a:tableStyleId>
              </a:tblPr>
              <a:tblGrid>
                <a:gridCol w="3132039"/>
                <a:gridCol w="2013453"/>
                <a:gridCol w="6040361"/>
              </a:tblGrid>
              <a:tr h="405384">
                <a:tc>
                  <a:txBody>
                    <a:bodyPr wrap="square"/>
                    <a:lstStyle/>
                    <a:p>
                      <a:pPr>
                        <a:lnSpc>
                          <a:spcPct val="100000"/>
                        </a:lnSpc>
                      </a:pPr>
                      <a:r>
                        <a:rPr sz="1700" i="0" b="1">
                          <a:solidFill>
                            <a:srgbClr val="FFFFFF"/>
                          </a:solidFill>
                          <a:latin typeface="Helvetica Neue"/>
                        </a:rPr>
                        <a:t>File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Who writes it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a:t>
                      </a:r>
                    </a:p>
                  </a:txBody>
                  <a:tcPr marL="109728" marR="109728" marT="54864" marB="54864" anchor="ctr">
                    <a:solidFill>
                      <a:srgbClr val="1E3A5F"/>
                    </a:solidFill>
                  </a:tcPr>
                </a:tc>
              </a:tr>
              <a:tr h="405384">
                <a:tc>
                  <a:txBody>
                    <a:bodyPr wrap="square"/>
                    <a:lstStyle/>
                    <a:p>
                      <a:pPr>
                        <a:lnSpc>
                          <a:spcPct val="100000"/>
                        </a:lnSpc>
                      </a:pPr>
                      <a:r>
                        <a:rPr sz="1530" i="0" b="1">
                          <a:solidFill>
                            <a:srgbClr val="0F7490"/>
                          </a:solidFill>
                          <a:latin typeface="Menlo"/>
                        </a:rPr>
                        <a:t>train.py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search space</a:t>
                      </a:r>
                    </a:p>
                  </a:txBody>
                  <a:tcPr marL="109728" marR="109728" marT="54864" marB="54864" anchor="ctr">
                    <a:solidFill>
                      <a:srgbClr val="FFFFFF"/>
                    </a:solidFill>
                  </a:tcPr>
                </a:tc>
              </a:tr>
              <a:tr h="664464">
                <a:tc>
                  <a:txBody>
                    <a:bodyPr wrap="square"/>
                    <a:lstStyle/>
                    <a:p>
                      <a:pPr>
                        <a:lnSpc>
                          <a:spcPct val="100000"/>
                        </a:lnSpc>
                      </a:pPr>
                      <a:r>
                        <a:rPr sz="1530" i="0" b="1">
                          <a:solidFill>
                            <a:srgbClr val="0F7490"/>
                          </a:solidFill>
                          <a:latin typeface="Menlo"/>
                        </a:rPr>
                        <a:t>prepare.py</a:t>
                      </a:r>
                      <a:r>
                        <a:rPr sz="1700" i="0" b="1">
                          <a:solidFill>
                            <a:srgbClr val="1E293B"/>
                          </a:solidFill>
                          <a:latin typeface="Helvetica Neue"/>
                        </a:rPr>
                        <a:t> (eval)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Nobody</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The verifier must not be editable by the thing it grades</a:t>
                      </a:r>
                    </a:p>
                  </a:txBody>
                  <a:tcPr marL="109728" marR="109728" marT="54864" marB="54864" anchor="ctr">
                    <a:solidFill>
                      <a:srgbClr val="E8F4F8"/>
                    </a:solidFill>
                  </a:tcPr>
                </a:tc>
              </a:tr>
              <a:tr h="405384">
                <a:tc>
                  <a:txBody>
                    <a:bodyPr wrap="square"/>
                    <a:lstStyle/>
                    <a:p>
                      <a:pPr>
                        <a:lnSpc>
                          <a:spcPct val="100000"/>
                        </a:lnSpc>
                      </a:pPr>
                      <a:r>
                        <a:rPr sz="1530" i="0" b="1">
                          <a:solidFill>
                            <a:srgbClr val="0F7490"/>
                          </a:solidFill>
                          <a:latin typeface="Menlo"/>
                        </a:rPr>
                        <a:t>program.md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Human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contract</a:t>
                      </a:r>
                    </a:p>
                  </a:txBody>
                  <a:tcPr marL="109728" marR="109728" marT="54864" marB="54864"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checker never trusts the maker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Who checks the work</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notes/03-the-scorekeeper.md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A checker works from the diff with no maker history, runs the scorekeeper itself, and must be allowed to return clean.</a:t>
            </a:r>
          </a:p>
        </p:txBody>
      </p:sp>
      <p:sp>
        <p:nvSpPr>
          <p:cNvPr id="13" name="Rounded Rectangle 12"/>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5" name="TextBox 14"/>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Your role</a:t>
            </a:r>
          </a:p>
          <a:p>
            <a:pPr algn="l">
              <a:lnSpc>
                <a:spcPct val="100000"/>
              </a:lnSpc>
            </a:pPr>
            <a:r>
              <a:rPr sz="1600" i="0" b="0">
                <a:solidFill>
                  <a:srgbClr val="E2E8F0"/>
                </a:solidFill>
                <a:latin typeface="Menlo"/>
              </a:rPr>
              <a:t>You are the Checker. Be strict, and</a:t>
            </a:r>
          </a:p>
          <a:p>
            <a:pPr algn="l">
              <a:lnSpc>
                <a:spcPct val="100000"/>
              </a:lnSpc>
            </a:pPr>
            <a:r>
              <a:rPr sz="1600" i="0" b="0">
                <a:solidFill>
                  <a:srgbClr val="E2E8F0"/>
                </a:solidFill>
                <a:latin typeface="Menlo"/>
              </a:rPr>
              <a:t>honest in both directions.</a:t>
            </a:r>
          </a:p>
          <a:p>
            <a:pPr algn="l">
              <a:lnSpc>
                <a:spcPct val="100000"/>
              </a:lnSpc>
            </a:pPr>
            <a:r>
              <a:rPr sz="1600" i="0" b="0">
                <a:solidFill>
                  <a:srgbClr val="E2E8F0"/>
                </a:solidFill>
                <a:latin typeface="Menlo"/>
              </a:rPr>
              <a:t>1. Read the loop contract.</a:t>
            </a:r>
          </a:p>
          <a:p>
            <a:pPr algn="l">
              <a:lnSpc>
                <a:spcPct val="100000"/>
              </a:lnSpc>
            </a:pPr>
            <a:r>
              <a:rPr sz="1600" i="0" b="0">
                <a:solidFill>
                  <a:srgbClr val="E2E8F0"/>
                </a:solidFill>
                <a:latin typeface="Menlo"/>
              </a:rPr>
              <a:t>2. Read the diff, not the Maker's summary.</a:t>
            </a:r>
          </a:p>
          <a:p>
            <a:pPr algn="l">
              <a:lnSpc>
                <a:spcPct val="100000"/>
              </a:lnSpc>
            </a:pPr>
            <a:r>
              <a:rPr sz="1600" i="0" b="0">
                <a:solidFill>
                  <a:srgbClr val="E2E8F0"/>
                </a:solidFill>
                <a:latin typeface="Menlo"/>
              </a:rPr>
              <a:t>3. Run the scorekeeper commands yourself.</a:t>
            </a:r>
          </a:p>
          <a:p>
            <a:pPr algn="l">
              <a:lnSpc>
                <a:spcPct val="100000"/>
              </a:lnSpc>
            </a:pPr>
            <a:r>
              <a:rPr sz="1600" i="0" b="0">
                <a:solidFill>
                  <a:srgbClr val="E2E8F0"/>
                </a:solidFill>
                <a:latin typeface="Menlo"/>
              </a:rPr>
              <a:t>## Checklist</a:t>
            </a:r>
          </a:p>
          <a:p>
            <a:pPr algn="l">
              <a:lnSpc>
                <a:spcPct val="100000"/>
              </a:lnSpc>
            </a:pPr>
            <a:r>
              <a:rPr sz="1600" i="0" b="0">
                <a:solidFill>
                  <a:srgbClr val="E2E8F0"/>
                </a:solidFill>
                <a:latin typeface="Menlo"/>
              </a:rPr>
              <a:t>- Boundary: any file outside it changed?</a:t>
            </a:r>
          </a:p>
          <a:p>
            <a:pPr algn="l">
              <a:lnSpc>
                <a:spcPct val="100000"/>
              </a:lnSpc>
            </a:pPr>
            <a:r>
              <a:rPr sz="1600" i="0" b="0">
                <a:solidFill>
                  <a:srgbClr val="E2E8F0"/>
                </a:solidFill>
                <a:latin typeface="Menlo"/>
              </a:rPr>
              <a:t>  Tests or scoring touched? → auto Fail</a:t>
            </a:r>
          </a:p>
          <a:p>
            <a:pPr algn="l">
              <a:lnSpc>
                <a:spcPct val="100000"/>
              </a:lnSpc>
            </a:pPr>
            <a:r>
              <a:rPr sz="1600" i="0" b="0">
                <a:solidFill>
                  <a:srgbClr val="E2E8F0"/>
                </a:solidFill>
                <a:latin typeface="Menlo"/>
              </a:rPr>
              <a:t>- Tests: would they fail if reverted?</a:t>
            </a:r>
          </a:p>
          <a:p>
            <a:pPr algn="l">
              <a:lnSpc>
                <a:spcPct val="100000"/>
              </a:lnSpc>
            </a:pPr>
            <a:r>
              <a:rPr sz="1600" i="0" b="0">
                <a:solidFill>
                  <a:srgbClr val="E2E8F0"/>
                </a:solidFill>
                <a:latin typeface="Menlo"/>
              </a:rPr>
              <a:t>- Score: higher, equal or lower?</a:t>
            </a:r>
          </a:p>
          <a:p>
            <a:pPr algn="l">
              <a:lnSpc>
                <a:spcPct val="100000"/>
              </a:lnSpc>
            </a:pPr>
            <a:r>
              <a:rPr sz="1600" i="0" b="0">
                <a:solidFill>
                  <a:srgbClr val="E2E8F0"/>
                </a:solidFill>
                <a:latin typeface="Menlo"/>
              </a:rPr>
              <a:t>## Report</a:t>
            </a:r>
          </a:p>
          <a:p>
            <a:pPr algn="l">
              <a:lnSpc>
                <a:spcPct val="100000"/>
              </a:lnSpc>
            </a:pPr>
            <a:r>
              <a:rPr sz="1600" i="0" b="0">
                <a:solidFill>
                  <a:srgbClr val="E2E8F0"/>
                </a:solidFill>
                <a:latin typeface="Menlo"/>
              </a:rPr>
              <a:t>Verdict: PASS / FAIL / PASS WITH NOTES</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fresh agent with </a:t>
            </a:r>
            <a:r>
              <a:rPr sz="1800" i="0" b="1">
                <a:solidFill>
                  <a:srgbClr val="1E293B"/>
                </a:solidFill>
                <a:latin typeface="Helvetica Neue"/>
              </a:rPr>
              <a:t>no maker history</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Must be able to return </a:t>
            </a:r>
            <a:r>
              <a:rPr sz="1800" i="0" b="1">
                <a:solidFill>
                  <a:srgbClr val="1E293B"/>
                </a:solidFill>
                <a:latin typeface="Helvetica Neue"/>
              </a:rPr>
              <a:t>clean</a:t>
            </a:r>
            <a:r>
              <a:rPr sz="1800" i="0" b="0">
                <a:solidFill>
                  <a:srgbClr val="1E293B"/>
                </a:solidFill>
                <a:latin typeface="Helvetica Neue"/>
              </a:rPr>
              <a:t>, or it invents findings</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ADK: </a:t>
            </a:r>
            <a:r>
              <a:rPr sz="1620" i="0" b="0">
                <a:solidFill>
                  <a:srgbClr val="0F7490"/>
                </a:solidFill>
                <a:latin typeface="Menlo"/>
              </a:rPr>
              <a:t>RefinerAgent</a:t>
            </a:r>
            <a:r>
              <a:rPr sz="1800" i="0" b="0">
                <a:solidFill>
                  <a:srgbClr val="1E293B"/>
                </a:solidFill>
                <a:latin typeface="Helvetica Neue"/>
              </a:rPr>
              <a:t> / </a:t>
            </a:r>
            <a:r>
              <a:rPr sz="1620" i="0" b="0">
                <a:solidFill>
                  <a:srgbClr val="0F7490"/>
                </a:solidFill>
                <a:latin typeface="Menlo"/>
              </a:rPr>
              <a:t>CriticAgent</a:t>
            </a:r>
            <a:r>
              <a:rPr sz="1800" i="0" b="0">
                <a:solidFill>
                  <a:srgbClr val="1E293B"/>
                </a:solidFill>
                <a:latin typeface="Helvetica Neue"/>
              </a:rPr>
              <a:t>; LangChain: </a:t>
            </a:r>
            <a:r>
              <a:rPr sz="1620" i="0" b="0">
                <a:solidFill>
                  <a:srgbClr val="0F7490"/>
                </a:solidFill>
                <a:latin typeface="Menlo"/>
              </a:rPr>
              <a:t>RubricMiddleware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What keeps it going</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Six parts, added on failure · Memory on disk · Ralph · Triggers</a:t>
            </a:r>
          </a:p>
        </p:txBody>
      </p:sp>
      <p:cxnSp>
        <p:nvCxnSpPr>
          <p:cNvPr id="6" name="Connector 5"/>
          <p:cNvCxnSpPr/>
          <p:nvPr/>
        </p:nvCxnSpPr>
        <p:spPr>
          <a:xfrm>
            <a:off x="6446520" y="1604645"/>
            <a:ext cx="0" cy="364871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604645"/>
            <a:ext cx="4693615" cy="3831589"/>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Each pass makes the next one worse</a:t>
            </a:r>
          </a:p>
          <a:p>
            <a:pPr algn="l">
              <a:lnSpc>
                <a:spcPct val="100000"/>
              </a:lnSpc>
              <a:spcBef>
                <a:spcPts val="1189"/>
              </a:spcBef>
            </a:pPr>
            <a:r>
              <a:rPr sz="1700" i="0" b="0">
                <a:solidFill>
                  <a:srgbClr val="CBD5E1"/>
                </a:solidFill>
                <a:latin typeface="Helvetica Neue"/>
              </a:rPr>
              <a:t>Six parts, each fixing one failure</a:t>
            </a:r>
          </a:p>
          <a:p>
            <a:pPr algn="l">
              <a:lnSpc>
                <a:spcPct val="100000"/>
              </a:lnSpc>
              <a:spcBef>
                <a:spcPts val="1189"/>
              </a:spcBef>
            </a:pPr>
            <a:r>
              <a:rPr sz="1700" i="0" b="0">
                <a:solidFill>
                  <a:srgbClr val="CBD5E1"/>
                </a:solidFill>
                <a:latin typeface="Helvetica Neue"/>
              </a:rPr>
              <a:t>The whole loop in motion</a:t>
            </a:r>
          </a:p>
          <a:p>
            <a:pPr algn="l">
              <a:lnSpc>
                <a:spcPct val="100000"/>
              </a:lnSpc>
              <a:spcBef>
                <a:spcPts val="1189"/>
              </a:spcBef>
            </a:pPr>
            <a:r>
              <a:rPr sz="1700" i="0" b="0">
                <a:solidFill>
                  <a:srgbClr val="CBD5E1"/>
                </a:solidFill>
                <a:latin typeface="Helvetica Neue"/>
              </a:rPr>
              <a:t>Five fields carry the auth loop across restarts</a:t>
            </a:r>
          </a:p>
          <a:p>
            <a:pPr algn="l">
              <a:lnSpc>
                <a:spcPct val="100000"/>
              </a:lnSpc>
              <a:spcBef>
                <a:spcPts val="1189"/>
              </a:spcBef>
            </a:pPr>
            <a:r>
              <a:rPr sz="1700" i="0" b="0">
                <a:solidFill>
                  <a:srgbClr val="CBD5E1"/>
                </a:solidFill>
                <a:latin typeface="Helvetica Neue"/>
              </a:rPr>
              <a:t>The Ralph loop, with a ratchet</a:t>
            </a:r>
          </a:p>
          <a:p>
            <a:pPr algn="l">
              <a:lnSpc>
                <a:spcPct val="100000"/>
              </a:lnSpc>
              <a:spcBef>
                <a:spcPts val="1189"/>
              </a:spcBef>
            </a:pPr>
            <a:r>
              <a:rPr sz="1700" i="0" b="0">
                <a:solidFill>
                  <a:srgbClr val="CBD5E1"/>
                </a:solidFill>
                <a:latin typeface="Helvetica Neue"/>
              </a:rPr>
              <a:t>One session plans, the rest pick one item</a:t>
            </a:r>
          </a:p>
          <a:p>
            <a:pPr algn="l">
              <a:lnSpc>
                <a:spcPct val="100000"/>
              </a:lnSpc>
              <a:spcBef>
                <a:spcPts val="1189"/>
              </a:spcBef>
            </a:pPr>
            <a:r>
              <a:rPr sz="1700" i="0" b="0">
                <a:solidFill>
                  <a:srgbClr val="CBD5E1"/>
                </a:solidFill>
                <a:latin typeface="Helvetica Neue"/>
              </a:rPr>
              <a:t>Run until done, or run on a timer</a:t>
            </a:r>
          </a:p>
          <a:p>
            <a:pPr algn="l">
              <a:lnSpc>
                <a:spcPct val="100000"/>
              </a:lnSpc>
              <a:spcBef>
                <a:spcPts val="1189"/>
              </a:spcBef>
            </a:pPr>
            <a:r>
              <a:rPr sz="1700" i="0" b="0">
                <a:solidFill>
                  <a:srgbClr val="CBD5E1"/>
                </a:solidFill>
                <a:latin typeface="Helvetica Neue"/>
              </a:rPr>
              <a:t>An unattended trigger multiplies a run's cost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Each pass makes the next one worse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notes/05-long-running-loops.md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Context rot, context anxiety and session end share one fix, which is that progress lives in files and not in the window.</a:t>
            </a:r>
          </a:p>
        </p:txBody>
      </p:sp>
      <p:sp>
        <p:nvSpPr>
          <p:cNvPr id="13" name="Rectangle 12"/>
          <p:cNvSpPr/>
          <p:nvPr/>
        </p:nvSpPr>
        <p:spPr>
          <a:xfrm>
            <a:off x="777240" y="2601468"/>
            <a:ext cx="109728" cy="17556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60146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 loop that runs for hours must forget on purpose and remember on disk.</a:t>
            </a:r>
          </a:p>
        </p:txBody>
      </p:sp>
      <p:sp>
        <p:nvSpPr>
          <p:cNvPr id="15" name="TextBox 14"/>
          <p:cNvSpPr txBox="1"/>
          <p:nvPr/>
        </p:nvSpPr>
        <p:spPr>
          <a:xfrm>
            <a:off x="1234440" y="394563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Context rot, context anxiety and session end all have the same fix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Six parts, each fixing one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inventory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notes/04-building-blocks.md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Add a building block when you see the failure it fixes, and not before.</a:t>
            </a:r>
          </a:p>
        </p:txBody>
      </p:sp>
      <p:graphicFrame>
        <p:nvGraphicFramePr>
          <p:cNvPr id="13" name="Table 12"/>
          <p:cNvGraphicFramePr>
            <a:graphicFrameLocks noGrp="1"/>
          </p:cNvGraphicFramePr>
          <p:nvPr/>
        </p:nvGraphicFramePr>
        <p:xfrm>
          <a:off x="502920" y="1472184"/>
          <a:ext cx="11185854" cy="2837688"/>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Part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Fixes this failure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Automations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You are still the one pressing go</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Worktrees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bad try breaks main; parallel agents collide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Skills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agent re-guesses your conventions every pass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Connectors / plugins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loop can only edit local files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Sub-agents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Main context floods; the maker grades itself</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Memory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Each restart forgets what was done</a:t>
                      </a:r>
                    </a:p>
                  </a:txBody>
                  <a:tcPr marL="109728" marR="109728" marT="54864" marB="54864" anchor="ctr">
                    <a:solidFill>
                      <a:srgbClr val="F8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whole loop in motion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One pass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notes/04-building-blocks.md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Each pass reads memory, tries one change somewhere disposable, is scored by the scorekeeper, and is saved or rolled back.</a:t>
            </a:r>
          </a:p>
        </p:txBody>
      </p:sp>
      <p:sp>
        <p:nvSpPr>
          <p:cNvPr id="13" name="Rounded Rectangle 12"/>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Read memory</a:t>
            </a:r>
          </a:p>
          <a:p>
            <a:pPr algn="ctr">
              <a:lnSpc>
                <a:spcPct val="110000"/>
              </a:lnSpc>
            </a:pPr>
            <a:r>
              <a:rPr sz="1300" i="0" b="0">
                <a:solidFill>
                  <a:srgbClr val="E8F4F8"/>
                </a:solidFill>
                <a:latin typeface="Helvetica Neue"/>
              </a:rPr>
              <a:t>where did I leave off</a:t>
            </a:r>
          </a:p>
        </p:txBody>
      </p:sp>
      <p:cxnSp>
        <p:nvCxnSpPr>
          <p:cNvPr id="15" name="Connector 14"/>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Make a worktree</a:t>
            </a:r>
          </a:p>
          <a:p>
            <a:pPr algn="ctr">
              <a:lnSpc>
                <a:spcPct val="110000"/>
              </a:lnSpc>
            </a:pPr>
            <a:r>
              <a:rPr sz="1300" i="0" b="0">
                <a:solidFill>
                  <a:srgbClr val="E8F4F8"/>
                </a:solidFill>
                <a:latin typeface="Helvetica Neue"/>
              </a:rPr>
              <a:t>a safe place to try</a:t>
            </a:r>
          </a:p>
        </p:txBody>
      </p:sp>
      <p:cxnSp>
        <p:nvCxnSpPr>
          <p:cNvPr id="18" name="Connector 17"/>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One change</a:t>
            </a:r>
          </a:p>
          <a:p>
            <a:pPr algn="ctr">
              <a:lnSpc>
                <a:spcPct val="110000"/>
              </a:lnSpc>
            </a:pPr>
            <a:r>
              <a:rPr sz="1300" i="0" b="0">
                <a:solidFill>
                  <a:srgbClr val="E8F4F8"/>
                </a:solidFill>
                <a:latin typeface="Helvetica Neue"/>
              </a:rPr>
              <a:t>with the right skill</a:t>
            </a:r>
          </a:p>
        </p:txBody>
      </p:sp>
      <p:cxnSp>
        <p:nvCxnSpPr>
          <p:cNvPr id="21" name="Connector 20"/>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Score it</a:t>
            </a:r>
          </a:p>
          <a:p>
            <a:pPr algn="ctr">
              <a:lnSpc>
                <a:spcPct val="110000"/>
              </a:lnSpc>
            </a:pPr>
            <a:r>
              <a:rPr sz="1300" i="0" b="0">
                <a:solidFill>
                  <a:srgbClr val="E8F4F8"/>
                </a:solidFill>
                <a:latin typeface="Helvetica Neue"/>
              </a:rPr>
              <a:t>not the agent's claim</a:t>
            </a:r>
          </a:p>
        </p:txBody>
      </p:sp>
      <p:cxnSp>
        <p:nvCxnSpPr>
          <p:cNvPr id="24" name="Connector 23"/>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Save or roll back</a:t>
            </a:r>
          </a:p>
          <a:p>
            <a:pPr algn="ctr">
              <a:lnSpc>
                <a:spcPct val="110000"/>
              </a:lnSpc>
            </a:pPr>
            <a:r>
              <a:rPr sz="1300" i="0" b="0">
                <a:solidFill>
                  <a:srgbClr val="E8F4F8"/>
                </a:solidFill>
                <a:latin typeface="Helvetica Neue"/>
              </a:rPr>
              <a:t>then update memory</a:t>
            </a:r>
          </a:p>
        </p:txBody>
      </p:sp>
      <p:cxnSp>
        <p:nvCxnSpPr>
          <p:cNvPr id="27" name="Connector 26"/>
          <p:cNvCxnSpPr/>
          <p:nvPr/>
        </p:nvCxnSpPr>
        <p:spPr>
          <a:xfrm>
            <a:off x="1077135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1420337" y="3465576"/>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42033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420337" y="3502152"/>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the next pass starts here</a:t>
            </a:r>
          </a:p>
        </p:txBody>
      </p:sp>
      <p:sp>
        <p:nvSpPr>
          <p:cNvPr id="31" name="Rectangle 30"/>
          <p:cNvSpPr/>
          <p:nvPr/>
        </p:nvSpPr>
        <p:spPr>
          <a:xfrm>
            <a:off x="502920" y="428879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1970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failed try costs one </a:t>
            </a:r>
            <a:r>
              <a:rPr sz="1710" i="0" b="0">
                <a:solidFill>
                  <a:srgbClr val="0F7490"/>
                </a:solidFill>
                <a:latin typeface="Menlo"/>
              </a:rPr>
              <a:t>git worktree remove</a:t>
            </a:r>
          </a:p>
        </p:txBody>
      </p:sp>
      <p:sp>
        <p:nvSpPr>
          <p:cNvPr id="33" name="Rectangle 32"/>
          <p:cNvSpPr/>
          <p:nvPr/>
        </p:nvSpPr>
        <p:spPr>
          <a:xfrm>
            <a:off x="502920" y="475208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6603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Sub-agents: fresh context, one job, distilled return</a:t>
            </a:r>
          </a:p>
        </p:txBody>
      </p:sp>
      <p:sp>
        <p:nvSpPr>
          <p:cNvPr id="35" name="Rectangle 34"/>
          <p:cNvSpPr/>
          <p:nvPr/>
        </p:nvSpPr>
        <p:spPr>
          <a:xfrm>
            <a:off x="502920" y="5215382"/>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12368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Connectors start read-only: least privilege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Five fields carry the auth loop across restarts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notes/05-long-running-loops.md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The field called what was tried earns its place, because without it a fresh pass reruns the attempt that failed an hour ago.</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Field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Goal</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All tests in tests/auth/ pass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Last score</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41/47 passing</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What was tried</a:t>
                      </a:r>
                    </a:p>
                  </a:txBody>
                  <a:tcPr marL="109728" marR="109728" marT="54864" marB="54864" anchor="ctr">
                    <a:solidFill>
                      <a:srgbClr val="E8F4F8"/>
                    </a:solidFill>
                  </a:tcPr>
                </a:tc>
                <a:tc>
                  <a:txBody>
                    <a:bodyPr wrap="square"/>
                    <a:lstStyle/>
                    <a:p>
                      <a:pPr>
                        <a:lnSpc>
                          <a:spcPct val="100000"/>
                        </a:lnSpc>
                      </a:pPr>
                      <a:r>
                        <a:rPr sz="1530" i="0" b="0">
                          <a:solidFill>
                            <a:srgbClr val="0F7490"/>
                          </a:solidFill>
                          <a:latin typeface="Menlo"/>
                        </a:rPr>
                        <a:t>Mocking the clock in test_expiry: no change</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What is next</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Check token refresh path in auth/session.py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Waiting for a human</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Approve dropping the legacy cookie</a:t>
                      </a:r>
                    </a:p>
                  </a:txBody>
                  <a:tcPr marL="109728" marR="109728" marT="54864" marB="5486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Ralph loop, with a ratchet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minimal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notes/05-long-running-loops.md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 Ralph loop restarts a fresh agent on every pass, and its exit codes keep success apart from cap, clock and stall.</a:t>
            </a:r>
          </a:p>
        </p:txBody>
      </p:sp>
      <p:sp>
        <p:nvSpPr>
          <p:cNvPr id="13" name="Rounded Rectangle 12"/>
          <p:cNvSpPr/>
          <p:nvPr/>
        </p:nvSpPr>
        <p:spPr>
          <a:xfrm>
            <a:off x="502920" y="1472184"/>
            <a:ext cx="6711513" cy="3886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BASH</a:t>
            </a:r>
          </a:p>
        </p:txBody>
      </p:sp>
      <p:sp>
        <p:nvSpPr>
          <p:cNvPr id="15" name="TextBox 14"/>
          <p:cNvSpPr txBox="1"/>
          <p:nvPr/>
        </p:nvSpPr>
        <p:spPr>
          <a:xfrm>
            <a:off x="731520" y="1883664"/>
            <a:ext cx="6254313" cy="324612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best=$(score)</a:t>
            </a:r>
          </a:p>
          <a:p>
            <a:pPr algn="l">
              <a:lnSpc>
                <a:spcPct val="100000"/>
              </a:lnSpc>
            </a:pPr>
            <a:r>
              <a:rPr sz="1400" i="0" b="0">
                <a:solidFill>
                  <a:srgbClr val="E2E8F0"/>
                </a:solidFill>
                <a:latin typeface="Menlo"/>
              </a:rPr>
              <a:t>for ((i = 1; i &lt;= MAX_ITERS; i++)); do</a:t>
            </a:r>
          </a:p>
          <a:p>
            <a:pPr algn="l">
              <a:lnSpc>
                <a:spcPct val="100000"/>
              </a:lnSpc>
            </a:pPr>
            <a:r>
              <a:rPr sz="1400" i="0" b="0">
                <a:solidFill>
                  <a:srgbClr val="E2E8F0"/>
                </a:solidFill>
                <a:latin typeface="Menlo"/>
              </a:rPr>
              <a:t>  past_deadline &amp;&amp; exit 2       # clock</a:t>
            </a:r>
          </a:p>
          <a:p>
            <a:pPr algn="l">
              <a:lnSpc>
                <a:spcPct val="100000"/>
              </a:lnSpc>
            </a:pPr>
            <a:r>
              <a:rPr sz="1400" i="0" b="0">
                <a:solidFill>
                  <a:srgbClr val="E2E8F0"/>
                </a:solidFill>
                <a:latin typeface="Menlo"/>
              </a:rPr>
              <a:t>  $AGENT_CMD &lt; "$PROMPT_FILE"   # fresh</a:t>
            </a:r>
          </a:p>
          <a:p>
            <a:pPr algn="l">
              <a:lnSpc>
                <a:spcPct val="100000"/>
              </a:lnSpc>
            </a:pPr>
            <a:r>
              <a:rPr sz="1400" i="0" b="0">
                <a:solidFill>
                  <a:srgbClr val="E2E8F0"/>
                </a:solidFill>
                <a:latin typeface="Menlo"/>
              </a:rPr>
              <a:t>  now=$(score)</a:t>
            </a:r>
          </a:p>
          <a:p>
            <a:pPr algn="l">
              <a:lnSpc>
                <a:spcPct val="100000"/>
              </a:lnSpc>
            </a:pPr>
            <a:r>
              <a:rPr sz="1400" i="0" b="0">
                <a:solidFill>
                  <a:srgbClr val="E2E8F0"/>
                </a:solidFill>
                <a:latin typeface="Menlo"/>
              </a:rPr>
              <a:t>  if worse; then                # undo</a:t>
            </a:r>
          </a:p>
          <a:p>
            <a:pPr algn="l">
              <a:lnSpc>
                <a:spcPct val="100000"/>
              </a:lnSpc>
            </a:pPr>
            <a:r>
              <a:rPr sz="1400" i="0" b="0">
                <a:solidFill>
                  <a:srgbClr val="E2E8F0"/>
                </a:solidFill>
                <a:latin typeface="Menlo"/>
              </a:rPr>
              <a:t>    git reset --hard; ((stall++))</a:t>
            </a:r>
          </a:p>
          <a:p>
            <a:pPr algn="l">
              <a:lnSpc>
                <a:spcPct val="100000"/>
              </a:lnSpc>
            </a:pPr>
            <a:r>
              <a:rPr sz="1400" i="0" b="0">
                <a:solidFill>
                  <a:srgbClr val="E2E8F0"/>
                </a:solidFill>
                <a:latin typeface="Menlo"/>
              </a:rPr>
              <a:t>  elif better; then             # keep</a:t>
            </a:r>
          </a:p>
          <a:p>
            <a:pPr algn="l">
              <a:lnSpc>
                <a:spcPct val="100000"/>
              </a:lnSpc>
            </a:pPr>
            <a:r>
              <a:rPr sz="1400" i="0" b="0">
                <a:solidFill>
                  <a:srgbClr val="E2E8F0"/>
                </a:solidFill>
                <a:latin typeface="Menlo"/>
              </a:rPr>
              <a:t>    git commit -qam "pass $i"</a:t>
            </a:r>
          </a:p>
          <a:p>
            <a:pPr algn="l">
              <a:lnSpc>
                <a:spcPct val="100000"/>
              </a:lnSpc>
            </a:pPr>
            <a:r>
              <a:rPr sz="1400" i="0" b="0">
                <a:solidFill>
                  <a:srgbClr val="E2E8F0"/>
                </a:solidFill>
                <a:latin typeface="Menlo"/>
              </a:rPr>
              <a:t>    best=$now; stall=0</a:t>
            </a:r>
          </a:p>
          <a:p>
            <a:pPr algn="l">
              <a:lnSpc>
                <a:spcPct val="100000"/>
              </a:lnSpc>
            </a:pPr>
            <a:r>
              <a:rPr sz="1400" i="0" b="0">
                <a:solidFill>
                  <a:srgbClr val="E2E8F0"/>
                </a:solidFill>
                <a:latin typeface="Menlo"/>
              </a:rPr>
              <a:t>  else ((stall++)); fi</a:t>
            </a:r>
          </a:p>
          <a:p>
            <a:pPr algn="l">
              <a:lnSpc>
                <a:spcPct val="100000"/>
              </a:lnSpc>
            </a:pPr>
            <a:r>
              <a:rPr sz="1400" i="0" b="0">
                <a:solidFill>
                  <a:srgbClr val="E2E8F0"/>
                </a:solidFill>
                <a:latin typeface="Menlo"/>
              </a:rPr>
              <a:t>  done_check &amp;&amp; exit 0          # win</a:t>
            </a:r>
          </a:p>
          <a:p>
            <a:pPr algn="l">
              <a:lnSpc>
                <a:spcPct val="100000"/>
              </a:lnSpc>
            </a:pPr>
            <a:r>
              <a:rPr sz="1400" i="0" b="0">
                <a:solidFill>
                  <a:srgbClr val="E2E8F0"/>
                </a:solidFill>
                <a:latin typeface="Menlo"/>
              </a:rPr>
              <a:t>  ((stall &gt;= STALL_LIMIT)) &amp;&amp; exit 3</a:t>
            </a:r>
          </a:p>
          <a:p>
            <a:pPr algn="l">
              <a:lnSpc>
                <a:spcPct val="100000"/>
              </a:lnSpc>
            </a:pPr>
            <a:r>
              <a:rPr sz="1400" i="0" b="0">
                <a:solidFill>
                  <a:srgbClr val="E2E8F0"/>
                </a:solidFill>
                <a:latin typeface="Menlo"/>
              </a:rPr>
              <a:t>done</a:t>
            </a:r>
          </a:p>
          <a:p>
            <a:pPr algn="l">
              <a:lnSpc>
                <a:spcPct val="100000"/>
              </a:lnSpc>
            </a:pPr>
            <a:r>
              <a:rPr sz="1400" i="0" b="0">
                <a:solidFill>
                  <a:srgbClr val="E2E8F0"/>
                </a:solidFill>
                <a:latin typeface="Menlo"/>
              </a:rPr>
              <a:t>exit 1                     # cap != success</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fresh context on every pass</a:t>
            </a:r>
          </a:p>
        </p:txBody>
      </p:sp>
      <p:sp>
        <p:nvSpPr>
          <p:cNvPr id="18" name="Rectangle 17"/>
          <p:cNvSpPr/>
          <p:nvPr/>
        </p:nvSpPr>
        <p:spPr>
          <a:xfrm>
            <a:off x="7580193" y="204368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195681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Exits tell success </a:t>
            </a:r>
            <a:r>
              <a:rPr sz="1800" i="0" b="1">
                <a:solidFill>
                  <a:srgbClr val="1E293B"/>
                </a:solidFill>
                <a:latin typeface="Helvetica Neue"/>
              </a:rPr>
              <a:t>0</a:t>
            </a:r>
            <a:r>
              <a:rPr sz="1800" i="0" b="0">
                <a:solidFill>
                  <a:srgbClr val="1E293B"/>
                </a:solidFill>
                <a:latin typeface="Helvetica Neue"/>
              </a:rPr>
              <a:t>, cap </a:t>
            </a:r>
            <a:r>
              <a:rPr sz="1800" i="0" b="1">
                <a:solidFill>
                  <a:srgbClr val="1E293B"/>
                </a:solidFill>
                <a:latin typeface="Helvetica Neue"/>
              </a:rPr>
              <a:t>1</a:t>
            </a:r>
            <a:r>
              <a:rPr sz="1800" i="0" b="0">
                <a:solidFill>
                  <a:srgbClr val="1E293B"/>
                </a:solidFill>
                <a:latin typeface="Helvetica Neue"/>
              </a:rPr>
              <a:t>, clock </a:t>
            </a:r>
            <a:r>
              <a:rPr sz="1800" i="0" b="1">
                <a:solidFill>
                  <a:srgbClr val="1E293B"/>
                </a:solidFill>
                <a:latin typeface="Helvetica Neue"/>
              </a:rPr>
              <a:t>2</a:t>
            </a:r>
            <a:r>
              <a:rPr sz="1800" i="0" b="0">
                <a:solidFill>
                  <a:srgbClr val="1E293B"/>
                </a:solidFill>
                <a:latin typeface="Helvetica Neue"/>
              </a:rPr>
              <a:t>, stall </a:t>
            </a:r>
            <a:r>
              <a:rPr sz="1800" i="0" b="1">
                <a:solidFill>
                  <a:srgbClr val="1E293B"/>
                </a:solidFill>
                <a:latin typeface="Helvetica Neue"/>
              </a:rPr>
              <a:t>3</a:t>
            </a:r>
            <a:r>
              <a:rPr sz="1800" i="0" b="0">
                <a:solidFill>
                  <a:srgbClr val="1E293B"/>
                </a:solidFill>
                <a:latin typeface="Helvetica Neue"/>
              </a:rPr>
              <a:t> apart</a:t>
            </a:r>
          </a:p>
        </p:txBody>
      </p:sp>
      <p:sp>
        <p:nvSpPr>
          <p:cNvPr id="20" name="Rectangle 19"/>
          <p:cNvSpPr/>
          <p:nvPr/>
        </p:nvSpPr>
        <p:spPr>
          <a:xfrm>
            <a:off x="7580193" y="278434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697479"/>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Harnesses now ship it: stop hooks, </a:t>
            </a:r>
            <a:r>
              <a:rPr sz="1620" i="0" b="0">
                <a:solidFill>
                  <a:srgbClr val="0F7490"/>
                </a:solidFill>
                <a:latin typeface="Menlo"/>
              </a:rPr>
              <a:t>/goal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One session plans, the rest pick one item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Two jobs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notes/05-long-running-loops.md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Loops lean toward reset over compaction, since state is already on disk and the window can simply be cleared.</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Initializer (runs once)</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Turns the task into files</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Feature list, progress log, scaffolding, </a:t>
            </a:r>
            <a:r>
              <a:rPr sz="1530" i="0" b="0">
                <a:solidFill>
                  <a:srgbClr val="0F7490"/>
                </a:solidFill>
                <a:latin typeface="Menlo"/>
              </a:rPr>
              <a:t>init</a:t>
            </a:r>
            <a:r>
              <a:rPr sz="1700" i="0" b="0">
                <a:solidFill>
                  <a:srgbClr val="1E293B"/>
                </a:solidFill>
                <a:latin typeface="Helvetica Neue"/>
              </a:rPr>
              <a:t> script</a:t>
            </a:r>
          </a:p>
        </p:txBody>
      </p:sp>
      <p:sp>
        <p:nvSpPr>
          <p:cNvPr id="20" name="Rectangle 19"/>
          <p:cNvSpPr/>
          <p:nvPr/>
        </p:nvSpPr>
        <p:spPr>
          <a:xfrm>
            <a:off x="731520" y="342722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451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Commits them</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The plan on disk</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Worker (every session)</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Reads the progress log and git history</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Picks </a:t>
            </a:r>
            <a:r>
              <a:rPr sz="1700" i="0" b="1">
                <a:solidFill>
                  <a:srgbClr val="1E293B"/>
                </a:solidFill>
                <a:latin typeface="Helvetica Neue"/>
              </a:rPr>
              <a:t>one</a:t>
            </a:r>
            <a:r>
              <a:rPr sz="1700" i="0" b="0">
                <a:solidFill>
                  <a:srgbClr val="1E293B"/>
                </a:solidFill>
                <a:latin typeface="Helvetica Neue"/>
              </a:rPr>
              <a:t> unfinished item, implements and tests it</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Commits, updates the log, exits cleanly</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Leave the repo clean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Run until done, or run on a timer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Run again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notes/06-triggers-and-schedules.md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If the work has an end, run it until done, and if it is ongoing watching, put it on a timer.</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Run-until-done</a:t>
            </a:r>
          </a:p>
        </p:txBody>
      </p:sp>
      <p:sp>
        <p:nvSpPr>
          <p:cNvPr id="16" name="Rectangle 15"/>
          <p:cNvSpPr/>
          <p:nvPr/>
        </p:nvSpPr>
        <p:spPr>
          <a:xfrm>
            <a:off x="731520" y="2313178"/>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Pass after pass, immediately</a:t>
            </a:r>
          </a:p>
        </p:txBody>
      </p:sp>
      <p:sp>
        <p:nvSpPr>
          <p:cNvPr id="18" name="Rectangle 17"/>
          <p:cNvSpPr/>
          <p:nvPr/>
        </p:nvSpPr>
        <p:spPr>
          <a:xfrm>
            <a:off x="731520" y="2727706"/>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Stops on the finish signal or a cap</a:t>
            </a:r>
          </a:p>
        </p:txBody>
      </p:sp>
      <p:sp>
        <p:nvSpPr>
          <p:cNvPr id="20" name="Rectangle 19"/>
          <p:cNvSpPr/>
          <p:nvPr/>
        </p:nvSpPr>
        <p:spPr>
          <a:xfrm>
            <a:off x="731520" y="3142234"/>
            <a:ext cx="90678" cy="9067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a precise done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080" i="0" b="0">
                <a:solidFill>
                  <a:srgbClr val="0F7490"/>
                </a:solidFill>
                <a:latin typeface="Menlo"/>
              </a:rPr>
              <a:t>/goal</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Timer</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On an interval or cron</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Never stops by itself; each run is short</a:t>
            </a:r>
          </a:p>
        </p:txBody>
      </p:sp>
      <p:sp>
        <p:nvSpPr>
          <p:cNvPr id="31" name="Rectangle 30"/>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Must be cheap when there's nothing to do</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080" i="0" b="0">
                <a:solidFill>
                  <a:srgbClr val="0F7490"/>
                </a:solidFill>
                <a:latin typeface="Menlo"/>
              </a:rPr>
              <a:t>/loop 5m</a:t>
            </a:r>
            <a:r>
              <a:rPr sz="1200" i="0" b="0">
                <a:solidFill>
                  <a:srgbClr val="475569"/>
                </a:solidFill>
                <a:latin typeface="Helvetica Neue"/>
              </a:rPr>
              <a:t>, </a:t>
            </a:r>
            <a:r>
              <a:rPr sz="1080" i="0" b="0">
                <a:solidFill>
                  <a:srgbClr val="0F7490"/>
                </a:solidFill>
                <a:latin typeface="Menlo"/>
              </a:rPr>
              <a:t>/schedule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An unattended trigger multiplies a run's cost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What keeps it going</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notes/06-triggers-and-schedules.md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Before turning one on: a per-run cap, a per-day cap, a no-op path that exits before the model, and alerts on spend.</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 trigger needs per-run and per-day caps, a no-op path that exits before the model, and alerts on spend, and events beat polling.</a:t>
            </a:r>
          </a:p>
        </p:txBody>
      </p:sp>
      <p:graphicFrame>
        <p:nvGraphicFramePr>
          <p:cNvPr id="14" name="Table 13"/>
          <p:cNvGraphicFramePr>
            <a:graphicFrameLocks noGrp="1"/>
          </p:cNvGraphicFramePr>
          <p:nvPr/>
        </p:nvGraphicFramePr>
        <p:xfrm>
          <a:off x="502920" y="2270760"/>
          <a:ext cx="11185854" cy="2139696"/>
        </p:xfrm>
        <a:graphic>
          <a:graphicData uri="http://schemas.openxmlformats.org/drawingml/2006/table">
            <a:tbl>
              <a:tblPr firstRow="1" bandRow="1">
                <a:tableStyleId>{5940675A-B579-460E-94D1-54222C63F5DA}</a:tableStyleId>
              </a:tblPr>
              <a:tblGrid>
                <a:gridCol w="1789736"/>
                <a:gridCol w="4474342"/>
                <a:gridCol w="4921776"/>
              </a:tblGrid>
              <a:tr h="405384">
                <a:tc>
                  <a:txBody>
                    <a:bodyPr wrap="square"/>
                    <a:lstStyle/>
                    <a:p>
                      <a:pPr>
                        <a:lnSpc>
                          <a:spcPct val="100000"/>
                        </a:lnSpc>
                      </a:pPr>
                      <a:r>
                        <a:rPr sz="1700" i="0" b="1">
                          <a:solidFill>
                            <a:srgbClr val="FFFFFF"/>
                          </a:solidFill>
                          <a:latin typeface="Helvetica Neue"/>
                        </a:rPr>
                        <a:t>Trigger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Fires 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Manual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You</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Interactive work you're watching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Event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Sentry error, ticket, failing CI, Slack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Investigate the alert and open a PR</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Schedule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clock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Nightly test-babysitting; 30-minute migration cycles</a:t>
                      </a:r>
                    </a:p>
                  </a:txBody>
                  <a:tcPr marL="109728" marR="109728" marT="54864" marB="54864"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How much to hand off</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The autonomy ladder · The human's new job · Loops that edit loops</a:t>
            </a:r>
          </a:p>
        </p:txBody>
      </p:sp>
      <p:cxnSp>
        <p:nvCxnSpPr>
          <p:cNvPr id="6" name="Connector 5"/>
          <p:cNvCxnSpPr/>
          <p:nvPr/>
        </p:nvCxnSpPr>
        <p:spPr>
          <a:xfrm>
            <a:off x="6446520" y="1323974"/>
            <a:ext cx="0" cy="421005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323974"/>
            <a:ext cx="4693615" cy="4392930"/>
          </a:xfrm>
          <a:prstGeom prst="rect">
            <a:avLst/>
          </a:prstGeom>
          <a:noFill/>
        </p:spPr>
        <p:txBody>
          <a:bodyPr wrap="square" lIns="0" rIns="0" tIns="0" bIns="0" anchor="t">
            <a:noAutofit/>
          </a:bodyPr>
          <a:lstStyle/>
          <a:p>
            <a:pPr algn="l">
              <a:lnSpc>
                <a:spcPct val="100000"/>
              </a:lnSpc>
            </a:pPr>
            <a:r>
              <a:rPr sz="1500" i="0" b="0">
                <a:solidFill>
                  <a:srgbClr val="CBD5E1"/>
                </a:solidFill>
                <a:latin typeface="Helvetica Neue"/>
              </a:rPr>
              <a:t>Handing off faster than you can verify</a:t>
            </a:r>
          </a:p>
          <a:p>
            <a:pPr algn="l">
              <a:lnSpc>
                <a:spcPct val="100000"/>
              </a:lnSpc>
              <a:spcBef>
                <a:spcPts val="1050"/>
              </a:spcBef>
            </a:pPr>
            <a:r>
              <a:rPr sz="1500" i="0" b="0">
                <a:solidFill>
                  <a:srgbClr val="CBD5E1"/>
                </a:solidFill>
                <a:latin typeface="Helvetica Neue"/>
              </a:rPr>
              <a:t>Four rungs, four things handed off</a:t>
            </a:r>
          </a:p>
          <a:p>
            <a:pPr algn="l">
              <a:lnSpc>
                <a:spcPct val="100000"/>
              </a:lnSpc>
              <a:spcBef>
                <a:spcPts val="1050"/>
              </a:spcBef>
            </a:pPr>
            <a:r>
              <a:rPr sz="1500" i="0" b="0">
                <a:solidFill>
                  <a:srgbClr val="CBD5E1"/>
                </a:solidFill>
                <a:latin typeface="Helvetica Neue"/>
              </a:rPr>
              <a:t>Each rung moves along a frontier</a:t>
            </a:r>
          </a:p>
          <a:p>
            <a:pPr algn="l">
              <a:lnSpc>
                <a:spcPct val="100000"/>
              </a:lnSpc>
              <a:spcBef>
                <a:spcPts val="1050"/>
              </a:spcBef>
            </a:pPr>
            <a:r>
              <a:rPr sz="1500" i="0" b="0">
                <a:solidFill>
                  <a:srgbClr val="CBD5E1"/>
                </a:solidFill>
                <a:latin typeface="Helvetica Neue"/>
              </a:rPr>
              <a:t>Approving each call is one control of six</a:t>
            </a:r>
          </a:p>
          <a:p>
            <a:pPr algn="l">
              <a:lnSpc>
                <a:spcPct val="100000"/>
              </a:lnSpc>
              <a:spcBef>
                <a:spcPts val="1050"/>
              </a:spcBef>
            </a:pPr>
            <a:r>
              <a:rPr sz="1500" i="0" b="0">
                <a:solidFill>
                  <a:srgbClr val="CBD5E1"/>
                </a:solidFill>
                <a:latin typeface="Helvetica Neue"/>
              </a:rPr>
              <a:t>As the agent climbs, your job changes</a:t>
            </a:r>
          </a:p>
          <a:p>
            <a:pPr algn="l">
              <a:lnSpc>
                <a:spcPct val="100000"/>
              </a:lnSpc>
              <a:spcBef>
                <a:spcPts val="1050"/>
              </a:spcBef>
            </a:pPr>
            <a:r>
              <a:rPr sz="1500" i="0" b="0">
                <a:solidFill>
                  <a:srgbClr val="CBD5E1"/>
                </a:solidFill>
                <a:latin typeface="Helvetica Neue"/>
              </a:rPr>
              <a:t>A second loop can edit the first</a:t>
            </a:r>
          </a:p>
          <a:p>
            <a:pPr algn="l">
              <a:lnSpc>
                <a:spcPct val="100000"/>
              </a:lnSpc>
              <a:spcBef>
                <a:spcPts val="1050"/>
              </a:spcBef>
            </a:pPr>
            <a:r>
              <a:rPr sz="1500" i="0" b="0">
                <a:solidFill>
                  <a:srgbClr val="CBD5E1"/>
                </a:solidFill>
                <a:latin typeface="Helvetica Neue"/>
              </a:rPr>
              <a:t>Verify the run before you learn from it</a:t>
            </a:r>
          </a:p>
          <a:p>
            <a:pPr algn="l">
              <a:lnSpc>
                <a:spcPct val="100000"/>
              </a:lnSpc>
              <a:spcBef>
                <a:spcPts val="1050"/>
              </a:spcBef>
            </a:pPr>
            <a:r>
              <a:rPr sz="1500" i="0" b="0">
                <a:solidFill>
                  <a:srgbClr val="CBD5E1"/>
                </a:solidFill>
                <a:latin typeface="Helvetica Neue"/>
              </a:rPr>
              <a:t>Put the lesson in the smallest place that works</a:t>
            </a:r>
          </a:p>
          <a:p>
            <a:pPr algn="l">
              <a:lnSpc>
                <a:spcPct val="100000"/>
              </a:lnSpc>
              <a:spcBef>
                <a:spcPts val="1050"/>
              </a:spcBef>
            </a:pPr>
            <a:r>
              <a:rPr sz="1500" i="0" b="0">
                <a:solidFill>
                  <a:srgbClr val="CBD5E1"/>
                </a:solidFill>
                <a:latin typeface="Helvetica Neue"/>
              </a:rPr>
              <a:t>Self-modification is a release process</a:t>
            </a:r>
          </a:p>
          <a:p>
            <a:pPr algn="l">
              <a:lnSpc>
                <a:spcPct val="100000"/>
              </a:lnSpc>
              <a:spcBef>
                <a:spcPts val="1050"/>
              </a:spcBef>
            </a:pPr>
            <a:r>
              <a:rPr sz="1500" i="0" b="0">
                <a:solidFill>
                  <a:srgbClr val="CBD5E1"/>
                </a:solidFill>
                <a:latin typeface="Helvetica Neue"/>
              </a:rPr>
              <a:t>autoresearch: one file, one GPU, one metric</a:t>
            </a:r>
          </a:p>
          <a:p>
            <a:pPr algn="l">
              <a:lnSpc>
                <a:spcPct val="100000"/>
              </a:lnSpc>
              <a:spcBef>
                <a:spcPts val="1050"/>
              </a:spcBef>
            </a:pPr>
            <a:r>
              <a:rPr sz="1500" i="0" b="0">
                <a:solidFill>
                  <a:srgbClr val="CBD5E1"/>
                </a:solidFill>
                <a:latin typeface="Helvetica Neue"/>
              </a:rPr>
              <a:t>Plasticity costs stability</a:t>
            </a:r>
          </a:p>
          <a:p>
            <a:pPr algn="l">
              <a:lnSpc>
                <a:spcPct val="100000"/>
              </a:lnSpc>
              <a:spcBef>
                <a:spcPts val="1050"/>
              </a:spcBef>
            </a:pPr>
            <a:r>
              <a:rPr sz="1500" i="0" b="0">
                <a:solidFill>
                  <a:srgbClr val="CBD5E1"/>
                </a:solidFill>
                <a:latin typeface="Helvetica Neue"/>
              </a:rPr>
              <a:t>An archive keeps an improver climbing</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Handing off faster than you can verify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notes/07-autonomy-ladder.md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Autonomy should grow one rung at a time, each earned with a verifier you trust for what that rung gives away.</a:t>
            </a:r>
          </a:p>
        </p:txBody>
      </p:sp>
      <p:sp>
        <p:nvSpPr>
          <p:cNvPr id="13" name="Rectangle 12"/>
          <p:cNvSpPr/>
          <p:nvPr/>
        </p:nvSpPr>
        <p:spPr>
          <a:xfrm>
            <a:off x="777240" y="2299716"/>
            <a:ext cx="109728" cy="235915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Earn each handoff with a verifier. Skipping rungs is how you get a doom loop.</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Four rungs, each giving up one thing you used to do yourself (notes/07)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rungs, four things handed off</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ladder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notes/07-autonomy-ladder.md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The rungs hand off tool approval, the stop condition, the trigger to a clock, and finally the trigger and session.</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Turn-based</a:t>
            </a:r>
            <a:r>
              <a:rPr sz="1800" i="0" b="0">
                <a:solidFill>
                  <a:srgbClr val="475569"/>
                </a:solidFill>
                <a:latin typeface="Helvetica Neue"/>
              </a:rPr>
              <a:t> — tool approval within a turn. Where you learn how tasks fail</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Goal-based (</a:t>
            </a:r>
            <a:r>
              <a:rPr sz="1620" i="0" b="1">
                <a:solidFill>
                  <a:srgbClr val="0F7490"/>
                </a:solidFill>
                <a:latin typeface="Menlo"/>
              </a:rPr>
              <a:t>/goal</a:t>
            </a:r>
            <a:r>
              <a:rPr sz="1800" i="0" b="1">
                <a:solidFill>
                  <a:srgbClr val="1E293B"/>
                </a:solidFill>
                <a:latin typeface="Helvetica Neue"/>
              </a:rPr>
              <a:t>)</a:t>
            </a:r>
            <a:r>
              <a:rPr sz="1800" i="0" b="0">
                <a:solidFill>
                  <a:srgbClr val="475569"/>
                </a:solidFill>
                <a:latin typeface="Helvetica Neue"/>
              </a:rPr>
              <a:t> — the stop condition. Needs a measurable end state</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Time-based (</a:t>
            </a:r>
            <a:r>
              <a:rPr sz="1620" i="0" b="1">
                <a:solidFill>
                  <a:srgbClr val="0F7490"/>
                </a:solidFill>
                <a:latin typeface="Menlo"/>
              </a:rPr>
              <a:t>/loop</a:t>
            </a:r>
            <a:r>
              <a:rPr sz="1800" i="0" b="1">
                <a:solidFill>
                  <a:srgbClr val="1E293B"/>
                </a:solidFill>
                <a:latin typeface="Helvetica Neue"/>
              </a:rPr>
              <a:t>)</a:t>
            </a:r>
            <a:r>
              <a:rPr sz="1800" i="0" b="0">
                <a:solidFill>
                  <a:srgbClr val="475569"/>
                </a:solidFill>
                <a:latin typeface="Helvetica Neue"/>
              </a:rPr>
              <a:t> — the trigger, to a clock. Session-scoped, your permissions</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Proactive (</a:t>
            </a:r>
            <a:r>
              <a:rPr sz="1620" i="0" b="1">
                <a:solidFill>
                  <a:srgbClr val="0F7490"/>
                </a:solidFill>
                <a:latin typeface="Menlo"/>
              </a:rPr>
              <a:t>/schedule</a:t>
            </a:r>
            <a:r>
              <a:rPr sz="1800" i="0" b="1">
                <a:solidFill>
                  <a:srgbClr val="1E293B"/>
                </a:solidFill>
                <a:latin typeface="Helvetica Neue"/>
              </a:rPr>
              <a:t>)</a:t>
            </a:r>
            <a:r>
              <a:rPr sz="1800" i="0" b="0">
                <a:solidFill>
                  <a:srgbClr val="475569"/>
                </a:solidFill>
                <a:latin typeface="Helvetica Neue"/>
              </a:rPr>
              <a:t> — trigger and session. Needs a verifier you trust unattended</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more handed off</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Each rung moves along a frontier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trade-off</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notes/07-autonomy-ladder.md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Climbing a rung trades reliability for agency, and streaming, structured output and human controls push that curve outward.</a:t>
            </a:r>
          </a:p>
        </p:txBody>
      </p:sp>
      <p:sp>
        <p:nvSpPr>
          <p:cNvPr id="13" name="Rectangle 12"/>
          <p:cNvSpPr/>
          <p:nvPr/>
        </p:nvSpPr>
        <p:spPr>
          <a:xfrm>
            <a:off x="1445664" y="1417320"/>
            <a:ext cx="4266731"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earning-langchain-fig8-1.png"/>
          <p:cNvPicPr>
            <a:picLocks noChangeAspect="1"/>
          </p:cNvPicPr>
          <p:nvPr/>
        </p:nvPicPr>
        <p:blipFill>
          <a:blip r:embed="rId2"/>
          <a:stretch>
            <a:fillRect/>
          </a:stretch>
        </p:blipFill>
        <p:spPr>
          <a:xfrm>
            <a:off x="1500528" y="1472184"/>
            <a:ext cx="4157003"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The agency-reliability frontier (Oshin &amp; Campos, Learning LangChain, Fig. 8-1)</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chain: low agency, high reliability. An agent: the reverse</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Engineering pushes the curve </a:t>
            </a:r>
            <a:r>
              <a:rPr sz="1800" i="0" b="1">
                <a:solidFill>
                  <a:srgbClr val="1E293B"/>
                </a:solidFill>
                <a:latin typeface="Helvetica Neue"/>
              </a:rPr>
              <a:t>outward</a:t>
            </a:r>
          </a:p>
        </p:txBody>
      </p:sp>
      <p:sp>
        <p:nvSpPr>
          <p:cNvPr id="20" name="Rectangle 19"/>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651760"/>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Levers: streaming, structured output, human-in-the-loop, a mid-run input policy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Approving each call is one control of six</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Human controls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notes/07-autonomy-ladder.md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 loop that cannot be edited or forked mid-run pushes humans toward approving whatever is in front of them.</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Interrupt</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Stop a running loop from outside.</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Authorize</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Pause before chosen steps, usually tool calls, and wait.</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Resume</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Continue from the pause as if nothing happened.</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Restart</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Send new input; pending steps cancel and the loop restarts with merged state.</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Edit state</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Change the saved state, then resume from the edit.</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Fork</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Go back to any earlier checkpoint and run again from there.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As the agent climbs, your job changes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human side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notes/07-autonomy-ladder.md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As autonomy rises the human moves from executor to reviewer, collaborator and governor, and each role needs a different interface.</a:t>
            </a:r>
          </a:p>
        </p:txBody>
      </p:sp>
      <p:sp>
        <p:nvSpPr>
          <p:cNvPr id="13" name="Rectangle 12"/>
          <p:cNvSpPr/>
          <p:nvPr/>
        </p:nvSpPr>
        <p:spPr>
          <a:xfrm>
            <a:off x="448056" y="1417320"/>
            <a:ext cx="6261948" cy="13504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building-applications-with-ai-agents-fig13-1.png"/>
          <p:cNvPicPr>
            <a:picLocks noChangeAspect="1"/>
          </p:cNvPicPr>
          <p:nvPr/>
        </p:nvPicPr>
        <p:blipFill>
          <a:blip r:embed="rId2"/>
          <a:stretch>
            <a:fillRect/>
          </a:stretch>
        </p:blipFill>
        <p:spPr>
          <a:xfrm>
            <a:off x="502920" y="1472184"/>
            <a:ext cx="6152220" cy="1240697"/>
          </a:xfrm>
          <a:prstGeom prst="rect">
            <a:avLst/>
          </a:prstGeom>
        </p:spPr>
      </p:pic>
      <p:sp>
        <p:nvSpPr>
          <p:cNvPr id="15" name="TextBox 14"/>
          <p:cNvSpPr txBox="1"/>
          <p:nvPr/>
        </p:nvSpPr>
        <p:spPr>
          <a:xfrm>
            <a:off x="502920" y="28500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Four human roles (Albada, Building Applications with AI Agents, Fig. 13-1)</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Executor:</a:t>
            </a:r>
            <a:r>
              <a:rPr sz="1800" i="0" b="0">
                <a:solidFill>
                  <a:srgbClr val="1E293B"/>
                </a:solidFill>
                <a:latin typeface="Helvetica Neue"/>
              </a:rPr>
              <a:t> reviews every output; needs tight feedback</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Reviewer:</a:t>
            </a:r>
            <a:r>
              <a:rPr sz="1800" i="0" b="0">
                <a:solidFill>
                  <a:srgbClr val="1E293B"/>
                </a:solidFill>
                <a:latin typeface="Helvetica Neue"/>
              </a:rPr>
              <a:t> spot-checks; needs dashboards and exception flags</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Collaborator:</a:t>
            </a:r>
            <a:r>
              <a:rPr sz="1800" i="0" b="0">
                <a:solidFill>
                  <a:srgbClr val="1E293B"/>
                </a:solidFill>
                <a:latin typeface="Helvetica Neue"/>
              </a:rPr>
              <a:t> sets priorities; needs a shared planning UI</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Governor:</a:t>
            </a:r>
            <a:r>
              <a:rPr sz="1800" i="0" b="0">
                <a:solidFill>
                  <a:srgbClr val="1E293B"/>
                </a:solidFill>
                <a:latin typeface="Helvetica Neue"/>
              </a:rPr>
              <a:t> sets policy and audits; needs logs and explainability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second loop can edit the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slow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notes/08-self-improving-loops.md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An evolve loop rewrites contract, state, triggers and procedure while the model stays fixed, and no change is a valid outcome.</a:t>
            </a:r>
          </a:p>
        </p:txBody>
      </p:sp>
      <p:sp>
        <p:nvSpPr>
          <p:cNvPr id="13" name="Rectangle 12"/>
          <p:cNvSpPr/>
          <p:nvPr/>
        </p:nvSpPr>
        <p:spPr>
          <a:xfrm>
            <a:off x="448056" y="1417320"/>
            <a:ext cx="6261948" cy="232452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9-1-5160737724856700652.png"/>
          <p:cNvPicPr>
            <a:picLocks noChangeAspect="1"/>
          </p:cNvPicPr>
          <p:nvPr/>
        </p:nvPicPr>
        <p:blipFill>
          <a:blip r:embed="rId2"/>
          <a:stretch>
            <a:fillRect/>
          </a:stretch>
        </p:blipFill>
        <p:spPr>
          <a:xfrm>
            <a:off x="502920" y="1472184"/>
            <a:ext cx="6152220" cy="2214799"/>
          </a:xfrm>
          <a:prstGeom prst="rect">
            <a:avLst/>
          </a:prstGeom>
        </p:spPr>
      </p:pic>
      <p:sp>
        <p:nvSpPr>
          <p:cNvPr id="15" name="TextBox 14"/>
          <p:cNvSpPr txBox="1"/>
          <p:nvPr/>
        </p:nvSpPr>
        <p:spPr>
          <a:xfrm>
            <a:off x="502920" y="3824143"/>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Execute, record, form signals, generate candidate updates, verify, release (Li, 2026, Fig. 9-1, Apache-2.0)</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An evolve loop is a slower loop pointed at a faster one</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It rewrites files and leaves weights alone</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Targets: contract, state, trigger logic, SOP steps</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 change needed</a:t>
            </a:r>
            <a:r>
              <a:rPr sz="1800" i="0" b="0">
                <a:solidFill>
                  <a:srgbClr val="1E293B"/>
                </a:solidFill>
                <a:latin typeface="Helvetica Neue"/>
              </a:rPr>
              <a:t> must be an explicit, successful outcome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Verify the run before you learn from 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notes/08-self-improving-loops.md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Verification output should be structured by dimension, because a single 0.57 average points at no particular fix.</a:t>
            </a:r>
          </a:p>
        </p:txBody>
      </p:sp>
      <p:sp>
        <p:nvSpPr>
          <p:cNvPr id="13" name="Rounded Rectangle 12"/>
          <p:cNvSpPr/>
          <p:nvPr/>
        </p:nvSpPr>
        <p:spPr>
          <a:xfrm>
            <a:off x="502920" y="1472184"/>
            <a:ext cx="6711513" cy="38557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15640"/>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_promise_action(self, traj):</a:t>
            </a:r>
          </a:p>
          <a:p>
            <a:pPr algn="l">
              <a:lnSpc>
                <a:spcPct val="100000"/>
              </a:lnSpc>
            </a:pPr>
            <a:r>
              <a:rPr sz="1600" i="0" b="0">
                <a:solidFill>
                  <a:srgbClr val="E2E8F0"/>
                </a:solidFill>
                <a:latin typeface="Menlo"/>
              </a:rPr>
              <a:t>    ok = {c["name"]</a:t>
            </a:r>
          </a:p>
          <a:p>
            <a:pPr algn="l">
              <a:lnSpc>
                <a:spcPct val="100000"/>
              </a:lnSpc>
            </a:pPr>
            <a:r>
              <a:rPr sz="1600" i="0" b="0">
                <a:solidFill>
                  <a:srgbClr val="E2E8F0"/>
                </a:solidFill>
                <a:latin typeface="Menlo"/>
              </a:rPr>
              <a:t>          for c in traj["tool_calls"]</a:t>
            </a:r>
          </a:p>
          <a:p>
            <a:pPr algn="l">
              <a:lnSpc>
                <a:spcPct val="100000"/>
              </a:lnSpc>
            </a:pPr>
            <a:r>
              <a:rPr sz="1600" i="0" b="0">
                <a:solidFill>
                  <a:srgbClr val="E2E8F0"/>
                </a:solidFill>
                <a:latin typeface="Menlo"/>
              </a:rPr>
              <a:t>          if c["result"].get("success")}</a:t>
            </a:r>
          </a:p>
          <a:p>
            <a:pPr algn="l">
              <a:lnSpc>
                <a:spcPct val="100000"/>
              </a:lnSpc>
            </a:pPr>
            <a:r>
              <a:rPr sz="1600" i="0" b="0">
                <a:solidFill>
                  <a:srgbClr val="E2E8F0"/>
                </a:solidFill>
                <a:latin typeface="Menlo"/>
              </a:rPr>
              <a:t>    missing = [p for p in traj["promises"]</a:t>
            </a:r>
          </a:p>
          <a:p>
            <a:pPr algn="l">
              <a:lnSpc>
                <a:spcPct val="100000"/>
              </a:lnSpc>
            </a:pPr>
            <a:r>
              <a:rPr sz="1600" i="0" b="0">
                <a:solidFill>
                  <a:srgbClr val="E2E8F0"/>
                </a:solidFill>
                <a:latin typeface="Menlo"/>
              </a:rPr>
              <a:t>               if p["required_tool"] not in ok]</a:t>
            </a:r>
          </a:p>
          <a:p>
            <a:pPr algn="l">
              <a:lnSpc>
                <a:spcPct val="100000"/>
              </a:lnSpc>
            </a:pPr>
            <a:r>
              <a:rPr sz="1600" i="0" b="0">
                <a:solidFill>
                  <a:srgbClr val="E2E8F0"/>
                </a:solidFill>
                <a:latin typeface="Menlo"/>
              </a:rPr>
              <a:t>    if missing:    # said it, never did it</a:t>
            </a:r>
          </a:p>
          <a:p>
            <a:pPr algn="l">
              <a:lnSpc>
                <a:spcPct val="100000"/>
              </a:lnSpc>
            </a:pPr>
            <a:r>
              <a:rPr sz="1600" i="0" b="0">
                <a:solidFill>
                  <a:srgbClr val="E2E8F0"/>
                </a:solidFill>
                <a:latin typeface="Menlo"/>
              </a:rPr>
              <a:t>        return DimensionResult(</a:t>
            </a:r>
          </a:p>
          <a:p>
            <a:pPr algn="l">
              <a:lnSpc>
                <a:spcPct val="100000"/>
              </a:lnSpc>
            </a:pPr>
            <a:r>
              <a:rPr sz="1600" i="0" b="0">
                <a:solidFill>
                  <a:srgbClr val="E2E8F0"/>
                </a:solidFill>
                <a:latin typeface="Menlo"/>
              </a:rPr>
              <a:t>            "promise_action_consistency",</a:t>
            </a:r>
          </a:p>
          <a:p>
            <a:pPr algn="l">
              <a:lnSpc>
                <a:spcPct val="100000"/>
              </a:lnSpc>
            </a:pPr>
            <a:r>
              <a:rPr sz="1600" i="0" b="0">
                <a:solidFill>
                  <a:srgbClr val="E2E8F0"/>
                </a:solidFill>
                <a:latin typeface="Menlo"/>
              </a:rPr>
              <a:t>            "process_rules", FAIL, 0.0,</a:t>
            </a:r>
          </a:p>
          <a:p>
            <a:pPr algn="l">
              <a:lnSpc>
                <a:spcPct val="100000"/>
              </a:lnSpc>
            </a:pPr>
            <a:r>
              <a:rPr sz="1600" i="0" b="0">
                <a:solidFill>
                  <a:srgbClr val="E2E8F0"/>
                </a:solidFill>
                <a:latin typeface="Menlo"/>
              </a:rPr>
              <a:t>            [f"turn {p['turn']}: {p['text']}"</a:t>
            </a:r>
          </a:p>
          <a:p>
            <a:pPr algn="l">
              <a:lnSpc>
                <a:spcPct val="100000"/>
              </a:lnSpc>
            </a:pPr>
            <a:r>
              <a:rPr sz="1600" i="0" b="0">
                <a:solidFill>
                  <a:srgbClr val="E2E8F0"/>
                </a:solidFill>
                <a:latin typeface="Menlo"/>
              </a:rPr>
              <a:t>             for p in missing],  # evidence</a:t>
            </a:r>
          </a:p>
          <a:p>
            <a:pPr algn="l">
              <a:lnSpc>
                <a:spcPct val="100000"/>
              </a:lnSpc>
            </a:pPr>
            <a:r>
              <a:rPr sz="1600" i="0" b="0">
                <a:solidFill>
                  <a:srgbClr val="E2E8F0"/>
                </a:solidFill>
                <a:latin typeface="Menlo"/>
              </a:rPr>
              <a:t>            confidence=1.0)</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Three layers: </a:t>
            </a:r>
            <a:r>
              <a:rPr sz="1800" i="0" b="1">
                <a:solidFill>
                  <a:srgbClr val="1E293B"/>
                </a:solidFill>
                <a:latin typeface="Helvetica Neue"/>
              </a:rPr>
              <a:t>outcome</a:t>
            </a:r>
            <a:r>
              <a:rPr sz="1800" i="0" b="0">
                <a:solidFill>
                  <a:srgbClr val="1E293B"/>
                </a:solidFill>
                <a:latin typeface="Helvetica Neue"/>
              </a:rPr>
              <a:t> and </a:t>
            </a:r>
            <a:r>
              <a:rPr sz="1800" i="0" b="1">
                <a:solidFill>
                  <a:srgbClr val="1E293B"/>
                </a:solidFill>
                <a:latin typeface="Helvetica Neue"/>
              </a:rPr>
              <a:t>process</a:t>
            </a:r>
            <a:r>
              <a:rPr sz="1800" i="0" b="0">
                <a:solidFill>
                  <a:srgbClr val="1E293B"/>
                </a:solidFill>
                <a:latin typeface="Helvetica Neue"/>
              </a:rPr>
              <a:t> in code, </a:t>
            </a:r>
            <a:r>
              <a:rPr sz="1800" i="0" b="1">
                <a:solidFill>
                  <a:srgbClr val="1E293B"/>
                </a:solidFill>
                <a:latin typeface="Helvetica Neue"/>
              </a:rPr>
              <a:t>quality</a:t>
            </a:r>
            <a:r>
              <a:rPr sz="1800" i="0" b="0">
                <a:solidFill>
                  <a:srgbClr val="1E293B"/>
                </a:solidFill>
                <a:latin typeface="Helvetica Neue"/>
              </a:rPr>
              <a:t> by rubric</a:t>
            </a:r>
          </a:p>
        </p:txBody>
      </p:sp>
      <p:sp>
        <p:nvSpPr>
          <p:cNvPr id="18" name="Rectangle 17"/>
          <p:cNvSpPr/>
          <p:nvPr/>
        </p:nvSpPr>
        <p:spPr>
          <a:xfrm>
            <a:off x="7580193" y="264718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560320"/>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False promise and privacy leak both average </a:t>
            </a:r>
            <a:r>
              <a:rPr sz="1800" i="0" b="1">
                <a:solidFill>
                  <a:srgbClr val="1E293B"/>
                </a:solidFill>
                <a:latin typeface="Helvetica Neue"/>
              </a:rPr>
              <a:t>0.571</a:t>
            </a:r>
            <a:r>
              <a:rPr sz="1800" i="0" b="0">
                <a:solidFill>
                  <a:srgbClr val="1E293B"/>
                </a:solidFill>
                <a:latin typeface="Helvetica Neue"/>
              </a:rPr>
              <a:t> but need different fixes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Put the lesson in the smallest place that works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target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notes/08-self-improving-loops.md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Choose the smallest lesson target that is easiest to verify and roll back, moving it toward code only as it proves out.</a:t>
            </a:r>
          </a:p>
        </p:txBody>
      </p:sp>
      <p:sp>
        <p:nvSpPr>
          <p:cNvPr id="13" name="Rectangle 12"/>
          <p:cNvSpPr/>
          <p:nvPr/>
        </p:nvSpPr>
        <p:spPr>
          <a:xfrm>
            <a:off x="448056" y="1417320"/>
            <a:ext cx="6261948" cy="263213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9-3-7341361301474030348.png"/>
          <p:cNvPicPr>
            <a:picLocks noChangeAspect="1"/>
          </p:cNvPicPr>
          <p:nvPr/>
        </p:nvPicPr>
        <p:blipFill>
          <a:blip r:embed="rId2"/>
          <a:stretch>
            <a:fillRect/>
          </a:stretch>
        </p:blipFill>
        <p:spPr>
          <a:xfrm>
            <a:off x="502920" y="1472184"/>
            <a:ext cx="6152220" cy="2522410"/>
          </a:xfrm>
          <a:prstGeom prst="rect">
            <a:avLst/>
          </a:prstGeom>
        </p:spPr>
      </p:pic>
      <p:sp>
        <p:nvSpPr>
          <p:cNvPr id="15" name="TextBox 14"/>
          <p:cNvSpPr txBox="1"/>
          <p:nvPr/>
        </p:nvSpPr>
        <p:spPr>
          <a:xfrm>
            <a:off x="502920" y="413175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docs, prompts and Skills, programs and harness, parameters (Li, 2026, Fig. 9-3, Apache-2.0)</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Starts as an </a:t>
            </a:r>
            <a:r>
              <a:rPr sz="1800" i="0" b="1">
                <a:solidFill>
                  <a:srgbClr val="1E293B"/>
                </a:solidFill>
                <a:latin typeface="Helvetica Neue"/>
              </a:rPr>
              <a:t>experience doc</a:t>
            </a:r>
            <a:r>
              <a:rPr sz="1800" i="0" b="0">
                <a:solidFill>
                  <a:srgbClr val="1E293B"/>
                </a:solidFill>
                <a:latin typeface="Helvetica Neue"/>
              </a:rPr>
              <a:t>, from comparison and not summary</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Promoted to a </a:t>
            </a:r>
            <a:r>
              <a:rPr sz="1800" i="0" b="1">
                <a:solidFill>
                  <a:srgbClr val="1E293B"/>
                </a:solidFill>
                <a:latin typeface="Helvetica Neue"/>
              </a:rPr>
              <a:t>Skill</a:t>
            </a:r>
            <a:r>
              <a:rPr sz="1800" i="0" b="0">
                <a:solidFill>
                  <a:srgbClr val="1E293B"/>
                </a:solidFill>
                <a:latin typeface="Helvetica Neue"/>
              </a:rPr>
              <a:t> rule after repeated validation</a:t>
            </a:r>
          </a:p>
        </p:txBody>
      </p:sp>
      <p:sp>
        <p:nvSpPr>
          <p:cNvPr id="20" name="Rectangle 19"/>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Compiled into </a:t>
            </a:r>
            <a:r>
              <a:rPr sz="1800" i="0" b="1">
                <a:solidFill>
                  <a:srgbClr val="1E293B"/>
                </a:solidFill>
                <a:latin typeface="Helvetica Neue"/>
              </a:rPr>
              <a:t>code</a:t>
            </a:r>
            <a:r>
              <a:rPr sz="1800" i="0" b="0">
                <a:solidFill>
                  <a:srgbClr val="1E293B"/>
                </a:solidFill>
                <a:latin typeface="Helvetica Neue"/>
              </a:rPr>
              <a:t> if it needs no language understanding</a:t>
            </a:r>
          </a:p>
        </p:txBody>
      </p:sp>
      <p:sp>
        <p:nvSpPr>
          <p:cNvPr id="22" name="Rectangle 21"/>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Weights</a:t>
            </a:r>
            <a:r>
              <a:rPr sz="1800" i="0" b="0">
                <a:solidFill>
                  <a:srgbClr val="1E293B"/>
                </a:solidFill>
                <a:latin typeface="Helvetica Neue"/>
              </a:rPr>
              <a:t> only for broad, implicit judgment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Self-modification is a release process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release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notes/08-self-improving-loops.md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A self-edit goes through branch, patch, checks, replay and canary, with a gate outside the model deciding the release.</a:t>
            </a:r>
          </a:p>
        </p:txBody>
      </p:sp>
      <p:sp>
        <p:nvSpPr>
          <p:cNvPr id="13" name="Rounded Rectangle 12"/>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Branch</a:t>
            </a:r>
          </a:p>
          <a:p>
            <a:pPr algn="ctr">
              <a:lnSpc>
                <a:spcPct val="110000"/>
              </a:lnSpc>
            </a:pPr>
            <a:r>
              <a:rPr sz="1300" i="0" b="0">
                <a:solidFill>
                  <a:srgbClr val="E8F4F8"/>
                </a:solidFill>
                <a:latin typeface="Helvetica Neue"/>
              </a:rPr>
              <a:t>from stable</a:t>
            </a:r>
          </a:p>
        </p:txBody>
      </p:sp>
      <p:cxnSp>
        <p:nvCxnSpPr>
          <p:cNvPr id="15" name="Connector 14"/>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Minimal patch</a:t>
            </a:r>
          </a:p>
          <a:p>
            <a:pPr algn="ctr">
              <a:lnSpc>
                <a:spcPct val="110000"/>
              </a:lnSpc>
            </a:pPr>
            <a:r>
              <a:rPr sz="1300" i="0" b="0">
                <a:solidFill>
                  <a:srgbClr val="E8F4F8"/>
                </a:solidFill>
                <a:latin typeface="Helvetica Neue"/>
              </a:rPr>
              <a:t>in a candidate dir</a:t>
            </a:r>
          </a:p>
        </p:txBody>
      </p:sp>
      <p:cxnSp>
        <p:nvCxnSpPr>
          <p:cNvPr id="18" name="Connector 17"/>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Checks</a:t>
            </a:r>
          </a:p>
          <a:p>
            <a:pPr algn="ctr">
              <a:lnSpc>
                <a:spcPct val="110000"/>
              </a:lnSpc>
            </a:pPr>
            <a:r>
              <a:rPr sz="1300" i="0" b="0">
                <a:solidFill>
                  <a:srgbClr val="E8F4F8"/>
                </a:solidFill>
                <a:latin typeface="Helvetica Neue"/>
              </a:rPr>
              <a:t>static, unit, security</a:t>
            </a:r>
          </a:p>
        </p:txBody>
      </p:sp>
      <p:cxnSp>
        <p:nvCxnSpPr>
          <p:cNvPr id="21" name="Connector 20"/>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Replay + regress</a:t>
            </a:r>
          </a:p>
          <a:p>
            <a:pPr algn="ctr">
              <a:lnSpc>
                <a:spcPct val="110000"/>
              </a:lnSpc>
            </a:pPr>
            <a:r>
              <a:rPr sz="1300" i="0" b="0">
                <a:solidFill>
                  <a:srgbClr val="E8F4F8"/>
                </a:solidFill>
                <a:latin typeface="Helvetica Neue"/>
              </a:rPr>
              <a:t>failures and old tasks</a:t>
            </a:r>
          </a:p>
        </p:txBody>
      </p:sp>
      <p:cxnSp>
        <p:nvCxnSpPr>
          <p:cNvPr id="24" name="Connector 23"/>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Canary or reject</a:t>
            </a:r>
          </a:p>
          <a:p>
            <a:pPr algn="ctr">
              <a:lnSpc>
                <a:spcPct val="110000"/>
              </a:lnSpc>
            </a:pPr>
            <a:r>
              <a:rPr sz="1300" i="0" b="0">
                <a:solidFill>
                  <a:srgbClr val="E8F4F8"/>
                </a:solidFill>
                <a:latin typeface="Helvetica Neue"/>
              </a:rPr>
              <a:t>never straight to stable</a:t>
            </a:r>
          </a:p>
        </p:txBody>
      </p:sp>
      <p:sp>
        <p:nvSpPr>
          <p:cNvPr id="27" name="Rectangle 26"/>
          <p:cNvSpPr/>
          <p:nvPr/>
        </p:nvSpPr>
        <p:spPr>
          <a:xfrm>
            <a:off x="502920" y="346583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374136"/>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Falsifiable change contract:</a:t>
            </a:r>
            <a:r>
              <a:rPr sz="1900" i="0" b="0">
                <a:solidFill>
                  <a:srgbClr val="1E293B"/>
                </a:solidFill>
                <a:latin typeface="Helvetica Neue"/>
              </a:rPr>
              <a:t> root cause, expected gain, possible regression, tests for both</a:t>
            </a:r>
          </a:p>
        </p:txBody>
      </p:sp>
      <p:sp>
        <p:nvSpPr>
          <p:cNvPr id="29" name="Rectangle 28"/>
          <p:cNvSpPr/>
          <p:nvPr/>
        </p:nvSpPr>
        <p:spPr>
          <a:xfrm>
            <a:off x="502920" y="4247642"/>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15594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Trigger:</a:t>
            </a:r>
            <a:r>
              <a:rPr sz="1900" i="0" b="0">
                <a:solidFill>
                  <a:srgbClr val="1E293B"/>
                </a:solidFill>
                <a:latin typeface="Helvetica Neue"/>
              </a:rPr>
              <a:t> at least </a:t>
            </a:r>
            <a:r>
              <a:rPr sz="1900" i="0" b="1">
                <a:solidFill>
                  <a:srgbClr val="1E293B"/>
                </a:solidFill>
                <a:latin typeface="Helvetica Neue"/>
              </a:rPr>
              <a:t>2</a:t>
            </a:r>
            <a:r>
              <a:rPr sz="1900" i="0" b="0">
                <a:solidFill>
                  <a:srgbClr val="1E293B"/>
                </a:solidFill>
                <a:latin typeface="Helvetica Neue"/>
              </a:rPr>
              <a:t> failure trajectories with the same tool and error code</a:t>
            </a:r>
          </a:p>
        </p:txBody>
      </p:sp>
      <p:sp>
        <p:nvSpPr>
          <p:cNvPr id="31" name="Rectangle 30"/>
          <p:cNvSpPr/>
          <p:nvPr/>
        </p:nvSpPr>
        <p:spPr>
          <a:xfrm>
            <a:off x="502920" y="471093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619244"/>
            <a:ext cx="10865815"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gate runs outside the model, so a plausible patch that breaks timeouts still gets </a:t>
            </a:r>
            <a:r>
              <a:rPr sz="1900" i="0" b="1">
                <a:solidFill>
                  <a:srgbClr val="1E293B"/>
                </a:solidFill>
                <a:latin typeface="Helvetica Neue"/>
              </a:rPr>
              <a:t>reject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autoresearch: one file, one GPU, one metric</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case study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notes/08-self-improving-loops.md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With an objective metric and a protected evaluator, a loop with an under-3% hit rate still found 20 real improvements in 700 tries.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The loop</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Agent edits </a:t>
            </a:r>
            <a:r>
              <a:rPr sz="1530" i="0" b="0">
                <a:solidFill>
                  <a:srgbClr val="0F7490"/>
                </a:solidFill>
                <a:latin typeface="Menlo"/>
              </a:rPr>
              <a:t>train.py</a:t>
            </a:r>
            <a:r>
              <a:rPr sz="1700" i="0" b="0">
                <a:solidFill>
                  <a:srgbClr val="1E293B"/>
                </a:solidFill>
                <a:latin typeface="Helvetica Neue"/>
              </a:rPr>
              <a:t>; nobody edits </a:t>
            </a:r>
            <a:r>
              <a:rPr sz="1530" i="0" b="0">
                <a:solidFill>
                  <a:srgbClr val="0F7490"/>
                </a:solidFill>
                <a:latin typeface="Menlo"/>
              </a:rPr>
              <a:t>prepare.py</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Fixed </a:t>
            </a:r>
            <a:r>
              <a:rPr sz="1700" i="0" b="1">
                <a:solidFill>
                  <a:srgbClr val="1E293B"/>
                </a:solidFill>
                <a:latin typeface="Helvetica Neue"/>
              </a:rPr>
              <a:t>5 minutes</a:t>
            </a:r>
            <a:r>
              <a:rPr sz="1700" i="0" b="0">
                <a:solidFill>
                  <a:srgbClr val="1E293B"/>
                </a:solidFill>
                <a:latin typeface="Helvetica Neue"/>
              </a:rPr>
              <a:t> of training per try</a:t>
            </a:r>
          </a:p>
        </p:txBody>
      </p:sp>
      <p:sp>
        <p:nvSpPr>
          <p:cNvPr id="20" name="Rectangle 19"/>
          <p:cNvSpPr/>
          <p:nvPr/>
        </p:nvSpPr>
        <p:spPr>
          <a:xfrm>
            <a:off x="731520" y="342722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Better: log to </a:t>
            </a:r>
            <a:r>
              <a:rPr sz="1530" i="0" b="0">
                <a:solidFill>
                  <a:srgbClr val="0F7490"/>
                </a:solidFill>
                <a:latin typeface="Menlo"/>
              </a:rPr>
              <a:t>results.tsv</a:t>
            </a:r>
            <a:r>
              <a:rPr sz="1700" i="0" b="0">
                <a:solidFill>
                  <a:srgbClr val="1E293B"/>
                </a:solidFill>
                <a:latin typeface="Helvetica Neue"/>
              </a:rPr>
              <a:t>. Worse: </a:t>
            </a:r>
            <a:r>
              <a:rPr sz="1530" i="0" b="0">
                <a:solidFill>
                  <a:srgbClr val="0F7490"/>
                </a:solidFill>
                <a:latin typeface="Menlo"/>
              </a:rPr>
              <a:t>git reset HEAD~1</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Karpathy, 2026-03-06, ~630 lines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result</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700 experiments over two days: </a:t>
            </a:r>
            <a:r>
              <a:rPr sz="1700" i="0" b="1">
                <a:solidFill>
                  <a:srgbClr val="1E293B"/>
                </a:solidFill>
                <a:latin typeface="Helvetica Neue"/>
              </a:rPr>
              <a:t>20</a:t>
            </a:r>
            <a:r>
              <a:rPr sz="1700" i="0" b="0">
                <a:solidFill>
                  <a:srgbClr val="1E293B"/>
                </a:solidFill>
                <a:latin typeface="Helvetica Neue"/>
              </a:rPr>
              <a:t> real improvements</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GPT-2 training </a:t>
            </a:r>
            <a:r>
              <a:rPr sz="1700" i="0" b="1">
                <a:solidFill>
                  <a:srgbClr val="1E293B"/>
                </a:solidFill>
                <a:latin typeface="Helvetica Neue"/>
              </a:rPr>
              <a:t>2.02 to 1.80 h</a:t>
            </a:r>
            <a:r>
              <a:rPr sz="1700" i="0" b="0">
                <a:solidFill>
                  <a:srgbClr val="1E293B"/>
                </a:solidFill>
                <a:latin typeface="Helvetica Neue"/>
              </a:rPr>
              <a:t> (11%)</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Hit rate </a:t>
            </a:r>
            <a:r>
              <a:rPr sz="1700" i="0" b="1">
                <a:solidFill>
                  <a:srgbClr val="1E293B"/>
                </a:solidFill>
                <a:latin typeface="Helvetica Neue"/>
              </a:rPr>
              <a:t>under 3%</a:t>
            </a:r>
            <a:r>
              <a:rPr sz="1700" i="0" b="0">
                <a:solidFill>
                  <a:srgbClr val="1E293B"/>
                </a:solidFill>
                <a:latin typeface="Helvetica Neue"/>
              </a:rPr>
              <a:t>, fine when attempts are cheap</a:t>
            </a:r>
          </a:p>
        </p:txBody>
      </p:sp>
      <p:sp>
        <p:nvSpPr>
          <p:cNvPr id="33" name="Rectangle 32"/>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367" y="404469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Bilevel version: outer loop writes search code, </a:t>
            </a:r>
            <a:r>
              <a:rPr sz="1700" i="0" b="1">
                <a:solidFill>
                  <a:srgbClr val="1E293B"/>
                </a:solidFill>
                <a:latin typeface="Helvetica Neue"/>
              </a:rPr>
              <a:t>5×</a:t>
            </a:r>
            <a:r>
              <a:rPr sz="1700" i="0" b="0">
                <a:solidFill>
                  <a:srgbClr val="1E293B"/>
                </a:solidFill>
                <a:latin typeface="Helvetica Neue"/>
              </a:rPr>
              <a:t> gain, same model</a:t>
            </a:r>
          </a:p>
        </p:txBody>
      </p:sp>
      <p:sp>
        <p:nvSpPr>
          <p:cNvPr id="35" name="Rectangle 34"/>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"If you have an objective metric, you are the bottleneck."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Plasticity costs stability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cost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notes/08-self-improving-loops.md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Self-evolving agents tend to forget in proportion to what they learn, so replay old tasks as well as measuring the new gain.</a:t>
            </a:r>
          </a:p>
        </p:txBody>
      </p:sp>
      <p:sp>
        <p:nvSpPr>
          <p:cNvPr id="13" name="Rectangle 12"/>
          <p:cNvSpPr/>
          <p:nvPr/>
        </p:nvSpPr>
        <p:spPr>
          <a:xfrm>
            <a:off x="448056" y="1417320"/>
            <a:ext cx="6261948" cy="250087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n-self-evolving-agents-continual-learners-fig2.png"/>
          <p:cNvPicPr>
            <a:picLocks noChangeAspect="1"/>
          </p:cNvPicPr>
          <p:nvPr/>
        </p:nvPicPr>
        <p:blipFill>
          <a:blip r:embed="rId2"/>
          <a:stretch>
            <a:fillRect/>
          </a:stretch>
        </p:blipFill>
        <p:spPr>
          <a:xfrm>
            <a:off x="502920" y="1472184"/>
            <a:ext cx="6152220" cy="2391146"/>
          </a:xfrm>
          <a:prstGeom prst="rect">
            <a:avLst/>
          </a:prstGeom>
        </p:spPr>
      </p:pic>
      <p:sp>
        <p:nvSpPr>
          <p:cNvPr id="15" name="TextBox 14"/>
          <p:cNvSpPr txBox="1"/>
          <p:nvPr/>
        </p:nvSpPr>
        <p:spPr>
          <a:xfrm>
            <a:off x="502920" y="400049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Gain on new tasks vs. loss on old ones, four drift scenarios (Chen et al., 2026, Fig. 2)</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Across 12 runs: the more a method learned, the more it forgot (</a:t>
            </a:r>
            <a:r>
              <a:rPr sz="1800" i="0" b="1">
                <a:solidFill>
                  <a:srgbClr val="1E293B"/>
                </a:solidFill>
                <a:latin typeface="Helvetica Neue"/>
              </a:rPr>
              <a:t>r = −0.72</a:t>
            </a:r>
            <a:r>
              <a:rPr sz="1800" i="0" b="0">
                <a:solidFill>
                  <a:srgbClr val="1E293B"/>
                </a:solidFill>
                <a:latin typeface="Helvetica Neue"/>
              </a:rPr>
              <a:t>)</a:t>
            </a:r>
          </a:p>
        </p:txBody>
      </p:sp>
      <p:sp>
        <p:nvSpPr>
          <p:cNvPr id="18" name="Rectangle 17"/>
          <p:cNvSpPr/>
          <p:nvPr/>
        </p:nvSpPr>
        <p:spPr>
          <a:xfrm>
            <a:off x="7020900" y="26014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Global edits to one shared prompt: a family's share fell </a:t>
            </a:r>
            <a:r>
              <a:rPr sz="1800" i="0" b="1">
                <a:solidFill>
                  <a:srgbClr val="1E293B"/>
                </a:solidFill>
                <a:latin typeface="Helvetica Neue"/>
              </a:rPr>
              <a:t>100% to 14.7%</a:t>
            </a:r>
          </a:p>
        </p:txBody>
      </p:sp>
      <p:sp>
        <p:nvSpPr>
          <p:cNvPr id="20" name="Rectangle 19"/>
          <p:cNvSpPr/>
          <p:nvPr/>
        </p:nvSpPr>
        <p:spPr>
          <a:xfrm>
            <a:off x="7020900" y="334213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Measure validity, </a:t>
            </a:r>
            <a:r>
              <a:rPr sz="1800" i="0" b="1">
                <a:solidFill>
                  <a:srgbClr val="1E293B"/>
                </a:solidFill>
                <a:latin typeface="Helvetica Neue"/>
              </a:rPr>
              <a:t>activation</a:t>
            </a:r>
            <a:r>
              <a:rPr sz="1800" i="0" b="0">
                <a:solidFill>
                  <a:srgbClr val="1E293B"/>
                </a:solidFill>
                <a:latin typeface="Helvetica Neue"/>
              </a:rPr>
              <a:t>, </a:t>
            </a:r>
            <a:r>
              <a:rPr sz="1800" i="0" b="1">
                <a:solidFill>
                  <a:srgbClr val="1E293B"/>
                </a:solidFill>
                <a:latin typeface="Helvetica Neue"/>
              </a:rPr>
              <a:t>adherence</a:t>
            </a:r>
            <a:r>
              <a:rPr sz="1800" i="0" b="0">
                <a:solidFill>
                  <a:srgbClr val="1E293B"/>
                </a:solidFill>
                <a:latin typeface="Helvetica Neue"/>
              </a:rPr>
              <a:t> and held-out gain separately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An archive keeps an improver climbing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frontier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How much to hand off</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notes/08-self-improving-loops.md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Hiding the checker is not enough, because an evolving agent can game its inputs, so those belong outside the write scope too.</a:t>
            </a:r>
          </a:p>
        </p:txBody>
      </p:sp>
      <p:sp>
        <p:nvSpPr>
          <p:cNvPr id="13" name="Rectangle 12"/>
          <p:cNvSpPr/>
          <p:nvPr/>
        </p:nvSpPr>
        <p:spPr>
          <a:xfrm>
            <a:off x="448056" y="1417320"/>
            <a:ext cx="6261948" cy="254283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zhang-darwin-godel-machine-fig2.png"/>
          <p:cNvPicPr>
            <a:picLocks noChangeAspect="1"/>
          </p:cNvPicPr>
          <p:nvPr/>
        </p:nvPicPr>
        <p:blipFill>
          <a:blip r:embed="rId2"/>
          <a:stretch>
            <a:fillRect/>
          </a:stretch>
        </p:blipFill>
        <p:spPr>
          <a:xfrm>
            <a:off x="502920" y="1472184"/>
            <a:ext cx="6152220" cy="2433110"/>
          </a:xfrm>
          <a:prstGeom prst="rect">
            <a:avLst/>
          </a:prstGeom>
        </p:spPr>
      </p:pic>
      <p:sp>
        <p:nvSpPr>
          <p:cNvPr id="15" name="TextBox 14"/>
          <p:cNvSpPr txBox="1"/>
          <p:nvPr/>
        </p:nvSpPr>
        <p:spPr>
          <a:xfrm>
            <a:off x="502920" y="404245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Best agent per iteration, full DGM vs. variants (Zhang et al., 2025, Fig. 2)</a:t>
            </a:r>
          </a:p>
        </p:txBody>
      </p:sp>
      <p:sp>
        <p:nvSpPr>
          <p:cNvPr id="16" name="Rectangle 15"/>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Darwin Gödel Machine keeps an </a:t>
            </a:r>
            <a:r>
              <a:rPr sz="1800" i="0" b="1">
                <a:solidFill>
                  <a:srgbClr val="1E293B"/>
                </a:solidFill>
                <a:latin typeface="Helvetica Neue"/>
              </a:rPr>
              <a:t>archive</a:t>
            </a:r>
            <a:r>
              <a:rPr sz="1800" i="0" b="0">
                <a:solidFill>
                  <a:srgbClr val="1E293B"/>
                </a:solidFill>
                <a:latin typeface="Helvetica Neue"/>
              </a:rPr>
              <a:t> of past agents</a:t>
            </a:r>
          </a:p>
        </p:txBody>
      </p:sp>
      <p:sp>
        <p:nvSpPr>
          <p:cNvPr id="18" name="Rectangle 17"/>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agent hit a perfect score by removing the logging its checker read</a:t>
            </a:r>
          </a:p>
        </p:txBody>
      </p:sp>
      <p:sp>
        <p:nvSpPr>
          <p:cNvPr id="20" name="Rectangle 19"/>
          <p:cNvSpPr/>
          <p:nvPr/>
        </p:nvSpPr>
        <p:spPr>
          <a:xfrm>
            <a:off x="7020900" y="334213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Protect the evaluator's </a:t>
            </a:r>
            <a:r>
              <a:rPr sz="1800" i="0" b="1">
                <a:solidFill>
                  <a:srgbClr val="1E293B"/>
                </a:solidFill>
                <a:latin typeface="Helvetica Neue"/>
              </a:rPr>
              <a:t>inputs</a:t>
            </a:r>
            <a:r>
              <a:rPr sz="1800" i="0" b="0">
                <a:solidFill>
                  <a:srgbClr val="1E293B"/>
                </a:solidFill>
                <a:latin typeface="Helvetica Neue"/>
              </a:rPr>
              <a:t>, not just its code</a:t>
            </a:r>
          </a:p>
        </p:txBody>
      </p:sp>
      <p:sp>
        <p:nvSpPr>
          <p:cNvPr id="22" name="Rectangle 21"/>
          <p:cNvSpPr/>
          <p:nvPr/>
        </p:nvSpPr>
        <p:spPr>
          <a:xfrm>
            <a:off x="7020900" y="40827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DiscoveryRSI: best hit rate against later papers </a:t>
            </a:r>
            <a:r>
              <a:rPr sz="1800" i="0" b="1">
                <a:solidFill>
                  <a:srgbClr val="1E293B"/>
                </a:solidFill>
                <a:latin typeface="Helvetica Neue"/>
              </a:rPr>
              <a:t>6.3%</a:t>
            </a:r>
            <a:r>
              <a:rPr sz="1800" i="0" b="0">
                <a:solidFill>
                  <a:srgbClr val="1E293B"/>
                </a:solidFill>
                <a:latin typeface="Helvetica Neue"/>
              </a:rPr>
              <a:t>; the limit becomes verification capacity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What stops it</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Traps · Silent costs · Layered exits · The same parts in your framework</a:t>
            </a:r>
          </a:p>
        </p:txBody>
      </p:sp>
      <p:cxnSp>
        <p:nvCxnSpPr>
          <p:cNvPr id="6" name="Connector 5"/>
          <p:cNvCxnSpPr/>
          <p:nvPr/>
        </p:nvCxnSpPr>
        <p:spPr>
          <a:xfrm>
            <a:off x="6446520" y="1604645"/>
            <a:ext cx="0" cy="364871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604645"/>
            <a:ext cx="4693615" cy="3831589"/>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A cap reached is not a job finished</a:t>
            </a:r>
          </a:p>
          <a:p>
            <a:pPr algn="l">
              <a:lnSpc>
                <a:spcPct val="100000"/>
              </a:lnSpc>
              <a:spcBef>
                <a:spcPts val="1189"/>
              </a:spcBef>
            </a:pPr>
            <a:r>
              <a:rPr sz="1700" i="0" b="0">
                <a:solidFill>
                  <a:srgbClr val="CBD5E1"/>
                </a:solidFill>
                <a:latin typeface="Helvetica Neue"/>
              </a:rPr>
              <a:t>Six traps, and what each looks like</a:t>
            </a:r>
          </a:p>
          <a:p>
            <a:pPr algn="l">
              <a:lnSpc>
                <a:spcPct val="100000"/>
              </a:lnSpc>
              <a:spcBef>
                <a:spcPts val="1189"/>
              </a:spcBef>
            </a:pPr>
            <a:r>
              <a:rPr sz="1700" i="0" b="0">
                <a:solidFill>
                  <a:srgbClr val="CBD5E1"/>
                </a:solidFill>
                <a:latin typeface="Helvetica Neue"/>
              </a:rPr>
              <a:t>Four costs that never trip an alert</a:t>
            </a:r>
          </a:p>
          <a:p>
            <a:pPr algn="l">
              <a:lnSpc>
                <a:spcPct val="100000"/>
              </a:lnSpc>
              <a:spcBef>
                <a:spcPts val="1189"/>
              </a:spcBef>
            </a:pPr>
            <a:r>
              <a:rPr sz="1700" i="0" b="0">
                <a:solidFill>
                  <a:srgbClr val="CBD5E1"/>
                </a:solidFill>
                <a:latin typeface="Helvetica Neue"/>
              </a:rPr>
              <a:t>Layered exits, each one independent</a:t>
            </a:r>
          </a:p>
          <a:p>
            <a:pPr algn="l">
              <a:lnSpc>
                <a:spcPct val="100000"/>
              </a:lnSpc>
              <a:spcBef>
                <a:spcPts val="1189"/>
              </a:spcBef>
            </a:pPr>
            <a:r>
              <a:rPr sz="1700" i="0" b="0">
                <a:solidFill>
                  <a:srgbClr val="CBD5E1"/>
                </a:solidFill>
                <a:latin typeface="Helvetica Neue"/>
              </a:rPr>
              <a:t>Three boundaries a self-editing loop may not cross</a:t>
            </a:r>
          </a:p>
          <a:p>
            <a:pPr algn="l">
              <a:lnSpc>
                <a:spcPct val="100000"/>
              </a:lnSpc>
              <a:spcBef>
                <a:spcPts val="1189"/>
              </a:spcBef>
            </a:pPr>
            <a:r>
              <a:rPr sz="1700" i="0" b="0">
                <a:solidFill>
                  <a:srgbClr val="CBD5E1"/>
                </a:solidFill>
                <a:latin typeface="Helvetica Neue"/>
              </a:rPr>
              <a:t>Write the loop contract first</a:t>
            </a:r>
          </a:p>
          <a:p>
            <a:pPr algn="l">
              <a:lnSpc>
                <a:spcPct val="100000"/>
              </a:lnSpc>
              <a:spcBef>
                <a:spcPts val="1189"/>
              </a:spcBef>
            </a:pPr>
            <a:r>
              <a:rPr sz="1700" i="0" b="0">
                <a:solidFill>
                  <a:srgbClr val="CBD5E1"/>
                </a:solidFill>
                <a:latin typeface="Helvetica Neue"/>
              </a:rPr>
              <a:t>The same loop parts in three frameworks</a:t>
            </a:r>
          </a:p>
          <a:p>
            <a:pPr algn="l">
              <a:lnSpc>
                <a:spcPct val="100000"/>
              </a:lnSpc>
              <a:spcBef>
                <a:spcPts val="1189"/>
              </a:spcBef>
            </a:pPr>
            <a:r>
              <a:rPr sz="1700" i="0" b="0">
                <a:solidFill>
                  <a:srgbClr val="CBD5E1"/>
                </a:solidFill>
                <a:latin typeface="Helvetica Neue"/>
              </a:rPr>
              <a:t>ADK's loop stops only when a sub-agent asks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cap reached is not a job finished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notes/09-failure-modes-and-guardrails.md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An open loop with no stopping condition is the most common way a small mistake turns into an expensive one.</a:t>
            </a:r>
          </a:p>
        </p:txBody>
      </p:sp>
      <p:sp>
        <p:nvSpPr>
          <p:cNvPr id="13" name="Rectangle 12"/>
          <p:cNvSpPr/>
          <p:nvPr/>
        </p:nvSpPr>
        <p:spPr>
          <a:xfrm>
            <a:off x="777240" y="2601468"/>
            <a:ext cx="109728" cy="17556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60146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 cap is an escalation, never a success.</a:t>
            </a:r>
          </a:p>
        </p:txBody>
      </p:sp>
      <p:sp>
        <p:nvSpPr>
          <p:cNvPr id="15" name="TextBox 14"/>
          <p:cNvSpPr txBox="1"/>
          <p:nvPr/>
        </p:nvSpPr>
        <p:spPr>
          <a:xfrm>
            <a:off x="1234440" y="394563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An open loop with no stopping condition is the most common way a small mistake turns expensive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Six traps, and what each looks like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Name them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notes/09-failure-modes-and-guardrails.md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Diagnose a loop by its symptom, since a green score with wrong output means cheating and change without gain means thrashing.</a:t>
            </a:r>
          </a:p>
        </p:txBody>
      </p:sp>
      <p:graphicFrame>
        <p:nvGraphicFramePr>
          <p:cNvPr id="13" name="Table 12"/>
          <p:cNvGraphicFramePr>
            <a:graphicFrameLocks noGrp="1"/>
          </p:cNvGraphicFramePr>
          <p:nvPr/>
        </p:nvGraphicFramePr>
        <p:xfrm>
          <a:off x="502920" y="1472184"/>
          <a:ext cx="11185854" cy="3614928"/>
        </p:xfrm>
        <a:graphic>
          <a:graphicData uri="http://schemas.openxmlformats.org/drawingml/2006/table">
            <a:tbl>
              <a:tblPr firstRow="1" bandRow="1">
                <a:tableStyleId>{5940675A-B579-460E-94D1-54222C63F5DA}</a:tableStyleId>
              </a:tblPr>
              <a:tblGrid>
                <a:gridCol w="2684605"/>
                <a:gridCol w="4026907"/>
                <a:gridCol w="4474342"/>
              </a:tblGrid>
              <a:tr h="405384">
                <a:tc>
                  <a:txBody>
                    <a:bodyPr wrap="square"/>
                    <a:lstStyle/>
                    <a:p>
                      <a:pPr>
                        <a:lnSpc>
                          <a:spcPct val="100000"/>
                        </a:lnSpc>
                      </a:pPr>
                      <a:r>
                        <a:rPr sz="1700" i="0" b="1">
                          <a:solidFill>
                            <a:srgbClr val="FFFFFF"/>
                          </a:solidFill>
                          <a:latin typeface="Helvetica Neue"/>
                        </a:rPr>
                        <a:t>Trap</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Symptom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No scorekeeper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Results inconsistent or meaningless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Write it first; objective and hard to game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Goal too big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finishes; scope drifts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Cut to one small testable piece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Cheating the tests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Green score, wrong output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Protect the scorekeeper; held-out checks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Thrashing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Lots of change, no improvement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Smaller goal, smaller changes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Context rot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Memory degrades as the transcript grows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Summarize and prune inside the loop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Unsafe autonomy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Risky commands or sweeping edits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Narrow write scope; approval gates</a:t>
                      </a:r>
                    </a:p>
                  </a:txBody>
                  <a:tcPr marL="109728" marR="109728" marT="54864" marB="54864" anchor="ctr">
                    <a:solidFill>
                      <a:srgbClr val="F8FAFC"/>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costs that never trip an alert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Quiet failures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notes/09-failure-modes-and-guardrails.md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Osmani's silent costs land on the engineer, so build a loop intending to stay the engineer and not just the person who presses go.</a:t>
            </a:r>
          </a:p>
        </p:txBody>
      </p:sp>
      <p:sp>
        <p:nvSpPr>
          <p:cNvPr id="13" name="Rectangle 12"/>
          <p:cNvSpPr/>
          <p:nvPr/>
        </p:nvSpPr>
        <p:spPr>
          <a:xfrm>
            <a:off x="502920"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315163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Verification debt</a:t>
            </a:r>
          </a:p>
        </p:txBody>
      </p:sp>
      <p:sp>
        <p:nvSpPr>
          <p:cNvPr id="16" name="TextBox 15"/>
          <p:cNvSpPr txBox="1"/>
          <p:nvPr/>
        </p:nvSpPr>
        <p:spPr>
          <a:xfrm>
            <a:off x="777240" y="2087880"/>
            <a:ext cx="2087803" cy="235305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"Looks fine" stands in for "confirmed". Make stop conditions machine-checkable.</a:t>
            </a:r>
          </a:p>
        </p:txBody>
      </p:sp>
      <p:sp>
        <p:nvSpPr>
          <p:cNvPr id="17" name="Rectangle 16"/>
          <p:cNvSpPr/>
          <p:nvPr/>
        </p:nvSpPr>
        <p:spPr>
          <a:xfrm>
            <a:off x="3367963"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3151632"/>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Comprehension rot</a:t>
            </a:r>
          </a:p>
        </p:txBody>
      </p:sp>
      <p:sp>
        <p:nvSpPr>
          <p:cNvPr id="20" name="TextBox 19"/>
          <p:cNvSpPr txBox="1"/>
          <p:nvPr/>
        </p:nvSpPr>
        <p:spPr>
          <a:xfrm>
            <a:off x="3642283" y="2087880"/>
            <a:ext cx="2087803" cy="235305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Code ships faster than you understand it. Fast loops require fast reading.</a:t>
            </a:r>
          </a:p>
        </p:txBody>
      </p:sp>
      <p:sp>
        <p:nvSpPr>
          <p:cNvPr id="21" name="Rectangle 20"/>
          <p:cNvSpPr/>
          <p:nvPr/>
        </p:nvSpPr>
        <p:spPr>
          <a:xfrm>
            <a:off x="6233007"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315163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Cognitive surrender</a:t>
            </a:r>
          </a:p>
        </p:txBody>
      </p:sp>
      <p:sp>
        <p:nvSpPr>
          <p:cNvPr id="24" name="TextBox 23"/>
          <p:cNvSpPr txBox="1"/>
          <p:nvPr/>
        </p:nvSpPr>
        <p:spPr>
          <a:xfrm>
            <a:off x="6507327" y="2356104"/>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"The comfortable posture is the dangerous one." You take what it returns without an opinion.</a:t>
            </a:r>
          </a:p>
        </p:txBody>
      </p:sp>
      <p:sp>
        <p:nvSpPr>
          <p:cNvPr id="25" name="Rectangle 24"/>
          <p:cNvSpPr/>
          <p:nvPr/>
        </p:nvSpPr>
        <p:spPr>
          <a:xfrm>
            <a:off x="9098051" y="1472184"/>
            <a:ext cx="2590723" cy="315163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315163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Token blowout</a:t>
            </a:r>
          </a:p>
        </p:txBody>
      </p:sp>
      <p:sp>
        <p:nvSpPr>
          <p:cNvPr id="28" name="TextBox 27"/>
          <p:cNvSpPr txBox="1"/>
          <p:nvPr/>
        </p:nvSpPr>
        <p:spPr>
          <a:xfrm>
            <a:off x="9372371" y="2087880"/>
            <a:ext cx="2087803" cy="235305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Context grows roughly quadratically. Compaction or reset from the first loop.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Layered exits, each one independent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Stopping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notes/09-failure-modes-and-guardrails.md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Only the scorekeeper's confirmation counts as success, and the two ratchet rules are that score only rises and breaks get fixed first.</a:t>
            </a:r>
          </a:p>
        </p:txBody>
      </p:sp>
      <p:graphicFrame>
        <p:nvGraphicFramePr>
          <p:cNvPr id="13" name="Table 12"/>
          <p:cNvGraphicFramePr>
            <a:graphicFrameLocks noGrp="1"/>
          </p:cNvGraphicFramePr>
          <p:nvPr/>
        </p:nvGraphicFramePr>
        <p:xfrm>
          <a:off x="502920" y="1472184"/>
          <a:ext cx="11185854" cy="2950464"/>
        </p:xfrm>
        <a:graphic>
          <a:graphicData uri="http://schemas.openxmlformats.org/drawingml/2006/table">
            <a:tbl>
              <a:tblPr firstRow="1" bandRow="1">
                <a:tableStyleId>{5940675A-B579-460E-94D1-54222C63F5DA}</a:tableStyleId>
              </a:tblPr>
              <a:tblGrid>
                <a:gridCol w="2460888"/>
                <a:gridCol w="4698059"/>
                <a:gridCol w="4026907"/>
              </a:tblGrid>
              <a:tr h="405384">
                <a:tc>
                  <a:txBody>
                    <a:bodyPr wrap="square"/>
                    <a:lstStyle/>
                    <a:p>
                      <a:pPr>
                        <a:lnSpc>
                          <a:spcPct val="100000"/>
                        </a:lnSpc>
                      </a:pPr>
                      <a:r>
                        <a:rPr sz="1700" i="0" b="1">
                          <a:solidFill>
                            <a:srgbClr val="FFFFFF"/>
                          </a:solidFill>
                          <a:latin typeface="Helvetica Neue"/>
                        </a:rPr>
                        <a:t>Exit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Fires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Outcome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Success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Scorekeeper confirms the goal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Save, report, stop</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Iteration cap</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 passes reached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Escalate. The cap isn't success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Budget cap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Tokens, dollars or wall-clock spent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Escalate with state saved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Stall detector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Score flat for K passes, or same action repeated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Change strategy once, then escalate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Human escalation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Blocker, irreversible action, judgment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Pause and hand over full context</a:t>
                      </a:r>
                    </a:p>
                  </a:txBody>
                  <a:tcPr marL="109728" marR="109728" marT="54864" marB="5486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Three boundaries a self-editing loop may not cross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Self-modifying loops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notes/09-failure-modes-and-guardrails.md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The safety boundary is the write boundary extended to the release gate, so validators and audit logs stay out of the agent's reach.</a:t>
            </a:r>
          </a:p>
        </p:txBody>
      </p:sp>
      <p:sp>
        <p:nvSpPr>
          <p:cNvPr id="13" name="Rounded Rectangle 12"/>
          <p:cNvSpPr/>
          <p:nvPr/>
        </p:nvSpPr>
        <p:spPr>
          <a:xfrm>
            <a:off x="2026767" y="1563624"/>
            <a:ext cx="2377440" cy="98755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Evidence</a:t>
            </a:r>
          </a:p>
          <a:p>
            <a:pPr algn="ctr">
              <a:lnSpc>
                <a:spcPct val="110000"/>
              </a:lnSpc>
            </a:pPr>
            <a:r>
              <a:rPr sz="1300" i="0" b="0">
                <a:solidFill>
                  <a:srgbClr val="E8F4F8"/>
                </a:solidFill>
                <a:latin typeface="Helvetica Neue"/>
              </a:rPr>
              <a:t>is not instructions</a:t>
            </a:r>
          </a:p>
        </p:txBody>
      </p:sp>
      <p:cxnSp>
        <p:nvCxnSpPr>
          <p:cNvPr id="15" name="Connector 14"/>
          <p:cNvCxnSpPr/>
          <p:nvPr/>
        </p:nvCxnSpPr>
        <p:spPr>
          <a:xfrm>
            <a:off x="445907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98755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Candidate</a:t>
            </a:r>
          </a:p>
          <a:p>
            <a:pPr algn="ctr">
              <a:lnSpc>
                <a:spcPct val="110000"/>
              </a:lnSpc>
            </a:pPr>
            <a:r>
              <a:rPr sz="1300" i="0" b="0">
                <a:solidFill>
                  <a:srgbClr val="E8F4F8"/>
                </a:solidFill>
                <a:latin typeface="Helvetica Neue"/>
              </a:rPr>
              <a:t>is not production</a:t>
            </a:r>
          </a:p>
        </p:txBody>
      </p:sp>
      <p:cxnSp>
        <p:nvCxnSpPr>
          <p:cNvPr id="18" name="Connector 17"/>
          <p:cNvCxnSpPr/>
          <p:nvPr/>
        </p:nvCxnSpPr>
        <p:spPr>
          <a:xfrm>
            <a:off x="7339431" y="205740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98755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98755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Safety</a:t>
            </a:r>
          </a:p>
          <a:p>
            <a:pPr algn="ctr">
              <a:lnSpc>
                <a:spcPct val="110000"/>
              </a:lnSpc>
            </a:pPr>
            <a:r>
              <a:rPr sz="1300" i="0" b="0">
                <a:solidFill>
                  <a:srgbClr val="E8F4F8"/>
                </a:solidFill>
                <a:latin typeface="Helvetica Neue"/>
              </a:rPr>
              <a:t>is not self-modifiable</a:t>
            </a:r>
          </a:p>
        </p:txBody>
      </p:sp>
      <p:sp>
        <p:nvSpPr>
          <p:cNvPr id="21" name="Rectangle 20"/>
          <p:cNvSpPr/>
          <p:nvPr/>
        </p:nvSpPr>
        <p:spPr>
          <a:xfrm>
            <a:off x="502920" y="2962910"/>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2871216"/>
            <a:ext cx="10865815"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Web pages and tool output are untrusted: summarize, version as a PR, review with another model family</a:t>
            </a:r>
          </a:p>
        </p:txBody>
      </p:sp>
      <p:sp>
        <p:nvSpPr>
          <p:cNvPr id="23" name="Rectangle 22"/>
          <p:cNvSpPr/>
          <p:nvPr/>
        </p:nvSpPr>
        <p:spPr>
          <a:xfrm>
            <a:off x="502920" y="3744722"/>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65302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New knowledge, prompts and code start where no traffic is served</a:t>
            </a:r>
          </a:p>
        </p:txBody>
      </p:sp>
      <p:sp>
        <p:nvSpPr>
          <p:cNvPr id="25" name="Rectangle 24"/>
          <p:cNvSpPr/>
          <p:nvPr/>
        </p:nvSpPr>
        <p:spPr>
          <a:xfrm>
            <a:off x="502920" y="4208018"/>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1632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Validators, thresholds, audit logs and backups stay out of the agent's reach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Write the loop contract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Monday morning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notes/09-failure-modes-and-guardrails.md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A one-page loop contract fixes goal, commands, boundary, trigger, stops, ratchet and human gates before the first pass.</a:t>
            </a:r>
          </a:p>
        </p:txBody>
      </p:sp>
      <p:sp>
        <p:nvSpPr>
          <p:cNvPr id="13" name="Rounded Rectangle 12"/>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5" name="TextBox 14"/>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Goal</a:t>
            </a:r>
          </a:p>
          <a:p>
            <a:pPr algn="l">
              <a:lnSpc>
                <a:spcPct val="100000"/>
              </a:lnSpc>
            </a:pPr>
            <a:r>
              <a:rPr sz="1600" i="0" b="0">
                <a:solidFill>
                  <a:srgbClr val="E2E8F0"/>
                </a:solidFill>
                <a:latin typeface="Menlo"/>
              </a:rPr>
              <a:t>All tests in tests/auth/ pass</a:t>
            </a:r>
          </a:p>
          <a:p>
            <a:pPr algn="l">
              <a:lnSpc>
                <a:spcPct val="100000"/>
              </a:lnSpc>
            </a:pPr>
            <a:r>
              <a:rPr sz="1600" i="0" b="0">
                <a:solidFill>
                  <a:srgbClr val="E2E8F0"/>
                </a:solidFill>
                <a:latin typeface="Menlo"/>
              </a:rPr>
              <a:t>## Acceptance criteria (each a command)</a:t>
            </a:r>
          </a:p>
          <a:p>
            <a:pPr algn="l">
              <a:lnSpc>
                <a:spcPct val="100000"/>
              </a:lnSpc>
            </a:pPr>
            <a:r>
              <a:rPr sz="1600" i="0" b="0">
                <a:solidFill>
                  <a:srgbClr val="E2E8F0"/>
                </a:solidFill>
                <a:latin typeface="Menlo"/>
              </a:rPr>
              <a:t>pytest tests/auth/ -q</a:t>
            </a:r>
          </a:p>
          <a:p>
            <a:pPr algn="l">
              <a:lnSpc>
                <a:spcPct val="100000"/>
              </a:lnSpc>
            </a:pPr>
            <a:r>
              <a:rPr sz="1600" i="0" b="0">
                <a:solidFill>
                  <a:srgbClr val="E2E8F0"/>
                </a:solidFill>
                <a:latin typeface="Menlo"/>
              </a:rPr>
              <a:t>## Scorekeeper / Write boundary</a:t>
            </a:r>
          </a:p>
          <a:p>
            <a:pPr algn="l">
              <a:lnSpc>
                <a:spcPct val="100000"/>
              </a:lnSpc>
            </a:pPr>
            <a:r>
              <a:rPr sz="1600" i="0" b="0">
                <a:solidFill>
                  <a:srgbClr val="E2E8F0"/>
                </a:solidFill>
                <a:latin typeface="Menlo"/>
              </a:rPr>
              <a:t>tests/auth/ read-only; edit auth/ only</a:t>
            </a:r>
          </a:p>
          <a:p>
            <a:pPr algn="l">
              <a:lnSpc>
                <a:spcPct val="100000"/>
              </a:lnSpc>
            </a:pPr>
            <a:r>
              <a:rPr sz="1600" i="0" b="0">
                <a:solidFill>
                  <a:srgbClr val="E2E8F0"/>
                </a:solidFill>
                <a:latin typeface="Menlo"/>
              </a:rPr>
              <a:t>## Trigger / Stop rules</a:t>
            </a:r>
          </a:p>
          <a:p>
            <a:pPr algn="l">
              <a:lnSpc>
                <a:spcPct val="100000"/>
              </a:lnSpc>
            </a:pPr>
            <a:r>
              <a:rPr sz="1600" i="0" b="0">
                <a:solidFill>
                  <a:srgbClr val="E2E8F0"/>
                </a:solidFill>
                <a:latin typeface="Menlo"/>
              </a:rPr>
              <a:t>/goal; 20 passes, 2 hours, stall at 3</a:t>
            </a:r>
          </a:p>
          <a:p>
            <a:pPr algn="l">
              <a:lnSpc>
                <a:spcPct val="100000"/>
              </a:lnSpc>
            </a:pPr>
            <a:r>
              <a:rPr sz="1600" i="0" b="0">
                <a:solidFill>
                  <a:srgbClr val="E2E8F0"/>
                </a:solidFill>
                <a:latin typeface="Menlo"/>
              </a:rPr>
              <a:t>## Ratchet</a:t>
            </a:r>
          </a:p>
          <a:p>
            <a:pPr algn="l">
              <a:lnSpc>
                <a:spcPct val="100000"/>
              </a:lnSpc>
            </a:pPr>
            <a:r>
              <a:rPr sz="1600" i="0" b="0">
                <a:solidFill>
                  <a:srgbClr val="E2E8F0"/>
                </a:solidFill>
                <a:latin typeface="Menlo"/>
              </a:rPr>
              <a:t>score only rises; one change per pass</a:t>
            </a:r>
          </a:p>
          <a:p>
            <a:pPr algn="l">
              <a:lnSpc>
                <a:spcPct val="100000"/>
              </a:lnSpc>
            </a:pPr>
            <a:r>
              <a:rPr sz="1600" i="0" b="0">
                <a:solidFill>
                  <a:srgbClr val="E2E8F0"/>
                </a:solidFill>
                <a:latin typeface="Menlo"/>
              </a:rPr>
              <a:t>## Human gates</a:t>
            </a:r>
          </a:p>
          <a:p>
            <a:pPr algn="l">
              <a:lnSpc>
                <a:spcPct val="100000"/>
              </a:lnSpc>
            </a:pPr>
            <a:r>
              <a:rPr sz="1600" i="0" b="0">
                <a:solidFill>
                  <a:srgbClr val="E2E8F0"/>
                </a:solidFill>
                <a:latin typeface="Menlo"/>
              </a:rPr>
              <a:t>anything that drops a legacy cookie</a:t>
            </a:r>
          </a:p>
        </p:txBody>
      </p:sp>
      <p:sp>
        <p:nvSpPr>
          <p:cNvPr id="16" name="Rectangle 15"/>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Illustrative values, in the note's template</a:t>
            </a:r>
          </a:p>
        </p:txBody>
      </p:sp>
      <p:sp>
        <p:nvSpPr>
          <p:cNvPr id="18" name="Rectangle 17"/>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acceptance line is a </a:t>
            </a:r>
            <a:r>
              <a:rPr sz="1800" i="0" b="1">
                <a:solidFill>
                  <a:srgbClr val="1E293B"/>
                </a:solidFill>
                <a:latin typeface="Helvetica Neue"/>
              </a:rPr>
              <a:t>command</a:t>
            </a:r>
          </a:p>
        </p:txBody>
      </p:sp>
      <p:sp>
        <p:nvSpPr>
          <p:cNvPr id="20" name="Rectangle 19"/>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contract is what the checker reads first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same loop parts in three frameworks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Your framework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notes/10-framework-bindings.md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Frameworks differ in names only, so look for where each puts the goal, the scorekeeper and the stop rules.</a:t>
            </a:r>
          </a:p>
        </p:txBody>
      </p:sp>
      <p:graphicFrame>
        <p:nvGraphicFramePr>
          <p:cNvPr id="13" name="Table 12"/>
          <p:cNvGraphicFramePr>
            <a:graphicFrameLocks noGrp="1"/>
          </p:cNvGraphicFramePr>
          <p:nvPr/>
        </p:nvGraphicFramePr>
        <p:xfrm>
          <a:off x="502920" y="1472184"/>
          <a:ext cx="11185854" cy="2837688"/>
        </p:xfrm>
        <a:graphic>
          <a:graphicData uri="http://schemas.openxmlformats.org/drawingml/2006/table">
            <a:tbl>
              <a:tblPr firstRow="1" bandRow="1">
                <a:tableStyleId>{5940675A-B579-460E-94D1-54222C63F5DA}</a:tableStyleId>
              </a:tblPr>
              <a:tblGrid>
                <a:gridCol w="2237171"/>
                <a:gridCol w="2908322"/>
                <a:gridCol w="3132039"/>
                <a:gridCol w="2908322"/>
              </a:tblGrid>
              <a:tr h="405384">
                <a:tc>
                  <a:txBody>
                    <a:bodyPr wrap="square"/>
                    <a:lstStyle/>
                    <a:p>
                      <a:pPr>
                        <a:lnSpc>
                          <a:spcPct val="100000"/>
                        </a:lnSpc>
                      </a:pPr>
                      <a:r>
                        <a:rPr sz="1700" i="0" b="1">
                          <a:solidFill>
                            <a:srgbClr val="FFFFFF"/>
                          </a:solidFill>
                          <a:latin typeface="Helvetica Neue"/>
                        </a:rPr>
                        <a:t>Loop part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Google ADK</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Vercel AI SDK</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LangGraph</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Agent loop</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LoopAgent</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ToolLoopAgent</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create_agent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Checker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critic sub-agent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your check in a tool</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RubricMiddleware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Early exit</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escalate = True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stopWhen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edge to </a:t>
                      </a:r>
                      <a:r>
                        <a:rPr sz="1530" i="0" b="0">
                          <a:solidFill>
                            <a:srgbClr val="0F7490"/>
                          </a:solidFill>
                          <a:latin typeface="Menlo"/>
                        </a:rPr>
                        <a:t>END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Hard cap</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max_iterations</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stepCountIs(n)</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recursion_limit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Durability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session state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WorkflowAgent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checkpointer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Trace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events</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result.steps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LangSmith</a:t>
                      </a:r>
                    </a:p>
                  </a:txBody>
                  <a:tcPr marL="109728" marR="109728" marT="54864" marB="54864" anchor="ctr">
                    <a:solidFill>
                      <a:srgbClr val="F8FAFC"/>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ADK's loop stops only when a sub-agent asks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Worked example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What stops it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notes/10-framework-bindings.md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In ADK's LoopAgent a sub-agent must set escalate to stop early, and max_iterations is only the backstop.</a:t>
            </a:r>
          </a:p>
        </p:txBody>
      </p:sp>
      <p:sp>
        <p:nvSpPr>
          <p:cNvPr id="13" name="Rounded Rectangle 12"/>
          <p:cNvSpPr/>
          <p:nvPr/>
        </p:nvSpPr>
        <p:spPr>
          <a:xfrm>
            <a:off x="502920" y="1472184"/>
            <a:ext cx="6711513" cy="3886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32461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def exit_loop(tool_context: ToolContext):</a:t>
            </a:r>
          </a:p>
          <a:p>
            <a:pPr algn="l">
              <a:lnSpc>
                <a:spcPct val="100000"/>
              </a:lnSpc>
            </a:pPr>
            <a:r>
              <a:rPr sz="1500" i="0" b="0">
                <a:solidFill>
                  <a:srgbClr val="E2E8F0"/>
                </a:solidFill>
                <a:latin typeface="Menlo"/>
              </a:rPr>
              <a:t>    tool_context.actions.escalate = True</a:t>
            </a:r>
          </a:p>
          <a:p>
            <a:pPr algn="l">
              <a:lnSpc>
                <a:spcPct val="100000"/>
              </a:lnSpc>
            </a:pPr>
            <a:r>
              <a:rPr sz="1500" i="0" b="0">
                <a:solidFill>
                  <a:srgbClr val="E2E8F0"/>
                </a:solidFill>
                <a:latin typeface="Menlo"/>
              </a:rPr>
              <a:t>    return {}</a:t>
            </a:r>
          </a:p>
          <a:p>
            <a:pPr algn="l">
              <a:lnSpc>
                <a:spcPct val="100000"/>
              </a:lnSpc>
            </a:pPr>
          </a:p>
          <a:p>
            <a:pPr algn="l">
              <a:lnSpc>
                <a:spcPct val="100000"/>
              </a:lnSpc>
            </a:pPr>
            <a:r>
              <a:rPr sz="1500" i="0" b="0">
                <a:solidFill>
                  <a:srgbClr val="E2E8F0"/>
                </a:solidFill>
                <a:latin typeface="Menlo"/>
              </a:rPr>
              <a:t>critic = LlmAgent(name="CriticAgent",</a:t>
            </a:r>
          </a:p>
          <a:p>
            <a:pPr algn="l">
              <a:lnSpc>
                <a:spcPct val="100000"/>
              </a:lnSpc>
            </a:pPr>
            <a:r>
              <a:rPr sz="1500" i="0" b="0">
                <a:solidFill>
                  <a:srgbClr val="E2E8F0"/>
                </a:solidFill>
                <a:latin typeface="Menlo"/>
              </a:rPr>
              <a:t>    instruction="Grade {draft} ...",</a:t>
            </a:r>
          </a:p>
          <a:p>
            <a:pPr algn="l">
              <a:lnSpc>
                <a:spcPct val="100000"/>
              </a:lnSpc>
            </a:pPr>
            <a:r>
              <a:rPr sz="1500" i="0" b="0">
                <a:solidFill>
                  <a:srgbClr val="E2E8F0"/>
                </a:solidFill>
                <a:latin typeface="Menlo"/>
              </a:rPr>
              <a:t>    output_key="critique")</a:t>
            </a:r>
          </a:p>
          <a:p>
            <a:pPr algn="l">
              <a:lnSpc>
                <a:spcPct val="100000"/>
              </a:lnSpc>
            </a:pPr>
            <a:r>
              <a:rPr sz="1500" i="0" b="0">
                <a:solidFill>
                  <a:srgbClr val="E2E8F0"/>
                </a:solidFill>
                <a:latin typeface="Menlo"/>
              </a:rPr>
              <a:t>refiner = LlmAgent(name="RefinerAgent",</a:t>
            </a:r>
          </a:p>
          <a:p>
            <a:pPr algn="l">
              <a:lnSpc>
                <a:spcPct val="100000"/>
              </a:lnSpc>
            </a:pPr>
            <a:r>
              <a:rPr sz="1500" i="0" b="0">
                <a:solidFill>
                  <a:srgbClr val="E2E8F0"/>
                </a:solidFill>
                <a:latin typeface="Menlo"/>
              </a:rPr>
              <a:t>    instruction="If {critique} is clean, "</a:t>
            </a:r>
          </a:p>
          <a:p>
            <a:pPr algn="l">
              <a:lnSpc>
                <a:spcPct val="100000"/>
              </a:lnSpc>
            </a:pPr>
            <a:r>
              <a:rPr sz="1500" i="0" b="0">
                <a:solidFill>
                  <a:srgbClr val="E2E8F0"/>
                </a:solidFill>
                <a:latin typeface="Menlo"/>
              </a:rPr>
              <a:t>                "call exit_loop. Else rewrite.",</a:t>
            </a:r>
          </a:p>
          <a:p>
            <a:pPr algn="l">
              <a:lnSpc>
                <a:spcPct val="100000"/>
              </a:lnSpc>
            </a:pPr>
            <a:r>
              <a:rPr sz="1500" i="0" b="0">
                <a:solidFill>
                  <a:srgbClr val="E2E8F0"/>
                </a:solidFill>
                <a:latin typeface="Menlo"/>
              </a:rPr>
              <a:t>    tools=[exit_loop], output_key="draft")</a:t>
            </a:r>
          </a:p>
          <a:p>
            <a:pPr algn="l">
              <a:lnSpc>
                <a:spcPct val="100000"/>
              </a:lnSpc>
            </a:pPr>
            <a:r>
              <a:rPr sz="1500" i="0" b="0">
                <a:solidFill>
                  <a:srgbClr val="E2E8F0"/>
                </a:solidFill>
                <a:latin typeface="Menlo"/>
              </a:rPr>
              <a:t>refine = LoopAgent(name="Refine",</a:t>
            </a:r>
          </a:p>
          <a:p>
            <a:pPr algn="l">
              <a:lnSpc>
                <a:spcPct val="100000"/>
              </a:lnSpc>
            </a:pPr>
            <a:r>
              <a:rPr sz="1500" i="0" b="0">
                <a:solidFill>
                  <a:srgbClr val="E2E8F0"/>
                </a:solidFill>
                <a:latin typeface="Menlo"/>
              </a:rPr>
              <a:t>    sub_agents=[critic, refiner],</a:t>
            </a:r>
          </a:p>
          <a:p>
            <a:pPr algn="l">
              <a:lnSpc>
                <a:spcPct val="100000"/>
              </a:lnSpc>
            </a:pPr>
            <a:r>
              <a:rPr sz="1500" i="0" b="0">
                <a:solidFill>
                  <a:srgbClr val="E2E8F0"/>
                </a:solidFill>
                <a:latin typeface="Menlo"/>
              </a:rPr>
              <a:t>    max_iterations=5)       # backstop</a:t>
            </a:r>
          </a:p>
        </p:txBody>
      </p:sp>
      <p:sp>
        <p:nvSpPr>
          <p:cNvPr id="16" name="Rectangle 15"/>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Stopping is not automatic:</a:t>
            </a:r>
            <a:r>
              <a:rPr sz="1800" i="0" b="0">
                <a:solidFill>
                  <a:srgbClr val="1E293B"/>
                </a:solidFill>
                <a:latin typeface="Helvetica Neue"/>
              </a:rPr>
              <a:t> a sub-agent must set </a:t>
            </a:r>
            <a:r>
              <a:rPr sz="1620" i="0" b="0">
                <a:solidFill>
                  <a:srgbClr val="0F7490"/>
                </a:solidFill>
                <a:latin typeface="Menlo"/>
              </a:rPr>
              <a:t>escalate</a:t>
            </a:r>
          </a:p>
        </p:txBody>
      </p:sp>
      <p:sp>
        <p:nvSpPr>
          <p:cNvPr id="18" name="Rectangle 17"/>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output_key</a:t>
            </a:r>
            <a:r>
              <a:rPr sz="1800" i="0" b="0">
                <a:solidFill>
                  <a:srgbClr val="1E293B"/>
                </a:solidFill>
                <a:latin typeface="Helvetica Neue"/>
              </a:rPr>
              <a:t> writes state; </a:t>
            </a:r>
            <a:r>
              <a:rPr sz="1620" i="0" b="0">
                <a:solidFill>
                  <a:srgbClr val="0F7490"/>
                </a:solidFill>
                <a:latin typeface="Menlo"/>
              </a:rPr>
              <a:t>{draft}</a:t>
            </a:r>
            <a:r>
              <a:rPr sz="1800" i="0" b="0">
                <a:solidFill>
                  <a:srgbClr val="1E293B"/>
                </a:solidFill>
                <a:latin typeface="Helvetica Neue"/>
              </a:rPr>
              <a:t> reads it</a:t>
            </a:r>
          </a:p>
        </p:txBody>
      </p:sp>
      <p:sp>
        <p:nvSpPr>
          <p:cNvPr id="20" name="Rectangle 19"/>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max_iterations</a:t>
            </a:r>
            <a:r>
              <a:rPr sz="1800" i="0" b="0">
                <a:solidFill>
                  <a:srgbClr val="1E293B"/>
                </a:solidFill>
                <a:latin typeface="Helvetica Neue"/>
              </a:rPr>
              <a:t> is the backstop, </a:t>
            </a:r>
            <a:r>
              <a:rPr sz="1800" i="0" b="1">
                <a:solidFill>
                  <a:srgbClr val="1E293B"/>
                </a:solidFill>
                <a:latin typeface="Helvetica Neue"/>
              </a:rPr>
              <a:t>not</a:t>
            </a:r>
            <a:r>
              <a:rPr sz="1800" i="0" b="0">
                <a:solidFill>
                  <a:srgbClr val="1E293B"/>
                </a:solidFill>
                <a:latin typeface="Helvetica Neue"/>
              </a:rPr>
              <a:t> the main exit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Closing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notes/09-failure-modes-and-guardrails.md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Goal and scorekeeper come first, the score only rises, and a cap is an escalation and never a success.</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Foundation</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Goal and scorekeeper before anything runs. Go green once, then add parts.</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Scorekeeper</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Deterministic first, out of the loop's write scope, some checks held out. The checker can say clean.</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Ratchet</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The score only goes up. One change per pass; save or roll back.</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Long runs</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State on disk, not in context. One item per session, leave the repo clean.</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Autonomy</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Climb one rung at a time, each earned with a verifier you trust.</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Stopping</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Layered, independent exits. A cap is an escalation, never a success.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Next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notes/10-framework-bindings.md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Loops compose into graphs in the next pillar, and the scorekeeper grows into a full eval discipline in the one after.</a:t>
            </a:r>
          </a:p>
        </p:txBody>
      </p:sp>
      <p:sp>
        <p:nvSpPr>
          <p:cNvPr id="13" name="Rectangle 12"/>
          <p:cNvSpPr/>
          <p:nvPr/>
        </p:nvSpPr>
        <p:spPr>
          <a:xfrm>
            <a:off x="502920" y="1559052"/>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1472184"/>
            <a:ext cx="5944038"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05 Graph engineering:</a:t>
            </a:r>
            <a:r>
              <a:rPr sz="1800" i="0" b="0">
                <a:solidFill>
                  <a:srgbClr val="1E293B"/>
                </a:solidFill>
                <a:latin typeface="Helvetica Neue"/>
              </a:rPr>
              <a:t> loops composed into nodes, edges and multi-agent topologies</a:t>
            </a:r>
          </a:p>
        </p:txBody>
      </p:sp>
      <p:sp>
        <p:nvSpPr>
          <p:cNvPr id="15" name="Rectangle 14"/>
          <p:cNvSpPr/>
          <p:nvPr/>
        </p:nvSpPr>
        <p:spPr>
          <a:xfrm>
            <a:off x="502920" y="2299716"/>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212848"/>
            <a:ext cx="5944038"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06 Eval:</a:t>
            </a:r>
            <a:r>
              <a:rPr sz="1800" i="0" b="0">
                <a:solidFill>
                  <a:srgbClr val="1E293B"/>
                </a:solidFill>
                <a:latin typeface="Helvetica Neue"/>
              </a:rPr>
              <a:t> the scorekeeper as an eval artifact; graders, judges, Goodhart</a:t>
            </a:r>
          </a:p>
        </p:txBody>
      </p:sp>
      <p:sp>
        <p:nvSpPr>
          <p:cNvPr id="17" name="Rectangle 16"/>
          <p:cNvSpPr/>
          <p:nvPr/>
        </p:nvSpPr>
        <p:spPr>
          <a:xfrm>
            <a:off x="502920" y="3040380"/>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2953512"/>
            <a:ext cx="5944038"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Practice:</a:t>
            </a:r>
            <a:r>
              <a:rPr sz="1800" i="0" b="0">
                <a:solidFill>
                  <a:srgbClr val="1E293B"/>
                </a:solidFill>
                <a:latin typeface="Helvetica Neue"/>
              </a:rPr>
              <a:t> </a:t>
            </a:r>
            <a:r>
              <a:rPr sz="1620" i="0" b="0">
                <a:solidFill>
                  <a:srgbClr val="0F7490"/>
                </a:solidFill>
                <a:latin typeface="Menlo"/>
              </a:rPr>
              <a:t>practice/loop-scorekeeper</a:t>
            </a:r>
            <a:r>
              <a:rPr sz="1800" i="0" b="0">
                <a:solidFill>
                  <a:srgbClr val="1E293B"/>
                </a:solidFill>
                <a:latin typeface="Helvetica Neue"/>
              </a:rPr>
              <a:t> in this pillar</a:t>
            </a:r>
          </a:p>
        </p:txBody>
      </p:sp>
      <p:sp>
        <p:nvSpPr>
          <p:cNvPr id="19" name="Rectangle 18"/>
          <p:cNvSpPr/>
          <p:nvPr/>
        </p:nvSpPr>
        <p:spPr>
          <a:xfrm>
            <a:off x="502920" y="3479292"/>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392424"/>
            <a:ext cx="5944038"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Copy from the notes:</a:t>
            </a:r>
            <a:r>
              <a:rPr sz="1800" i="0" b="0">
                <a:solidFill>
                  <a:srgbClr val="1E293B"/>
                </a:solidFill>
                <a:latin typeface="Helvetica Neue"/>
              </a:rPr>
              <a:t> loop contract (09), loop state and ralph.sh (05), maker and checker prompts (03)</a:t>
            </a:r>
          </a:p>
        </p:txBody>
      </p:sp>
      <p:sp>
        <p:nvSpPr>
          <p:cNvPr id="21" name="Rectangle 20"/>
          <p:cNvSpPr/>
          <p:nvPr/>
        </p:nvSpPr>
        <p:spPr>
          <a:xfrm>
            <a:off x="502920" y="4521708"/>
            <a:ext cx="96012" cy="96012"/>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434840"/>
            <a:ext cx="5944038"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Read:</a:t>
            </a:r>
            <a:r>
              <a:rPr sz="1800" i="0" b="0">
                <a:solidFill>
                  <a:srgbClr val="1E293B"/>
                </a:solidFill>
                <a:latin typeface="Helvetica Neue"/>
              </a:rPr>
              <a:t> Li, AI Agents in Depth ch. 9; Karpathy's autoresearch; Osmani and Masood</a:t>
            </a:r>
          </a:p>
        </p:txBody>
      </p:sp>
      <p:sp>
        <p:nvSpPr>
          <p:cNvPr id="23" name="Rectangle 22"/>
          <p:cNvSpPr/>
          <p:nvPr/>
        </p:nvSpPr>
        <p:spPr>
          <a:xfrm>
            <a:off x="7132758" y="1472184"/>
            <a:ext cx="4556016"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6" name="TextBox 25"/>
          <p:cNvSpPr txBox="1"/>
          <p:nvPr/>
        </p:nvSpPr>
        <p:spPr>
          <a:xfrm>
            <a:off x="7361358" y="2231136"/>
            <a:ext cx="4053096" cy="307238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The model supplies two lines of the loop. The goal, the scorekeeper and the stop rules are yours to design.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