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deck for the TypeScript track. Every slide is a flashcard: the title is the question and the takeaway is the rule that answers it. What runs and what the checker sees, then deriving types from types, then async work and untrusted data at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08 covers validating data from outside.</a:t>
            </a:r>
          </a:p>
          <a:p/>
          <a:p>
            <a:r>
              <a:t>Source: notes/01-js-for-python-devs.md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64-bit floats, and integers are exact only up to 2^53. Use bigint beyond that.</a:t>
            </a:r>
          </a:p>
          <a:p/>
          <a:p>
            <a:r>
              <a:t>Source: notes/01-js-for-python-devs.md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`structuredClone` is the deep copy. Most TS code uses plain objects, functions and unions more than class hierarchies.</a:t>
            </a:r>
          </a:p>
          <a:p/>
          <a:p>
            <a:r>
              <a:t>Source: notes/01-js-for-python-devs.md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is a value that can't exist. void is a function that returns nothing useful. Always set strict: true, which turns on strictNullChecks.</a:t>
            </a:r>
          </a:p>
          <a:p/>
          <a:p>
            <a:r>
              <a:t>Source: notes/02-everyday-types.md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function's signature is its contract, and the annotation catches accidental changes. Both interface and type are erased at runtime.</a:t>
            </a:r>
          </a:p>
          <a:p/>
          <a:p>
            <a:r>
              <a:t>Source: notes/02-everyday-types.md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Narrowing also works with instanceof, 'role' in x and Array.isArray. A predicate returning `x is T` is a promise you make, and the checker trusts it unverified.</a:t>
            </a:r>
          </a:p>
          <a:p/>
          <a:p>
            <a:r>
              <a:t>Source: notes/03-unions-and-narrowing.md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you model API responses and LLM content blocks.</a:t>
            </a:r>
          </a:p>
          <a:p/>
          <a:p>
            <a:r>
              <a:t>Source: notes/03-unions-and-narrowing.md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Python's TypeVar is the same idea.</a:t>
            </a:r>
          </a:p>
          <a:p/>
          <a:p>
            <a:r>
              <a:t>Source: notes/04-generics.md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 is used once, write the concrete type or unknown. Overloads handle a return type that depends on an argument value.</a:t>
            </a:r>
          </a:p>
          <a:p/>
          <a:p>
            <a:r>
              <a:t>Source: notes/04-generics.md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&amp; B` has every property of both, which combines types without repeating fields.</a:t>
            </a:r>
          </a:p>
          <a:p/>
          <a:p>
            <a:r>
              <a:t>Source: notes/05-type-transformations.md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literal types build key names: `on${Capitalize&lt;Event&gt;}`.</a:t>
            </a:r>
          </a:p>
          <a:p/>
          <a:p>
            <a:r>
              <a:t>Source: notes/05-type-transformations.md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Type-level code is real code. Use utility types freely, mapped types sometimes, and deep recursion only in libraries.</a:t>
            </a:r>
          </a:p>
          <a:p/>
          <a:p>
            <a:r>
              <a:t>Source: notes/05-type-transformations.md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06 to 09 take time and trust one at a time.</a:t>
            </a:r>
          </a:p>
          <a:p/>
          <a:p>
            <a:r>
              <a:t>Source: notes/06-async.md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synchronous loop freezes everything, the same as blocking asyncio's loop in Python 03 note 07.</a:t>
            </a:r>
          </a:p>
          <a:p/>
          <a:p>
            <a:r>
              <a:t>Source: notes/06-async.md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`await` pauses only the current function. An async function always returns a Promise. `race` does not cancel the loser.</a:t>
            </a:r>
          </a:p>
          <a:p/>
          <a:p>
            <a:r>
              <a:t>Source: notes/06-async.md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`AbortSignal.timeout(5_000)` cancels the request itself. `for await` handles streams.</a:t>
            </a:r>
          </a:p>
          <a:p/>
          <a:p>
            <a:r>
              <a:t>Source: notes/06-async.md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flags: strict, noUncheckedIndexedAccess, verbatimModuleSyntax, erasableSyntaxOnly, skipLibCheck, noEmit. In ESM use import.meta.dirname. Module augmentation works because interfaces merge.</a:t>
            </a:r>
          </a:p>
          <a:p/>
          <a:p>
            <a:r>
              <a:t>Source: notes/07-modules-and-tooling.md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Parse at config, HTTP, files, LLM output and tool inputs. `coerce.boolean()` treats "false" as true, so use an enum for env flags.</a:t>
            </a:r>
          </a:p>
          <a:p/>
          <a:p>
            <a:r>
              <a:t>Source: notes/08-runtime-validation-zod.md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inputs are model output, which makes them untrusted. Validate them, confine file paths and gate anything destructive.</a:t>
            </a:r>
          </a:p>
          <a:p/>
          <a:p>
            <a:r>
              <a:t>Source: notes/09-typescript-for-ai-apps.md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prompt-building and block parsing as pure functions, log usage on every response, and pin the model ID in one config value.</a:t>
            </a:r>
          </a:p>
          <a:p/>
          <a:p>
            <a:r>
              <a:t>Source: notes/09-typescript-for-ai-apps.md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condense the nine notes.</a:t>
            </a:r>
          </a:p>
          <a:p/>
          <a:p>
            <a:r>
              <a:t>Source: notes/03-unions-and-narrowing.md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programming/CURRICULUM.md for the order of the tracks.</a:t>
            </a:r>
          </a:p>
          <a:p/>
          <a:p>
            <a:r>
              <a:t>Source: notes/09-typescript-for-ai-apps.md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051560"/>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TypeScript</a:t>
            </a:r>
          </a:p>
        </p:txBody>
      </p:sp>
      <p:sp>
        <p:nvSpPr>
          <p:cNvPr id="7" name="TextBox 6"/>
          <p:cNvSpPr txBox="1"/>
          <p:nvPr/>
        </p:nvSpPr>
        <p:spPr>
          <a:xfrm>
            <a:off x="548640" y="2194560"/>
            <a:ext cx="4937760" cy="1298448"/>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A checker in front of JavaScript, for Python developers</a:t>
            </a:r>
          </a:p>
        </p:txBody>
      </p:sp>
      <p:sp>
        <p:nvSpPr>
          <p:cNvPr id="8" name="Rectangle 7"/>
          <p:cNvSpPr/>
          <p:nvPr/>
        </p:nvSpPr>
        <p:spPr>
          <a:xfrm>
            <a:off x="548640" y="3721608"/>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041648"/>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JavaScript runtime · Narrowing · Generics</a:t>
            </a:r>
          </a:p>
          <a:p>
            <a:pPr algn="l">
              <a:lnSpc>
                <a:spcPct val="125000"/>
              </a:lnSpc>
            </a:pPr>
            <a:r>
              <a:rPr sz="1500" i="0" b="0">
                <a:solidFill>
                  <a:srgbClr val="94A3B8"/>
                </a:solidFill>
                <a:latin typeface="Helvetica Neue"/>
              </a:rPr>
              <a:t>Utility types · Async · Zod · LLM APIs</a:t>
            </a:r>
          </a:p>
        </p:txBody>
      </p:sp>
      <p:sp>
        <p:nvSpPr>
          <p:cNvPr id="10" name="Rectangle 9"/>
          <p:cNvSpPr/>
          <p:nvPr/>
        </p:nvSpPr>
        <p:spPr>
          <a:xfrm>
            <a:off x="6492240" y="1513331"/>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513331"/>
            <a:ext cx="91440" cy="1143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1641347"/>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The runtime and the checker</a:t>
            </a:r>
          </a:p>
        </p:txBody>
      </p:sp>
      <p:sp>
        <p:nvSpPr>
          <p:cNvPr id="13" name="TextBox 12"/>
          <p:cNvSpPr txBox="1"/>
          <p:nvPr/>
        </p:nvSpPr>
        <p:spPr>
          <a:xfrm>
            <a:off x="6766560" y="1954402"/>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Type stripping · JavaScript traps · Shapes · unknown · Narrowing · Tagged unions</a:t>
            </a:r>
          </a:p>
        </p:txBody>
      </p:sp>
      <p:sp>
        <p:nvSpPr>
          <p:cNvPr id="14" name="Rectangle 13"/>
          <p:cNvSpPr/>
          <p:nvPr/>
        </p:nvSpPr>
        <p:spPr>
          <a:xfrm>
            <a:off x="6492240" y="2857499"/>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2857499"/>
            <a:ext cx="91440"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98551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Types from types</a:t>
            </a:r>
          </a:p>
        </p:txBody>
      </p:sp>
      <p:sp>
        <p:nvSpPr>
          <p:cNvPr id="17" name="TextBox 16"/>
          <p:cNvSpPr txBox="1"/>
          <p:nvPr/>
        </p:nvSpPr>
        <p:spPr>
          <a:xfrm>
            <a:off x="6766560" y="3298570"/>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Generics · keyof · Utility types · Mapped types · Conditional types · When to stop</a:t>
            </a:r>
          </a:p>
        </p:txBody>
      </p:sp>
      <p:sp>
        <p:nvSpPr>
          <p:cNvPr id="18" name="Rectangle 17"/>
          <p:cNvSpPr/>
          <p:nvPr/>
        </p:nvSpPr>
        <p:spPr>
          <a:xfrm>
            <a:off x="6492240" y="4201667"/>
            <a:ext cx="5196535" cy="114300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4201667"/>
            <a:ext cx="91440" cy="1143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4329683"/>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Async and the boundary</a:t>
            </a:r>
          </a:p>
        </p:txBody>
      </p:sp>
      <p:sp>
        <p:nvSpPr>
          <p:cNvPr id="21" name="TextBox 20"/>
          <p:cNvSpPr txBox="1"/>
          <p:nvPr/>
        </p:nvSpPr>
        <p:spPr>
          <a:xfrm>
            <a:off x="6766560" y="4642738"/>
            <a:ext cx="4785055" cy="685800"/>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The event loop · Promise.all · Async bugs · Tooling · Zod · LLM responses</a:t>
            </a:r>
          </a:p>
        </p:txBody>
      </p:sp>
      <p:sp>
        <p:nvSpPr>
          <p:cNvPr id="22" name="TextBox 21"/>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programming/typescript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The runtime and the checker</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Type stripping · JavaScript traps · Shapes · unknown · Narrowing · Tagged unions</a:t>
            </a:r>
          </a:p>
        </p:txBody>
      </p:sp>
      <p:cxnSp>
        <p:nvCxnSpPr>
          <p:cNvPr id="6" name="Connector 5"/>
          <p:cNvCxnSpPr/>
          <p:nvPr/>
        </p:nvCxnSpPr>
        <p:spPr>
          <a:xfrm>
            <a:off x="6446520" y="1421130"/>
            <a:ext cx="0" cy="40157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21130"/>
            <a:ext cx="4693615" cy="419862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What is left of your types when the code runs?</a:t>
            </a:r>
          </a:p>
          <a:p>
            <a:pPr algn="l">
              <a:lnSpc>
                <a:spcPct val="100000"/>
              </a:lnSpc>
              <a:spcBef>
                <a:spcPts val="1189"/>
              </a:spcBef>
            </a:pPr>
            <a:r>
              <a:rPr sz="1700" i="0" b="0">
                <a:solidFill>
                  <a:srgbClr val="CBD5E1"/>
                </a:solidFill>
                <a:latin typeface="Helvetica Neue"/>
              </a:rPr>
              <a:t>Which command checks types, and which runs code?</a:t>
            </a:r>
          </a:p>
          <a:p>
            <a:pPr algn="l">
              <a:lnSpc>
                <a:spcPct val="100000"/>
              </a:lnSpc>
              <a:spcBef>
                <a:spcPts val="1189"/>
              </a:spcBef>
            </a:pPr>
            <a:r>
              <a:rPr sz="1700" i="0" b="0">
                <a:solidFill>
                  <a:srgbClr val="CBD5E1"/>
                </a:solidFill>
                <a:latin typeface="Helvetica Neue"/>
              </a:rPr>
              <a:t>Which JavaScript behaviours catch Python developers?</a:t>
            </a:r>
          </a:p>
          <a:p>
            <a:pPr algn="l">
              <a:lnSpc>
                <a:spcPct val="100000"/>
              </a:lnSpc>
              <a:spcBef>
                <a:spcPts val="1189"/>
              </a:spcBef>
            </a:pPr>
            <a:r>
              <a:rPr sz="1700" i="0" b="0">
                <a:solidFill>
                  <a:srgbClr val="CBD5E1"/>
                </a:solidFill>
                <a:latin typeface="Helvetica Neue"/>
              </a:rPr>
              <a:t>What is the difference between any and unknown?</a:t>
            </a:r>
          </a:p>
          <a:p>
            <a:pPr algn="l">
              <a:lnSpc>
                <a:spcPct val="100000"/>
              </a:lnSpc>
              <a:spcBef>
                <a:spcPts val="1189"/>
              </a:spcBef>
            </a:pPr>
            <a:r>
              <a:rPr sz="1700" i="0" b="0">
                <a:solidFill>
                  <a:srgbClr val="CBD5E1"/>
                </a:solidFill>
                <a:latin typeface="Helvetica Neue"/>
              </a:rPr>
              <a:t>Does TypeScript check a type's name or its shape?</a:t>
            </a:r>
          </a:p>
          <a:p>
            <a:pPr algn="l">
              <a:lnSpc>
                <a:spcPct val="100000"/>
              </a:lnSpc>
              <a:spcBef>
                <a:spcPts val="1189"/>
              </a:spcBef>
            </a:pPr>
            <a:r>
              <a:rPr sz="1700" i="0" b="0">
                <a:solidFill>
                  <a:srgbClr val="CBD5E1"/>
                </a:solidFill>
                <a:latin typeface="Helvetica Neue"/>
              </a:rPr>
              <a:t>How does narrowing work?</a:t>
            </a:r>
          </a:p>
          <a:p>
            <a:pPr algn="l">
              <a:lnSpc>
                <a:spcPct val="100000"/>
              </a:lnSpc>
              <a:spcBef>
                <a:spcPts val="1189"/>
              </a:spcBef>
            </a:pPr>
            <a:r>
              <a:rPr sz="1700" i="0" b="0">
                <a:solidFill>
                  <a:srgbClr val="CBD5E1"/>
                </a:solidFill>
                <a:latin typeface="Helvetica Neue"/>
              </a:rPr>
              <a:t>How do you make a switch exhaustive?</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What is left of your types when the code runs?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notes/01-js-for-python-devs.md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There are no runtime types, so learn the JavaScript runtime first and validate anything from outside the program.</a:t>
            </a:r>
          </a:p>
        </p:txBody>
      </p:sp>
      <p:sp>
        <p:nvSpPr>
          <p:cNvPr id="13" name="Rectangle 12"/>
          <p:cNvSpPr/>
          <p:nvPr/>
        </p:nvSpPr>
        <p:spPr>
          <a:xfrm>
            <a:off x="777240" y="1997964"/>
            <a:ext cx="109728" cy="25054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Nothing. The checker runs and disappears, </a:t>
            </a:r>
            <a:r>
              <a:rPr sz="3240" i="0" b="1">
                <a:solidFill>
                  <a:srgbClr val="0F7490"/>
                </a:solidFill>
                <a:latin typeface="Menlo"/>
              </a:rPr>
              <a:t>x as User</a:t>
            </a:r>
            <a:r>
              <a:rPr sz="3600" i="0" b="1">
                <a:solidFill>
                  <a:srgbClr val="1E3A5F"/>
                </a:solidFill>
                <a:latin typeface="Helvetica Neue"/>
              </a:rPr>
              <a:t> checks nothing, and an </a:t>
            </a:r>
            <a:r>
              <a:rPr sz="3240" i="0" b="1">
                <a:solidFill>
                  <a:srgbClr val="0F7490"/>
                </a:solidFill>
                <a:latin typeface="Menlo"/>
              </a:rPr>
              <a:t>interface</a:t>
            </a:r>
            <a:r>
              <a:rPr sz="3600" i="0" b="1">
                <a:solidFill>
                  <a:srgbClr val="1E3A5F"/>
                </a:solidFill>
                <a:latin typeface="Helvetica Neue"/>
              </a:rPr>
              <a:t> produces no code. What executes is JavaScript.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Which command checks types, and which runs code?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How TS runs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notes/01-js-for-python-devs.md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node file.ts</a:t>
            </a:r>
            <a:r>
              <a:rPr sz="1600" i="0" b="1">
                <a:solidFill>
                  <a:srgbClr val="1E3A5F"/>
                </a:solidFill>
                <a:latin typeface="Helvetica Neue"/>
              </a:rPr>
              <a:t> strips types without checking them, so </a:t>
            </a:r>
            <a:r>
              <a:rPr sz="1440" i="0" b="1">
                <a:solidFill>
                  <a:srgbClr val="1E3A5F"/>
                </a:solidFill>
                <a:latin typeface="Menlo"/>
              </a:rPr>
              <a:t>tsc --noEmit</a:t>
            </a:r>
            <a:r>
              <a:rPr sz="1600" i="0" b="1">
                <a:solidFill>
                  <a:srgbClr val="1E3A5F"/>
                </a:solidFill>
                <a:latin typeface="Helvetica Neue"/>
              </a:rPr>
              <a:t> is a separate step you must run.</a:t>
            </a:r>
          </a:p>
        </p:txBody>
      </p:sp>
      <p:graphicFrame>
        <p:nvGraphicFramePr>
          <p:cNvPr id="13" name="Table 12"/>
          <p:cNvGraphicFramePr>
            <a:graphicFrameLocks noGrp="1"/>
          </p:cNvGraphicFramePr>
          <p:nvPr/>
        </p:nvGraphicFramePr>
        <p:xfrm>
          <a:off x="502920" y="1472184"/>
          <a:ext cx="11185854" cy="1880616"/>
        </p:xfrm>
        <a:graphic>
          <a:graphicData uri="http://schemas.openxmlformats.org/drawingml/2006/table">
            <a:tbl>
              <a:tblPr firstRow="1" bandRow="1">
                <a:tableStyleId>{5940675A-B579-460E-94D1-54222C63F5DA}</a:tableStyleId>
              </a:tblPr>
              <a:tblGrid>
                <a:gridCol w="3195958"/>
                <a:gridCol w="7989896"/>
              </a:tblGrid>
              <a:tr h="405384">
                <a:tc>
                  <a:txBody>
                    <a:bodyPr wrap="square"/>
                    <a:lstStyle/>
                    <a:p>
                      <a:pPr>
                        <a:lnSpc>
                          <a:spcPct val="100000"/>
                        </a:lnSpc>
                      </a:pPr>
                      <a:r>
                        <a:rPr sz="1700" i="0" b="1">
                          <a:solidFill>
                            <a:srgbClr val="FFFFFF"/>
                          </a:solidFill>
                          <a:latin typeface="Helvetica Neue"/>
                        </a:rPr>
                        <a:t>Command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What happens</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tsc --noEmit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Type-checks only. Nothing runs</a:t>
                      </a:r>
                    </a:p>
                  </a:txBody>
                  <a:tcPr marL="109728" marR="109728" marT="54864" marB="54864" anchor="ctr">
                    <a:solidFill>
                      <a:srgbClr val="FFFFFF"/>
                    </a:solidFill>
                  </a:tcPr>
                </a:tc>
              </a:tr>
              <a:tr h="664464">
                <a:tc>
                  <a:txBody>
                    <a:bodyPr wrap="square"/>
                    <a:lstStyle/>
                    <a:p>
                      <a:pPr>
                        <a:lnSpc>
                          <a:spcPct val="100000"/>
                        </a:lnSpc>
                      </a:pPr>
                      <a:r>
                        <a:rPr sz="1530" i="0" b="1">
                          <a:solidFill>
                            <a:srgbClr val="0F7490"/>
                          </a:solidFill>
                          <a:latin typeface="Menlo"/>
                        </a:rPr>
                        <a:t>node file.ts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Node 22.18+ </a:t>
                      </a:r>
                      <a:r>
                        <a:rPr sz="1700" i="0" b="1">
                          <a:solidFill>
                            <a:srgbClr val="1E293B"/>
                          </a:solidFill>
                          <a:latin typeface="Helvetica Neue"/>
                        </a:rPr>
                        <a:t>strips</a:t>
                      </a:r>
                      <a:r>
                        <a:rPr sz="1700" i="0" b="0">
                          <a:solidFill>
                            <a:srgbClr val="475569"/>
                          </a:solidFill>
                          <a:latin typeface="Helvetica Neue"/>
                        </a:rPr>
                        <a:t> the types and runs the rest, with no checking at all</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tsc</a:t>
                      </a:r>
                      <a:r>
                        <a:rPr sz="1700" i="0" b="1">
                          <a:solidFill>
                            <a:srgbClr val="1E293B"/>
                          </a:solidFill>
                          <a:latin typeface="Helvetica Neue"/>
                        </a:rPr>
                        <a:t> or a bundler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Emits </a:t>
                      </a:r>
                      <a:r>
                        <a:rPr sz="1530" i="0" b="0">
                          <a:solidFill>
                            <a:srgbClr val="0F7490"/>
                          </a:solidFill>
                          <a:latin typeface="Menlo"/>
                        </a:rPr>
                        <a:t>.js</a:t>
                      </a:r>
                      <a:r>
                        <a:rPr sz="1700" i="0" b="0">
                          <a:solidFill>
                            <a:srgbClr val="475569"/>
                          </a:solidFill>
                          <a:latin typeface="Helvetica Neue"/>
                        </a:rPr>
                        <a:t> files for production</a:t>
                      </a:r>
                    </a:p>
                  </a:txBody>
                  <a:tcPr marL="109728" marR="109728" marT="54864" marB="54864"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Which JavaScript behaviours catch Python developers?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JavaScript traps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notes/01-js-for-python-devs.md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a:t>
            </a:r>
            <a:r>
              <a:rPr sz="1600" i="0" b="1">
                <a:solidFill>
                  <a:srgbClr val="1E3A5F"/>
                </a:solidFill>
                <a:latin typeface="Helvetica Neue"/>
              </a:rPr>
              <a:t> is truthy, </a:t>
            </a:r>
            <a:r>
              <a:rPr sz="1440" i="0" b="1">
                <a:solidFill>
                  <a:srgbClr val="1E3A5F"/>
                </a:solidFill>
                <a:latin typeface="Menlo"/>
              </a:rPr>
              <a:t>sort()</a:t>
            </a:r>
            <a:r>
              <a:rPr sz="1600" i="0" b="1">
                <a:solidFill>
                  <a:srgbClr val="1E3A5F"/>
                </a:solidFill>
                <a:latin typeface="Helvetica Neue"/>
              </a:rPr>
              <a:t> compares strings, </a:t>
            </a:r>
            <a:r>
              <a:rPr sz="1440" i="0" b="1">
                <a:solidFill>
                  <a:srgbClr val="1E3A5F"/>
                </a:solidFill>
                <a:latin typeface="Menlo"/>
              </a:rPr>
              <a:t>===</a:t>
            </a:r>
            <a:r>
              <a:rPr sz="1600" i="0" b="1">
                <a:solidFill>
                  <a:srgbClr val="1E3A5F"/>
                </a:solidFill>
                <a:latin typeface="Helvetica Neue"/>
              </a:rPr>
              <a:t> compares references, and </a:t>
            </a:r>
            <a:r>
              <a:rPr sz="1440" i="0" b="1">
                <a:solidFill>
                  <a:srgbClr val="1E3A5F"/>
                </a:solidFill>
                <a:latin typeface="Menlo"/>
              </a:rPr>
              <a:t>const</a:t>
            </a:r>
            <a:r>
              <a:rPr sz="1600" i="0" b="1">
                <a:solidFill>
                  <a:srgbClr val="1E3A5F"/>
                </a:solidFill>
                <a:latin typeface="Helvetica Neue"/>
              </a:rPr>
              <a:t> doesn't stop mutation.</a:t>
            </a:r>
          </a:p>
        </p:txBody>
      </p:sp>
      <p:sp>
        <p:nvSpPr>
          <p:cNvPr id="13" name="Rectangle 12"/>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440" i="0" b="1">
                <a:solidFill>
                  <a:srgbClr val="0F7490"/>
                </a:solidFill>
                <a:latin typeface="Menlo"/>
              </a:rPr>
              <a:t>sort()</a:t>
            </a:r>
          </a:p>
        </p:txBody>
      </p:sp>
      <p:sp>
        <p:nvSpPr>
          <p:cNvPr id="16" name="TextBox 15"/>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Sorts in place and compares as strings. Write </a:t>
            </a:r>
            <a:r>
              <a:rPr sz="1530" i="0" b="0">
                <a:solidFill>
                  <a:srgbClr val="0F7490"/>
                </a:solidFill>
                <a:latin typeface="Menlo"/>
              </a:rPr>
              <a:t>sort((a, b) =&gt; a - b)</a:t>
            </a:r>
            <a:r>
              <a:rPr sz="1700" i="0" b="0">
                <a:solidFill>
                  <a:srgbClr val="475569"/>
                </a:solidFill>
                <a:latin typeface="Helvetica Neue"/>
              </a:rPr>
              <a:t>.</a:t>
            </a:r>
          </a:p>
        </p:txBody>
      </p:sp>
      <p:sp>
        <p:nvSpPr>
          <p:cNvPr id="17" name="Rectangle 16"/>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22978"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Truthiness</a:t>
            </a:r>
          </a:p>
        </p:txBody>
      </p:sp>
      <p:sp>
        <p:nvSpPr>
          <p:cNvPr id="20" name="TextBox 19"/>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a:t>
            </a:r>
            <a:r>
              <a:rPr sz="1700" i="0" b="0">
                <a:solidFill>
                  <a:srgbClr val="475569"/>
                </a:solidFill>
                <a:latin typeface="Helvetica Neue"/>
              </a:rPr>
              <a:t> and </a:t>
            </a:r>
            <a:r>
              <a:rPr sz="1530" i="0" b="0">
                <a:solidFill>
                  <a:srgbClr val="0F7490"/>
                </a:solidFill>
                <a:latin typeface="Menlo"/>
              </a:rPr>
              <a:t>{}</a:t>
            </a:r>
            <a:r>
              <a:rPr sz="1700" i="0" b="0">
                <a:solidFill>
                  <a:srgbClr val="475569"/>
                </a:solidFill>
                <a:latin typeface="Helvetica Neue"/>
              </a:rPr>
              <a:t> are truthy, the opposite of Python.</a:t>
            </a:r>
          </a:p>
        </p:txBody>
      </p:sp>
      <p:sp>
        <p:nvSpPr>
          <p:cNvPr id="21" name="Rectangle 20"/>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Equality</a:t>
            </a:r>
          </a:p>
        </p:txBody>
      </p:sp>
      <p:sp>
        <p:nvSpPr>
          <p:cNvPr id="24" name="TextBox 23"/>
          <p:cNvSpPr txBox="1"/>
          <p:nvPr/>
        </p:nvSpPr>
        <p:spPr>
          <a:xfrm>
            <a:off x="8417356" y="2087880"/>
            <a:ext cx="3042818" cy="1071371"/>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Always </a:t>
            </a:r>
            <a:r>
              <a:rPr sz="1530" i="0" b="0">
                <a:solidFill>
                  <a:srgbClr val="0F7490"/>
                </a:solidFill>
                <a:latin typeface="Menlo"/>
              </a:rPr>
              <a:t>===</a:t>
            </a:r>
            <a:r>
              <a:rPr sz="1700" i="0" b="0">
                <a:solidFill>
                  <a:srgbClr val="475569"/>
                </a:solidFill>
                <a:latin typeface="Helvetica Neue"/>
              </a:rPr>
              <a:t>, except </a:t>
            </a:r>
            <a:r>
              <a:rPr sz="1530" i="0" b="0">
                <a:solidFill>
                  <a:srgbClr val="0F7490"/>
                </a:solidFill>
                <a:latin typeface="Menlo"/>
              </a:rPr>
              <a:t>x == null</a:t>
            </a:r>
            <a:r>
              <a:rPr sz="1700" i="0" b="0">
                <a:solidFill>
                  <a:srgbClr val="475569"/>
                </a:solidFill>
                <a:latin typeface="Helvetica Neue"/>
              </a:rPr>
              <a:t>. </a:t>
            </a:r>
            <a:r>
              <a:rPr sz="1530" i="0" b="0">
                <a:solidFill>
                  <a:srgbClr val="0F7490"/>
                </a:solidFill>
                <a:latin typeface="Menlo"/>
              </a:rPr>
              <a:t>[1] === [1]</a:t>
            </a:r>
            <a:r>
              <a:rPr sz="1700" i="0" b="0">
                <a:solidFill>
                  <a:srgbClr val="475569"/>
                </a:solidFill>
                <a:latin typeface="Helvetica Neue"/>
              </a:rPr>
              <a:t> is false: by reference.</a:t>
            </a:r>
          </a:p>
        </p:txBody>
      </p:sp>
      <p:sp>
        <p:nvSpPr>
          <p:cNvPr id="25" name="Rectangle 24"/>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99332"/>
            <a:ext cx="3088538" cy="359664"/>
          </a:xfrm>
          <a:prstGeom prst="rect">
            <a:avLst/>
          </a:prstGeom>
          <a:noFill/>
        </p:spPr>
        <p:txBody>
          <a:bodyPr wrap="square" lIns="0" rIns="0" tIns="0" bIns="0" anchor="t">
            <a:noAutofit/>
          </a:bodyPr>
          <a:lstStyle/>
          <a:p>
            <a:pPr algn="l">
              <a:lnSpc>
                <a:spcPct val="110000"/>
              </a:lnSpc>
            </a:pPr>
            <a:r>
              <a:rPr sz="1440" i="0" b="1">
                <a:solidFill>
                  <a:srgbClr val="0F7490"/>
                </a:solidFill>
                <a:latin typeface="Menlo"/>
              </a:rPr>
              <a:t>for…in</a:t>
            </a:r>
          </a:p>
        </p:txBody>
      </p:sp>
      <p:sp>
        <p:nvSpPr>
          <p:cNvPr id="28" name="TextBox 27"/>
          <p:cNvSpPr txBox="1"/>
          <p:nvPr/>
        </p:nvSpPr>
        <p:spPr>
          <a:xfrm>
            <a:off x="777240" y="4232148"/>
            <a:ext cx="3042818" cy="10713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Iterates keys. Use </a:t>
            </a:r>
            <a:r>
              <a:rPr sz="1530" i="0" b="0">
                <a:solidFill>
                  <a:srgbClr val="0F7490"/>
                </a:solidFill>
                <a:latin typeface="Menlo"/>
              </a:rPr>
              <a:t>for…of</a:t>
            </a:r>
            <a:r>
              <a:rPr sz="1700" i="0" b="0">
                <a:solidFill>
                  <a:srgbClr val="475569"/>
                </a:solidFill>
                <a:latin typeface="Helvetica Neue"/>
              </a:rPr>
              <a:t> on arrays.</a:t>
            </a:r>
          </a:p>
        </p:txBody>
      </p:sp>
      <p:sp>
        <p:nvSpPr>
          <p:cNvPr id="29" name="Rectangle 28"/>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22978" y="3616452"/>
            <a:ext cx="82296" cy="18699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440" i="0" b="1">
                <a:solidFill>
                  <a:srgbClr val="0F7490"/>
                </a:solidFill>
                <a:latin typeface="Menlo"/>
              </a:rPr>
              <a:t>??</a:t>
            </a:r>
            <a:r>
              <a:rPr sz="1600" i="0" b="1">
                <a:solidFill>
                  <a:srgbClr val="1E293B"/>
                </a:solidFill>
                <a:latin typeface="Helvetica Neue"/>
              </a:rPr>
              <a:t> and </a:t>
            </a:r>
            <a:r>
              <a:rPr sz="1440" i="0" b="1">
                <a:solidFill>
                  <a:srgbClr val="0F7490"/>
                </a:solidFill>
                <a:latin typeface="Menlo"/>
              </a:rPr>
              <a:t>||</a:t>
            </a:r>
          </a:p>
        </p:txBody>
      </p:sp>
      <p:sp>
        <p:nvSpPr>
          <p:cNvPr id="32" name="TextBox 31"/>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530" i="0" b="0">
                <a:solidFill>
                  <a:srgbClr val="0F7490"/>
                </a:solidFill>
                <a:latin typeface="Menlo"/>
              </a:rPr>
              <a:t>??</a:t>
            </a:r>
            <a:r>
              <a:rPr sz="1700" i="0" b="0">
                <a:solidFill>
                  <a:srgbClr val="475569"/>
                </a:solidFill>
                <a:latin typeface="Helvetica Neue"/>
              </a:rPr>
              <a:t> replaces only </a:t>
            </a:r>
            <a:r>
              <a:rPr sz="1530" i="0" b="0">
                <a:solidFill>
                  <a:srgbClr val="0F7490"/>
                </a:solidFill>
                <a:latin typeface="Menlo"/>
              </a:rPr>
              <a:t>null</a:t>
            </a:r>
            <a:r>
              <a:rPr sz="1700" i="0" b="0">
                <a:solidFill>
                  <a:srgbClr val="475569"/>
                </a:solidFill>
                <a:latin typeface="Helvetica Neue"/>
              </a:rPr>
              <a:t> and </a:t>
            </a:r>
            <a:r>
              <a:rPr sz="1530" i="0" b="0">
                <a:solidFill>
                  <a:srgbClr val="0F7490"/>
                </a:solidFill>
                <a:latin typeface="Menlo"/>
              </a:rPr>
              <a:t>undefined</a:t>
            </a:r>
            <a:r>
              <a:rPr sz="1700" i="0" b="0">
                <a:solidFill>
                  <a:srgbClr val="475569"/>
                </a:solidFill>
                <a:latin typeface="Helvetica Neue"/>
              </a:rPr>
              <a:t>. </a:t>
            </a:r>
            <a:r>
              <a:rPr sz="1530" i="0" b="0">
                <a:solidFill>
                  <a:srgbClr val="0F7490"/>
                </a:solidFill>
                <a:latin typeface="Menlo"/>
              </a:rPr>
              <a:t>||</a:t>
            </a:r>
            <a:r>
              <a:rPr sz="1700" i="0" b="0">
                <a:solidFill>
                  <a:srgbClr val="475569"/>
                </a:solidFill>
                <a:latin typeface="Helvetica Neue"/>
              </a:rPr>
              <a:t> also replaces </a:t>
            </a:r>
            <a:r>
              <a:rPr sz="1530" i="0" b="0">
                <a:solidFill>
                  <a:srgbClr val="0F7490"/>
                </a:solidFill>
                <a:latin typeface="Menlo"/>
              </a:rPr>
              <a:t>0</a:t>
            </a:r>
            <a:r>
              <a:rPr sz="1700" i="0" b="0">
                <a:solidFill>
                  <a:srgbClr val="475569"/>
                </a:solidFill>
                <a:latin typeface="Helvetica Neue"/>
              </a:rPr>
              <a:t> and </a:t>
            </a:r>
            <a:r>
              <a:rPr sz="1530" i="0" b="0">
                <a:solidFill>
                  <a:srgbClr val="0F7490"/>
                </a:solidFill>
                <a:latin typeface="Menlo"/>
              </a:rPr>
              <a:t>""</a:t>
            </a:r>
            <a:r>
              <a:rPr sz="1700" i="0" b="0">
                <a:solidFill>
                  <a:srgbClr val="475569"/>
                </a:solidFill>
                <a:latin typeface="Helvetica Neue"/>
              </a:rPr>
              <a:t>.</a:t>
            </a:r>
          </a:p>
        </p:txBody>
      </p:sp>
      <p:sp>
        <p:nvSpPr>
          <p:cNvPr id="33" name="Rectangle 32"/>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43036" y="3616452"/>
            <a:ext cx="82296" cy="1869948"/>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440" i="0" b="1">
                <a:solidFill>
                  <a:srgbClr val="0F7490"/>
                </a:solidFill>
                <a:latin typeface="Menlo"/>
              </a:rPr>
              <a:t>const</a:t>
            </a:r>
          </a:p>
        </p:txBody>
      </p:sp>
      <p:sp>
        <p:nvSpPr>
          <p:cNvPr id="36" name="TextBox 35"/>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Stops reassignment, not mutation. </a:t>
            </a:r>
            <a:r>
              <a:rPr sz="1530" i="0" b="0">
                <a:solidFill>
                  <a:srgbClr val="0F7490"/>
                </a:solidFill>
                <a:latin typeface="Menlo"/>
              </a:rPr>
              <a:t>{ ...a }</a:t>
            </a:r>
            <a:r>
              <a:rPr sz="1700" i="0" b="0">
                <a:solidFill>
                  <a:srgbClr val="475569"/>
                </a:solidFill>
                <a:latin typeface="Helvetica Neue"/>
              </a:rPr>
              <a:t> copies only one level.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What is the difference between any and unknown?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Everyday types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notes/02-everyday-types.md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any</a:t>
            </a:r>
            <a:r>
              <a:rPr sz="1600" i="0" b="1">
                <a:solidFill>
                  <a:srgbClr val="1E3A5F"/>
                </a:solidFill>
                <a:latin typeface="Helvetica Neue"/>
              </a:rPr>
              <a:t> turns checking off and spreads. </a:t>
            </a:r>
            <a:r>
              <a:rPr sz="1440" i="0" b="1">
                <a:solidFill>
                  <a:srgbClr val="1E3A5F"/>
                </a:solidFill>
                <a:latin typeface="Menlo"/>
              </a:rPr>
              <a:t>unknown</a:t>
            </a:r>
            <a:r>
              <a:rPr sz="1600" i="0" b="1">
                <a:solidFill>
                  <a:srgbClr val="1E3A5F"/>
                </a:solidFill>
                <a:latin typeface="Helvetica Neue"/>
              </a:rPr>
              <a:t> forces you to narrow first, so use it for outside data.</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any</a:t>
            </a:r>
          </a:p>
        </p:txBody>
      </p:sp>
      <p:sp>
        <p:nvSpPr>
          <p:cNvPr id="16" name="Rectangle 15"/>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Turns the checker off</a:t>
            </a:r>
          </a:p>
        </p:txBody>
      </p:sp>
      <p:sp>
        <p:nvSpPr>
          <p:cNvPr id="18" name="Rectangle 17"/>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Spreads to everything it touches</a:t>
            </a:r>
          </a:p>
        </p:txBody>
      </p:sp>
      <p:sp>
        <p:nvSpPr>
          <p:cNvPr id="20" name="Rectangle 19"/>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Avoid it</a:t>
            </a:r>
          </a:p>
        </p:txBody>
      </p:sp>
      <p:sp>
        <p:nvSpPr>
          <p:cNvPr id="22" name="Rectangle 21"/>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unknown</a:t>
            </a:r>
          </a:p>
        </p:txBody>
      </p:sp>
      <p:sp>
        <p:nvSpPr>
          <p:cNvPr id="25" name="Rectangle 24"/>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Could be anything</a:t>
            </a:r>
          </a:p>
        </p:txBody>
      </p:sp>
      <p:sp>
        <p:nvSpPr>
          <p:cNvPr id="27" name="Rectangle 26"/>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You must narrow before using it</a:t>
            </a:r>
          </a:p>
        </p:txBody>
      </p:sp>
      <p:sp>
        <p:nvSpPr>
          <p:cNvPr id="29" name="Rectangle 28"/>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The safe top type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200" i="0" b="1">
                <a:solidFill>
                  <a:srgbClr val="FFFFFF"/>
                </a:solidFill>
                <a:latin typeface="Helvetica Neue"/>
              </a:rPr>
              <a:t>Does TypeScript check a type's name or its shape?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Structural typing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notes/02-everyday-types.md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TypeScript checks shape, not name. Annotate parameters, returns and exports, and let inference do the rest.</a:t>
            </a:r>
          </a:p>
        </p:txBody>
      </p:sp>
      <p:sp>
        <p:nvSpPr>
          <p:cNvPr id="13" name="Rectangle 12"/>
          <p:cNvSpPr/>
          <p:nvPr/>
        </p:nvSpPr>
        <p:spPr>
          <a:xfrm>
            <a:off x="502920" y="156870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Shape: any object with </a:t>
            </a:r>
            <a:r>
              <a:rPr sz="1800" i="0" b="0">
                <a:solidFill>
                  <a:srgbClr val="0F7490"/>
                </a:solidFill>
                <a:latin typeface="Menlo"/>
              </a:rPr>
              <a:t>x: number</a:t>
            </a:r>
            <a:r>
              <a:rPr sz="2000" i="0" b="0">
                <a:solidFill>
                  <a:srgbClr val="1E293B"/>
                </a:solidFill>
                <a:latin typeface="Helvetica Neue"/>
              </a:rPr>
              <a:t> and </a:t>
            </a:r>
            <a:r>
              <a:rPr sz="1800" i="0" b="0">
                <a:solidFill>
                  <a:srgbClr val="0F7490"/>
                </a:solidFill>
                <a:latin typeface="Menlo"/>
              </a:rPr>
              <a:t>y: number</a:t>
            </a:r>
            <a:r>
              <a:rPr sz="2000" i="0" b="0">
                <a:solidFill>
                  <a:srgbClr val="1E293B"/>
                </a:solidFill>
                <a:latin typeface="Helvetica Neue"/>
              </a:rPr>
              <a:t> </a:t>
            </a:r>
            <a:r>
              <a:rPr sz="2000" i="0" b="1">
                <a:solidFill>
                  <a:srgbClr val="1E293B"/>
                </a:solidFill>
                <a:latin typeface="Helvetica Neue"/>
              </a:rPr>
              <a:t>is</a:t>
            </a:r>
            <a:r>
              <a:rPr sz="2000" i="0" b="0">
                <a:solidFill>
                  <a:srgbClr val="1E293B"/>
                </a:solidFill>
                <a:latin typeface="Helvetica Neue"/>
              </a:rPr>
              <a:t> a </a:t>
            </a:r>
            <a:r>
              <a:rPr sz="1800" i="0" b="0">
                <a:solidFill>
                  <a:srgbClr val="0F7490"/>
                </a:solidFill>
                <a:latin typeface="Menlo"/>
              </a:rPr>
              <a:t>Point</a:t>
            </a:r>
            <a:r>
              <a:rPr sz="2000" i="0" b="0">
                <a:solidFill>
                  <a:srgbClr val="1E293B"/>
                </a:solidFill>
                <a:latin typeface="Helvetica Neue"/>
              </a:rPr>
              <a:t>, like a Python </a:t>
            </a:r>
            <a:r>
              <a:rPr sz="1800" i="0" b="0">
                <a:solidFill>
                  <a:srgbClr val="0F7490"/>
                </a:solidFill>
                <a:latin typeface="Menlo"/>
              </a:rPr>
              <a:t>Protocol</a:t>
            </a:r>
          </a:p>
        </p:txBody>
      </p:sp>
      <p:sp>
        <p:nvSpPr>
          <p:cNvPr id="15" name="Rectangle 14"/>
          <p:cNvSpPr/>
          <p:nvPr/>
        </p:nvSpPr>
        <p:spPr>
          <a:xfrm>
            <a:off x="502920" y="205638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1959864"/>
            <a:ext cx="10865815"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One exception: an object </a:t>
            </a:r>
            <a:r>
              <a:rPr sz="2000" i="0" b="1">
                <a:solidFill>
                  <a:srgbClr val="1E293B"/>
                </a:solidFill>
                <a:latin typeface="Helvetica Neue"/>
              </a:rPr>
              <a:t>literal</a:t>
            </a:r>
            <a:r>
              <a:rPr sz="2000" i="0" b="0">
                <a:solidFill>
                  <a:srgbClr val="1E293B"/>
                </a:solidFill>
                <a:latin typeface="Helvetica Neue"/>
              </a:rPr>
              <a:t> with extra properties is an error, because that is usually a typo</a:t>
            </a:r>
          </a:p>
        </p:txBody>
      </p:sp>
      <p:sp>
        <p:nvSpPr>
          <p:cNvPr id="17" name="Rectangle 16"/>
          <p:cNvSpPr/>
          <p:nvPr/>
        </p:nvSpPr>
        <p:spPr>
          <a:xfrm>
            <a:off x="502920" y="2879344"/>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782824"/>
            <a:ext cx="10865815" cy="76200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Use </a:t>
            </a:r>
            <a:r>
              <a:rPr sz="1800" i="0" b="0">
                <a:solidFill>
                  <a:srgbClr val="0F7490"/>
                </a:solidFill>
                <a:latin typeface="Menlo"/>
              </a:rPr>
              <a:t>interface</a:t>
            </a:r>
            <a:r>
              <a:rPr sz="2000" i="0" b="0">
                <a:solidFill>
                  <a:srgbClr val="1E293B"/>
                </a:solidFill>
                <a:latin typeface="Helvetica Neue"/>
              </a:rPr>
              <a:t> for object shapes you'll extend, and </a:t>
            </a:r>
            <a:r>
              <a:rPr sz="1800" i="0" b="0">
                <a:solidFill>
                  <a:srgbClr val="0F7490"/>
                </a:solidFill>
                <a:latin typeface="Menlo"/>
              </a:rPr>
              <a:t>type</a:t>
            </a:r>
            <a:r>
              <a:rPr sz="2000" i="0" b="0">
                <a:solidFill>
                  <a:srgbClr val="1E293B"/>
                </a:solidFill>
                <a:latin typeface="Helvetica Neue"/>
              </a:rPr>
              <a:t> for unions, tuples and the rest</a:t>
            </a:r>
          </a:p>
        </p:txBody>
      </p:sp>
      <p:sp>
        <p:nvSpPr>
          <p:cNvPr id="19" name="Rectangle 18"/>
          <p:cNvSpPr/>
          <p:nvPr/>
        </p:nvSpPr>
        <p:spPr>
          <a:xfrm>
            <a:off x="502920" y="3702303"/>
            <a:ext cx="106680" cy="106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605784"/>
            <a:ext cx="10865815" cy="426720"/>
          </a:xfrm>
          <a:prstGeom prst="rect">
            <a:avLst/>
          </a:prstGeom>
          <a:noFill/>
        </p:spPr>
        <p:txBody>
          <a:bodyPr wrap="square" lIns="0" rIns="0" tIns="0" bIns="0" anchor="t">
            <a:noAutofit/>
          </a:bodyPr>
          <a:lstStyle/>
          <a:p>
            <a:pPr algn="l">
              <a:lnSpc>
                <a:spcPct val="110000"/>
              </a:lnSpc>
            </a:pPr>
            <a:r>
              <a:rPr sz="2000" i="0" b="0">
                <a:solidFill>
                  <a:srgbClr val="1E293B"/>
                </a:solidFill>
                <a:latin typeface="Helvetica Neue"/>
              </a:rPr>
              <a:t>Annotate the boundaries and let inference handle the inside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How does narrowing work?</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Follow one value</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notes/03-unions-and-narrowing.md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On a union you can use only what every member has. Each branch removes members until one type is left.</a:t>
            </a:r>
          </a:p>
        </p:txBody>
      </p:sp>
      <p:sp>
        <p:nvSpPr>
          <p:cNvPr id="13" name="Rounded Rectangle 12"/>
          <p:cNvSpPr/>
          <p:nvPr/>
        </p:nvSpPr>
        <p:spPr>
          <a:xfrm>
            <a:off x="586587" y="1563624"/>
            <a:ext cx="2377440" cy="1272540"/>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Start</a:t>
            </a:r>
          </a:p>
          <a:p>
            <a:pPr algn="ctr">
              <a:lnSpc>
                <a:spcPct val="110000"/>
              </a:lnSpc>
            </a:pPr>
            <a:r>
              <a:rPr sz="1300" i="0" b="0">
                <a:solidFill>
                  <a:srgbClr val="E8F4F8"/>
                </a:solidFill>
                <a:latin typeface="Menlo"/>
              </a:rPr>
              <a:t>x: string | number | null</a:t>
            </a:r>
          </a:p>
        </p:txBody>
      </p:sp>
      <p:cxnSp>
        <p:nvCxnSpPr>
          <p:cNvPr id="15" name="Connector 14"/>
          <p:cNvCxnSpPr/>
          <p:nvPr/>
        </p:nvCxnSpPr>
        <p:spPr>
          <a:xfrm>
            <a:off x="301889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1272540"/>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1272540"/>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x === null</a:t>
            </a:r>
          </a:p>
          <a:p>
            <a:pPr algn="ctr">
              <a:lnSpc>
                <a:spcPct val="110000"/>
              </a:lnSpc>
            </a:pPr>
            <a:r>
              <a:rPr sz="1300" i="0" b="0">
                <a:solidFill>
                  <a:srgbClr val="E8F4F8"/>
                </a:solidFill>
                <a:latin typeface="Helvetica Neue"/>
              </a:rPr>
              <a:t>yes: </a:t>
            </a:r>
            <a:r>
              <a:rPr sz="1300" i="0" b="0">
                <a:solidFill>
                  <a:srgbClr val="E8F4F8"/>
                </a:solidFill>
                <a:latin typeface="Menlo"/>
              </a:rPr>
              <a:t>x: null</a:t>
            </a:r>
            <a:r>
              <a:rPr sz="1300" i="0" b="0">
                <a:solidFill>
                  <a:srgbClr val="E8F4F8"/>
                </a:solidFill>
                <a:latin typeface="Helvetica Neue"/>
              </a:rPr>
              <a:t>. no: </a:t>
            </a:r>
            <a:r>
              <a:rPr sz="1300" i="0" b="0">
                <a:solidFill>
                  <a:srgbClr val="E8F4F8"/>
                </a:solidFill>
                <a:latin typeface="Menlo"/>
              </a:rPr>
              <a:t>string | number</a:t>
            </a:r>
          </a:p>
        </p:txBody>
      </p:sp>
      <p:cxnSp>
        <p:nvCxnSpPr>
          <p:cNvPr id="18" name="Connector 17"/>
          <p:cNvCxnSpPr/>
          <p:nvPr/>
        </p:nvCxnSpPr>
        <p:spPr>
          <a:xfrm>
            <a:off x="589925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1272540"/>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1272540"/>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typeof x === 'string'</a:t>
            </a:r>
          </a:p>
          <a:p>
            <a:pPr algn="ctr">
              <a:lnSpc>
                <a:spcPct val="110000"/>
              </a:lnSpc>
            </a:pPr>
            <a:r>
              <a:rPr sz="1300" i="0" b="0">
                <a:solidFill>
                  <a:srgbClr val="E8F4F8"/>
                </a:solidFill>
                <a:latin typeface="Helvetica Neue"/>
              </a:rPr>
              <a:t>yes: </a:t>
            </a:r>
            <a:r>
              <a:rPr sz="1300" i="0" b="0">
                <a:solidFill>
                  <a:srgbClr val="E8F4F8"/>
                </a:solidFill>
                <a:latin typeface="Menlo"/>
              </a:rPr>
              <a:t>x: string</a:t>
            </a:r>
          </a:p>
        </p:txBody>
      </p:sp>
      <p:cxnSp>
        <p:nvCxnSpPr>
          <p:cNvPr id="21" name="Connector 20"/>
          <p:cNvCxnSpPr/>
          <p:nvPr/>
        </p:nvCxnSpPr>
        <p:spPr>
          <a:xfrm>
            <a:off x="8779611" y="2199894"/>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1272540"/>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1272540"/>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The rest</a:t>
            </a:r>
          </a:p>
          <a:p>
            <a:pPr algn="ctr">
              <a:lnSpc>
                <a:spcPct val="110000"/>
              </a:lnSpc>
            </a:pPr>
            <a:r>
              <a:rPr sz="1300" i="0" b="0">
                <a:solidFill>
                  <a:srgbClr val="E8F4F8"/>
                </a:solidFill>
                <a:latin typeface="Helvetica Neue"/>
              </a:rPr>
              <a:t>only </a:t>
            </a:r>
            <a:r>
              <a:rPr sz="1300" i="0" b="0">
                <a:solidFill>
                  <a:srgbClr val="E8F4F8"/>
                </a:solidFill>
                <a:latin typeface="Menlo"/>
              </a:rPr>
              <a:t>x: number</a:t>
            </a:r>
            <a:r>
              <a:rPr sz="1300" i="0" b="0">
                <a:solidFill>
                  <a:srgbClr val="E8F4F8"/>
                </a:solidFill>
                <a:latin typeface="Helvetica Neue"/>
              </a:rPr>
              <a:t> is left</a:t>
            </a:r>
          </a:p>
        </p:txBody>
      </p:sp>
      <p:sp>
        <p:nvSpPr>
          <p:cNvPr id="24" name="TextBox 23"/>
          <p:cNvSpPr txBox="1"/>
          <p:nvPr/>
        </p:nvSpPr>
        <p:spPr>
          <a:xfrm>
            <a:off x="502920" y="3156204"/>
            <a:ext cx="11185855" cy="2330195"/>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The checker follows your control flow, so guard clauses with an early </a:t>
            </a:r>
            <a:r>
              <a:rPr sz="1530" i="0" b="0">
                <a:solidFill>
                  <a:srgbClr val="0F7490"/>
                </a:solidFill>
                <a:latin typeface="Menlo"/>
              </a:rPr>
              <a:t>return</a:t>
            </a:r>
            <a:r>
              <a:rPr sz="1700" i="0" b="0">
                <a:solidFill>
                  <a:srgbClr val="475569"/>
                </a:solidFill>
                <a:latin typeface="Helvetica Neue"/>
              </a:rPr>
              <a:t> narrow everything after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How do you make a switch exhaustive?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Discriminated unions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The runtime and the checker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notes/03-unions-and-narrowing.md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Give each member a literal </a:t>
            </a:r>
            <a:r>
              <a:rPr sz="1260" i="0" b="1">
                <a:solidFill>
                  <a:srgbClr val="1E3A5F"/>
                </a:solidFill>
                <a:latin typeface="Menlo"/>
              </a:rPr>
              <a:t>kind</a:t>
            </a:r>
            <a:r>
              <a:rPr sz="1400" i="0" b="1">
                <a:solidFill>
                  <a:srgbClr val="1E3A5F"/>
                </a:solidFill>
                <a:latin typeface="Helvetica Neue"/>
              </a:rPr>
              <a:t> and assign the </a:t>
            </a:r>
            <a:r>
              <a:rPr sz="1260" i="0" b="1">
                <a:solidFill>
                  <a:srgbClr val="1E3A5F"/>
                </a:solidFill>
                <a:latin typeface="Menlo"/>
              </a:rPr>
              <a:t>default</a:t>
            </a:r>
            <a:r>
              <a:rPr sz="1400" i="0" b="1">
                <a:solidFill>
                  <a:srgbClr val="1E3A5F"/>
                </a:solidFill>
                <a:latin typeface="Helvetica Neue"/>
              </a:rPr>
              <a:t> branch to </a:t>
            </a:r>
            <a:r>
              <a:rPr sz="1260" i="0" b="1">
                <a:solidFill>
                  <a:srgbClr val="1E3A5F"/>
                </a:solidFill>
                <a:latin typeface="Menlo"/>
              </a:rPr>
              <a:t>never</a:t>
            </a:r>
            <a:r>
              <a:rPr sz="1400" i="0" b="1">
                <a:solidFill>
                  <a:srgbClr val="1E3A5F"/>
                </a:solidFill>
                <a:latin typeface="Helvetica Neue"/>
              </a:rPr>
              <a:t>, so a new member becomes a compile error.</a:t>
            </a:r>
          </a:p>
        </p:txBody>
      </p:sp>
      <p:sp>
        <p:nvSpPr>
          <p:cNvPr id="13" name="Rounded Rectangle 12"/>
          <p:cNvSpPr/>
          <p:nvPr/>
        </p:nvSpPr>
        <p:spPr>
          <a:xfrm>
            <a:off x="502920" y="1472184"/>
            <a:ext cx="11185855" cy="3886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TS</a:t>
            </a:r>
          </a:p>
        </p:txBody>
      </p:sp>
      <p:sp>
        <p:nvSpPr>
          <p:cNvPr id="15" name="TextBox 14"/>
          <p:cNvSpPr txBox="1"/>
          <p:nvPr/>
        </p:nvSpPr>
        <p:spPr>
          <a:xfrm>
            <a:off x="731520" y="1883664"/>
            <a:ext cx="10728655" cy="3246120"/>
          </a:xfrm>
          <a:prstGeom prst="rect">
            <a:avLst/>
          </a:prstGeom>
          <a:noFill/>
        </p:spPr>
        <p:txBody>
          <a:bodyPr wrap="square" lIns="0" rIns="0" tIns="0" bIns="0" anchor="t">
            <a:noAutofit/>
          </a:bodyPr>
          <a:lstStyle/>
          <a:p>
            <a:pPr algn="l">
              <a:lnSpc>
                <a:spcPct val="100000"/>
              </a:lnSpc>
            </a:pPr>
            <a:r>
              <a:rPr sz="1500" i="0" b="0">
                <a:solidFill>
                  <a:srgbClr val="E2E8F0"/>
                </a:solidFill>
                <a:latin typeface="Menlo"/>
              </a:rPr>
              <a:t>type Shape =</a:t>
            </a:r>
          </a:p>
          <a:p>
            <a:pPr algn="l">
              <a:lnSpc>
                <a:spcPct val="100000"/>
              </a:lnSpc>
            </a:pPr>
            <a:r>
              <a:rPr sz="1500" i="0" b="0">
                <a:solidFill>
                  <a:srgbClr val="E2E8F0"/>
                </a:solidFill>
                <a:latin typeface="Menlo"/>
              </a:rPr>
              <a:t>  | { kind: 'circle'; radius: number }</a:t>
            </a:r>
          </a:p>
          <a:p>
            <a:pPr algn="l">
              <a:lnSpc>
                <a:spcPct val="100000"/>
              </a:lnSpc>
            </a:pPr>
            <a:r>
              <a:rPr sz="1500" i="0" b="0">
                <a:solidFill>
                  <a:srgbClr val="E2E8F0"/>
                </a:solidFill>
                <a:latin typeface="Menlo"/>
              </a:rPr>
              <a:t>  | { kind: 'rect'; width: number; height: number };</a:t>
            </a:r>
          </a:p>
          <a:p>
            <a:pPr algn="l">
              <a:lnSpc>
                <a:spcPct val="100000"/>
              </a:lnSpc>
            </a:pPr>
          </a:p>
          <a:p>
            <a:pPr algn="l">
              <a:lnSpc>
                <a:spcPct val="100000"/>
              </a:lnSpc>
            </a:pPr>
            <a:r>
              <a:rPr sz="1500" i="0" b="0">
                <a:solidFill>
                  <a:srgbClr val="E2E8F0"/>
                </a:solidFill>
                <a:latin typeface="Menlo"/>
              </a:rPr>
              <a:t>function area(s: Shape): number {</a:t>
            </a:r>
          </a:p>
          <a:p>
            <a:pPr algn="l">
              <a:lnSpc>
                <a:spcPct val="100000"/>
              </a:lnSpc>
            </a:pPr>
            <a:r>
              <a:rPr sz="1500" i="0" b="0">
                <a:solidFill>
                  <a:srgbClr val="E2E8F0"/>
                </a:solidFill>
                <a:latin typeface="Menlo"/>
              </a:rPr>
              <a:t>  switch (s.kind) {</a:t>
            </a:r>
          </a:p>
          <a:p>
            <a:pPr algn="l">
              <a:lnSpc>
                <a:spcPct val="100000"/>
              </a:lnSpc>
            </a:pPr>
            <a:r>
              <a:rPr sz="1500" i="0" b="0">
                <a:solidFill>
                  <a:srgbClr val="E2E8F0"/>
                </a:solidFill>
                <a:latin typeface="Menlo"/>
              </a:rPr>
              <a:t>    case 'circle': return Math.PI * s.radius ** 2;</a:t>
            </a:r>
          </a:p>
          <a:p>
            <a:pPr algn="l">
              <a:lnSpc>
                <a:spcPct val="100000"/>
              </a:lnSpc>
            </a:pPr>
            <a:r>
              <a:rPr sz="1500" i="0" b="0">
                <a:solidFill>
                  <a:srgbClr val="E2E8F0"/>
                </a:solidFill>
                <a:latin typeface="Menlo"/>
              </a:rPr>
              <a:t>    case 'rect':   return s.width * s.height;</a:t>
            </a:r>
          </a:p>
          <a:p>
            <a:pPr algn="l">
              <a:lnSpc>
                <a:spcPct val="100000"/>
              </a:lnSpc>
            </a:pPr>
            <a:r>
              <a:rPr sz="1500" i="0" b="0">
                <a:solidFill>
                  <a:srgbClr val="E2E8F0"/>
                </a:solidFill>
                <a:latin typeface="Menlo"/>
              </a:rPr>
              <a:t>    default: {</a:t>
            </a:r>
          </a:p>
          <a:p>
            <a:pPr algn="l">
              <a:lnSpc>
                <a:spcPct val="100000"/>
              </a:lnSpc>
            </a:pPr>
            <a:r>
              <a:rPr sz="1500" i="0" b="0">
                <a:solidFill>
                  <a:srgbClr val="E2E8F0"/>
                </a:solidFill>
                <a:latin typeface="Menlo"/>
              </a:rPr>
              <a:t>      const unreachable: never = s;   // compile error if a member is forgotten</a:t>
            </a:r>
          </a:p>
          <a:p>
            <a:pPr algn="l">
              <a:lnSpc>
                <a:spcPct val="100000"/>
              </a:lnSpc>
            </a:pPr>
            <a:r>
              <a:rPr sz="1500" i="0" b="0">
                <a:solidFill>
                  <a:srgbClr val="E2E8F0"/>
                </a:solidFill>
                <a:latin typeface="Menlo"/>
              </a:rPr>
              <a:t>      throw new Error('unhandled: ' + JSON.stringify(unreachable));</a:t>
            </a:r>
          </a:p>
          <a:p>
            <a:pPr algn="l">
              <a:lnSpc>
                <a:spcPct val="100000"/>
              </a:lnSpc>
            </a:pPr>
            <a:r>
              <a:rPr sz="1500" i="0" b="0">
                <a:solidFill>
                  <a:srgbClr val="E2E8F0"/>
                </a:solidFill>
                <a:latin typeface="Menlo"/>
              </a:rPr>
              <a:t>    }</a:t>
            </a:r>
          </a:p>
          <a:p>
            <a:pPr algn="l">
              <a:lnSpc>
                <a:spcPct val="100000"/>
              </a:lnSpc>
            </a:pPr>
            <a:r>
              <a:rPr sz="1500" i="0" b="0">
                <a:solidFill>
                  <a:srgbClr val="E2E8F0"/>
                </a:solidFill>
                <a:latin typeface="Menlo"/>
              </a:rPr>
              <a:t>  }</a:t>
            </a:r>
          </a:p>
          <a:p>
            <a:pPr algn="l">
              <a:lnSpc>
                <a:spcPct val="100000"/>
              </a:lnSpc>
            </a:pPr>
            <a:r>
              <a:rPr sz="1500" i="0" b="0">
                <a:solidFill>
                  <a:srgbClr val="E2E8F0"/>
                </a:solidFill>
                <a:latin typeface="Menlo"/>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Types from types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Generics · keyof · Utility types · Mapped types · Conditional types · When to stop</a:t>
            </a:r>
          </a:p>
        </p:txBody>
      </p:sp>
      <p:cxnSp>
        <p:nvCxnSpPr>
          <p:cNvPr id="6" name="Connector 5"/>
          <p:cNvCxnSpPr/>
          <p:nvPr/>
        </p:nvCxnSpPr>
        <p:spPr>
          <a:xfrm>
            <a:off x="6446520" y="2349500"/>
            <a:ext cx="0" cy="215900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349500"/>
            <a:ext cx="4693615" cy="234188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Why not type the helper as any?</a:t>
            </a:r>
          </a:p>
          <a:p>
            <a:pPr algn="l">
              <a:lnSpc>
                <a:spcPct val="100000"/>
              </a:lnSpc>
              <a:spcBef>
                <a:spcPts val="1189"/>
              </a:spcBef>
            </a:pPr>
            <a:r>
              <a:rPr sz="1700" i="0" b="0">
                <a:solidFill>
                  <a:srgbClr val="CBD5E1"/>
                </a:solidFill>
                <a:latin typeface="Helvetica Neue"/>
              </a:rPr>
              <a:t>How do you type a safe property getter?</a:t>
            </a:r>
          </a:p>
          <a:p>
            <a:pPr algn="l">
              <a:lnSpc>
                <a:spcPct val="100000"/>
              </a:lnSpc>
              <a:spcBef>
                <a:spcPts val="1189"/>
              </a:spcBef>
            </a:pPr>
            <a:r>
              <a:rPr sz="1700" i="0" b="0">
                <a:solidFill>
                  <a:srgbClr val="CBD5E1"/>
                </a:solidFill>
                <a:latin typeface="Helvetica Neue"/>
              </a:rPr>
              <a:t>Which utility types do you use weekly?</a:t>
            </a:r>
          </a:p>
          <a:p>
            <a:pPr algn="l">
              <a:lnSpc>
                <a:spcPct val="100000"/>
              </a:lnSpc>
              <a:spcBef>
                <a:spcPts val="1189"/>
              </a:spcBef>
            </a:pPr>
            <a:r>
              <a:rPr sz="1700" i="0" b="0">
                <a:solidFill>
                  <a:srgbClr val="CBD5E1"/>
                </a:solidFill>
                <a:latin typeface="Helvetica Neue"/>
              </a:rPr>
              <a:t>How does a mapped type build a new type?</a:t>
            </a:r>
          </a:p>
          <a:p>
            <a:pPr algn="l">
              <a:lnSpc>
                <a:spcPct val="100000"/>
              </a:lnSpc>
              <a:spcBef>
                <a:spcPts val="1189"/>
              </a:spcBef>
            </a:pPr>
            <a:r>
              <a:rPr sz="1700" i="0" b="0">
                <a:solidFill>
                  <a:srgbClr val="CBD5E1"/>
                </a:solidFill>
                <a:latin typeface="Helvetica Neue"/>
              </a:rPr>
              <a:t>What do infer and distribution do in a conditional type?</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Why not type the helper as any?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Types from types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notes/04-generics.md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generic works for many types without forgetting which it was given. Write a type once and derive the rest.</a:t>
            </a:r>
          </a:p>
        </p:txBody>
      </p:sp>
      <p:sp>
        <p:nvSpPr>
          <p:cNvPr id="13" name="Rectangle 12"/>
          <p:cNvSpPr/>
          <p:nvPr/>
        </p:nvSpPr>
        <p:spPr>
          <a:xfrm>
            <a:off x="777240" y="1997964"/>
            <a:ext cx="109728" cy="25054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240" i="0" b="1">
                <a:solidFill>
                  <a:srgbClr val="0F7490"/>
                </a:solidFill>
                <a:latin typeface="Menlo"/>
              </a:rPr>
              <a:t>first(xs: any[]): any</a:t>
            </a:r>
            <a:r>
              <a:rPr sz="3600" i="0" b="1">
                <a:solidFill>
                  <a:srgbClr val="1E3A5F"/>
                </a:solidFill>
                <a:latin typeface="Helvetica Neue"/>
              </a:rPr>
              <a:t> works for every array and forgets what it was given. Copying a type by hand for each variant drifts out of date.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How do you type a safe property getter?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Generics and keyof</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Types from types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notes/04-generics.md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60" i="0" b="1">
                <a:solidFill>
                  <a:srgbClr val="1E3A5F"/>
                </a:solidFill>
                <a:latin typeface="Menlo"/>
              </a:rPr>
              <a:t>keyof T</a:t>
            </a:r>
            <a:r>
              <a:rPr sz="1400" i="0" b="1">
                <a:solidFill>
                  <a:srgbClr val="1E3A5F"/>
                </a:solidFill>
                <a:latin typeface="Helvetica Neue"/>
              </a:rPr>
              <a:t> is the union of keys and </a:t>
            </a:r>
            <a:r>
              <a:rPr sz="1260" i="0" b="1">
                <a:solidFill>
                  <a:srgbClr val="1E3A5F"/>
                </a:solidFill>
                <a:latin typeface="Menlo"/>
              </a:rPr>
              <a:t>T[K]</a:t>
            </a:r>
            <a:r>
              <a:rPr sz="1400" i="0" b="1">
                <a:solidFill>
                  <a:srgbClr val="1E3A5F"/>
                </a:solidFill>
                <a:latin typeface="Helvetica Neue"/>
              </a:rPr>
              <a:t> is that property's type. A type parameter should appear at least twice.</a:t>
            </a:r>
          </a:p>
        </p:txBody>
      </p:sp>
      <p:sp>
        <p:nvSpPr>
          <p:cNvPr id="13" name="Rounded Rectangle 12"/>
          <p:cNvSpPr/>
          <p:nvPr/>
        </p:nvSpPr>
        <p:spPr>
          <a:xfrm>
            <a:off x="502920" y="1472184"/>
            <a:ext cx="11185855"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TS</a:t>
            </a:r>
          </a:p>
        </p:txBody>
      </p:sp>
      <p:sp>
        <p:nvSpPr>
          <p:cNvPr id="15" name="TextBox 14"/>
          <p:cNvSpPr txBox="1"/>
          <p:nvPr/>
        </p:nvSpPr>
        <p:spPr>
          <a:xfrm>
            <a:off x="731520" y="1883664"/>
            <a:ext cx="10728655"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function get&lt;T, K extends keyof T&gt;(obj: T, key: K): T[K] {</a:t>
            </a:r>
          </a:p>
          <a:p>
            <a:pPr algn="l">
              <a:lnSpc>
                <a:spcPct val="100000"/>
              </a:lnSpc>
            </a:pPr>
            <a:r>
              <a:rPr sz="1600" i="0" b="0">
                <a:solidFill>
                  <a:srgbClr val="E2E8F0"/>
                </a:solidFill>
                <a:latin typeface="Menlo"/>
              </a:rPr>
              <a:t>  return obj[key];</a:t>
            </a:r>
          </a:p>
          <a:p>
            <a:pPr algn="l">
              <a:lnSpc>
                <a:spcPct val="100000"/>
              </a:lnSpc>
            </a:pPr>
            <a:r>
              <a:rPr sz="1600" i="0" b="0">
                <a:solidFill>
                  <a:srgbClr val="E2E8F0"/>
                </a:solidFill>
                <a:latin typeface="Menlo"/>
              </a:rPr>
              <a:t>}</a:t>
            </a:r>
          </a:p>
          <a:p>
            <a:pPr algn="l">
              <a:lnSpc>
                <a:spcPct val="100000"/>
              </a:lnSpc>
            </a:pPr>
            <a:r>
              <a:rPr sz="1600" i="0" b="0">
                <a:solidFill>
                  <a:srgbClr val="E2E8F0"/>
                </a:solidFill>
                <a:latin typeface="Menlo"/>
              </a:rPr>
              <a:t>const user = { id: 1, name: 'Ada' };</a:t>
            </a:r>
          </a:p>
          <a:p>
            <a:pPr algn="l">
              <a:lnSpc>
                <a:spcPct val="100000"/>
              </a:lnSpc>
            </a:pPr>
            <a:r>
              <a:rPr sz="1600" i="0" b="0">
                <a:solidFill>
                  <a:srgbClr val="E2E8F0"/>
                </a:solidFill>
                <a:latin typeface="Menlo"/>
              </a:rPr>
              <a:t>get(user, 'name');   // string</a:t>
            </a:r>
          </a:p>
          <a:p>
            <a:pPr algn="l">
              <a:lnSpc>
                <a:spcPct val="100000"/>
              </a:lnSpc>
            </a:pPr>
            <a:r>
              <a:rPr sz="1600" i="0" b="0">
                <a:solidFill>
                  <a:srgbClr val="E2E8F0"/>
                </a:solidFill>
                <a:latin typeface="Menlo"/>
              </a:rPr>
              <a:t>get(user, 'nope');   // error: not a key of the object</a:t>
            </a:r>
          </a:p>
          <a:p>
            <a:pPr algn="l">
              <a:lnSpc>
                <a:spcPct val="100000"/>
              </a:lnSpc>
            </a:pPr>
          </a:p>
          <a:p>
            <a:pPr algn="l">
              <a:lnSpc>
                <a:spcPct val="100000"/>
              </a:lnSpc>
            </a:pPr>
            <a:r>
              <a:rPr sz="1600" i="0" b="0">
                <a:solidFill>
                  <a:srgbClr val="E2E8F0"/>
                </a:solidFill>
                <a:latin typeface="Menlo"/>
              </a:rPr>
              <a:t>type Result&lt;T, E = string&gt; = { ok: true; value: T } | { ok: false; error: 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Which utility types do you use weekly?</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Utility types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Types from types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notes/05-type-transformations.md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Derive payload and wrapper types with </a:t>
            </a:r>
            <a:r>
              <a:rPr sz="1350" i="0" b="1">
                <a:solidFill>
                  <a:srgbClr val="1E3A5F"/>
                </a:solidFill>
                <a:latin typeface="Menlo"/>
              </a:rPr>
              <a:t>Partial</a:t>
            </a:r>
            <a:r>
              <a:rPr sz="1500" i="0" b="1">
                <a:solidFill>
                  <a:srgbClr val="1E3A5F"/>
                </a:solidFill>
                <a:latin typeface="Helvetica Neue"/>
              </a:rPr>
              <a:t>, </a:t>
            </a:r>
            <a:r>
              <a:rPr sz="1350" i="0" b="1">
                <a:solidFill>
                  <a:srgbClr val="1E3A5F"/>
                </a:solidFill>
                <a:latin typeface="Menlo"/>
              </a:rPr>
              <a:t>Pick</a:t>
            </a:r>
            <a:r>
              <a:rPr sz="1500" i="0" b="1">
                <a:solidFill>
                  <a:srgbClr val="1E3A5F"/>
                </a:solidFill>
                <a:latin typeface="Helvetica Neue"/>
              </a:rPr>
              <a:t>, </a:t>
            </a:r>
            <a:r>
              <a:rPr sz="1350" i="0" b="1">
                <a:solidFill>
                  <a:srgbClr val="1E3A5F"/>
                </a:solidFill>
                <a:latin typeface="Menlo"/>
              </a:rPr>
              <a:t>Omit</a:t>
            </a:r>
            <a:r>
              <a:rPr sz="1500" i="0" b="1">
                <a:solidFill>
                  <a:srgbClr val="1E3A5F"/>
                </a:solidFill>
                <a:latin typeface="Helvetica Neue"/>
              </a:rPr>
              <a:t> and </a:t>
            </a:r>
            <a:r>
              <a:rPr sz="1350" i="0" b="1">
                <a:solidFill>
                  <a:srgbClr val="1E3A5F"/>
                </a:solidFill>
                <a:latin typeface="Menlo"/>
              </a:rPr>
              <a:t>ReturnType</a:t>
            </a:r>
            <a:r>
              <a:rPr sz="1500" i="0" b="1">
                <a:solidFill>
                  <a:srgbClr val="1E3A5F"/>
                </a:solidFill>
                <a:latin typeface="Helvetica Neue"/>
              </a:rPr>
              <a:t> rather than repeating fields.</a:t>
            </a:r>
          </a:p>
        </p:txBody>
      </p:sp>
      <p:graphicFrame>
        <p:nvGraphicFramePr>
          <p:cNvPr id="13" name="Table 12"/>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3381770"/>
                <a:gridCol w="3902042"/>
                <a:gridCol w="3902042"/>
              </a:tblGrid>
              <a:tr h="405384">
                <a:tc>
                  <a:txBody>
                    <a:bodyPr wrap="square"/>
                    <a:lstStyle/>
                    <a:p>
                      <a:pPr>
                        <a:lnSpc>
                          <a:spcPct val="100000"/>
                        </a:lnSpc>
                      </a:pPr>
                      <a:r>
                        <a:rPr sz="1700" i="0" b="1">
                          <a:solidFill>
                            <a:srgbClr val="FFFFFF"/>
                          </a:solidFill>
                          <a:latin typeface="Helvetica Neue"/>
                        </a:rPr>
                        <a:t>Utility</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Result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Typical use</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Partial&lt;T&gt;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Every property optional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Update payloads</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Pick&lt;T, 'a'&gt;</a:t>
                      </a:r>
                      <a:r>
                        <a:rPr sz="1700" i="0" b="1">
                          <a:solidFill>
                            <a:srgbClr val="1E293B"/>
                          </a:solidFill>
                          <a:latin typeface="Helvetica Neue"/>
                        </a:rPr>
                        <a:t>, </a:t>
                      </a:r>
                      <a:r>
                        <a:rPr sz="1530" i="0" b="1">
                          <a:solidFill>
                            <a:srgbClr val="0F7490"/>
                          </a:solidFill>
                          <a:latin typeface="Menlo"/>
                        </a:rPr>
                        <a:t>Omit&lt;T, 'id'&gt;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Keep or drop keys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View models, create payloads</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Record&lt;K, V&gt;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Keys </a:t>
                      </a:r>
                      <a:r>
                        <a:rPr sz="1530" i="0" b="0">
                          <a:solidFill>
                            <a:srgbClr val="0F7490"/>
                          </a:solidFill>
                          <a:latin typeface="Menlo"/>
                        </a:rPr>
                        <a:t>K</a:t>
                      </a:r>
                      <a:r>
                        <a:rPr sz="1700" i="0" b="0">
                          <a:solidFill>
                            <a:srgbClr val="475569"/>
                          </a:solidFill>
                          <a:latin typeface="Helvetica Neue"/>
                        </a:rPr>
                        <a:t>, values </a:t>
                      </a:r>
                      <a:r>
                        <a:rPr sz="1530" i="0" b="0">
                          <a:solidFill>
                            <a:srgbClr val="0F7490"/>
                          </a:solidFill>
                          <a:latin typeface="Menlo"/>
                        </a:rPr>
                        <a:t>V</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Lookup tables</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Exclude&lt;U, X&gt;</a:t>
                      </a:r>
                      <a:r>
                        <a:rPr sz="1700" i="0" b="1">
                          <a:solidFill>
                            <a:srgbClr val="1E293B"/>
                          </a:solidFill>
                          <a:latin typeface="Helvetica Neue"/>
                        </a:rPr>
                        <a:t>, </a:t>
                      </a:r>
                      <a:r>
                        <a:rPr sz="1530" i="0" b="1">
                          <a:solidFill>
                            <a:srgbClr val="0F7490"/>
                          </a:solidFill>
                          <a:latin typeface="Menlo"/>
                        </a:rPr>
                        <a:t>Extract&lt;U, X&gt;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Remove or keep union members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Filtering kinds</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ReturnType&lt;F&gt;</a:t>
                      </a:r>
                      <a:r>
                        <a:rPr sz="1700" i="0" b="1">
                          <a:solidFill>
                            <a:srgbClr val="1E293B"/>
                          </a:solidFill>
                          <a:latin typeface="Helvetica Neue"/>
                        </a:rPr>
                        <a:t>, </a:t>
                      </a:r>
                      <a:r>
                        <a:rPr sz="1530" i="0" b="1">
                          <a:solidFill>
                            <a:srgbClr val="0F7490"/>
                          </a:solidFill>
                          <a:latin typeface="Menlo"/>
                        </a:rPr>
                        <a:t>Parameters&lt;F&gt;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function's output and input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Typing wrappers</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Awaited&lt;T&gt;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Unwrap a </a:t>
                      </a:r>
                      <a:r>
                        <a:rPr sz="1530" i="0" b="0">
                          <a:solidFill>
                            <a:srgbClr val="0F7490"/>
                          </a:solidFill>
                          <a:latin typeface="Menlo"/>
                        </a:rPr>
                        <a:t>Promise</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Awaited&lt;ReturnType&lt;typeof f&gt;&gt;</a:t>
                      </a:r>
                    </a:p>
                  </a:txBody>
                  <a:tcPr marL="109728" marR="109728" marT="54864" marB="54864" anchor="ctr">
                    <a:solidFill>
                      <a:srgbClr val="F8FA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How does a mapped type build a new type?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Mapped types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Types from types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notes/05-type-transformations.md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mapped type loops over keys to build a new object type. </a:t>
            </a:r>
            <a:r>
              <a:rPr sz="1440" i="0" b="1">
                <a:solidFill>
                  <a:srgbClr val="1E3A5F"/>
                </a:solidFill>
                <a:latin typeface="Menlo"/>
              </a:rPr>
              <a:t>Required</a:t>
            </a:r>
            <a:r>
              <a:rPr sz="1600" i="0" b="1">
                <a:solidFill>
                  <a:srgbClr val="1E3A5F"/>
                </a:solidFill>
                <a:latin typeface="Helvetica Neue"/>
              </a:rPr>
              <a:t> and </a:t>
            </a:r>
            <a:r>
              <a:rPr sz="1440" i="0" b="1">
                <a:solidFill>
                  <a:srgbClr val="1E3A5F"/>
                </a:solidFill>
                <a:latin typeface="Menlo"/>
              </a:rPr>
              <a:t>Readonly</a:t>
            </a:r>
            <a:r>
              <a:rPr sz="1600" i="0" b="1">
                <a:solidFill>
                  <a:srgbClr val="1E3A5F"/>
                </a:solidFill>
                <a:latin typeface="Helvetica Neue"/>
              </a:rPr>
              <a:t> are built this way.</a:t>
            </a:r>
          </a:p>
        </p:txBody>
      </p:sp>
      <p:sp>
        <p:nvSpPr>
          <p:cNvPr id="13" name="Rounded Rectangle 12"/>
          <p:cNvSpPr/>
          <p:nvPr/>
        </p:nvSpPr>
        <p:spPr>
          <a:xfrm>
            <a:off x="586587" y="1563624"/>
            <a:ext cx="2377440" cy="98755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987552"/>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keyof T</a:t>
            </a:r>
          </a:p>
          <a:p>
            <a:pPr algn="ctr">
              <a:lnSpc>
                <a:spcPct val="110000"/>
              </a:lnSpc>
            </a:pPr>
            <a:r>
              <a:rPr sz="1300" i="0" b="0">
                <a:solidFill>
                  <a:srgbClr val="E8F4F8"/>
                </a:solidFill>
                <a:latin typeface="Helvetica Neue"/>
              </a:rPr>
              <a:t>the union of keys</a:t>
            </a:r>
          </a:p>
        </p:txBody>
      </p:sp>
      <p:cxnSp>
        <p:nvCxnSpPr>
          <p:cNvPr id="15" name="Connector 14"/>
          <p:cNvCxnSpPr/>
          <p:nvPr/>
        </p:nvCxnSpPr>
        <p:spPr>
          <a:xfrm>
            <a:off x="301889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98755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987552"/>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K in keyof T</a:t>
            </a:r>
          </a:p>
          <a:p>
            <a:pPr algn="ctr">
              <a:lnSpc>
                <a:spcPct val="110000"/>
              </a:lnSpc>
            </a:pPr>
            <a:r>
              <a:rPr sz="1300" i="0" b="0">
                <a:solidFill>
                  <a:srgbClr val="E8F4F8"/>
                </a:solidFill>
                <a:latin typeface="Helvetica Neue"/>
              </a:rPr>
              <a:t>loop over them</a:t>
            </a:r>
          </a:p>
        </p:txBody>
      </p:sp>
      <p:cxnSp>
        <p:nvCxnSpPr>
          <p:cNvPr id="18" name="Connector 17"/>
          <p:cNvCxnSpPr/>
          <p:nvPr/>
        </p:nvCxnSpPr>
        <p:spPr>
          <a:xfrm>
            <a:off x="589925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98755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987552"/>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T[K] | null</a:t>
            </a:r>
          </a:p>
          <a:p>
            <a:pPr algn="ctr">
              <a:lnSpc>
                <a:spcPct val="110000"/>
              </a:lnSpc>
            </a:pPr>
            <a:r>
              <a:rPr sz="1300" i="0" b="0">
                <a:solidFill>
                  <a:srgbClr val="E8F4F8"/>
                </a:solidFill>
                <a:latin typeface="Helvetica Neue"/>
              </a:rPr>
              <a:t>compute each property</a:t>
            </a:r>
          </a:p>
        </p:txBody>
      </p:sp>
      <p:cxnSp>
        <p:nvCxnSpPr>
          <p:cNvPr id="21" name="Connector 20"/>
          <p:cNvCxnSpPr/>
          <p:nvPr/>
        </p:nvCxnSpPr>
        <p:spPr>
          <a:xfrm>
            <a:off x="8779611" y="205740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98755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987552"/>
          </a:xfrm>
          <a:prstGeom prst="rect">
            <a:avLst/>
          </a:prstGeom>
          <a:noFill/>
        </p:spPr>
        <p:txBody>
          <a:bodyPr wrap="square" lIns="0" rIns="0" tIns="0" bIns="0" anchor="ctr">
            <a:noAutofit/>
          </a:bodyPr>
          <a:lstStyle/>
          <a:p>
            <a:pPr algn="ctr">
              <a:lnSpc>
                <a:spcPct val="110000"/>
              </a:lnSpc>
            </a:pPr>
            <a:r>
              <a:rPr sz="1530" i="0" b="1">
                <a:solidFill>
                  <a:srgbClr val="E8F4F8"/>
                </a:solidFill>
                <a:latin typeface="Menlo"/>
              </a:rPr>
              <a:t>Nullable&lt;T&gt;</a:t>
            </a:r>
          </a:p>
          <a:p>
            <a:pPr algn="ctr">
              <a:lnSpc>
                <a:spcPct val="110000"/>
              </a:lnSpc>
            </a:pPr>
            <a:r>
              <a:rPr sz="1300" i="0" b="0">
                <a:solidFill>
                  <a:srgbClr val="E8F4F8"/>
                </a:solidFill>
                <a:latin typeface="Helvetica Neue"/>
              </a:rPr>
              <a:t>a new object type</a:t>
            </a:r>
          </a:p>
        </p:txBody>
      </p:sp>
      <p:sp>
        <p:nvSpPr>
          <p:cNvPr id="24" name="Rectangle 23"/>
          <p:cNvSpPr/>
          <p:nvPr/>
        </p:nvSpPr>
        <p:spPr>
          <a:xfrm>
            <a:off x="502920" y="2962910"/>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2871216"/>
            <a:ext cx="10865815" cy="409956"/>
          </a:xfrm>
          <a:prstGeom prst="rect">
            <a:avLst/>
          </a:prstGeom>
          <a:noFill/>
        </p:spPr>
        <p:txBody>
          <a:bodyPr wrap="square" lIns="0" rIns="0" tIns="0" bIns="0" anchor="t">
            <a:noAutofit/>
          </a:bodyPr>
          <a:lstStyle/>
          <a:p>
            <a:pPr algn="l">
              <a:lnSpc>
                <a:spcPct val="110000"/>
              </a:lnSpc>
            </a:pPr>
            <a:r>
              <a:rPr sz="1710" i="0" b="0">
                <a:solidFill>
                  <a:srgbClr val="0F7490"/>
                </a:solidFill>
                <a:latin typeface="Menlo"/>
              </a:rPr>
              <a:t>readonly</a:t>
            </a:r>
            <a:r>
              <a:rPr sz="1900" i="0" b="0">
                <a:solidFill>
                  <a:srgbClr val="1E293B"/>
                </a:solidFill>
                <a:latin typeface="Helvetica Neue"/>
              </a:rPr>
              <a:t> and </a:t>
            </a:r>
            <a:r>
              <a:rPr sz="1710" i="0" b="0">
                <a:solidFill>
                  <a:srgbClr val="0F7490"/>
                </a:solidFill>
                <a:latin typeface="Menlo"/>
              </a:rPr>
              <a:t>?</a:t>
            </a:r>
            <a:r>
              <a:rPr sz="1900" i="0" b="0">
                <a:solidFill>
                  <a:srgbClr val="1E293B"/>
                </a:solidFill>
                <a:latin typeface="Helvetica Neue"/>
              </a:rPr>
              <a:t> add modifiers, and </a:t>
            </a:r>
            <a:r>
              <a:rPr sz="1710" i="0" b="0">
                <a:solidFill>
                  <a:srgbClr val="0F7490"/>
                </a:solidFill>
                <a:latin typeface="Menlo"/>
              </a:rPr>
              <a:t>-readonly</a:t>
            </a:r>
            <a:r>
              <a:rPr sz="1900" i="0" b="0">
                <a:solidFill>
                  <a:srgbClr val="1E293B"/>
                </a:solidFill>
                <a:latin typeface="Helvetica Neue"/>
              </a:rPr>
              <a:t> and </a:t>
            </a:r>
            <a:r>
              <a:rPr sz="1710" i="0" b="0">
                <a:solidFill>
                  <a:srgbClr val="0F7490"/>
                </a:solidFill>
                <a:latin typeface="Menlo"/>
              </a:rPr>
              <a:t>-?</a:t>
            </a:r>
            <a:r>
              <a:rPr sz="1900" i="0" b="0">
                <a:solidFill>
                  <a:srgbClr val="1E293B"/>
                </a:solidFill>
                <a:latin typeface="Helvetica Neue"/>
              </a:rPr>
              <a:t> remove them</a:t>
            </a:r>
          </a:p>
        </p:txBody>
      </p:sp>
      <p:sp>
        <p:nvSpPr>
          <p:cNvPr id="26" name="Rectangle 25"/>
          <p:cNvSpPr/>
          <p:nvPr/>
        </p:nvSpPr>
        <p:spPr>
          <a:xfrm>
            <a:off x="502920" y="3426206"/>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334512"/>
            <a:ext cx="10865815" cy="409956"/>
          </a:xfrm>
          <a:prstGeom prst="rect">
            <a:avLst/>
          </a:prstGeom>
          <a:noFill/>
        </p:spPr>
        <p:txBody>
          <a:bodyPr wrap="square" lIns="0" rIns="0" tIns="0" bIns="0" anchor="t">
            <a:noAutofit/>
          </a:bodyPr>
          <a:lstStyle/>
          <a:p>
            <a:pPr algn="l">
              <a:lnSpc>
                <a:spcPct val="110000"/>
              </a:lnSpc>
            </a:pPr>
            <a:r>
              <a:rPr sz="1710" i="0" b="0">
                <a:solidFill>
                  <a:srgbClr val="0F7490"/>
                </a:solidFill>
                <a:latin typeface="Menlo"/>
              </a:rPr>
              <a:t>as</a:t>
            </a:r>
            <a:r>
              <a:rPr sz="1900" i="0" b="0">
                <a:solidFill>
                  <a:srgbClr val="1E293B"/>
                </a:solidFill>
                <a:latin typeface="Helvetica Neue"/>
              </a:rPr>
              <a:t> remaps keys, and mapping a key to </a:t>
            </a:r>
            <a:r>
              <a:rPr sz="1710" i="0" b="0">
                <a:solidFill>
                  <a:srgbClr val="0F7490"/>
                </a:solidFill>
                <a:latin typeface="Menlo"/>
              </a:rPr>
              <a:t>never</a:t>
            </a:r>
            <a:r>
              <a:rPr sz="1900" i="0" b="0">
                <a:solidFill>
                  <a:srgbClr val="1E293B"/>
                </a:solidFill>
                <a:latin typeface="Helvetica Neue"/>
              </a:rPr>
              <a:t> drops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What do infer and distribution do in a conditional type?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Conditional types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Types from types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notes/05-type-transformations.md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60" i="0" b="1">
                <a:solidFill>
                  <a:srgbClr val="1E3A5F"/>
                </a:solidFill>
                <a:latin typeface="Menlo"/>
              </a:rPr>
              <a:t>infer</a:t>
            </a:r>
            <a:r>
              <a:rPr sz="1400" i="0" b="1">
                <a:solidFill>
                  <a:srgbClr val="1E3A5F"/>
                </a:solidFill>
                <a:latin typeface="Helvetica Neue"/>
              </a:rPr>
              <a:t> captures part of a type. A bare type parameter distributes over a union, unless both sides are in brackets.</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infer</a:t>
            </a:r>
          </a:p>
        </p:txBody>
      </p:sp>
      <p:sp>
        <p:nvSpPr>
          <p:cNvPr id="16" name="Rounded Rectangle 15"/>
          <p:cNvSpPr/>
          <p:nvPr/>
        </p:nvSpPr>
        <p:spPr>
          <a:xfrm>
            <a:off x="731520" y="2231136"/>
            <a:ext cx="4907127" cy="1143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9736"/>
            <a:ext cx="4449927" cy="685800"/>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type ElementOf&lt;T&gt; =</a:t>
            </a:r>
          </a:p>
          <a:p>
            <a:pPr algn="l">
              <a:lnSpc>
                <a:spcPct val="100000"/>
              </a:lnSpc>
            </a:pPr>
            <a:r>
              <a:rPr sz="1400" i="0" b="0">
                <a:solidFill>
                  <a:srgbClr val="E2E8F0"/>
                </a:solidFill>
                <a:latin typeface="Menlo"/>
              </a:rPr>
              <a:t>  T extends readonly (infer E)[]</a:t>
            </a:r>
          </a:p>
          <a:p>
            <a:pPr algn="l">
              <a:lnSpc>
                <a:spcPct val="100000"/>
              </a:lnSpc>
            </a:pPr>
            <a:r>
              <a:rPr sz="1400" i="0" b="0">
                <a:solidFill>
                  <a:srgbClr val="E2E8F0"/>
                </a:solidFill>
                <a:latin typeface="Menlo"/>
              </a:rPr>
              <a:t>    ? E : never;</a:t>
            </a:r>
          </a:p>
        </p:txBody>
      </p:sp>
      <p:sp>
        <p:nvSpPr>
          <p:cNvPr id="18" name="Rectangle 17"/>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Pattern-matches a piece of a type</a:t>
            </a:r>
          </a:p>
        </p:txBody>
      </p:sp>
      <p:sp>
        <p:nvSpPr>
          <p:cNvPr id="20" name="Rectangle 19"/>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Distribution</a:t>
            </a:r>
          </a:p>
        </p:txBody>
      </p:sp>
      <p:sp>
        <p:nvSpPr>
          <p:cNvPr id="23" name="Rounded Rectangle 22"/>
          <p:cNvSpPr/>
          <p:nvPr/>
        </p:nvSpPr>
        <p:spPr>
          <a:xfrm>
            <a:off x="6507327" y="2231136"/>
            <a:ext cx="4907127" cy="1356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5927" y="2459736"/>
            <a:ext cx="4449927" cy="899160"/>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type IsString&lt;T&gt; =</a:t>
            </a:r>
          </a:p>
          <a:p>
            <a:pPr algn="l">
              <a:lnSpc>
                <a:spcPct val="100000"/>
              </a:lnSpc>
            </a:pPr>
            <a:r>
              <a:rPr sz="1400" i="0" b="0">
                <a:solidFill>
                  <a:srgbClr val="E2E8F0"/>
                </a:solidFill>
                <a:latin typeface="Menlo"/>
              </a:rPr>
              <a:t>  T extends string ? true : false;</a:t>
            </a:r>
          </a:p>
          <a:p>
            <a:pPr algn="l">
              <a:lnSpc>
                <a:spcPct val="100000"/>
              </a:lnSpc>
            </a:pPr>
          </a:p>
          <a:p>
            <a:pPr algn="l">
              <a:lnSpc>
                <a:spcPct val="100000"/>
              </a:lnSpc>
            </a:pPr>
            <a:r>
              <a:rPr sz="1400" i="0" b="0">
                <a:solidFill>
                  <a:srgbClr val="E2E8F0"/>
                </a:solidFill>
                <a:latin typeface="Menlo"/>
              </a:rPr>
              <a:t>IsString&lt;string | number&gt;  // boolean</a:t>
            </a:r>
          </a:p>
        </p:txBody>
      </p:sp>
      <p:sp>
        <p:nvSpPr>
          <p:cNvPr id="25" name="Rectangle 24"/>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080" i="0" b="0">
                <a:solidFill>
                  <a:srgbClr val="0F7490"/>
                </a:solidFill>
                <a:latin typeface="Menlo"/>
              </a:rPr>
              <a:t>[T] extends [string]</a:t>
            </a:r>
            <a:r>
              <a:rPr sz="1200" i="0" b="0">
                <a:solidFill>
                  <a:srgbClr val="475569"/>
                </a:solidFill>
                <a:latin typeface="Helvetica Neue"/>
              </a:rPr>
              <a:t> turns it off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Async and the boundary</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event loop · Promise.all · Async bugs · Tooling · Zod · LLM responses</a:t>
            </a:r>
          </a:p>
        </p:txBody>
      </p:sp>
      <p:cxnSp>
        <p:nvCxnSpPr>
          <p:cNvPr id="6" name="Connector 5"/>
          <p:cNvCxnSpPr/>
          <p:nvPr/>
        </p:nvCxnSpPr>
        <p:spPr>
          <a:xfrm>
            <a:off x="6446520" y="1468120"/>
            <a:ext cx="0" cy="3921759"/>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468120"/>
            <a:ext cx="4693615" cy="4104640"/>
          </a:xfrm>
          <a:prstGeom prst="rect">
            <a:avLst/>
          </a:prstGeom>
          <a:noFill/>
        </p:spPr>
        <p:txBody>
          <a:bodyPr wrap="square" lIns="0" rIns="0" tIns="0" bIns="0" anchor="t">
            <a:noAutofit/>
          </a:bodyPr>
          <a:lstStyle/>
          <a:p>
            <a:pPr algn="l">
              <a:lnSpc>
                <a:spcPct val="100000"/>
              </a:lnSpc>
            </a:pPr>
            <a:r>
              <a:rPr sz="1600" i="0" b="0">
                <a:solidFill>
                  <a:srgbClr val="CBD5E1"/>
                </a:solidFill>
                <a:latin typeface="Helvetica Neue"/>
              </a:rPr>
              <a:t>What makes a network response hard to type?</a:t>
            </a:r>
          </a:p>
          <a:p>
            <a:pPr algn="l">
              <a:lnSpc>
                <a:spcPct val="100000"/>
              </a:lnSpc>
              <a:spcBef>
                <a:spcPts val="1120"/>
              </a:spcBef>
            </a:pPr>
            <a:r>
              <a:rPr sz="1600" i="0" b="0">
                <a:solidFill>
                  <a:srgbClr val="CBD5E1"/>
                </a:solidFill>
                <a:latin typeface="Helvetica Neue"/>
              </a:rPr>
              <a:t>In what order does JavaScript run sync code, promises and timers?</a:t>
            </a:r>
          </a:p>
          <a:p>
            <a:pPr algn="l">
              <a:lnSpc>
                <a:spcPct val="100000"/>
              </a:lnSpc>
              <a:spcBef>
                <a:spcPts val="1120"/>
              </a:spcBef>
            </a:pPr>
            <a:r>
              <a:rPr sz="1600" i="0" b="0">
                <a:solidFill>
                  <a:srgbClr val="CBD5E1"/>
                </a:solidFill>
                <a:latin typeface="Helvetica Neue"/>
              </a:rPr>
              <a:t>How do you run two async calls in parallel?</a:t>
            </a:r>
          </a:p>
          <a:p>
            <a:pPr algn="l">
              <a:lnSpc>
                <a:spcPct val="100000"/>
              </a:lnSpc>
              <a:spcBef>
                <a:spcPts val="1120"/>
              </a:spcBef>
            </a:pPr>
            <a:r>
              <a:rPr sz="1600" i="0" b="0">
                <a:solidFill>
                  <a:srgbClr val="CBD5E1"/>
                </a:solidFill>
                <a:latin typeface="Helvetica Neue"/>
              </a:rPr>
              <a:t>What are the common async bugs?</a:t>
            </a:r>
          </a:p>
          <a:p>
            <a:pPr algn="l">
              <a:lnSpc>
                <a:spcPct val="100000"/>
              </a:lnSpc>
              <a:spcBef>
                <a:spcPts val="1120"/>
              </a:spcBef>
            </a:pPr>
            <a:r>
              <a:rPr sz="1600" i="0" b="0">
                <a:solidFill>
                  <a:srgbClr val="CBD5E1"/>
                </a:solidFill>
                <a:latin typeface="Helvetica Neue"/>
              </a:rPr>
              <a:t>What does a modern TypeScript setup need?</a:t>
            </a:r>
          </a:p>
          <a:p>
            <a:pPr algn="l">
              <a:lnSpc>
                <a:spcPct val="100000"/>
              </a:lnSpc>
              <a:spcBef>
                <a:spcPts val="1120"/>
              </a:spcBef>
            </a:pPr>
            <a:r>
              <a:rPr sz="1600" i="0" b="0">
                <a:solidFill>
                  <a:srgbClr val="CBD5E1"/>
                </a:solidFill>
                <a:latin typeface="Helvetica Neue"/>
              </a:rPr>
              <a:t>How do you get a type and a runtime check from one definition?</a:t>
            </a:r>
          </a:p>
          <a:p>
            <a:pPr algn="l">
              <a:lnSpc>
                <a:spcPct val="100000"/>
              </a:lnSpc>
              <a:spcBef>
                <a:spcPts val="1120"/>
              </a:spcBef>
            </a:pPr>
            <a:r>
              <a:rPr sz="1600" i="0" b="0">
                <a:solidFill>
                  <a:srgbClr val="CBD5E1"/>
                </a:solidFill>
                <a:latin typeface="Helvetica Neue"/>
              </a:rPr>
              <a:t>What should your loop do for each stop_reason?</a:t>
            </a:r>
          </a:p>
          <a:p>
            <a:pPr algn="l">
              <a:lnSpc>
                <a:spcPct val="100000"/>
              </a:lnSpc>
              <a:spcBef>
                <a:spcPts val="1120"/>
              </a:spcBef>
            </a:pPr>
            <a:r>
              <a:rPr sz="1600" i="0" b="0">
                <a:solidFill>
                  <a:srgbClr val="CBD5E1"/>
                </a:solidFill>
                <a:latin typeface="Helvetica Neue"/>
              </a:rPr>
              <a:t>Why must you never assume content[0] is text?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What makes a network response hard to type?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notes/06-async.md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Slow work returns a </a:t>
            </a:r>
            <a:r>
              <a:rPr sz="1440" i="0" b="1">
                <a:solidFill>
                  <a:srgbClr val="1E3A5F"/>
                </a:solidFill>
                <a:latin typeface="Menlo"/>
              </a:rPr>
              <a:t>Promise</a:t>
            </a:r>
            <a:r>
              <a:rPr sz="1600" i="0" b="1">
                <a:solidFill>
                  <a:srgbClr val="1E3A5F"/>
                </a:solidFill>
                <a:latin typeface="Helvetica Neue"/>
              </a:rPr>
              <a:t>, and outside data is </a:t>
            </a:r>
            <a:r>
              <a:rPr sz="1440" i="0" b="1">
                <a:solidFill>
                  <a:srgbClr val="1E3A5F"/>
                </a:solidFill>
                <a:latin typeface="Menlo"/>
              </a:rPr>
              <a:t>unknown</a:t>
            </a:r>
            <a:r>
              <a:rPr sz="1600" i="0" b="1">
                <a:solidFill>
                  <a:srgbClr val="1E3A5F"/>
                </a:solidFill>
                <a:latin typeface="Helvetica Neue"/>
              </a:rPr>
              <a:t> until you parse it at the boundary.</a:t>
            </a:r>
          </a:p>
        </p:txBody>
      </p:sp>
      <p:sp>
        <p:nvSpPr>
          <p:cNvPr id="13" name="Rectangle 12"/>
          <p:cNvSpPr/>
          <p:nvPr/>
        </p:nvSpPr>
        <p:spPr>
          <a:xfrm>
            <a:off x="777240" y="2299716"/>
            <a:ext cx="109728" cy="190195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It arrives later, it can fail, and </a:t>
            </a:r>
            <a:r>
              <a:rPr sz="3240" i="0" b="1">
                <a:solidFill>
                  <a:srgbClr val="0F7490"/>
                </a:solidFill>
                <a:latin typeface="Menlo"/>
              </a:rPr>
              <a:t>as User</a:t>
            </a:r>
            <a:r>
              <a:rPr sz="3600" i="0" b="1">
                <a:solidFill>
                  <a:srgbClr val="1E3A5F"/>
                </a:solidFill>
                <a:latin typeface="Helvetica Neue"/>
              </a:rPr>
              <a:t> compiles without checking a thing. An LLM API is all of that at once.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In what order does JavaScript run sync code, promises and timers?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event loop</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notes/06-async.md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Sync code finishes first, then all microtasks, then the next timer or I/O callback, so a timer of 0 still waits.</a:t>
            </a:r>
          </a:p>
        </p:txBody>
      </p:sp>
      <p:sp>
        <p:nvSpPr>
          <p:cNvPr id="13" name="Rounded Rectangle 12"/>
          <p:cNvSpPr/>
          <p:nvPr/>
        </p:nvSpPr>
        <p:spPr>
          <a:xfrm>
            <a:off x="586587" y="1563624"/>
            <a:ext cx="2377440" cy="1423416"/>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Task</a:t>
            </a:r>
          </a:p>
          <a:p>
            <a:pPr algn="ctr">
              <a:lnSpc>
                <a:spcPct val="110000"/>
              </a:lnSpc>
            </a:pPr>
            <a:r>
              <a:rPr sz="1300" i="0" b="0">
                <a:solidFill>
                  <a:srgbClr val="E8F4F8"/>
                </a:solidFill>
                <a:latin typeface="Helvetica Neue"/>
              </a:rPr>
              <a:t>run until the call stack is empty</a:t>
            </a:r>
          </a:p>
        </p:txBody>
      </p:sp>
      <p:cxnSp>
        <p:nvCxnSpPr>
          <p:cNvPr id="15" name="Connector 14"/>
          <p:cNvCxnSpPr/>
          <p:nvPr/>
        </p:nvCxnSpPr>
        <p:spPr>
          <a:xfrm>
            <a:off x="3018891" y="227533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66947" y="1563624"/>
            <a:ext cx="2377440" cy="1423416"/>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410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Microtasks</a:t>
            </a:r>
          </a:p>
          <a:p>
            <a:pPr algn="ctr">
              <a:lnSpc>
                <a:spcPct val="110000"/>
              </a:lnSpc>
            </a:pPr>
            <a:r>
              <a:rPr sz="1300" i="0" b="0">
                <a:solidFill>
                  <a:srgbClr val="E8F4F8"/>
                </a:solidFill>
                <a:latin typeface="Helvetica Neue"/>
              </a:rPr>
              <a:t>empty the queue: promise callbacks, code after </a:t>
            </a:r>
            <a:r>
              <a:rPr sz="1300" i="0" b="0">
                <a:solidFill>
                  <a:srgbClr val="E8F4F8"/>
                </a:solidFill>
                <a:latin typeface="Menlo"/>
              </a:rPr>
              <a:t>await</a:t>
            </a:r>
          </a:p>
        </p:txBody>
      </p:sp>
      <p:cxnSp>
        <p:nvCxnSpPr>
          <p:cNvPr id="18" name="Connector 17"/>
          <p:cNvCxnSpPr/>
          <p:nvPr/>
        </p:nvCxnSpPr>
        <p:spPr>
          <a:xfrm>
            <a:off x="5899251" y="227533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47307" y="1563624"/>
            <a:ext cx="2377440" cy="1423416"/>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Next task</a:t>
            </a:r>
          </a:p>
          <a:p>
            <a:pPr algn="ctr">
              <a:lnSpc>
                <a:spcPct val="110000"/>
              </a:lnSpc>
            </a:pPr>
            <a:r>
              <a:rPr sz="1300" i="0" b="0">
                <a:solidFill>
                  <a:srgbClr val="E8F4F8"/>
                </a:solidFill>
                <a:latin typeface="Helvetica Neue"/>
              </a:rPr>
              <a:t>a ready timer or I/O callback</a:t>
            </a:r>
          </a:p>
        </p:txBody>
      </p:sp>
      <p:cxnSp>
        <p:nvCxnSpPr>
          <p:cNvPr id="21" name="Connector 20"/>
          <p:cNvCxnSpPr/>
          <p:nvPr/>
        </p:nvCxnSpPr>
        <p:spPr>
          <a:xfrm>
            <a:off x="8779611" y="2275332"/>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27667" y="1563624"/>
            <a:ext cx="2377440" cy="1423416"/>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1563624"/>
            <a:ext cx="2103120" cy="1423416"/>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Wait</a:t>
            </a:r>
          </a:p>
          <a:p>
            <a:pPr algn="ctr">
              <a:lnSpc>
                <a:spcPct val="110000"/>
              </a:lnSpc>
            </a:pPr>
            <a:r>
              <a:rPr sz="1300" i="0" b="0">
                <a:solidFill>
                  <a:srgbClr val="E8F4F8"/>
                </a:solidFill>
                <a:latin typeface="Helvetica Neue"/>
              </a:rPr>
              <a:t>for the operating system if nothing is ready</a:t>
            </a:r>
          </a:p>
        </p:txBody>
      </p:sp>
      <p:cxnSp>
        <p:nvCxnSpPr>
          <p:cNvPr id="24" name="Connector 23"/>
          <p:cNvCxnSpPr/>
          <p:nvPr/>
        </p:nvCxnSpPr>
        <p:spPr>
          <a:xfrm>
            <a:off x="10416387" y="2987040"/>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775307" y="3398520"/>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775307" y="3023616"/>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775307" y="3435096"/>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repeat for every task</a:t>
            </a:r>
          </a:p>
        </p:txBody>
      </p:sp>
      <p:sp>
        <p:nvSpPr>
          <p:cNvPr id="28" name="TextBox 27"/>
          <p:cNvSpPr txBox="1"/>
          <p:nvPr/>
        </p:nvSpPr>
        <p:spPr>
          <a:xfrm>
            <a:off x="502920" y="4130040"/>
            <a:ext cx="11185855" cy="1356359"/>
          </a:xfrm>
          <a:prstGeom prst="rect">
            <a:avLst/>
          </a:prstGeom>
          <a:noFill/>
        </p:spPr>
        <p:txBody>
          <a:bodyPr wrap="square" lIns="0" rIns="0" tIns="0" bIns="0" anchor="t">
            <a:noAutofit/>
          </a:bodyPr>
          <a:lstStyle/>
          <a:p>
            <a:pPr algn="ctr">
              <a:lnSpc>
                <a:spcPct val="110000"/>
              </a:lnSpc>
            </a:pPr>
            <a:r>
              <a:rPr sz="1530" i="0" b="0">
                <a:solidFill>
                  <a:srgbClr val="0F7490"/>
                </a:solidFill>
                <a:latin typeface="Menlo"/>
              </a:rPr>
              <a:t>log</a:t>
            </a:r>
            <a:r>
              <a:rPr sz="1700" i="0" b="0">
                <a:solidFill>
                  <a:srgbClr val="475569"/>
                </a:solidFill>
                <a:latin typeface="Helvetica Neue"/>
              </a:rPr>
              <a:t>, </a:t>
            </a:r>
            <a:r>
              <a:rPr sz="1530" i="0" b="0">
                <a:solidFill>
                  <a:srgbClr val="0F7490"/>
                </a:solidFill>
                <a:latin typeface="Menlo"/>
              </a:rPr>
              <a:t>setTimeout(0)</a:t>
            </a:r>
            <a:r>
              <a:rPr sz="1700" i="0" b="0">
                <a:solidFill>
                  <a:srgbClr val="475569"/>
                </a:solidFill>
                <a:latin typeface="Helvetica Neue"/>
              </a:rPr>
              <a:t>, </a:t>
            </a:r>
            <a:r>
              <a:rPr sz="1530" i="0" b="0">
                <a:solidFill>
                  <a:srgbClr val="0F7490"/>
                </a:solidFill>
                <a:latin typeface="Menlo"/>
              </a:rPr>
              <a:t>.then</a:t>
            </a:r>
            <a:r>
              <a:rPr sz="1700" i="0" b="0">
                <a:solidFill>
                  <a:srgbClr val="475569"/>
                </a:solidFill>
                <a:latin typeface="Helvetica Neue"/>
              </a:rPr>
              <a:t>, </a:t>
            </a:r>
            <a:r>
              <a:rPr sz="1530" i="0" b="0">
                <a:solidFill>
                  <a:srgbClr val="0F7490"/>
                </a:solidFill>
                <a:latin typeface="Menlo"/>
              </a:rPr>
              <a:t>log</a:t>
            </a:r>
            <a:r>
              <a:rPr sz="1700" i="0" b="0">
                <a:solidFill>
                  <a:srgbClr val="475569"/>
                </a:solidFill>
                <a:latin typeface="Helvetica Neue"/>
              </a:rPr>
              <a:t> prints: sync, sync, microtask, timer.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How do you run two async calls in parallel?</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Sequential or parallel</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notes/06-async.md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promise starts when created, so </a:t>
            </a:r>
            <a:r>
              <a:rPr sz="1350" i="0" b="1">
                <a:solidFill>
                  <a:srgbClr val="1E3A5F"/>
                </a:solidFill>
                <a:latin typeface="Menlo"/>
              </a:rPr>
              <a:t>Promise.all</a:t>
            </a:r>
            <a:r>
              <a:rPr sz="1500" i="0" b="1">
                <a:solidFill>
                  <a:srgbClr val="1E3A5F"/>
                </a:solidFill>
                <a:latin typeface="Helvetica Neue"/>
              </a:rPr>
              <a:t> runs calls in parallel. It fails fast, and </a:t>
            </a:r>
            <a:r>
              <a:rPr sz="1350" i="0" b="1">
                <a:solidFill>
                  <a:srgbClr val="1E3A5F"/>
                </a:solidFill>
                <a:latin typeface="Menlo"/>
              </a:rPr>
              <a:t>allSettled</a:t>
            </a:r>
            <a:r>
              <a:rPr sz="1500" i="0" b="1">
                <a:solidFill>
                  <a:srgbClr val="1E3A5F"/>
                </a:solidFill>
                <a:latin typeface="Helvetica Neue"/>
              </a:rPr>
              <a:t> doesn't.</a:t>
            </a:r>
          </a:p>
        </p:txBody>
      </p:sp>
      <p:sp>
        <p:nvSpPr>
          <p:cNvPr id="13" name="Rectangle 12"/>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Sequential</a:t>
            </a:r>
          </a:p>
        </p:txBody>
      </p:sp>
      <p:sp>
        <p:nvSpPr>
          <p:cNvPr id="16" name="Rounded Rectangle 15"/>
          <p:cNvSpPr/>
          <p:nvPr/>
        </p:nvSpPr>
        <p:spPr>
          <a:xfrm>
            <a:off x="731520" y="2231136"/>
            <a:ext cx="4907127" cy="9296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9736"/>
            <a:ext cx="4449927" cy="47243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const a = await getA();</a:t>
            </a:r>
          </a:p>
          <a:p>
            <a:pPr algn="l">
              <a:lnSpc>
                <a:spcPct val="100000"/>
              </a:lnSpc>
            </a:pPr>
            <a:r>
              <a:rPr sz="1400" i="0" b="0">
                <a:solidFill>
                  <a:srgbClr val="E2E8F0"/>
                </a:solidFill>
                <a:latin typeface="Menlo"/>
              </a:rPr>
              <a:t>const b = await getB();</a:t>
            </a:r>
          </a:p>
        </p:txBody>
      </p:sp>
      <p:sp>
        <p:nvSpPr>
          <p:cNvPr id="18" name="Rectangle 17"/>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Total time: a + b</a:t>
            </a:r>
          </a:p>
        </p:txBody>
      </p:sp>
      <p:sp>
        <p:nvSpPr>
          <p:cNvPr id="20" name="Rectangle 19"/>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Parallel</a:t>
            </a:r>
          </a:p>
        </p:txBody>
      </p:sp>
      <p:sp>
        <p:nvSpPr>
          <p:cNvPr id="23" name="Rounded Rectangle 22"/>
          <p:cNvSpPr/>
          <p:nvPr/>
        </p:nvSpPr>
        <p:spPr>
          <a:xfrm>
            <a:off x="6507327" y="2231136"/>
            <a:ext cx="4907127" cy="9296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35927" y="2459736"/>
            <a:ext cx="4449927" cy="472439"/>
          </a:xfrm>
          <a:prstGeom prst="rect">
            <a:avLst/>
          </a:prstGeom>
          <a:noFill/>
        </p:spPr>
        <p:txBody>
          <a:bodyPr wrap="square" lIns="0" rIns="0" tIns="0" bIns="0" anchor="t">
            <a:noAutofit/>
          </a:bodyPr>
          <a:lstStyle/>
          <a:p>
            <a:pPr algn="l">
              <a:lnSpc>
                <a:spcPct val="100000"/>
              </a:lnSpc>
            </a:pPr>
            <a:r>
              <a:rPr sz="1400" i="0" b="0">
                <a:solidFill>
                  <a:srgbClr val="E2E8F0"/>
                </a:solidFill>
                <a:latin typeface="Menlo"/>
              </a:rPr>
              <a:t>const [a, b] = await Promise.all(</a:t>
            </a:r>
          </a:p>
          <a:p>
            <a:pPr algn="l">
              <a:lnSpc>
                <a:spcPct val="100000"/>
              </a:lnSpc>
            </a:pPr>
            <a:r>
              <a:rPr sz="1400" i="0" b="0">
                <a:solidFill>
                  <a:srgbClr val="E2E8F0"/>
                </a:solidFill>
                <a:latin typeface="Menlo"/>
              </a:rPr>
              <a:t>  [getA(), getB()]);</a:t>
            </a:r>
          </a:p>
        </p:txBody>
      </p:sp>
      <p:sp>
        <p:nvSpPr>
          <p:cNvPr id="25" name="Rectangle 24"/>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Total time: max(a, 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are the common async bugs?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Common bugs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notes/06-async.md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40" i="0" b="1">
                <a:solidFill>
                  <a:srgbClr val="1E3A5F"/>
                </a:solidFill>
                <a:latin typeface="Menlo"/>
              </a:rPr>
              <a:t>forEach</a:t>
            </a:r>
            <a:r>
              <a:rPr sz="1600" i="0" b="1">
                <a:solidFill>
                  <a:srgbClr val="1E3A5F"/>
                </a:solidFill>
                <a:latin typeface="Helvetica Neue"/>
              </a:rPr>
              <a:t> doesn't await its callbacks and </a:t>
            </a:r>
            <a:r>
              <a:rPr sz="1440" i="0" b="1">
                <a:solidFill>
                  <a:srgbClr val="1E3A5F"/>
                </a:solidFill>
                <a:latin typeface="Menlo"/>
              </a:rPr>
              <a:t>race</a:t>
            </a:r>
            <a:r>
              <a:rPr sz="1600" i="0" b="1">
                <a:solidFill>
                  <a:srgbClr val="1E3A5F"/>
                </a:solidFill>
                <a:latin typeface="Helvetica Neue"/>
              </a:rPr>
              <a:t> doesn't cancel the loser, so use </a:t>
            </a:r>
            <a:r>
              <a:rPr sz="1440" i="0" b="1">
                <a:solidFill>
                  <a:srgbClr val="1E3A5F"/>
                </a:solidFill>
                <a:latin typeface="Menlo"/>
              </a:rPr>
              <a:t>for…of</a:t>
            </a:r>
            <a:r>
              <a:rPr sz="1600" i="0" b="1">
                <a:solidFill>
                  <a:srgbClr val="1E3A5F"/>
                </a:solidFill>
                <a:latin typeface="Helvetica Neue"/>
              </a:rPr>
              <a:t> and </a:t>
            </a:r>
            <a:r>
              <a:rPr sz="1440" i="0" b="1">
                <a:solidFill>
                  <a:srgbClr val="1E3A5F"/>
                </a:solidFill>
                <a:latin typeface="Menlo"/>
              </a:rPr>
              <a:t>AbortSignal</a:t>
            </a:r>
            <a:r>
              <a:rPr sz="1600" i="0" b="1">
                <a:solidFill>
                  <a:srgbClr val="1E3A5F"/>
                </a:solidFill>
                <a:latin typeface="Helvetica Neue"/>
              </a:rPr>
              <a:t>.</a:t>
            </a:r>
          </a:p>
        </p:txBody>
      </p:sp>
      <p:graphicFrame>
        <p:nvGraphicFramePr>
          <p:cNvPr id="13" name="Table 12"/>
          <p:cNvGraphicFramePr>
            <a:graphicFrameLocks noGrp="1"/>
          </p:cNvGraphicFramePr>
          <p:nvPr/>
        </p:nvGraphicFramePr>
        <p:xfrm>
          <a:off x="502920" y="1472184"/>
          <a:ext cx="11185855" cy="2545080"/>
        </p:xfrm>
        <a:graphic>
          <a:graphicData uri="http://schemas.openxmlformats.org/drawingml/2006/table">
            <a:tbl>
              <a:tblPr firstRow="1" bandRow="1">
                <a:tableStyleId>{5940675A-B579-460E-94D1-54222C63F5DA}</a:tableStyleId>
              </a:tblPr>
              <a:tblGrid>
                <a:gridCol w="4682451"/>
                <a:gridCol w="6503404"/>
              </a:tblGrid>
              <a:tr h="405384">
                <a:tc>
                  <a:txBody>
                    <a:bodyPr wrap="square"/>
                    <a:lstStyle/>
                    <a:p>
                      <a:pPr>
                        <a:lnSpc>
                          <a:spcPct val="100000"/>
                        </a:lnSpc>
                      </a:pPr>
                      <a:r>
                        <a:rPr sz="1700" i="0" b="1">
                          <a:solidFill>
                            <a:srgbClr val="FFFFFF"/>
                          </a:solidFill>
                          <a:latin typeface="Helvetica Neue"/>
                        </a:rPr>
                        <a:t>Bug</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Fix</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A forgotten </a:t>
                      </a:r>
                      <a:r>
                        <a:rPr sz="1530" i="0" b="1">
                          <a:solidFill>
                            <a:srgbClr val="0F7490"/>
                          </a:solidFill>
                          <a:latin typeface="Menlo"/>
                        </a:rPr>
                        <a:t>await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lint rule </a:t>
                      </a:r>
                      <a:r>
                        <a:rPr sz="1530" i="0" b="0">
                          <a:solidFill>
                            <a:srgbClr val="0F7490"/>
                          </a:solidFill>
                          <a:latin typeface="Menlo"/>
                        </a:rPr>
                        <a:t>no-floating-promises</a:t>
                      </a:r>
                    </a:p>
                  </a:txBody>
                  <a:tcPr marL="109728" marR="109728" marT="54864" marB="54864" anchor="ctr">
                    <a:solidFill>
                      <a:srgbClr val="FFFFFF"/>
                    </a:solidFill>
                  </a:tcPr>
                </a:tc>
              </a:tr>
              <a:tr h="664464">
                <a:tc>
                  <a:txBody>
                    <a:bodyPr wrap="square"/>
                    <a:lstStyle/>
                    <a:p>
                      <a:pPr>
                        <a:lnSpc>
                          <a:spcPct val="100000"/>
                        </a:lnSpc>
                      </a:pPr>
                      <a:r>
                        <a:rPr sz="1530" i="0" b="1">
                          <a:solidFill>
                            <a:srgbClr val="0F7490"/>
                          </a:solidFill>
                          <a:latin typeface="Menlo"/>
                        </a:rPr>
                        <a:t>await</a:t>
                      </a:r>
                      <a:r>
                        <a:rPr sz="1700" i="0" b="1">
                          <a:solidFill>
                            <a:srgbClr val="1E293B"/>
                          </a:solidFill>
                          <a:latin typeface="Helvetica Neue"/>
                        </a:rPr>
                        <a:t> inside </a:t>
                      </a:r>
                      <a:r>
                        <a:rPr sz="1530" i="0" b="1">
                          <a:solidFill>
                            <a:srgbClr val="0F7490"/>
                          </a:solidFill>
                          <a:latin typeface="Menlo"/>
                        </a:rPr>
                        <a:t>forEach</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for…of</a:t>
                      </a:r>
                      <a:r>
                        <a:rPr sz="1700" i="0" b="0">
                          <a:solidFill>
                            <a:srgbClr val="475569"/>
                          </a:solidFill>
                          <a:latin typeface="Helvetica Neue"/>
                        </a:rPr>
                        <a:t> for sequential, </a:t>
                      </a:r>
                      <a:r>
                        <a:rPr sz="1530" i="0" b="0">
                          <a:solidFill>
                            <a:srgbClr val="0F7490"/>
                          </a:solidFill>
                          <a:latin typeface="Menlo"/>
                        </a:rPr>
                        <a:t>Promise.all(xs.map(…))</a:t>
                      </a:r>
                      <a:r>
                        <a:rPr sz="1700" i="0" b="0">
                          <a:solidFill>
                            <a:srgbClr val="475569"/>
                          </a:solidFill>
                          <a:latin typeface="Helvetica Neue"/>
                        </a:rPr>
                        <a:t> for parallel</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Promise.all</a:t>
                      </a:r>
                      <a:r>
                        <a:rPr sz="1700" i="0" b="1">
                          <a:solidFill>
                            <a:srgbClr val="1E293B"/>
                          </a:solidFill>
                          <a:latin typeface="Helvetica Neue"/>
                        </a:rPr>
                        <a:t> over 10,000 requests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Limit concurrency with a worker pool</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A timeout via </a:t>
                      </a:r>
                      <a:r>
                        <a:rPr sz="1530" i="0" b="1">
                          <a:solidFill>
                            <a:srgbClr val="0F7490"/>
                          </a:solidFill>
                          <a:latin typeface="Menlo"/>
                        </a:rPr>
                        <a:t>race</a:t>
                      </a:r>
                      <a:r>
                        <a:rPr sz="1700" i="0" b="1">
                          <a:solidFill>
                            <a:srgbClr val="1E293B"/>
                          </a:solidFill>
                          <a:latin typeface="Helvetica Neue"/>
                        </a:rPr>
                        <a:t> with no cleanup</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Clear the timer, and pass an </a:t>
                      </a:r>
                      <a:r>
                        <a:rPr sz="1530" i="0" b="0">
                          <a:solidFill>
                            <a:srgbClr val="0F7490"/>
                          </a:solidFill>
                          <a:latin typeface="Menlo"/>
                        </a:rPr>
                        <a:t>AbortSignal</a:t>
                      </a:r>
                      <a:r>
                        <a:rPr sz="1700" i="0" b="0">
                          <a:solidFill>
                            <a:srgbClr val="475569"/>
                          </a:solidFill>
                          <a:latin typeface="Helvetica Neue"/>
                        </a:rPr>
                        <a:t> to cancel the work</a:t>
                      </a:r>
                    </a:p>
                  </a:txBody>
                  <a:tcPr marL="109728" marR="109728" marT="54864" marB="54864" anchor="ctr">
                    <a:solidFill>
                      <a:srgbClr val="F8FAFC"/>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What does a modern TypeScript setup need?</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Modules and tooling</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notes/07-modules-and-tooling.md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Use ES modules, </a:t>
            </a:r>
            <a:r>
              <a:rPr sz="1350" i="0" b="1">
                <a:solidFill>
                  <a:srgbClr val="1E3A5F"/>
                </a:solidFill>
                <a:latin typeface="Menlo"/>
              </a:rPr>
              <a:t>strict</a:t>
            </a:r>
            <a:r>
              <a:rPr sz="1500" i="0" b="1">
                <a:solidFill>
                  <a:srgbClr val="1E3A5F"/>
                </a:solidFill>
                <a:latin typeface="Helvetica Neue"/>
              </a:rPr>
              <a:t> and </a:t>
            </a:r>
            <a:r>
              <a:rPr sz="1350" i="0" b="1">
                <a:solidFill>
                  <a:srgbClr val="1E3A5F"/>
                </a:solidFill>
                <a:latin typeface="Menlo"/>
              </a:rPr>
              <a:t>import type</a:t>
            </a:r>
            <a:r>
              <a:rPr sz="1500" i="0" b="1">
                <a:solidFill>
                  <a:srgbClr val="1E3A5F"/>
                </a:solidFill>
                <a:latin typeface="Helvetica Neue"/>
              </a:rPr>
              <a:t>, and run </a:t>
            </a:r>
            <a:r>
              <a:rPr sz="1350" i="0" b="1">
                <a:solidFill>
                  <a:srgbClr val="1E3A5F"/>
                </a:solidFill>
                <a:latin typeface="Menlo"/>
              </a:rPr>
              <a:t>tsc --noEmit</a:t>
            </a:r>
            <a:r>
              <a:rPr sz="1500" i="0" b="1">
                <a:solidFill>
                  <a:srgbClr val="1E3A5F"/>
                </a:solidFill>
                <a:latin typeface="Helvetica Neue"/>
              </a:rPr>
              <a:t> in CI. Most TypeScript pain is config pain.</a:t>
            </a:r>
          </a:p>
        </p:txBody>
      </p:sp>
      <p:sp>
        <p:nvSpPr>
          <p:cNvPr id="13" name="Rectangle 12"/>
          <p:cNvSpPr/>
          <p:nvPr/>
        </p:nvSpPr>
        <p:spPr>
          <a:xfrm>
            <a:off x="502920"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472184"/>
            <a:ext cx="82296" cy="318516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ES modules</a:t>
            </a:r>
          </a:p>
        </p:txBody>
      </p:sp>
      <p:sp>
        <p:nvSpPr>
          <p:cNvPr id="16" name="TextBox 15"/>
          <p:cNvSpPr txBox="1"/>
          <p:nvPr/>
        </p:nvSpPr>
        <p:spPr>
          <a:xfrm>
            <a:off x="777240" y="2087880"/>
            <a:ext cx="2087803" cy="2386584"/>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"type": "module"</a:t>
            </a:r>
            <a:r>
              <a:rPr sz="1800" i="0" b="0">
                <a:solidFill>
                  <a:srgbClr val="475569"/>
                </a:solidFill>
                <a:latin typeface="Helvetica Neue"/>
              </a:rPr>
              <a:t> and named exports. </a:t>
            </a:r>
            <a:r>
              <a:rPr sz="1620" i="0" b="0">
                <a:solidFill>
                  <a:srgbClr val="0F7490"/>
                </a:solidFill>
                <a:latin typeface="Menlo"/>
              </a:rPr>
              <a:t>import type</a:t>
            </a:r>
            <a:r>
              <a:rPr sz="1800" i="0" b="0">
                <a:solidFill>
                  <a:srgbClr val="475569"/>
                </a:solidFill>
                <a:latin typeface="Helvetica Neue"/>
              </a:rPr>
              <a:t> is erased, and Node's stripping needs it.</a:t>
            </a:r>
          </a:p>
        </p:txBody>
      </p:sp>
      <p:sp>
        <p:nvSpPr>
          <p:cNvPr id="17" name="Rectangle 16"/>
          <p:cNvSpPr/>
          <p:nvPr/>
        </p:nvSpPr>
        <p:spPr>
          <a:xfrm>
            <a:off x="3367963"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7963" y="1472184"/>
            <a:ext cx="82296" cy="318516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tsconfig</a:t>
            </a:r>
          </a:p>
        </p:txBody>
      </p:sp>
      <p:sp>
        <p:nvSpPr>
          <p:cNvPr id="20" name="TextBox 19"/>
          <p:cNvSpPr txBox="1"/>
          <p:nvPr/>
        </p:nvSpPr>
        <p:spPr>
          <a:xfrm>
            <a:off x="3642283" y="2087880"/>
            <a:ext cx="2087803" cy="2386584"/>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strict</a:t>
            </a:r>
            <a:r>
              <a:rPr sz="1800" i="0" b="0">
                <a:solidFill>
                  <a:srgbClr val="475569"/>
                </a:solidFill>
                <a:latin typeface="Helvetica Neue"/>
              </a:rPr>
              <a:t> on, with checked index access and verbatim module syntax. </a:t>
            </a:r>
            <a:r>
              <a:rPr sz="1620" i="0" b="0">
                <a:solidFill>
                  <a:srgbClr val="0F7490"/>
                </a:solidFill>
                <a:latin typeface="Menlo"/>
              </a:rPr>
              <a:t>noEmit</a:t>
            </a:r>
            <a:r>
              <a:rPr sz="1800" i="0" b="0">
                <a:solidFill>
                  <a:srgbClr val="475569"/>
                </a:solidFill>
                <a:latin typeface="Helvetica Neue"/>
              </a:rPr>
              <a:t> when another tool runs the code.</a:t>
            </a:r>
          </a:p>
        </p:txBody>
      </p:sp>
      <p:sp>
        <p:nvSpPr>
          <p:cNvPr id="21" name="Rectangle 20"/>
          <p:cNvSpPr/>
          <p:nvPr/>
        </p:nvSpPr>
        <p:spPr>
          <a:xfrm>
            <a:off x="6233007"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3007" y="1472184"/>
            <a:ext cx="82296" cy="318516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Tools</a:t>
            </a:r>
          </a:p>
        </p:txBody>
      </p:sp>
      <p:sp>
        <p:nvSpPr>
          <p:cNvPr id="24" name="TextBox 23"/>
          <p:cNvSpPr txBox="1"/>
          <p:nvPr/>
        </p:nvSpPr>
        <p:spPr>
          <a:xfrm>
            <a:off x="6507327" y="2087880"/>
            <a:ext cx="2087803" cy="2386584"/>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tsc --noEmit</a:t>
            </a:r>
            <a:r>
              <a:rPr sz="1800" i="0" b="0">
                <a:solidFill>
                  <a:srgbClr val="475569"/>
                </a:solidFill>
                <a:latin typeface="Helvetica Neue"/>
              </a:rPr>
              <a:t> to check, ESLint for floating promises, </a:t>
            </a:r>
            <a:r>
              <a:rPr sz="1620" i="0" b="0">
                <a:solidFill>
                  <a:srgbClr val="0F7490"/>
                </a:solidFill>
                <a:latin typeface="Menlo"/>
              </a:rPr>
              <a:t>node --test</a:t>
            </a:r>
            <a:r>
              <a:rPr sz="1800" i="0" b="0">
                <a:solidFill>
                  <a:srgbClr val="475569"/>
                </a:solidFill>
                <a:latin typeface="Helvetica Neue"/>
              </a:rPr>
              <a:t> or Vitest.</a:t>
            </a:r>
          </a:p>
        </p:txBody>
      </p:sp>
      <p:sp>
        <p:nvSpPr>
          <p:cNvPr id="25" name="Rectangle 24"/>
          <p:cNvSpPr/>
          <p:nvPr/>
        </p:nvSpPr>
        <p:spPr>
          <a:xfrm>
            <a:off x="9098051" y="1472184"/>
            <a:ext cx="2590723" cy="31851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051" y="1472184"/>
            <a:ext cx="82296" cy="318516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Declarations</a:t>
            </a:r>
          </a:p>
        </p:txBody>
      </p:sp>
      <p:sp>
        <p:nvSpPr>
          <p:cNvPr id="28" name="TextBox 27"/>
          <p:cNvSpPr txBox="1"/>
          <p:nvPr/>
        </p:nvSpPr>
        <p:spPr>
          <a:xfrm>
            <a:off x="9372371" y="2087880"/>
            <a:ext cx="2087803" cy="2386584"/>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.d.ts</a:t>
            </a:r>
            <a:r>
              <a:rPr sz="1800" i="0" b="0">
                <a:solidFill>
                  <a:srgbClr val="475569"/>
                </a:solidFill>
                <a:latin typeface="Helvetica Neue"/>
              </a:rPr>
              <a:t> holds types only. Try </a:t>
            </a:r>
            <a:r>
              <a:rPr sz="1620" i="0" b="0">
                <a:solidFill>
                  <a:srgbClr val="0F7490"/>
                </a:solidFill>
                <a:latin typeface="Menlo"/>
              </a:rPr>
              <a:t>@types/x</a:t>
            </a:r>
            <a:r>
              <a:rPr sz="1800" i="0" b="0">
                <a:solidFill>
                  <a:srgbClr val="475569"/>
                </a:solidFill>
                <a:latin typeface="Helvetica Neue"/>
              </a:rPr>
              <a:t> first. Interfaces merge, and aliases don't.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000" i="0" b="1">
                <a:solidFill>
                  <a:srgbClr val="FFFFFF"/>
                </a:solidFill>
                <a:latin typeface="Helvetica Neue"/>
              </a:rPr>
              <a:t>How do you get a type and a runtime check from one definition?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Zod</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notes/08-runtime-validation-zod.md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Parse, don't validate. Turn </a:t>
            </a:r>
            <a:r>
              <a:rPr sz="1260" i="0" b="1">
                <a:solidFill>
                  <a:srgbClr val="1E3A5F"/>
                </a:solidFill>
                <a:latin typeface="Menlo"/>
              </a:rPr>
              <a:t>unknown</a:t>
            </a:r>
            <a:r>
              <a:rPr sz="1400" i="0" b="1">
                <a:solidFill>
                  <a:srgbClr val="1E3A5F"/>
                </a:solidFill>
                <a:latin typeface="Helvetica Neue"/>
              </a:rPr>
              <a:t> into a precise type once at the edge, and trust it everywhere after that.</a:t>
            </a:r>
          </a:p>
        </p:txBody>
      </p:sp>
      <p:sp>
        <p:nvSpPr>
          <p:cNvPr id="13" name="Rounded Rectangle 12"/>
          <p:cNvSpPr/>
          <p:nvPr/>
        </p:nvSpPr>
        <p:spPr>
          <a:xfrm>
            <a:off x="502920" y="1472184"/>
            <a:ext cx="11185855"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TS</a:t>
            </a:r>
          </a:p>
        </p:txBody>
      </p:sp>
      <p:sp>
        <p:nvSpPr>
          <p:cNvPr id="15" name="TextBox 14"/>
          <p:cNvSpPr txBox="1"/>
          <p:nvPr/>
        </p:nvSpPr>
        <p:spPr>
          <a:xfrm>
            <a:off x="731520" y="1883664"/>
            <a:ext cx="10728655"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const User = z.object({</a:t>
            </a:r>
          </a:p>
          <a:p>
            <a:pPr algn="l">
              <a:lnSpc>
                <a:spcPct val="100000"/>
              </a:lnSpc>
            </a:pPr>
            <a:r>
              <a:rPr sz="1600" i="0" b="0">
                <a:solidFill>
                  <a:srgbClr val="E2E8F0"/>
                </a:solidFill>
                <a:latin typeface="Menlo"/>
              </a:rPr>
              <a:t>  id: z.number().int().positive(),</a:t>
            </a:r>
          </a:p>
          <a:p>
            <a:pPr algn="l">
              <a:lnSpc>
                <a:spcPct val="100000"/>
              </a:lnSpc>
            </a:pPr>
            <a:r>
              <a:rPr sz="1600" i="0" b="0">
                <a:solidFill>
                  <a:srgbClr val="E2E8F0"/>
                </a:solidFill>
                <a:latin typeface="Menlo"/>
              </a:rPr>
              <a:t>  email: z.email(),</a:t>
            </a:r>
          </a:p>
          <a:p>
            <a:pPr algn="l">
              <a:lnSpc>
                <a:spcPct val="100000"/>
              </a:lnSpc>
            </a:pPr>
            <a:r>
              <a:rPr sz="1600" i="0" b="0">
                <a:solidFill>
                  <a:srgbClr val="E2E8F0"/>
                </a:solidFill>
                <a:latin typeface="Menlo"/>
              </a:rPr>
              <a:t>  role: z.enum(['user', 'admin']).default('user'),</a:t>
            </a:r>
          </a:p>
          <a:p>
            <a:pPr algn="l">
              <a:lnSpc>
                <a:spcPct val="100000"/>
              </a:lnSpc>
            </a:pPr>
            <a:r>
              <a:rPr sz="1600" i="0" b="0">
                <a:solidFill>
                  <a:srgbClr val="E2E8F0"/>
                </a:solidFill>
                <a:latin typeface="Menlo"/>
              </a:rPr>
              <a:t>});</a:t>
            </a:r>
          </a:p>
          <a:p>
            <a:pPr algn="l">
              <a:lnSpc>
                <a:spcPct val="100000"/>
              </a:lnSpc>
            </a:pPr>
            <a:r>
              <a:rPr sz="1600" i="0" b="0">
                <a:solidFill>
                  <a:srgbClr val="E2E8F0"/>
                </a:solidFill>
                <a:latin typeface="Menlo"/>
              </a:rPr>
              <a:t>type User = z.infer&lt;typeof User&gt;;      // the static type comes from the schema</a:t>
            </a:r>
          </a:p>
          <a:p>
            <a:pPr algn="l">
              <a:lnSpc>
                <a:spcPct val="100000"/>
              </a:lnSpc>
            </a:pPr>
          </a:p>
          <a:p>
            <a:pPr algn="l">
              <a:lnSpc>
                <a:spcPct val="100000"/>
              </a:lnSpc>
            </a:pPr>
            <a:r>
              <a:rPr sz="1600" i="0" b="0">
                <a:solidFill>
                  <a:srgbClr val="E2E8F0"/>
                </a:solidFill>
                <a:latin typeface="Menlo"/>
              </a:rPr>
              <a:t>User.parse(data);                      // a User, or throws ZodError</a:t>
            </a:r>
          </a:p>
          <a:p>
            <a:pPr algn="l">
              <a:lnSpc>
                <a:spcPct val="100000"/>
              </a:lnSpc>
            </a:pPr>
            <a:r>
              <a:rPr sz="1600" i="0" b="0">
                <a:solidFill>
                  <a:srgbClr val="E2E8F0"/>
                </a:solidFill>
                <a:latin typeface="Menlo"/>
              </a:rPr>
              <a:t>const r = User.safeParse(data);        // { success, data } or { success, error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What should your loop do for each stop_reason?</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LLM responses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notes/09-typescript-for-ai-apps.md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Handle </a:t>
            </a:r>
            <a:r>
              <a:rPr sz="1440" i="0" b="1">
                <a:solidFill>
                  <a:srgbClr val="1E3A5F"/>
                </a:solidFill>
                <a:latin typeface="Menlo"/>
              </a:rPr>
              <a:t>stop_reason</a:t>
            </a:r>
            <a:r>
              <a:rPr sz="1600" i="0" b="1">
                <a:solidFill>
                  <a:srgbClr val="1E3A5F"/>
                </a:solidFill>
                <a:latin typeface="Helvetica Neue"/>
              </a:rPr>
              <a:t> in an exhaustive </a:t>
            </a:r>
            <a:r>
              <a:rPr sz="1440" i="0" b="1">
                <a:solidFill>
                  <a:srgbClr val="1E3A5F"/>
                </a:solidFill>
                <a:latin typeface="Menlo"/>
              </a:rPr>
              <a:t>switch</a:t>
            </a:r>
            <a:r>
              <a:rPr sz="1600" i="0" b="1">
                <a:solidFill>
                  <a:srgbClr val="1E3A5F"/>
                </a:solidFill>
                <a:latin typeface="Helvetica Neue"/>
              </a:rPr>
              <a:t> with a </a:t>
            </a:r>
            <a:r>
              <a:rPr sz="1440" i="0" b="1">
                <a:solidFill>
                  <a:srgbClr val="1E3A5F"/>
                </a:solidFill>
                <a:latin typeface="Menlo"/>
              </a:rPr>
              <a:t>default</a:t>
            </a:r>
            <a:r>
              <a:rPr sz="1600" i="0" b="1">
                <a:solidFill>
                  <a:srgbClr val="1E3A5F"/>
                </a:solidFill>
                <a:latin typeface="Helvetica Neue"/>
              </a:rPr>
              <a:t>, because the API adds new values over time.</a:t>
            </a:r>
          </a:p>
        </p:txBody>
      </p:sp>
      <p:graphicFrame>
        <p:nvGraphicFramePr>
          <p:cNvPr id="13" name="Table 12"/>
          <p:cNvGraphicFramePr>
            <a:graphicFrameLocks noGrp="1"/>
          </p:cNvGraphicFramePr>
          <p:nvPr/>
        </p:nvGraphicFramePr>
        <p:xfrm>
          <a:off x="502920" y="1472184"/>
          <a:ext cx="11185854" cy="2432304"/>
        </p:xfrm>
        <a:graphic>
          <a:graphicData uri="http://schemas.openxmlformats.org/drawingml/2006/table">
            <a:tbl>
              <a:tblPr firstRow="1" bandRow="1">
                <a:tableStyleId>{5940675A-B579-460E-94D1-54222C63F5DA}</a:tableStyleId>
              </a:tblPr>
              <a:tblGrid>
                <a:gridCol w="2796463"/>
                <a:gridCol w="8389391"/>
              </a:tblGrid>
              <a:tr h="405384">
                <a:tc>
                  <a:txBody>
                    <a:bodyPr wrap="square"/>
                    <a:lstStyle/>
                    <a:p>
                      <a:pPr>
                        <a:lnSpc>
                          <a:spcPct val="100000"/>
                        </a:lnSpc>
                      </a:pPr>
                      <a:r>
                        <a:rPr sz="1700" i="0" b="1">
                          <a:solidFill>
                            <a:srgbClr val="FFFFFF"/>
                          </a:solidFill>
                          <a:latin typeface="Helvetica Neue"/>
                        </a:rPr>
                        <a:t>stop_reason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Your loop</a:t>
                      </a:r>
                    </a:p>
                  </a:txBody>
                  <a:tcPr marL="109728" marR="109728" marT="54864" marB="54864" anchor="ctr">
                    <a:solidFill>
                      <a:srgbClr val="1E3A5F"/>
                    </a:solidFill>
                  </a:tcPr>
                </a:tc>
              </a:tr>
              <a:tr h="405384">
                <a:tc>
                  <a:txBody>
                    <a:bodyPr wrap="square"/>
                    <a:lstStyle/>
                    <a:p>
                      <a:pPr>
                        <a:lnSpc>
                          <a:spcPct val="100000"/>
                        </a:lnSpc>
                      </a:pPr>
                      <a:r>
                        <a:rPr sz="1530" i="0" b="1">
                          <a:solidFill>
                            <a:srgbClr val="0F7490"/>
                          </a:solidFill>
                          <a:latin typeface="Menlo"/>
                        </a:rPr>
                        <a:t>end_turn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Done</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tool_use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Run the tools and send back </a:t>
                      </a:r>
                      <a:r>
                        <a:rPr sz="1530" i="0" b="0">
                          <a:solidFill>
                            <a:srgbClr val="0F7490"/>
                          </a:solidFill>
                          <a:latin typeface="Menlo"/>
                        </a:rPr>
                        <a:t>tool_result</a:t>
                      </a:r>
                      <a:r>
                        <a:rPr sz="1700" i="0" b="0">
                          <a:solidFill>
                            <a:srgbClr val="475569"/>
                          </a:solidFill>
                          <a:latin typeface="Helvetica Neue"/>
                        </a:rPr>
                        <a:t> blocks with the same </a:t>
                      </a:r>
                      <a:r>
                        <a:rPr sz="1530" i="0" b="0">
                          <a:solidFill>
                            <a:srgbClr val="0F7490"/>
                          </a:solidFill>
                          <a:latin typeface="Menlo"/>
                        </a:rPr>
                        <a:t>tool_use_id</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max_tokens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Raise the limit or continue, and don't trust a truncated tool call</a:t>
                      </a:r>
                    </a:p>
                  </a:txBody>
                  <a:tcPr marL="109728" marR="109728" marT="54864" marB="54864" anchor="ctr">
                    <a:solidFill>
                      <a:srgbClr val="FFFFFF"/>
                    </a:solidFill>
                  </a:tcPr>
                </a:tc>
              </a:tr>
              <a:tr h="405384">
                <a:tc>
                  <a:txBody>
                    <a:bodyPr wrap="square"/>
                    <a:lstStyle/>
                    <a:p>
                      <a:pPr>
                        <a:lnSpc>
                          <a:spcPct val="100000"/>
                        </a:lnSpc>
                      </a:pPr>
                      <a:r>
                        <a:rPr sz="1530" i="0" b="1">
                          <a:solidFill>
                            <a:srgbClr val="0F7490"/>
                          </a:solidFill>
                          <a:latin typeface="Menlo"/>
                        </a:rPr>
                        <a:t>pause_turn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Send the turn back to continue</a:t>
                      </a:r>
                    </a:p>
                  </a:txBody>
                  <a:tcPr marL="109728" marR="109728" marT="54864" marB="54864" anchor="ctr">
                    <a:solidFill>
                      <a:srgbClr val="F8FAFC"/>
                    </a:solidFill>
                  </a:tcPr>
                </a:tc>
              </a:tr>
              <a:tr h="405384">
                <a:tc>
                  <a:txBody>
                    <a:bodyPr wrap="square"/>
                    <a:lstStyle/>
                    <a:p>
                      <a:pPr>
                        <a:lnSpc>
                          <a:spcPct val="100000"/>
                        </a:lnSpc>
                      </a:pPr>
                      <a:r>
                        <a:rPr sz="1530" i="0" b="1">
                          <a:solidFill>
                            <a:srgbClr val="0F7490"/>
                          </a:solidFill>
                          <a:latin typeface="Menlo"/>
                        </a:rPr>
                        <a:t>refusal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Handle it before reading </a:t>
                      </a:r>
                      <a:r>
                        <a:rPr sz="1530" i="0" b="0">
                          <a:solidFill>
                            <a:srgbClr val="0F7490"/>
                          </a:solidFill>
                          <a:latin typeface="Menlo"/>
                        </a:rPr>
                        <a:t>content</a:t>
                      </a:r>
                    </a:p>
                  </a:txBody>
                  <a:tcPr marL="109728" marR="109728" marT="54864" marB="54864"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Why must you never assume content[0] is text?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Content blocks</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Async and the boundary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notes/09-typescript-for-ai-apps.md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Content is a discriminated union of blocks, and with thinking on the first often isn't text, so narrow on </a:t>
            </a:r>
            <a:r>
              <a:rPr sz="1260" i="0" b="1">
                <a:solidFill>
                  <a:srgbClr val="1E3A5F"/>
                </a:solidFill>
                <a:latin typeface="Menlo"/>
              </a:rPr>
              <a:t>type</a:t>
            </a:r>
            <a:r>
              <a:rPr sz="1400" i="0" b="1">
                <a:solidFill>
                  <a:srgbClr val="1E3A5F"/>
                </a:solidFill>
                <a:latin typeface="Helvetica Neue"/>
              </a:rPr>
              <a:t>.</a:t>
            </a:r>
          </a:p>
        </p:txBody>
      </p:sp>
      <p:sp>
        <p:nvSpPr>
          <p:cNvPr id="13" name="Rounded Rectangle 12"/>
          <p:cNvSpPr/>
          <p:nvPr/>
        </p:nvSpPr>
        <p:spPr>
          <a:xfrm>
            <a:off x="502920" y="1472184"/>
            <a:ext cx="11185855"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581912"/>
            <a:ext cx="10728655"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TS</a:t>
            </a:r>
          </a:p>
        </p:txBody>
      </p:sp>
      <p:sp>
        <p:nvSpPr>
          <p:cNvPr id="15" name="TextBox 14"/>
          <p:cNvSpPr txBox="1"/>
          <p:nvPr/>
        </p:nvSpPr>
        <p:spPr>
          <a:xfrm>
            <a:off x="731520" y="1883664"/>
            <a:ext cx="10728655"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const text = message.content</a:t>
            </a:r>
          </a:p>
          <a:p>
            <a:pPr algn="l">
              <a:lnSpc>
                <a:spcPct val="100000"/>
              </a:lnSpc>
            </a:pPr>
            <a:r>
              <a:rPr sz="1600" i="0" b="0">
                <a:solidFill>
                  <a:srgbClr val="E2E8F0"/>
                </a:solidFill>
                <a:latin typeface="Menlo"/>
              </a:rPr>
              <a:t>  .filter((b): b is Anthropic.TextBlock =&gt; b.type === 'text')</a:t>
            </a:r>
          </a:p>
          <a:p>
            <a:pPr algn="l">
              <a:lnSpc>
                <a:spcPct val="100000"/>
              </a:lnSpc>
            </a:pPr>
            <a:r>
              <a:rPr sz="1600" i="0" b="0">
                <a:solidFill>
                  <a:srgbClr val="E2E8F0"/>
                </a:solidFill>
                <a:latin typeface="Menlo"/>
              </a:rPr>
              <a:t>  .map((b) =&gt; b.text)</a:t>
            </a:r>
          </a:p>
          <a:p>
            <a:pPr algn="l">
              <a:lnSpc>
                <a:spcPct val="100000"/>
              </a:lnSpc>
            </a:pPr>
            <a:r>
              <a:rPr sz="1600" i="0" b="0">
                <a:solidFill>
                  <a:srgbClr val="E2E8F0"/>
                </a:solidFill>
                <a:latin typeface="Menlo"/>
              </a:rPr>
              <a:t>  .join('\n');</a:t>
            </a:r>
          </a:p>
          <a:p>
            <a:pPr algn="l">
              <a:lnSpc>
                <a:spcPct val="100000"/>
              </a:lnSpc>
            </a:pPr>
          </a:p>
          <a:p>
            <a:pPr algn="l">
              <a:lnSpc>
                <a:spcPct val="100000"/>
              </a:lnSpc>
            </a:pPr>
            <a:r>
              <a:rPr sz="1600" i="0" b="0">
                <a:solidFill>
                  <a:srgbClr val="E2E8F0"/>
                </a:solidFill>
                <a:latin typeface="Menlo"/>
              </a:rPr>
              <a:t>const stream = client.messages.stream({ model, max_tokens: 16000, messages });</a:t>
            </a:r>
          </a:p>
          <a:p>
            <a:pPr algn="l">
              <a:lnSpc>
                <a:spcPct val="100000"/>
              </a:lnSpc>
            </a:pPr>
            <a:r>
              <a:rPr sz="1600" i="0" b="0">
                <a:solidFill>
                  <a:srgbClr val="E2E8F0"/>
                </a:solidFill>
                <a:latin typeface="Menlo"/>
              </a:rPr>
              <a:t>stream.on('text', (delta) =&gt; process.stdout.write(delta));</a:t>
            </a:r>
          </a:p>
          <a:p>
            <a:pPr algn="l">
              <a:lnSpc>
                <a:spcPct val="100000"/>
              </a:lnSpc>
            </a:pPr>
            <a:r>
              <a:rPr sz="1600" i="0" b="0">
                <a:solidFill>
                  <a:srgbClr val="E2E8F0"/>
                </a:solidFill>
                <a:latin typeface="Menlo"/>
              </a:rPr>
              <a:t>const final = await stream.finalMessage();   // the complete Message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are the TypeScript rules?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to keep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notes/03-unions-and-narrowing.md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Turn on </a:t>
            </a:r>
            <a:r>
              <a:rPr sz="1440" i="0" b="1">
                <a:solidFill>
                  <a:srgbClr val="1E3A5F"/>
                </a:solidFill>
                <a:latin typeface="Menlo"/>
              </a:rPr>
              <a:t>strict</a:t>
            </a:r>
            <a:r>
              <a:rPr sz="1600" i="0" b="1">
                <a:solidFill>
                  <a:srgbClr val="1E3A5F"/>
                </a:solidFill>
                <a:latin typeface="Helvetica Neue"/>
              </a:rPr>
              <a:t>, avoid </a:t>
            </a:r>
            <a:r>
              <a:rPr sz="1440" i="0" b="1">
                <a:solidFill>
                  <a:srgbClr val="1E3A5F"/>
                </a:solidFill>
                <a:latin typeface="Menlo"/>
              </a:rPr>
              <a:t>any</a:t>
            </a:r>
            <a:r>
              <a:rPr sz="1600" i="0" b="1">
                <a:solidFill>
                  <a:srgbClr val="1E3A5F"/>
                </a:solidFill>
                <a:latin typeface="Helvetica Neue"/>
              </a:rPr>
              <a:t> and </a:t>
            </a:r>
            <a:r>
              <a:rPr sz="1440" i="0" b="1">
                <a:solidFill>
                  <a:srgbClr val="1E3A5F"/>
                </a:solidFill>
                <a:latin typeface="Menlo"/>
              </a:rPr>
              <a:t>as</a:t>
            </a:r>
            <a:r>
              <a:rPr sz="1600" i="0" b="1">
                <a:solidFill>
                  <a:srgbClr val="1E3A5F"/>
                </a:solidFill>
                <a:latin typeface="Helvetica Neue"/>
              </a:rPr>
              <a:t>, make unions exhaustive, and parse outside data once at the edge.</a:t>
            </a:r>
          </a:p>
        </p:txBody>
      </p:sp>
      <p:sp>
        <p:nvSpPr>
          <p:cNvPr id="12" name="Rectangle 11"/>
          <p:cNvSpPr/>
          <p:nvPr/>
        </p:nvSpPr>
        <p:spPr>
          <a:xfrm>
            <a:off x="502920"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581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Types</a:t>
            </a:r>
          </a:p>
        </p:txBody>
      </p:sp>
      <p:sp>
        <p:nvSpPr>
          <p:cNvPr id="15" name="TextBox 14"/>
          <p:cNvSpPr txBox="1"/>
          <p:nvPr/>
        </p:nvSpPr>
        <p:spPr>
          <a:xfrm>
            <a:off x="777240" y="2087880"/>
            <a:ext cx="2087803" cy="1783079"/>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strict</a:t>
            </a:r>
            <a:r>
              <a:rPr sz="1800" i="0" b="0">
                <a:solidFill>
                  <a:srgbClr val="475569"/>
                </a:solidFill>
                <a:latin typeface="Helvetica Neue"/>
              </a:rPr>
              <a:t> on. </a:t>
            </a:r>
            <a:r>
              <a:rPr sz="1620" i="0" b="0">
                <a:solidFill>
                  <a:srgbClr val="0F7490"/>
                </a:solidFill>
                <a:latin typeface="Menlo"/>
              </a:rPr>
              <a:t>unknown</a:t>
            </a:r>
            <a:r>
              <a:rPr sz="1800" i="0" b="0">
                <a:solidFill>
                  <a:srgbClr val="475569"/>
                </a:solidFill>
                <a:latin typeface="Helvetica Neue"/>
              </a:rPr>
              <a:t> over </a:t>
            </a:r>
            <a:r>
              <a:rPr sz="1620" i="0" b="0">
                <a:solidFill>
                  <a:srgbClr val="0F7490"/>
                </a:solidFill>
                <a:latin typeface="Menlo"/>
              </a:rPr>
              <a:t>any</a:t>
            </a:r>
            <a:r>
              <a:rPr sz="1800" i="0" b="0">
                <a:solidFill>
                  <a:srgbClr val="475569"/>
                </a:solidFill>
                <a:latin typeface="Helvetica Neue"/>
              </a:rPr>
              <a:t>. No </a:t>
            </a:r>
            <a:r>
              <a:rPr sz="1620" i="0" b="0">
                <a:solidFill>
                  <a:srgbClr val="0F7490"/>
                </a:solidFill>
                <a:latin typeface="Menlo"/>
              </a:rPr>
              <a:t>as</a:t>
            </a:r>
            <a:r>
              <a:rPr sz="1800" i="0" b="0">
                <a:solidFill>
                  <a:srgbClr val="475569"/>
                </a:solidFill>
                <a:latin typeface="Helvetica Neue"/>
              </a:rPr>
              <a:t> on outside data.</a:t>
            </a:r>
          </a:p>
        </p:txBody>
      </p:sp>
      <p:sp>
        <p:nvSpPr>
          <p:cNvPr id="16" name="Rectangle 15"/>
          <p:cNvSpPr/>
          <p:nvPr/>
        </p:nvSpPr>
        <p:spPr>
          <a:xfrm>
            <a:off x="3367963"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58165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Unions</a:t>
            </a:r>
          </a:p>
        </p:txBody>
      </p:sp>
      <p:sp>
        <p:nvSpPr>
          <p:cNvPr id="19" name="TextBox 18"/>
          <p:cNvSpPr txBox="1"/>
          <p:nvPr/>
        </p:nvSpPr>
        <p:spPr>
          <a:xfrm>
            <a:off x="3642283"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literal </a:t>
            </a:r>
            <a:r>
              <a:rPr sz="1620" i="0" b="0">
                <a:solidFill>
                  <a:srgbClr val="0F7490"/>
                </a:solidFill>
                <a:latin typeface="Menlo"/>
              </a:rPr>
              <a:t>kind</a:t>
            </a:r>
            <a:r>
              <a:rPr sz="1800" i="0" b="0">
                <a:solidFill>
                  <a:srgbClr val="475569"/>
                </a:solidFill>
                <a:latin typeface="Helvetica Neue"/>
              </a:rPr>
              <a:t>, an exhaustive </a:t>
            </a:r>
            <a:r>
              <a:rPr sz="1620" i="0" b="0">
                <a:solidFill>
                  <a:srgbClr val="0F7490"/>
                </a:solidFill>
                <a:latin typeface="Menlo"/>
              </a:rPr>
              <a:t>switch</a:t>
            </a:r>
            <a:r>
              <a:rPr sz="1800" i="0" b="0">
                <a:solidFill>
                  <a:srgbClr val="475569"/>
                </a:solidFill>
                <a:latin typeface="Helvetica Neue"/>
              </a:rPr>
              <a:t>, and </a:t>
            </a:r>
            <a:r>
              <a:rPr sz="1620" i="0" b="0">
                <a:solidFill>
                  <a:srgbClr val="0F7490"/>
                </a:solidFill>
                <a:latin typeface="Menlo"/>
              </a:rPr>
              <a:t>never</a:t>
            </a:r>
            <a:r>
              <a:rPr sz="1800" i="0" b="0">
                <a:solidFill>
                  <a:srgbClr val="475569"/>
                </a:solidFill>
                <a:latin typeface="Helvetica Neue"/>
              </a:rPr>
              <a:t> in the </a:t>
            </a:r>
            <a:r>
              <a:rPr sz="1620" i="0" b="0">
                <a:solidFill>
                  <a:srgbClr val="0F7490"/>
                </a:solidFill>
                <a:latin typeface="Menlo"/>
              </a:rPr>
              <a:t>default</a:t>
            </a:r>
            <a:r>
              <a:rPr sz="1800" i="0" b="0">
                <a:solidFill>
                  <a:srgbClr val="475569"/>
                </a:solidFill>
                <a:latin typeface="Helvetica Neue"/>
              </a:rPr>
              <a:t>.</a:t>
            </a:r>
          </a:p>
        </p:txBody>
      </p:sp>
      <p:sp>
        <p:nvSpPr>
          <p:cNvPr id="20" name="Rectangle 19"/>
          <p:cNvSpPr/>
          <p:nvPr/>
        </p:nvSpPr>
        <p:spPr>
          <a:xfrm>
            <a:off x="6233007"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5816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Async</a:t>
            </a:r>
          </a:p>
        </p:txBody>
      </p:sp>
      <p:sp>
        <p:nvSpPr>
          <p:cNvPr id="23" name="TextBox 22"/>
          <p:cNvSpPr txBox="1"/>
          <p:nvPr/>
        </p:nvSpPr>
        <p:spPr>
          <a:xfrm>
            <a:off x="6507327" y="2087880"/>
            <a:ext cx="2087803" cy="1783079"/>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await</a:t>
            </a:r>
            <a:r>
              <a:rPr sz="1800" i="0" b="0">
                <a:solidFill>
                  <a:srgbClr val="475569"/>
                </a:solidFill>
                <a:latin typeface="Helvetica Neue"/>
              </a:rPr>
              <a:t> everything. </a:t>
            </a:r>
            <a:r>
              <a:rPr sz="1620" i="0" b="0">
                <a:solidFill>
                  <a:srgbClr val="0F7490"/>
                </a:solidFill>
                <a:latin typeface="Menlo"/>
              </a:rPr>
              <a:t>Promise.all</a:t>
            </a:r>
            <a:r>
              <a:rPr sz="1800" i="0" b="0">
                <a:solidFill>
                  <a:srgbClr val="475569"/>
                </a:solidFill>
                <a:latin typeface="Helvetica Neue"/>
              </a:rPr>
              <a:t> with a limit. An </a:t>
            </a:r>
            <a:r>
              <a:rPr sz="1620" i="0" b="0">
                <a:solidFill>
                  <a:srgbClr val="0F7490"/>
                </a:solidFill>
                <a:latin typeface="Menlo"/>
              </a:rPr>
              <a:t>AbortSignal</a:t>
            </a:r>
            <a:r>
              <a:rPr sz="1800" i="0" b="0">
                <a:solidFill>
                  <a:srgbClr val="475569"/>
                </a:solidFill>
                <a:latin typeface="Helvetica Neue"/>
              </a:rPr>
              <a:t> to cancel.</a:t>
            </a:r>
          </a:p>
        </p:txBody>
      </p:sp>
      <p:sp>
        <p:nvSpPr>
          <p:cNvPr id="24" name="Rectangle 23"/>
          <p:cNvSpPr/>
          <p:nvPr/>
        </p:nvSpPr>
        <p:spPr>
          <a:xfrm>
            <a:off x="9098051" y="1472184"/>
            <a:ext cx="2590723" cy="258165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581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Boundary</a:t>
            </a:r>
          </a:p>
        </p:txBody>
      </p:sp>
      <p:sp>
        <p:nvSpPr>
          <p:cNvPr id="27" name="TextBox 26"/>
          <p:cNvSpPr txBox="1"/>
          <p:nvPr/>
        </p:nvSpPr>
        <p:spPr>
          <a:xfrm>
            <a:off x="9372371" y="2087880"/>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Parse once at the edge with one schema, including tool inputs.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do you go after TypeScript?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Rules to keep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notes/09-typescript-for-ai-apps.md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Next is the AI engineering pillars, after finishing Python 03 and TypeScript 09, then the type challenges for practice.</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10865815" cy="426720"/>
          </a:xfrm>
          <a:prstGeom prst="rect">
            <a:avLst/>
          </a:prstGeom>
          <a:noFill/>
        </p:spPr>
        <p:txBody>
          <a:bodyPr wrap="square" lIns="0" rIns="0" tIns="0" bIns="0" anchor="t">
            <a:noAutofit/>
          </a:bodyPr>
          <a:lstStyle/>
          <a:p>
            <a:pPr algn="l">
              <a:lnSpc>
                <a:spcPct val="110000"/>
              </a:lnSpc>
            </a:pPr>
            <a:r>
              <a:rPr sz="1800" i="0" b="1">
                <a:solidFill>
                  <a:srgbClr val="0F7490"/>
                </a:solidFill>
                <a:latin typeface="Menlo"/>
              </a:rPr>
              <a:t>ai-engineering</a:t>
            </a:r>
            <a:r>
              <a:rPr sz="2000" i="0" b="0">
                <a:solidFill>
                  <a:srgbClr val="1E293B"/>
                </a:solidFill>
                <a:latin typeface="Helvetica Neue"/>
              </a:rPr>
              <a:t>: every pillar's code is Python or TypeScript</a:t>
            </a:r>
          </a:p>
        </p:txBody>
      </p:sp>
      <p:sp>
        <p:nvSpPr>
          <p:cNvPr id="14" name="Rectangle 13"/>
          <p:cNvSpPr/>
          <p:nvPr/>
        </p:nvSpPr>
        <p:spPr>
          <a:xfrm>
            <a:off x="502920" y="20563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5986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Type challenges</a:t>
            </a:r>
            <a:r>
              <a:rPr sz="2000" i="0" b="0">
                <a:solidFill>
                  <a:srgbClr val="1E293B"/>
                </a:solidFill>
                <a:latin typeface="Helvetica Neue"/>
              </a:rPr>
              <a:t>: </a:t>
            </a:r>
            <a:r>
              <a:rPr sz="1800" i="0" b="0">
                <a:solidFill>
                  <a:srgbClr val="0F7490"/>
                </a:solidFill>
                <a:latin typeface="Menlo"/>
              </a:rPr>
              <a:t>node check.ts easy</a:t>
            </a:r>
            <a:r>
              <a:rPr sz="2000" i="0" b="0">
                <a:solidFill>
                  <a:srgbClr val="1E293B"/>
                </a:solidFill>
                <a:latin typeface="Helvetica Neue"/>
              </a:rPr>
              <a:t> and </a:t>
            </a:r>
            <a:r>
              <a:rPr sz="1800" i="0" b="0">
                <a:solidFill>
                  <a:srgbClr val="0F7490"/>
                </a:solidFill>
                <a:latin typeface="Menlo"/>
              </a:rPr>
              <a:t>node check.ts medium</a:t>
            </a:r>
            <a:r>
              <a:rPr sz="2000" i="0" b="0">
                <a:solidFill>
                  <a:srgbClr val="1E293B"/>
                </a:solidFill>
                <a:latin typeface="Helvetica Neue"/>
              </a:rPr>
              <a:t>, from </a:t>
            </a:r>
            <a:r>
              <a:rPr sz="1800" i="0" b="0">
                <a:solidFill>
                  <a:srgbClr val="0F7490"/>
                </a:solidFill>
                <a:latin typeface="Menlo"/>
              </a:rPr>
              <a:t>practice/</a:t>
            </a:r>
          </a:p>
        </p:txBody>
      </p:sp>
      <p:sp>
        <p:nvSpPr>
          <p:cNvPr id="16" name="Rectangle 15"/>
          <p:cNvSpPr/>
          <p:nvPr/>
        </p:nvSpPr>
        <p:spPr>
          <a:xfrm>
            <a:off x="502920" y="25440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447544"/>
            <a:ext cx="10865815"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 real API</a:t>
            </a:r>
            <a:r>
              <a:rPr sz="2000" i="0" b="0">
                <a:solidFill>
                  <a:srgbClr val="1E293B"/>
                </a:solidFill>
                <a:latin typeface="Helvetica Neue"/>
              </a:rPr>
              <a:t>: </a:t>
            </a:r>
            <a:r>
              <a:rPr sz="1800" i="0" b="0">
                <a:solidFill>
                  <a:srgbClr val="0F7490"/>
                </a:solidFill>
                <a:latin typeface="Menlo"/>
              </a:rPr>
              <a:t>node examples/claude.ts</a:t>
            </a:r>
            <a:r>
              <a:rPr sz="2000" i="0" b="0">
                <a:solidFill>
                  <a:srgbClr val="1E293B"/>
                </a:solidFill>
                <a:latin typeface="Helvetica Neue"/>
              </a:rPr>
              <a:t> with </a:t>
            </a:r>
            <a:r>
              <a:rPr sz="1800" i="0" b="0">
                <a:solidFill>
                  <a:srgbClr val="0F7490"/>
                </a:solidFill>
                <a:latin typeface="Menlo"/>
              </a:rPr>
              <a:t>ANTHROPIC_API_KEY</a:t>
            </a:r>
            <a:r>
              <a:rPr sz="2000" i="0" b="0">
                <a:solidFill>
                  <a:srgbClr val="1E293B"/>
                </a:solidFill>
                <a:latin typeface="Helvetica Neue"/>
              </a:rPr>
              <a:t> 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