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study deck for the SQL track. Every slide is a flashcard: the title is the question and the takeaway is the rule that answers it. Asking one table a question, then combining rows, then making it correct and fast in a real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 rejects an alias in WHERE. SQLite accepts it as an extension, so don't rely on it if the query may move.</a:t>
            </a:r>
          </a:p>
          <a:p/>
          <a:p>
            <a:r>
              <a:t>Source: notes/01-select-and-filter.md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Large OFFSETs get slow because skipped rows are still read. Production APIs page by key instead.</a:t>
            </a:r>
          </a:p>
          <a:p/>
          <a:p>
            <a:r>
              <a:t>Source: notes/01-select-and-filter.md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COALESCE is standard and returns the first non-NULL. Prefer half-open ranges to BETWEEN for timestamps. `7 / 2` is 3: integer division catches people in every dialect.</a:t>
            </a:r>
          </a:p>
          <a:p/>
          <a:p>
            <a:r>
              <a:t>Source: notes/02-nulls-and-expressions.md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logic is why `person != 'lake'` silently drops NULL rows.</a:t>
            </a:r>
          </a:p>
          <a:p/>
          <a:p>
            <a:r>
              <a:t>Source: notes/02-nulls-and-expressions.md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SQLite accepting a bare column is a silent bug.</a:t>
            </a:r>
          </a:p>
          <a:p/>
          <a:p>
            <a:r>
              <a:t>Source: notes/03-aggregation.md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Fewer rows reach the grouping step when the filter is in WHERE.</a:t>
            </a:r>
          </a:p>
          <a:p/>
          <a:p>
            <a:r>
              <a:t>Source: notes/03-aggregation.md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 and DuckDB also have count(*) FILTER (WHERE ...). SQLite has no ROLLUP, so emulate it with UNION ALL.</a:t>
            </a:r>
          </a:p>
          <a:p/>
          <a:p>
            <a:r>
              <a:t>Source: notes/03-aggregation.md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Bookings joined to members stays at 4,044 rows because memid is unique in members.</a:t>
            </a:r>
          </a:p>
          <a:p/>
          <a:p>
            <a:r>
              <a:t>Source: notes/04-joins.md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UNION deduplicates, UNION ALL keeps duplicates and is faster. Rewrite RIGHT JOIN as LEFT JOIN for readability.</a:t>
            </a:r>
          </a:p>
          <a:p/>
          <a:p>
            <a:r>
              <a:t>Source: notes/04-joins.md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facility with no bookings still has one row, so count(*) would return 1.</a:t>
            </a:r>
          </a:p>
          <a:p/>
          <a:p>
            <a:r>
              <a:t>Source: notes/04-joins.md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 12+, DuckDB and SQLite inline CTEs unless you ask for MATERIALIZED. A correlated subquery in principle runs once per outer row, so watch it on large tables.</a:t>
            </a:r>
          </a:p>
          <a:p/>
          <a:p>
            <a:r>
              <a:t>Source: notes/05-subqueries-and-ctes.md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date series plus a LEFT JOIN makes empty days show up as zeros.</a:t>
            </a:r>
          </a:p>
          <a:p/>
          <a:p>
            <a:r>
              <a:t>Source: notes/05-subqueries-and-ctes.md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a unique column to the ORDER BY so the result is deterministic.</a:t>
            </a:r>
          </a:p>
          <a:p/>
          <a:p>
            <a:r>
              <a:t>Source: notes/06-window-functions.md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`sum(sum(slots)) OVER (...)` aggregates per group first, then windows, because window functions run after GROUP BY. `lag` and `lead` compare with neighbouring rows.</a:t>
            </a:r>
          </a:p>
          <a:p/>
          <a:p>
            <a:r>
              <a:t>Source: notes/06-window-functions.md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hygiene: atomic values, a stable meaningless key, no redundant data, explicit units.</a:t>
            </a:r>
          </a:p>
          <a:p/>
          <a:p>
            <a:r>
              <a:t>Source: notes/07-modeling-and-ddl.md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foreign keys pragma is the single most common SQLite surprise.</a:t>
            </a:r>
          </a:p>
          <a:p/>
          <a:p>
            <a:r>
              <a:t>Source: notes/07-modeling-and-ddl.md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or DELETE without WHERE changes every row. A view is a saved query, so it always reflects current data.</a:t>
            </a:r>
          </a:p>
          <a:p/>
          <a:p>
            <a:r>
              <a:t>Source: notes/07-modeling-and-ddl.md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plan from clubdata.db. Postgres and DuckDB use EXPLAIN ANALYZE, so compare estimated with actual rows. A big gap means stale statistics.</a:t>
            </a:r>
          </a:p>
          <a:p/>
          <a:p>
            <a:r>
              <a:t>Source: notes/08-indexes-and-query-plans.md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B-tree lookup costs O(log n) against a full scan's O(n). Every write also updates every index, and low-selectivity predicates rightly ignore it.</a:t>
            </a:r>
          </a:p>
          <a:p/>
          <a:p>
            <a:r>
              <a:t>Source: notes/08-indexes-and-query-plans.md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Columnar engines such as DuckDB and BigQuery use zone maps rather than B-trees, so read fewer columns and partition instead.</a:t>
            </a:r>
          </a:p>
          <a:p/>
          <a:p>
            <a:r>
              <a:t>Source: notes/08-indexes-and-query-plans.md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sqlite3 with block commits or rolls back but does not close. Filter and aggregate in SQL, reshape and plot in pandas. DuckDB queries CSV, Parquet and DataFrames directly.</a:t>
            </a:r>
          </a:p>
          <a:p/>
          <a:p>
            <a:r>
              <a:t>Source: notes/09-sql-from-python.md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condense the ten notes.</a:t>
            </a:r>
          </a:p>
          <a:p/>
          <a:p>
            <a:r>
              <a:t>Source: notes/02-nulls-and-expressions.md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`bash practice/setup.sh` downloads the database. Then SQL 09 hands off to pandas in data-analytics 01.</a:t>
            </a:r>
          </a:p>
          <a:p/>
          <a:p>
            <a:r>
              <a:t>Source: notes/10-capstone-murder-mystery.md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5120640" cy="5120640"/>
          </a:xfrm>
          <a:prstGeom prst="ellipse">
            <a:avLst/>
          </a:prstGeom>
          <a:solidFill>
            <a:srgbClr val="D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023360"/>
            <a:ext cx="4023360" cy="4023360"/>
          </a:xfrm>
          <a:prstGeom prst="ellipse">
            <a:avLst/>
          </a:prstGeom>
          <a:solidFill>
            <a:srgbClr val="F6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6000" i="0" b="1">
                <a:solidFill>
                  <a:srgbClr val="FFFFFF"/>
                </a:solidFill>
                <a:latin typeface="Helvetica Neue"/>
              </a:rPr>
              <a:t>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937760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0">
                <a:solidFill>
                  <a:srgbClr val="0EA5C9"/>
                </a:solidFill>
                <a:latin typeface="Helvetica Neue"/>
              </a:rPr>
              <a:t>From SELECT to query plans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16936"/>
            <a:ext cx="4572000" cy="457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36976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Filtering · NULL · Aggregation · Joins</a:t>
            </a:r>
          </a:p>
          <a:p>
            <a:pPr algn="l">
              <a:lnSpc>
                <a:spcPct val="125000"/>
              </a:lnSpc>
            </a:pPr>
            <a:r>
              <a:rPr sz="1500" i="0" b="0">
                <a:solidFill>
                  <a:srgbClr val="94A3B8"/>
                </a:solidFill>
                <a:latin typeface="Helvetica Neue"/>
              </a:rPr>
              <a:t>CTEs · Window functions · Indexes · SQL from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13331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513331"/>
            <a:ext cx="91440" cy="1143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41347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1: Asking a table a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54402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Evaluation order · NULL logic · Aggregates · WHERE and HAVING · Pivots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857499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857499"/>
            <a:ext cx="91440" cy="1143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985515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2: Combining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98570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Join kinds · The LEFT JOIN trap · CTEs · Recursion · Window functions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201667"/>
            <a:ext cx="5196535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4201667"/>
            <a:ext cx="91440" cy="1143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329683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0" b="1">
                <a:solidFill>
                  <a:srgbClr val="1E293B"/>
                </a:solidFill>
                <a:latin typeface="Helvetica Neue"/>
              </a:rPr>
              <a:t>Part 3: Correct, fast and 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42738"/>
            <a:ext cx="478505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0">
                <a:solidFill>
                  <a:srgbClr val="475569"/>
                </a:solidFill>
                <a:latin typeface="Helvetica Neue"/>
              </a:rPr>
              <a:t>Constraints · Transactions · Query plans · Composite indexes · Sargable predicates ·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6355080"/>
            <a:ext cx="51965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i="1" b="0">
                <a:solidFill>
                  <a:srgbClr val="94A3B8"/>
                </a:solidFill>
                <a:latin typeface="Helvetica Neue"/>
              </a:rPr>
              <a:t>Notes: programming/sql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Asking a table a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Evaluation order · NULL logic · Aggregates · WHERE and HAVING · Pivots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680210"/>
            <a:ext cx="0" cy="349758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680210"/>
            <a:ext cx="4693615" cy="36804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can't WHERE see a column alias?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In what order does SQL evaluate a query?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a comparison with NULL return?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can NOT IN return no rows at all?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is the difference between count(*) and count(col)?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When do you filter with WHERE, and when with HAVING?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pivot rows into columns portably?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Why can't WHERE see a column alias?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Asking a table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notes/01-select-and-filter.md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i="0" b="1">
                <a:solidFill>
                  <a:srgbClr val="1E3A5F"/>
                </a:solidFill>
                <a:latin typeface="Menlo"/>
              </a:rPr>
              <a:t>WHERE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runs before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SELECT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, so in standard SQL it can't see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SELECT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aliases.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ORDER BY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runs after, so it can.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997964"/>
            <a:ext cx="109728" cy="29626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99796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You write </a:t>
            </a:r>
            <a:r>
              <a:rPr sz="3240" i="0" b="1">
                <a:solidFill>
                  <a:srgbClr val="0F7490"/>
                </a:solidFill>
                <a:latin typeface="Menlo"/>
              </a:rPr>
              <a:t>SELECT</a:t>
            </a:r>
            <a:r>
              <a:rPr sz="3600" i="0" b="1">
                <a:solidFill>
                  <a:srgbClr val="1E3A5F"/>
                </a:solidFill>
                <a:latin typeface="Helvetica Neue"/>
              </a:rPr>
              <a:t> first, and the database evaluates it nearly last. Most "why can't I use that here" errors come from that gap.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491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i="1" b="0">
                <a:solidFill>
                  <a:srgbClr val="475569"/>
                </a:solidFill>
                <a:latin typeface="Helvetica Neue"/>
              </a:rPr>
              <a:t>A query describes the rows you want, and the database decides how to fetch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In what order does SQL evaluate a query?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Order of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Asking a table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notes/01-select-and-filter.md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FROM, WHERE, GROUP BY, HAVING, SELECT, DISTINCT, ORDER BY, LIMIT. Rows have no order unless you ask for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563624"/>
            <a:ext cx="1834835" cy="170840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63624"/>
            <a:ext cx="1560515" cy="17084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FROM</a:t>
            </a:r>
            <a:r>
              <a:rPr sz="1700" i="0" b="1">
                <a:solidFill>
                  <a:srgbClr val="FFFFFF"/>
                </a:solidFill>
                <a:latin typeface="Helvetica Neue"/>
              </a:rPr>
              <a:t> / </a:t>
            </a:r>
            <a:r>
              <a:rPr sz="1530" i="0" b="1">
                <a:solidFill>
                  <a:srgbClr val="E8F4F8"/>
                </a:solidFill>
                <a:latin typeface="Menlo"/>
              </a:rPr>
              <a:t>JOIN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which rows exist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2619" y="241782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40675" y="1563624"/>
            <a:ext cx="1834835" cy="170840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7835" y="1563624"/>
            <a:ext cx="1560515" cy="17084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WHERE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filter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30374" y="241782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8430" y="1563624"/>
            <a:ext cx="1834835" cy="170840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5590" y="1563624"/>
            <a:ext cx="1560515" cy="17084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GROUP BY</a:t>
            </a:r>
            <a:r>
              <a:rPr sz="1700" i="0" b="1">
                <a:solidFill>
                  <a:srgbClr val="FFFFFF"/>
                </a:solidFill>
                <a:latin typeface="Helvetica Neue"/>
              </a:rPr>
              <a:t> / </a:t>
            </a:r>
            <a:r>
              <a:rPr sz="1530" i="0" b="1">
                <a:solidFill>
                  <a:srgbClr val="E8F4F8"/>
                </a:solidFill>
                <a:latin typeface="Menlo"/>
              </a:rPr>
              <a:t>HAVING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collapse, then filter groups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8129" y="241782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16185" y="1563624"/>
            <a:ext cx="1834835" cy="1708404"/>
          </a:xfrm>
          <a:prstGeom prst="roundRect">
            <a:avLst>
              <a:gd name="adj" fmla="val 12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3345" y="1563624"/>
            <a:ext cx="1560515" cy="17084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SELECT</a:t>
            </a:r>
            <a:r>
              <a:rPr sz="1700" i="0" b="1">
                <a:solidFill>
                  <a:srgbClr val="FFFFFF"/>
                </a:solidFill>
                <a:latin typeface="Helvetica Neue"/>
              </a:rPr>
              <a:t> / </a:t>
            </a:r>
            <a:r>
              <a:rPr sz="1530" i="0" b="1">
                <a:solidFill>
                  <a:srgbClr val="E8F4F8"/>
                </a:solidFill>
                <a:latin typeface="Menlo"/>
              </a:rPr>
              <a:t>DISTINCT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aliases and window functions appear here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05884" y="241782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53940" y="1563624"/>
            <a:ext cx="1834835" cy="170840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1100" y="1563624"/>
            <a:ext cx="1560515" cy="17084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ORDER BY</a:t>
            </a:r>
            <a:r>
              <a:rPr sz="1700" i="0" b="1">
                <a:solidFill>
                  <a:srgbClr val="FFFFFF"/>
                </a:solidFill>
                <a:latin typeface="Helvetica Neue"/>
              </a:rPr>
              <a:t> / </a:t>
            </a:r>
            <a:r>
              <a:rPr sz="1530" i="0" b="1">
                <a:solidFill>
                  <a:srgbClr val="E8F4F8"/>
                </a:solidFill>
                <a:latin typeface="Menlo"/>
              </a:rPr>
              <a:t>LIMIT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can use aliases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83762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59206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Rows have no order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: without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ORDER BY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LIMIT 10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returns an arbitrary ten rows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47058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5536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1">
                <a:solidFill>
                  <a:srgbClr val="1E293B"/>
                </a:solidFill>
                <a:latin typeface="Helvetica Neue"/>
              </a:rPr>
              <a:t>Always parenthesise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mixed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AND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and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OR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, because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AND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binds tighter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What does a comparison with NULL return?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Three-valued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Asking a table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notes/02-nulls-and-expressions.md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NULL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means unknown,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WHERE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keeps only true rows. Test with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IS NULL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, never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= NULL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432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4695"/>
                <a:gridCol w="6991159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Expression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Result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NULL = NULL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NULL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, which is not true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NULL &lt;&gt; 1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NULL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1 + NULL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NULL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NULL AND false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false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NULL OR true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true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Why can NOT IN return no rows at 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NULL trap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Asking a table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notes/02-nulls-and-expressions.md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One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NULL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in the subquery makes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x NOT IN (...)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never true, so use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NOT EXISTS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for anti-joins.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33680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27279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-- Drops rows where person is NULL, not just lake's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SELECT * FROM Survey WHERE person != 'lake';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-- Says what you mean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SELECT * FROM Survey WHERE person != 'lake' OR person IS NULL;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-- One NULL from the subquery and this is never true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WHERE x NOT IN (SELECT y FROM t)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-- Safe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WHERE NOT EXISTS (SELECT 1 FROM t WHERE t.y = 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FFFFFF"/>
                </a:solidFill>
                <a:latin typeface="Helvetica Neue"/>
              </a:rPr>
              <a:t>What is the difference between count(*) and count(col)?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Aggregates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Asking a table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notes/03-aggregation.md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50" i="0" b="1">
                <a:solidFill>
                  <a:srgbClr val="1E3A5F"/>
                </a:solidFill>
                <a:latin typeface="Menlo"/>
              </a:rPr>
              <a:t>count(*)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counts rows and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count(col)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skips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NULL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. In a grouped query, every column is a key or an aggregate.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6870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47218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0F7490"/>
                </a:solidFill>
                <a:latin typeface="Menlo"/>
              </a:rPr>
              <a:t>count(*)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counts rows,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s included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638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5986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0F7490"/>
                </a:solidFill>
                <a:latin typeface="Menlo"/>
              </a:rPr>
              <a:t>count(col)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counts non-</a:t>
            </a:r>
            <a:r>
              <a:rPr sz="180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values, and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count(DISTINCT col)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the distinct 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406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4754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0F7490"/>
                </a:solidFill>
                <a:latin typeface="Menlo"/>
              </a:rPr>
              <a:t>sum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avg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,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min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and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max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ignore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, so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avg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divides by the non-</a:t>
            </a:r>
            <a:r>
              <a:rPr sz="180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3174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35224"/>
            <a:ext cx="10865815" cy="426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0F7490"/>
                </a:solidFill>
                <a:latin typeface="Menlo"/>
              </a:rPr>
              <a:t>sum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of zero rows is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, not 0: wrap it in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COALESCE(…, 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19424"/>
            <a:ext cx="106680" cy="106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422904"/>
            <a:ext cx="10865815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1E293B"/>
                </a:solidFill>
                <a:latin typeface="Helvetica Neue"/>
              </a:rPr>
              <a:t>A bare column outside </a:t>
            </a:r>
            <a:r>
              <a:rPr sz="1800" i="0" b="0">
                <a:solidFill>
                  <a:srgbClr val="0F7490"/>
                </a:solidFill>
                <a:latin typeface="Menlo"/>
              </a:rPr>
              <a:t>GROUP BY</a:t>
            </a:r>
            <a:r>
              <a:rPr sz="2000" i="0" b="0">
                <a:solidFill>
                  <a:srgbClr val="1E293B"/>
                </a:solidFill>
                <a:latin typeface="Helvetica Neue"/>
              </a:rPr>
              <a:t> is an error in Postgres, and an arbitrary value in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100" i="0" b="1">
                <a:solidFill>
                  <a:srgbClr val="FFFFFF"/>
                </a:solidFill>
                <a:latin typeface="Helvetica Neue"/>
              </a:rPr>
              <a:t>When do you filter with WHERE, and when with HAVING?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Rows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Asking a table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notes/03-aggregation.md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WHERE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filters rows before grouping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HAVING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filters groups after. Push all you can into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WHERE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WHERE: rows, before grouping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SELECT facid, sum(slots)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FROM bookings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WHERE starttime &gt;= '2012-09-01'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GROUP BY facid;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Can't see aggregates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HAVING: groups, after grouping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SELECT facid, sum(slots)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FROM bookings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GROUP BY facid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HAVING sum(slots) &gt; 1000;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Can see aggregates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How do you pivot rows into columns portably?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Conditional 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1 · Asking a table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notes/03-aggregation.md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Put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CASE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inside an aggregate, one per output column. It is the portable way to pivot.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148839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5087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SELECT facid,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sum(CASE WHEN strftime('%m', starttime) = '07' THEN slots ELSE 0 END) AS jul,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sum(CASE WHEN strftime('%m', starttime) = '08' THEN slots ELSE 0 END) AS aug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FROM bookings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WHERE starttime &gt;= '2012-07-01' AND starttime &lt; '2012-09-01'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GROUP BY facid;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D4621A"/>
                </a:solidFill>
                <a:latin typeface="Helvetica Neue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021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Combining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7847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Join kinds · The LEFT JOIN trap · CTEs · Recursion · Window functions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809750"/>
            <a:ext cx="0" cy="323850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809750"/>
            <a:ext cx="4693615" cy="3421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happens to a row with no partner?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rows does each join keep?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does WHERE undo a LEFT JOIN?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Why use a CTE instead of a nested subquery?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does a recursive CTE work?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get the top N rows per group?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row_number, rank and dense_rank differ?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happens to a row with no partner?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Combining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notes/04-joins.md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The join kind decides what happens to unmatched rows. If rows multiply, the key isn't unique on one side.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997964"/>
            <a:ext cx="109728" cy="25054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1997964"/>
            <a:ext cx="10088575" cy="2596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i="0" b="1">
                <a:solidFill>
                  <a:srgbClr val="1E3A5F"/>
                </a:solidFill>
                <a:latin typeface="Helvetica Neue"/>
              </a:rPr>
              <a:t>A join pairs rows that satisfy a condition. The kind of join decides who survives, and the key decides how many rows come out.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Which rows does each join keep?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Join kinds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Combining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notes/04-joins.md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An inner join drops unmatched rows, and a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LEFT JOIN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keeps every left row with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NULL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s on the right.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5" cy="28376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1770"/>
                <a:gridCol w="7804085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Join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Keeps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JOIN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Only matching pairs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LEFT JOIN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Every left row, with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NULL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s on the right where there's no match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FULL OUTER JOIN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Unmatched rows from both sides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CROSS JOIN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Every pair, useful for facility × month grids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Self-join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One table, two aliases, for a key pointing back into the table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1E293B"/>
                          </a:solidFill>
                          <a:latin typeface="Helvetica Neue"/>
                        </a:rPr>
                        <a:t>Anti-join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LEFT JOIN … WHERE right.key IS NULL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: rows with no match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How does WHERE undo a LEFT JOIN?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The LEFT JOIN trap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Combining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notes/04-joins.md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A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WHERE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filter on the right table discards the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NULL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 rows, so put the condition in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ON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. Count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b.bookid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, not </a:t>
            </a:r>
            <a:r>
              <a:rPr sz="1350" i="0" b="1">
                <a:solidFill>
                  <a:srgbClr val="1E3A5F"/>
                </a:solidFill>
                <a:latin typeface="Menlo"/>
              </a:rPr>
              <a:t>*</a:t>
            </a:r>
            <a:r>
              <a:rPr sz="1500" i="0" b="1">
                <a:solidFill>
                  <a:srgbClr val="1E3A5F"/>
                </a:solidFill>
                <a:latin typeface="Helvetica Neue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Filter in WHERE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FROM facilities f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LEFT JOIN bookings b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ON b.facid = f.facid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WHERE b.starttime &gt;= '2012-09-01'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NULL rows are thrown away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Filter in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FROM facilities f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LEFT JOIN bookings b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ON b.facid = f.facid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AND b.starttime &gt;= '2012-09-01'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Facilities with no bookings stay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i="0" b="1">
                <a:solidFill>
                  <a:srgbClr val="FFFFFF"/>
                </a:solidFill>
                <a:latin typeface="Helvetica Neue"/>
              </a:rPr>
              <a:t>Why use a CTE instead of a nested subquery?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Common table expressions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Combining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notes/05-subqueries-and-ctes.md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A CTE names each step so the query reads top to bottom and each step can be tested alone, usually at no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33680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27279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WITH member_slots AS 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SELECT memid, sum(slots) AS slots FROM bookings GROUP BY memid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),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ranked AS 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SELECT memid, slots,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slots * 1.0 / (SELECT sum(slots) FROM member_slots) AS share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FROM member_slots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SELECT m.surname, r.slots, round(r.share * 100, 1) AS pct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FROM ranked r JOIN members m USING (memid)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ORDER BY r.slots DESC LIMIT 5;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How does a recursive CTE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Recursive CTEs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Combining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notes/05-subqueries-and-ctes.md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1E3A5F"/>
                </a:solidFill>
                <a:latin typeface="Helvetica Neue"/>
              </a:rPr>
              <a:t>An anchor,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UNION ALL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, then a step that reads the CTE, repeated until no rows come back. Always give it a stopping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Anchor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the starting rows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UNION ALL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joins the two halves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Step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refers to the CTE itself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166366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205484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2054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Stop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when the step returns no rows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16387" y="2769108"/>
            <a:ext cx="0" cy="41148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775307" y="3180588"/>
            <a:ext cx="8641080" cy="0"/>
          </a:xfrm>
          <a:prstGeom prst="line">
            <a:avLst/>
          </a:prstGeom>
          <a:ln w="22225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775307" y="2805684"/>
            <a:ext cx="0" cy="374904"/>
          </a:xfrm>
          <a:prstGeom prst="line">
            <a:avLst/>
          </a:prstGeom>
          <a:ln w="22225">
            <a:solidFill>
              <a:srgbClr val="1665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75307" y="3217164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i="1" b="0">
                <a:solidFill>
                  <a:srgbClr val="166534"/>
                </a:solidFill>
                <a:latin typeface="Helvetica Neue"/>
              </a:rPr>
              <a:t>repeat the step on the new rows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003801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12108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Use it for hierarchies, graphs and date series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67098"/>
            <a:ext cx="101346" cy="10134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75404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A cycle in the data loops forever without a depth limit or a visited-path check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i="0" b="1">
                <a:solidFill>
                  <a:srgbClr val="FFFFFF"/>
                </a:solidFill>
                <a:latin typeface="Helvetica Neue"/>
              </a:rPr>
              <a:t>How do you get the top N rows per group?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Window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Combining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notes/06-window-functions.md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i="0" b="1">
                <a:solidFill>
                  <a:srgbClr val="1E3A5F"/>
                </a:solidFill>
                <a:latin typeface="Helvetica Neue"/>
              </a:rPr>
              <a:t>A window function computes over a group and keeps every row. Rank inside a CTE, because you can't filter on it in the same query.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72184"/>
            <a:ext cx="11185855" cy="263652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0" b="1">
                <a:solidFill>
                  <a:srgbClr val="94A3B8"/>
                </a:solidFill>
                <a:latin typeface="Helvetica Neue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83664"/>
            <a:ext cx="10728655" cy="1996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-- func(args) OVER (PARTITION BY ... ORDER BY ... ROWS BETWEEN ...)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WITH ranked AS (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SELECT memid, bookid, slots,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row_number() OVER (PARTITION BY memid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                          ORDER BY slots DESC, bookid) AS rn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  FROM bookings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E2E8F0"/>
                </a:solidFill>
                <a:latin typeface="Menlo"/>
              </a:rPr>
              <a:t>SELECT * FROM ranked WHERE rn &lt;= 3;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FFFFFF"/>
                </a:solidFill>
                <a:latin typeface="Helvetica Neue"/>
              </a:rPr>
              <a:t>How do row_number, rank and dense_rank differ?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D4621A"/>
                </a:solidFill>
                <a:latin typeface="Helvetica Neue"/>
              </a:rPr>
              <a:t>Ranking and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2 · Combining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notes/06-window-functions.md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11185855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30" i="0" b="0">
                <a:solidFill>
                  <a:srgbClr val="0F7490"/>
                </a:solidFill>
                <a:latin typeface="Menlo"/>
              </a:rPr>
              <a:t>ORDER BY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 with no frame defaults to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RANGE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, which includes peers. Say </a:t>
            </a:r>
            <a:r>
              <a:rPr sz="1530" i="0" b="0">
                <a:solidFill>
                  <a:srgbClr val="0F7490"/>
                </a:solidFill>
                <a:latin typeface="Menlo"/>
              </a:rPr>
              <a:t>ROWS</a:t>
            </a:r>
            <a:r>
              <a:rPr sz="1700" i="0" b="0">
                <a:solidFill>
                  <a:srgbClr val="475569"/>
                </a:solidFill>
                <a:latin typeface="Helvetica Neue"/>
              </a:rPr>
              <a:t> when sort keys repeat.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40" i="0" b="1">
                <a:solidFill>
                  <a:srgbClr val="1E3A5F"/>
                </a:solidFill>
                <a:latin typeface="Menlo"/>
              </a:rPr>
              <a:t>row_number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is always unique,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rank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leaves gaps after ties and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dense_rank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doesn't.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985772"/>
          <a:ext cx="11185853" cy="1621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95958"/>
                <a:gridCol w="3195958"/>
                <a:gridCol w="4793937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Function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Ranks for 10, 10, 8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Ties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row_number()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1, 2, 3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Arbitrary tie-break, always unique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rank()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1, 1, 3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Ties share a rank, then gaps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dense_rank()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1, 1, 2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Ties share a rank, no gaps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0F7490"/>
                </a:solidFill>
                <a:latin typeface="Helvetica Neue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486400" cy="1859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i="0" b="1">
                <a:solidFill>
                  <a:srgbClr val="FFFFFF"/>
                </a:solidFill>
                <a:latin typeface="Helvetica Neue"/>
              </a:rPr>
              <a:t>Correct, fast and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66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0EA5C9"/>
                </a:solidFill>
                <a:latin typeface="Helvetica Neue"/>
              </a:rPr>
              <a:t>Constraints · Transactions · Query plans · Composite indexes · Sargable predicates · Parameters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1680210"/>
            <a:ext cx="0" cy="3497580"/>
          </a:xfrm>
          <a:prstGeom prst="line">
            <a:avLst/>
          </a:prstGeom>
          <a:ln w="19050">
            <a:solidFill>
              <a:srgbClr val="3B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66560" y="1680210"/>
            <a:ext cx="4693615" cy="36804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Who should enforce the rules on your data?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does each constraint promise?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make writes safe to re-run?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you read a query plan?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Which queries can use an index on (memid, starttime)?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What makes a predicate sargable?</a:t>
            </a:r>
          </a:p>
          <a:p>
            <a:pPr algn="l">
              <a:lnSpc>
                <a:spcPct val="100000"/>
              </a:lnSpc>
              <a:spcBef>
                <a:spcPts val="1189"/>
              </a:spcBef>
            </a:pPr>
            <a:r>
              <a:rPr sz="1700" i="0" b="0">
                <a:solidFill>
                  <a:srgbClr val="CBD5E1"/>
                </a:solidFill>
                <a:latin typeface="Helvetica Neue"/>
              </a:rPr>
              <a:t>How do values get from Python into SQL safely?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64748B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i="0" b="1">
                <a:solidFill>
                  <a:srgbClr val="FFFFFF"/>
                </a:solidFill>
                <a:latin typeface="Helvetica Neue"/>
              </a:rPr>
              <a:t>Who should enforce the rules on your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Correct, fast and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notes/07-modeling-and-ddl.md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i="0" b="1">
                <a:solidFill>
                  <a:srgbClr val="1E3A5F"/>
                </a:solidFill>
                <a:latin typeface="Helvetica Neue"/>
              </a:rPr>
              <a:t>Constraints let the database keep the schema's promises, so the rules hold for every program that writes.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32076"/>
            <a:ext cx="109728" cy="2237232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132076"/>
            <a:ext cx="10088575" cy="2328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i="0" b="1">
                <a:solidFill>
                  <a:srgbClr val="1E3A5F"/>
                </a:solidFill>
                <a:latin typeface="Helvetica Neue"/>
              </a:rPr>
              <a:t>A schema makes promises about its data, an index makes a query fast at a price, and a parameter keeps a value from becoming code. All three belong below your application.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does each constraint promise?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Correct, fast and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notes/07-modeling-and-ddl.md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1E3A5F"/>
                </a:solidFill>
                <a:latin typeface="Helvetica Neue"/>
              </a:rPr>
              <a:t>Primary keys,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UNIQUE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NOT NULL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,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CHECK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 and foreign keys are promises, and SQLite enforces foreign keys only after the pragma.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82296" cy="2883408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PRIMARY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Unique and not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 One per table, and it can span columns.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7963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7963" y="1472184"/>
            <a:ext cx="82296" cy="28834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UNIQUE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2283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No duplicates, though it allows multiple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NULL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472184"/>
            <a:ext cx="82296" cy="2883408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NOT NULL,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7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The value is present, and meets a condition on each row.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051" y="1472184"/>
            <a:ext cx="2590723" cy="28834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051" y="1472184"/>
            <a:ext cx="82296" cy="28834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371" y="2087880"/>
            <a:ext cx="2087803" cy="2084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The value exists in the parent. SQLite needs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PRAGMA foreign_keys = ON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per connection.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How do you make writes safe to re-run?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Upserts and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Correct, fast and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notes/07-modeling-and-ddl.md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1E3A5F"/>
                </a:solidFill>
                <a:latin typeface="Helvetica Neue"/>
              </a:rPr>
              <a:t>Idempotent loads use upserts or delete-then-insert in a transaction. Check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UPDATE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 and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DELETE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 with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SELECT count(*)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Upsert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135636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899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INSERT INTO facilities (facid, name)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VALUES (9, 'Spa')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ON CONFLICT (facid) DO UPDATE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SET name = excluded.name;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080" i="0" b="0">
                <a:solidFill>
                  <a:srgbClr val="0F7490"/>
                </a:solidFill>
                <a:latin typeface="Menlo"/>
              </a:rPr>
              <a:t>excluded</a:t>
            </a:r>
            <a:r>
              <a:rPr sz="1200" i="0" b="0">
                <a:solidFill>
                  <a:srgbClr val="475569"/>
                </a:solidFill>
                <a:latin typeface="Helvetica Neue"/>
              </a:rPr>
              <a:t> is the row you tried to insert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Transaction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2231136"/>
            <a:ext cx="4907127" cy="22098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2459736"/>
            <a:ext cx="4449927" cy="17525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BEGIN;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UPDATE accounts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SET balance = balance - 100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WHERE id = 1;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UPDATE accounts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SET balance = balance + 100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WHERE id = 2;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COMMIT;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Every statement or none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How do you read a query plan?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EXPLAIN QUERY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Correct, fast and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notes/08-indexes-and-query-plans.md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1E3A5F"/>
                </a:solidFill>
                <a:latin typeface="Helvetica Neue"/>
              </a:rPr>
              <a:t>The first line is the outer table of the join. Ask whether it is a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SEARCH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 or a </a:t>
            </a:r>
            <a:r>
              <a:rPr sz="1170" i="0" b="1">
                <a:solidFill>
                  <a:srgbClr val="1E3A5F"/>
                </a:solidFill>
                <a:latin typeface="Menlo"/>
              </a:rPr>
              <a:t>SCAN</a:t>
            </a:r>
            <a:r>
              <a:rPr sz="1300" i="0" b="1">
                <a:solidFill>
                  <a:srgbClr val="1E3A5F"/>
                </a:solidFill>
                <a:latin typeface="Helvetica Neue"/>
              </a:rPr>
              <a:t>, and how many rows it feeds the rest.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58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74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SEARCH b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outer loop: index range on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memid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,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starttime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8891" y="2275332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694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410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530" i="0" b="1">
                <a:solidFill>
                  <a:srgbClr val="E8F4F8"/>
                </a:solidFill>
                <a:latin typeface="Menlo"/>
              </a:rPr>
              <a:t>SEARCH f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inner loop: one primary-key lookup per row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99251" y="2275332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4730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Temp b-tree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for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GROUP BY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: no index sorts by name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9611" y="2275332"/>
            <a:ext cx="393192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27667" y="1563624"/>
            <a:ext cx="2377440" cy="1423416"/>
          </a:xfrm>
          <a:prstGeom prst="roundRect">
            <a:avLst>
              <a:gd name="adj" fmla="val 12000"/>
            </a:avLst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1563624"/>
            <a:ext cx="2103120" cy="14234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700" i="0" b="1">
                <a:solidFill>
                  <a:srgbClr val="FFFFFF"/>
                </a:solidFill>
                <a:latin typeface="Helvetica Neue"/>
              </a:rPr>
              <a:t>Temp b-tree</a:t>
            </a:r>
          </a:p>
          <a:p>
            <a:pPr algn="ctr">
              <a:lnSpc>
                <a:spcPct val="110000"/>
              </a:lnSpc>
            </a:pPr>
            <a:r>
              <a:rPr sz="1300" i="0" b="0">
                <a:solidFill>
                  <a:srgbClr val="E8F4F8"/>
                </a:solidFill>
                <a:latin typeface="Helvetica Neue"/>
              </a:rPr>
              <a:t>for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ORDER BY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: </a:t>
            </a:r>
            <a:r>
              <a:rPr sz="1300" i="0" b="0">
                <a:solidFill>
                  <a:srgbClr val="E8F4F8"/>
                </a:solidFill>
                <a:latin typeface="Menlo"/>
              </a:rPr>
              <a:t>n</a:t>
            </a:r>
            <a:r>
              <a:rPr sz="1300" i="0" b="0">
                <a:solidFill>
                  <a:srgbClr val="E8F4F8"/>
                </a:solidFill>
                <a:latin typeface="Helvetica Neue"/>
              </a:rPr>
              <a:t> exists only after grouping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98774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07080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10" i="0" b="0">
                <a:solidFill>
                  <a:srgbClr val="0F7490"/>
                </a:solidFill>
                <a:latin typeface="Menlo"/>
              </a:rPr>
              <a:t>SCAN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reads every row,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SEARCH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uses an index, and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COVERING INDEX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 never reads the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62069"/>
            <a:ext cx="101346" cy="10134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70375"/>
            <a:ext cx="10865815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i="0" b="0">
                <a:solidFill>
                  <a:srgbClr val="1E293B"/>
                </a:solidFill>
                <a:latin typeface="Helvetica Neue"/>
              </a:rPr>
              <a:t>Filtered only by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date(starttime) = …</a:t>
            </a:r>
            <a:r>
              <a:rPr sz="1900" i="0" b="0">
                <a:solidFill>
                  <a:srgbClr val="1E293B"/>
                </a:solidFill>
                <a:latin typeface="Helvetica Neue"/>
              </a:rPr>
              <a:t>, the same table plans as </a:t>
            </a:r>
            <a:r>
              <a:rPr sz="1710" i="0" b="0">
                <a:solidFill>
                  <a:srgbClr val="0F7490"/>
                </a:solidFill>
                <a:latin typeface="Menlo"/>
              </a:rPr>
              <a:t>SCAN bookings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i="0" b="1">
                <a:solidFill>
                  <a:srgbClr val="FFFFFF"/>
                </a:solidFill>
                <a:latin typeface="Helvetica Neue"/>
              </a:rPr>
              <a:t>Which queries can use an index on (memid, starttime)?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Composite indexes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Correct, fast and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notes/08-indexes-and-query-plans.md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i="0" b="1">
                <a:solidFill>
                  <a:srgbClr val="1E3A5F"/>
                </a:solidFill>
                <a:latin typeface="Helvetica Neue"/>
              </a:rPr>
              <a:t>Put equality columns first and the range or sort column last, like a phone book sorted by surname then first name.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4" cy="202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02723"/>
                <a:gridCol w="5983131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Query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Uses the index?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WHERE memid = 5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Yes, using the leftmost prefix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WHERE memid = 5 AND starttime &gt;= …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Yes: equality first, then a range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WHERE starttime &gt;= …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Not efficiently: the leading column is missing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WHERE memid &gt; 5 AND starttime = …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Only for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memid</a:t>
                      </a: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: nothing narrows after a range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makes a predicate sargable?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Sargable predicates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Correct, fast and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notes/08-indexes-and-query-plans.md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Wrapping an indexed column in a function usually hides it from the index, so compare the bare column.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472184"/>
          <a:ext cx="11185855" cy="2026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2451"/>
                <a:gridCol w="6503404"/>
              </a:tblGrid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Not sargable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1">
                          <a:solidFill>
                            <a:srgbClr val="FFFFFF"/>
                          </a:solidFill>
                          <a:latin typeface="Helvetica Neue"/>
                        </a:rPr>
                        <a:t>Rewrite</a:t>
                      </a:r>
                    </a:p>
                  </a:txBody>
                  <a:tcPr marL="109728" marR="109728" marT="54864" marB="54864" anchor="ctr">
                    <a:solidFill>
                      <a:srgbClr val="1E3A5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date(starttime) = '2012-09-14'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starttime &gt;= '2012-09-14' AND starttime &lt; '2012-09-15'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slots * 2 &gt; 6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slots &gt; 3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lower(surname) = 'smith'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An expression index on </a:t>
                      </a:r>
                      <a:r>
                        <a:rPr sz="1530" i="0" b="0">
                          <a:solidFill>
                            <a:srgbClr val="0F7490"/>
                          </a:solidFill>
                          <a:latin typeface="Menlo"/>
                        </a:rPr>
                        <a:t>lower(surname)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530" i="0" b="1">
                          <a:solidFill>
                            <a:srgbClr val="0F7490"/>
                          </a:solidFill>
                          <a:latin typeface="Menlo"/>
                        </a:rPr>
                        <a:t>surname LIKE '%mith'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700" i="0" b="0">
                          <a:solidFill>
                            <a:srgbClr val="475569"/>
                          </a:solidFill>
                          <a:latin typeface="Helvetica Neue"/>
                        </a:rPr>
                        <a:t>Full-text search or a trigram index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FFFFFF"/>
                </a:solidFill>
                <a:latin typeface="Helvetica Neue"/>
              </a:rPr>
              <a:t>How do values get from Python into SQL safely?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Part 3 · Correct, fast and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notes/09-sql-from-python.md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1E3A5F"/>
                </a:solidFill>
                <a:latin typeface="Helvetica Neue"/>
              </a:rPr>
              <a:t>The driver sends SQL and values separately. Parameters work only for values, so check table names against an allow-list.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72184"/>
            <a:ext cx="5410047" cy="5577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475569"/>
                </a:solidFill>
                <a:latin typeface="Helvetica Neue"/>
              </a:rPr>
              <a:t>Pasted string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31136"/>
            <a:ext cx="4907127" cy="1143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59736"/>
            <a:ext cx="444992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conn.execute(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f"SELECT * FROM members "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f"WHERE surname = '{name}'")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SQL injection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1472184"/>
            <a:ext cx="5410047" cy="401421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472184"/>
            <a:ext cx="5410047" cy="55778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472184"/>
            <a:ext cx="4952847" cy="5577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FFFFFF"/>
                </a:solidFill>
                <a:latin typeface="Helvetica Neue"/>
              </a:rPr>
              <a:t>Parameter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7327" y="2231136"/>
            <a:ext cx="4907127" cy="1143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5927" y="2459736"/>
            <a:ext cx="444992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conn.execute(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"SELECT * FROM members "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E2E8F0"/>
                </a:solidFill>
                <a:latin typeface="Menlo"/>
              </a:rPr>
              <a:t>  "WHERE surname = ?", (name,))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1607" y="4956048"/>
            <a:ext cx="5044287" cy="347472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4956048"/>
            <a:ext cx="4861407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i="0" b="0">
                <a:solidFill>
                  <a:srgbClr val="475569"/>
                </a:solidFill>
                <a:latin typeface="Helvetica Neue"/>
              </a:rPr>
              <a:t>A value can never become code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8585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What are the SQL rules?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Rules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notes/02-nulls-and-expressions.md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3A5F"/>
                </a:solidFill>
                <a:latin typeface="Helvetica Neue"/>
              </a:rPr>
              <a:t>Handle </a:t>
            </a:r>
            <a:r>
              <a:rPr sz="1440" i="0" b="1">
                <a:solidFill>
                  <a:srgbClr val="1E3A5F"/>
                </a:solidFill>
                <a:latin typeface="Menlo"/>
              </a:rPr>
              <a:t>NULL</a:t>
            </a:r>
            <a:r>
              <a:rPr sz="1600" i="0" b="1">
                <a:solidFill>
                  <a:srgbClr val="1E3A5F"/>
                </a:solidFill>
                <a:latin typeface="Helvetica Neue"/>
              </a:rPr>
              <a:t> deliberately, check row counts after joins, read the plan, and pass values as parameters.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82296" cy="2581656"/>
          </a:xfrm>
          <a:prstGeom prst="rect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20" i="0" b="0">
                <a:solidFill>
                  <a:srgbClr val="0F7490"/>
                </a:solidFill>
                <a:latin typeface="Menlo"/>
              </a:rPr>
              <a:t>IS NULL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, not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= NULL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NOT EXISTS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, not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NOT IN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 Parenthesise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AND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/</a:t>
            </a:r>
            <a:r>
              <a:rPr sz="1620" i="0" b="0">
                <a:solidFill>
                  <a:srgbClr val="0F7490"/>
                </a:solidFill>
                <a:latin typeface="Menlo"/>
              </a:rPr>
              <a:t>OR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963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7963" y="1472184"/>
            <a:ext cx="82296" cy="258165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2283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Joins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2283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Check the row count. Right-table filters go in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ON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1472184"/>
            <a:ext cx="82296" cy="2581656"/>
          </a:xfrm>
          <a:prstGeom prst="rect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Writes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Constraints, transactions, and a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SELECT count(*)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first.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051" y="1472184"/>
            <a:ext cx="2590723" cy="25816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051" y="1472184"/>
            <a:ext cx="82296" cy="258165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371" y="1655064"/>
            <a:ext cx="2133523" cy="3596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i="0" b="1">
                <a:solidFill>
                  <a:srgbClr val="1E293B"/>
                </a:solidFill>
                <a:latin typeface="Helvetica Neue"/>
              </a:rPr>
              <a:t>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371" y="2087880"/>
            <a:ext cx="2087803" cy="1783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475569"/>
                </a:solidFill>
                <a:latin typeface="Helvetica Neue"/>
              </a:rPr>
              <a:t>Read the plan. Equality first, range last. Keep the column bare.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789401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800" i="0" b="1">
                <a:solidFill>
                  <a:srgbClr val="FFFFFF"/>
                </a:solidFill>
                <a:latin typeface="Helvetica Neue"/>
              </a:rPr>
              <a:t>How do you practise all of it at once?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8375" y="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sz="1400" i="0" b="0">
                <a:solidFill>
                  <a:srgbClr val="0EA5C9"/>
                </a:solidFill>
                <a:latin typeface="Helvetica Neue"/>
              </a:rPr>
              <a:t>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329184"/>
          </a:xfrm>
          <a:prstGeom prst="rect">
            <a:avLst/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i="0" b="0">
                <a:solidFill>
                  <a:srgbClr val="94A3B8"/>
                </a:solidFill>
                <a:latin typeface="Helvetica Neue"/>
              </a:rPr>
              <a:t>Rules to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i="1" b="0">
                <a:solidFill>
                  <a:srgbClr val="94A3B8"/>
                </a:solidFill>
                <a:latin typeface="Helvetica Neue"/>
              </a:rPr>
              <a:t>Source: notes/10-capstone-murder-mystery.md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419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i="0" b="0">
                <a:solidFill>
                  <a:srgbClr val="94A3B8"/>
                </a:solidFill>
                <a:latin typeface="Helvetica Neue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715000"/>
            <a:ext cx="11185855" cy="50292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715000"/>
            <a:ext cx="73152" cy="50292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1E3A5F"/>
                </a:solidFill>
                <a:latin typeface="Helvetica Neue"/>
              </a:rPr>
              <a:t>The SQL Murder Mystery uses only notes 01 to 05. Keep going after your first answer, because there is a second twist.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72184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1704213"/>
            <a:ext cx="457200" cy="457200"/>
          </a:xfrm>
          <a:prstGeom prst="ellipse">
            <a:avLst/>
          </a:prstGeom>
          <a:solidFill>
            <a:srgbClr val="D46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70421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472184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Find the report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Filter on several columns: a murder, 2018-01-15, SQL 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03170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2735199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73519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03170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Find the witnesses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LIKE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and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ORDER BY … DESC LIMIT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34156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3766185"/>
            <a:ext cx="457200" cy="457200"/>
          </a:xfrm>
          <a:prstGeom prst="ellipse">
            <a:avLst/>
          </a:prstGeom>
          <a:solidFill>
            <a:srgbClr val="0F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6618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34156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Cross-reference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Multi-table joins over check-ins, plates and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65142"/>
            <a:ext cx="11185855" cy="9212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512" y="4797171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79717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i="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65142"/>
            <a:ext cx="10180015" cy="9212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i="0" b="1">
                <a:solidFill>
                  <a:srgbClr val="1E293B"/>
                </a:solidFill>
                <a:latin typeface="Helvetica Neue"/>
              </a:rPr>
              <a:t>Narrow down</a:t>
            </a:r>
            <a:r>
              <a:rPr sz="1800" i="0" b="0">
                <a:solidFill>
                  <a:srgbClr val="475569"/>
                </a:solidFill>
                <a:latin typeface="Helvetica Neue"/>
              </a:rPr>
              <a:t> — Subqueries and </a:t>
            </a:r>
            <a:r>
              <a:rPr sz="1620" i="0" b="0">
                <a:solidFill>
                  <a:srgbClr val="0F7490"/>
                </a:solidFill>
                <a:latin typeface="Menlo"/>
              </a:rPr>
              <a:t>GROUP BY … HAVING count(*)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