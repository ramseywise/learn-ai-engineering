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study deck for Python 02. Every slide is a flashcard: the title is the question and the takeaway is the rule that answers it. Text and the wire, then structured data, then objects and databases.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py4e starts with a raw socket to show that nothing is magic. In practice use a client library.</a:t>
            </a:r>
          </a:p>
          <a:p/>
          <a:p>
            <a:r>
              <a:t>Source: notes/02-network-and-http.md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Raw strings make sure the backslash reaches the regex engine instead of being a Python escape.</a:t>
            </a:r>
          </a:p>
          <a:p/>
          <a:p>
            <a:r>
              <a:t>Source: notes/01-regular-expressions.md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named groups once there is more than one.</a:t>
            </a:r>
          </a:p>
          <a:p/>
          <a:p>
            <a:r>
              <a:t>Source: notes/01-regular-expressions.md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not to use regex: fixed delimiters (split), HTML or XML (a parser), email validation (a library).</a:t>
            </a:r>
          </a:p>
          <a:p/>
          <a:p>
            <a:r>
              <a:t>Source: notes/01-regular-expressions.md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type this into a raw socket. Every web API is built on it.</a:t>
            </a:r>
          </a:p>
          <a:p/>
          <a:p>
            <a:r>
              <a:t>Source: notes/02-network-and-http.md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urllib raises HTTPError for 4xx and 5xx.</a:t>
            </a:r>
          </a:p>
          <a:p/>
          <a:p>
            <a:r>
              <a:t>Source: notes/02-network-and-http.md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real projects use httpx or requests. Scrape politely, and use an API when one exists.</a:t>
            </a:r>
          </a:p>
          <a:p/>
          <a:p>
            <a:r>
              <a:t>Source: notes/02-network-and-http.md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Pydantic does that validation, in Python 03 note 05.</a:t>
            </a:r>
          </a:p>
          <a:p/>
          <a:p>
            <a:r>
              <a:t>Source: notes/03-web-data-json-xml.md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`json.dumps(data, indent=2)` goes back to text and `json.dump` writes to a file.</a:t>
            </a:r>
          </a:p>
          <a:p/>
          <a:p>
            <a:r>
              <a:t>Source: notes/03-web-data-json-xml.md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JSON won for APIs. XML is still around in feeds, office files and enterprise systems.</a:t>
            </a:r>
          </a:p>
          <a:p/>
          <a:p>
            <a:r>
              <a:t>Source: notes/03-web-data-json-xml.md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exercise follows pagination over fake pages so it runs offline.</a:t>
            </a:r>
          </a:p>
          <a:p/>
          <a:p>
            <a:r>
              <a:t>Source: notes/03-web-data-json-xml.md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key committed to git stays in the history, even if you delete the line later.</a:t>
            </a:r>
          </a:p>
          <a:p/>
          <a:p>
            <a:r>
              <a:t>Source: notes/03-web-data-json-xml.md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module of plain functions is fine otherwise. Not everything has to be an object.</a:t>
            </a:r>
          </a:p>
          <a:p/>
          <a:p>
            <a:r>
              <a:t>Source: notes/04-objects.md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subclass, call super().__init__ so the parent sets up its part. Keep hierarchies shallow.</a:t>
            </a:r>
          </a:p>
          <a:p/>
          <a:p>
            <a:r>
              <a:t>Source: notes/04-objects.md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classes that mostly hold data, @dataclass writes __init__, __repr__ and __eq__ for you.</a:t>
            </a:r>
          </a:p>
          <a:p/>
          <a:p>
            <a:r>
              <a:t>Source: notes/04-objects.md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crawler or geocoder should keep progress in the database, so it resumes after a crash or a rate limit.</a:t>
            </a:r>
          </a:p>
          <a:p/>
          <a:p>
            <a:r>
              <a:t>Source: notes/05-databases.md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UNIQUE constraint is what makes the ignore work. SQL 09 covers parameters in depth.</a:t>
            </a:r>
          </a:p>
          <a:p/>
          <a:p>
            <a:r>
              <a:t>Source: notes/05-databases.md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for this course with a small script, three runs, a ratio of several hundred. Setup is in the note.</a:t>
            </a:r>
          </a:p>
          <a:p/>
          <a:p>
            <a:r>
              <a:t>Source: notes/05-databases.md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rules return in Python 03 and in the SQL track.</a:t>
            </a:r>
          </a:p>
          <a:p/>
          <a:p>
            <a:r>
              <a:t>Source: notes/02-network-and-http.md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programming/CURRICULUM.md for the order of the tracks.</a:t>
            </a:r>
          </a:p>
          <a:p/>
          <a:p>
            <a:r>
              <a:t>Source: notes/05-databases.md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097280"/>
            <a:ext cx="5120640" cy="5120640"/>
          </a:xfrm>
          <a:prstGeom prst="ellipse">
            <a:avLst/>
          </a:prstGeom>
          <a:solidFill>
            <a:srgbClr val="DC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4023360"/>
            <a:ext cx="4023360" cy="4023360"/>
          </a:xfrm>
          <a:prstGeom prst="ellipse">
            <a:avLst/>
          </a:prstGeom>
          <a:solidFill>
            <a:srgbClr val="F6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937760" cy="1920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6000" i="0" b="1">
                <a:solidFill>
                  <a:srgbClr val="FFFFFF"/>
                </a:solidFill>
                <a:latin typeface="Helvetica Neue"/>
              </a:rPr>
              <a:t>Python Informatics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4937760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i="0" b="0">
                <a:solidFill>
                  <a:srgbClr val="0EA5C9"/>
                </a:solidFill>
                <a:latin typeface="Helvetica Neue"/>
              </a:rPr>
              <a:t>Programs that talk to the world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85616"/>
            <a:ext cx="4572000" cy="457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05656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i="0" b="0">
                <a:solidFill>
                  <a:srgbClr val="94A3B8"/>
                </a:solidFill>
                <a:latin typeface="Helvetica Neue"/>
              </a:rPr>
              <a:t>Regex · HTTP · JSON and XML · APIs</a:t>
            </a:r>
          </a:p>
          <a:p>
            <a:pPr algn="l">
              <a:lnSpc>
                <a:spcPct val="125000"/>
              </a:lnSpc>
            </a:pPr>
            <a:r>
              <a:rPr sz="1500" i="0" b="0">
                <a:solidFill>
                  <a:srgbClr val="94A3B8"/>
                </a:solidFill>
                <a:latin typeface="Helvetica Neue"/>
              </a:rPr>
              <a:t>Classes · SQLite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513331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513331"/>
            <a:ext cx="91440" cy="1143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641347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1: Text and the wire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54402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Regular expressions · HTTP · Status codes · Timeouts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857499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2857499"/>
            <a:ext cx="91440" cy="1143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985515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2: Structured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298570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JSON · XML · Calling an API · Keeping keys safe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201667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4201667"/>
            <a:ext cx="91440" cy="114300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329683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3: Objects and databases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642738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Classes and self · Dunder methods · Normalising · Get-or-create · Batched commits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6355080"/>
            <a:ext cx="5196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100" i="1" b="0">
                <a:solidFill>
                  <a:srgbClr val="94A3B8"/>
                </a:solidFill>
                <a:latin typeface="Helvetica Neue"/>
              </a:rPr>
              <a:t>Notes: programming/python/02-informatics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D4621A"/>
                </a:solidFill>
                <a:latin typeface="Helvetica Neue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859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Text and the wire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16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Regular expressions · HTTP · Status codes · Timeouts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1680210"/>
            <a:ext cx="0" cy="349758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1680210"/>
            <a:ext cx="4693615" cy="36804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does a program get from the outside world?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Which regex syntax covers most needs?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does re.findall return if the pattern has a group?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is the difference between .+ and .+?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actually goes over the wire in HTTP?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does each status class mean, and which do you retry?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must every network call set?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300" i="0" b="1">
                <a:solidFill>
                  <a:srgbClr val="FFFFFF"/>
                </a:solidFill>
                <a:latin typeface="Helvetica Neue"/>
              </a:rPr>
              <a:t>What does a program get from the outside world?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Text and the wire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notes/02-network-and-http.md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An HTTP/1.1 exchange is text over a socket. Regex extracts from messy text, and parsers handle formats.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99716"/>
            <a:ext cx="109728" cy="235915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299716"/>
            <a:ext cx="10088575" cy="1993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i="0" b="1">
                <a:solidFill>
                  <a:srgbClr val="1E3A5F"/>
                </a:solidFill>
                <a:latin typeface="Helvetica Neue"/>
              </a:rPr>
              <a:t>Mostly text. HTTP/1.1 is text over a socket, and what comes back has to be picked apart before you can use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247388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1" b="0">
                <a:solidFill>
                  <a:srgbClr val="475569"/>
                </a:solidFill>
                <a:latin typeface="Helvetica Neue"/>
              </a:rPr>
              <a:t>Extract with a pattern when the text is messy, and use a parser when it has a format.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Which regex syntax covers most needs?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Regular expressions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Text and the wire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notes/01-regular-expressions.md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Learn classes, repeats, anchors and groups, and always write patterns as raw strings like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r"\d+"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4" cy="2837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89957"/>
                <a:gridCol w="7895897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Pattern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Matches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\d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 </a:t>
                      </a: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\w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 </a:t>
                      </a: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\s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A digit, a word character, whitespace (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\D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\W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\S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 are the opposites)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[aeiou]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, </a:t>
                      </a: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[^,]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A character class, a negated class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*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 </a:t>
                      </a: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+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 </a:t>
                      </a: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?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 </a:t>
                      </a: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{2,4}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0+, 1+, 0 or 1, between 2 and 4 repeats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*?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 </a:t>
                      </a: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+?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Non-greedy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: as little as possible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^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 </a:t>
                      </a: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$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Start and end of the string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( … )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, </a:t>
                      </a: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(?: … 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Capture group, and grouping without capture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FFFFFF"/>
                </a:solidFill>
                <a:latin typeface="Helvetica Neue"/>
              </a:rPr>
              <a:t>What does re.findall return if the pattern has a group?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The core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Text and the wire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notes/01-regular-expressions.md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With a group,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findall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returns the group and not the full match.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search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returns a Match or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None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72184"/>
            <a:ext cx="11185855" cy="2148839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83664"/>
            <a:ext cx="10728655" cy="15087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re.search(r"^From: ", line)              # a Match or None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re.findall(r"\S+@\S+", line)             # list of every match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re.findall(r"^From .* (\d\d):", line)    # with a group: the group only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m = re.search(r"(?P&lt;user&gt;[\w.]+)@(?P&lt;host&gt;[\w.]+)", line)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m.group("host") if m else None           # check for None first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re.sub(r"\s+", " ", text)                # replace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700" i="0" b="1">
                <a:solidFill>
                  <a:srgbClr val="FFFFFF"/>
                </a:solidFill>
                <a:latin typeface="Helvetica Neue"/>
              </a:rPr>
              <a:t>What is the difference between .+ and .+?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Greedy vs non-greedy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Text and the wire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notes/01-regular-expressions.md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Quantifiers are greedy by default. Add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?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to match as little as possible.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Greedy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31136"/>
            <a:ext cx="4907127" cy="92964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459736"/>
            <a:ext cx="4449927" cy="4724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re.findall(r"&lt;.+&gt;", "&lt;b&gt;hi&lt;/b&gt;")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# ['&lt;b&gt;hi&lt;/b&gt;']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Takes as much as it can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Non-greedy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07327" y="2231136"/>
            <a:ext cx="4907127" cy="92964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5927" y="2459736"/>
            <a:ext cx="4449927" cy="4724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re.findall(r"&lt;.+?&gt;", "&lt;b&gt;hi&lt;/b&gt;")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# ['&lt;b&gt;', '&lt;/b&gt;']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1607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047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Takes as little as it can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700" i="0" b="1">
                <a:solidFill>
                  <a:srgbClr val="FFFFFF"/>
                </a:solidFill>
                <a:latin typeface="Helvetica Neue"/>
              </a:rPr>
              <a:t>What actually goes over the wire in HTTP?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Request and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Text and the wire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notes/02-network-and-http.md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A request line and headers go out. A status line, headers, a blank line and a body come 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58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74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Request line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Menlo"/>
              </a:rPr>
              <a:t>GET /page1.htm HTTP/1.1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889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6694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410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Headers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Menlo"/>
              </a:rPr>
              <a:t>Host: data.example.org</a:t>
            </a:r>
            <a:r>
              <a:rPr sz="1300" i="0" b="0">
                <a:solidFill>
                  <a:srgbClr val="E8F4F8"/>
                </a:solidFill>
                <a:latin typeface="Helvetica Neue"/>
              </a:rPr>
              <a:t>, then a blank line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9925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4730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446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Status line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Menlo"/>
              </a:rPr>
              <a:t>HTTP/1.1 200 OK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961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2766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Headers + body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a blank line separates them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089148"/>
            <a:ext cx="11185855" cy="23972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One request goes out, and one response comes back on the same connection.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FFFFFF"/>
                </a:solidFill>
                <a:latin typeface="Helvetica Neue"/>
              </a:rPr>
              <a:t>What does each status class mean, and which do you retry?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Status codes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Text and the wire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notes/02-network-and-http.md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4xx means your request is wrong, 5xx means the server failed. Retry 5xx with backoff, and slow down on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429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3" cy="2026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649"/>
                <a:gridCol w="5060267"/>
                <a:gridCol w="4793937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Status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Meaning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You do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2xx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Success: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200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,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201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,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204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Read the body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3xx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Redirect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Follow the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Location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 header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4xx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Your mistake: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400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,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401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/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403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,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404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,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429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Fix the request. Slow down on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429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5xx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Their mistake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Retry with backoff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What must every network call set?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urllib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Text and the wire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notes/02-network-and-http.md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Always set a timeout, because a stalled server otherwise hangs forever. Escape query values with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urlencode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72184"/>
            <a:ext cx="11185855" cy="16611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83664"/>
            <a:ext cx="10728655" cy="1021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url = "https://api.example.org/search?" + urlencode({"q": "ann arbor", "limit": 5})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req = Request(url, headers={"User-Agent": "learn-python/1.0"})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with urlopen(req, timeout=10) as resp:       # raises HTTPError for 4xx/5xx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body = resp.read().decode("utf-8")       # bytes -&gt; str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D4621A"/>
                </a:solidFill>
                <a:latin typeface="Helvetica Neue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021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Structured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78479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JSON · XML · Calling an API · Keeping keys safe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2349500"/>
            <a:ext cx="0" cy="215900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2349500"/>
            <a:ext cx="4693615" cy="2341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does parsing JSON guarantee you?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How does text become data you can trust?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do find and findall return in ElementTree?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are the steps of calling an API?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Where should an API key live?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What does parsing JSON guarantee you?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Structured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notes/03-web-data-json-xml.md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Parsing JSON only proves the syntax is valid. Validate the shape before you trust the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99716"/>
            <a:ext cx="109728" cy="190195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299716"/>
            <a:ext cx="10088575" cy="1993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i="0" b="1">
                <a:solidFill>
                  <a:srgbClr val="1E3A5F"/>
                </a:solidFill>
                <a:latin typeface="Helvetica Neue"/>
              </a:rPr>
              <a:t>Nothing about the shape. </a:t>
            </a:r>
            <a:r>
              <a:rPr sz="3240" i="0" b="1">
                <a:solidFill>
                  <a:srgbClr val="0F7490"/>
                </a:solidFill>
                <a:latin typeface="Menlo"/>
              </a:rPr>
              <a:t>json.loads</a:t>
            </a:r>
            <a:r>
              <a:rPr sz="3600" i="0" b="1">
                <a:solidFill>
                  <a:srgbClr val="1E3A5F"/>
                </a:solidFill>
                <a:latin typeface="Helvetica Neue"/>
              </a:rPr>
              <a:t> gives you dicts of anything, and the bug shows up three functions later.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700" i="0" b="1">
                <a:solidFill>
                  <a:srgbClr val="FFFFFF"/>
                </a:solidFill>
                <a:latin typeface="Helvetica Neue"/>
              </a:rPr>
              <a:t>How does text become data you can trust?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Parse, then validate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Structured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notes/03-web-data-json-xml.md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Parse into Python objects, check the shape, then work with plain dicts and lists.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58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74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Text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from the network or a file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889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6694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410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530" i="0" b="1">
                <a:solidFill>
                  <a:srgbClr val="E8F4F8"/>
                </a:solidFill>
                <a:latin typeface="Menlo"/>
              </a:rPr>
              <a:t>json.loads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raises </a:t>
            </a:r>
            <a:r>
              <a:rPr sz="1300" i="0" b="0">
                <a:solidFill>
                  <a:srgbClr val="E8F4F8"/>
                </a:solidFill>
                <a:latin typeface="Menlo"/>
              </a:rPr>
              <a:t>JSONDecodeError</a:t>
            </a:r>
            <a:r>
              <a:rPr sz="1300" i="0" b="0">
                <a:solidFill>
                  <a:srgbClr val="E8F4F8"/>
                </a:solidFill>
                <a:latin typeface="Helvetica Neue"/>
              </a:rPr>
              <a:t> when malformed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9925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4730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446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Dicts and lists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of anything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961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2766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Validate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check the shape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089148"/>
            <a:ext cx="11185855" cy="23972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530" i="0" b="0">
                <a:solidFill>
                  <a:srgbClr val="0F7490"/>
                </a:solidFill>
                <a:latin typeface="Menlo"/>
              </a:rPr>
              <a:t>object</a:t>
            </a:r>
            <a:r>
              <a:rPr sz="1700" i="0" b="0">
                <a:solidFill>
                  <a:srgbClr val="475569"/>
                </a:solidFill>
                <a:latin typeface="Helvetica Neue"/>
              </a:rPr>
              <a:t> →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dict</a:t>
            </a:r>
            <a:r>
              <a:rPr sz="1700" i="0" b="0">
                <a:solidFill>
                  <a:srgbClr val="475569"/>
                </a:solidFill>
                <a:latin typeface="Helvetica Neue"/>
              </a:rPr>
              <a:t>,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array</a:t>
            </a:r>
            <a:r>
              <a:rPr sz="1700" i="0" b="0">
                <a:solidFill>
                  <a:srgbClr val="475569"/>
                </a:solidFill>
                <a:latin typeface="Helvetica Neue"/>
              </a:rPr>
              <a:t> →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list</a:t>
            </a:r>
            <a:r>
              <a:rPr sz="1700" i="0" b="0">
                <a:solidFill>
                  <a:srgbClr val="475569"/>
                </a:solidFill>
                <a:latin typeface="Helvetica Neue"/>
              </a:rPr>
              <a:t>,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true</a:t>
            </a:r>
            <a:r>
              <a:rPr sz="1700" i="0" b="0">
                <a:solidFill>
                  <a:srgbClr val="475569"/>
                </a:solidFill>
                <a:latin typeface="Helvetica Neue"/>
              </a:rPr>
              <a:t>/</a:t>
            </a:r>
            <a:r>
              <a:rPr sz="1530" i="0" b="0">
                <a:solidFill>
                  <a:srgbClr val="0F7490"/>
                </a:solidFill>
                <a:latin typeface="Menlo"/>
              </a:rPr>
              <a:t>false</a:t>
            </a:r>
            <a:r>
              <a:rPr sz="1700" i="0" b="0">
                <a:solidFill>
                  <a:srgbClr val="475569"/>
                </a:solidFill>
                <a:latin typeface="Helvetica Neue"/>
              </a:rPr>
              <a:t>/</a:t>
            </a:r>
            <a:r>
              <a:rPr sz="1530" i="0" b="0">
                <a:solidFill>
                  <a:srgbClr val="0F7490"/>
                </a:solidFill>
                <a:latin typeface="Menlo"/>
              </a:rPr>
              <a:t>null</a:t>
            </a:r>
            <a:r>
              <a:rPr sz="1700" i="0" b="0">
                <a:solidFill>
                  <a:srgbClr val="475569"/>
                </a:solidFill>
                <a:latin typeface="Helvetica Neue"/>
              </a:rPr>
              <a:t> →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True</a:t>
            </a:r>
            <a:r>
              <a:rPr sz="1700" i="0" b="0">
                <a:solidFill>
                  <a:srgbClr val="475569"/>
                </a:solidFill>
                <a:latin typeface="Helvetica Neue"/>
              </a:rPr>
              <a:t>/</a:t>
            </a:r>
            <a:r>
              <a:rPr sz="1530" i="0" b="0">
                <a:solidFill>
                  <a:srgbClr val="0F7490"/>
                </a:solidFill>
                <a:latin typeface="Menlo"/>
              </a:rPr>
              <a:t>False</a:t>
            </a:r>
            <a:r>
              <a:rPr sz="1700" i="0" b="0">
                <a:solidFill>
                  <a:srgbClr val="475569"/>
                </a:solidFill>
                <a:latin typeface="Helvetica Neue"/>
              </a:rPr>
              <a:t>/</a:t>
            </a:r>
            <a:r>
              <a:rPr sz="1530" i="0" b="0">
                <a:solidFill>
                  <a:srgbClr val="0F7490"/>
                </a:solidFill>
                <a:latin typeface="Menlo"/>
              </a:rPr>
              <a:t>None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300" i="0" b="1">
                <a:solidFill>
                  <a:srgbClr val="FFFFFF"/>
                </a:solidFill>
                <a:latin typeface="Helvetica Neue"/>
              </a:rPr>
              <a:t>What do find and findall return in ElementTree?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XML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Structured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notes/03-web-data-json-xml.md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40" i="0" b="1">
                <a:solidFill>
                  <a:srgbClr val="1E3A5F"/>
                </a:solidFill>
                <a:latin typeface="Menlo"/>
              </a:rPr>
              <a:t>find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returns the first match or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None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,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findall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returns a list. Use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defusedxml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on untrusted input.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The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31136"/>
            <a:ext cx="4907127" cy="13563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459736"/>
            <a:ext cx="4449927" cy="899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root = ET.fromstring(xml_text)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for user in root.findall("users/user"):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    print(user.find("name").text,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          user.get("x"))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Both take a simple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The rule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7327" y="2313178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7367" y="2231136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30" i="0" b="0">
                <a:solidFill>
                  <a:srgbClr val="0F7490"/>
                </a:solidFill>
                <a:latin typeface="Menlo"/>
              </a:rPr>
              <a:t>find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: the first match or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None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07327" y="2727706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7367" y="2645664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30" i="0" b="0">
                <a:solidFill>
                  <a:srgbClr val="0F7490"/>
                </a:solidFill>
                <a:latin typeface="Menlo"/>
              </a:rPr>
              <a:t>findall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: a list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7327" y="3142234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7367" y="3060192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30" i="0" b="0">
                <a:solidFill>
                  <a:srgbClr val="0F7490"/>
                </a:solidFill>
                <a:latin typeface="Menlo"/>
              </a:rPr>
              <a:t>.text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is the content,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.get(name)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is an attribute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07327" y="3841750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7367" y="3759708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For untrusted XML, use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defusedxml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1607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047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XML survives in feeds and office 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What are the steps of calling an API?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Calling an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Structured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notes/03-web-data-json-xml.md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1">
                <a:solidFill>
                  <a:srgbClr val="1E3A5F"/>
                </a:solidFill>
                <a:latin typeface="Helvetica Neue"/>
              </a:rPr>
              <a:t>Read the docs, build the URL safely, check status before parsing, follow pagination, and cache while developing.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11185855" cy="7150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1601114"/>
            <a:ext cx="457200" cy="457200"/>
          </a:xfrm>
          <a:prstGeom prst="ellipse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60111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1472184"/>
            <a:ext cx="10180015" cy="715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Read the docs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Base URL, authentication, rate limits, pagination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96972"/>
            <a:ext cx="11185855" cy="7150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" y="2425903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42590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96972"/>
            <a:ext cx="10180015" cy="715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Build the URL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urlencode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, with the key in a header or parameter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21761"/>
            <a:ext cx="11185855" cy="7150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" y="3250691"/>
            <a:ext cx="457200" cy="457200"/>
          </a:xfrm>
          <a:prstGeom prst="ellipse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25069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121761"/>
            <a:ext cx="10180015" cy="715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Check and parse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Check the status, then parse the 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46550"/>
            <a:ext cx="11185855" cy="7150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7512" y="4075480"/>
            <a:ext cx="457200" cy="45720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075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946550"/>
            <a:ext cx="10180015" cy="715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Paginate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Follow the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next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link or cursor until it runs out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771339"/>
            <a:ext cx="11185855" cy="7150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7512" y="4900269"/>
            <a:ext cx="457200" cy="457200"/>
          </a:xfrm>
          <a:prstGeom prst="ellipse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90026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771339"/>
            <a:ext cx="10180015" cy="715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Cache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Cache during development so you don't spend your quota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Where should an API key live?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Structured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notes/03-web-data-json-xml.md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Never put keys in code. Read them from the environment and keep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.env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files out of git.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68704"/>
            <a:ext cx="106680" cy="106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472184"/>
            <a:ext cx="10865815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1E293B"/>
                </a:solidFill>
                <a:latin typeface="Helvetica Neue"/>
              </a:rPr>
              <a:t>Read it from the environment: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os.environ["API_KEY"]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56384"/>
            <a:ext cx="106680" cy="106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59864"/>
            <a:ext cx="10865815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1E293B"/>
                </a:solidFill>
                <a:latin typeface="Helvetica Neue"/>
              </a:rPr>
              <a:t>Send it in a header: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Authorization: Bearer 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44064"/>
            <a:ext cx="106680" cy="106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447544"/>
            <a:ext cx="10865815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1E293B"/>
                </a:solidFill>
                <a:latin typeface="Helvetica Neue"/>
              </a:rPr>
              <a:t>Keep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.env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files out of git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0F7490"/>
                </a:solidFill>
                <a:latin typeface="Helvetica Neue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859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Objects and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16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Classes and self · Dunder methods · Normalising · Get-or-create · Batched commits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1885315"/>
            <a:ext cx="0" cy="308737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1885315"/>
            <a:ext cx="4693615" cy="3270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When is a dict in memory no longer enough?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is self?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Which dunder method enables which syntax?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are the steps of a re-runnable load?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How do you make get-or-create safe to re-run?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How often should you commit during a load?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i="0" b="1">
                <a:solidFill>
                  <a:srgbClr val="FFFFFF"/>
                </a:solidFill>
                <a:latin typeface="Helvetica Neue"/>
              </a:rPr>
              <a:t>When is a dict in memory no longer enough?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Objects and databases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notes/04-objects.md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Write a class when functions share state. Use SQLite when data must survive between runs.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1997964"/>
            <a:ext cx="109728" cy="250545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997964"/>
            <a:ext cx="10088575" cy="2596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i="0" b="1">
                <a:solidFill>
                  <a:srgbClr val="1E3A5F"/>
                </a:solidFill>
                <a:latin typeface="Helvetica Neue"/>
              </a:rPr>
              <a:t>Several functions passing the same state around want a class. Data that has to outlive the run wants a database.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What is self?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Objects and databases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notes/04-objects.md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350" i="0" b="1">
                <a:solidFill>
                  <a:srgbClr val="1E3A5F"/>
                </a:solidFill>
                <a:latin typeface="Menlo"/>
              </a:rPr>
              <a:t>self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 is the instance.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s.party()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 is shorthand for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PartyAnimal.party(s)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, so attributes are per instance.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72184"/>
            <a:ext cx="11185855" cy="336804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83664"/>
            <a:ext cx="10728655" cy="27279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class PartyAnimal: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def __init__(self, name: str):    # runs on PartyAnimal("Sally")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self.name = name              # attributes live on self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self.x = 0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def party(self) -&gt; int: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self.x += 1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return self.x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s = PartyAnimal("Sally")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s.party()                             # same as PartyAnimal.party(s)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700" i="0" b="1">
                <a:solidFill>
                  <a:srgbClr val="FFFFFF"/>
                </a:solidFill>
                <a:latin typeface="Helvetica Neue"/>
              </a:rPr>
              <a:t>Which dunder method enables which syntax?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Objects and databases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notes/04-objects.md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Dunder methods hook a class into Python's syntax. Without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__eq__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,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==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compares identity.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4" cy="24323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4695"/>
                <a:gridCol w="6991159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Method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Enables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__repr__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Useful display in the REPL and logs. Always define it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__eq__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a == b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. The default is identity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__lt__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sorted()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 and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&lt;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__len__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, </a:t>
                      </a: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__iter__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, </a:t>
                      </a: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__getitem__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len()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,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for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,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obj[i]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__enter__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 / </a:t>
                      </a: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__exit__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with obj: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700" i="0" b="1">
                <a:solidFill>
                  <a:srgbClr val="FFFFFF"/>
                </a:solidFill>
                <a:latin typeface="Helvetica Neue"/>
              </a:rPr>
              <a:t>What are the steps of a re-runnable load?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The ingest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Objects and databases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notes/05-databases.md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Normalise into tables, get-or-create parents with a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UNIQUE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 key, and store progress so a crash can resume.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58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74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Schema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Menlo"/>
              </a:rPr>
              <a:t>CREATE TABLE IF NOT EXISTS</a:t>
            </a:r>
            <a:r>
              <a:rPr sz="1300" i="0" b="0">
                <a:solidFill>
                  <a:srgbClr val="E8F4F8"/>
                </a:solidFill>
                <a:latin typeface="Helvetica Neue"/>
              </a:rPr>
              <a:t>, with </a:t>
            </a:r>
            <a:r>
              <a:rPr sz="1300" i="0" b="0">
                <a:solidFill>
                  <a:srgbClr val="E8F4F8"/>
                </a:solidFill>
                <a:latin typeface="Menlo"/>
              </a:rPr>
              <a:t>UNIQUE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889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6694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410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Get or create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Menlo"/>
              </a:rPr>
              <a:t>INSERT OR IGNORE</a:t>
            </a:r>
            <a:r>
              <a:rPr sz="1300" i="0" b="0">
                <a:solidFill>
                  <a:srgbClr val="E8F4F8"/>
                </a:solidFill>
                <a:latin typeface="Helvetica Neue"/>
              </a:rPr>
              <a:t>, then </a:t>
            </a:r>
            <a:r>
              <a:rPr sz="1300" i="0" b="0">
                <a:solidFill>
                  <a:srgbClr val="E8F4F8"/>
                </a:solidFill>
                <a:latin typeface="Menlo"/>
              </a:rPr>
              <a:t>SELECT id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9925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4730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446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Insert facts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reference the parent by id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961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2766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Commit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once for the batch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180842"/>
            <a:ext cx="101346" cy="10134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089148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Normalise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: store each artist once and join them back when you query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644138"/>
            <a:ext cx="101346" cy="10134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552444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Many-to-many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needs a join table: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member(user_id, course_id, role)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i="0" b="1">
                <a:solidFill>
                  <a:srgbClr val="FFFFFF"/>
                </a:solidFill>
                <a:latin typeface="Helvetica Neue"/>
              </a:rPr>
              <a:t>How do you make get-or-create safe to re-run?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Get or create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Objects and databases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notes/05-databases.md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350" i="0" b="1">
                <a:solidFill>
                  <a:srgbClr val="1E3A5F"/>
                </a:solidFill>
                <a:latin typeface="Menlo"/>
              </a:rPr>
              <a:t>INSERT OR IGNORE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 plus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SELECT id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 on a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UNIQUE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 column is safe to run twice. Values go in as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?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 parameters.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72184"/>
            <a:ext cx="11185855" cy="2148839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83664"/>
            <a:ext cx="10728655" cy="15087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def get_or_create(conn, table, name):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# table comes from code, never from user input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conn.execute(f"INSERT OR IGNORE INTO {table} (name) VALUES (?)", (name,))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return conn.execute(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f"SELECT id FROM {table} WHERE name = ?", (name,)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).fetchone()[0]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i="0" b="1">
                <a:solidFill>
                  <a:srgbClr val="FFFFFF"/>
                </a:solidFill>
                <a:latin typeface="Helvetica Neue"/>
              </a:rPr>
              <a:t>How often should you commit during a load?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Batched commits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Objects and databases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notes/05-databases.md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26464"/>
            <a:ext cx="11185855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2,000 inserts into a one-column SQLite file, on a laptop SSD.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Commit once per batch, not per row, because every commit waits for the disk.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82292"/>
            <a:ext cx="106680" cy="106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985772"/>
            <a:ext cx="5944038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1E293B"/>
                </a:solidFill>
                <a:latin typeface="Helvetica Neue"/>
              </a:rPr>
              <a:t>Commit per row: about </a:t>
            </a:r>
            <a:r>
              <a:rPr sz="2000" i="0" b="1">
                <a:solidFill>
                  <a:srgbClr val="1E293B"/>
                </a:solidFill>
                <a:latin typeface="Helvetica Neue"/>
              </a:rPr>
              <a:t>0.5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69972"/>
            <a:ext cx="106680" cy="106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473452"/>
            <a:ext cx="5944038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1E293B"/>
                </a:solidFill>
                <a:latin typeface="Helvetica Neue"/>
              </a:rPr>
              <a:t>One transaction: about </a:t>
            </a:r>
            <a:r>
              <a:rPr sz="2000" i="0" b="1">
                <a:solidFill>
                  <a:srgbClr val="1E293B"/>
                </a:solidFill>
                <a:latin typeface="Helvetica Neue"/>
              </a:rPr>
              <a:t>0.001 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57652"/>
            <a:ext cx="106680" cy="106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61132"/>
            <a:ext cx="5944038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1E293B"/>
                </a:solidFill>
                <a:latin typeface="Helvetica Neue"/>
              </a:rPr>
              <a:t>Each commit waits for the disk, so the exact ratio depends on the hardware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758" y="1985772"/>
            <a:ext cx="4556016" cy="141732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1358" y="2095500"/>
            <a:ext cx="409881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1358" y="2397252"/>
            <a:ext cx="409881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with conn:    # one transaction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for row in rows: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conn.execute(sql, row)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What are the informatics rules?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Rules to 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notes/02-network-and-http.md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Timeouts on every call, shape checks on every parse, parameters in every query, commits per batch.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472184"/>
            <a:ext cx="2590723" cy="2581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82296" cy="258165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Regex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087880"/>
            <a:ext cx="2087803" cy="17830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Raw strings. Use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split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for delimiters and a parser for HTML or XML.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7963" y="1472184"/>
            <a:ext cx="2590723" cy="2581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7963" y="1472184"/>
            <a:ext cx="82296" cy="258165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42283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HTTP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2283" y="2087880"/>
            <a:ext cx="2087803" cy="17830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Always a timeout. Retry 5xx with backoff, and fix 4xx.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1472184"/>
            <a:ext cx="2590723" cy="2581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3007" y="1472184"/>
            <a:ext cx="82296" cy="258165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2087880"/>
            <a:ext cx="2087803" cy="17830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Parse, then validate the shape. Keep keys in the environment.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051" y="1472184"/>
            <a:ext cx="2590723" cy="2581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051" y="1472184"/>
            <a:ext cx="82296" cy="2581656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371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SQLite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371" y="2087880"/>
            <a:ext cx="2087803" cy="17830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Normalise, use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?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parameters, and commit per batch.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Where do you go after informatics?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Rules to 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notes/05-databases.md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Next is SQL 01 for queries and Python 03 for the language features that engineering code relies 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68704"/>
            <a:ext cx="106680" cy="106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472184"/>
            <a:ext cx="10865815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1E293B"/>
                </a:solidFill>
                <a:latin typeface="Helvetica Neue"/>
              </a:rPr>
              <a:t>SQL 01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: the Python side of databases ends here, and SQL itself starts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56384"/>
            <a:ext cx="106680" cy="106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959864"/>
            <a:ext cx="10865815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1E293B"/>
                </a:solidFill>
                <a:latin typeface="Helvetica Neue"/>
              </a:rPr>
              <a:t>Python 03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: closures, types, tooling and concurrency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44064"/>
            <a:ext cx="106680" cy="106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447544"/>
            <a:ext cx="10865815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1E293B"/>
                </a:solidFill>
                <a:latin typeface="Helvetica Neue"/>
              </a:rPr>
              <a:t>Practice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: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bash check.sh exercises 02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runs offline, with a local HTTP 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