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study deck for Python 01. Every slide is a flashcard: the title is the question and the takeaway is the rule that answers it. Three parts, then the rules to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`type(x)` tells you. `int("3.5")` raises ValueError, so `int(float("3.5"))` is the two-step version, and it truncates.</a:t>
            </a:r>
          </a:p>
          <a:p/>
          <a:p>
            <a:r>
              <a:t>Source: notes/01-values-and-conditionals.md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Precedence follows PEMDAS. When in doubt add parentheses, which cost nothing.</a:t>
            </a:r>
          </a:p>
          <a:p/>
          <a:p>
            <a:r>
              <a:t>Source: notes/01-values-and-conditionals.md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Indentation is the block structure. Four spaces, never tabs.</a:t>
            </a:r>
          </a:p>
          <a:p/>
          <a:p>
            <a:r>
              <a:t>Source: notes/01-values-and-conditionals.md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Syntax errors point at or just after the problem. Semantic errors need print or assert.</a:t>
            </a:r>
          </a:p>
          <a:p/>
          <a:p>
            <a:r>
              <a:t>Source: notes/01-values-and-conditionals.md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docstring is what help() shows. Type hints document intent and Python does not enforce them.</a:t>
            </a:r>
          </a:p>
          <a:p/>
          <a:p>
            <a:r>
              <a:t>Source: notes/02-functions.md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bugs in beginners' code come from functions that print where they should return.</a:t>
            </a:r>
          </a:p>
          <a:p/>
          <a:p>
            <a:r>
              <a:t>Source: notes/02-functions.md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Keyword arguments are clearer for optional settings. Note 03 of the engineers module returns to this.</a:t>
            </a:r>
          </a:p>
          <a:p/>
          <a:p>
            <a:r>
              <a:t>Source: notes/02-functions.md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Built-ins to know on day one: len, min, max, sum, abs, round, sorted, range, enumerate, zip, isinstance.</a:t>
            </a:r>
          </a:p>
          <a:p/>
          <a:p>
            <a:r>
              <a:t>Source: notes/02-functions.md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Write each loop once to understand it, then use the built-in.</a:t>
            </a:r>
          </a:p>
          <a:p/>
          <a:p>
            <a:r>
              <a:t>Source: notes/03-loops.md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`for ... else` runs else only if the loop did not break. A helper with early return usually reads better.</a:t>
            </a:r>
          </a:p>
          <a:p/>
          <a:p>
            <a:r>
              <a:t>Source: notes/03-loops.md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exercise file makes you write each pattern by hand and compares with the built-ins.</a:t>
            </a:r>
          </a:p>
          <a:p/>
          <a:p>
            <a:r>
              <a:t>Source: notes/03-loops.md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`range(start, stop, step)` excludes stop.</a:t>
            </a:r>
          </a:p>
          <a:p/>
          <a:p>
            <a:r>
              <a:t>Source: notes/03-loops.md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`s[0] = 'B'` is an error. `s.upper()` on its own line changes nothing.</a:t>
            </a:r>
          </a:p>
          <a:p/>
          <a:p>
            <a:r>
              <a:t>Source: notes/04-strings-and-files.md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f-strings: `f"{amount:,.2f}"`, `f"{ratio:.1%}"`, `f"{value=}"` for debugging.</a:t>
            </a:r>
          </a:p>
          <a:p/>
          <a:p>
            <a:r>
              <a:t>Source: notes/04-strings-and-files.md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`fh.read()` is for small files only. The default encoding depends on the OS. `"w"` truncates, `"a"` appends, and `write()` adds no newline.</a:t>
            </a:r>
          </a:p>
          <a:p/>
          <a:p>
            <a:r>
              <a:t>Source: notes/04-strings-and-files.md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scripting problems are one of those three operations on those three shapes.</a:t>
            </a:r>
          </a:p>
          <a:p/>
          <a:p>
            <a:r>
              <a:t>Source: notes/05-collections.md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`xs.sort()` sorts in place and returns None. `sorted(xs)` returns a new list.</a:t>
            </a:r>
          </a:p>
          <a:p/>
          <a:p>
            <a:r>
              <a:t>Source: notes/05-collections.md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`d[k]` raises KeyError when the key is missing and `d.get(k, default)` does not.</a:t>
            </a:r>
          </a:p>
          <a:p/>
          <a:p>
            <a:r>
              <a:t>Source: notes/05-collections.md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named fields, use NamedTuple or a dataclass.</a:t>
            </a:r>
          </a:p>
          <a:p/>
          <a:p>
            <a:r>
              <a:t>Source: notes/05-collections.md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old decorate, sort, undecorate pattern is what key= does for you.</a:t>
            </a:r>
          </a:p>
          <a:p/>
          <a:p>
            <a:r>
              <a:t>Source: notes/05-collections.md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come from the Python track README's rules of thumb.</a:t>
            </a:r>
          </a:p>
          <a:p/>
          <a:p>
            <a:r>
              <a:t>Source: notes/02-functions.md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See programming/CURRICULUM.md for the order of the tracks.</a:t>
            </a:r>
          </a:p>
          <a:p/>
          <a:p>
            <a:r>
              <a:t>Source: notes/05-collections.md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498079" y="-1097280"/>
            <a:ext cx="5120640" cy="5120640"/>
          </a:xfrm>
          <a:prstGeom prst="ellipse">
            <a:avLst/>
          </a:prstGeom>
          <a:solidFill>
            <a:srgbClr val="DC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4023360"/>
            <a:ext cx="4023360" cy="4023360"/>
          </a:xfrm>
          <a:prstGeom prst="ellipse">
            <a:avLst/>
          </a:prstGeom>
          <a:solidFill>
            <a:srgbClr val="F6E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5852160" cy="6858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4937760" cy="19202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6000" i="0" b="1">
                <a:solidFill>
                  <a:srgbClr val="FFFFFF"/>
                </a:solidFill>
                <a:latin typeface="Helvetica Neue"/>
              </a:rPr>
              <a:t>Python Foundations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63240"/>
            <a:ext cx="4937760" cy="896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400" i="0" b="0">
                <a:solidFill>
                  <a:srgbClr val="0EA5C9"/>
                </a:solidFill>
                <a:latin typeface="Helvetica Neue"/>
              </a:rPr>
              <a:t>Values, functions, loops, text and collections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187952"/>
            <a:ext cx="4572000" cy="457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507992"/>
            <a:ext cx="4937760" cy="1463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i="0" b="0">
                <a:solidFill>
                  <a:srgbClr val="94A3B8"/>
                </a:solidFill>
                <a:latin typeface="Helvetica Neue"/>
              </a:rPr>
              <a:t>Types · Conditionals · Functions</a:t>
            </a:r>
          </a:p>
          <a:p>
            <a:pPr algn="l">
              <a:lnSpc>
                <a:spcPct val="125000"/>
              </a:lnSpc>
            </a:pPr>
            <a:r>
              <a:rPr sz="1500" i="0" b="0">
                <a:solidFill>
                  <a:srgbClr val="94A3B8"/>
                </a:solidFill>
                <a:latin typeface="Helvetica Neue"/>
              </a:rPr>
              <a:t>Loop patterns · Strings · Files · Lists · Dicts · Tuples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513331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92240" y="1513331"/>
            <a:ext cx="91440" cy="1143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1641347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1: Values and functions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1954402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Types and operators · Truthiness · Bad input · Return, don't print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2857499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2857499"/>
            <a:ext cx="91440" cy="11430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0" y="2985515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2: Loops and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3298570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The six patterns · Slicing · String methods · Reading files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0" y="4201667"/>
            <a:ext cx="5196535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4201667"/>
            <a:ext cx="91440" cy="114300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4329683"/>
            <a:ext cx="47850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1">
                <a:solidFill>
                  <a:srgbClr val="1E293B"/>
                </a:solidFill>
                <a:latin typeface="Helvetica Neue"/>
              </a:rPr>
              <a:t>Part 3: Collections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4642738"/>
            <a:ext cx="4785055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300" i="0" b="0">
                <a:solidFill>
                  <a:srgbClr val="475569"/>
                </a:solidFill>
                <a:latin typeface="Helvetica Neue"/>
              </a:rPr>
              <a:t>Aliasing · The counting idiom · Hashable keys · Sorting by key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6355080"/>
            <a:ext cx="519653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100" i="1" b="0">
                <a:solidFill>
                  <a:srgbClr val="94A3B8"/>
                </a:solidFill>
                <a:latin typeface="Helvetica Neue"/>
              </a:rPr>
              <a:t>Notes: programming/python/01-foundations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D4621A"/>
                </a:solidFill>
                <a:latin typeface="Helvetica Neue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859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Values and functions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1668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Types and operators · Truthiness · Bad input · Return, don't print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475105"/>
            <a:ext cx="0" cy="390779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475105"/>
            <a:ext cx="4693615" cy="409067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Why learn a value's type first?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do Python's arithmetic operators return?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counts as false in an if?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How do you catch bad input?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does def do, and what does a call do?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Why should a function return rather than print?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Why is def f(xs=[]) a bug?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Can a function change a global variable?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Why learn a value's type first?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The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Values and 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notes/01-values-and-conditionals.md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Know each value's type and the rest follows. Convert explicitly with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int()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,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float()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and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str()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99716"/>
            <a:ext cx="109728" cy="235915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2299716"/>
            <a:ext cx="10088575" cy="1993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240" i="0" b="1">
                <a:solidFill>
                  <a:srgbClr val="0F7490"/>
                </a:solidFill>
                <a:latin typeface="Menlo"/>
              </a:rPr>
              <a:t>"1" + 1</a:t>
            </a:r>
            <a:r>
              <a:rPr sz="3600" i="0" b="1">
                <a:solidFill>
                  <a:srgbClr val="1E3A5F"/>
                </a:solidFill>
                <a:latin typeface="Helvetica Neue"/>
              </a:rPr>
              <a:t> crashes, </a:t>
            </a:r>
            <a:r>
              <a:rPr sz="3240" i="0" b="1">
                <a:solidFill>
                  <a:srgbClr val="0F7490"/>
                </a:solidFill>
                <a:latin typeface="Menlo"/>
              </a:rPr>
              <a:t>7 / 2</a:t>
            </a:r>
            <a:r>
              <a:rPr sz="3600" i="0" b="1">
                <a:solidFill>
                  <a:srgbClr val="1E3A5F"/>
                </a:solidFill>
                <a:latin typeface="Helvetica Neue"/>
              </a:rPr>
              <a:t> is </a:t>
            </a:r>
            <a:r>
              <a:rPr sz="3240" i="0" b="1">
                <a:solidFill>
                  <a:srgbClr val="0F7490"/>
                </a:solidFill>
                <a:latin typeface="Menlo"/>
              </a:rPr>
              <a:t>3.5</a:t>
            </a:r>
            <a:r>
              <a:rPr sz="3600" i="0" b="1">
                <a:solidFill>
                  <a:srgbClr val="1E3A5F"/>
                </a:solidFill>
                <a:latin typeface="Helvetica Neue"/>
              </a:rPr>
              <a:t>, and </a:t>
            </a:r>
            <a:r>
              <a:rPr sz="3240" i="0" b="1">
                <a:solidFill>
                  <a:srgbClr val="0F7490"/>
                </a:solidFill>
                <a:latin typeface="Menlo"/>
              </a:rPr>
              <a:t>-7 // 2</a:t>
            </a:r>
            <a:r>
              <a:rPr sz="3600" i="0" b="1">
                <a:solidFill>
                  <a:srgbClr val="1E3A5F"/>
                </a:solidFill>
                <a:latin typeface="Helvetica Neue"/>
              </a:rPr>
              <a:t> is </a:t>
            </a:r>
            <a:r>
              <a:rPr sz="3240" i="0" b="1">
                <a:solidFill>
                  <a:srgbClr val="0F7490"/>
                </a:solidFill>
                <a:latin typeface="Menlo"/>
              </a:rPr>
              <a:t>-4</a:t>
            </a:r>
            <a:r>
              <a:rPr sz="3600" i="0" b="1">
                <a:solidFill>
                  <a:srgbClr val="1E3A5F"/>
                </a:solidFill>
                <a:latin typeface="Helvetica Neue"/>
              </a:rPr>
              <a:t>. Each surprise comes from a type you didn't check.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247388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A program reads values, computes new ones and decides what to do next.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400" i="0" b="1">
                <a:solidFill>
                  <a:srgbClr val="FFFFFF"/>
                </a:solidFill>
                <a:latin typeface="Helvetica Neue"/>
              </a:rPr>
              <a:t>What do Python's arithmetic operators return?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Operators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Values and 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notes/01-values-and-conditionals.md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40" i="0" b="1">
                <a:solidFill>
                  <a:srgbClr val="1E3A5F"/>
                </a:solidFill>
                <a:latin typeface="Menlo"/>
              </a:rPr>
              <a:t>/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always returns a float, and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//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floors toward negative infinity rather than zero.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3" cy="269138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65978"/>
                <a:gridCol w="3569953"/>
                <a:gridCol w="5949922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Operator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Meaning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Remember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/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True division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Always a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float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: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7 / 2 == 3.5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//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Floor division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Rounds toward −∞: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-7 // 2 == -4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%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Remainder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x % 2 == 0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tests even,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n % 10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is the last digit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**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Power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2 ** 10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66446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+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, </a:t>
                      </a: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*</a:t>
                      </a: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 on strings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Concatenate, repeat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"ab" * 3 == "ababab"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, and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"1" + 1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is a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TypeError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What counts as false in an if?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Truthiness and short-circuit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Values and 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notes/01-values-and-conditionals.md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Zero, empty containers and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None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are falsy.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and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and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or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short-circuit, so the guard goes first.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Falsy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313178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231136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30" i="0" b="0">
                <a:solidFill>
                  <a:srgbClr val="0F7490"/>
                </a:solidFill>
                <a:latin typeface="Menlo"/>
              </a:rPr>
              <a:t>0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,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0.0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,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""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727706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2645664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30" i="0" b="0">
                <a:solidFill>
                  <a:srgbClr val="0F7490"/>
                </a:solidFill>
                <a:latin typeface="Menlo"/>
              </a:rPr>
              <a:t>[]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,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{}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142234"/>
            <a:ext cx="90678" cy="9067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3060192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30" i="0" b="0">
                <a:solidFill>
                  <a:srgbClr val="0F7490"/>
                </a:solidFill>
                <a:latin typeface="Menlo"/>
              </a:rPr>
              <a:t>None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,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False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Write </a:t>
            </a:r>
            <a:r>
              <a:rPr sz="1080" i="0" b="0">
                <a:solidFill>
                  <a:srgbClr val="0F7490"/>
                </a:solidFill>
                <a:latin typeface="Menlo"/>
              </a:rPr>
              <a:t>if items:</a:t>
            </a:r>
            <a:r>
              <a:rPr sz="1200" i="0" b="0">
                <a:solidFill>
                  <a:srgbClr val="475569"/>
                </a:solidFill>
                <a:latin typeface="Helvetica Neue"/>
              </a:rPr>
              <a:t>, not </a:t>
            </a:r>
            <a:r>
              <a:rPr sz="1080" i="0" b="0">
                <a:solidFill>
                  <a:srgbClr val="0F7490"/>
                </a:solidFill>
                <a:latin typeface="Menlo"/>
              </a:rPr>
              <a:t>if len(items) &gt; 0: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Short-circuit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7327" y="2313178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7367" y="2231136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30" i="0" b="0">
                <a:solidFill>
                  <a:srgbClr val="0F7490"/>
                </a:solidFill>
                <a:latin typeface="Menlo"/>
              </a:rPr>
              <a:t>and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/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or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stop as soon as the answer is known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07327" y="3012694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27367" y="2930652"/>
            <a:ext cx="4587087" cy="6614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530" i="0" b="0">
                <a:solidFill>
                  <a:srgbClr val="0F7490"/>
                </a:solidFill>
                <a:latin typeface="Menlo"/>
              </a:rPr>
              <a:t>x != 0 and 10 / x &gt; 2</a:t>
            </a:r>
            <a:r>
              <a:rPr sz="1700" i="0" b="0">
                <a:solidFill>
                  <a:srgbClr val="1E293B"/>
                </a:solidFill>
                <a:latin typeface="Helvetica Neue"/>
              </a:rPr>
              <a:t> never divides by zero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07327" y="3712210"/>
            <a:ext cx="90678" cy="9067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27367" y="3630168"/>
            <a:ext cx="4587087" cy="3764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0" b="0">
                <a:solidFill>
                  <a:srgbClr val="1E293B"/>
                </a:solidFill>
                <a:latin typeface="Helvetica Neue"/>
              </a:rPr>
              <a:t>Comparisons chain: </a:t>
            </a:r>
            <a:r>
              <a:rPr sz="1530" i="0" b="0">
                <a:solidFill>
                  <a:srgbClr val="0F7490"/>
                </a:solidFill>
                <a:latin typeface="Menlo"/>
              </a:rPr>
              <a:t>0 &lt;= score &lt;= 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Put the guard first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How do you catch bad input?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try / except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Values and 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notes/01-values-and-conditionals.md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Wrap only the line that can fail and name the exception you expect.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72184"/>
            <a:ext cx="6711513" cy="2148839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81912"/>
            <a:ext cx="6254313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883664"/>
            <a:ext cx="6254313" cy="15087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raw = input("Hours: ")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try: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hours = float(raw)    # only what can fail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except ValueError:        # only what you expect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print("Please enter a number")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hours = None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80193" y="1604772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00233" y="1517904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A bare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except: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also swallows typos and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Ctrl-C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0193" y="2345436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0233" y="2258568"/>
            <a:ext cx="3788542" cy="69494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Read a traceback </a:t>
            </a:r>
            <a:r>
              <a:rPr sz="1800" i="0" b="1">
                <a:solidFill>
                  <a:srgbClr val="1E293B"/>
                </a:solidFill>
                <a:latin typeface="Helvetica Neue"/>
              </a:rPr>
              <a:t>bottom up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: the last line names the exception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80193" y="3086100"/>
            <a:ext cx="96012" cy="9601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00233" y="2999232"/>
            <a:ext cx="3788542" cy="9966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1E293B"/>
                </a:solidFill>
                <a:latin typeface="Helvetica Neue"/>
              </a:rPr>
              <a:t>Wrong answer, no crash? Print intermediates or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assert</a:t>
            </a:r>
            <a:r>
              <a:rPr sz="1800" i="0" b="0">
                <a:solidFill>
                  <a:srgbClr val="1E293B"/>
                </a:solidFill>
                <a:latin typeface="Helvetica Neue"/>
              </a:rPr>
              <a:t> small cases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600" i="0" b="1">
                <a:solidFill>
                  <a:srgbClr val="FFFFFF"/>
                </a:solidFill>
                <a:latin typeface="Helvetica Neue"/>
              </a:rPr>
              <a:t>What does def do, and what does a call do?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Functions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Values and 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notes/02-functions.md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40" i="0" b="1">
                <a:solidFill>
                  <a:srgbClr val="1E3A5F"/>
                </a:solidFill>
                <a:latin typeface="Menlo"/>
              </a:rPr>
              <a:t>def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only binds a name. The body runs per call, and a function with no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return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returns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None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6587" y="1563624"/>
            <a:ext cx="2377440" cy="1423416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747" y="1563624"/>
            <a:ext cx="2103120" cy="14234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530" i="0" b="1">
                <a:solidFill>
                  <a:srgbClr val="E8F4F8"/>
                </a:solidFill>
                <a:latin typeface="Menlo"/>
              </a:rPr>
              <a:t>def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creates a function object and binds its name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18891" y="2275332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66947" y="1563624"/>
            <a:ext cx="2377440" cy="1423416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4107" y="1563624"/>
            <a:ext cx="2103120" cy="14234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Call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binds arguments to parameters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99251" y="2275332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347307" y="1563624"/>
            <a:ext cx="2377440" cy="1423416"/>
          </a:xfrm>
          <a:prstGeom prst="roundRect">
            <a:avLst>
              <a:gd name="adj" fmla="val 12000"/>
            </a:avLst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4467" y="1563624"/>
            <a:ext cx="2103120" cy="14234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Body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runs now and only now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9611" y="2275332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227667" y="1563624"/>
            <a:ext cx="2377440" cy="1423416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64827" y="1563624"/>
            <a:ext cx="2103120" cy="14234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530" i="0" b="1">
                <a:solidFill>
                  <a:srgbClr val="E8F4F8"/>
                </a:solidFill>
                <a:latin typeface="Menlo"/>
              </a:rPr>
              <a:t>return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hands a value back, or </a:t>
            </a:r>
            <a:r>
              <a:rPr sz="1300" i="0" b="0">
                <a:solidFill>
                  <a:srgbClr val="E8F4F8"/>
                </a:solidFill>
                <a:latin typeface="Menlo"/>
              </a:rPr>
              <a:t>None</a:t>
            </a:r>
            <a:r>
              <a:rPr sz="1300" i="0" b="0">
                <a:solidFill>
                  <a:srgbClr val="E8F4F8"/>
                </a:solidFill>
                <a:latin typeface="Helvetica Neue"/>
              </a:rPr>
              <a:t> if there's no </a:t>
            </a:r>
            <a:r>
              <a:rPr sz="1300" i="0" b="0">
                <a:solidFill>
                  <a:srgbClr val="E8F4F8"/>
                </a:solidFill>
                <a:latin typeface="Menlo"/>
              </a:rPr>
              <a:t>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98774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307080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1">
                <a:solidFill>
                  <a:srgbClr val="1E293B"/>
                </a:solidFill>
                <a:latin typeface="Helvetica Neue"/>
              </a:rPr>
              <a:t>Parameters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are the names in the definition, </a:t>
            </a:r>
            <a:r>
              <a:rPr sz="1900" i="0" b="1">
                <a:solidFill>
                  <a:srgbClr val="1E293B"/>
                </a:solidFill>
                <a:latin typeface="Helvetica Neue"/>
              </a:rPr>
              <a:t>arguments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are the values you pass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3862069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3770375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10" i="0" b="0">
                <a:solidFill>
                  <a:srgbClr val="0F7490"/>
                </a:solidFill>
                <a:latin typeface="Menlo"/>
              </a:rPr>
              <a:t>x = print(...)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leaves </a:t>
            </a:r>
            <a:r>
              <a:rPr sz="1710" i="0" b="0">
                <a:solidFill>
                  <a:srgbClr val="0F7490"/>
                </a:solidFill>
                <a:latin typeface="Menlo"/>
              </a:rPr>
              <a:t>x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as </a:t>
            </a:r>
            <a:r>
              <a:rPr sz="1710" i="0" b="0">
                <a:solidFill>
                  <a:srgbClr val="0F7490"/>
                </a:solidFill>
                <a:latin typeface="Menlo"/>
              </a:rPr>
              <a:t>None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300" i="0" b="1">
                <a:solidFill>
                  <a:srgbClr val="FFFFFF"/>
                </a:solidFill>
                <a:latin typeface="Helvetica Neue"/>
              </a:rPr>
              <a:t>Why should a function return rather than print?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Return, don't 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Values and 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notes/02-functions.md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Functions return values, so they can be tested and reused. Printing is for the edge of the program.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475569"/>
                </a:solidFill>
                <a:latin typeface="Helvetica Neue"/>
              </a:rPr>
              <a:t>Prints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231136"/>
            <a:ext cx="4907127" cy="92964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459736"/>
            <a:ext cx="4449927" cy="4724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def show_average(xs):</a:t>
            </a: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    print(sum(xs) / len(xs))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Only good for the terminal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Returns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07327" y="2231136"/>
            <a:ext cx="4907127" cy="1356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35927" y="2459736"/>
            <a:ext cx="4449927" cy="899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def average(xs):</a:t>
            </a: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    return sum(xs) / len(xs)</a:t>
            </a:r>
          </a:p>
          <a:p>
            <a:pPr algn="l">
              <a:lnSpc>
                <a:spcPct val="100000"/>
              </a:lnSpc>
            </a:pP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assert average([1, 2, 3]) == 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Usable from tests, functions and handlers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Why is def f(xs=[]) a bug?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Mutable defaults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Values and 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notes/02-functions.md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A default is created once, at definition time, and shared by every call. Use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None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and build inside.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72184"/>
            <a:ext cx="11185855" cy="263652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81912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883664"/>
            <a:ext cx="10728655" cy="199643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def add(item, bucket=[]):       # created ONCE, when def runs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bucket.append(item)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return bucket</a:t>
            </a:r>
          </a:p>
          <a:p>
            <a:pPr algn="l">
              <a:lnSpc>
                <a:spcPct val="100000"/>
              </a:lnSpc>
            </a:pP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def add(item, bucket=None):     # the fix: a new list per call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bucket = [] if bucket is None else bucket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bucket.append(item)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return bucket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700" i="0" b="1">
                <a:solidFill>
                  <a:srgbClr val="FFFFFF"/>
                </a:solidFill>
                <a:latin typeface="Helvetica Neue"/>
              </a:rPr>
              <a:t>Can a function change a global variable?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Scope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1 · Values and functions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notes/02-functions.md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00" i="0" b="1">
                <a:solidFill>
                  <a:srgbClr val="1E3A5F"/>
                </a:solidFill>
                <a:latin typeface="Helvetica Neue"/>
              </a:rPr>
              <a:t>Assignment inside a function creates a local name. Pass values in and return results instead of using </a:t>
            </a:r>
            <a:r>
              <a:rPr sz="1260" i="0" b="1">
                <a:solidFill>
                  <a:srgbClr val="1E3A5F"/>
                </a:solidFill>
                <a:latin typeface="Menlo"/>
              </a:rPr>
              <a:t>global</a:t>
            </a:r>
            <a:r>
              <a:rPr sz="1400" i="0" b="1">
                <a:solidFill>
                  <a:srgbClr val="1E3A5F"/>
                </a:solidFill>
                <a:latin typeface="Helvetica Neue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568704"/>
            <a:ext cx="106680" cy="106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472184"/>
            <a:ext cx="10865815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1E293B"/>
                </a:solidFill>
                <a:latin typeface="Helvetica Neue"/>
              </a:rPr>
              <a:t>Names assigned inside a function are </a:t>
            </a:r>
            <a:r>
              <a:rPr sz="2000" i="0" b="1">
                <a:solidFill>
                  <a:srgbClr val="1E293B"/>
                </a:solidFill>
                <a:latin typeface="Helvetica Neue"/>
              </a:rPr>
              <a:t>local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and vanish when it returns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6384"/>
            <a:ext cx="106680" cy="106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59864"/>
            <a:ext cx="10865815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1E293B"/>
                </a:solidFill>
                <a:latin typeface="Helvetica Neue"/>
              </a:rPr>
              <a:t>A function can </a:t>
            </a:r>
            <a:r>
              <a:rPr sz="2000" i="0" b="1">
                <a:solidFill>
                  <a:srgbClr val="1E293B"/>
                </a:solidFill>
                <a:latin typeface="Helvetica Neue"/>
              </a:rPr>
              <a:t>read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a global name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544064"/>
            <a:ext cx="106680" cy="106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447544"/>
            <a:ext cx="10865815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1E293B"/>
                </a:solidFill>
                <a:latin typeface="Helvetica Neue"/>
              </a:rPr>
              <a:t>Assigning to that name creates a new local one, unless you declare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global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031744"/>
            <a:ext cx="106680" cy="106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935224"/>
            <a:ext cx="10865815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1E293B"/>
                </a:solidFill>
                <a:latin typeface="Helvetica Neue"/>
              </a:rPr>
              <a:t>You almost never should: pass values in as arguments and return results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D4621A"/>
                </a:solidFill>
                <a:latin typeface="Helvetica Neue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021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Loops and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78479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The six patterns · Slicing · String methods · Reading files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1550670"/>
            <a:ext cx="0" cy="375666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1550670"/>
            <a:ext cx="4693615" cy="3939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Why do most loops look the same?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shape does every loop pattern share?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Which built-in replaces each loop pattern?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How do you loop with an index, or over two lists?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does s[1:4] return?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Which string methods do you use constantly?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How do you read a file safely, line by line?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Why do most loops look the same?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The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Loops and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Count, total, largest, search, filter and transform are the six patterns, and each has a built-in.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299716"/>
            <a:ext cx="109728" cy="2359152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2299716"/>
            <a:ext cx="10088575" cy="19933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Most loops are one of six patterns. A hand-written copy of a built-in is more code and more off-by-one errors.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247388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700" i="1" b="0">
                <a:solidFill>
                  <a:srgbClr val="475569"/>
                </a:solidFill>
                <a:latin typeface="Helvetica Neue"/>
              </a:rPr>
              <a:t>Learn to recognise the pattern, then learn the built-in that already does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700" i="0" b="1">
                <a:solidFill>
                  <a:srgbClr val="FFFFFF"/>
                </a:solidFill>
                <a:latin typeface="Helvetica Neue"/>
              </a:rPr>
              <a:t>What shape does every loop pattern share?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Loop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Loops and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Set up a variable before the loop, update it inside, use it after. Start "largest" from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None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, not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0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2676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6392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Set up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Menlo"/>
              </a:rPr>
              <a:t>total = 0</a:t>
            </a:r>
            <a:r>
              <a:rPr sz="1300" i="0" b="0">
                <a:solidFill>
                  <a:srgbClr val="E8F4F8"/>
                </a:solidFill>
                <a:latin typeface="Helvetica Neue"/>
              </a:rPr>
              <a:t> before the loop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907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90712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428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Update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Menlo"/>
              </a:rPr>
              <a:t>total += x</a:t>
            </a:r>
            <a:r>
              <a:rPr sz="1300" i="0" b="0">
                <a:solidFill>
                  <a:srgbClr val="E8F4F8"/>
                </a:solidFill>
                <a:latin typeface="Helvetica Neue"/>
              </a:rPr>
              <a:t> inside, for each item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3943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8748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464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Use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Menlo"/>
              </a:rPr>
              <a:t>total</a:t>
            </a:r>
            <a:r>
              <a:rPr sz="1300" i="0" b="0">
                <a:solidFill>
                  <a:srgbClr val="E8F4F8"/>
                </a:solidFill>
                <a:latin typeface="Helvetica Neue"/>
              </a:rPr>
              <a:t> is the answer after the loop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180842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89148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Largest starts at </a:t>
            </a:r>
            <a:r>
              <a:rPr sz="1710" i="0" b="0">
                <a:solidFill>
                  <a:srgbClr val="0F7490"/>
                </a:solidFill>
                <a:latin typeface="Menlo"/>
              </a:rPr>
              <a:t>None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, not </a:t>
            </a:r>
            <a:r>
              <a:rPr sz="1710" i="0" b="0">
                <a:solidFill>
                  <a:srgbClr val="0F7490"/>
                </a:solidFill>
                <a:latin typeface="Menlo"/>
              </a:rPr>
              <a:t>0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: a </a:t>
            </a:r>
            <a:r>
              <a:rPr sz="1710" i="0" b="0">
                <a:solidFill>
                  <a:srgbClr val="0F7490"/>
                </a:solidFill>
                <a:latin typeface="Menlo"/>
              </a:rPr>
              <a:t>0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start is wrong for all-negative data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644138"/>
            <a:ext cx="101346" cy="10134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552444"/>
            <a:ext cx="10865815" cy="4099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900" i="0" b="0">
                <a:solidFill>
                  <a:srgbClr val="1E293B"/>
                </a:solidFill>
                <a:latin typeface="Helvetica Neue"/>
              </a:rPr>
              <a:t>Prefer </a:t>
            </a:r>
            <a:r>
              <a:rPr sz="1710" i="0" b="0">
                <a:solidFill>
                  <a:srgbClr val="0F7490"/>
                </a:solidFill>
                <a:latin typeface="Menlo"/>
              </a:rPr>
              <a:t>for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to walk a collection: a </a:t>
            </a:r>
            <a:r>
              <a:rPr sz="1710" i="0" b="0">
                <a:solidFill>
                  <a:srgbClr val="0F7490"/>
                </a:solidFill>
                <a:latin typeface="Menlo"/>
              </a:rPr>
              <a:t>while</a:t>
            </a:r>
            <a:r>
              <a:rPr sz="1900" i="0" b="0">
                <a:solidFill>
                  <a:srgbClr val="1E293B"/>
                </a:solidFill>
                <a:latin typeface="Helvetica Neue"/>
              </a:rPr>
              <a:t> counter is where off-by-one errors live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600" i="0" b="1">
                <a:solidFill>
                  <a:srgbClr val="FFFFFF"/>
                </a:solidFill>
                <a:latin typeface="Helvetica Neue"/>
              </a:rPr>
              <a:t>Which built-in replaces each loop pattern?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Idiomatic replacements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Loops and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Reach for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sum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,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max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,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in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,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any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and comprehensions before you write the loop by hand.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5" cy="28376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37171"/>
                <a:gridCol w="8948684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Pattern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Built-in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Count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len(xs)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,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sum(1 for x in xs if cond)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Total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sum(xs)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Largest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max(xs, default=None)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Search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target in xs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,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any(cond(x) for x in xs)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Filter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[x for x in xs if cond(x)]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1E293B"/>
                          </a:solidFill>
                          <a:latin typeface="Helvetica Neue"/>
                        </a:rPr>
                        <a:t>Transform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[f(x) for x in xs]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200" i="0" b="1">
                <a:solidFill>
                  <a:srgbClr val="FFFFFF"/>
                </a:solidFill>
                <a:latin typeface="Helvetica Neue"/>
              </a:rPr>
              <a:t>How do you loop with an index, or over two lists?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enumerate and zip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Loops and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notes/03-loops.md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Use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enumerate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for an index and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zip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for parallel sequences, never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range(len(xs))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568704"/>
            <a:ext cx="106680" cy="106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1472184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0F7490"/>
                </a:solidFill>
                <a:latin typeface="Menlo"/>
              </a:rPr>
              <a:t>enumerate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gives position and item, without a counter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391664"/>
            <a:ext cx="106680" cy="106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295144"/>
            <a:ext cx="5944038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0F7490"/>
                </a:solidFill>
                <a:latin typeface="Menlo"/>
              </a:rPr>
              <a:t>zip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walks two sequences together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79344"/>
            <a:ext cx="106680" cy="106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782824"/>
            <a:ext cx="5944038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0F7490"/>
                </a:solidFill>
                <a:latin typeface="Menlo"/>
              </a:rPr>
              <a:t>for i in range(len(xs))</a:t>
            </a:r>
            <a:r>
              <a:rPr sz="2000" i="0" b="0">
                <a:solidFill>
                  <a:srgbClr val="1E293B"/>
                </a:solidFill>
                <a:latin typeface="Helvetica Neue"/>
              </a:rPr>
              <a:t> almost always means you wanted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enumerate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758" y="1472184"/>
            <a:ext cx="4556016" cy="1904999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61358" y="1581912"/>
            <a:ext cx="4098816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1358" y="1883664"/>
            <a:ext cx="4098816" cy="12649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for i, w in enumerate(ws):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print(i, w)</a:t>
            </a:r>
          </a:p>
          <a:p>
            <a:pPr algn="l">
              <a:lnSpc>
                <a:spcPct val="100000"/>
              </a:lnSpc>
            </a:pP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for n, s in zip(ns, ss):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print(n, 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What does s[1:4] return?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Strings are sequences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Loops and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notes/04-strings-and-files.md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3A5F"/>
                </a:solidFill>
                <a:latin typeface="Helvetica Neue"/>
              </a:rPr>
              <a:t>A slice includes the start and excludes the end. Strings are immutable, so every method returns a new 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72184"/>
            <a:ext cx="11185855" cy="2148839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81912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883664"/>
            <a:ext cx="10728655" cy="15087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s = "banana"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s[0], s[-1]        # 'b', 'a'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s[1:4]             # 'ana': start included, end excluded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s[:3], s[3:]       # 'ban', 'ana'. s[:i] + s[i:] == s for every i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s[::-1]            # 'ananab'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s = s.upper()      # strings are immutable, so methods return new ones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500" i="0" b="1">
                <a:solidFill>
                  <a:srgbClr val="FFFFFF"/>
                </a:solidFill>
                <a:latin typeface="Helvetica Neue"/>
              </a:rPr>
              <a:t>Which string methods do you use constantly?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String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Loops and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notes/04-strings-and-files.md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40" i="0" b="1">
                <a:solidFill>
                  <a:srgbClr val="1E3A5F"/>
                </a:solidFill>
                <a:latin typeface="Menlo"/>
              </a:rPr>
              <a:t>split()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with no argument splits on any run of whitespace.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split(sep)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keeps empty fields.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472184"/>
          <a:ext cx="11185854" cy="28376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29628"/>
                <a:gridCol w="4261278"/>
                <a:gridCol w="3994948"/>
              </a:tblGrid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Method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Example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700" i="0" b="1">
                          <a:solidFill>
                            <a:srgbClr val="FFFFFF"/>
                          </a:solidFill>
                          <a:latin typeface="Helvetica Neue"/>
                        </a:rPr>
                        <a:t>Result</a:t>
                      </a:r>
                    </a:p>
                  </a:txBody>
                  <a:tcPr marL="109728" marR="109728" marT="54864" marB="54864" anchor="ctr">
                    <a:solidFill>
                      <a:srgbClr val="1E3A5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strip()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"  hi\n".strip()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'hi'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find()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"a@b.org".find("@")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1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, or </a:t>
                      </a: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-1</a:t>
                      </a:r>
                      <a:r>
                        <a:rPr sz="1700" i="0" b="0">
                          <a:solidFill>
                            <a:srgbClr val="475569"/>
                          </a:solidFill>
                          <a:latin typeface="Helvetica Neue"/>
                        </a:rPr>
                        <a:t> if absent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split()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"a b  c".split()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['a', 'b', 'c']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split(sep)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"a,,b".split(",")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['a', '', 'b']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join()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", ".join(["a", "b"])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'a, b'</a:t>
                      </a:r>
                    </a:p>
                  </a:txBody>
                  <a:tcPr marL="109728" marR="109728" marT="54864" marB="54864" anchor="ctr">
                    <a:solidFill>
                      <a:srgbClr val="FFFFFF"/>
                    </a:solidFill>
                  </a:tcPr>
                </a:tc>
              </a:tr>
              <a:tr h="405384"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1">
                          <a:solidFill>
                            <a:srgbClr val="0F7490"/>
                          </a:solidFill>
                          <a:latin typeface="Menlo"/>
                        </a:rPr>
                        <a:t>replace()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"a-b".replace("-", "_")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530" i="0" b="0">
                          <a:solidFill>
                            <a:srgbClr val="0F7490"/>
                          </a:solidFill>
                          <a:latin typeface="Menlo"/>
                        </a:rPr>
                        <a:t>'a_b'</a:t>
                      </a:r>
                    </a:p>
                  </a:txBody>
                  <a:tcPr marL="109728" marR="109728" marT="54864" marB="54864"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500" i="0" b="1">
                <a:solidFill>
                  <a:srgbClr val="FFFFFF"/>
                </a:solidFill>
                <a:latin typeface="Helvetica Neue"/>
              </a:rPr>
              <a:t>How do you read a file safely, line by line?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D4621A"/>
                </a:solidFill>
                <a:latin typeface="Helvetica Neue"/>
              </a:rPr>
              <a:t>Reading 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2 · Loops and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notes/04-strings-and-files.md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500" i="0" b="1">
                <a:solidFill>
                  <a:srgbClr val="1E3A5F"/>
                </a:solidFill>
                <a:latin typeface="Helvetica Neue"/>
              </a:rPr>
              <a:t>Use </a:t>
            </a:r>
            <a:r>
              <a:rPr sz="1350" i="0" b="1">
                <a:solidFill>
                  <a:srgbClr val="1E3A5F"/>
                </a:solidFill>
                <a:latin typeface="Menlo"/>
              </a:rPr>
              <a:t>with open(path, encoding="utf-8")</a:t>
            </a:r>
            <a:r>
              <a:rPr sz="1500" i="0" b="1">
                <a:solidFill>
                  <a:srgbClr val="1E3A5F"/>
                </a:solidFill>
                <a:latin typeface="Helvetica Neue"/>
              </a:rPr>
              <a:t> and iterate over lines, so memory stays constant and the file closes.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72184"/>
            <a:ext cx="11185855" cy="2148839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81912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883664"/>
            <a:ext cx="10728655" cy="150875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with open("mbox.txt", encoding="utf-8") as fh:   # closes the file for you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for line in fh:                              # one line at a time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line = line.rstrip()                     # drop the newline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if not line.startswith("From "):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    continue                             # skip what you don't need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    print(line.split()[1])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0F7490"/>
                </a:solidFill>
                <a:latin typeface="Helvetica Neue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5486400" cy="1021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5000" i="0" b="1">
                <a:solidFill>
                  <a:srgbClr val="FFFFFF"/>
                </a:solidFill>
                <a:latin typeface="Helvetica Neue"/>
              </a:rPr>
              <a:t>Collections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78479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0EA5C9"/>
                </a:solidFill>
                <a:latin typeface="Helvetica Neue"/>
              </a:rPr>
              <a:t>Aliasing · The counting idiom · Hashable keys · Sorting by key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46520" y="2349500"/>
            <a:ext cx="0" cy="2159000"/>
          </a:xfrm>
          <a:prstGeom prst="line">
            <a:avLst/>
          </a:prstGeom>
          <a:ln w="19050">
            <a:solidFill>
              <a:srgbClr val="3B5A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766560" y="2349500"/>
            <a:ext cx="4693615" cy="2341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Why learn just three collections first?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Does b = a copy a list?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What is the counting idiom?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Which collection should you pick?</a:t>
            </a:r>
          </a:p>
          <a:p>
            <a:pPr algn="l">
              <a:lnSpc>
                <a:spcPct val="100000"/>
              </a:lnSpc>
              <a:spcBef>
                <a:spcPts val="1189"/>
              </a:spcBef>
            </a:pPr>
            <a:r>
              <a:rPr sz="1700" i="0" b="0">
                <a:solidFill>
                  <a:srgbClr val="CBD5E1"/>
                </a:solidFill>
                <a:latin typeface="Helvetica Neue"/>
              </a:rPr>
              <a:t>How do you sort by count, breaking ties by name?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64748B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Why learn just three collections first?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The problem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Collections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notes/05-collections.md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List for order and change, dict for lookup by key, tuple for a fixed immutable record.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1997964"/>
            <a:ext cx="109728" cy="250545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1997964"/>
            <a:ext cx="10088575" cy="2596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i="0" b="1">
                <a:solidFill>
                  <a:srgbClr val="1E3A5F"/>
                </a:solidFill>
                <a:latin typeface="Helvetica Neue"/>
              </a:rPr>
              <a:t>A list is an ordered sequence, a dict maps keys to values, and a tuple is a fixed record. Combined, they count, group and sort almost anything.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Does b = a copy a list?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Aliasing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Collections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notes/05-collections.md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260" i="0" b="1">
                <a:solidFill>
                  <a:srgbClr val="1E3A5F"/>
                </a:solidFill>
                <a:latin typeface="Menlo"/>
              </a:rPr>
              <a:t>b = a</a:t>
            </a:r>
            <a:r>
              <a:rPr sz="1400" i="0" b="1">
                <a:solidFill>
                  <a:srgbClr val="1E3A5F"/>
                </a:solidFill>
                <a:latin typeface="Helvetica Neue"/>
              </a:rPr>
              <a:t> makes a second name for the same list. Copy with </a:t>
            </a:r>
            <a:r>
              <a:rPr sz="1260" i="0" b="1">
                <a:solidFill>
                  <a:srgbClr val="1E3A5F"/>
                </a:solidFill>
                <a:latin typeface="Menlo"/>
              </a:rPr>
              <a:t>a.copy()</a:t>
            </a:r>
            <a:r>
              <a:rPr sz="1400" i="0" b="1">
                <a:solidFill>
                  <a:srgbClr val="1E3A5F"/>
                </a:solidFill>
                <a:latin typeface="Helvetica Neue"/>
              </a:rPr>
              <a:t>, and remember functions can mutate arguments.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5410047" cy="5577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475569"/>
                </a:solidFill>
                <a:latin typeface="Helvetica Neue"/>
              </a:rPr>
              <a:t>Second name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231136"/>
            <a:ext cx="4907127" cy="1356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2459736"/>
            <a:ext cx="4449927" cy="899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a = [1, 2]</a:t>
            </a: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b = a</a:t>
            </a: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b.append(3)</a:t>
            </a: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a            # [1, 2, 3]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One list, two names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8727" y="1472184"/>
            <a:ext cx="5410047" cy="4014215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8727" y="1472184"/>
            <a:ext cx="5410047" cy="557784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1472184"/>
            <a:ext cx="4952847" cy="5577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FFFFFF"/>
                </a:solidFill>
                <a:latin typeface="Helvetica Neue"/>
              </a:rPr>
              <a:t>Real copy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07327" y="2231136"/>
            <a:ext cx="4907127" cy="1356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35927" y="2459736"/>
            <a:ext cx="4449927" cy="899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a = [1, 2]</a:t>
            </a: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b = a.copy()     # or a[:], list(a)</a:t>
            </a: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b.append(3)</a:t>
            </a:r>
          </a:p>
          <a:p>
            <a:pPr algn="l">
              <a:lnSpc>
                <a:spcPct val="100000"/>
              </a:lnSpc>
            </a:pPr>
            <a:r>
              <a:rPr sz="1400" i="0" b="0">
                <a:solidFill>
                  <a:srgbClr val="E2E8F0"/>
                </a:solidFill>
                <a:latin typeface="Menlo"/>
              </a:rPr>
              <a:t>a            # [1, 2]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61607" y="4956048"/>
            <a:ext cx="5044287" cy="347472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53047" y="4956048"/>
            <a:ext cx="4861407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200" i="0" b="0">
                <a:solidFill>
                  <a:srgbClr val="475569"/>
                </a:solidFill>
                <a:latin typeface="Helvetica Neue"/>
              </a:rPr>
              <a:t>Two lists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What is the counting idiom?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Dictionaries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Collections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notes/05-collections.md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440" i="0" b="1">
                <a:solidFill>
                  <a:srgbClr val="1E3A5F"/>
                </a:solidFill>
                <a:latin typeface="Menlo"/>
              </a:rPr>
              <a:t>counts[k] = counts.get(k, 0) + 1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counts anything.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Counter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and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defaultdict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are the library versions.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1472184"/>
            <a:ext cx="11185855" cy="2880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581912"/>
            <a:ext cx="107286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0" b="1">
                <a:solidFill>
                  <a:srgbClr val="94A3B8"/>
                </a:solidFill>
                <a:latin typeface="Helvetica Neue"/>
              </a:rP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1883664"/>
            <a:ext cx="10728655" cy="224027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counts = {}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for word in words: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counts[word] = counts.get(word, 0) + 1</a:t>
            </a:r>
          </a:p>
          <a:p>
            <a:pPr algn="l">
              <a:lnSpc>
                <a:spcPct val="100000"/>
              </a:lnSpc>
            </a:pP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from collections import Counter, defaultdict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Counter(words).most_common(10)          # the standard-library version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by_domain = defaultdict(list)           # the grouping version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for email in emails:</a:t>
            </a:r>
          </a:p>
          <a:p>
            <a:pPr algn="l">
              <a:lnSpc>
                <a:spcPct val="100000"/>
              </a:lnSpc>
            </a:pPr>
            <a:r>
              <a:rPr sz="1600" i="0" b="0">
                <a:solidFill>
                  <a:srgbClr val="E2E8F0"/>
                </a:solidFill>
                <a:latin typeface="Menlo"/>
              </a:rPr>
              <a:t>    by_domain[email.split("@")[1]].append(email)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Which collection should you pick?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Choosing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Collections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notes/05-collections.md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Only hashable values can be dict keys, so a tuple can be one and a list cannot.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3545738" cy="27492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72184"/>
            <a:ext cx="82296" cy="2749296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087880"/>
            <a:ext cx="3042818" cy="195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475569"/>
                </a:solidFill>
                <a:latin typeface="Helvetica Neue"/>
              </a:rPr>
              <a:t>Ordered and mutable.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append</a:t>
            </a:r>
            <a:r>
              <a:rPr sz="2000" i="0" b="0">
                <a:solidFill>
                  <a:srgbClr val="475569"/>
                </a:solidFill>
                <a:latin typeface="Helvetica Neue"/>
              </a:rPr>
              <a:t>,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pop</a:t>
            </a:r>
            <a:r>
              <a:rPr sz="2000" i="0" b="0">
                <a:solidFill>
                  <a:srgbClr val="475569"/>
                </a:solidFill>
                <a:latin typeface="Helvetica Neue"/>
              </a:rPr>
              <a:t>,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sort</a:t>
            </a:r>
            <a:r>
              <a:rPr sz="2000" i="0" b="0">
                <a:solidFill>
                  <a:srgbClr val="475569"/>
                </a:solidFill>
                <a:latin typeface="Helvetica Neue"/>
              </a:rPr>
              <a:t>. Searching with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in</a:t>
            </a:r>
            <a:r>
              <a:rPr sz="2000" i="0" b="0">
                <a:solidFill>
                  <a:srgbClr val="475569"/>
                </a:solidFill>
                <a:latin typeface="Helvetica Neue"/>
              </a:rPr>
              <a:t> walks the list.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2978" y="1472184"/>
            <a:ext cx="3545738" cy="27492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2978" y="1472184"/>
            <a:ext cx="82296" cy="2749296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97298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Dict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7298" y="2087880"/>
            <a:ext cx="3042818" cy="195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475569"/>
                </a:solidFill>
                <a:latin typeface="Helvetica Neue"/>
              </a:rPr>
              <a:t>Lookup, insert and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in</a:t>
            </a:r>
            <a:r>
              <a:rPr sz="2000" i="0" b="0">
                <a:solidFill>
                  <a:srgbClr val="475569"/>
                </a:solidFill>
                <a:latin typeface="Helvetica Neue"/>
              </a:rPr>
              <a:t> are </a:t>
            </a:r>
            <a:r>
              <a:rPr sz="2000" i="0" b="1">
                <a:solidFill>
                  <a:srgbClr val="1E293B"/>
                </a:solidFill>
                <a:latin typeface="Helvetica Neue"/>
              </a:rPr>
              <a:t>O(1)</a:t>
            </a:r>
            <a:r>
              <a:rPr sz="2000" i="0" b="0">
                <a:solidFill>
                  <a:srgbClr val="475569"/>
                </a:solidFill>
                <a:latin typeface="Helvetica Neue"/>
              </a:rPr>
              <a:t> on average. Keeps insertion order. Keys must be hashable.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43036" y="1472184"/>
            <a:ext cx="3545738" cy="2749296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43036" y="1472184"/>
            <a:ext cx="82296" cy="2749296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7356" y="1655064"/>
            <a:ext cx="3088538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Tuple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7356" y="2087880"/>
            <a:ext cx="3042818" cy="195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2000" i="0" b="0">
                <a:solidFill>
                  <a:srgbClr val="475569"/>
                </a:solidFill>
                <a:latin typeface="Helvetica Neue"/>
              </a:rPr>
              <a:t>Immutable and hashable, so it can be a key: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{(lat, lon): city}</a:t>
            </a:r>
            <a:r>
              <a:rPr sz="2000" i="0" b="0">
                <a:solidFill>
                  <a:srgbClr val="475569"/>
                </a:solidFill>
                <a:latin typeface="Helvetica Neue"/>
              </a:rPr>
              <a:t>. Unpack with </a:t>
            </a:r>
            <a:r>
              <a:rPr sz="1800" i="0" b="0">
                <a:solidFill>
                  <a:srgbClr val="0F7490"/>
                </a:solidFill>
                <a:latin typeface="Menlo"/>
              </a:rPr>
              <a:t>x, y = point</a:t>
            </a:r>
            <a:r>
              <a:rPr sz="2000" i="0" b="0">
                <a:solidFill>
                  <a:srgbClr val="475569"/>
                </a:solidFill>
                <a:latin typeface="Helvetica Neue"/>
              </a:rPr>
              <a:t>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789401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300" i="0" b="1">
                <a:solidFill>
                  <a:srgbClr val="FFFFFF"/>
                </a:solidFill>
                <a:latin typeface="Helvetica Neue"/>
              </a:rPr>
              <a:t>How do you sort by count, breaking ties by name?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88375" y="0"/>
            <a:ext cx="320040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10000"/>
              </a:lnSpc>
            </a:pPr>
            <a:r>
              <a:rPr sz="1400" i="0" b="0">
                <a:solidFill>
                  <a:srgbClr val="0EA5C9"/>
                </a:solidFill>
                <a:latin typeface="Helvetica Neue"/>
              </a:rPr>
              <a:t>Sorting with a key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Part 3 · Collections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notes/05-collections.md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Have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key=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return a tuple such as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(-count, word)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, because tuples compare element by element.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658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374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530" i="0" b="1">
                <a:solidFill>
                  <a:srgbClr val="E8F4F8"/>
                </a:solidFill>
                <a:latin typeface="Menlo"/>
              </a:rPr>
              <a:t>counts.items()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Menlo"/>
              </a:rPr>
              <a:t>(word, n)</a:t>
            </a:r>
            <a:r>
              <a:rPr sz="1300" i="0" b="0">
                <a:solidFill>
                  <a:srgbClr val="E8F4F8"/>
                </a:solidFill>
                <a:latin typeface="Helvetica Neue"/>
              </a:rPr>
              <a:t> tuples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1889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46694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410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530" i="0" b="1">
                <a:solidFill>
                  <a:srgbClr val="E8F4F8"/>
                </a:solidFill>
                <a:latin typeface="Menlo"/>
              </a:rPr>
              <a:t>key=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Menlo"/>
              </a:rPr>
              <a:t>lambda kv: (-kv[1], kv[0])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9925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34730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0EA5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446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700" i="0" b="1">
                <a:solidFill>
                  <a:srgbClr val="FFFFFF"/>
                </a:solidFill>
                <a:latin typeface="Helvetica Neue"/>
              </a:rPr>
              <a:t>Compare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tuples compare element by element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9611" y="2166366"/>
            <a:ext cx="393192" cy="0"/>
          </a:xfrm>
          <a:prstGeom prst="line">
            <a:avLst/>
          </a:prstGeom>
          <a:ln w="2540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227667" y="1563624"/>
            <a:ext cx="2377440" cy="1205484"/>
          </a:xfrm>
          <a:prstGeom prst="roundRect">
            <a:avLst>
              <a:gd name="adj" fmla="val 12000"/>
            </a:avLst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64827" y="1563624"/>
            <a:ext cx="2103120" cy="12054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530" i="0" b="1">
                <a:solidFill>
                  <a:srgbClr val="E8F4F8"/>
                </a:solidFill>
                <a:latin typeface="Menlo"/>
              </a:rPr>
              <a:t>[:10]</a:t>
            </a:r>
          </a:p>
          <a:p>
            <a:pPr algn="ctr">
              <a:lnSpc>
                <a:spcPct val="110000"/>
              </a:lnSpc>
            </a:pPr>
            <a:r>
              <a:rPr sz="1300" i="0" b="0">
                <a:solidFill>
                  <a:srgbClr val="E8F4F8"/>
                </a:solidFill>
                <a:latin typeface="Helvetica Neue"/>
              </a:rPr>
              <a:t>the top ten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089148"/>
            <a:ext cx="11185855" cy="23972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</a:pPr>
            <a:r>
              <a:rPr sz="1530" i="0" b="0">
                <a:solidFill>
                  <a:srgbClr val="0F7490"/>
                </a:solidFill>
                <a:latin typeface="Menlo"/>
              </a:rPr>
              <a:t>sorted(counts.items(), key=lambda kv: (-kv[1], kv[0]))[:10]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1118585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What are the foundation rules?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Rules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notes/02-functions.md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Return values, name exceptions, use built-ins, and open files with </a:t>
            </a:r>
            <a:r>
              <a:rPr sz="1440" i="0" b="1">
                <a:solidFill>
                  <a:srgbClr val="1E3A5F"/>
                </a:solidFill>
                <a:latin typeface="Menlo"/>
              </a:rPr>
              <a:t>with</a:t>
            </a:r>
            <a:r>
              <a:rPr sz="1600" i="0" b="1">
                <a:solidFill>
                  <a:srgbClr val="1E3A5F"/>
                </a:solidFill>
                <a:latin typeface="Helvetica Neue"/>
              </a:rPr>
              <a:t> and an explicit encoding.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72184"/>
            <a:ext cx="2590723" cy="28834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1472184"/>
            <a:ext cx="82296" cy="2883408"/>
          </a:xfrm>
          <a:prstGeom prst="rect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Functions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087880"/>
            <a:ext cx="2087803" cy="20848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Return values. Print at the edge.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None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as a default, never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[]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67963" y="1472184"/>
            <a:ext cx="2590723" cy="28834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67963" y="1472184"/>
            <a:ext cx="82296" cy="2883408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42283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Errors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42283" y="2087880"/>
            <a:ext cx="2087803" cy="20848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20" i="0" b="0">
                <a:solidFill>
                  <a:srgbClr val="0F7490"/>
                </a:solidFill>
                <a:latin typeface="Menlo"/>
              </a:rPr>
              <a:t>try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only the line that can fail. Name the exception. Read tracebacks from the bottom.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1472184"/>
            <a:ext cx="2590723" cy="28834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3007" y="1472184"/>
            <a:ext cx="82296" cy="2883408"/>
          </a:xfrm>
          <a:prstGeom prst="rect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07327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Loops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7327" y="2087880"/>
            <a:ext cx="2087803" cy="20848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0">
                <a:solidFill>
                  <a:srgbClr val="475569"/>
                </a:solidFill>
                <a:latin typeface="Helvetica Neue"/>
              </a:rPr>
              <a:t>Know the pattern, use the built-in.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enumerate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and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zip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, not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range(len(xs))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98051" y="1472184"/>
            <a:ext cx="2590723" cy="2883408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98051" y="1472184"/>
            <a:ext cx="82296" cy="2883408"/>
          </a:xfrm>
          <a:prstGeom prst="rect">
            <a:avLst/>
          </a:prstGeom>
          <a:solidFill>
            <a:srgbClr val="5B21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371" y="1655064"/>
            <a:ext cx="2133523" cy="3596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293B"/>
                </a:solidFill>
                <a:latin typeface="Helvetica Neue"/>
              </a:rPr>
              <a:t>Files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371" y="2087880"/>
            <a:ext cx="2087803" cy="208483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620" i="0" b="0">
                <a:solidFill>
                  <a:srgbClr val="0F7490"/>
                </a:solidFill>
                <a:latin typeface="Menlo"/>
              </a:rPr>
              <a:t>with open(...)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and an explicit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encoding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, reading one line at a time.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86868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0"/>
            <a:ext cx="11185855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2800" i="0" b="1">
                <a:solidFill>
                  <a:srgbClr val="FFFFFF"/>
                </a:solidFill>
                <a:latin typeface="Helvetica Neue"/>
              </a:rPr>
              <a:t>Where do you go after foundations?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329184"/>
          </a:xfrm>
          <a:prstGeom prst="rect">
            <a:avLst/>
          </a:prstGeom>
          <a:solidFill>
            <a:srgbClr val="E8E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7315200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100" i="0" b="0">
                <a:solidFill>
                  <a:srgbClr val="94A3B8"/>
                </a:solidFill>
                <a:latin typeface="Helvetica Neue"/>
              </a:rPr>
              <a:t>Rules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</a:pPr>
            <a:r>
              <a:rPr sz="1000" i="1" b="0">
                <a:solidFill>
                  <a:srgbClr val="94A3B8"/>
                </a:solidFill>
                <a:latin typeface="Helvetica Neue"/>
              </a:rPr>
              <a:t>Source: notes/05-collections.md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419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</a:pPr>
            <a:r>
              <a:rPr sz="1000" i="0" b="0">
                <a:solidFill>
                  <a:srgbClr val="94A3B8"/>
                </a:solidFill>
                <a:latin typeface="Helvetica Neue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715000"/>
            <a:ext cx="11185855" cy="502920"/>
          </a:xfrm>
          <a:prstGeom prst="rect">
            <a:avLst/>
          </a:prstGeom>
          <a:solidFill>
            <a:srgbClr val="E8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5715000"/>
            <a:ext cx="73152" cy="502920"/>
          </a:xfrm>
          <a:prstGeom prst="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715000"/>
            <a:ext cx="10728655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600" i="0" b="1">
                <a:solidFill>
                  <a:srgbClr val="1E3A5F"/>
                </a:solidFill>
                <a:latin typeface="Helvetica Neue"/>
              </a:rPr>
              <a:t>Next is Python 02 informatics, with SQL 01 alongside. If an exercise file passes first try, move 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472184"/>
            <a:ext cx="11185855" cy="12649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67512" y="1876044"/>
            <a:ext cx="457200" cy="457200"/>
          </a:xfrm>
          <a:prstGeom prst="ellipse">
            <a:avLst/>
          </a:prstGeom>
          <a:solidFill>
            <a:srgbClr val="D46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18760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1472184"/>
            <a:ext cx="10180015" cy="12649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Python 02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Regex, HTTP, JSON, objects and SQLite: talking to the world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846832"/>
            <a:ext cx="11185855" cy="12649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7512" y="3250691"/>
            <a:ext cx="457200" cy="45720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25069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2846832"/>
            <a:ext cx="10180015" cy="12649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SQL 01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Starts alongside Python 02, once this module is done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221480"/>
            <a:ext cx="11185855" cy="1264919"/>
          </a:xfrm>
          <a:prstGeom prst="rect">
            <a:avLst/>
          </a:prstGeom>
          <a:solidFill>
            <a:srgbClr val="FFFFFF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7512" y="4625339"/>
            <a:ext cx="457200" cy="457200"/>
          </a:xfrm>
          <a:prstGeom prst="ellipse">
            <a:avLst/>
          </a:prstGeom>
          <a:solidFill>
            <a:srgbClr val="0F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6253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</a:pPr>
            <a:r>
              <a:rPr sz="1600" i="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4221480"/>
            <a:ext cx="10180015" cy="126491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</a:pPr>
            <a:r>
              <a:rPr sz="1800" i="0" b="1">
                <a:solidFill>
                  <a:srgbClr val="1E293B"/>
                </a:solidFill>
                <a:latin typeface="Helvetica Neue"/>
              </a:rPr>
              <a:t>Practice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 — </a:t>
            </a:r>
            <a:r>
              <a:rPr sz="1620" i="0" b="0">
                <a:solidFill>
                  <a:srgbClr val="0F7490"/>
                </a:solidFill>
                <a:latin typeface="Menlo"/>
              </a:rPr>
              <a:t>bash check.sh exercises 01</a:t>
            </a:r>
            <a:r>
              <a:rPr sz="1800" i="0" b="0">
                <a:solidFill>
                  <a:srgbClr val="475569"/>
                </a:solidFill>
                <a:latin typeface="Helvetica Neue"/>
              </a:rPr>
              <a:t>, and each file also runs alone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