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study deck for Python 01. Every slide is a flashcard: the title is the question and the takeaway is the rule that answers it. Three parts, then the rules to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`type(x)` tells you. `int("3.5")` raises ValueError, so `int(float("3.5"))` is the two-step version, and it truncates.</a:t>
            </a:r>
          </a:p>
          <a:p/>
          <a:p>
            <a:r>
              <a:t>Source: notes/01-values-and-conditionals.md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Precedence follows PEMDAS. When in doubt add parentheses, which cost nothing.</a:t>
            </a:r>
          </a:p>
          <a:p/>
          <a:p>
            <a:r>
              <a:t>Source: notes/01-values-and-conditionals.md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Indentation is the block structure. Four spaces, never tabs.</a:t>
            </a:r>
          </a:p>
          <a:p/>
          <a:p>
            <a:r>
              <a:t>Source: notes/01-values-and-conditionals.md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Syntax errors point at or just after the problem. Semantic errors need print or assert.</a:t>
            </a:r>
          </a:p>
          <a:p/>
          <a:p>
            <a:r>
              <a:t>Source: notes/01-values-and-conditionals.md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docstring is what help() shows. Type hints document intent and Python does not enforce them.</a:t>
            </a:r>
          </a:p>
          <a:p/>
          <a:p>
            <a:r>
              <a:t>Source: notes/02-functions.md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bugs in beginners' code come from functions that print where they should return.</a:t>
            </a:r>
          </a:p>
          <a:p/>
          <a:p>
            <a:r>
              <a:t>Source: notes/02-functions.md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 arguments are clearer for optional settings. Note 03 of the engineers module returns to this.</a:t>
            </a:r>
          </a:p>
          <a:p/>
          <a:p>
            <a:r>
              <a:t>Source: notes/02-functions.md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Built-ins to know on day one: len, min, max, sum, abs, round, sorted, range, enumerate, zip, isinstance.</a:t>
            </a:r>
          </a:p>
          <a:p/>
          <a:p>
            <a:r>
              <a:t>Source: notes/02-functions.md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each loop once to understand it, then use the built-in.</a:t>
            </a:r>
          </a:p>
          <a:p/>
          <a:p>
            <a:r>
              <a:t>Source: notes/03-loops.md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`for ... else` runs else only if the loop did not break. A helper with early return usually reads better.</a:t>
            </a:r>
          </a:p>
          <a:p/>
          <a:p>
            <a:r>
              <a:t>Source: notes/03-loops.md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exercise file makes you write each pattern by hand and compares with the built-ins.</a:t>
            </a:r>
          </a:p>
          <a:p/>
          <a:p>
            <a:r>
              <a:t>Source: notes/03-loops.md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`range(start, stop, step)` excludes stop.</a:t>
            </a:r>
          </a:p>
          <a:p/>
          <a:p>
            <a:r>
              <a:t>Source: notes/03-loops.md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`s[0] = 'B'` is an error. `s.upper()` on its own line changes nothing.</a:t>
            </a:r>
          </a:p>
          <a:p/>
          <a:p>
            <a:r>
              <a:t>Source: notes/04-strings-and-files.md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f-strings: `f"{amount:,.2f}"`, `f"{ratio:.1%}"`, `f"{value=}"` for debugging.</a:t>
            </a:r>
          </a:p>
          <a:p/>
          <a:p>
            <a:r>
              <a:t>Source: notes/04-strings-and-files.md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`fh.read()` is for small files only. The default encoding depends on the OS. `"w"` truncates, `"a"` appends, and `write()` adds no newline.</a:t>
            </a:r>
          </a:p>
          <a:p/>
          <a:p>
            <a:r>
              <a:t>Source: notes/04-strings-and-files.md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scripting problems are one of those three operations on those three shapes.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`xs.sort()` sorts in place and returns None. `sorted(xs)` returns a new list.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`d[k]` raises KeyError when the key is missing and `d.get(k, default)` does not.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named fields, use NamedTuple or a dataclass.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decorate, sort, undecorate pattern is what key= does for you.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come from the Python track README's rules of thumb.</a:t>
            </a:r>
          </a:p>
          <a:p/>
          <a:p>
            <a:r>
              <a:t>Source: notes/02-functions.md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programming/CURRICULUM.md for the order of the tracks.</a:t>
            </a:r>
          </a:p>
          <a:p/>
          <a:p>
            <a:r>
              <a:t>Source: notes/05-collections.md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920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i="0" b="1">
                <a:solidFill>
                  <a:srgbClr val="FFFFFF"/>
                </a:solidFill>
                <a:latin typeface="Helvetica Neue"/>
              </a:rPr>
              <a:t>Python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Values, functions, loops, text and collections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87952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0799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Types · Conditionals · Functions</a:t>
            </a:r>
          </a:p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Loop patterns · Strings · Files · Lists · Dicts · Tuples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13331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13331"/>
            <a:ext cx="91440" cy="1143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1347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Values and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54402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Types and operators · Truthiness · Bad input · Return, don't 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57499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857499"/>
            <a:ext cx="9144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85515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Loops and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98570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The six patterns · Slicing · String methods · Reading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201667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4201667"/>
            <a:ext cx="91440" cy="1143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29683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42738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Aliasing · The counting idiom · Hashable keys · Sorting by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programming/python/01-foundations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Values and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Types and operators · Truthiness · Bad input · Return, don't print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475105"/>
            <a:ext cx="0" cy="390779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475105"/>
            <a:ext cx="4693615" cy="409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learn a value's type first?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 Python's arithmetic operators return?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counts as false in an if?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catch bad input?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def do, and what does a call do?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should a function return rather than print?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is def f(xs=[]) a bug?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Can a function change a global variable?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learn a value's type 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notes/01-values-and-conditionals.md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Know each value's type and the rest follows. Convert explicitly with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int()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float()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str()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99716"/>
            <a:ext cx="109728" cy="235915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29971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240" i="0" b="1">
                <a:solidFill>
                  <a:srgbClr val="0F7490"/>
                </a:solidFill>
                <a:latin typeface="Menlo"/>
              </a:rPr>
              <a:t>"1" + 1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 crashes,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7 / 2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 is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3.5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, and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-7 // 2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 is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-4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. Each surprise comes from a type you didn't 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4738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A program reads values, computes new ones and decides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What do Python's arithmetic operators return?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notes/01-values-and-conditionals.md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/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always returns a float,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//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floors toward negative infinity rather than zero.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3" cy="26913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5978"/>
                <a:gridCol w="3569953"/>
                <a:gridCol w="5949922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Operator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Remember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/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True division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Always a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float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: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7 / 2 == 3.5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//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Floor division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Rounds toward −∞: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-7 // 2 == -4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Remainder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x % 2 == 0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tests even,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n % 10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is the last digit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**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Power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2 ** 10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+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*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on strings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Concatenate, repeat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"ab" * 3 == "ababab"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and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"1" + 1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is a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TypeError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counts as false in an if?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Truthiness and short-circuit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notes/01-values-and-conditionals.md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Zero, empty containers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are falsy.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and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or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short-circuit, so the guard goes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Falsy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0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0.0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""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[]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{}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4223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None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Write </a:t>
            </a:r>
            <a:r>
              <a:rPr sz="1080" i="0" b="0">
                <a:solidFill>
                  <a:srgbClr val="0F7490"/>
                </a:solidFill>
                <a:latin typeface="Menlo"/>
              </a:rPr>
              <a:t>if items:</a:t>
            </a:r>
            <a:r>
              <a:rPr sz="1200" i="0" b="0">
                <a:solidFill>
                  <a:srgbClr val="475569"/>
                </a:solidFill>
                <a:latin typeface="Helvetica Neue"/>
              </a:rPr>
              <a:t>, not </a:t>
            </a:r>
            <a:r>
              <a:rPr sz="1080" i="0" b="0">
                <a:solidFill>
                  <a:srgbClr val="0F7490"/>
                </a:solidFill>
                <a:latin typeface="Menlo"/>
              </a:rPr>
              <a:t>if len(items) &gt; 0: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Short-circuit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and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/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or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stop as soon as the answer is known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01269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93065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x != 0 and 10 / x &gt; 2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never divides by zero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712210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630168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Comparisons chain: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0 &lt;= score &lt;=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Put the guard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 you catch bad input?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try / except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notes/01-values-and-conditionals.md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Wrap only the line that can fail and name the exception you expect.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6711513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6254313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raw = input("Hours: 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hours = float(raw)    # only what can fail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except ValueError:        # only what you expect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print("Please enter a number")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hours = 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 bare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except: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also swallows typos and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Ctrl-C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Read a traceback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bottom up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: the last line names the exception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0193" y="3086100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233" y="2999232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Wrong answer, no crash? Print intermediates or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assert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small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 b="1">
                <a:solidFill>
                  <a:srgbClr val="FFFFFF"/>
                </a:solidFill>
                <a:latin typeface="Helvetica Neue"/>
              </a:rPr>
              <a:t>What does def do, and what does a call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def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only binds a name. The body runs per call, and a function with no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return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returns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def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creates a function object and binds its name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Call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binds arguments to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Body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runs now and only now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return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hands a value back, or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None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if there's no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return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98774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07080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Parameters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are the names in the definition,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arguments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are the values you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62069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70375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10" i="0" b="0">
                <a:solidFill>
                  <a:srgbClr val="0F7490"/>
                </a:solidFill>
                <a:latin typeface="Menlo"/>
              </a:rPr>
              <a:t>x = print(...)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leaves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x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as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Why should a function return rather than print?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Return, don't 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Functions return values, so they can be tested and reused. Printing is for the edge of the program.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Prints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9296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472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def show_average(xs):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  print(sum(xs) / len(xs))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Only good for the terminal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Returns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def average(xs):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  return sum(xs) / len(xs)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assert average([1, 2, 3]) ==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Usable from tests, functions and handlers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is def f(xs=[]) a bug?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Mutable defaults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 default is created once, at definition time, and shared by every call. Use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build inside.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6365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996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add(item, bucket=[]):       # created ONCE, when def runs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bucket.append(item)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return bucket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add(item, bucket=None):     # the fix: a new list per call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bucket = [] if bucket is None else bucket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bucket.append(item)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return bucket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Can a function change a global variable?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Values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Assignment inside a function creates a local name. Pass values in and return results instead of using </a:t>
            </a:r>
            <a:r>
              <a:rPr sz="1260" i="0" b="1">
                <a:solidFill>
                  <a:srgbClr val="1E3A5F"/>
                </a:solidFill>
                <a:latin typeface="Menlo"/>
              </a:rPr>
              <a:t>global</a:t>
            </a:r>
            <a:r>
              <a:rPr sz="14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47218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Names assigned inside a function are </a:t>
            </a:r>
            <a:r>
              <a:rPr sz="2000" i="0" b="1">
                <a:solidFill>
                  <a:srgbClr val="1E293B"/>
                </a:solidFill>
                <a:latin typeface="Helvetica Neue"/>
              </a:rPr>
              <a:t>local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and vanish when it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638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5986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A function can </a:t>
            </a:r>
            <a:r>
              <a:rPr sz="2000" i="0" b="1">
                <a:solidFill>
                  <a:srgbClr val="1E293B"/>
                </a:solidFill>
                <a:latin typeface="Helvetica Neue"/>
              </a:rPr>
              <a:t>read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a global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406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4754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Assigning to that name creates a new local one, unless you declare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global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3174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3522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You almost never should: pass values in as arguments and return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Loops and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The six patterns · Slicing · String methods · Reading files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550670"/>
            <a:ext cx="0" cy="375666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550670"/>
            <a:ext cx="4693615" cy="3939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do most loops look the same?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shape does every loop pattern share?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built-in replaces each loop pattern?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loop with an index, or over two lists?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s[1:4] return?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string methods do you use constantly?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read a file safely, line by line?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do most loops look the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Count, total, largest, search, filter and transform are the six patterns, and each has a built-in.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99716"/>
            <a:ext cx="109728" cy="235915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29971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Most loops are one of six patterns. A hand-written copy of a built-in is more code and more off-by-one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4738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Learn to recognise the pattern, then learn the built-in that already does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What shape does every loop pattern share?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Loop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Set up a variable before the loop, update it inside, use it after. Start "largest" from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not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0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67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39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Set up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total = 0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before the loop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907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0712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428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Update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total += x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inside, for each item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3943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874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46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Use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total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is the answer after the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80842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8914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Largest starts at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None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, not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0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: a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0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start is wrong for all-negative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44138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5244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Prefer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for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to walk a collection: a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while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counter is where off-by-one errors 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 b="1">
                <a:solidFill>
                  <a:srgbClr val="FFFFFF"/>
                </a:solidFill>
                <a:latin typeface="Helvetica Neue"/>
              </a:rPr>
              <a:t>Which built-in replaces each loop pattern?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Idiomatic replacements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Reach for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sum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max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in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any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comprehensions before you write the loop by hand.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5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7171"/>
                <a:gridCol w="8948684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Pattern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Built-in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Count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len(xs)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sum(1 for x in xs if cond)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sum(xs)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Largest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max(xs, default=None)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Search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target in xs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any(cond(x) for x in xs)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Filter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[x for x in xs if cond(x)]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Transform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[f(x) for x in xs]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i="0" b="1">
                <a:solidFill>
                  <a:srgbClr val="FFFFFF"/>
                </a:solidFill>
                <a:latin typeface="Helvetica Neue"/>
              </a:rPr>
              <a:t>How do you loop with an index, or over two lists?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enumerate and zip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Use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enumerate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for an index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zip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for parallel sequences, never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range(len(xs))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47218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enumerate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gives position and item, without a counter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9166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95144"/>
            <a:ext cx="5944038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zip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walks two sequences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7934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8282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for i in range(len(xs))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almost always means you wanted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enumerate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758" y="1472184"/>
            <a:ext cx="4556016" cy="190499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1358" y="1581912"/>
            <a:ext cx="4098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358" y="1883664"/>
            <a:ext cx="4098816" cy="1264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i, w in enumerate(ws):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print(i, w)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n, s in zip(ns, ss):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print(n, 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does s[1:4] return?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Strings are 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notes/04-strings-and-files.md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A slice includes the start and excludes the end. Strings are immutable, so every method returns a new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 = "banana"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s[0], s[-1]        # 'b', 'a'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s[1:4]             # 'ana': start included, end excluded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s[:3], s[3:]       # 'ban', 'ana'. s[:i] + s[i:] == s for every i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s[::-1]            # 'ananab'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 = s.upper()      # strings are immutable, so methods return new ones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Which string methods do you use constantly?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String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notes/04-strings-and-files.md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split()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with no argument splits on any run of whitespace.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split(sep)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keeps empty fields.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9628"/>
                <a:gridCol w="4261278"/>
                <a:gridCol w="3994948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Result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strip()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  hi\n".strip()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'hi'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find()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"a@b.org".find("@")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1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or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-1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if absent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split()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"a b  c".split()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['a', 'b', 'c']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split(sep)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"a,,b".split(",")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['a', '', 'b']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join()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", ".join(["a", "b"])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'a, b'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replace()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"a-b".replace("-", "_")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'a_b'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How do you read a file safely, line by 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Reading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Loops and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notes/04-strings-and-files.md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Use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with open(path, encoding="utf-8")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and iterate over lines, so memory stays constant and the file closes.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with open("mbox.txt", encoding="utf-8") as fh:   # closes the file for you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for line in fh:                              # one line at a time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line = line.rstrip()                     # drop the newline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if not line.startswith("From "):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continue                             # skip what you don't need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print(line.split()[1])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Aliasing · The counting idiom · Hashable keys · Sorting by key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349500"/>
            <a:ext cx="0" cy="215900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349500"/>
            <a:ext cx="4693615" cy="234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learn just three collections first?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Does b = a copy a list?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is the counting idiom?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collection should you pick?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sort by count, breaking ties by name?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learn just three collections 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List for order and change, dict for lookup by key, tuple for a fixed immutable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97964"/>
            <a:ext cx="109728" cy="25054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99796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A list is an ordered sequence, a dict maps keys to values, and a tuple is a fixed record. Combined, they count, group and sort almost anything.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Does b = a copy a list?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Aliasing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60" i="0" b="1">
                <a:solidFill>
                  <a:srgbClr val="1E3A5F"/>
                </a:solidFill>
                <a:latin typeface="Menlo"/>
              </a:rPr>
              <a:t>b = a</a:t>
            </a:r>
            <a:r>
              <a:rPr sz="1400" i="0" b="1">
                <a:solidFill>
                  <a:srgbClr val="1E3A5F"/>
                </a:solidFill>
                <a:latin typeface="Helvetica Neue"/>
              </a:rPr>
              <a:t> makes a second name for the same list. Copy with </a:t>
            </a:r>
            <a:r>
              <a:rPr sz="1260" i="0" b="1">
                <a:solidFill>
                  <a:srgbClr val="1E3A5F"/>
                </a:solidFill>
                <a:latin typeface="Menlo"/>
              </a:rPr>
              <a:t>a.copy()</a:t>
            </a:r>
            <a:r>
              <a:rPr sz="1400" i="0" b="1">
                <a:solidFill>
                  <a:srgbClr val="1E3A5F"/>
                </a:solidFill>
                <a:latin typeface="Helvetica Neue"/>
              </a:rPr>
              <a:t>, and remember functions can mutate arguments.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Second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a = [1, 2]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b = a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b.append(3)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a            # [1, 2, 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One list, two names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Real copy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a = [1, 2]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b = a.copy()     # or a[:], list(a)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b.append(3)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a            # [1, 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Two lists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is the counting idiom?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Dictionaries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counts[k] = counts.get(k, 0) + 1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counts anything.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Counter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defaultdict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are the library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880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2240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counts = {}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word in words: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counts[word] = counts.get(word, 0) + 1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from collections import Counter, defaultdict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Counter(words).most_common(10)          # the standard-library version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by_domain = defaultdict(list)           # the grouping version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email in emails: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by_domain[email.split("@")[1]].append(email)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Which collection should you pick?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Choosing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Only hashable values can be dict keys, so a tuple can be one and a list cannot.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82296" cy="274929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Ordered and mutable.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append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,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pop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,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sort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. Searching with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in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 walks the 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2978" y="1472184"/>
            <a:ext cx="82296" cy="27492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Lookup, insert and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in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 are </a:t>
            </a:r>
            <a:r>
              <a:rPr sz="2000" i="0" b="1">
                <a:solidFill>
                  <a:srgbClr val="1E293B"/>
                </a:solidFill>
                <a:latin typeface="Helvetica Neue"/>
              </a:rPr>
              <a:t>O(1)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 on average. Keeps insertion order. Keys must be hashable.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3036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3036" y="1472184"/>
            <a:ext cx="82296" cy="274929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Tuple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7356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Immutable and hashable, so it can be a key: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{(lat, lon): city}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. Unpack with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x, y = point</a:t>
            </a:r>
            <a:r>
              <a:rPr sz="20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How do you sort by count, breaking ties by name?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Sorting with a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Have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key=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 a tuple such as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(-count, word)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because tuples compare element by element.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counts.items()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(word, n)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tuples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key=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lambda kv: (-kv[1], kv[0])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Compare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tuples compare element by element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[:10]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the top 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89148"/>
            <a:ext cx="11185855" cy="23972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sorted(counts.items(), key=lambda kv: (-kv[1], kv[0]))[:10]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are the foundation rules?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notes/02-functions.md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Return values, name exceptions, use built-ins, and open files with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with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and an explicit encoding.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82296" cy="288340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Return values. Print at the edge.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None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as a default, never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[]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82296" cy="28834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283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try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only the line that can fail. Name the exception. Read tracebacks from the bottom.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82296" cy="288340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Know the pattern, use the built-in.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enumerate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and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zip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not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range(len(xs))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051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82296" cy="28834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371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with open(...)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and an explicit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encoding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reading one line at a time.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do you go after foundations?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notes/05-collections.md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Next is Python 02 informatics, with SQL 01 alongside. If an exercise file passes first try, move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11185855" cy="12649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1876044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8760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472184"/>
            <a:ext cx="10180015" cy="126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Python 02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Regex, HTTP, JSON, objects and SQLite: talking to the world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46832"/>
            <a:ext cx="11185855" cy="12649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3250691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25069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46832"/>
            <a:ext cx="10180015" cy="126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SQL 01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Starts alongside Python 02, once this module is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1480"/>
            <a:ext cx="11185855" cy="12649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" y="4625339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6253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21480"/>
            <a:ext cx="10180015" cy="126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Practice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bash check.sh exercises 01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and each file also runs alone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