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deck for Python 03. Every slide is a flashcard: the title is the question and the takeaway is the rule that answers it. How the language works, then how to write code that holds up, then how to run many things at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an object with an identity, a type and a value.</a:t>
            </a:r>
          </a:p>
          <a:p/>
          <a:p>
            <a:r>
              <a:t>Source: notes/01-data-model-and-idioms.md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Arguments are passed by assignment, so a function that mutates is visible to the caller and one that rebinds is not.</a:t>
            </a:r>
          </a:p>
          <a:p/>
          <a:p>
            <a:r>
              <a:t>Source: notes/01-data-model-and-idioms.md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__eq__ without __hash__ stops instances working as keys. A frozen dataclass solves it.</a:t>
            </a:r>
          </a:p>
          <a:p/>
          <a:p>
            <a:r>
              <a:t>Source: notes/01-data-model-and-idioms.md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Idioms by reflex: `first, *rest = xs`, `a, b = b, a`, `zip(xs, ys, strict=True)`, `{**defaults, **overrides}`. `copy.copy` is shallow and `copy.deepcopy` goes all the way down.</a:t>
            </a:r>
          </a:p>
          <a:p/>
          <a:p>
            <a:r>
              <a:t>Source: notes/01-data-model-and-idioms.md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why looping twice over a generator or a map object silently yields nothing the second time.</a:t>
            </a:r>
          </a:p>
          <a:p/>
          <a:p>
            <a:r>
              <a:t>Source: notes/02-generators-and-iteration.md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with block stays open until the generator finishes or is collected. Consume it fully. Stop comprehensions at two for clauses.</a:t>
            </a:r>
          </a:p>
          <a:p/>
          <a:p>
            <a:r>
              <a:t>Source: notes/02-generators-and-iteration.md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collections adds Counter, defaultdict, deque with maxlen for a sliding window, and namedtuple.</a:t>
            </a:r>
          </a:p>
          <a:p/>
          <a:p>
            <a:r>
              <a:t>Source: notes/02-generators-and-iteration.md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Signatures: parameters before / are positional-only, parameters after * are keyword-only, a good default for flags.</a:t>
            </a:r>
          </a:p>
          <a:p/>
          <a:p>
            <a:r>
              <a:t>Source: notes/03-functions-deeper.md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`@retry(times=3)` is a function returning a decorator. Also useful: functools.cache, partial, operator.itemgetter.</a:t>
            </a:r>
          </a:p>
          <a:p/>
          <a:p>
            <a:r>
              <a:t>Source: notes/03-functions-deeper.md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slides take these one at a time.</a:t>
            </a:r>
          </a:p>
          <a:p/>
          <a:p>
            <a:r>
              <a:t>Source: notes/04-errors-and-context-managers.md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fields to custom exceptions for anything a caller might branch on. Use log.exception inside except, not print.</a:t>
            </a:r>
          </a:p>
          <a:p/>
          <a:p>
            <a:r>
              <a:t>Source: notes/04-errors-and-context-managers.md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class, implement __enter__ and __exit__. Returning True from __exit__ swallows the exception, which is rarely what you want.</a:t>
            </a:r>
          </a:p>
          <a:p/>
          <a:p>
            <a:r>
              <a:t>Source: notes/04-errors-and-context-managers.md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TypeScript track teaches the same ideas with a stricter checker.</a:t>
            </a:r>
          </a:p>
          <a:p/>
          <a:p>
            <a:r>
              <a:t>Source: notes/05-types-and-dataclasses.md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frozen=True makes instances immutable and hashable. Mutable defaults need field(default_factory=list). Pydantic coerces "4" to 4 for an int field.</a:t>
            </a:r>
          </a:p>
          <a:p/>
          <a:p>
            <a:r>
              <a:t>Source: notes/05-types-and-dataclasses.md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tools cover what used to take many.</a:t>
            </a:r>
          </a:p>
          <a:p/>
          <a:p>
            <a:r>
              <a:t>Source: notes/06-modules-packaging-tooling.md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 when I run it from here" bugs come from the same place. uv sync installs the project so imports stop depending on the working directory.</a:t>
            </a:r>
          </a:p>
          <a:p/>
          <a:p>
            <a:r>
              <a:t>Source: notes/06-modules-packaging-tooling.md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NumPy releases the GIL, so array work is a separate case.</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Free-threaded builds (3.13t+) remove the GIL, but most code and libraries still assume it.</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model as JavaScript promises. Promise.all corresponds to gather and TaskGroup.</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`gather(*coros, return_exceptions=True)` collects errors without cancelling. `asyncio.timeout(5)` adds a deadline.</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Calling an async def does nothing until it is awaited or scheduled as a task.</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retry 4xx validation errors. LLM SDKs already retry for you, so check before you wrap them.</a:t>
            </a:r>
          </a:p>
          <a:p/>
          <a:p>
            <a:r>
              <a:t>Source: notes/07-concurrency.md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condense the module's seven notes.</a:t>
            </a:r>
          </a:p>
          <a:p/>
          <a:p>
            <a:r>
              <a:t>Source: notes/01-data-model-and-idioms.md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programming/CURRICULUM.md for the order of the tracks.</a:t>
            </a:r>
          </a:p>
          <a:p/>
          <a:p>
            <a:r>
              <a:t>Source: notes/06-modules-packaging-tooling.md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Python for Engineers</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The language features production code relies on</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Data model · Iterators · Closures · Errors</a:t>
            </a:r>
          </a:p>
          <a:p>
            <a:pPr algn="l">
              <a:lnSpc>
                <a:spcPct val="125000"/>
              </a:lnSpc>
            </a:pPr>
            <a:r>
              <a:rPr sz="1500" i="0" b="0">
                <a:solidFill>
                  <a:srgbClr val="94A3B8"/>
                </a:solidFill>
                <a:latin typeface="Helvetica Neue"/>
              </a:rPr>
              <a:t>Types · Tooling · Concurrency</a:t>
            </a:r>
          </a:p>
        </p:txBody>
      </p:sp>
      <p:sp>
        <p:nvSpPr>
          <p:cNvPr id="10" name="Rectangle 9"/>
          <p:cNvSpPr/>
          <p:nvPr/>
        </p:nvSpPr>
        <p:spPr>
          <a:xfrm>
            <a:off x="6492240" y="1513331"/>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513331"/>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1641347"/>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How the language works</a:t>
            </a:r>
          </a:p>
        </p:txBody>
      </p:sp>
      <p:sp>
        <p:nvSpPr>
          <p:cNvPr id="13" name="TextBox 12"/>
          <p:cNvSpPr txBox="1"/>
          <p:nvPr/>
        </p:nvSpPr>
        <p:spPr>
          <a:xfrm>
            <a:off x="6766560" y="1954402"/>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Names and objects · Dunder methods · Iterators · Generators · Closures · Decorators</a:t>
            </a:r>
          </a:p>
        </p:txBody>
      </p:sp>
      <p:sp>
        <p:nvSpPr>
          <p:cNvPr id="14" name="Rectangle 13"/>
          <p:cNvSpPr/>
          <p:nvPr/>
        </p:nvSpPr>
        <p:spPr>
          <a:xfrm>
            <a:off x="6492240" y="2857499"/>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857499"/>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98551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Code that holds up</a:t>
            </a:r>
          </a:p>
        </p:txBody>
      </p:sp>
      <p:sp>
        <p:nvSpPr>
          <p:cNvPr id="17" name="TextBox 16"/>
          <p:cNvSpPr txBox="1"/>
          <p:nvPr/>
        </p:nvSpPr>
        <p:spPr>
          <a:xfrm>
            <a:off x="6766560" y="3298570"/>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Exceptions · Context managers · Type hints · Dataclasses and Pydantic · uv, ruff and pytest</a:t>
            </a:r>
          </a:p>
        </p:txBody>
      </p:sp>
      <p:sp>
        <p:nvSpPr>
          <p:cNvPr id="18" name="Rectangle 17"/>
          <p:cNvSpPr/>
          <p:nvPr/>
        </p:nvSpPr>
        <p:spPr>
          <a:xfrm>
            <a:off x="6492240" y="420166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4201667"/>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432968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Many things at once</a:t>
            </a:r>
          </a:p>
        </p:txBody>
      </p:sp>
      <p:sp>
        <p:nvSpPr>
          <p:cNvPr id="21" name="TextBox 20"/>
          <p:cNvSpPr txBox="1"/>
          <p:nvPr/>
        </p:nvSpPr>
        <p:spPr>
          <a:xfrm>
            <a:off x="6766560" y="464273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Picking a tool · The GIL · The event loop · Never block · Retries</a:t>
            </a:r>
          </a:p>
        </p:txBody>
      </p:sp>
      <p:sp>
        <p:nvSpPr>
          <p:cNvPr id="22" name="TextBox 21"/>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programming/python/03-language-for-engineers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How the language works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Names and objects · Dunder methods · Iterators · Generators · Closures · Decorators</a:t>
            </a:r>
          </a:p>
        </p:txBody>
      </p:sp>
      <p:cxnSp>
        <p:nvCxnSpPr>
          <p:cNvPr id="6" name="Connector 5"/>
          <p:cNvCxnSpPr/>
          <p:nvPr/>
        </p:nvCxnSpPr>
        <p:spPr>
          <a:xfrm>
            <a:off x="6446520" y="1270000"/>
            <a:ext cx="0" cy="431800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270000"/>
            <a:ext cx="4693615" cy="450088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does Python's "weird" behaviour keep surprising people?</a:t>
            </a:r>
          </a:p>
          <a:p>
            <a:pPr algn="l">
              <a:lnSpc>
                <a:spcPct val="100000"/>
              </a:lnSpc>
              <a:spcBef>
                <a:spcPts val="1189"/>
              </a:spcBef>
            </a:pPr>
            <a:r>
              <a:rPr sz="1700" i="0" b="0">
                <a:solidFill>
                  <a:srgbClr val="CBD5E1"/>
                </a:solidFill>
                <a:latin typeface="Helvetica Neue"/>
              </a:rPr>
              <a:t>What is the difference between mutating and rebinding?</a:t>
            </a:r>
          </a:p>
          <a:p>
            <a:pPr algn="l">
              <a:lnSpc>
                <a:spcPct val="100000"/>
              </a:lnSpc>
              <a:spcBef>
                <a:spcPts val="1189"/>
              </a:spcBef>
            </a:pPr>
            <a:r>
              <a:rPr sz="1700" i="0" b="0">
                <a:solidFill>
                  <a:srgbClr val="CBD5E1"/>
                </a:solidFill>
                <a:latin typeface="Helvetica Neue"/>
              </a:rPr>
              <a:t>When do you use == and when do you use is?</a:t>
            </a:r>
          </a:p>
          <a:p>
            <a:pPr algn="l">
              <a:lnSpc>
                <a:spcPct val="100000"/>
              </a:lnSpc>
              <a:spcBef>
                <a:spcPts val="1189"/>
              </a:spcBef>
            </a:pPr>
            <a:r>
              <a:rPr sz="1700" i="0" b="0">
                <a:solidFill>
                  <a:srgbClr val="CBD5E1"/>
                </a:solidFill>
                <a:latin typeface="Helvetica Neue"/>
              </a:rPr>
              <a:t>How does Python syntax map to methods?</a:t>
            </a:r>
          </a:p>
          <a:p>
            <a:pPr algn="l">
              <a:lnSpc>
                <a:spcPct val="100000"/>
              </a:lnSpc>
              <a:spcBef>
                <a:spcPts val="1189"/>
              </a:spcBef>
            </a:pPr>
            <a:r>
              <a:rPr sz="1700" i="0" b="0">
                <a:solidFill>
                  <a:srgbClr val="CBD5E1"/>
                </a:solidFill>
                <a:latin typeface="Helvetica Neue"/>
              </a:rPr>
              <a:t>What does a for loop actually do?</a:t>
            </a:r>
          </a:p>
          <a:p>
            <a:pPr algn="l">
              <a:lnSpc>
                <a:spcPct val="100000"/>
              </a:lnSpc>
              <a:spcBef>
                <a:spcPts val="1189"/>
              </a:spcBef>
            </a:pPr>
            <a:r>
              <a:rPr sz="1700" i="0" b="0">
                <a:solidFill>
                  <a:srgbClr val="CBD5E1"/>
                </a:solidFill>
                <a:latin typeface="Helvetica Neue"/>
              </a:rPr>
              <a:t>Why would you write a generator?</a:t>
            </a:r>
          </a:p>
          <a:p>
            <a:pPr algn="l">
              <a:lnSpc>
                <a:spcPct val="100000"/>
              </a:lnSpc>
              <a:spcBef>
                <a:spcPts val="1189"/>
              </a:spcBef>
            </a:pPr>
            <a:r>
              <a:rPr sz="1700" i="0" b="0">
                <a:solidFill>
                  <a:srgbClr val="CBD5E1"/>
                </a:solidFill>
                <a:latin typeface="Helvetica Neue"/>
              </a:rPr>
              <a:t>Which itertools do you actually use?</a:t>
            </a:r>
          </a:p>
          <a:p>
            <a:pPr algn="l">
              <a:lnSpc>
                <a:spcPct val="100000"/>
              </a:lnSpc>
              <a:spcBef>
                <a:spcPts val="1189"/>
              </a:spcBef>
            </a:pPr>
            <a:r>
              <a:rPr sz="1700" i="0" b="0">
                <a:solidFill>
                  <a:srgbClr val="CBD5E1"/>
                </a:solidFill>
                <a:latin typeface="Helvetica Neue"/>
              </a:rPr>
              <a:t>What do closures capture?</a:t>
            </a:r>
          </a:p>
          <a:p>
            <a:pPr algn="l">
              <a:lnSpc>
                <a:spcPct val="100000"/>
              </a:lnSpc>
              <a:spcBef>
                <a:spcPts val="1189"/>
              </a:spcBef>
            </a:pPr>
            <a:r>
              <a:rPr sz="1700" i="0" b="0">
                <a:solidFill>
                  <a:srgbClr val="CBD5E1"/>
                </a:solidFill>
                <a:latin typeface="Helvetica Neue"/>
              </a:rPr>
              <a:t>What is a decorator?</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Why does Python's "weird" behaviour keep surprising people?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notes/01-data-model-and-idioms.md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Names are labels on objects, not boxes holding values. Most surprising Python behaviour follows from that.</a:t>
            </a:r>
          </a:p>
        </p:txBody>
      </p:sp>
      <p:sp>
        <p:nvSpPr>
          <p:cNvPr id="13" name="Rectangle 12"/>
          <p:cNvSpPr/>
          <p:nvPr/>
        </p:nvSpPr>
        <p:spPr>
          <a:xfrm>
            <a:off x="777240" y="1863851"/>
            <a:ext cx="109728" cy="2773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863851"/>
            <a:ext cx="10088575" cy="2865120"/>
          </a:xfrm>
          <a:prstGeom prst="rect">
            <a:avLst/>
          </a:prstGeom>
          <a:noFill/>
        </p:spPr>
        <p:txBody>
          <a:bodyPr wrap="square" lIns="0" rIns="0" tIns="0" bIns="0" anchor="t">
            <a:noAutofit/>
          </a:bodyPr>
          <a:lstStyle/>
          <a:p>
            <a:pPr algn="l">
              <a:lnSpc>
                <a:spcPct val="105000"/>
              </a:lnSpc>
            </a:pPr>
            <a:r>
              <a:rPr sz="3200" i="0" b="1">
                <a:solidFill>
                  <a:srgbClr val="1E3A5F"/>
                </a:solidFill>
                <a:latin typeface="Helvetica Neue"/>
              </a:rPr>
              <a:t>A function changes your list, a default argument remembers old calls, and a second loop over a generator finds nothing. One model explains the first two, and a protocol explains the third.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What is the difference between mutating and rebinding?</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Names and objects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notes/01-data-model-and-idioms.md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Mutating changes the object, so every name sees it. Rebinding moves one label, so nothing else changes.</a:t>
            </a:r>
          </a:p>
        </p:txBody>
      </p:sp>
      <p:sp>
        <p:nvSpPr>
          <p:cNvPr id="13" name="Rounded Rectangle 12"/>
          <p:cNvSpPr/>
          <p:nvPr/>
        </p:nvSpPr>
        <p:spPr>
          <a:xfrm>
            <a:off x="502920" y="1472184"/>
            <a:ext cx="11185855"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5" name="TextBox 14"/>
          <p:cNvSpPr txBox="1"/>
          <p:nvPr/>
        </p:nvSpPr>
        <p:spPr>
          <a:xfrm>
            <a:off x="731520" y="1883664"/>
            <a:ext cx="10728655"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b = a             a ───┐</a:t>
            </a:r>
          </a:p>
          <a:p>
            <a:pPr algn="l">
              <a:lnSpc>
                <a:spcPct val="100000"/>
              </a:lnSpc>
            </a:pPr>
            <a:r>
              <a:rPr sz="1600" i="0" b="0">
                <a:solidFill>
                  <a:srgbClr val="E2E8F0"/>
                </a:solidFill>
                <a:latin typeface="Menlo"/>
              </a:rPr>
              <a:t>                       ├──► [1, 2, 3]         one object, two names</a:t>
            </a:r>
          </a:p>
          <a:p>
            <a:pPr algn="l">
              <a:lnSpc>
                <a:spcPct val="100000"/>
              </a:lnSpc>
            </a:pPr>
            <a:r>
              <a:rPr sz="1600" i="0" b="0">
                <a:solidFill>
                  <a:srgbClr val="E2E8F0"/>
                </a:solidFill>
                <a:latin typeface="Menlo"/>
              </a:rPr>
              <a:t>                  b ───┘</a:t>
            </a:r>
          </a:p>
          <a:p>
            <a:pPr algn="l">
              <a:lnSpc>
                <a:spcPct val="100000"/>
              </a:lnSpc>
            </a:pPr>
          </a:p>
          <a:p>
            <a:pPr algn="l">
              <a:lnSpc>
                <a:spcPct val="100000"/>
              </a:lnSpc>
            </a:pPr>
            <a:r>
              <a:rPr sz="1600" i="0" b="0">
                <a:solidFill>
                  <a:srgbClr val="E2E8F0"/>
                </a:solidFill>
                <a:latin typeface="Menlo"/>
              </a:rPr>
              <a:t>b.append(4)       a ───┐</a:t>
            </a:r>
          </a:p>
          <a:p>
            <a:pPr algn="l">
              <a:lnSpc>
                <a:spcPct val="100000"/>
              </a:lnSpc>
            </a:pPr>
            <a:r>
              <a:rPr sz="1600" i="0" b="0">
                <a:solidFill>
                  <a:srgbClr val="E2E8F0"/>
                </a:solidFill>
                <a:latin typeface="Menlo"/>
              </a:rPr>
              <a:t>                       ├──► [1, 2, 3, 4]      mutate: both names see it</a:t>
            </a:r>
          </a:p>
          <a:p>
            <a:pPr algn="l">
              <a:lnSpc>
                <a:spcPct val="100000"/>
              </a:lnSpc>
            </a:pPr>
            <a:r>
              <a:rPr sz="1600" i="0" b="0">
                <a:solidFill>
                  <a:srgbClr val="E2E8F0"/>
                </a:solidFill>
                <a:latin typeface="Menlo"/>
              </a:rPr>
              <a:t>                  b ───┘</a:t>
            </a:r>
          </a:p>
          <a:p>
            <a:pPr algn="l">
              <a:lnSpc>
                <a:spcPct val="100000"/>
              </a:lnSpc>
            </a:pPr>
          </a:p>
          <a:p>
            <a:pPr algn="l">
              <a:lnSpc>
                <a:spcPct val="100000"/>
              </a:lnSpc>
            </a:pPr>
            <a:r>
              <a:rPr sz="1600" i="0" b="0">
                <a:solidFill>
                  <a:srgbClr val="E2E8F0"/>
                </a:solidFill>
                <a:latin typeface="Menlo"/>
              </a:rPr>
              <a:t>b = [9]           a ───► [1, 2, 3, 4]</a:t>
            </a:r>
          </a:p>
          <a:p>
            <a:pPr algn="l">
              <a:lnSpc>
                <a:spcPct val="100000"/>
              </a:lnSpc>
            </a:pPr>
            <a:r>
              <a:rPr sz="1600" i="0" b="0">
                <a:solidFill>
                  <a:srgbClr val="E2E8F0"/>
                </a:solidFill>
                <a:latin typeface="Menlo"/>
              </a:rPr>
              <a:t>                  b ───► [9]                  rebind: only b moves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When do you use == and when do you use is?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Equality and hashability</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notes/01-data-model-and-idioms.md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a:t>
            </a:r>
            <a:r>
              <a:rPr sz="1600" i="0" b="1">
                <a:solidFill>
                  <a:srgbClr val="1E3A5F"/>
                </a:solidFill>
                <a:latin typeface="Helvetica Neue"/>
              </a:rPr>
              <a:t> compares values and </a:t>
            </a:r>
            <a:r>
              <a:rPr sz="1440" i="0" b="1">
                <a:solidFill>
                  <a:srgbClr val="1E3A5F"/>
                </a:solidFill>
                <a:latin typeface="Menlo"/>
              </a:rPr>
              <a:t>is</a:t>
            </a:r>
            <a:r>
              <a:rPr sz="1600" i="0" b="1">
                <a:solidFill>
                  <a:srgbClr val="1E3A5F"/>
                </a:solidFill>
                <a:latin typeface="Helvetica Neue"/>
              </a:rPr>
              <a:t> compares identity. Use </a:t>
            </a:r>
            <a:r>
              <a:rPr sz="1440" i="0" b="1">
                <a:solidFill>
                  <a:srgbClr val="1E3A5F"/>
                </a:solidFill>
                <a:latin typeface="Menlo"/>
              </a:rPr>
              <a:t>is</a:t>
            </a:r>
            <a:r>
              <a:rPr sz="1600" i="0" b="1">
                <a:solidFill>
                  <a:srgbClr val="1E3A5F"/>
                </a:solidFill>
                <a:latin typeface="Helvetica Neue"/>
              </a:rPr>
              <a:t> only for </a:t>
            </a:r>
            <a:r>
              <a:rPr sz="1440" i="0" b="1">
                <a:solidFill>
                  <a:srgbClr val="1E3A5F"/>
                </a:solidFill>
                <a:latin typeface="Menlo"/>
              </a:rPr>
              <a:t>None</a:t>
            </a:r>
            <a:r>
              <a:rPr sz="1600" i="0" b="1">
                <a:solidFill>
                  <a:srgbClr val="1E3A5F"/>
                </a:solidFill>
                <a:latin typeface="Helvetica Neue"/>
              </a:rPr>
              <a:t>, </a:t>
            </a:r>
            <a:r>
              <a:rPr sz="1440" i="0" b="1">
                <a:solidFill>
                  <a:srgbClr val="1E3A5F"/>
                </a:solidFill>
                <a:latin typeface="Menlo"/>
              </a:rPr>
              <a:t>True</a:t>
            </a:r>
            <a:r>
              <a:rPr sz="1600" i="0" b="1">
                <a:solidFill>
                  <a:srgbClr val="1E3A5F"/>
                </a:solidFill>
                <a:latin typeface="Helvetica Neue"/>
              </a:rPr>
              <a:t>, </a:t>
            </a:r>
            <a:r>
              <a:rPr sz="1440" i="0" b="1">
                <a:solidFill>
                  <a:srgbClr val="1E3A5F"/>
                </a:solidFill>
                <a:latin typeface="Menlo"/>
              </a:rPr>
              <a:t>False</a:t>
            </a:r>
            <a:r>
              <a:rPr sz="1600" i="0" b="1">
                <a:solidFill>
                  <a:srgbClr val="1E3A5F"/>
                </a:solidFill>
                <a:latin typeface="Helvetica Neue"/>
              </a:rPr>
              <a:t> and sentinels.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 and is</a:t>
            </a:r>
          </a:p>
        </p:txBody>
      </p:sp>
      <p:sp>
        <p:nvSpPr>
          <p:cNvPr id="16" name="Rectangle 15"/>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a:t>
            </a:r>
            <a:r>
              <a:rPr sz="1700" i="0" b="0">
                <a:solidFill>
                  <a:srgbClr val="1E293B"/>
                </a:solidFill>
                <a:latin typeface="Helvetica Neue"/>
              </a:rPr>
              <a:t> compares values by calling </a:t>
            </a:r>
            <a:r>
              <a:rPr sz="1530" i="0" b="0">
                <a:solidFill>
                  <a:srgbClr val="0F7490"/>
                </a:solidFill>
                <a:latin typeface="Menlo"/>
              </a:rPr>
              <a:t>__eq__</a:t>
            </a:r>
          </a:p>
        </p:txBody>
      </p:sp>
      <p:sp>
        <p:nvSpPr>
          <p:cNvPr id="18" name="Rectangle 17"/>
          <p:cNvSpPr/>
          <p:nvPr/>
        </p:nvSpPr>
        <p:spPr>
          <a:xfrm>
            <a:off x="731520" y="2727706"/>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is</a:t>
            </a:r>
            <a:r>
              <a:rPr sz="1700" i="0" b="0">
                <a:solidFill>
                  <a:srgbClr val="1E293B"/>
                </a:solidFill>
                <a:latin typeface="Helvetica Neue"/>
              </a:rPr>
              <a:t> compares identity</a:t>
            </a:r>
          </a:p>
        </p:txBody>
      </p:sp>
      <p:sp>
        <p:nvSpPr>
          <p:cNvPr id="20" name="Rectangle 19"/>
          <p:cNvSpPr/>
          <p:nvPr/>
        </p:nvSpPr>
        <p:spPr>
          <a:xfrm>
            <a:off x="731520" y="314223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Use </a:t>
            </a:r>
            <a:r>
              <a:rPr sz="1530" i="0" b="0">
                <a:solidFill>
                  <a:srgbClr val="0F7490"/>
                </a:solidFill>
                <a:latin typeface="Menlo"/>
              </a:rPr>
              <a:t>is</a:t>
            </a:r>
            <a:r>
              <a:rPr sz="1700" i="0" b="0">
                <a:solidFill>
                  <a:srgbClr val="1E293B"/>
                </a:solidFill>
                <a:latin typeface="Helvetica Neue"/>
              </a:rPr>
              <a:t> only for </a:t>
            </a:r>
            <a:r>
              <a:rPr sz="1530" i="0" b="0">
                <a:solidFill>
                  <a:srgbClr val="0F7490"/>
                </a:solidFill>
                <a:latin typeface="Menlo"/>
              </a:rPr>
              <a:t>None</a:t>
            </a:r>
            <a:r>
              <a:rPr sz="1700" i="0" b="0">
                <a:solidFill>
                  <a:srgbClr val="1E293B"/>
                </a:solidFill>
                <a:latin typeface="Helvetica Neue"/>
              </a:rPr>
              <a:t>, </a:t>
            </a:r>
            <a:r>
              <a:rPr sz="1530" i="0" b="0">
                <a:solidFill>
                  <a:srgbClr val="0F7490"/>
                </a:solidFill>
                <a:latin typeface="Menlo"/>
              </a:rPr>
              <a:t>True</a:t>
            </a:r>
            <a:r>
              <a:rPr sz="1700" i="0" b="0">
                <a:solidFill>
                  <a:srgbClr val="1E293B"/>
                </a:solidFill>
                <a:latin typeface="Helvetica Neue"/>
              </a:rPr>
              <a:t>, </a:t>
            </a:r>
            <a:r>
              <a:rPr sz="1530" i="0" b="0">
                <a:solidFill>
                  <a:srgbClr val="0F7490"/>
                </a:solidFill>
                <a:latin typeface="Menlo"/>
              </a:rPr>
              <a:t>False</a:t>
            </a:r>
            <a:r>
              <a:rPr sz="1700" i="0" b="0">
                <a:solidFill>
                  <a:srgbClr val="1E293B"/>
                </a:solidFill>
                <a:latin typeface="Helvetica Neue"/>
              </a:rPr>
              <a:t> and sentinels</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Equal is not identical</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Hashable</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Dict keys and set members need a hash that never changes</a:t>
            </a:r>
          </a:p>
        </p:txBody>
      </p:sp>
      <p:sp>
        <p:nvSpPr>
          <p:cNvPr id="29" name="Rectangle 28"/>
          <p:cNvSpPr/>
          <p:nvPr/>
        </p:nvSpPr>
        <p:spPr>
          <a:xfrm>
            <a:off x="6507327" y="30126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Immutable built-ins are hashable, lists and dicts aren't</a:t>
            </a:r>
          </a:p>
        </p:txBody>
      </p:sp>
      <p:sp>
        <p:nvSpPr>
          <p:cNvPr id="31" name="Rectangle 30"/>
          <p:cNvSpPr/>
          <p:nvPr/>
        </p:nvSpPr>
        <p:spPr>
          <a:xfrm>
            <a:off x="6507327" y="371221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tuple is hashable only if its contents are</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Define </a:t>
            </a:r>
            <a:r>
              <a:rPr sz="1080" i="0" b="0">
                <a:solidFill>
                  <a:srgbClr val="0F7490"/>
                </a:solidFill>
                <a:latin typeface="Menlo"/>
              </a:rPr>
              <a:t>__eq__</a:t>
            </a:r>
            <a:r>
              <a:rPr sz="1200" i="0" b="0">
                <a:solidFill>
                  <a:srgbClr val="475569"/>
                </a:solidFill>
                <a:latin typeface="Helvetica Neue"/>
              </a:rPr>
              <a:t>? Define </a:t>
            </a:r>
            <a:r>
              <a:rPr sz="1080" i="0" b="0">
                <a:solidFill>
                  <a:srgbClr val="0F7490"/>
                </a:solidFill>
                <a:latin typeface="Menlo"/>
              </a:rPr>
              <a:t>__hash__</a:t>
            </a:r>
            <a:r>
              <a:rPr sz="1200" i="0" b="0">
                <a:solidFill>
                  <a:srgbClr val="475569"/>
                </a:solidFill>
                <a:latin typeface="Helvetica Neue"/>
              </a:rPr>
              <a:t> too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How does Python syntax map to methods?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data model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notes/01-data-model-and-idioms.md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Syntax calls dunder methods, so implementing them plugs your objects into the language.</a:t>
            </a:r>
          </a:p>
        </p:txBody>
      </p:sp>
      <p:graphicFrame>
        <p:nvGraphicFramePr>
          <p:cNvPr id="13" name="Table 12"/>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4194695"/>
                <a:gridCol w="6991159"/>
              </a:tblGrid>
              <a:tr h="405384">
                <a:tc>
                  <a:txBody>
                    <a:bodyPr wrap="square"/>
                    <a:lstStyle/>
                    <a:p>
                      <a:pPr>
                        <a:lnSpc>
                          <a:spcPct val="100000"/>
                        </a:lnSpc>
                      </a:pPr>
                      <a:r>
                        <a:rPr sz="1700" i="0" b="1">
                          <a:solidFill>
                            <a:srgbClr val="FFFFFF"/>
                          </a:solidFill>
                          <a:latin typeface="Helvetica Neue"/>
                        </a:rPr>
                        <a:t>You write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Python calls</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len(x)</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x.__len__()</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x[k]</a:t>
                      </a:r>
                      <a:r>
                        <a:rPr sz="1700" i="0" b="1">
                          <a:solidFill>
                            <a:srgbClr val="1E293B"/>
                          </a:solidFill>
                          <a:latin typeface="Helvetica Neue"/>
                        </a:rPr>
                        <a:t>, </a:t>
                      </a:r>
                      <a:r>
                        <a:rPr sz="1530" i="0" b="1">
                          <a:solidFill>
                            <a:srgbClr val="0F7490"/>
                          </a:solidFill>
                          <a:latin typeface="Menlo"/>
                        </a:rPr>
                        <a:t>x[k] = v</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__getitem__</a:t>
                      </a:r>
                      <a:r>
                        <a:rPr sz="1700" i="0" b="0">
                          <a:solidFill>
                            <a:srgbClr val="475569"/>
                          </a:solidFill>
                          <a:latin typeface="Helvetica Neue"/>
                        </a:rPr>
                        <a:t>, </a:t>
                      </a:r>
                      <a:r>
                        <a:rPr sz="1530" i="0" b="0">
                          <a:solidFill>
                            <a:srgbClr val="0F7490"/>
                          </a:solidFill>
                          <a:latin typeface="Menlo"/>
                        </a:rPr>
                        <a:t>__setitem__</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for i in x</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__iter__</a:t>
                      </a:r>
                      <a:r>
                        <a:rPr sz="1700" i="0" b="0">
                          <a:solidFill>
                            <a:srgbClr val="475569"/>
                          </a:solidFill>
                          <a:latin typeface="Helvetica Neue"/>
                        </a:rPr>
                        <a:t>, then </a:t>
                      </a:r>
                      <a:r>
                        <a:rPr sz="1530" i="0" b="0">
                          <a:solidFill>
                            <a:srgbClr val="0F7490"/>
                          </a:solidFill>
                          <a:latin typeface="Menlo"/>
                        </a:rPr>
                        <a:t>__next__</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a + b</a:t>
                      </a:r>
                      <a:r>
                        <a:rPr sz="1700" i="0" b="1">
                          <a:solidFill>
                            <a:srgbClr val="1E293B"/>
                          </a:solidFill>
                          <a:latin typeface="Helvetica Neue"/>
                        </a:rPr>
                        <a:t>, </a:t>
                      </a:r>
                      <a:r>
                        <a:rPr sz="1530" i="0" b="1">
                          <a:solidFill>
                            <a:srgbClr val="0F7490"/>
                          </a:solidFill>
                          <a:latin typeface="Menlo"/>
                        </a:rPr>
                        <a:t>a == b</a:t>
                      </a:r>
                      <a:r>
                        <a:rPr sz="1700" i="0" b="1">
                          <a:solidFill>
                            <a:srgbClr val="1E293B"/>
                          </a:solidFill>
                          <a:latin typeface="Helvetica Neue"/>
                        </a:rPr>
                        <a:t>, </a:t>
                      </a:r>
                      <a:r>
                        <a:rPr sz="1530" i="0" b="1">
                          <a:solidFill>
                            <a:srgbClr val="0F7490"/>
                          </a:solidFill>
                          <a:latin typeface="Menlo"/>
                        </a:rPr>
                        <a:t>a &lt; b</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__add__</a:t>
                      </a:r>
                      <a:r>
                        <a:rPr sz="1700" i="0" b="0">
                          <a:solidFill>
                            <a:srgbClr val="475569"/>
                          </a:solidFill>
                          <a:latin typeface="Helvetica Neue"/>
                        </a:rPr>
                        <a:t>, </a:t>
                      </a:r>
                      <a:r>
                        <a:rPr sz="1530" i="0" b="0">
                          <a:solidFill>
                            <a:srgbClr val="0F7490"/>
                          </a:solidFill>
                          <a:latin typeface="Menlo"/>
                        </a:rPr>
                        <a:t>__eq__</a:t>
                      </a:r>
                      <a:r>
                        <a:rPr sz="1700" i="0" b="0">
                          <a:solidFill>
                            <a:srgbClr val="475569"/>
                          </a:solidFill>
                          <a:latin typeface="Helvetica Neue"/>
                        </a:rPr>
                        <a:t>, </a:t>
                      </a:r>
                      <a:r>
                        <a:rPr sz="1530" i="0" b="0">
                          <a:solidFill>
                            <a:srgbClr val="0F7490"/>
                          </a:solidFill>
                          <a:latin typeface="Menlo"/>
                        </a:rPr>
                        <a:t>__lt__</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if x:</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__bool__</a:t>
                      </a:r>
                      <a:r>
                        <a:rPr sz="1700" i="0" b="0">
                          <a:solidFill>
                            <a:srgbClr val="475569"/>
                          </a:solidFill>
                          <a:latin typeface="Helvetica Neue"/>
                        </a:rPr>
                        <a:t>, else </a:t>
                      </a:r>
                      <a:r>
                        <a:rPr sz="1530" i="0" b="0">
                          <a:solidFill>
                            <a:srgbClr val="0F7490"/>
                          </a:solidFill>
                          <a:latin typeface="Menlo"/>
                        </a:rPr>
                        <a:t>__len__</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with x:</a:t>
                      </a:r>
                      <a:r>
                        <a:rPr sz="1700" i="0" b="1">
                          <a:solidFill>
                            <a:srgbClr val="1E293B"/>
                          </a:solidFill>
                          <a:latin typeface="Helvetica Neue"/>
                        </a:rPr>
                        <a:t>, </a:t>
                      </a:r>
                      <a:r>
                        <a:rPr sz="1530" i="0" b="1">
                          <a:solidFill>
                            <a:srgbClr val="0F7490"/>
                          </a:solidFill>
                          <a:latin typeface="Menlo"/>
                        </a:rPr>
                        <a:t>x(...)</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__enter__</a:t>
                      </a:r>
                      <a:r>
                        <a:rPr sz="1700" i="0" b="0">
                          <a:solidFill>
                            <a:srgbClr val="475569"/>
                          </a:solidFill>
                          <a:latin typeface="Helvetica Neue"/>
                        </a:rPr>
                        <a:t> and </a:t>
                      </a:r>
                      <a:r>
                        <a:rPr sz="1530" i="0" b="0">
                          <a:solidFill>
                            <a:srgbClr val="0F7490"/>
                          </a:solidFill>
                          <a:latin typeface="Menlo"/>
                        </a:rPr>
                        <a:t>__exit__</a:t>
                      </a:r>
                      <a:r>
                        <a:rPr sz="1700" i="0" b="0">
                          <a:solidFill>
                            <a:srgbClr val="475569"/>
                          </a:solidFill>
                          <a:latin typeface="Helvetica Neue"/>
                        </a:rPr>
                        <a:t>, </a:t>
                      </a:r>
                      <a:r>
                        <a:rPr sz="1530" i="0" b="0">
                          <a:solidFill>
                            <a:srgbClr val="0F7490"/>
                          </a:solidFill>
                          <a:latin typeface="Menlo"/>
                        </a:rPr>
                        <a:t>__call__</a:t>
                      </a:r>
                    </a:p>
                  </a:txBody>
                  <a:tcPr marL="109728" marR="109728" marT="54864" marB="54864" anchor="ct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does a for loop actually do?</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iterator protocol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notes/02-generators-and-iteration.md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a:t>
            </a:r>
            <a:r>
              <a:rPr sz="1170" i="0" b="1">
                <a:solidFill>
                  <a:srgbClr val="1E3A5F"/>
                </a:solidFill>
                <a:latin typeface="Menlo"/>
              </a:rPr>
              <a:t>for</a:t>
            </a:r>
            <a:r>
              <a:rPr sz="1300" i="0" b="1">
                <a:solidFill>
                  <a:srgbClr val="1E3A5F"/>
                </a:solidFill>
                <a:latin typeface="Helvetica Neue"/>
              </a:rPr>
              <a:t> loop calls </a:t>
            </a:r>
            <a:r>
              <a:rPr sz="1170" i="0" b="1">
                <a:solidFill>
                  <a:srgbClr val="1E3A5F"/>
                </a:solidFill>
                <a:latin typeface="Menlo"/>
              </a:rPr>
              <a:t>iter()</a:t>
            </a:r>
            <a:r>
              <a:rPr sz="1300" i="0" b="1">
                <a:solidFill>
                  <a:srgbClr val="1E3A5F"/>
                </a:solidFill>
                <a:latin typeface="Helvetica Neue"/>
              </a:rPr>
              <a:t> once, then </a:t>
            </a:r>
            <a:r>
              <a:rPr sz="1170" i="0" b="1">
                <a:solidFill>
                  <a:srgbClr val="1E3A5F"/>
                </a:solidFill>
                <a:latin typeface="Menlo"/>
              </a:rPr>
              <a:t>next()</a:t>
            </a:r>
            <a:r>
              <a:rPr sz="1300" i="0" b="1">
                <a:solidFill>
                  <a:srgbClr val="1E3A5F"/>
                </a:solidFill>
                <a:latin typeface="Helvetica Neue"/>
              </a:rPr>
              <a:t> until </a:t>
            </a:r>
            <a:r>
              <a:rPr sz="1170" i="0" b="1">
                <a:solidFill>
                  <a:srgbClr val="1E3A5F"/>
                </a:solidFill>
                <a:latin typeface="Menlo"/>
              </a:rPr>
              <a:t>StopIteration</a:t>
            </a:r>
            <a:r>
              <a:rPr sz="1300" i="0" b="1">
                <a:solidFill>
                  <a:srgbClr val="1E3A5F"/>
                </a:solidFill>
                <a:latin typeface="Helvetica Neue"/>
              </a:rPr>
              <a:t>. Iterators are single-use, so a second pass yields nothing.</a:t>
            </a:r>
          </a:p>
        </p:txBody>
      </p:sp>
      <p:sp>
        <p:nvSpPr>
          <p:cNvPr id="13" name="Rounded Rectangle 12"/>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iter(xs)</a:t>
            </a:r>
          </a:p>
          <a:p>
            <a:pPr algn="ctr">
              <a:lnSpc>
                <a:spcPct val="110000"/>
              </a:lnSpc>
            </a:pPr>
            <a:r>
              <a:rPr sz="1300" i="0" b="0">
                <a:solidFill>
                  <a:srgbClr val="E8F4F8"/>
                </a:solidFill>
                <a:latin typeface="Helvetica Neue"/>
              </a:rPr>
              <a:t>calls </a:t>
            </a:r>
            <a:r>
              <a:rPr sz="1300" i="0" b="0">
                <a:solidFill>
                  <a:srgbClr val="E8F4F8"/>
                </a:solidFill>
                <a:latin typeface="Menlo"/>
              </a:rPr>
              <a:t>__iter__</a:t>
            </a:r>
            <a:r>
              <a:rPr sz="1300" i="0" b="0">
                <a:solidFill>
                  <a:srgbClr val="E8F4F8"/>
                </a:solidFill>
                <a:latin typeface="Helvetica Neue"/>
              </a:rPr>
              <a:t>, returns an iterator</a:t>
            </a:r>
          </a:p>
        </p:txBody>
      </p:sp>
      <p:cxnSp>
        <p:nvCxnSpPr>
          <p:cNvPr id="15" name="Connector 14"/>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next(it)</a:t>
            </a:r>
          </a:p>
          <a:p>
            <a:pPr algn="ctr">
              <a:lnSpc>
                <a:spcPct val="110000"/>
              </a:lnSpc>
            </a:pPr>
            <a:r>
              <a:rPr sz="1300" i="0" b="0">
                <a:solidFill>
                  <a:srgbClr val="E8F4F8"/>
                </a:solidFill>
                <a:latin typeface="Helvetica Neue"/>
              </a:rPr>
              <a:t>calls </a:t>
            </a:r>
            <a:r>
              <a:rPr sz="1300" i="0" b="0">
                <a:solidFill>
                  <a:srgbClr val="E8F4F8"/>
                </a:solidFill>
                <a:latin typeface="Menlo"/>
              </a:rPr>
              <a:t>__next__</a:t>
            </a:r>
            <a:r>
              <a:rPr sz="1300" i="0" b="0">
                <a:solidFill>
                  <a:srgbClr val="E8F4F8"/>
                </a:solidFill>
                <a:latin typeface="Helvetica Neue"/>
              </a:rPr>
              <a:t>, returns a value</a:t>
            </a:r>
          </a:p>
        </p:txBody>
      </p:sp>
      <p:cxnSp>
        <p:nvCxnSpPr>
          <p:cNvPr id="18" name="Connector 17"/>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Bind</a:t>
            </a:r>
          </a:p>
          <a:p>
            <a:pPr algn="ctr">
              <a:lnSpc>
                <a:spcPct val="110000"/>
              </a:lnSpc>
            </a:pPr>
            <a:r>
              <a:rPr sz="1300" i="0" b="0">
                <a:solidFill>
                  <a:srgbClr val="E8F4F8"/>
                </a:solidFill>
                <a:latin typeface="Helvetica Neue"/>
              </a:rPr>
              <a:t>the value goes to </a:t>
            </a:r>
            <a:r>
              <a:rPr sz="1300" i="0" b="0">
                <a:solidFill>
                  <a:srgbClr val="E8F4F8"/>
                </a:solidFill>
                <a:latin typeface="Menlo"/>
              </a:rPr>
              <a:t>x</a:t>
            </a:r>
            <a:r>
              <a:rPr sz="1300" i="0" b="0">
                <a:solidFill>
                  <a:srgbClr val="E8F4F8"/>
                </a:solidFill>
                <a:latin typeface="Helvetica Neue"/>
              </a:rPr>
              <a:t>, and the body runs</a:t>
            </a:r>
          </a:p>
        </p:txBody>
      </p:sp>
      <p:cxnSp>
        <p:nvCxnSpPr>
          <p:cNvPr id="21" name="Connector 20"/>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StopIteration</a:t>
            </a:r>
          </a:p>
          <a:p>
            <a:pPr algn="ctr">
              <a:lnSpc>
                <a:spcPct val="110000"/>
              </a:lnSpc>
            </a:pPr>
            <a:r>
              <a:rPr sz="1300" i="0" b="0">
                <a:solidFill>
                  <a:srgbClr val="E8F4F8"/>
                </a:solidFill>
                <a:latin typeface="Helvetica Neue"/>
              </a:rPr>
              <a:t>the loop catches it and ends</a:t>
            </a:r>
          </a:p>
        </p:txBody>
      </p:sp>
      <p:cxnSp>
        <p:nvCxnSpPr>
          <p:cNvPr id="24" name="Connector 23"/>
          <p:cNvCxnSpPr/>
          <p:nvPr/>
        </p:nvCxnSpPr>
        <p:spPr>
          <a:xfrm>
            <a:off x="10416387" y="2769108"/>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775307" y="3180588"/>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75307" y="2805684"/>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75307" y="3217164"/>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repeat </a:t>
            </a:r>
            <a:r>
              <a:rPr sz="1170" i="1" b="0">
                <a:solidFill>
                  <a:srgbClr val="0F7490"/>
                </a:solidFill>
                <a:latin typeface="Menlo"/>
              </a:rPr>
              <a:t>next</a:t>
            </a:r>
            <a:r>
              <a:rPr sz="1300" i="1" b="0">
                <a:solidFill>
                  <a:srgbClr val="166534"/>
                </a:solidFill>
                <a:latin typeface="Helvetica Neue"/>
              </a:rPr>
              <a:t> until exhausted</a:t>
            </a:r>
          </a:p>
        </p:txBody>
      </p:sp>
      <p:sp>
        <p:nvSpPr>
          <p:cNvPr id="28" name="TextBox 27"/>
          <p:cNvSpPr txBox="1"/>
          <p:nvPr/>
        </p:nvSpPr>
        <p:spPr>
          <a:xfrm>
            <a:off x="502920" y="3912108"/>
            <a:ext cx="11185855" cy="1574291"/>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A list is an iterable, and can make new iterators. An iterator is single-use and stays empty once exhausted.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Why would you write a generator?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Laziness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notes/02-generators-and-iteration.md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function with </a:t>
            </a:r>
            <a:r>
              <a:rPr sz="1260" i="0" b="1">
                <a:solidFill>
                  <a:srgbClr val="1E3A5F"/>
                </a:solidFill>
                <a:latin typeface="Menlo"/>
              </a:rPr>
              <a:t>yield</a:t>
            </a:r>
            <a:r>
              <a:rPr sz="1400" i="0" b="1">
                <a:solidFill>
                  <a:srgbClr val="1E3A5F"/>
                </a:solidFill>
                <a:latin typeface="Helvetica Neue"/>
              </a:rPr>
              <a:t> runs only as values are requested and holds one item at a time, so memory stays constant.</a:t>
            </a:r>
          </a:p>
        </p:txBody>
      </p:sp>
      <p:sp>
        <p:nvSpPr>
          <p:cNvPr id="13" name="Rounded Rectangle 12"/>
          <p:cNvSpPr/>
          <p:nvPr/>
        </p:nvSpPr>
        <p:spPr>
          <a:xfrm>
            <a:off x="502920" y="1472184"/>
            <a:ext cx="11185855" cy="23926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17525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read_records(path):</a:t>
            </a:r>
          </a:p>
          <a:p>
            <a:pPr algn="l">
              <a:lnSpc>
                <a:spcPct val="100000"/>
              </a:lnSpc>
            </a:pPr>
            <a:r>
              <a:rPr sz="1600" i="0" b="0">
                <a:solidFill>
                  <a:srgbClr val="E2E8F0"/>
                </a:solidFill>
                <a:latin typeface="Menlo"/>
              </a:rPr>
              <a:t>    with open(path, encoding="utf-8") as f:</a:t>
            </a:r>
          </a:p>
          <a:p>
            <a:pPr algn="l">
              <a:lnSpc>
                <a:spcPct val="100000"/>
              </a:lnSpc>
            </a:pPr>
            <a:r>
              <a:rPr sz="1600" i="0" b="0">
                <a:solidFill>
                  <a:srgbClr val="E2E8F0"/>
                </a:solidFill>
                <a:latin typeface="Menlo"/>
              </a:rPr>
              <a:t>        for line in f:</a:t>
            </a:r>
          </a:p>
          <a:p>
            <a:pPr algn="l">
              <a:lnSpc>
                <a:spcPct val="100000"/>
              </a:lnSpc>
            </a:pPr>
            <a:r>
              <a:rPr sz="1600" i="0" b="0">
                <a:solidFill>
                  <a:srgbClr val="E2E8F0"/>
                </a:solidFill>
                <a:latin typeface="Menlo"/>
              </a:rPr>
              <a:t>            if line.strip() and not line.startswith("#"):</a:t>
            </a:r>
          </a:p>
          <a:p>
            <a:pPr algn="l">
              <a:lnSpc>
                <a:spcPct val="100000"/>
              </a:lnSpc>
            </a:pPr>
            <a:r>
              <a:rPr sz="1600" i="0" b="0">
                <a:solidFill>
                  <a:srgbClr val="E2E8F0"/>
                </a:solidFill>
                <a:latin typeface="Menlo"/>
              </a:rPr>
              <a:t>                yield line.rstrip("\n").split(",")</a:t>
            </a:r>
          </a:p>
          <a:p>
            <a:pPr algn="l">
              <a:lnSpc>
                <a:spcPct val="100000"/>
              </a:lnSpc>
            </a:pPr>
          </a:p>
          <a:p>
            <a:pPr algn="l">
              <a:lnSpc>
                <a:spcPct val="100000"/>
              </a:lnSpc>
            </a:pPr>
            <a:r>
              <a:rPr sz="1600" i="0" b="0">
                <a:solidFill>
                  <a:srgbClr val="E2E8F0"/>
                </a:solidFill>
                <a:latin typeface="Menlo"/>
              </a:rPr>
              <a:t>total = sum(x * x for x in range(10**6))   # generator expression: no list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Which itertools do you actually use?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itertools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notes/02-generators-and-iteration.md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groupby</a:t>
            </a:r>
            <a:r>
              <a:rPr sz="1600" i="0" b="1">
                <a:solidFill>
                  <a:srgbClr val="1E3A5F"/>
                </a:solidFill>
                <a:latin typeface="Helvetica Neue"/>
              </a:rPr>
              <a:t> only groups consecutive keys, so sort first. Pair infinite streams with </a:t>
            </a:r>
            <a:r>
              <a:rPr sz="1440" i="0" b="1">
                <a:solidFill>
                  <a:srgbClr val="1E3A5F"/>
                </a:solidFill>
                <a:latin typeface="Menlo"/>
              </a:rPr>
              <a:t>islice</a:t>
            </a:r>
            <a:r>
              <a:rPr sz="1600" i="0" b="1">
                <a:solidFill>
                  <a:srgbClr val="1E3A5F"/>
                </a:solidFill>
                <a:latin typeface="Helvetica Neue"/>
              </a:rPr>
              <a:t> or </a:t>
            </a:r>
            <a:r>
              <a:rPr sz="1440" i="0" b="1">
                <a:solidFill>
                  <a:srgbClr val="1E3A5F"/>
                </a:solidFill>
                <a:latin typeface="Menlo"/>
              </a:rPr>
              <a:t>zip</a:t>
            </a:r>
            <a:r>
              <a:rPr sz="1600" i="0" b="1">
                <a:solidFill>
                  <a:srgbClr val="1E3A5F"/>
                </a:solidFill>
                <a:latin typeface="Helvetica Neue"/>
              </a:rPr>
              <a:t>.</a:t>
            </a:r>
          </a:p>
        </p:txBody>
      </p:sp>
      <p:graphicFrame>
        <p:nvGraphicFramePr>
          <p:cNvPr id="13" name="Table 12"/>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4365211"/>
                <a:gridCol w="6820643"/>
              </a:tblGrid>
              <a:tr h="405384">
                <a:tc>
                  <a:txBody>
                    <a:bodyPr wrap="square"/>
                    <a:lstStyle/>
                    <a:p>
                      <a:pPr>
                        <a:lnSpc>
                          <a:spcPct val="100000"/>
                        </a:lnSpc>
                      </a:pPr>
                      <a:r>
                        <a:rPr sz="1700" i="0" b="1">
                          <a:solidFill>
                            <a:srgbClr val="FFFFFF"/>
                          </a:solidFill>
                          <a:latin typeface="Helvetica Neue"/>
                        </a:rPr>
                        <a:t>Function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Does</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islice(it, 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First n items of any iterator</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chain.from_iterable(xs)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Flatten one level</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groupby(it, key)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Group </a:t>
                      </a:r>
                      <a:r>
                        <a:rPr sz="1700" i="0" b="1">
                          <a:solidFill>
                            <a:srgbClr val="1E293B"/>
                          </a:solidFill>
                          <a:latin typeface="Helvetica Neue"/>
                        </a:rPr>
                        <a:t>consecutive</a:t>
                      </a:r>
                      <a:r>
                        <a:rPr sz="1700" i="0" b="0">
                          <a:solidFill>
                            <a:srgbClr val="475569"/>
                          </a:solidFill>
                          <a:latin typeface="Helvetica Neue"/>
                        </a:rPr>
                        <a:t> equal keys, so sort first</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batched(it, 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Tuples of n (3.12+)</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pairwise(it)</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(a, b), (b, c), …</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accumulate(it)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Running totals</a:t>
                      </a:r>
                    </a:p>
                  </a:txBody>
                  <a:tcPr marL="109728" marR="109728" marT="54864" marB="54864" anchor="ct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do closures capture?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Closures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notes/03-functions-deeper.md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Closures capture variables, not values. Bind early with a default, and use </a:t>
            </a:r>
            <a:r>
              <a:rPr sz="1350" i="0" b="1">
                <a:solidFill>
                  <a:srgbClr val="1E3A5F"/>
                </a:solidFill>
                <a:latin typeface="Menlo"/>
              </a:rPr>
              <a:t>nonlocal</a:t>
            </a:r>
            <a:r>
              <a:rPr sz="1500" i="0" b="1">
                <a:solidFill>
                  <a:srgbClr val="1E3A5F"/>
                </a:solidFill>
                <a:latin typeface="Helvetica Neue"/>
              </a:rPr>
              <a:t> to rebind an outer name.</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The trap</a:t>
            </a:r>
          </a:p>
        </p:txBody>
      </p:sp>
      <p:sp>
        <p:nvSpPr>
          <p:cNvPr id="16" name="Rounded Rectangle 15"/>
          <p:cNvSpPr/>
          <p:nvPr/>
        </p:nvSpPr>
        <p:spPr>
          <a:xfrm>
            <a:off x="731520"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fs = [lambda: i for i in range(3)]</a:t>
            </a:r>
          </a:p>
          <a:p>
            <a:pPr algn="l">
              <a:lnSpc>
                <a:spcPct val="100000"/>
              </a:lnSpc>
            </a:pPr>
            <a:r>
              <a:rPr sz="1400" i="0" b="0">
                <a:solidFill>
                  <a:srgbClr val="E2E8F0"/>
                </a:solidFill>
                <a:latin typeface="Menlo"/>
              </a:rPr>
              <a:t>[f() for f in fs]    # [2, 2, 2]</a:t>
            </a:r>
          </a:p>
        </p:txBody>
      </p:sp>
      <p:sp>
        <p:nvSpPr>
          <p:cNvPr id="18" name="Rectangle 17"/>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Captures the variable</a:t>
            </a:r>
          </a:p>
        </p:txBody>
      </p:sp>
      <p:sp>
        <p:nvSpPr>
          <p:cNvPr id="20" name="Rectangle 19"/>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Bind early</a:t>
            </a:r>
          </a:p>
        </p:txBody>
      </p:sp>
      <p:sp>
        <p:nvSpPr>
          <p:cNvPr id="23" name="Rounded Rectangle 22"/>
          <p:cNvSpPr/>
          <p:nvPr/>
        </p:nvSpPr>
        <p:spPr>
          <a:xfrm>
            <a:off x="6507327"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5927"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fs = [lambda i=i: i for i in range(3)]</a:t>
            </a:r>
          </a:p>
          <a:p>
            <a:pPr algn="l">
              <a:lnSpc>
                <a:spcPct val="100000"/>
              </a:lnSpc>
            </a:pPr>
            <a:r>
              <a:rPr sz="1400" i="0" b="0">
                <a:solidFill>
                  <a:srgbClr val="E2E8F0"/>
                </a:solidFill>
                <a:latin typeface="Menlo"/>
              </a:rPr>
              <a:t>[f() for f in fs]    # [0, 1, 2]</a:t>
            </a:r>
          </a:p>
        </p:txBody>
      </p:sp>
      <p:sp>
        <p:nvSpPr>
          <p:cNvPr id="25" name="Rectangle 2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 default is evaluated at def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is a decorator?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Decorators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How the language works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notes/03-functions-deeper.md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decorator is a function that wraps a function. </a:t>
            </a:r>
            <a:r>
              <a:rPr sz="1260" i="0" b="1">
                <a:solidFill>
                  <a:srgbClr val="1E3A5F"/>
                </a:solidFill>
                <a:latin typeface="Menlo"/>
              </a:rPr>
              <a:t>@timed</a:t>
            </a:r>
            <a:r>
              <a:rPr sz="1400" i="0" b="1">
                <a:solidFill>
                  <a:srgbClr val="1E3A5F"/>
                </a:solidFill>
                <a:latin typeface="Helvetica Neue"/>
              </a:rPr>
              <a:t> means </a:t>
            </a:r>
            <a:r>
              <a:rPr sz="1260" i="0" b="1">
                <a:solidFill>
                  <a:srgbClr val="1E3A5F"/>
                </a:solidFill>
                <a:latin typeface="Menlo"/>
              </a:rPr>
              <a:t>load = timed(load)</a:t>
            </a:r>
            <a:r>
              <a:rPr sz="1400" i="0" b="1">
                <a:solidFill>
                  <a:srgbClr val="1E3A5F"/>
                </a:solidFill>
                <a:latin typeface="Helvetica Neue"/>
              </a:rPr>
              <a:t>, and arguments add one more level.</a:t>
            </a:r>
          </a:p>
        </p:txBody>
      </p:sp>
      <p:sp>
        <p:nvSpPr>
          <p:cNvPr id="13" name="Rounded Rectangle 12"/>
          <p:cNvSpPr/>
          <p:nvPr/>
        </p:nvSpPr>
        <p:spPr>
          <a:xfrm>
            <a:off x="502920" y="1472184"/>
            <a:ext cx="11185855" cy="361187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29717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timed(fn):</a:t>
            </a:r>
          </a:p>
          <a:p>
            <a:pPr algn="l">
              <a:lnSpc>
                <a:spcPct val="100000"/>
              </a:lnSpc>
            </a:pPr>
            <a:r>
              <a:rPr sz="1600" i="0" b="0">
                <a:solidFill>
                  <a:srgbClr val="E2E8F0"/>
                </a:solidFill>
                <a:latin typeface="Menlo"/>
              </a:rPr>
              <a:t>    @functools.wraps(fn)              # keep fn's name and docstring</a:t>
            </a:r>
          </a:p>
          <a:p>
            <a:pPr algn="l">
              <a:lnSpc>
                <a:spcPct val="100000"/>
              </a:lnSpc>
            </a:pPr>
            <a:r>
              <a:rPr sz="1600" i="0" b="0">
                <a:solidFill>
                  <a:srgbClr val="E2E8F0"/>
                </a:solidFill>
                <a:latin typeface="Menlo"/>
              </a:rPr>
              <a:t>    def wrapper(*args, **kwargs):</a:t>
            </a:r>
          </a:p>
          <a:p>
            <a:pPr algn="l">
              <a:lnSpc>
                <a:spcPct val="100000"/>
              </a:lnSpc>
            </a:pPr>
            <a:r>
              <a:rPr sz="1600" i="0" b="0">
                <a:solidFill>
                  <a:srgbClr val="E2E8F0"/>
                </a:solidFill>
                <a:latin typeface="Menlo"/>
              </a:rPr>
              <a:t>        start = time.perf_counter()</a:t>
            </a:r>
          </a:p>
          <a:p>
            <a:pPr algn="l">
              <a:lnSpc>
                <a:spcPct val="100000"/>
              </a:lnSpc>
            </a:pPr>
            <a:r>
              <a:rPr sz="1600" i="0" b="0">
                <a:solidFill>
                  <a:srgbClr val="E2E8F0"/>
                </a:solidFill>
                <a:latin typeface="Menlo"/>
              </a:rPr>
              <a:t>        try:</a:t>
            </a:r>
          </a:p>
          <a:p>
            <a:pPr algn="l">
              <a:lnSpc>
                <a:spcPct val="100000"/>
              </a:lnSpc>
            </a:pPr>
            <a:r>
              <a:rPr sz="1600" i="0" b="0">
                <a:solidFill>
                  <a:srgbClr val="E2E8F0"/>
                </a:solidFill>
                <a:latin typeface="Menlo"/>
              </a:rPr>
              <a:t>            return fn(*args, **kwargs)</a:t>
            </a:r>
          </a:p>
          <a:p>
            <a:pPr algn="l">
              <a:lnSpc>
                <a:spcPct val="100000"/>
              </a:lnSpc>
            </a:pPr>
            <a:r>
              <a:rPr sz="1600" i="0" b="0">
                <a:solidFill>
                  <a:srgbClr val="E2E8F0"/>
                </a:solidFill>
                <a:latin typeface="Menlo"/>
              </a:rPr>
              <a:t>        finally:</a:t>
            </a:r>
          </a:p>
          <a:p>
            <a:pPr algn="l">
              <a:lnSpc>
                <a:spcPct val="100000"/>
              </a:lnSpc>
            </a:pPr>
            <a:r>
              <a:rPr sz="1600" i="0" b="0">
                <a:solidFill>
                  <a:srgbClr val="E2E8F0"/>
                </a:solidFill>
                <a:latin typeface="Menlo"/>
              </a:rPr>
              <a:t>            print(f"{fn.__name__} took {time.perf_counter() - start:.3f}s")</a:t>
            </a:r>
          </a:p>
          <a:p>
            <a:pPr algn="l">
              <a:lnSpc>
                <a:spcPct val="100000"/>
              </a:lnSpc>
            </a:pPr>
            <a:r>
              <a:rPr sz="1600" i="0" b="0">
                <a:solidFill>
                  <a:srgbClr val="E2E8F0"/>
                </a:solidFill>
                <a:latin typeface="Menlo"/>
              </a:rPr>
              <a:t>    return wrapper</a:t>
            </a:r>
          </a:p>
          <a:p>
            <a:pPr algn="l">
              <a:lnSpc>
                <a:spcPct val="100000"/>
              </a:lnSpc>
            </a:pPr>
          </a:p>
          <a:p>
            <a:pPr algn="l">
              <a:lnSpc>
                <a:spcPct val="100000"/>
              </a:lnSpc>
            </a:pPr>
            <a:r>
              <a:rPr sz="1600" i="0" b="0">
                <a:solidFill>
                  <a:srgbClr val="E2E8F0"/>
                </a:solidFill>
                <a:latin typeface="Menlo"/>
              </a:rPr>
              <a:t>@timed                                # same as: load = timed(load)</a:t>
            </a:r>
          </a:p>
          <a:p>
            <a:pPr algn="l">
              <a:lnSpc>
                <a:spcPct val="100000"/>
              </a:lnSpc>
            </a:pPr>
            <a:r>
              <a:rPr sz="1600" i="0" b="0">
                <a:solidFill>
                  <a:srgbClr val="E2E8F0"/>
                </a:solidFill>
                <a:latin typeface="Menlo"/>
              </a:rPr>
              <a:t>def load(path):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Code that holds up</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Exceptions · Context managers · Type hints · Dataclasses and Pydantic · uv, ruff and pytest</a:t>
            </a:r>
          </a:p>
        </p:txBody>
      </p:sp>
      <p:cxnSp>
        <p:nvCxnSpPr>
          <p:cNvPr id="6" name="Connector 5"/>
          <p:cNvCxnSpPr/>
          <p:nvPr/>
        </p:nvCxnSpPr>
        <p:spPr>
          <a:xfrm>
            <a:off x="6446520" y="1421130"/>
            <a:ext cx="0" cy="40157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21130"/>
            <a:ext cx="4693615" cy="419862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separates a script from code others depend on?</a:t>
            </a:r>
          </a:p>
          <a:p>
            <a:pPr algn="l">
              <a:lnSpc>
                <a:spcPct val="100000"/>
              </a:lnSpc>
              <a:spcBef>
                <a:spcPts val="1189"/>
              </a:spcBef>
            </a:pPr>
            <a:r>
              <a:rPr sz="1700" i="0" b="0">
                <a:solidFill>
                  <a:srgbClr val="CBD5E1"/>
                </a:solidFill>
                <a:latin typeface="Helvetica Neue"/>
              </a:rPr>
              <a:t>What does each clause of try do?</a:t>
            </a:r>
          </a:p>
          <a:p>
            <a:pPr algn="l">
              <a:lnSpc>
                <a:spcPct val="100000"/>
              </a:lnSpc>
              <a:spcBef>
                <a:spcPts val="1189"/>
              </a:spcBef>
            </a:pPr>
            <a:r>
              <a:rPr sz="1700" i="0" b="0">
                <a:solidFill>
                  <a:srgbClr val="CBD5E1"/>
                </a:solidFill>
                <a:latin typeface="Helvetica Neue"/>
              </a:rPr>
              <a:t>How do you write your own context manager?</a:t>
            </a:r>
          </a:p>
          <a:p>
            <a:pPr algn="l">
              <a:lnSpc>
                <a:spcPct val="100000"/>
              </a:lnSpc>
              <a:spcBef>
                <a:spcPts val="1189"/>
              </a:spcBef>
            </a:pPr>
            <a:r>
              <a:rPr sz="1700" i="0" b="0">
                <a:solidFill>
                  <a:srgbClr val="CBD5E1"/>
                </a:solidFill>
                <a:latin typeface="Helvetica Neue"/>
              </a:rPr>
              <a:t>Who checks Python's type hints?</a:t>
            </a:r>
          </a:p>
          <a:p>
            <a:pPr algn="l">
              <a:lnSpc>
                <a:spcPct val="100000"/>
              </a:lnSpc>
              <a:spcBef>
                <a:spcPts val="1189"/>
              </a:spcBef>
            </a:pPr>
            <a:r>
              <a:rPr sz="1700" i="0" b="0">
                <a:solidFill>
                  <a:srgbClr val="CBD5E1"/>
                </a:solidFill>
                <a:latin typeface="Helvetica Neue"/>
              </a:rPr>
              <a:t>When do you use a dataclass, and when Pydantic?</a:t>
            </a:r>
          </a:p>
          <a:p>
            <a:pPr algn="l">
              <a:lnSpc>
                <a:spcPct val="100000"/>
              </a:lnSpc>
              <a:spcBef>
                <a:spcPts val="1189"/>
              </a:spcBef>
            </a:pPr>
            <a:r>
              <a:rPr sz="1700" i="0" b="0">
                <a:solidFill>
                  <a:srgbClr val="CBD5E1"/>
                </a:solidFill>
                <a:latin typeface="Helvetica Neue"/>
              </a:rPr>
              <a:t>What are the parts of a modern Python project?</a:t>
            </a:r>
          </a:p>
          <a:p>
            <a:pPr algn="l">
              <a:lnSpc>
                <a:spcPct val="100000"/>
              </a:lnSpc>
              <a:spcBef>
                <a:spcPts val="1189"/>
              </a:spcBef>
            </a:pPr>
            <a:r>
              <a:rPr sz="1700" i="0" b="0">
                <a:solidFill>
                  <a:srgbClr val="CBD5E1"/>
                </a:solidFill>
                <a:latin typeface="Helvetica Neue"/>
              </a:rPr>
              <a:t>Why does a file named json.py break your imports?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What separates a script from code others depend 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notes/04-errors-and-context-managers.md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Catch only what you can handle, let the rest crash loudly, and put cleanup in </a:t>
            </a:r>
            <a:r>
              <a:rPr sz="1440" i="0" b="1">
                <a:solidFill>
                  <a:srgbClr val="1E3A5F"/>
                </a:solidFill>
                <a:latin typeface="Menlo"/>
              </a:rPr>
              <a:t>with</a:t>
            </a:r>
            <a:r>
              <a:rPr sz="1600" i="0" b="1">
                <a:solidFill>
                  <a:srgbClr val="1E3A5F"/>
                </a:solidFill>
                <a:latin typeface="Helvetica Neue"/>
              </a:rPr>
              <a:t> or </a:t>
            </a:r>
            <a:r>
              <a:rPr sz="1440" i="0" b="1">
                <a:solidFill>
                  <a:srgbClr val="1E3A5F"/>
                </a:solidFill>
                <a:latin typeface="Menlo"/>
              </a:rPr>
              <a:t>finally</a:t>
            </a:r>
            <a:r>
              <a:rPr sz="1600" i="0" b="1">
                <a:solidFill>
                  <a:srgbClr val="1E3A5F"/>
                </a:solidFill>
                <a:latin typeface="Helvetica Neue"/>
              </a:rPr>
              <a:t>.</a:t>
            </a:r>
          </a:p>
        </p:txBody>
      </p:sp>
      <p:sp>
        <p:nvSpPr>
          <p:cNvPr id="13" name="Rectangle 12"/>
          <p:cNvSpPr/>
          <p:nvPr/>
        </p:nvSpPr>
        <p:spPr>
          <a:xfrm>
            <a:off x="777240" y="199796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Failures that surface clearly, cleanup that always happens, signatures a checker can read, and an environment anyone can rebuild.</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Each one is a small habit, and the tools do most of the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does each clause of try do?</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Exceptions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notes/04-errors-and-context-managers.md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Catch the narrowest exception, keep the </a:t>
            </a:r>
            <a:r>
              <a:rPr sz="1440" i="0" b="1">
                <a:solidFill>
                  <a:srgbClr val="1E3A5F"/>
                </a:solidFill>
                <a:latin typeface="Menlo"/>
              </a:rPr>
              <a:t>try</a:t>
            </a:r>
            <a:r>
              <a:rPr sz="1600" i="0" b="1">
                <a:solidFill>
                  <a:srgbClr val="1E3A5F"/>
                </a:solidFill>
                <a:latin typeface="Helvetica Neue"/>
              </a:rPr>
              <a:t> small, and use </a:t>
            </a:r>
            <a:r>
              <a:rPr sz="1440" i="0" b="1">
                <a:solidFill>
                  <a:srgbClr val="1E3A5F"/>
                </a:solidFill>
                <a:latin typeface="Menlo"/>
              </a:rPr>
              <a:t>raise ... from err</a:t>
            </a:r>
            <a:r>
              <a:rPr sz="1600" i="0" b="1">
                <a:solidFill>
                  <a:srgbClr val="1E3A5F"/>
                </a:solidFill>
                <a:latin typeface="Helvetica Neue"/>
              </a:rPr>
              <a:t> to keep the cause.</a:t>
            </a:r>
          </a:p>
        </p:txBody>
      </p:sp>
      <p:sp>
        <p:nvSpPr>
          <p:cNvPr id="13" name="Rounded Rectangle 12"/>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try</a:t>
            </a:r>
          </a:p>
          <a:p>
            <a:pPr algn="ctr">
              <a:lnSpc>
                <a:spcPct val="110000"/>
              </a:lnSpc>
            </a:pPr>
            <a:r>
              <a:rPr sz="1300" i="0" b="0">
                <a:solidFill>
                  <a:srgbClr val="E8F4F8"/>
                </a:solidFill>
                <a:latin typeface="Helvetica Neue"/>
              </a:rPr>
              <a:t>only the line that can fail</a:t>
            </a:r>
          </a:p>
        </p:txBody>
      </p:sp>
      <p:cxnSp>
        <p:nvCxnSpPr>
          <p:cNvPr id="15" name="Connector 14"/>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except</a:t>
            </a:r>
          </a:p>
          <a:p>
            <a:pPr algn="ctr">
              <a:lnSpc>
                <a:spcPct val="110000"/>
              </a:lnSpc>
            </a:pPr>
            <a:r>
              <a:rPr sz="1300" i="0" b="0">
                <a:solidFill>
                  <a:srgbClr val="E8F4F8"/>
                </a:solidFill>
                <a:latin typeface="Helvetica Neue"/>
              </a:rPr>
              <a:t>the narrowest exception you can handle</a:t>
            </a:r>
          </a:p>
        </p:txBody>
      </p:sp>
      <p:cxnSp>
        <p:nvCxnSpPr>
          <p:cNvPr id="18" name="Connector 17"/>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else</a:t>
            </a:r>
          </a:p>
          <a:p>
            <a:pPr algn="ctr">
              <a:lnSpc>
                <a:spcPct val="110000"/>
              </a:lnSpc>
            </a:pPr>
            <a:r>
              <a:rPr sz="1300" i="0" b="0">
                <a:solidFill>
                  <a:srgbClr val="E8F4F8"/>
                </a:solidFill>
                <a:latin typeface="Helvetica Neue"/>
              </a:rPr>
              <a:t>runs only if nothing was raised</a:t>
            </a:r>
          </a:p>
        </p:txBody>
      </p:sp>
      <p:cxnSp>
        <p:nvCxnSpPr>
          <p:cNvPr id="21" name="Connector 20"/>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finally</a:t>
            </a:r>
          </a:p>
          <a:p>
            <a:pPr algn="ctr">
              <a:lnSpc>
                <a:spcPct val="110000"/>
              </a:lnSpc>
            </a:pPr>
            <a:r>
              <a:rPr sz="1300" i="0" b="0">
                <a:solidFill>
                  <a:srgbClr val="E8F4F8"/>
                </a:solidFill>
                <a:latin typeface="Helvetica Neue"/>
              </a:rPr>
              <a:t>always runs, even after </a:t>
            </a:r>
            <a:r>
              <a:rPr sz="1300" i="0" b="0">
                <a:solidFill>
                  <a:srgbClr val="E8F4F8"/>
                </a:solidFill>
                <a:latin typeface="Menlo"/>
              </a:rPr>
              <a:t>return</a:t>
            </a:r>
          </a:p>
        </p:txBody>
      </p:sp>
      <p:sp>
        <p:nvSpPr>
          <p:cNvPr id="24" name="Rectangle 23"/>
          <p:cNvSpPr/>
          <p:nvPr/>
        </p:nvSpPr>
        <p:spPr>
          <a:xfrm>
            <a:off x="502920" y="3180842"/>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089148"/>
            <a:ext cx="10865815" cy="728472"/>
          </a:xfrm>
          <a:prstGeom prst="rect">
            <a:avLst/>
          </a:prstGeom>
          <a:noFill/>
        </p:spPr>
        <p:txBody>
          <a:bodyPr wrap="square" lIns="0" rIns="0" tIns="0" bIns="0" anchor="t">
            <a:noAutofit/>
          </a:bodyPr>
          <a:lstStyle/>
          <a:p>
            <a:pPr algn="l">
              <a:lnSpc>
                <a:spcPct val="110000"/>
              </a:lnSpc>
            </a:pPr>
            <a:r>
              <a:rPr sz="1710" i="0" b="0">
                <a:solidFill>
                  <a:srgbClr val="0F7490"/>
                </a:solidFill>
                <a:latin typeface="Menlo"/>
              </a:rPr>
              <a:t>raise ValueError(...) from err</a:t>
            </a:r>
            <a:r>
              <a:rPr sz="1900" i="0" b="0">
                <a:solidFill>
                  <a:srgbClr val="1E293B"/>
                </a:solidFill>
                <a:latin typeface="Helvetica Neue"/>
              </a:rPr>
              <a:t> keeps the original as the cause, and a bare </a:t>
            </a:r>
            <a:r>
              <a:rPr sz="1710" i="0" b="0">
                <a:solidFill>
                  <a:srgbClr val="0F7490"/>
                </a:solidFill>
                <a:latin typeface="Menlo"/>
              </a:rPr>
              <a:t>raise</a:t>
            </a:r>
            <a:r>
              <a:rPr sz="1900" i="0" b="0">
                <a:solidFill>
                  <a:srgbClr val="1E293B"/>
                </a:solidFill>
                <a:latin typeface="Helvetica Neue"/>
              </a:rPr>
              <a:t> re-raises unchanged</a:t>
            </a:r>
          </a:p>
        </p:txBody>
      </p:sp>
      <p:sp>
        <p:nvSpPr>
          <p:cNvPr id="26" name="Rectangle 25"/>
          <p:cNvSpPr/>
          <p:nvPr/>
        </p:nvSpPr>
        <p:spPr>
          <a:xfrm>
            <a:off x="502920" y="3962654"/>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87096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One base exception per package lets callers write </a:t>
            </a:r>
            <a:r>
              <a:rPr sz="1710" i="0" b="0">
                <a:solidFill>
                  <a:srgbClr val="0F7490"/>
                </a:solidFill>
                <a:latin typeface="Menlo"/>
              </a:rPr>
              <a:t>except PipelineError</a:t>
            </a:r>
          </a:p>
        </p:txBody>
      </p:sp>
      <p:sp>
        <p:nvSpPr>
          <p:cNvPr id="28" name="Rectangle 27"/>
          <p:cNvSpPr/>
          <p:nvPr/>
        </p:nvSpPr>
        <p:spPr>
          <a:xfrm>
            <a:off x="502920" y="442595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34256"/>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A bare </a:t>
            </a:r>
            <a:r>
              <a:rPr sz="1710" i="0" b="0">
                <a:solidFill>
                  <a:srgbClr val="0F7490"/>
                </a:solidFill>
                <a:latin typeface="Menlo"/>
              </a:rPr>
              <a:t>except:</a:t>
            </a:r>
            <a:r>
              <a:rPr sz="1900" i="0" b="0">
                <a:solidFill>
                  <a:srgbClr val="1E293B"/>
                </a:solidFill>
                <a:latin typeface="Helvetica Neue"/>
              </a:rPr>
              <a:t> hides bugs like </a:t>
            </a:r>
            <a:r>
              <a:rPr sz="1710" i="0" b="0">
                <a:solidFill>
                  <a:srgbClr val="0F7490"/>
                </a:solidFill>
                <a:latin typeface="Menlo"/>
              </a:rPr>
              <a:t>NameError</a:t>
            </a:r>
            <a:r>
              <a:rPr sz="1900" i="0" b="0">
                <a:solidFill>
                  <a:srgbClr val="1E293B"/>
                </a:solidFill>
                <a:latin typeface="Helvetica Neue"/>
              </a:rPr>
              <a:t>, and even </a:t>
            </a:r>
            <a:r>
              <a:rPr sz="1710" i="0" b="0">
                <a:solidFill>
                  <a:srgbClr val="0F7490"/>
                </a:solidFill>
                <a:latin typeface="Menlo"/>
              </a:rPr>
              <a:t>KeyboardInterrupt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How do you write your own context manager?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Context managers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notes/04-errors-and-context-managers.md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With </a:t>
            </a:r>
            <a:r>
              <a:rPr sz="1170" i="0" b="1">
                <a:solidFill>
                  <a:srgbClr val="1E3A5F"/>
                </a:solidFill>
                <a:latin typeface="Menlo"/>
              </a:rPr>
              <a:t>@contextmanager</a:t>
            </a:r>
            <a:r>
              <a:rPr sz="1300" i="0" b="1">
                <a:solidFill>
                  <a:srgbClr val="1E3A5F"/>
                </a:solidFill>
                <a:latin typeface="Helvetica Neue"/>
              </a:rPr>
              <a:t>, code before </a:t>
            </a:r>
            <a:r>
              <a:rPr sz="1170" i="0" b="1">
                <a:solidFill>
                  <a:srgbClr val="1E3A5F"/>
                </a:solidFill>
                <a:latin typeface="Menlo"/>
              </a:rPr>
              <a:t>yield</a:t>
            </a:r>
            <a:r>
              <a:rPr sz="1300" i="0" b="1">
                <a:solidFill>
                  <a:srgbClr val="1E3A5F"/>
                </a:solidFill>
                <a:latin typeface="Helvetica Neue"/>
              </a:rPr>
              <a:t> is setup and code after is teardown. Use </a:t>
            </a:r>
            <a:r>
              <a:rPr sz="1170" i="0" b="1">
                <a:solidFill>
                  <a:srgbClr val="1E3A5F"/>
                </a:solidFill>
                <a:latin typeface="Menlo"/>
              </a:rPr>
              <a:t>try/finally</a:t>
            </a:r>
            <a:r>
              <a:rPr sz="1300" i="0" b="1">
                <a:solidFill>
                  <a:srgbClr val="1E3A5F"/>
                </a:solidFill>
                <a:latin typeface="Helvetica Neue"/>
              </a:rPr>
              <a:t> so teardown runs on error.</a:t>
            </a:r>
          </a:p>
        </p:txBody>
      </p:sp>
      <p:sp>
        <p:nvSpPr>
          <p:cNvPr id="13" name="Rounded Rectangle 12"/>
          <p:cNvSpPr/>
          <p:nvPr/>
        </p:nvSpPr>
        <p:spPr>
          <a:xfrm>
            <a:off x="502920" y="1472184"/>
            <a:ext cx="11185855"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from contextlib import contextmanager</a:t>
            </a:r>
          </a:p>
          <a:p>
            <a:pPr algn="l">
              <a:lnSpc>
                <a:spcPct val="100000"/>
              </a:lnSpc>
            </a:pPr>
          </a:p>
          <a:p>
            <a:pPr algn="l">
              <a:lnSpc>
                <a:spcPct val="100000"/>
              </a:lnSpc>
            </a:pPr>
            <a:r>
              <a:rPr sz="1600" i="0" b="0">
                <a:solidFill>
                  <a:srgbClr val="E2E8F0"/>
                </a:solidFill>
                <a:latin typeface="Menlo"/>
              </a:rPr>
              <a:t>@contextmanager</a:t>
            </a:r>
          </a:p>
          <a:p>
            <a:pPr algn="l">
              <a:lnSpc>
                <a:spcPct val="100000"/>
              </a:lnSpc>
            </a:pPr>
            <a:r>
              <a:rPr sz="1600" i="0" b="0">
                <a:solidFill>
                  <a:srgbClr val="E2E8F0"/>
                </a:solidFill>
                <a:latin typeface="Menlo"/>
              </a:rPr>
              <a:t>def timer(label: str):</a:t>
            </a:r>
          </a:p>
          <a:p>
            <a:pPr algn="l">
              <a:lnSpc>
                <a:spcPct val="100000"/>
              </a:lnSpc>
            </a:pPr>
            <a:r>
              <a:rPr sz="1600" i="0" b="0">
                <a:solidFill>
                  <a:srgbClr val="E2E8F0"/>
                </a:solidFill>
                <a:latin typeface="Menlo"/>
              </a:rPr>
              <a:t>    start = time.perf_counter()      # setup</a:t>
            </a:r>
          </a:p>
          <a:p>
            <a:pPr algn="l">
              <a:lnSpc>
                <a:spcPct val="100000"/>
              </a:lnSpc>
            </a:pPr>
            <a:r>
              <a:rPr sz="1600" i="0" b="0">
                <a:solidFill>
                  <a:srgbClr val="E2E8F0"/>
                </a:solidFill>
                <a:latin typeface="Menlo"/>
              </a:rPr>
              <a:t>    try:</a:t>
            </a:r>
          </a:p>
          <a:p>
            <a:pPr algn="l">
              <a:lnSpc>
                <a:spcPct val="100000"/>
              </a:lnSpc>
            </a:pPr>
            <a:r>
              <a:rPr sz="1600" i="0" b="0">
                <a:solidFill>
                  <a:srgbClr val="E2E8F0"/>
                </a:solidFill>
                <a:latin typeface="Menlo"/>
              </a:rPr>
              <a:t>        yield</a:t>
            </a:r>
          </a:p>
          <a:p>
            <a:pPr algn="l">
              <a:lnSpc>
                <a:spcPct val="100000"/>
              </a:lnSpc>
            </a:pPr>
            <a:r>
              <a:rPr sz="1600" i="0" b="0">
                <a:solidFill>
                  <a:srgbClr val="E2E8F0"/>
                </a:solidFill>
                <a:latin typeface="Menlo"/>
              </a:rPr>
              <a:t>    finally:                         # teardown runs on error too</a:t>
            </a:r>
          </a:p>
          <a:p>
            <a:pPr algn="l">
              <a:lnSpc>
                <a:spcPct val="100000"/>
              </a:lnSpc>
            </a:pPr>
            <a:r>
              <a:rPr sz="1600" i="0" b="0">
                <a:solidFill>
                  <a:srgbClr val="E2E8F0"/>
                </a:solidFill>
                <a:latin typeface="Menlo"/>
              </a:rPr>
              <a:t>        print(f"{label}: {time.perf_counter() - start:.2f}s")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Who checks Python's type hints?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Type hints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notes/05-types-and-dataclasses.md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Python ignores hints at runtime, so run a checker. </a:t>
            </a:r>
            <a:r>
              <a:rPr sz="1350" i="0" b="1">
                <a:solidFill>
                  <a:srgbClr val="1E3A5F"/>
                </a:solidFill>
                <a:latin typeface="Menlo"/>
              </a:rPr>
              <a:t>X | None</a:t>
            </a:r>
            <a:r>
              <a:rPr sz="1500" i="0" b="1">
                <a:solidFill>
                  <a:srgbClr val="1E3A5F"/>
                </a:solidFill>
                <a:latin typeface="Helvetica Neue"/>
              </a:rPr>
              <a:t> forces callers to handle the missing case.</a:t>
            </a:r>
          </a:p>
        </p:txBody>
      </p:sp>
      <p:sp>
        <p:nvSpPr>
          <p:cNvPr id="13" name="Rectangle 12"/>
          <p:cNvSpPr/>
          <p:nvPr/>
        </p:nvSpPr>
        <p:spPr>
          <a:xfrm>
            <a:off x="502920" y="1568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Tools do, not Python: run </a:t>
            </a:r>
            <a:r>
              <a:rPr sz="1800" i="0" b="0">
                <a:solidFill>
                  <a:srgbClr val="0F7490"/>
                </a:solidFill>
                <a:latin typeface="Menlo"/>
              </a:rPr>
              <a:t>mypy</a:t>
            </a:r>
            <a:r>
              <a:rPr sz="2000" i="0" b="0">
                <a:solidFill>
                  <a:srgbClr val="1E293B"/>
                </a:solidFill>
                <a:latin typeface="Helvetica Neue"/>
              </a:rPr>
              <a:t> or </a:t>
            </a:r>
            <a:r>
              <a:rPr sz="1800" i="0" b="0">
                <a:solidFill>
                  <a:srgbClr val="0F7490"/>
                </a:solidFill>
                <a:latin typeface="Menlo"/>
              </a:rPr>
              <a:t>pyright</a:t>
            </a:r>
          </a:p>
        </p:txBody>
      </p:sp>
      <p:sp>
        <p:nvSpPr>
          <p:cNvPr id="15" name="Rectangle 14"/>
          <p:cNvSpPr/>
          <p:nvPr/>
        </p:nvSpPr>
        <p:spPr>
          <a:xfrm>
            <a:off x="502920" y="205638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1959864"/>
            <a:ext cx="10865815"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Accept the loosest type that works (</a:t>
            </a:r>
            <a:r>
              <a:rPr sz="1800" i="0" b="0">
                <a:solidFill>
                  <a:srgbClr val="0F7490"/>
                </a:solidFill>
                <a:latin typeface="Menlo"/>
              </a:rPr>
              <a:t>Iterable</a:t>
            </a:r>
            <a:r>
              <a:rPr sz="2000" i="0" b="0">
                <a:solidFill>
                  <a:srgbClr val="1E293B"/>
                </a:solidFill>
                <a:latin typeface="Helvetica Neue"/>
              </a:rPr>
              <a:t>, </a:t>
            </a:r>
            <a:r>
              <a:rPr sz="1800" i="0" b="0">
                <a:solidFill>
                  <a:srgbClr val="0F7490"/>
                </a:solidFill>
                <a:latin typeface="Menlo"/>
              </a:rPr>
              <a:t>Mapping</a:t>
            </a:r>
            <a:r>
              <a:rPr sz="2000" i="0" b="0">
                <a:solidFill>
                  <a:srgbClr val="1E293B"/>
                </a:solidFill>
                <a:latin typeface="Helvetica Neue"/>
              </a:rPr>
              <a:t>) and return the most specific (</a:t>
            </a:r>
            <a:r>
              <a:rPr sz="1800" i="0" b="0">
                <a:solidFill>
                  <a:srgbClr val="0F7490"/>
                </a:solidFill>
                <a:latin typeface="Menlo"/>
              </a:rPr>
              <a:t>list</a:t>
            </a:r>
            <a:r>
              <a:rPr sz="2000" i="0" b="0">
                <a:solidFill>
                  <a:srgbClr val="1E293B"/>
                </a:solidFill>
                <a:latin typeface="Helvetica Neue"/>
              </a:rPr>
              <a:t>, </a:t>
            </a:r>
            <a:r>
              <a:rPr sz="1800" i="0" b="0">
                <a:solidFill>
                  <a:srgbClr val="0F7490"/>
                </a:solidFill>
                <a:latin typeface="Menlo"/>
              </a:rPr>
              <a:t>dict</a:t>
            </a:r>
            <a:r>
              <a:rPr sz="2000" i="0" b="0">
                <a:solidFill>
                  <a:srgbClr val="1E293B"/>
                </a:solidFill>
                <a:latin typeface="Helvetica Neue"/>
              </a:rPr>
              <a:t>)</a:t>
            </a:r>
          </a:p>
        </p:txBody>
      </p:sp>
      <p:sp>
        <p:nvSpPr>
          <p:cNvPr id="17" name="Rectangle 16"/>
          <p:cNvSpPr/>
          <p:nvPr/>
        </p:nvSpPr>
        <p:spPr>
          <a:xfrm>
            <a:off x="502920" y="287934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782824"/>
            <a:ext cx="10865815" cy="42672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X | None</a:t>
            </a:r>
            <a:r>
              <a:rPr sz="2000" i="0" b="0">
                <a:solidFill>
                  <a:srgbClr val="1E293B"/>
                </a:solidFill>
                <a:latin typeface="Helvetica Neue"/>
              </a:rPr>
              <a:t> makes callers handle </a:t>
            </a:r>
            <a:r>
              <a:rPr sz="1800" i="0" b="0">
                <a:solidFill>
                  <a:srgbClr val="0F7490"/>
                </a:solidFill>
                <a:latin typeface="Menlo"/>
              </a:rPr>
              <a:t>None</a:t>
            </a:r>
            <a:r>
              <a:rPr sz="2000" i="0" b="0">
                <a:solidFill>
                  <a:srgbClr val="1E293B"/>
                </a:solidFill>
                <a:latin typeface="Helvetica Neue"/>
              </a:rPr>
              <a:t>, which is most of the value</a:t>
            </a:r>
          </a:p>
        </p:txBody>
      </p:sp>
      <p:sp>
        <p:nvSpPr>
          <p:cNvPr id="19" name="Rectangle 18"/>
          <p:cNvSpPr/>
          <p:nvPr/>
        </p:nvSpPr>
        <p:spPr>
          <a:xfrm>
            <a:off x="502920" y="336702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270504"/>
            <a:ext cx="10865815" cy="42672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Any</a:t>
            </a:r>
            <a:r>
              <a:rPr sz="2000" i="0" b="0">
                <a:solidFill>
                  <a:srgbClr val="1E293B"/>
                </a:solidFill>
                <a:latin typeface="Helvetica Neue"/>
              </a:rPr>
              <a:t> turns checking off, so prefer </a:t>
            </a:r>
            <a:r>
              <a:rPr sz="1800" i="0" b="0">
                <a:solidFill>
                  <a:srgbClr val="0F7490"/>
                </a:solidFill>
                <a:latin typeface="Menlo"/>
              </a:rPr>
              <a:t>object</a:t>
            </a:r>
            <a:r>
              <a:rPr sz="2000" i="0" b="0">
                <a:solidFill>
                  <a:srgbClr val="1E293B"/>
                </a:solidFill>
                <a:latin typeface="Helvetica Neue"/>
              </a:rPr>
              <a:t> and narrow with </a:t>
            </a:r>
            <a:r>
              <a:rPr sz="1800" i="0" b="0">
                <a:solidFill>
                  <a:srgbClr val="0F7490"/>
                </a:solidFill>
                <a:latin typeface="Menlo"/>
              </a:rPr>
              <a:t>isinstance</a:t>
            </a:r>
          </a:p>
        </p:txBody>
      </p:sp>
      <p:sp>
        <p:nvSpPr>
          <p:cNvPr id="21" name="Rectangle 20"/>
          <p:cNvSpPr/>
          <p:nvPr/>
        </p:nvSpPr>
        <p:spPr>
          <a:xfrm>
            <a:off x="502920" y="3854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58184"/>
            <a:ext cx="10865815" cy="42672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A </a:t>
            </a:r>
            <a:r>
              <a:rPr sz="1800" i="0" b="0">
                <a:solidFill>
                  <a:srgbClr val="0F7490"/>
                </a:solidFill>
                <a:latin typeface="Menlo"/>
              </a:rPr>
              <a:t>Protocol</a:t>
            </a:r>
            <a:r>
              <a:rPr sz="2000" i="0" b="0">
                <a:solidFill>
                  <a:srgbClr val="1E293B"/>
                </a:solidFill>
                <a:latin typeface="Helvetica Neue"/>
              </a:rPr>
              <a:t> is duck typing the checker understands: no inheritance needed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When do you use a dataclass, and when Pydantic?</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Inside and at the edge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notes/05-types-and-dataclasses.md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Use dataclasses inside the program and a validator at every edge, such as API JSON, config and LLM output.</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Dataclass</a:t>
            </a:r>
          </a:p>
        </p:txBody>
      </p:sp>
      <p:sp>
        <p:nvSpPr>
          <p:cNvPr id="16" name="Rounded Rectangle 15"/>
          <p:cNvSpPr/>
          <p:nvPr/>
        </p:nvSpPr>
        <p:spPr>
          <a:xfrm>
            <a:off x="731520" y="2231136"/>
            <a:ext cx="4907127" cy="1569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111252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@dataclass(frozen=True, slots=True)</a:t>
            </a:r>
          </a:p>
          <a:p>
            <a:pPr algn="l">
              <a:lnSpc>
                <a:spcPct val="100000"/>
              </a:lnSpc>
            </a:pPr>
            <a:r>
              <a:rPr sz="1400" i="0" b="0">
                <a:solidFill>
                  <a:srgbClr val="E2E8F0"/>
                </a:solidFill>
                <a:latin typeface="Menlo"/>
              </a:rPr>
              <a:t>class Chunk:</a:t>
            </a:r>
          </a:p>
          <a:p>
            <a:pPr algn="l">
              <a:lnSpc>
                <a:spcPct val="100000"/>
              </a:lnSpc>
            </a:pPr>
            <a:r>
              <a:rPr sz="1400" i="0" b="0">
                <a:solidFill>
                  <a:srgbClr val="E2E8F0"/>
                </a:solidFill>
                <a:latin typeface="Menlo"/>
              </a:rPr>
              <a:t>    doc_id: str</a:t>
            </a:r>
          </a:p>
          <a:p>
            <a:pPr algn="l">
              <a:lnSpc>
                <a:spcPct val="100000"/>
              </a:lnSpc>
            </a:pPr>
            <a:r>
              <a:rPr sz="1400" i="0" b="0">
                <a:solidFill>
                  <a:srgbClr val="E2E8F0"/>
                </a:solidFill>
                <a:latin typeface="Menlo"/>
              </a:rPr>
              <a:t>    text: str</a:t>
            </a:r>
          </a:p>
          <a:p>
            <a:pPr algn="l">
              <a:lnSpc>
                <a:spcPct val="100000"/>
              </a:lnSpc>
            </a:pPr>
            <a:r>
              <a:rPr sz="1400" i="0" b="0">
                <a:solidFill>
                  <a:srgbClr val="E2E8F0"/>
                </a:solidFill>
                <a:latin typeface="Menlo"/>
              </a:rPr>
              <a:t>    score: float = 0.0</a:t>
            </a:r>
          </a:p>
        </p:txBody>
      </p:sp>
      <p:sp>
        <p:nvSpPr>
          <p:cNvPr id="18" name="Rectangle 17"/>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Inside the program. Trusts its inputs</a:t>
            </a:r>
          </a:p>
        </p:txBody>
      </p:sp>
      <p:sp>
        <p:nvSpPr>
          <p:cNvPr id="20" name="Rectangle 19"/>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Pydantic</a:t>
            </a:r>
          </a:p>
        </p:txBody>
      </p:sp>
      <p:sp>
        <p:nvSpPr>
          <p:cNvPr id="23" name="Rounded Rectangle 22"/>
          <p:cNvSpPr/>
          <p:nvPr/>
        </p:nvSpPr>
        <p:spPr>
          <a:xfrm>
            <a:off x="6507327" y="2231136"/>
            <a:ext cx="4907127" cy="15697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5927" y="2459736"/>
            <a:ext cx="4449927" cy="111252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class Review(BaseModel):</a:t>
            </a:r>
          </a:p>
          <a:p>
            <a:pPr algn="l">
              <a:lnSpc>
                <a:spcPct val="100000"/>
              </a:lnSpc>
            </a:pPr>
            <a:r>
              <a:rPr sz="1400" i="0" b="0">
                <a:solidFill>
                  <a:srgbClr val="E2E8F0"/>
                </a:solidFill>
                <a:latin typeface="Menlo"/>
              </a:rPr>
              <a:t>    rating: int = Field(ge=1, le=5)</a:t>
            </a:r>
          </a:p>
          <a:p>
            <a:pPr algn="l">
              <a:lnSpc>
                <a:spcPct val="100000"/>
              </a:lnSpc>
            </a:pPr>
            <a:r>
              <a:rPr sz="1400" i="0" b="0">
                <a:solidFill>
                  <a:srgbClr val="E2E8F0"/>
                </a:solidFill>
                <a:latin typeface="Menlo"/>
              </a:rPr>
              <a:t>    summary: str</a:t>
            </a:r>
          </a:p>
          <a:p>
            <a:pPr algn="l">
              <a:lnSpc>
                <a:spcPct val="100000"/>
              </a:lnSpc>
            </a:pPr>
          </a:p>
          <a:p>
            <a:pPr algn="l">
              <a:lnSpc>
                <a:spcPct val="100000"/>
              </a:lnSpc>
            </a:pPr>
            <a:r>
              <a:rPr sz="1400" i="0" b="0">
                <a:solidFill>
                  <a:srgbClr val="E2E8F0"/>
                </a:solidFill>
                <a:latin typeface="Menlo"/>
              </a:rPr>
              <a:t>Review.model_validate_json(raw)</a:t>
            </a:r>
          </a:p>
        </p:txBody>
      </p:sp>
      <p:sp>
        <p:nvSpPr>
          <p:cNvPr id="25" name="Rectangle 2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At a boundary. Validates and converts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What are the parts of a modern Python project?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Tooling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notes/06-modules-packaging-tooling.md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project is a </a:t>
            </a:r>
            <a:r>
              <a:rPr sz="1170" i="0" b="1">
                <a:solidFill>
                  <a:srgbClr val="1E3A5F"/>
                </a:solidFill>
                <a:latin typeface="Menlo"/>
              </a:rPr>
              <a:t>pyproject.toml</a:t>
            </a:r>
            <a:r>
              <a:rPr sz="1300" i="0" b="1">
                <a:solidFill>
                  <a:srgbClr val="1E3A5F"/>
                </a:solidFill>
                <a:latin typeface="Helvetica Neue"/>
              </a:rPr>
              <a:t>, </a:t>
            </a:r>
            <a:r>
              <a:rPr sz="1170" i="0" b="1">
                <a:solidFill>
                  <a:srgbClr val="1E3A5F"/>
                </a:solidFill>
                <a:latin typeface="Menlo"/>
              </a:rPr>
              <a:t>src/</a:t>
            </a:r>
            <a:r>
              <a:rPr sz="1300" i="0" b="1">
                <a:solidFill>
                  <a:srgbClr val="1E3A5F"/>
                </a:solidFill>
                <a:latin typeface="Helvetica Neue"/>
              </a:rPr>
              <a:t> and </a:t>
            </a:r>
            <a:r>
              <a:rPr sz="1170" i="0" b="1">
                <a:solidFill>
                  <a:srgbClr val="1E3A5F"/>
                </a:solidFill>
                <a:latin typeface="Menlo"/>
              </a:rPr>
              <a:t>tests/</a:t>
            </a:r>
            <a:r>
              <a:rPr sz="1300" i="0" b="1">
                <a:solidFill>
                  <a:srgbClr val="1E3A5F"/>
                </a:solidFill>
                <a:latin typeface="Helvetica Neue"/>
              </a:rPr>
              <a:t>, with uv for environments, ruff for lint and format, and pytest for tests.</a:t>
            </a:r>
          </a:p>
        </p:txBody>
      </p:sp>
      <p:sp>
        <p:nvSpPr>
          <p:cNvPr id="13" name="Rectangle 12"/>
          <p:cNvSpPr/>
          <p:nvPr/>
        </p:nvSpPr>
        <p:spPr>
          <a:xfrm>
            <a:off x="502920"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288340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Layout</a:t>
            </a:r>
          </a:p>
        </p:txBody>
      </p:sp>
      <p:sp>
        <p:nvSpPr>
          <p:cNvPr id="16" name="TextBox 15"/>
          <p:cNvSpPr txBox="1"/>
          <p:nvPr/>
        </p:nvSpPr>
        <p:spPr>
          <a:xfrm>
            <a:off x="777240" y="2087880"/>
            <a:ext cx="2087803" cy="208483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pyproject.toml</a:t>
            </a:r>
            <a:r>
              <a:rPr sz="1800" i="0" b="0">
                <a:solidFill>
                  <a:srgbClr val="475569"/>
                </a:solidFill>
                <a:latin typeface="Helvetica Neue"/>
              </a:rPr>
              <a:t>, </a:t>
            </a:r>
            <a:r>
              <a:rPr sz="1620" i="0" b="0">
                <a:solidFill>
                  <a:srgbClr val="0F7490"/>
                </a:solidFill>
                <a:latin typeface="Menlo"/>
              </a:rPr>
              <a:t>src/my_tool/</a:t>
            </a:r>
            <a:r>
              <a:rPr sz="1800" i="0" b="0">
                <a:solidFill>
                  <a:srgbClr val="475569"/>
                </a:solidFill>
                <a:latin typeface="Helvetica Neue"/>
              </a:rPr>
              <a:t>, </a:t>
            </a:r>
            <a:r>
              <a:rPr sz="1620" i="0" b="0">
                <a:solidFill>
                  <a:srgbClr val="0F7490"/>
                </a:solidFill>
                <a:latin typeface="Menlo"/>
              </a:rPr>
              <a:t>tests/</a:t>
            </a:r>
            <a:r>
              <a:rPr sz="1800" i="0" b="0">
                <a:solidFill>
                  <a:srgbClr val="475569"/>
                </a:solidFill>
                <a:latin typeface="Helvetica Neue"/>
              </a:rPr>
              <a:t>. Install the project and don't edit </a:t>
            </a:r>
            <a:r>
              <a:rPr sz="1620" i="0" b="0">
                <a:solidFill>
                  <a:srgbClr val="0F7490"/>
                </a:solidFill>
                <a:latin typeface="Menlo"/>
              </a:rPr>
              <a:t>sys.path</a:t>
            </a:r>
            <a:r>
              <a:rPr sz="1800" i="0" b="0">
                <a:solidFill>
                  <a:srgbClr val="475569"/>
                </a:solidFill>
                <a:latin typeface="Helvetica Neue"/>
              </a:rPr>
              <a:t>.</a:t>
            </a:r>
          </a:p>
        </p:txBody>
      </p:sp>
      <p:sp>
        <p:nvSpPr>
          <p:cNvPr id="17" name="Rectangle 16"/>
          <p:cNvSpPr/>
          <p:nvPr/>
        </p:nvSpPr>
        <p:spPr>
          <a:xfrm>
            <a:off x="3367963"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28834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uv</a:t>
            </a:r>
          </a:p>
        </p:txBody>
      </p:sp>
      <p:sp>
        <p:nvSpPr>
          <p:cNvPr id="20" name="TextBox 19"/>
          <p:cNvSpPr txBox="1"/>
          <p:nvPr/>
        </p:nvSpPr>
        <p:spPr>
          <a:xfrm>
            <a:off x="3642283" y="2087880"/>
            <a:ext cx="2087803" cy="208483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uv add httpx</a:t>
            </a:r>
            <a:r>
              <a:rPr sz="1800" i="0" b="0">
                <a:solidFill>
                  <a:srgbClr val="475569"/>
                </a:solidFill>
                <a:latin typeface="Helvetica Neue"/>
              </a:rPr>
              <a:t>, </a:t>
            </a:r>
            <a:r>
              <a:rPr sz="1620" i="0" b="0">
                <a:solidFill>
                  <a:srgbClr val="0F7490"/>
                </a:solidFill>
                <a:latin typeface="Menlo"/>
              </a:rPr>
              <a:t>uv run pytest</a:t>
            </a:r>
            <a:r>
              <a:rPr sz="1800" i="0" b="0">
                <a:solidFill>
                  <a:srgbClr val="475569"/>
                </a:solidFill>
                <a:latin typeface="Helvetica Neue"/>
              </a:rPr>
              <a:t>. Commit </a:t>
            </a:r>
            <a:r>
              <a:rPr sz="1620" i="0" b="0">
                <a:solidFill>
                  <a:srgbClr val="0F7490"/>
                </a:solidFill>
                <a:latin typeface="Menlo"/>
              </a:rPr>
              <a:t>uv.lock</a:t>
            </a:r>
            <a:r>
              <a:rPr sz="1800" i="0" b="0">
                <a:solidFill>
                  <a:srgbClr val="475569"/>
                </a:solidFill>
                <a:latin typeface="Helvetica Neue"/>
              </a:rPr>
              <a:t>, because it pins every transitive version.</a:t>
            </a:r>
          </a:p>
        </p:txBody>
      </p:sp>
      <p:sp>
        <p:nvSpPr>
          <p:cNvPr id="21" name="Rectangle 20"/>
          <p:cNvSpPr/>
          <p:nvPr/>
        </p:nvSpPr>
        <p:spPr>
          <a:xfrm>
            <a:off x="6233007"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288340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ruff</a:t>
            </a:r>
          </a:p>
        </p:txBody>
      </p:sp>
      <p:sp>
        <p:nvSpPr>
          <p:cNvPr id="24" name="TextBox 23"/>
          <p:cNvSpPr txBox="1"/>
          <p:nvPr/>
        </p:nvSpPr>
        <p:spPr>
          <a:xfrm>
            <a:off x="6507327" y="2087880"/>
            <a:ext cx="2087803" cy="208483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ruff check --fix</a:t>
            </a:r>
            <a:r>
              <a:rPr sz="1800" i="0" b="0">
                <a:solidFill>
                  <a:srgbClr val="475569"/>
                </a:solidFill>
                <a:latin typeface="Helvetica Neue"/>
              </a:rPr>
              <a:t> lints and </a:t>
            </a:r>
            <a:r>
              <a:rPr sz="1620" i="0" b="0">
                <a:solidFill>
                  <a:srgbClr val="0F7490"/>
                </a:solidFill>
                <a:latin typeface="Menlo"/>
              </a:rPr>
              <a:t>ruff format</a:t>
            </a:r>
            <a:r>
              <a:rPr sz="1800" i="0" b="0">
                <a:solidFill>
                  <a:srgbClr val="475569"/>
                </a:solidFill>
                <a:latin typeface="Helvetica Neue"/>
              </a:rPr>
              <a:t> formats, replacing flake8, isort and black.</a:t>
            </a:r>
          </a:p>
        </p:txBody>
      </p:sp>
      <p:sp>
        <p:nvSpPr>
          <p:cNvPr id="25" name="Rectangle 24"/>
          <p:cNvSpPr/>
          <p:nvPr/>
        </p:nvSpPr>
        <p:spPr>
          <a:xfrm>
            <a:off x="9098051"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288340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pytest</a:t>
            </a:r>
          </a:p>
        </p:txBody>
      </p:sp>
      <p:sp>
        <p:nvSpPr>
          <p:cNvPr id="28" name="TextBox 27"/>
          <p:cNvSpPr txBox="1"/>
          <p:nvPr/>
        </p:nvSpPr>
        <p:spPr>
          <a:xfrm>
            <a:off x="9372371"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Plain </a:t>
            </a:r>
            <a:r>
              <a:rPr sz="1620" i="0" b="0">
                <a:solidFill>
                  <a:srgbClr val="0F7490"/>
                </a:solidFill>
                <a:latin typeface="Menlo"/>
              </a:rPr>
              <a:t>assert</a:t>
            </a:r>
            <a:r>
              <a:rPr sz="1800" i="0" b="0">
                <a:solidFill>
                  <a:srgbClr val="475569"/>
                </a:solidFill>
                <a:latin typeface="Helvetica Neue"/>
              </a:rPr>
              <a:t>, </a:t>
            </a:r>
            <a:r>
              <a:rPr sz="1620" i="0" b="0">
                <a:solidFill>
                  <a:srgbClr val="0F7490"/>
                </a:solidFill>
                <a:latin typeface="Menlo"/>
              </a:rPr>
              <a:t>parametrize</a:t>
            </a:r>
            <a:r>
              <a:rPr sz="1800" i="0" b="0">
                <a:solidFill>
                  <a:srgbClr val="475569"/>
                </a:solidFill>
                <a:latin typeface="Helvetica Neue"/>
              </a:rPr>
              <a:t>, </a:t>
            </a:r>
            <a:r>
              <a:rPr sz="1620" i="0" b="0">
                <a:solidFill>
                  <a:srgbClr val="0F7490"/>
                </a:solidFill>
                <a:latin typeface="Menlo"/>
              </a:rPr>
              <a:t>raises</a:t>
            </a:r>
            <a:r>
              <a:rPr sz="1800" i="0" b="0">
                <a:solidFill>
                  <a:srgbClr val="475569"/>
                </a:solidFill>
                <a:latin typeface="Helvetica Neue"/>
              </a:rPr>
              <a:t>, and fixtures such as </a:t>
            </a:r>
            <a:r>
              <a:rPr sz="1620" i="0" b="0">
                <a:solidFill>
                  <a:srgbClr val="0F7490"/>
                </a:solidFill>
                <a:latin typeface="Menlo"/>
              </a:rPr>
              <a:t>tmp_path</a:t>
            </a:r>
            <a:r>
              <a:rPr sz="1800" i="0" b="0">
                <a:solidFill>
                  <a:srgbClr val="475569"/>
                </a:solidFill>
                <a:latin typeface="Helvetica Neue"/>
              </a:rPr>
              <a:t> injected by name.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Why does a file named json.py break your imports?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Modules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Code that holds up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notes/06-modules-packaging-tooling.md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sys.path</a:t>
            </a:r>
            <a:r>
              <a:rPr sz="1600" i="0" b="1">
                <a:solidFill>
                  <a:srgbClr val="1E3A5F"/>
                </a:solidFill>
                <a:latin typeface="Helvetica Neue"/>
              </a:rPr>
              <a:t> starts with the script's directory, so never name a file after a standard-library module.</a:t>
            </a:r>
          </a:p>
        </p:txBody>
      </p:sp>
      <p:sp>
        <p:nvSpPr>
          <p:cNvPr id="13" name="Rectangle 12"/>
          <p:cNvSpPr/>
          <p:nvPr/>
        </p:nvSpPr>
        <p:spPr>
          <a:xfrm>
            <a:off x="502920" y="1568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10865815"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Python searches </a:t>
            </a:r>
            <a:r>
              <a:rPr sz="1800" i="0" b="0">
                <a:solidFill>
                  <a:srgbClr val="0F7490"/>
                </a:solidFill>
                <a:latin typeface="Menlo"/>
              </a:rPr>
              <a:t>sys.path</a:t>
            </a:r>
            <a:r>
              <a:rPr sz="2000" i="0" b="0">
                <a:solidFill>
                  <a:srgbClr val="1E293B"/>
                </a:solidFill>
                <a:latin typeface="Helvetica Neue"/>
              </a:rPr>
              <a:t>, which starts with the script's directory, so your file shadows the real module</a:t>
            </a:r>
          </a:p>
        </p:txBody>
      </p:sp>
      <p:sp>
        <p:nvSpPr>
          <p:cNvPr id="15" name="Rectangle 14"/>
          <p:cNvSpPr/>
          <p:nvPr/>
        </p:nvSpPr>
        <p:spPr>
          <a:xfrm>
            <a:off x="502920" y="239166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295144"/>
            <a:ext cx="10865815" cy="42672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import</a:t>
            </a:r>
            <a:r>
              <a:rPr sz="2000" i="0" b="0">
                <a:solidFill>
                  <a:srgbClr val="1E293B"/>
                </a:solidFill>
                <a:latin typeface="Helvetica Neue"/>
              </a:rPr>
              <a:t> runs a module once and caches it in </a:t>
            </a:r>
            <a:r>
              <a:rPr sz="1800" i="0" b="0">
                <a:solidFill>
                  <a:srgbClr val="0F7490"/>
                </a:solidFill>
                <a:latin typeface="Menlo"/>
              </a:rPr>
              <a:t>sys.modules</a:t>
            </a:r>
          </a:p>
        </p:txBody>
      </p:sp>
      <p:sp>
        <p:nvSpPr>
          <p:cNvPr id="17" name="Rectangle 16"/>
          <p:cNvSpPr/>
          <p:nvPr/>
        </p:nvSpPr>
        <p:spPr>
          <a:xfrm>
            <a:off x="502920" y="287934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782824"/>
            <a:ext cx="10865815" cy="762000"/>
          </a:xfrm>
          <a:prstGeom prst="rect">
            <a:avLst/>
          </a:prstGeom>
          <a:noFill/>
        </p:spPr>
        <p:txBody>
          <a:bodyPr wrap="square" lIns="0" rIns="0" tIns="0" bIns="0" anchor="t">
            <a:noAutofit/>
          </a:bodyPr>
          <a:lstStyle/>
          <a:p>
            <a:pPr algn="l">
              <a:lnSpc>
                <a:spcPct val="110000"/>
              </a:lnSpc>
            </a:pPr>
            <a:r>
              <a:rPr sz="1800" i="0" b="0">
                <a:solidFill>
                  <a:srgbClr val="0F7490"/>
                </a:solidFill>
                <a:latin typeface="Menlo"/>
              </a:rPr>
              <a:t>if __name__ == "__main__":</a:t>
            </a:r>
            <a:r>
              <a:rPr sz="2000" i="0" b="0">
                <a:solidFill>
                  <a:srgbClr val="1E293B"/>
                </a:solidFill>
                <a:latin typeface="Helvetica Neue"/>
              </a:rPr>
              <a:t> guards code that should only run when the file is executed</a:t>
            </a:r>
          </a:p>
        </p:txBody>
      </p:sp>
      <p:sp>
        <p:nvSpPr>
          <p:cNvPr id="19" name="Rectangle 18"/>
          <p:cNvSpPr/>
          <p:nvPr/>
        </p:nvSpPr>
        <p:spPr>
          <a:xfrm>
            <a:off x="502920" y="3702303"/>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05784"/>
            <a:ext cx="10865815" cy="42672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Avoid </a:t>
            </a:r>
            <a:r>
              <a:rPr sz="1800" i="0" b="0">
                <a:solidFill>
                  <a:srgbClr val="0F7490"/>
                </a:solidFill>
                <a:latin typeface="Menlo"/>
              </a:rPr>
              <a:t>from x import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Many things at once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Picking a tool · The GIL · The event loop · Never block · Retries</a:t>
            </a:r>
          </a:p>
        </p:txBody>
      </p:sp>
      <p:cxnSp>
        <p:nvCxnSpPr>
          <p:cNvPr id="6" name="Connector 5"/>
          <p:cNvCxnSpPr/>
          <p:nvPr/>
        </p:nvCxnSpPr>
        <p:spPr>
          <a:xfrm>
            <a:off x="6446520" y="2014855"/>
            <a:ext cx="0" cy="28282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14855"/>
            <a:ext cx="4693615" cy="301117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decides which concurrency tool you use?</a:t>
            </a:r>
          </a:p>
          <a:p>
            <a:pPr algn="l">
              <a:lnSpc>
                <a:spcPct val="100000"/>
              </a:lnSpc>
              <a:spcBef>
                <a:spcPts val="1189"/>
              </a:spcBef>
            </a:pPr>
            <a:r>
              <a:rPr sz="1700" i="0" b="0">
                <a:solidFill>
                  <a:srgbClr val="CBD5E1"/>
                </a:solidFill>
                <a:latin typeface="Helvetica Neue"/>
              </a:rPr>
              <a:t>Threads, asyncio or processes?</a:t>
            </a:r>
          </a:p>
          <a:p>
            <a:pPr algn="l">
              <a:lnSpc>
                <a:spcPct val="100000"/>
              </a:lnSpc>
              <a:spcBef>
                <a:spcPts val="1189"/>
              </a:spcBef>
            </a:pPr>
            <a:r>
              <a:rPr sz="1700" i="0" b="0">
                <a:solidFill>
                  <a:srgbClr val="CBD5E1"/>
                </a:solidFill>
                <a:latin typeface="Helvetica Neue"/>
              </a:rPr>
              <a:t>How does the event loop run two tasks on one thread?</a:t>
            </a:r>
          </a:p>
          <a:p>
            <a:pPr algn="l">
              <a:lnSpc>
                <a:spcPct val="100000"/>
              </a:lnSpc>
              <a:spcBef>
                <a:spcPts val="1189"/>
              </a:spcBef>
            </a:pPr>
            <a:r>
              <a:rPr sz="1700" i="0" b="0">
                <a:solidFill>
                  <a:srgbClr val="CBD5E1"/>
                </a:solidFill>
                <a:latin typeface="Helvetica Neue"/>
              </a:rPr>
              <a:t>How do you limit concurrency in asyncio?</a:t>
            </a:r>
          </a:p>
          <a:p>
            <a:pPr algn="l">
              <a:lnSpc>
                <a:spcPct val="100000"/>
              </a:lnSpc>
              <a:spcBef>
                <a:spcPts val="1189"/>
              </a:spcBef>
            </a:pPr>
            <a:r>
              <a:rPr sz="1700" i="0" b="0">
                <a:solidFill>
                  <a:srgbClr val="CBD5E1"/>
                </a:solidFill>
                <a:latin typeface="Helvetica Neue"/>
              </a:rPr>
              <a:t>What must you never do inside async def?</a:t>
            </a:r>
          </a:p>
          <a:p>
            <a:pPr algn="l">
              <a:lnSpc>
                <a:spcPct val="100000"/>
              </a:lnSpc>
              <a:spcBef>
                <a:spcPts val="1189"/>
              </a:spcBef>
            </a:pPr>
            <a:r>
              <a:rPr sz="1700" i="0" b="0">
                <a:solidFill>
                  <a:srgbClr val="CBD5E1"/>
                </a:solidFill>
                <a:latin typeface="Helvetica Neue"/>
              </a:rPr>
              <a:t>How should you retry a failed call?</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What decides which concurrency tool you use?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Pick by what you are waiting on. I/O-bound work uses threads or </a:t>
            </a:r>
            <a:r>
              <a:rPr sz="1260" i="0" b="1">
                <a:solidFill>
                  <a:srgbClr val="1E3A5F"/>
                </a:solidFill>
                <a:latin typeface="Menlo"/>
              </a:rPr>
              <a:t>asyncio</a:t>
            </a:r>
            <a:r>
              <a:rPr sz="1400" i="0" b="1">
                <a:solidFill>
                  <a:srgbClr val="1E3A5F"/>
                </a:solidFill>
                <a:latin typeface="Helvetica Neue"/>
              </a:rPr>
              <a:t>, and CPU-bound Python uses processes.</a:t>
            </a:r>
          </a:p>
        </p:txBody>
      </p:sp>
      <p:sp>
        <p:nvSpPr>
          <p:cNvPr id="13" name="Rectangle 12"/>
          <p:cNvSpPr/>
          <p:nvPr/>
        </p:nvSpPr>
        <p:spPr>
          <a:xfrm>
            <a:off x="777240" y="1997964"/>
            <a:ext cx="109728" cy="25054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Fifty HTTP calls and fifty pure-Python number crunches need different tools, because one spends its time waiting and the other spends it computing.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Threads, asyncio or processes?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Which tool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The GIL lets one thread run Python bytecode at a time, so threads help with waiting and processes help with computing.</a:t>
            </a:r>
          </a:p>
        </p:txBody>
      </p:sp>
      <p:graphicFrame>
        <p:nvGraphicFramePr>
          <p:cNvPr id="13" name="Table 12"/>
          <p:cNvGraphicFramePr>
            <a:graphicFrameLocks noGrp="1"/>
          </p:cNvGraphicFramePr>
          <p:nvPr/>
        </p:nvGraphicFramePr>
        <p:xfrm>
          <a:off x="502920" y="1472184"/>
          <a:ext cx="11185853" cy="2398776"/>
        </p:xfrm>
        <a:graphic>
          <a:graphicData uri="http://schemas.openxmlformats.org/drawingml/2006/table">
            <a:tbl>
              <a:tblPr firstRow="1" bandRow="1">
                <a:tableStyleId>{5940675A-B579-460E-94D1-54222C63F5DA}</a:tableStyleId>
              </a:tblPr>
              <a:tblGrid>
                <a:gridCol w="4225767"/>
                <a:gridCol w="2982894"/>
                <a:gridCol w="3977192"/>
              </a:tblGrid>
              <a:tr h="405384">
                <a:tc>
                  <a:txBody>
                    <a:bodyPr wrap="square"/>
                    <a:lstStyle/>
                    <a:p>
                      <a:pPr>
                        <a:lnSpc>
                          <a:spcPct val="100000"/>
                        </a:lnSpc>
                      </a:pPr>
                      <a:r>
                        <a:rPr sz="1700" i="0" b="1">
                          <a:solidFill>
                            <a:srgbClr val="FFFFFF"/>
                          </a:solidFill>
                          <a:latin typeface="Helvetica Neue"/>
                        </a:rPr>
                        <a:t>Work</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Tool</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Why</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A few dozen blocking HTTP calls, existing sync code</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ThreadPoolExecutor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Threads release the GIL while waiting on I/O</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Hundreds+ requests, an async SDK, a web server</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asyncio</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One thread, cheap tasks, explicit </a:t>
                      </a:r>
                      <a:r>
                        <a:rPr sz="1530" i="0" b="0">
                          <a:solidFill>
                            <a:srgbClr val="0F7490"/>
                          </a:solidFill>
                          <a:latin typeface="Menlo"/>
                        </a:rPr>
                        <a:t>await</a:t>
                      </a:r>
                      <a:r>
                        <a:rPr sz="1700" i="0" b="0">
                          <a:solidFill>
                            <a:srgbClr val="475569"/>
                          </a:solidFill>
                          <a:latin typeface="Helvetica Neue"/>
                        </a:rPr>
                        <a:t> points</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CPU-heavy pure Python</a:t>
                      </a:r>
                    </a:p>
                  </a:txBody>
                  <a:tcPr marL="109728" marR="109728" marT="54864" marB="54864" anchor="ctr">
                    <a:solidFill>
                      <a:srgbClr val="FFFFFF"/>
                    </a:solidFill>
                  </a:tcPr>
                </a:tc>
                <a:tc>
                  <a:txBody>
                    <a:bodyPr wrap="square"/>
                    <a:lstStyle/>
                    <a:p>
                      <a:pPr>
                        <a:lnSpc>
                          <a:spcPct val="100000"/>
                        </a:lnSpc>
                      </a:pPr>
                      <a:r>
                        <a:rPr sz="1530" i="0" b="0">
                          <a:solidFill>
                            <a:srgbClr val="0F7490"/>
                          </a:solidFill>
                          <a:latin typeface="Menlo"/>
                        </a:rPr>
                        <a:t>ProcessPoolExecutor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Separate interpreters, so no GIL contention</a:t>
                      </a:r>
                    </a:p>
                  </a:txBody>
                  <a:tcPr marL="109728" marR="109728" marT="54864" marB="54864"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How does the event loop run two tasks on one thread?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event loop</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One thread runs ready tasks until each hits an </a:t>
            </a:r>
            <a:r>
              <a:rPr sz="1260" i="0" b="1">
                <a:solidFill>
                  <a:srgbClr val="1E3A5F"/>
                </a:solidFill>
                <a:latin typeface="Menlo"/>
              </a:rPr>
              <a:t>await</a:t>
            </a:r>
            <a:r>
              <a:rPr sz="1400" i="0" b="1">
                <a:solidFill>
                  <a:srgbClr val="1E3A5F"/>
                </a:solidFill>
                <a:latin typeface="Helvetica Neue"/>
              </a:rPr>
              <a:t>. Nothing preempts a task, so switching happens only at </a:t>
            </a:r>
            <a:r>
              <a:rPr sz="1260" i="0" b="1">
                <a:solidFill>
                  <a:srgbClr val="1E3A5F"/>
                </a:solidFill>
                <a:latin typeface="Menlo"/>
              </a:rPr>
              <a:t>await</a:t>
            </a:r>
            <a:r>
              <a:rPr sz="1400" i="0" b="1">
                <a:solidFill>
                  <a:srgbClr val="1E3A5F"/>
                </a:solidFill>
                <a:latin typeface="Helvetica Neue"/>
              </a:rPr>
              <a:t>.</a:t>
            </a:r>
          </a:p>
        </p:txBody>
      </p:sp>
      <p:sp>
        <p:nvSpPr>
          <p:cNvPr id="13" name="Rounded Rectangle 12"/>
          <p:cNvSpPr/>
          <p:nvPr/>
        </p:nvSpPr>
        <p:spPr>
          <a:xfrm>
            <a:off x="586587" y="1563624"/>
            <a:ext cx="2377440" cy="1423416"/>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Run</a:t>
            </a:r>
          </a:p>
          <a:p>
            <a:pPr algn="ctr">
              <a:lnSpc>
                <a:spcPct val="110000"/>
              </a:lnSpc>
            </a:pPr>
            <a:r>
              <a:rPr sz="1300" i="0" b="0">
                <a:solidFill>
                  <a:srgbClr val="E8F4F8"/>
                </a:solidFill>
                <a:latin typeface="Helvetica Neue"/>
              </a:rPr>
              <a:t>a ready task runs until an </a:t>
            </a:r>
            <a:r>
              <a:rPr sz="1300" i="0" b="0">
                <a:solidFill>
                  <a:srgbClr val="E8F4F8"/>
                </a:solidFill>
                <a:latin typeface="Menlo"/>
              </a:rPr>
              <a:t>await</a:t>
            </a:r>
            <a:r>
              <a:rPr sz="1300" i="0" b="0">
                <a:solidFill>
                  <a:srgbClr val="E8F4F8"/>
                </a:solidFill>
                <a:latin typeface="Helvetica Neue"/>
              </a:rPr>
              <a:t> on something unfinished</a:t>
            </a:r>
          </a:p>
        </p:txBody>
      </p:sp>
      <p:cxnSp>
        <p:nvCxnSpPr>
          <p:cNvPr id="15" name="Connector 14"/>
          <p:cNvCxnSpPr/>
          <p:nvPr/>
        </p:nvCxnSpPr>
        <p:spPr>
          <a:xfrm>
            <a:off x="301889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423416"/>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Suspend</a:t>
            </a:r>
          </a:p>
          <a:p>
            <a:pPr algn="ctr">
              <a:lnSpc>
                <a:spcPct val="110000"/>
              </a:lnSpc>
            </a:pPr>
            <a:r>
              <a:rPr sz="1300" i="0" b="0">
                <a:solidFill>
                  <a:srgbClr val="E8F4F8"/>
                </a:solidFill>
                <a:latin typeface="Helvetica Neue"/>
              </a:rPr>
              <a:t>it hands control back to the loop</a:t>
            </a:r>
          </a:p>
        </p:txBody>
      </p:sp>
      <p:cxnSp>
        <p:nvCxnSpPr>
          <p:cNvPr id="18" name="Connector 17"/>
          <p:cNvCxnSpPr/>
          <p:nvPr/>
        </p:nvCxnSpPr>
        <p:spPr>
          <a:xfrm>
            <a:off x="589925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423416"/>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Next</a:t>
            </a:r>
          </a:p>
          <a:p>
            <a:pPr algn="ctr">
              <a:lnSpc>
                <a:spcPct val="110000"/>
              </a:lnSpc>
            </a:pPr>
            <a:r>
              <a:rPr sz="1300" i="0" b="0">
                <a:solidFill>
                  <a:srgbClr val="E8F4F8"/>
                </a:solidFill>
                <a:latin typeface="Helvetica Neue"/>
              </a:rPr>
              <a:t>the loop runs the next ready task, or sleeps if none</a:t>
            </a:r>
          </a:p>
        </p:txBody>
      </p:sp>
      <p:cxnSp>
        <p:nvCxnSpPr>
          <p:cNvPr id="21" name="Connector 20"/>
          <p:cNvCxnSpPr/>
          <p:nvPr/>
        </p:nvCxnSpPr>
        <p:spPr>
          <a:xfrm>
            <a:off x="877961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423416"/>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Resume</a:t>
            </a:r>
          </a:p>
          <a:p>
            <a:pPr algn="ctr">
              <a:lnSpc>
                <a:spcPct val="110000"/>
              </a:lnSpc>
            </a:pPr>
            <a:r>
              <a:rPr sz="1300" i="0" b="0">
                <a:solidFill>
                  <a:srgbClr val="E8F4F8"/>
                </a:solidFill>
                <a:latin typeface="Helvetica Neue"/>
              </a:rPr>
              <a:t>a timer or socket fires, and the task is ready again</a:t>
            </a:r>
          </a:p>
        </p:txBody>
      </p:sp>
      <p:cxnSp>
        <p:nvCxnSpPr>
          <p:cNvPr id="24" name="Connector 23"/>
          <p:cNvCxnSpPr/>
          <p:nvPr/>
        </p:nvCxnSpPr>
        <p:spPr>
          <a:xfrm>
            <a:off x="10416387" y="2987040"/>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775307" y="3398520"/>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75307" y="3023616"/>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75307" y="3435096"/>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until every task is done</a:t>
            </a:r>
          </a:p>
        </p:txBody>
      </p:sp>
      <p:sp>
        <p:nvSpPr>
          <p:cNvPr id="28" name="TextBox 27"/>
          <p:cNvSpPr txBox="1"/>
          <p:nvPr/>
        </p:nvSpPr>
        <p:spPr>
          <a:xfrm>
            <a:off x="502920" y="4130040"/>
            <a:ext cx="11185855" cy="1356359"/>
          </a:xfrm>
          <a:prstGeom prst="rect">
            <a:avLst/>
          </a:prstGeom>
          <a:noFill/>
        </p:spPr>
        <p:txBody>
          <a:bodyPr wrap="square" lIns="0" rIns="0" tIns="0" bIns="0" anchor="t">
            <a:noAutofit/>
          </a:bodyPr>
          <a:lstStyle/>
          <a:p>
            <a:pPr algn="ctr">
              <a:lnSpc>
                <a:spcPct val="110000"/>
              </a:lnSpc>
            </a:pPr>
            <a:r>
              <a:rPr sz="1530" i="0" b="0">
                <a:solidFill>
                  <a:srgbClr val="0F7490"/>
                </a:solidFill>
                <a:latin typeface="Menlo"/>
              </a:rPr>
              <a:t>sleep(0.2)</a:t>
            </a:r>
            <a:r>
              <a:rPr sz="1700" i="0" b="0">
                <a:solidFill>
                  <a:srgbClr val="475569"/>
                </a:solidFill>
                <a:latin typeface="Helvetica Neue"/>
              </a:rPr>
              <a:t> and </a:t>
            </a:r>
            <a:r>
              <a:rPr sz="1530" i="0" b="0">
                <a:solidFill>
                  <a:srgbClr val="0F7490"/>
                </a:solidFill>
                <a:latin typeface="Menlo"/>
              </a:rPr>
              <a:t>sleep(0.1)</a:t>
            </a:r>
            <a:r>
              <a:rPr sz="1700" i="0" b="0">
                <a:solidFill>
                  <a:srgbClr val="475569"/>
                </a:solidFill>
                <a:latin typeface="Helvetica Neue"/>
              </a:rPr>
              <a:t> as two tasks take about 0.2 s in total, not 0.3 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How do you limit concurrency in asyncio?</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TaskGroup and Semaphore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Use a </a:t>
            </a:r>
            <a:r>
              <a:rPr sz="1440" i="0" b="1">
                <a:solidFill>
                  <a:srgbClr val="1E3A5F"/>
                </a:solidFill>
                <a:latin typeface="Menlo"/>
              </a:rPr>
              <a:t>Semaphore</a:t>
            </a:r>
            <a:r>
              <a:rPr sz="1600" i="0" b="1">
                <a:solidFill>
                  <a:srgbClr val="1E3A5F"/>
                </a:solidFill>
                <a:latin typeface="Helvetica Neue"/>
              </a:rPr>
              <a:t> to cap requests in flight and a </a:t>
            </a:r>
            <a:r>
              <a:rPr sz="1440" i="0" b="1">
                <a:solidFill>
                  <a:srgbClr val="1E3A5F"/>
                </a:solidFill>
                <a:latin typeface="Menlo"/>
              </a:rPr>
              <a:t>TaskGroup</a:t>
            </a:r>
            <a:r>
              <a:rPr sz="1600" i="0" b="1">
                <a:solidFill>
                  <a:srgbClr val="1E3A5F"/>
                </a:solidFill>
                <a:latin typeface="Helvetica Neue"/>
              </a:rPr>
              <a:t> to cancel the rest when one fails.</a:t>
            </a:r>
          </a:p>
        </p:txBody>
      </p:sp>
      <p:sp>
        <p:nvSpPr>
          <p:cNvPr id="13" name="Rounded Rectangle 12"/>
          <p:cNvSpPr/>
          <p:nvPr/>
        </p:nvSpPr>
        <p:spPr>
          <a:xfrm>
            <a:off x="502920" y="1472184"/>
            <a:ext cx="11185855"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async def main(urls: list[str]) -&gt; list[str]:</a:t>
            </a:r>
          </a:p>
          <a:p>
            <a:pPr algn="l">
              <a:lnSpc>
                <a:spcPct val="100000"/>
              </a:lnSpc>
            </a:pPr>
            <a:r>
              <a:rPr sz="1600" i="0" b="0">
                <a:solidFill>
                  <a:srgbClr val="E2E8F0"/>
                </a:solidFill>
                <a:latin typeface="Menlo"/>
              </a:rPr>
              <a:t>    sem = asyncio.Semaphore(10)                  # at most 10 in flight</a:t>
            </a:r>
          </a:p>
          <a:p>
            <a:pPr algn="l">
              <a:lnSpc>
                <a:spcPct val="100000"/>
              </a:lnSpc>
            </a:pPr>
            <a:r>
              <a:rPr sz="1600" i="0" b="0">
                <a:solidFill>
                  <a:srgbClr val="E2E8F0"/>
                </a:solidFill>
                <a:latin typeface="Menlo"/>
              </a:rPr>
              <a:t>    async with httpx.AsyncClient() as client:</a:t>
            </a:r>
          </a:p>
          <a:p>
            <a:pPr algn="l">
              <a:lnSpc>
                <a:spcPct val="100000"/>
              </a:lnSpc>
            </a:pPr>
            <a:r>
              <a:rPr sz="1600" i="0" b="0">
                <a:solidFill>
                  <a:srgbClr val="E2E8F0"/>
                </a:solidFill>
                <a:latin typeface="Menlo"/>
              </a:rPr>
              <a:t>        async def limited(url):</a:t>
            </a:r>
          </a:p>
          <a:p>
            <a:pPr algn="l">
              <a:lnSpc>
                <a:spcPct val="100000"/>
              </a:lnSpc>
            </a:pPr>
            <a:r>
              <a:rPr sz="1600" i="0" b="0">
                <a:solidFill>
                  <a:srgbClr val="E2E8F0"/>
                </a:solidFill>
                <a:latin typeface="Menlo"/>
              </a:rPr>
              <a:t>            async with sem:</a:t>
            </a:r>
          </a:p>
          <a:p>
            <a:pPr algn="l">
              <a:lnSpc>
                <a:spcPct val="100000"/>
              </a:lnSpc>
            </a:pPr>
            <a:r>
              <a:rPr sz="1600" i="0" b="0">
                <a:solidFill>
                  <a:srgbClr val="E2E8F0"/>
                </a:solidFill>
                <a:latin typeface="Menlo"/>
              </a:rPr>
              <a:t>                return await fetch(client, url)</a:t>
            </a:r>
          </a:p>
          <a:p>
            <a:pPr algn="l">
              <a:lnSpc>
                <a:spcPct val="100000"/>
              </a:lnSpc>
            </a:pPr>
            <a:r>
              <a:rPr sz="1600" i="0" b="0">
                <a:solidFill>
                  <a:srgbClr val="E2E8F0"/>
                </a:solidFill>
                <a:latin typeface="Menlo"/>
              </a:rPr>
              <a:t>        async with asyncio.TaskGroup() as tg:    # cancels the rest if one fails</a:t>
            </a:r>
          </a:p>
          <a:p>
            <a:pPr algn="l">
              <a:lnSpc>
                <a:spcPct val="100000"/>
              </a:lnSpc>
            </a:pPr>
            <a:r>
              <a:rPr sz="1600" i="0" b="0">
                <a:solidFill>
                  <a:srgbClr val="E2E8F0"/>
                </a:solidFill>
                <a:latin typeface="Menlo"/>
              </a:rPr>
              <a:t>            tasks = [tg.create_task(limited(u)) for u in urls]</a:t>
            </a:r>
          </a:p>
          <a:p>
            <a:pPr algn="l">
              <a:lnSpc>
                <a:spcPct val="100000"/>
              </a:lnSpc>
            </a:pPr>
            <a:r>
              <a:rPr sz="1600" i="0" b="0">
                <a:solidFill>
                  <a:srgbClr val="E2E8F0"/>
                </a:solidFill>
                <a:latin typeface="Menlo"/>
              </a:rPr>
              <a:t>    return [t.result() for t in tasks]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What must you never do inside async def?</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Never block the loop</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Blocking calls inside </a:t>
            </a:r>
            <a:r>
              <a:rPr sz="1260" i="0" b="1">
                <a:solidFill>
                  <a:srgbClr val="1E3A5F"/>
                </a:solidFill>
                <a:latin typeface="Menlo"/>
              </a:rPr>
              <a:t>async def</a:t>
            </a:r>
            <a:r>
              <a:rPr sz="1400" i="0" b="1">
                <a:solidFill>
                  <a:srgbClr val="1E3A5F"/>
                </a:solidFill>
                <a:latin typeface="Helvetica Neue"/>
              </a:rPr>
              <a:t> freeze every task. Await an async client, or push the work to </a:t>
            </a:r>
            <a:r>
              <a:rPr sz="1260" i="0" b="1">
                <a:solidFill>
                  <a:srgbClr val="1E3A5F"/>
                </a:solidFill>
                <a:latin typeface="Menlo"/>
              </a:rPr>
              <a:t>asyncio.to_thread</a:t>
            </a:r>
            <a:r>
              <a:rPr sz="1400" i="0" b="1">
                <a:solidFill>
                  <a:srgbClr val="1E3A5F"/>
                </a:solidFill>
                <a:latin typeface="Helvetica Neue"/>
              </a:rPr>
              <a:t>.</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Freezes every task</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time.sleep(1)</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requests.get(url)</a:t>
            </a:r>
          </a:p>
        </p:txBody>
      </p:sp>
      <p:sp>
        <p:nvSpPr>
          <p:cNvPr id="20" name="Rectangle 19"/>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Heavy CPU work</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Nothing else can run</a:t>
            </a:r>
          </a:p>
        </p:txBody>
      </p:sp>
      <p:sp>
        <p:nvSpPr>
          <p:cNvPr id="24" name="Rectangle 23"/>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Use instead</a:t>
            </a:r>
          </a:p>
        </p:txBody>
      </p:sp>
      <p:sp>
        <p:nvSpPr>
          <p:cNvPr id="27" name="Rectangle 26"/>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await asyncio.sleep(1)</a:t>
            </a:r>
          </a:p>
        </p:txBody>
      </p:sp>
      <p:sp>
        <p:nvSpPr>
          <p:cNvPr id="29" name="Rectangle 28"/>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264566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An async client such as </a:t>
            </a:r>
            <a:r>
              <a:rPr sz="1530" i="0" b="0">
                <a:solidFill>
                  <a:srgbClr val="0F7490"/>
                </a:solidFill>
                <a:latin typeface="Menlo"/>
              </a:rPr>
              <a:t>httpx.AsyncClient</a:t>
            </a:r>
          </a:p>
        </p:txBody>
      </p:sp>
      <p:sp>
        <p:nvSpPr>
          <p:cNvPr id="31" name="Rectangle 30"/>
          <p:cNvSpPr/>
          <p:nvPr/>
        </p:nvSpPr>
        <p:spPr>
          <a:xfrm>
            <a:off x="6507327" y="3427222"/>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345180"/>
            <a:ext cx="4587087" cy="376428"/>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await asyncio.to_thread(blocking_fn)</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Control returns to the loop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How should you retry a failed call?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Retries with backoff</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Many things at once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notes/07-concurrency.md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Back off exponentially with jitter, and retry only errors that can succeed next time, such as timeouts, 429 and 5xx.</a:t>
            </a:r>
          </a:p>
        </p:txBody>
      </p:sp>
      <p:sp>
        <p:nvSpPr>
          <p:cNvPr id="13" name="Rounded Rectangle 12"/>
          <p:cNvSpPr/>
          <p:nvPr/>
        </p:nvSpPr>
        <p:spPr>
          <a:xfrm>
            <a:off x="502920" y="1472184"/>
            <a:ext cx="11185855"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5" name="TextBox 14"/>
          <p:cNvSpPr txBox="1"/>
          <p:nvPr/>
        </p:nvSpPr>
        <p:spPr>
          <a:xfrm>
            <a:off x="731520" y="1883664"/>
            <a:ext cx="10728655"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async def with_retry(make_call, attempts=4, base=0.5):</a:t>
            </a:r>
          </a:p>
          <a:p>
            <a:pPr algn="l">
              <a:lnSpc>
                <a:spcPct val="100000"/>
              </a:lnSpc>
            </a:pPr>
            <a:r>
              <a:rPr sz="1600" i="0" b="0">
                <a:solidFill>
                  <a:srgbClr val="E2E8F0"/>
                </a:solidFill>
                <a:latin typeface="Menlo"/>
              </a:rPr>
              <a:t>    for i in range(attempts):</a:t>
            </a:r>
          </a:p>
          <a:p>
            <a:pPr algn="l">
              <a:lnSpc>
                <a:spcPct val="100000"/>
              </a:lnSpc>
            </a:pPr>
            <a:r>
              <a:rPr sz="1600" i="0" b="0">
                <a:solidFill>
                  <a:srgbClr val="E2E8F0"/>
                </a:solidFill>
                <a:latin typeface="Menlo"/>
              </a:rPr>
              <a:t>        try:</a:t>
            </a:r>
          </a:p>
          <a:p>
            <a:pPr algn="l">
              <a:lnSpc>
                <a:spcPct val="100000"/>
              </a:lnSpc>
            </a:pPr>
            <a:r>
              <a:rPr sz="1600" i="0" b="0">
                <a:solidFill>
                  <a:srgbClr val="E2E8F0"/>
                </a:solidFill>
                <a:latin typeface="Menlo"/>
              </a:rPr>
              <a:t>            return await make_call()</a:t>
            </a:r>
          </a:p>
          <a:p>
            <a:pPr algn="l">
              <a:lnSpc>
                <a:spcPct val="100000"/>
              </a:lnSpc>
            </a:pPr>
            <a:r>
              <a:rPr sz="1600" i="0" b="0">
                <a:solidFill>
                  <a:srgbClr val="E2E8F0"/>
                </a:solidFill>
                <a:latin typeface="Menlo"/>
              </a:rPr>
              <a:t>        except (TimeoutError, ConnectionError):</a:t>
            </a:r>
          </a:p>
          <a:p>
            <a:pPr algn="l">
              <a:lnSpc>
                <a:spcPct val="100000"/>
              </a:lnSpc>
            </a:pPr>
            <a:r>
              <a:rPr sz="1600" i="0" b="0">
                <a:solidFill>
                  <a:srgbClr val="E2E8F0"/>
                </a:solidFill>
                <a:latin typeface="Menlo"/>
              </a:rPr>
              <a:t>            if i == attempts - 1:</a:t>
            </a:r>
          </a:p>
          <a:p>
            <a:pPr algn="l">
              <a:lnSpc>
                <a:spcPct val="100000"/>
              </a:lnSpc>
            </a:pPr>
            <a:r>
              <a:rPr sz="1600" i="0" b="0">
                <a:solidFill>
                  <a:srgbClr val="E2E8F0"/>
                </a:solidFill>
                <a:latin typeface="Menlo"/>
              </a:rPr>
              <a:t>                raise</a:t>
            </a:r>
          </a:p>
          <a:p>
            <a:pPr algn="l">
              <a:lnSpc>
                <a:spcPct val="100000"/>
              </a:lnSpc>
            </a:pPr>
            <a:r>
              <a:rPr sz="1600" i="0" b="0">
                <a:solidFill>
                  <a:srgbClr val="E2E8F0"/>
                </a:solidFill>
                <a:latin typeface="Menlo"/>
              </a:rPr>
              <a:t>            await asyncio.sleep(base * 2**i + random.random() * base)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are the engineering rules?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to keep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notes/01-data-model-and-idioms.md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Treat names as labels, fail narrowly, validate at edges, and choose concurrency by what you are waiting on.</a:t>
            </a:r>
          </a:p>
        </p:txBody>
      </p:sp>
      <p:sp>
        <p:nvSpPr>
          <p:cNvPr id="12" name="Rectangle 11"/>
          <p:cNvSpPr/>
          <p:nvPr/>
        </p:nvSpPr>
        <p:spPr>
          <a:xfrm>
            <a:off x="502920"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88340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Model</a:t>
            </a:r>
          </a:p>
        </p:txBody>
      </p:sp>
      <p:sp>
        <p:nvSpPr>
          <p:cNvPr id="15" name="TextBox 14"/>
          <p:cNvSpPr txBox="1"/>
          <p:nvPr/>
        </p:nvSpPr>
        <p:spPr>
          <a:xfrm>
            <a:off x="777240"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Names are labels. </a:t>
            </a:r>
            <a:r>
              <a:rPr sz="1620" i="0" b="0">
                <a:solidFill>
                  <a:srgbClr val="0F7490"/>
                </a:solidFill>
                <a:latin typeface="Menlo"/>
              </a:rPr>
              <a:t>None</a:t>
            </a:r>
            <a:r>
              <a:rPr sz="1800" i="0" b="0">
                <a:solidFill>
                  <a:srgbClr val="475569"/>
                </a:solidFill>
                <a:latin typeface="Helvetica Neue"/>
              </a:rPr>
              <a:t> as a default. </a:t>
            </a:r>
            <a:r>
              <a:rPr sz="1620" i="0" b="0">
                <a:solidFill>
                  <a:srgbClr val="0F7490"/>
                </a:solidFill>
                <a:latin typeface="Menlo"/>
              </a:rPr>
              <a:t>is</a:t>
            </a:r>
            <a:r>
              <a:rPr sz="1800" i="0" b="0">
                <a:solidFill>
                  <a:srgbClr val="475569"/>
                </a:solidFill>
                <a:latin typeface="Helvetica Neue"/>
              </a:rPr>
              <a:t> only for singletons.</a:t>
            </a:r>
          </a:p>
        </p:txBody>
      </p:sp>
      <p:sp>
        <p:nvSpPr>
          <p:cNvPr id="16" name="Rectangle 15"/>
          <p:cNvSpPr/>
          <p:nvPr/>
        </p:nvSpPr>
        <p:spPr>
          <a:xfrm>
            <a:off x="3367963"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88340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Errors</a:t>
            </a:r>
          </a:p>
        </p:txBody>
      </p:sp>
      <p:sp>
        <p:nvSpPr>
          <p:cNvPr id="19" name="TextBox 18"/>
          <p:cNvSpPr txBox="1"/>
          <p:nvPr/>
        </p:nvSpPr>
        <p:spPr>
          <a:xfrm>
            <a:off x="3642283"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Narrow </a:t>
            </a:r>
            <a:r>
              <a:rPr sz="1620" i="0" b="0">
                <a:solidFill>
                  <a:srgbClr val="0F7490"/>
                </a:solidFill>
                <a:latin typeface="Menlo"/>
              </a:rPr>
              <a:t>except</a:t>
            </a:r>
            <a:r>
              <a:rPr sz="1800" i="0" b="0">
                <a:solidFill>
                  <a:srgbClr val="475569"/>
                </a:solidFill>
                <a:latin typeface="Helvetica Neue"/>
              </a:rPr>
              <a:t>, small </a:t>
            </a:r>
            <a:r>
              <a:rPr sz="1620" i="0" b="0">
                <a:solidFill>
                  <a:srgbClr val="0F7490"/>
                </a:solidFill>
                <a:latin typeface="Menlo"/>
              </a:rPr>
              <a:t>try</a:t>
            </a:r>
            <a:r>
              <a:rPr sz="1800" i="0" b="0">
                <a:solidFill>
                  <a:srgbClr val="475569"/>
                </a:solidFill>
                <a:latin typeface="Helvetica Neue"/>
              </a:rPr>
              <a:t>, </a:t>
            </a:r>
            <a:r>
              <a:rPr sz="1620" i="0" b="0">
                <a:solidFill>
                  <a:srgbClr val="0F7490"/>
                </a:solidFill>
                <a:latin typeface="Menlo"/>
              </a:rPr>
              <a:t>with</a:t>
            </a:r>
            <a:r>
              <a:rPr sz="1800" i="0" b="0">
                <a:solidFill>
                  <a:srgbClr val="475569"/>
                </a:solidFill>
                <a:latin typeface="Helvetica Neue"/>
              </a:rPr>
              <a:t> for cleanup, logging over print.</a:t>
            </a:r>
          </a:p>
        </p:txBody>
      </p:sp>
      <p:sp>
        <p:nvSpPr>
          <p:cNvPr id="20" name="Rectangle 19"/>
          <p:cNvSpPr/>
          <p:nvPr/>
        </p:nvSpPr>
        <p:spPr>
          <a:xfrm>
            <a:off x="6233007"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88340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Types</a:t>
            </a:r>
          </a:p>
        </p:txBody>
      </p:sp>
      <p:sp>
        <p:nvSpPr>
          <p:cNvPr id="23" name="TextBox 22"/>
          <p:cNvSpPr txBox="1"/>
          <p:nvPr/>
        </p:nvSpPr>
        <p:spPr>
          <a:xfrm>
            <a:off x="6507327"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Hints on every signature. Dataclasses inside, a validator at the edge.</a:t>
            </a:r>
          </a:p>
        </p:txBody>
      </p:sp>
      <p:sp>
        <p:nvSpPr>
          <p:cNvPr id="24" name="Rectangle 23"/>
          <p:cNvSpPr/>
          <p:nvPr/>
        </p:nvSpPr>
        <p:spPr>
          <a:xfrm>
            <a:off x="9098051" y="1472184"/>
            <a:ext cx="2590723" cy="288340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88340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Concurrency</a:t>
            </a:r>
          </a:p>
        </p:txBody>
      </p:sp>
      <p:sp>
        <p:nvSpPr>
          <p:cNvPr id="27" name="TextBox 26"/>
          <p:cNvSpPr txBox="1"/>
          <p:nvPr/>
        </p:nvSpPr>
        <p:spPr>
          <a:xfrm>
            <a:off x="9372371" y="2087880"/>
            <a:ext cx="2087803" cy="208483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Pick by what you wait on. Never block the loop. Always a limit and a timeout.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do you go after this module?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to keep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notes/06-modules-packaging-tooling.md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Next is pandas in the data-analytics pillar, and TypeScript for the same type and async ideas.</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Data work</a:t>
            </a:r>
            <a:r>
              <a:rPr sz="2000" i="0" b="0">
                <a:solidFill>
                  <a:srgbClr val="1E293B"/>
                </a:solidFill>
                <a:latin typeface="Helvetica Neue"/>
              </a:rPr>
              <a:t>: phase 4 moved to the </a:t>
            </a:r>
            <a:r>
              <a:rPr sz="1800" i="0" b="0">
                <a:solidFill>
                  <a:srgbClr val="0F7490"/>
                </a:solidFill>
                <a:latin typeface="Menlo"/>
              </a:rPr>
              <a:t>data-analytics</a:t>
            </a:r>
            <a:r>
              <a:rPr sz="2000" i="0" b="0">
                <a:solidFill>
                  <a:srgbClr val="1E293B"/>
                </a:solidFill>
                <a:latin typeface="Helvetica Neue"/>
              </a:rPr>
              <a:t> pillar, starting with </a:t>
            </a:r>
            <a:r>
              <a:rPr sz="1800" i="0" b="0">
                <a:solidFill>
                  <a:srgbClr val="0F7490"/>
                </a:solidFill>
                <a:latin typeface="Menlo"/>
              </a:rPr>
              <a:t>01-python-for-data-analysis</a:t>
            </a:r>
          </a:p>
        </p:txBody>
      </p:sp>
      <p:sp>
        <p:nvSpPr>
          <p:cNvPr id="14" name="Rectangle 13"/>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951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TypeScript</a:t>
            </a:r>
            <a:r>
              <a:rPr sz="2000" i="0" b="0">
                <a:solidFill>
                  <a:srgbClr val="1E293B"/>
                </a:solidFill>
                <a:latin typeface="Helvetica Neue"/>
              </a:rPr>
              <a:t>: the same type and async ideas with a stricter checker</a:t>
            </a:r>
          </a:p>
        </p:txBody>
      </p:sp>
      <p:sp>
        <p:nvSpPr>
          <p:cNvPr id="16" name="Rectangle 15"/>
          <p:cNvSpPr/>
          <p:nvPr/>
        </p:nvSpPr>
        <p:spPr>
          <a:xfrm>
            <a:off x="502920" y="287934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78282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Practice</a:t>
            </a:r>
            <a:r>
              <a:rPr sz="2000" i="0" b="0">
                <a:solidFill>
                  <a:srgbClr val="1E293B"/>
                </a:solidFill>
                <a:latin typeface="Helvetica Neue"/>
              </a:rPr>
              <a:t>: </a:t>
            </a:r>
            <a:r>
              <a:rPr sz="1800" i="0" b="0">
                <a:solidFill>
                  <a:srgbClr val="0F7490"/>
                </a:solidFill>
                <a:latin typeface="Menlo"/>
              </a:rPr>
              <a:t>bash check.sh exercises 03</a:t>
            </a:r>
            <a:r>
              <a:rPr sz="2000" i="0" b="0">
                <a:solidFill>
                  <a:srgbClr val="1E293B"/>
                </a:solidFill>
                <a:latin typeface="Helvetica Neue"/>
              </a:rPr>
              <a:t>, including the </a:t>
            </a:r>
            <a:r>
              <a:rPr sz="1800" i="0" b="0">
                <a:solidFill>
                  <a:srgbClr val="0F7490"/>
                </a:solidFill>
                <a:latin typeface="Menlo"/>
              </a:rPr>
              <a:t>uv</a:t>
            </a:r>
            <a:r>
              <a:rPr sz="2000" i="0" b="0">
                <a:solidFill>
                  <a:srgbClr val="1E293B"/>
                </a:solidFill>
                <a:latin typeface="Helvetica Neue"/>
              </a:rPr>
              <a:t> tooling package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